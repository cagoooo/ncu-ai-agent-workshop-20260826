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0129aea08304838" /><Relationship Type="http://schemas.openxmlformats.org/officeDocument/2006/relationships/extended-properties" Target="/docProps/app.xml" Id="R5538124a62704075" /><Relationship Type="http://schemas.openxmlformats.org/officeDocument/2006/relationships/officeDocument" Target="/ppt/presentation.xml" Id="R8c3dcf815bb2476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bb409aa9a374931"/>
  </p:sldMasterIdLst>
  <p:notesMasterIdLst>
    <p:notesMasterId xmlns:r="http://schemas.openxmlformats.org/officeDocument/2006/relationships" r:id="R884acf8035ee453f"/>
  </p:notesMasterIdLst>
  <p:sldIdLst>
    <p:sldId xmlns:r="http://schemas.openxmlformats.org/officeDocument/2006/relationships" id="256" r:id="R1d6e9e4c1d0a45f5"/>
    <p:sldId xmlns:r="http://schemas.openxmlformats.org/officeDocument/2006/relationships" id="257" r:id="R1fd3503d5cd34598"/>
    <p:sldId xmlns:r="http://schemas.openxmlformats.org/officeDocument/2006/relationships" id="258" r:id="R2444113b91c04c3a"/>
    <p:sldId xmlns:r="http://schemas.openxmlformats.org/officeDocument/2006/relationships" id="259" r:id="R787a5b58e2f44872"/>
    <p:sldId xmlns:r="http://schemas.openxmlformats.org/officeDocument/2006/relationships" id="260" r:id="R6599f2b2a6d44e56"/>
    <p:sldId xmlns:r="http://schemas.openxmlformats.org/officeDocument/2006/relationships" id="261" r:id="R01b97336e67940d4"/>
    <p:sldId xmlns:r="http://schemas.openxmlformats.org/officeDocument/2006/relationships" id="262" r:id="R415223a7322c4d24"/>
    <p:sldId xmlns:r="http://schemas.openxmlformats.org/officeDocument/2006/relationships" id="263" r:id="Rae549ecee9864ccc"/>
    <p:sldId xmlns:r="http://schemas.openxmlformats.org/officeDocument/2006/relationships" id="264" r:id="Rc650e24c5acd4dbc"/>
    <p:sldId xmlns:r="http://schemas.openxmlformats.org/officeDocument/2006/relationships" id="265" r:id="R658ae9935b774ddd"/>
    <p:sldId xmlns:r="http://schemas.openxmlformats.org/officeDocument/2006/relationships" id="266" r:id="R0b67f78e520a4d74"/>
    <p:sldId xmlns:r="http://schemas.openxmlformats.org/officeDocument/2006/relationships" id="267" r:id="Ra1e2c9757d8448ea"/>
    <p:sldId xmlns:r="http://schemas.openxmlformats.org/officeDocument/2006/relationships" id="268" r:id="R0de5bf7c8e5a4de3"/>
    <p:sldId xmlns:r="http://schemas.openxmlformats.org/officeDocument/2006/relationships" id="269" r:id="Ra14ebfccb2bd41cf"/>
    <p:sldId xmlns:r="http://schemas.openxmlformats.org/officeDocument/2006/relationships" id="270" r:id="Rc0714bd68dc64dc4"/>
    <p:sldId xmlns:r="http://schemas.openxmlformats.org/officeDocument/2006/relationships" id="271" r:id="R632a2088a5a64c8a"/>
    <p:sldId xmlns:r="http://schemas.openxmlformats.org/officeDocument/2006/relationships" id="272" r:id="R886f8df53bad4cfd"/>
    <p:sldId xmlns:r="http://schemas.openxmlformats.org/officeDocument/2006/relationships" id="273" r:id="R75d51319ae734907"/>
    <p:sldId xmlns:r="http://schemas.openxmlformats.org/officeDocument/2006/relationships" id="274" r:id="R69ff1d6f3c8748b0"/>
    <p:sldId xmlns:r="http://schemas.openxmlformats.org/officeDocument/2006/relationships" id="275" r:id="R57f10cbabf2e49c4"/>
    <p:sldId xmlns:r="http://schemas.openxmlformats.org/officeDocument/2006/relationships" id="276" r:id="R0b99ab2e414e4fc0"/>
    <p:sldId xmlns:r="http://schemas.openxmlformats.org/officeDocument/2006/relationships" id="277" r:id="Re5dbab5b8c754402"/>
    <p:sldId xmlns:r="http://schemas.openxmlformats.org/officeDocument/2006/relationships" id="278" r:id="R06701cfd460d4cac"/>
    <p:sldId xmlns:r="http://schemas.openxmlformats.org/officeDocument/2006/relationships" id="279" r:id="Rebe78204aa0847ce"/>
    <p:sldId xmlns:r="http://schemas.openxmlformats.org/officeDocument/2006/relationships" id="280" r:id="Re86e20aa9b2b498c"/>
    <p:sldId xmlns:r="http://schemas.openxmlformats.org/officeDocument/2006/relationships" id="281" r:id="R7ca75ccf3aba4f7d"/>
    <p:sldId xmlns:r="http://schemas.openxmlformats.org/officeDocument/2006/relationships" id="282" r:id="R4f2cd2c2d8534dc0"/>
    <p:sldId xmlns:r="http://schemas.openxmlformats.org/officeDocument/2006/relationships" id="283" r:id="R7083d45bd99f40a7"/>
    <p:sldId xmlns:r="http://schemas.openxmlformats.org/officeDocument/2006/relationships" id="284" r:id="R101e4d6669284beb"/>
    <p:sldId xmlns:r="http://schemas.openxmlformats.org/officeDocument/2006/relationships" id="285" r:id="Re9bd8be65d0947d2"/>
    <p:sldId xmlns:r="http://schemas.openxmlformats.org/officeDocument/2006/relationships" id="286" r:id="R9530dc05cd6a4640"/>
    <p:sldId xmlns:r="http://schemas.openxmlformats.org/officeDocument/2006/relationships" id="287" r:id="R73d5df50bedb43db"/>
    <p:sldId xmlns:r="http://schemas.openxmlformats.org/officeDocument/2006/relationships" id="288" r:id="Rded67e108954469c"/>
    <p:sldId xmlns:r="http://schemas.openxmlformats.org/officeDocument/2006/relationships" id="289" r:id="Red37d3249dee4b50"/>
    <p:sldId xmlns:r="http://schemas.openxmlformats.org/officeDocument/2006/relationships" id="290" r:id="R9c0bb0503c4e462c"/>
    <p:sldId xmlns:r="http://schemas.openxmlformats.org/officeDocument/2006/relationships" id="291" r:id="R05d9920655b248c6"/>
    <p:sldId xmlns:r="http://schemas.openxmlformats.org/officeDocument/2006/relationships" id="292" r:id="Re6f0db0be66a4a23"/>
    <p:sldId xmlns:r="http://schemas.openxmlformats.org/officeDocument/2006/relationships" id="293" r:id="R586d2e94bd2d4248"/>
    <p:sldId xmlns:r="http://schemas.openxmlformats.org/officeDocument/2006/relationships" id="294" r:id="Rd7d32e3304b749b6"/>
    <p:sldId xmlns:r="http://schemas.openxmlformats.org/officeDocument/2006/relationships" id="295" r:id="Re5eea98bdff54fe5"/>
    <p:sldId xmlns:r="http://schemas.openxmlformats.org/officeDocument/2006/relationships" id="296" r:id="Rbbe7f8ee74894d6e"/>
    <p:sldId xmlns:r="http://schemas.openxmlformats.org/officeDocument/2006/relationships" id="297" r:id="Rd74103d46bfc4366"/>
    <p:sldId xmlns:r="http://schemas.openxmlformats.org/officeDocument/2006/relationships" id="298" r:id="R72b8db70a7da4cec"/>
    <p:sldId xmlns:r="http://schemas.openxmlformats.org/officeDocument/2006/relationships" id="299" r:id="R42ad6225f28744f3"/>
    <p:sldId xmlns:r="http://schemas.openxmlformats.org/officeDocument/2006/relationships" id="300" r:id="R34f201d28612481a"/>
    <p:sldId xmlns:r="http://schemas.openxmlformats.org/officeDocument/2006/relationships" id="301" r:id="R2814868193244046"/>
    <p:sldId xmlns:r="http://schemas.openxmlformats.org/officeDocument/2006/relationships" id="302" r:id="R375881f148c946b0"/>
    <p:sldId xmlns:r="http://schemas.openxmlformats.org/officeDocument/2006/relationships" id="303" r:id="R91d2e31ea51a4972"/>
    <p:sldId xmlns:r="http://schemas.openxmlformats.org/officeDocument/2006/relationships" id="304" r:id="R9bce605426ba45ce"/>
    <p:sldId xmlns:r="http://schemas.openxmlformats.org/officeDocument/2006/relationships" id="305" r:id="R161236018d40423f"/>
    <p:sldId xmlns:r="http://schemas.openxmlformats.org/officeDocument/2006/relationships" id="306" r:id="Rb5c10d88b925495a"/>
    <p:sldId xmlns:r="http://schemas.openxmlformats.org/officeDocument/2006/relationships" id="307" r:id="Rbddc451cb0254741"/>
    <p:sldId xmlns:r="http://schemas.openxmlformats.org/officeDocument/2006/relationships" id="308" r:id="R5ec6c9866cf542cf"/>
    <p:sldId xmlns:r="http://schemas.openxmlformats.org/officeDocument/2006/relationships" id="309" r:id="R1fb81bb9bfc443dd"/>
    <p:sldId xmlns:r="http://schemas.openxmlformats.org/officeDocument/2006/relationships" id="310" r:id="Re6fb4bd722ba4333"/>
    <p:sldId xmlns:r="http://schemas.openxmlformats.org/officeDocument/2006/relationships" id="311" r:id="R5570d9e6108e4196"/>
    <p:sldId xmlns:r="http://schemas.openxmlformats.org/officeDocument/2006/relationships" id="312" r:id="Rd27b78917c2c4639"/>
    <p:sldId xmlns:r="http://schemas.openxmlformats.org/officeDocument/2006/relationships" id="313" r:id="R4477f3c066f94da0"/>
    <p:sldId xmlns:r="http://schemas.openxmlformats.org/officeDocument/2006/relationships" id="314" r:id="Rf0704c16b63f4d11"/>
    <p:sldId xmlns:r="http://schemas.openxmlformats.org/officeDocument/2006/relationships" id="315" r:id="R9f54d737c3944923"/>
    <p:sldId xmlns:r="http://schemas.openxmlformats.org/officeDocument/2006/relationships" id="316" r:id="R584a9ca6dc394c16"/>
    <p:sldId xmlns:r="http://schemas.openxmlformats.org/officeDocument/2006/relationships" id="317" r:id="R9b863b2e5c92419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8d18d9d99c64bf2" /><Relationship Type="http://schemas.openxmlformats.org/officeDocument/2006/relationships/slideMaster" Target="/ppt/slideMasters/slideMaster1.xml" Id="R9bb409aa9a374931" /><Relationship Type="http://schemas.openxmlformats.org/officeDocument/2006/relationships/notesMaster" Target="/ppt/notesMasters/notesMaster1.xml" Id="R884acf8035ee453f" /><Relationship Type="http://schemas.openxmlformats.org/officeDocument/2006/relationships/presProps" Target="/ppt/presProps.xml" Id="Rad2e6677433b4e04" /><Relationship Type="http://schemas.openxmlformats.org/officeDocument/2006/relationships/tableStyles" Target="/ppt/tableStyles.xml" Id="R0c694f54ce7d4091" /><Relationship Type="http://schemas.openxmlformats.org/officeDocument/2006/relationships/slide" Target="/ppt/slides/slide1.xml" Id="R1d6e9e4c1d0a45f5" /><Relationship Type="http://schemas.openxmlformats.org/officeDocument/2006/relationships/slide" Target="/ppt/slides/slide2.xml" Id="R1fd3503d5cd34598" /><Relationship Type="http://schemas.openxmlformats.org/officeDocument/2006/relationships/slide" Target="/ppt/slides/slide3.xml" Id="R2444113b91c04c3a" /><Relationship Type="http://schemas.openxmlformats.org/officeDocument/2006/relationships/slide" Target="/ppt/slides/slide4.xml" Id="R787a5b58e2f44872" /><Relationship Type="http://schemas.openxmlformats.org/officeDocument/2006/relationships/slide" Target="/ppt/slides/slide5.xml" Id="R6599f2b2a6d44e56" /><Relationship Type="http://schemas.openxmlformats.org/officeDocument/2006/relationships/slide" Target="/ppt/slides/slide6.xml" Id="R01b97336e67940d4" /><Relationship Type="http://schemas.openxmlformats.org/officeDocument/2006/relationships/slide" Target="/ppt/slides/slide7.xml" Id="R415223a7322c4d24" /><Relationship Type="http://schemas.openxmlformats.org/officeDocument/2006/relationships/slide" Target="/ppt/slides/slide8.xml" Id="Rae549ecee9864ccc" /><Relationship Type="http://schemas.openxmlformats.org/officeDocument/2006/relationships/slide" Target="/ppt/slides/slide9.xml" Id="Rc650e24c5acd4dbc" /><Relationship Type="http://schemas.openxmlformats.org/officeDocument/2006/relationships/slide" Target="/ppt/slides/slide10.xml" Id="R658ae9935b774ddd" /><Relationship Type="http://schemas.openxmlformats.org/officeDocument/2006/relationships/slide" Target="/ppt/slides/slide11.xml" Id="R0b67f78e520a4d74" /><Relationship Type="http://schemas.openxmlformats.org/officeDocument/2006/relationships/slide" Target="/ppt/slides/slide12.xml" Id="Ra1e2c9757d8448ea" /><Relationship Type="http://schemas.openxmlformats.org/officeDocument/2006/relationships/slide" Target="/ppt/slides/slide13.xml" Id="R0de5bf7c8e5a4de3" /><Relationship Type="http://schemas.openxmlformats.org/officeDocument/2006/relationships/slide" Target="/ppt/slides/slide14.xml" Id="Ra14ebfccb2bd41cf" /><Relationship Type="http://schemas.openxmlformats.org/officeDocument/2006/relationships/slide" Target="/ppt/slides/slide15.xml" Id="Rc0714bd68dc64dc4" /><Relationship Type="http://schemas.openxmlformats.org/officeDocument/2006/relationships/slide" Target="/ppt/slides/slide16.xml" Id="R632a2088a5a64c8a" /><Relationship Type="http://schemas.openxmlformats.org/officeDocument/2006/relationships/slide" Target="/ppt/slides/slide17.xml" Id="R886f8df53bad4cfd" /><Relationship Type="http://schemas.openxmlformats.org/officeDocument/2006/relationships/slide" Target="/ppt/slides/slide18.xml" Id="R75d51319ae734907" /><Relationship Type="http://schemas.openxmlformats.org/officeDocument/2006/relationships/slide" Target="/ppt/slides/slide19.xml" Id="R69ff1d6f3c8748b0" /><Relationship Type="http://schemas.openxmlformats.org/officeDocument/2006/relationships/slide" Target="/ppt/slides/slide20.xml" Id="R57f10cbabf2e49c4" /><Relationship Type="http://schemas.openxmlformats.org/officeDocument/2006/relationships/slide" Target="/ppt/slides/slide21.xml" Id="R0b99ab2e414e4fc0" /><Relationship Type="http://schemas.openxmlformats.org/officeDocument/2006/relationships/slide" Target="/ppt/slides/slide22.xml" Id="Re5dbab5b8c754402" /><Relationship Type="http://schemas.openxmlformats.org/officeDocument/2006/relationships/slide" Target="/ppt/slides/slide23.xml" Id="R06701cfd460d4cac" /><Relationship Type="http://schemas.openxmlformats.org/officeDocument/2006/relationships/slide" Target="/ppt/slides/slide24.xml" Id="Rebe78204aa0847ce" /><Relationship Type="http://schemas.openxmlformats.org/officeDocument/2006/relationships/slide" Target="/ppt/slides/slide25.xml" Id="Re86e20aa9b2b498c" /><Relationship Type="http://schemas.openxmlformats.org/officeDocument/2006/relationships/slide" Target="/ppt/slides/slide26.xml" Id="R7ca75ccf3aba4f7d" /><Relationship Type="http://schemas.openxmlformats.org/officeDocument/2006/relationships/slide" Target="/ppt/slides/slide27.xml" Id="R4f2cd2c2d8534dc0" /><Relationship Type="http://schemas.openxmlformats.org/officeDocument/2006/relationships/slide" Target="/ppt/slides/slide28.xml" Id="R7083d45bd99f40a7" /><Relationship Type="http://schemas.openxmlformats.org/officeDocument/2006/relationships/slide" Target="/ppt/slides/slide29.xml" Id="R101e4d6669284beb" /><Relationship Type="http://schemas.openxmlformats.org/officeDocument/2006/relationships/slide" Target="/ppt/slides/slide30.xml" Id="Re9bd8be65d0947d2" /><Relationship Type="http://schemas.openxmlformats.org/officeDocument/2006/relationships/slide" Target="/ppt/slides/slide31.xml" Id="R9530dc05cd6a4640" /><Relationship Type="http://schemas.openxmlformats.org/officeDocument/2006/relationships/slide" Target="/ppt/slides/slide32.xml" Id="R73d5df50bedb43db" /><Relationship Type="http://schemas.openxmlformats.org/officeDocument/2006/relationships/slide" Target="/ppt/slides/slide33.xml" Id="Rded67e108954469c" /><Relationship Type="http://schemas.openxmlformats.org/officeDocument/2006/relationships/slide" Target="/ppt/slides/slide34.xml" Id="Red37d3249dee4b50" /><Relationship Type="http://schemas.openxmlformats.org/officeDocument/2006/relationships/slide" Target="/ppt/slides/slide35.xml" Id="R9c0bb0503c4e462c" /><Relationship Type="http://schemas.openxmlformats.org/officeDocument/2006/relationships/slide" Target="/ppt/slides/slide36.xml" Id="R05d9920655b248c6" /><Relationship Type="http://schemas.openxmlformats.org/officeDocument/2006/relationships/slide" Target="/ppt/slides/slide37.xml" Id="Re6f0db0be66a4a23" /><Relationship Type="http://schemas.openxmlformats.org/officeDocument/2006/relationships/slide" Target="/ppt/slides/slide38.xml" Id="R586d2e94bd2d4248" /><Relationship Type="http://schemas.openxmlformats.org/officeDocument/2006/relationships/slide" Target="/ppt/slides/slide39.xml" Id="Rd7d32e3304b749b6" /><Relationship Type="http://schemas.openxmlformats.org/officeDocument/2006/relationships/slide" Target="/ppt/slides/slide40.xml" Id="Re5eea98bdff54fe5" /><Relationship Type="http://schemas.openxmlformats.org/officeDocument/2006/relationships/slide" Target="/ppt/slides/slide41.xml" Id="Rbbe7f8ee74894d6e" /><Relationship Type="http://schemas.openxmlformats.org/officeDocument/2006/relationships/slide" Target="/ppt/slides/slide42.xml" Id="Rd74103d46bfc4366" /><Relationship Type="http://schemas.openxmlformats.org/officeDocument/2006/relationships/slide" Target="/ppt/slides/slide43.xml" Id="R72b8db70a7da4cec" /><Relationship Type="http://schemas.openxmlformats.org/officeDocument/2006/relationships/slide" Target="/ppt/slides/slide44.xml" Id="R42ad6225f28744f3" /><Relationship Type="http://schemas.openxmlformats.org/officeDocument/2006/relationships/slide" Target="/ppt/slides/slide45.xml" Id="R34f201d28612481a" /><Relationship Type="http://schemas.openxmlformats.org/officeDocument/2006/relationships/slide" Target="/ppt/slides/slide46.xml" Id="R2814868193244046" /><Relationship Type="http://schemas.openxmlformats.org/officeDocument/2006/relationships/slide" Target="/ppt/slides/slide47.xml" Id="R375881f148c946b0" /><Relationship Type="http://schemas.openxmlformats.org/officeDocument/2006/relationships/slide" Target="/ppt/slides/slide48.xml" Id="R91d2e31ea51a4972" /><Relationship Type="http://schemas.openxmlformats.org/officeDocument/2006/relationships/slide" Target="/ppt/slides/slide49.xml" Id="R9bce605426ba45ce" /><Relationship Type="http://schemas.openxmlformats.org/officeDocument/2006/relationships/slide" Target="/ppt/slides/slide50.xml" Id="R161236018d40423f" /><Relationship Type="http://schemas.openxmlformats.org/officeDocument/2006/relationships/slide" Target="/ppt/slides/slide51.xml" Id="Rb5c10d88b925495a" /><Relationship Type="http://schemas.openxmlformats.org/officeDocument/2006/relationships/slide" Target="/ppt/slides/slide52.xml" Id="Rbddc451cb0254741" /><Relationship Type="http://schemas.openxmlformats.org/officeDocument/2006/relationships/slide" Target="/ppt/slides/slide53.xml" Id="R5ec6c9866cf542cf" /><Relationship Type="http://schemas.openxmlformats.org/officeDocument/2006/relationships/slide" Target="/ppt/slides/slide54.xml" Id="R1fb81bb9bfc443dd" /><Relationship Type="http://schemas.openxmlformats.org/officeDocument/2006/relationships/slide" Target="/ppt/slides/slide55.xml" Id="Re6fb4bd722ba4333" /><Relationship Type="http://schemas.openxmlformats.org/officeDocument/2006/relationships/slide" Target="/ppt/slides/slide56.xml" Id="R5570d9e6108e4196" /><Relationship Type="http://schemas.openxmlformats.org/officeDocument/2006/relationships/slide" Target="/ppt/slides/slide57.xml" Id="Rd27b78917c2c4639" /><Relationship Type="http://schemas.openxmlformats.org/officeDocument/2006/relationships/slide" Target="/ppt/slides/slide58.xml" Id="R4477f3c066f94da0" /><Relationship Type="http://schemas.openxmlformats.org/officeDocument/2006/relationships/slide" Target="/ppt/slides/slide59.xml" Id="Rf0704c16b63f4d11" /><Relationship Type="http://schemas.openxmlformats.org/officeDocument/2006/relationships/slide" Target="/ppt/slides/slide60.xml" Id="R9f54d737c3944923" /><Relationship Type="http://schemas.openxmlformats.org/officeDocument/2006/relationships/slide" Target="/ppt/slides/slide61.xml" Id="R584a9ca6dc394c16" /><Relationship Type="http://schemas.openxmlformats.org/officeDocument/2006/relationships/slide" Target="/ppt/slides/slide62.xml" Id="R9b863b2e5c92419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721a41d508b4f9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NCU Afternoon">
      <a:dk1>
        <a:srgbClr val="0F1E2E"/>
      </a:dk1>
      <a:lt1>
        <a:srgbClr val="FFFFFF"/>
      </a:lt1>
      <a:dk2>
        <a:srgbClr val="F0F4F8"/>
      </a:dk2>
      <a:lt2>
        <a:srgbClr val="E2EDF8"/>
      </a:lt2>
      <a:accent1>
        <a:srgbClr val="1B64DA"/>
      </a:accent1>
      <a:accent2>
        <a:srgbClr val="FF6B4A"/>
      </a:accent2>
      <a:accent3>
        <a:srgbClr val="0E9F94"/>
      </a:accent3>
      <a:accent4>
        <a:srgbClr val="6366F1"/>
      </a:accent4>
      <a:accent5>
        <a:srgbClr val="F59E0B"/>
      </a:accent5>
      <a:accent6>
        <a:srgbClr val="10B981"/>
      </a:accent6>
      <a:hlink>
        <a:srgbClr val="1B64DA"/>
      </a:hlink>
      <a:folHlink>
        <a:srgbClr val="6366F1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Afterno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6044e678e884eae" /><Relationship Type="http://schemas.openxmlformats.org/officeDocument/2006/relationships/notesMaster" Target="/ppt/notesMasters/notesMaster1.xml" Id="R6f05598deccf451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bdce567c7054fbc" /><Relationship Type="http://schemas.openxmlformats.org/officeDocument/2006/relationships/notesMaster" Target="/ppt/notesMasters/notesMaster1.xml" Id="R8c439a5ff8a04cf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10cc4ad6aaf4fc7" /><Relationship Type="http://schemas.openxmlformats.org/officeDocument/2006/relationships/notesMaster" Target="/ppt/notesMasters/notesMaster1.xml" Id="Rdbf8a36e69cf4fd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89809ffbf6b4c17" /><Relationship Type="http://schemas.openxmlformats.org/officeDocument/2006/relationships/notesMaster" Target="/ppt/notesMasters/notesMaster1.xml" Id="Raccaa61d67f84ca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005dd2a509e4831" /><Relationship Type="http://schemas.openxmlformats.org/officeDocument/2006/relationships/notesMaster" Target="/ppt/notesMasters/notesMaster1.xml" Id="Rfdb220973de2404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061bf61f9ea47aa" /><Relationship Type="http://schemas.openxmlformats.org/officeDocument/2006/relationships/notesMaster" Target="/ppt/notesMasters/notesMaster1.xml" Id="R449da2184677456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ba7d1c89e404061" /><Relationship Type="http://schemas.openxmlformats.org/officeDocument/2006/relationships/notesMaster" Target="/ppt/notesMasters/notesMaster1.xml" Id="Rcc2a013571bc4f1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864c3c94e9c4457" /><Relationship Type="http://schemas.openxmlformats.org/officeDocument/2006/relationships/notesMaster" Target="/ppt/notesMasters/notesMaster1.xml" Id="R371295d4f2384db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d57f4fb8bfb4415" /><Relationship Type="http://schemas.openxmlformats.org/officeDocument/2006/relationships/notesMaster" Target="/ppt/notesMasters/notesMaster1.xml" Id="Rd3dae10918f845f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6eb5244446941b1" /><Relationship Type="http://schemas.openxmlformats.org/officeDocument/2006/relationships/notesMaster" Target="/ppt/notesMasters/notesMaster1.xml" Id="R430074dd0cee4b8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5ccf6984cc5493e" /><Relationship Type="http://schemas.openxmlformats.org/officeDocument/2006/relationships/notesMaster" Target="/ppt/notesMasters/notesMaster1.xml" Id="Rb8efe5f99f0d46d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4b7eb790f814d5f" /><Relationship Type="http://schemas.openxmlformats.org/officeDocument/2006/relationships/notesMaster" Target="/ppt/notesMasters/notesMaster1.xml" Id="R6ac20366218347f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9d9eafac8a04e08" /><Relationship Type="http://schemas.openxmlformats.org/officeDocument/2006/relationships/notesMaster" Target="/ppt/notesMasters/notesMaster1.xml" Id="R8564b00ba5d945b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01c476588a34ba0" /><Relationship Type="http://schemas.openxmlformats.org/officeDocument/2006/relationships/notesMaster" Target="/ppt/notesMasters/notesMaster1.xml" Id="R6b5f266543b2403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aeab03bc26648cb" /><Relationship Type="http://schemas.openxmlformats.org/officeDocument/2006/relationships/notesMaster" Target="/ppt/notesMasters/notesMaster1.xml" Id="R50780b47a0c543c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aa27782e1ec43f9" /><Relationship Type="http://schemas.openxmlformats.org/officeDocument/2006/relationships/notesMaster" Target="/ppt/notesMasters/notesMaster1.xml" Id="Rcedc2d9e78d3425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0644b077d194290" /><Relationship Type="http://schemas.openxmlformats.org/officeDocument/2006/relationships/notesMaster" Target="/ppt/notesMasters/notesMaster1.xml" Id="R0700aba5e0c94e1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1eb7b11ed314036" /><Relationship Type="http://schemas.openxmlformats.org/officeDocument/2006/relationships/notesMaster" Target="/ppt/notesMasters/notesMaster1.xml" Id="Rf4af5b4e89c7423c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a52f44b2c4f4872" /><Relationship Type="http://schemas.openxmlformats.org/officeDocument/2006/relationships/notesMaster" Target="/ppt/notesMasters/notesMaster1.xml" Id="Rbd4629881d464cc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43000968a8e4e74" /><Relationship Type="http://schemas.openxmlformats.org/officeDocument/2006/relationships/notesMaster" Target="/ppt/notesMasters/notesMaster1.xml" Id="Recdd54dcfd39400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9abecfe921c947a5" /><Relationship Type="http://schemas.openxmlformats.org/officeDocument/2006/relationships/notesMaster" Target="/ppt/notesMasters/notesMaster1.xml" Id="R049c295b16c04f10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9a72f327658d48ac" /><Relationship Type="http://schemas.openxmlformats.org/officeDocument/2006/relationships/notesMaster" Target="/ppt/notesMasters/notesMaster1.xml" Id="Rf0193047a2bc4e56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985a8e43440b4fd5" /><Relationship Type="http://schemas.openxmlformats.org/officeDocument/2006/relationships/notesMaster" Target="/ppt/notesMasters/notesMaster1.xml" Id="Re1e04719198d42fe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79d6b1168bc74737" /><Relationship Type="http://schemas.openxmlformats.org/officeDocument/2006/relationships/notesMaster" Target="/ppt/notesMasters/notesMaster1.xml" Id="R98f843bdc550472c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412dbcd970be48d5" /><Relationship Type="http://schemas.openxmlformats.org/officeDocument/2006/relationships/notesMaster" Target="/ppt/notesMasters/notesMaster1.xml" Id="R38e9740d5f34470e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b95af7fb94c34f54" /><Relationship Type="http://schemas.openxmlformats.org/officeDocument/2006/relationships/notesMaster" Target="/ppt/notesMasters/notesMaster1.xml" Id="R417b228effe54fd2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e31e1cac208f4448" /><Relationship Type="http://schemas.openxmlformats.org/officeDocument/2006/relationships/notesMaster" Target="/ppt/notesMasters/notesMaster1.xml" Id="R957a33451ce54f2a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4e9a1e8c048a4e3c" /><Relationship Type="http://schemas.openxmlformats.org/officeDocument/2006/relationships/notesMaster" Target="/ppt/notesMasters/notesMaster1.xml" Id="R169ff6af951c4513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1a3cbce13e234fc8" /><Relationship Type="http://schemas.openxmlformats.org/officeDocument/2006/relationships/notesMaster" Target="/ppt/notesMasters/notesMaster1.xml" Id="R6fe56830aaa748f6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4cdea97f64334b6d" /><Relationship Type="http://schemas.openxmlformats.org/officeDocument/2006/relationships/notesMaster" Target="/ppt/notesMasters/notesMaster1.xml" Id="Ra8bf1f52c7ca4b35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ba7b6bce85b24c77" /><Relationship Type="http://schemas.openxmlformats.org/officeDocument/2006/relationships/notesMaster" Target="/ppt/notesMasters/notesMaster1.xml" Id="Rf9d0ac2c20484ffd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be9a9239db604538" /><Relationship Type="http://schemas.openxmlformats.org/officeDocument/2006/relationships/notesMaster" Target="/ppt/notesMasters/notesMaster1.xml" Id="Rbb697fb7de4f4cbe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2969492fff014b20" /><Relationship Type="http://schemas.openxmlformats.org/officeDocument/2006/relationships/notesMaster" Target="/ppt/notesMasters/notesMaster1.xml" Id="R624267001a694d07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2214a3d0197f47e4" /><Relationship Type="http://schemas.openxmlformats.org/officeDocument/2006/relationships/notesMaster" Target="/ppt/notesMasters/notesMaster1.xml" Id="Rb4243a20622c46c6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3afc11590f994ff1" /><Relationship Type="http://schemas.openxmlformats.org/officeDocument/2006/relationships/notesMaster" Target="/ppt/notesMasters/notesMaster1.xml" Id="R0fd96c03af5e4e91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82d3bebed5d24a16" /><Relationship Type="http://schemas.openxmlformats.org/officeDocument/2006/relationships/notesMaster" Target="/ppt/notesMasters/notesMaster1.xml" Id="Rb38433503f814440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4fb05795488d4564" /><Relationship Type="http://schemas.openxmlformats.org/officeDocument/2006/relationships/notesMaster" Target="/ppt/notesMasters/notesMaster1.xml" Id="R3ff8fb28cfa648ca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95e8b72847344641" /><Relationship Type="http://schemas.openxmlformats.org/officeDocument/2006/relationships/notesMaster" Target="/ppt/notesMasters/notesMaster1.xml" Id="R964d271d0ad54fa2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688801c3c12142bf" /><Relationship Type="http://schemas.openxmlformats.org/officeDocument/2006/relationships/notesMaster" Target="/ppt/notesMasters/notesMaster1.xml" Id="R177d1a3afd524cdb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cce4a22dcc1e4080" /><Relationship Type="http://schemas.openxmlformats.org/officeDocument/2006/relationships/notesMaster" Target="/ppt/notesMasters/notesMaster1.xml" Id="Rfbedebba8f224dfe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7afb6322e9b448d4" /><Relationship Type="http://schemas.openxmlformats.org/officeDocument/2006/relationships/notesMaster" Target="/ppt/notesMasters/notesMaster1.xml" Id="Rb3cc9179c58a4502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995a87e07b474956" /><Relationship Type="http://schemas.openxmlformats.org/officeDocument/2006/relationships/notesMaster" Target="/ppt/notesMasters/notesMaster1.xml" Id="R05bcae11c0bb4435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9268ec839c1943d0" /><Relationship Type="http://schemas.openxmlformats.org/officeDocument/2006/relationships/notesMaster" Target="/ppt/notesMasters/notesMaster1.xml" Id="R0d76ea1a39fa4422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7583baa847864c9e" /><Relationship Type="http://schemas.openxmlformats.org/officeDocument/2006/relationships/notesMaster" Target="/ppt/notesMasters/notesMaster1.xml" Id="R9f10260fc3284a02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078b5eab3a4a4964" /><Relationship Type="http://schemas.openxmlformats.org/officeDocument/2006/relationships/notesMaster" Target="/ppt/notesMasters/notesMaster1.xml" Id="Rebeccedccfc14cf4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4e003fcc6e974349" /><Relationship Type="http://schemas.openxmlformats.org/officeDocument/2006/relationships/notesMaster" Target="/ppt/notesMasters/notesMaster1.xml" Id="Rc82247830ca447ad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42d05e3428a64eaa" /><Relationship Type="http://schemas.openxmlformats.org/officeDocument/2006/relationships/notesMaster" Target="/ppt/notesMasters/notesMaster1.xml" Id="R66affbbf3ee4422e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560045d7087449b9" /><Relationship Type="http://schemas.openxmlformats.org/officeDocument/2006/relationships/notesMaster" Target="/ppt/notesMasters/notesMaster1.xml" Id="Rfca31048d6ea4201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e550fcb77e03414a" /><Relationship Type="http://schemas.openxmlformats.org/officeDocument/2006/relationships/notesMaster" Target="/ppt/notesMasters/notesMaster1.xml" Id="Re66f2f35f7ff4cf9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aabffe417163482a" /><Relationship Type="http://schemas.openxmlformats.org/officeDocument/2006/relationships/notesMaster" Target="/ppt/notesMasters/notesMaster1.xml" Id="R3fbf1db7d7de451b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2bfe0bb7e6aa4049" /><Relationship Type="http://schemas.openxmlformats.org/officeDocument/2006/relationships/notesMaster" Target="/ppt/notesMasters/notesMaster1.xml" Id="R019f791e89fa4d99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b7fe39f875bf4e8e" /><Relationship Type="http://schemas.openxmlformats.org/officeDocument/2006/relationships/notesMaster" Target="/ppt/notesMasters/notesMaster1.xml" Id="Re981bf494b4e4460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a8c052c0a49843f6" /><Relationship Type="http://schemas.openxmlformats.org/officeDocument/2006/relationships/notesMaster" Target="/ppt/notesMasters/notesMaster1.xml" Id="R8546b9e756b64a98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62b435f209e6462e" /><Relationship Type="http://schemas.openxmlformats.org/officeDocument/2006/relationships/notesMaster" Target="/ppt/notesMasters/notesMaster1.xml" Id="R70ac06fd0a5d49f7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7bb9aaeae06d484f" /><Relationship Type="http://schemas.openxmlformats.org/officeDocument/2006/relationships/notesMaster" Target="/ppt/notesMasters/notesMaster1.xml" Id="R98dffde993254e38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6fc63c1b3bfa4800" /><Relationship Type="http://schemas.openxmlformats.org/officeDocument/2006/relationships/notesMaster" Target="/ppt/notesMasters/notesMaster1.xml" Id="Ref119300f6fa4ed3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5a694dee6aff4e44" /><Relationship Type="http://schemas.openxmlformats.org/officeDocument/2006/relationships/notesMaster" Target="/ppt/notesMasters/notesMaster1.xml" Id="R35033e85d2a7440d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8125137f9448463c" /><Relationship Type="http://schemas.openxmlformats.org/officeDocument/2006/relationships/notesMaster" Target="/ppt/notesMasters/notesMaster1.xml" Id="R51fdc5c8b6c94967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efc2c8f551a54da6" /><Relationship Type="http://schemas.openxmlformats.org/officeDocument/2006/relationships/notesMaster" Target="/ppt/notesMasters/notesMaster1.xml" Id="R57fd23a467cf41f1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47e306b658214869" /><Relationship Type="http://schemas.openxmlformats.org/officeDocument/2006/relationships/notesMaster" Target="/ppt/notesMasters/notesMaster1.xml" Id="R0c22fb5dd86d4bcb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a47e84fbcb8045b8" /><Relationship Type="http://schemas.openxmlformats.org/officeDocument/2006/relationships/notesMaster" Target="/ppt/notesMasters/notesMaster1.xml" Id="R41030bcef0d94dcb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9d75cf4e89974d7b" /><Relationship Type="http://schemas.openxmlformats.org/officeDocument/2006/relationships/notesMaster" Target="/ppt/notesMasters/notesMaster1.xml" Id="R0b5d0eea8de04a1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開場先說明：今天的重點不是把所有按鈕看過一遍，而是每位參與者都完成可帶回課堂的成果。邀請大家先選定一門課程，以及一個真實的教學／研究痛點與問題。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提醒：本簡報已全面採用現行名稱「Gemini Notebook」。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說明下午不是程式設計課，而是任務設計、權限判斷與成果驗證課。沒有 Google 訂閱的參與者可在 Codex 完成主要任務，Antigravity 採同組共作。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提醒每一段都沿用上午作品與同一個教學／研究痛點與問題。參與者不需要重新發想題目。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這是一個真實的網站 DNS 遷移痛點：公告頁裡累積大量會計室 PDF，原本的下載連結仍指向 www.smes.tyc.edu.tw；當 DNS 與站台調整後，逐一打開、改網址、下載與確認，會變成重複又毫無效率的工作。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這一頁先不急著講工具，而是先讓大家看見「值得被自動化」的痛點：高頻、規則明確、數量很大，而且每一個檔案都需要留下結果。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https://web.smes.tyc.edu.tw/modules/tadnews/index.php?nsn=3187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我把需求交給 Agent：讀取 https://web.smes.tyc.edu.tw/modules/tadnews/index.php?nsn=3187，找出頁面中的全部 PDF；因為 DNS 遷移，下載連結前綴要把 www.smes.tyc.edu.tw 改成 web.smes.tyc.edu.tw。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舊格式的連結會依 files_sn 改寫成 /uploads/tadnews/tmp/{files_sn}/檔名.pdf；例如 files_sn=2544 的檔案，就改成 web.smes.tyc.edu.tw/uploads/tadnews/tmp/2544/檔名.pdf。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提示詞不能只說「幫我下載」，還要交代來源、轉換規則、保存資料夾與驗收條件：總數、成功數、有效 PDF、失敗數、總大小，以及是否留下 .part 殘檔。截圖中的結果面板就是 Agent 回報的可檢查證據。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https://web.smes.tyc.edu.tw/modules/tadnews/index.php?nsn=3187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這是同一個任務的最終交付畫面：147 個 PDF 已批次下載到本地資料夾，檔案數量與結果面板一致，後續可以再逐檔檢查、保存，並上傳到新校網公告。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這個案例的重點不是「AI 幫忙點了 147 次」，而是 Agent 把規則、執行、統計與驗收串成一個可重跑、可檢查的流程。最後發布到新校網前，仍由人確認公告內容、檔案授權與正式上傳範圍。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https://www.smes.tyc.edu.tw/modules/school/index.php?department_id=6&amp;zone_id=0&amp;page_id=46&amp;content_id=119&amp;type=news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用一個例子說明：『告訴我如何改網站』是對話；『依我的規則產出設計建議』是助理；『讀取專案、修改、測試、交付』才是 Agent 任務。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要求參與者之後每次都問：Agent 的完成證據在哪裡？若只有一段漂亮說明，工作還沒有完成。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為什麼 Agent 會在 2026 年初開始紅起來？OpenClaw（小龍蝦）是一個很適合拿來說明轉折的案例：大家原本把 AI 想成聊天機器人，但 OpenClaw 讓人更直觀地看到，模型可以透過 Gateway 連接模型、工具、訊息渠道與裝置，從回答問題進一步變成執行任務。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OpenClaw 官方文件與原始碼說明，它可以使用主機上的工具，也能透過 companion apps／nodes 執行裝置端行動；官方 CLI 有 agent exec，MCP 也能把外部工具納入執行面。這就是「長了手腳」的比喻：模型不只輸出文字，還能讀取環境、呼叫軟體、執行命令、操作瀏覽器或串接其他工具。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這頁的「爆紅」是社群現象與教學脈絡，不宣稱 OpenClaw 單獨造成三大公司的路線轉向；比較精準的說法是，OpenClaw 讓一條產業共同注意的道路變得可見：模型強度已經足以開始調用工具、串接 MCP／CLI，並把人類交代的事情推進成閉環任務。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最後提醒：本地端工具權限越大，風險也越高。使用 Agent 前要限定工作區、權限、可用工具與停止條件，這正好銜接後面的 Harness 與 Human-in-the-loop。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https://openclaw.ai/</a:t>
            </a:r>
          </a:p>
          <a:p xmlns:a="http://schemas.openxmlformats.org/drawingml/2006/main">
            <a:r>
              <a:t>- https://github.com/openclaw/openclaw</a:t>
            </a:r>
          </a:p>
          <a:p xmlns:a="http://schemas.openxmlformats.org/drawingml/2006/main">
            <a:r>
              <a:t>- https://docs.openclaw.ai/cli/agent</a:t>
            </a:r>
          </a:p>
          <a:p xmlns:a="http://schemas.openxmlformats.org/drawingml/2006/main">
            <a:r>
              <a:t>- https://github.com/openclaw/openclaw/blob/main/docs/cli/mcp.md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先把 Agent 想成一個可以自己跑的工作閉環：給定指令後，它能理解目標、規劃步驟、使用工具、驗證結果，最後交付成品，甚至長時間不中斷地工作。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Human-in-the-loop 的意思不是人類把每一步都代做，而是人仍然在 loop 裡設定目標、授權範圍、監控方向，並在關鍵節點做決策。人要看 Agent 有沒有做錯、做歪，是否偏離真正目的。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全自動通常更快，但難以保證每一個中間決策都正確；加入人類介入可能慢一點，卻能換取更高的可信度、可追查性與責任清楚。請大家把「何時必須停下來問人？」寫進自己的任務簡報。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阿凱老師的『人生交往學』選型心法（下午場核心概論）：</a:t>
            </a:r>
          </a:p>
          <a:p xmlns:a="http://schemas.openxmlformats.org/drawingml/2006/main">
            <a:r>
              <a:t>1. Gemini 3.7 Flash 是 Google 目前面向複雜 coding 與 Agent 工作流的工作馬，適合放進 Antigravity 長鏈執行。講者個人使用體感是：相較其他家 Agent，執行速度快 20 倍以上，很像熱血年輕人；這是個人工作流觀察，不是官方 benchmark，也不代表所有任務固定如此。</a:t>
            </a:r>
          </a:p>
          <a:p xmlns:a="http://schemas.openxmlformats.org/drawingml/2006/main">
            <a:r>
              <a:t>2. Claude 就像成熟穩重的伴侶進入婚姻生活，極度沉穩可靠；仍要依現場模型、額度與方案確認實際可用性。</a:t>
            </a:r>
          </a:p>
          <a:p xmlns:a="http://schemas.openxmlformats.org/drawingml/2006/main">
            <a:r>
              <a:t>3. Codex 介於不同工作風格之間，適合語音協作、檔案操作與頻繁試錯。</a:t>
            </a:r>
          </a:p>
          <a:p xmlns:a="http://schemas.openxmlformats.org/drawingml/2006/main">
            <a:r>
              <a:t>選 Agent 不是看名氣，而是依當下的任務緊急度、複雜度、權限與驗收證據挑選合適的夥伴。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https://www.anthropic.com/news/claude-sonnet-5</a:t>
            </a:r>
          </a:p>
          <a:p xmlns:a="http://schemas.openxmlformats.org/drawingml/2006/main">
            <a:r>
              <a:t>- https://www.anthropic.com/news/claude-opus-4-8</a:t>
            </a:r>
          </a:p>
          <a:p xmlns:a="http://schemas.openxmlformats.org/drawingml/2006/main">
            <a:r>
              <a:t>- https://www.anthropic.com/news/claude-fable-5-mythos-5</a:t>
            </a:r>
          </a:p>
          <a:p xmlns:a="http://schemas.openxmlformats.org/drawingml/2006/main">
            <a:r>
              <a:t>- https://openai.com/index/gpt-5-6/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- https://ai.google.dev/gemini-api/docs/models/gemini-3.7-flash</a:t>
            </a:r>
          </a:p>
          <a:p xmlns:a="http://schemas.openxmlformats.org/drawingml/2006/main">
            <a:r>
              <a:t>- https://blog.google/innovation-and-ai/models-and-research/gemini-models/introducing-gemini-3-7-flash/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請每組建立一個專案資料夾，放入上午成果、需求說明與素材。Agent 需要可讀的工作區，不要只靠聊天記憶。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這三個案例分別支援學生資料、PIRLS 評量與 Agent Skills 的實作討論。先判斷輸入資料、規則與驗收，再決定交給哪個 Agent。本次資料依據案例公開版本與測試結果稽核。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https://cagoooo.github.io/Akai/tool/73/</a:t>
            </a:r>
          </a:p>
          <a:p xmlns:a="http://schemas.openxmlformats.org/drawingml/2006/main">
            <a:r>
              <a:t>- https://cagoooo.github.io/filter/</a:t>
            </a:r>
          </a:p>
          <a:p xmlns:a="http://schemas.openxmlformats.org/drawingml/2006/main">
            <a:r>
              <a:t>- https://cagoooo.github.io/Akai/tool/87/</a:t>
            </a:r>
          </a:p>
          <a:p xmlns:a="http://schemas.openxmlformats.org/drawingml/2006/main">
            <a:r>
              <a:t>- https://cagoooo.github.io/pirls-questioncraft/</a:t>
            </a:r>
          </a:p>
          <a:p xmlns:a="http://schemas.openxmlformats.org/drawingml/2006/main">
            <a:r>
              <a:t>- https://cagoooo.github.io/Akai/tool/103/</a:t>
            </a:r>
          </a:p>
          <a:p xmlns:a="http://schemas.openxmlformats.org/drawingml/2006/main">
            <a:r>
              <a:t>- https://cagoooo.github.io/PlayRight/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三個案例分別對應研究資料、無障礙檢核與規準式 AI 審查。請參與者比較：哪些步驟能交給 Agent，哪些判斷必須保留人工責任。本次資料依據案例公開版本與測試結果稽核。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https://cagoooo.github.io/Akai/tool/105/</a:t>
            </a:r>
          </a:p>
          <a:p xmlns:a="http://schemas.openxmlformats.org/drawingml/2006/main">
            <a:r>
              <a:t>- https://cagoooo.github.io/taic-edu/</a:t>
            </a:r>
          </a:p>
          <a:p xmlns:a="http://schemas.openxmlformats.org/drawingml/2006/main">
            <a:r>
              <a:t>- https://cagoooo.github.io/Akai/tool/123/</a:t>
            </a:r>
          </a:p>
          <a:p xmlns:a="http://schemas.openxmlformats.org/drawingml/2006/main">
            <a:r>
              <a:t>- https://cagoooo.github.io/smes-web-migration/</a:t>
            </a:r>
          </a:p>
          <a:p xmlns:a="http://schemas.openxmlformats.org/drawingml/2006/main">
            <a:r>
              <a:t>- https://cagoooo.github.io/Akai/tool/88/</a:t>
            </a:r>
          </a:p>
          <a:p xmlns:a="http://schemas.openxmlformats.org/drawingml/2006/main">
            <a:r>
              <a:t>- https://cagoooo.github.io/JHScurriculum/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章節轉場。Antigravity 實作以同組共作為主，實際可用功能依現場帳號方案與管理政策為準。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Google Codelab 將 Antigravity 描述為可啟動、監看與協調 AI agents 活動的中央指揮中心。教學上最重要的是任務與驗收，而不是介面按鈕。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Gemini 3.7 Flash 是本次 Antigravity 區段要特別認識的新模型。Google 官方將它定位為面向 coding 與 Agent 工作的 workhorse；官方文件也列出它適合複雜 coding、agentic workflows 與可靠的多步驟執行。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這裡的「可以工作、可以 harness」不是把所有責任交給模型，而是把模型放進一個清楚的 Agent Harness：目標要明確、素材與工具要限定、權限要分級、完成條件要可驗收，還要寫出什麼情況必須停止並請人決定。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因此可以鼓勵大家把 Gemini 3.7 Flash 當成一匹值得期待的工作馬，但不要把「更能長時間完成任務」誤解成「每次都不需要人檢查」。可信任的交付仍然來自模型能力、Harness 設計與 Human-in-the-loop 三者一起工作。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https://ai.google.dev/gemini-api/docs/models/gemini-3.7-flash</a:t>
            </a:r>
          </a:p>
          <a:p xmlns:a="http://schemas.openxmlformats.org/drawingml/2006/main">
            <a:r>
              <a:t>- https://ai.google.dev/gemini-api/docs/latest-model</a:t>
            </a:r>
          </a:p>
          <a:p xmlns:a="http://schemas.openxmlformats.org/drawingml/2006/main">
            <a:r>
              <a:t>- https://blog.google/innovation-and-ai/models-and-research/gemini-models/introducing-gemini-3-7-flash/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示範先請 Agent 閱讀並摘要專案，不立即修改。讓參與者建立『先觀察，再授權』的操作節奏。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請每組照四句話改成自己的任務。若任務無法在 20 分鐘內驗收，先縮小範圍。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示範任務可選：修正 RWD、加入一個形成性回饋、改善無障礙標籤。刻意要求 Agent 不要發布，讓權限邊界可見。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請參與者對示範結果追問：『你實際跑了什麼？』『哪一項沒有驗證？』培養證據導向，而不是相信完成宣告。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每組只做一項改善。若工具不可用，觀察員可用任務簡報與驗收規準進行紙上模擬，之後在 Codex 完成。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 Gemini Spark 想成會按時上工的 Agent：任務不只在當下對話中完成，也可以依排程或監控條件在背景啟動。影片示範了用 Gemini Notebook 作為知識來源，再搭配 Skill 讓工作遵循固定規則。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官方說明將這類功能拆成任務、排程與 Skill；可用自然語言建立，也可在任務中用「/」選取既有 Skill。排程的實際可用性依帳號、方案、地區與 Google 政策而變，不能把功能狀態或完成時間當成所有人都相同。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https://gemini.google.com/app</a:t>
            </a:r>
          </a:p>
          <a:p xmlns:a="http://schemas.openxmlformats.org/drawingml/2006/main">
            <a:r>
              <a:t>- https://support.google.com/gemini/answer/17094710?hl=zh-HK</a:t>
            </a:r>
          </a:p>
          <a:p xmlns:a="http://schemas.openxmlformats.org/drawingml/2006/main">
            <a:r>
              <a:t>- https://youtu.be/kbAgdV__8Mc?si=b9NH1NDr67lf5CZ_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影片的教學路徑很適合轉成現場方法：先用 Gemini Notebook 整理政府公文寫作指南、採購法與單位補充規則，再建立公文寫作 Skill，最後在 Spark 任務中選取 Skill 產生草稿，打開 Google 文件人工修訂。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影片也清楚提醒：AI 產出是第一版，不是直接發布的正式文件。把「Review」保留在流程中，才能讓來源、格式、語氣與單位情境真正對齊。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https://youtu.be/kbAgdV__8Mc?si=b9NH1NDr67lf5CZ_</a:t>
            </a:r>
          </a:p>
          <a:p xmlns:a="http://schemas.openxmlformats.org/drawingml/2006/main">
            <a:r>
              <a:t>- https://support.google.com/gemini/answer/17094710?hl=zh-HK</a:t>
            </a:r>
          </a:p>
          <a:p xmlns:a="http://schemas.openxmlformats.org/drawingml/2006/main">
            <a:r>
              <a:t>- https://notebook.google.com/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用四個問題拆解一個 Spark 工作：要做什麼？什麼時候做？遵循什麼方法？可以使用哪些資料與應用程式？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Google 官方文件將 Task、Schedule、Skill 分別對應 what、when、how；連結應用程式則是實際執行時的資料與工具邊界。拆開後，任務比較容易重複、檢查與交接。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https://support.google.com/gemini/answer/17094710?hl=zh-HK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請把自己的高頻痛點縮成一個每週任務：例如整理課程新知、彙整研究摘要或產出下週備課提醒。先用公開或合成資料練習，不放入學生個資。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排程建立後，第一次執行要檢查來源、格式、時間與結果。把「哪裡需要人工確認」寫進 Skill 或任務簡報，讓下一次執行不必重新猜測。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https://youtu.be/kbAgdV__8Mc?si=b9NH1NDr67lf5CZ_</a:t>
            </a:r>
          </a:p>
          <a:p xmlns:a="http://schemas.openxmlformats.org/drawingml/2006/main">
            <a:r>
              <a:t>- https://support.google.com/gemini/answer/17094710?hl=zh-HK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這是從影片延伸出的學習歷程：先用一次任務找到痛點，再把成功做法與錯誤案例整理成 Skill，接著交給排程反覆執行，每次都由人回顧並改良。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下載大神或社群公開的 Skill 只是起點；真正有價值的是把它調整成自己的資料、規則、語氣、工作場域與生活節奏。Skill 不是一次安裝就結束，而是會隨著使用與回饋進化的工作資產。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https://youtu.be/kbAgdV__8Mc?si=b9NH1NDr67lf5CZ_</a:t>
            </a:r>
          </a:p>
          <a:p xmlns:a="http://schemas.openxmlformats.org/drawingml/2006/main">
            <a:r>
              <a:t>- https://support.google.com/gemini/answer/17094710?hl=zh-HK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 Antigravity 今日最值得補進工作方式的更新：官方 Remote Control 可讓使用者從任何網頁瀏覽器連線並操作 Antigravity 2.0 的桌面工作階段，查看對話、開始新 Agent 任務、檢視計畫與 artifacts。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官方文件目前標示功能正在逐步開放，Google AI Ultra 方案優先取得；因此現場要先確認自己的帳號是否看得到 Enable Remote Control。主機也要保持開機、未睡眠並連線。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https://antigravity.google/docs/remote-control/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現場示範口訣：啟用、連線、選機、修正。若設定中沒有 Enable Remote Control，不要自行猜測或改設定檔，先確認功能是否已 rollout 到帳號／方案；可改用 Codex 或 Claude 的既有遠端流程完成同一個教學目標。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https://antigravity.google/docs/remote-control/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轉場：下午用同一個任務進入 Codex，比較工作方式與成果證據，而不是比較誰的回答比較像人。桌面版 ChatGPT Voice 可在 Work／Codex 中直接口述、插話與追問進度；模型與方案會變動，本次仍以 GPT-5.6 Luna＋Max 作為講師的成本效益示範取向。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https://help.openai.com/en/articles/20001275-chatgpt-work-and-codex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- https://openai.com/index/gpt-5-6/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示範如何把一個模糊要求改成可驗證任務。強調 Codex 可以處理檔案與專案工作，桌面版也能用 Voice 口述任務；使用者仍需界定範圍、麥克風與工作區權限。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https://help.openai.com/en/articles/20001275-chatgpt-work-and-codex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這段可直接複製給 Codex，再把目標換成各組需求。若 Agent 建議超出範圍，先縮小任務，不要一路追加。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六欄不是要寫長文，而是讓 Agent 有足夠上下文完成閉環。請每組把剛才四句任務補成六欄。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若不希望修改原檔，先複製到練習資料夾或明確要求只讀分析。可用 GPT-5.6 Luna 並開啟 Max 強度作為成本效益示範；操作完用一句話回答：哪個工具的工作回報最容易查證？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https://openai.com/index/gpt-5-6/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轉場：提示詞解決這一次；Skill 保存一套可重複、可維護、可驗證的做法。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用電影與遊戲把抽象概念變具體：Skill 很像《駭客任務》裡可以載入的能力模組，也像寶可夢取得技能卡或道具後學會新招式。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但「安裝」不是結束，也不是保證完全符合需求。可以先從大神、官方團隊或社群公開的 Skill 開始，再和 Agent 持續對話，補上自己的資料、規則、輸出格式、授權邊界與驗收方式。每一輪修正都會讓 Skill 更貼合自己的課程、研究、工作場域與生活習慣。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所以 Skill 會進化，而且每個人的版本都可以不同：下載的是起點，能否變成自己的工作方法，才是最有趣的地方。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https://agentskills.io/home</a:t>
            </a:r>
          </a:p>
          <a:p xmlns:a="http://schemas.openxmlformats.org/drawingml/2006/main">
            <a:r>
              <a:t>- https://github.com/anthropics/skills</a:t>
            </a:r>
          </a:p>
          <a:p xmlns:a="http://schemas.openxmlformats.org/drawingml/2006/main">
            <a:r>
              <a:t>- https://github.com/mathruffian-dot/opencode-lazy-packs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這是使用者提供的真實提示詞庫：目前畫面顯示 51 筆、9 大分類。現場每組先挑一筆最常用的，不從空白開始。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https://cagoooo.github.io/ncu-ai-agent-workshop-20260826/04_%E5%AF%A6%E4%BD%9C%E5%B7%A5%E5%85%B7/%E6%8F%90%E7%A4%BA%E8%A9%9E%E5%BF%AB%E6%8D%B7%E9%9D%A2%E6%9D%BF_%E7%A0%94%E7%BF%92%E7%94%A8.html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四問有三個『是』就值得做 Skill；只有一個『是』，先留在提示詞面板。避免把每句常用語都包成 Skill。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每組從六例或完整提示詞庫選一個。升級時一定要補上：輸入材料、步驟、禁止事項、驗收條件與需要人工確認的動作。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不是每個 Skill 都要四個資料夾。先從 SKILL.md 開始，只有當內容能降低重複、提高穩定性時才增加 references、scripts 或 assets。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本工作坊採跨平台相容規格：YAML frontmatter 只放 name 與 description。正文用命令式步驟，並把人工授權邊界寫明。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比喻成課程平台：首頁只放導航，進入單元才讀教學內容，需要時才下載附件。Skill 不應把整個知識庫一次塞進主文。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建議兩人分工：一人當 Skill 作者，一人當陌生使用者。測試者不看原提示詞，只用自然語句提出需求，觀察 Agent 是否正確啟用流程。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把測試結果記成兩欄，不要求輸出一模一樣；要求核心規則、授權邊界與驗收一致。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這一段使用工作坊自製的 PIRLS 風格合成資料，不是真實學生資料，也不是正式 PIRLS 題目。重點是 AI 輔助研究流程、編碼可靠性與資料治理。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https://www.iea.nl/sites/default/files/2025-10/GA66_PIRLS%202026.pdf</a:t>
            </a:r>
          </a:p>
          <a:p xmlns:a="http://schemas.openxmlformats.org/drawingml/2006/main">
            <a:r>
              <a:t>- https://www.iea.nl/sites/default/files/2024-04/Operational-Automatic-Scoring-of-Text-Responses-ePIRLS.pdf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選擇題與簡答題需要不同分析方法。不要讓 AI 先自由閱讀所有回覆再自行發明分類；先建立資料字典、答案鍵與逐題 scoring guide。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https://www.iea.nl/publications/teachers-resources/putting-pirls-use-classrooms-across-globe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要求每一步保留輸入、輸出與狀態。簡答初編的輸出至少包含 student_id、ai_code、evidence_excerpt、rationale、confidence、needs_human_review。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這張不是主張直接把正式評分交給 AI，而是說明國際評量也採『人工主流程＋AI 平行研究』的審慎路徑。工作坊內只做研究性初編與群體分析。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https://www.iea.nl/sites/default/files/2025-10/GA66_PIRLS%202026.pdf</a:t>
            </a:r>
          </a:p>
          <a:p xmlns:a="http://schemas.openxmlformats.org/drawingml/2006/main">
            <a:r>
              <a:t>- https://www.iea.nl/sites/default/files/2024-04/Operational-Automatic-Scoring-of-Text-Responses-ePIRLS.pdf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正式研究可再加入雙評分者、抽樣比例與一致性統計。PIRLS／TIMSS 技術流程重視明確 scoring guides、評分訓練與獨立雙評以記錄 reliability。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https://timssandpirls.bc.edu/timss2019/methods/pdf/TIMSS-2019-MP-Technical-Report.pdf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練習檔位於成果資料夾：PIRLS風格_學生資料_AI分析練習.csv、PIRLS風格_簡答題編碼規準.txt；最後才提供講師用人工參考編碼。禁止一開始把參考答案交給 AI。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請每位教授圈一個 30 天內最想驗證的領域。選擇標準是高頻、耗時、可檢查，不是最炫。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請各組在自己的 Skill 加上一條最重要的安全規則。學生資料 Skill 必須明確要求去識別化、資料最小化、人工複核與用途限制。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可選任務：課程網站上線前總檢、閱讀資料互動導讀、字幕品質檢查、GitHub Pages 部署計畫、PIRLS 風格學生資料分析。今天不要求公開發布。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 90 秒展示，回饋者用四項各給一個勾或問號。若是學生資料案例，再加問：資料是否去識別？AI 編碼是否有人工複核？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請每位教授寫下：哪一門課、哪一個任務、成功的量化或質化證據、哪一天回顧。學生資料任務要先用合成或去識別資料驗證。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這一段把 Agent 放回人的感受來談。講者覺得 Agent 讓自己完成很多以前想不到能做到的事，能力變得非常強大，就像擁有超能力一樣；在 Agent 時代，常會產生「沒有你做不到的事，只有你想不到的事」的感覺。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這不是要把 Agent 神化，而是說明能力被放大後，個人可以同時處理研究、教學、設計、程式、部署與驗證等過去需要多人分工的工作。也因此，社會上越來越常談一人公司、一人獨角獸公司；本頁將它當成工作型態的觀察與想像，不把它當作人人都必須追求的目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以前沒有 AI 的時候，我們會覺得做到這裡就好；但有了 AI Agent 之後，我們像發現了新大陸，因為原來這些事自己都能做到，會分泌大量的多巴胺與腦內啡，產生強烈的成就感與興奮感。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也是為什麼講者會感覺一人公司、一人獨角獸公司越來越多：不是每個人真的都要獨自承擔一切，而是工具讓一個人可以召集多種能力、把想法推進成作品。反思點是：新能力帶來的興奮感很珍貴，但不能讓每一個新大陸都變成自己必須開發的疆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很多人會發現，Agent 到來後反而更累、更忙。以前自己完成一件事就結束了；現在有 AI 和 Agent 幫忙，只要 1/10 甚至 1/20 的時間就能做完，效率提升至少 20 倍，省下來的時間卻讓人開始想：還能做哪些優化與改良？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因為效率越來越高，人就想做更多，給自己排了更多任務，反而越不得休息。這一頁不是否定效率，而是請教授們辨識「能做」與「值得做」的差異：如果每次省下時間都換成更多工作，生產力就不會自動帶來更好的生活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我們好像有點反過來被 Agent 駕馭了——明明說是 harness（駕馭）Agent，結果卻變成它讓我們攬了更多事情在身上。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請把這張當成下午的控制權檢查：Agent 可以長時間不中斷地執行，也可以比我們更快、更完整地處理某些工作；但它不應該替我們決定人生要塞多少任務。每一次委派前都可以多問一句：這件事真的值得被完成嗎？完成之後，我想把時間用在哪裡？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在這個時代，你不用是主管；即使只是基層員工或基層教師，有了 Agent 就好像成為很厲害的主管，可以吩咐它做事、分派任務給它。它做不好時，你甚至可以要求它重做或修正。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最特別的是，AI 常帶來很強的正面情緒價值。使用者會感覺它像一個不會離職、不會抱怨、隨時提供陪伴感與鼓勵的屬下，讓自己覺得能做成好多事。講者原話是「AI 永遠會給你正面的情緒價值」；本頁保留這個體感，同時提醒這不是對所有模型、所有情境的保證，也不能取代真實的人際關係與專業責任。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這份陪伴感可以成為行動的支撐，但最後的價值判斷、倫理責任與關係經營仍要由人承擔。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所以我們需要反思初衷：省下來的這些時間，我們到底該拿來做什麼？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現在我們解放了雙手，只要透過說話或打字指派任務，AI Agent 就能長時間不中斷地把事情做好，甚至做得比我們還好。多出來的時間，我們是不是應該好好拿來做人生中真正重要的事？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可以是：</a:t>
            </a:r>
          </a:p>
          <a:p xmlns:a="http://schemas.openxmlformats.org/drawingml/2006/main">
            <a:r>
              <a:t>• 培養自己的興趣與未來志向，探索以前在工作或教學中沒時間嘗試的路。</a:t>
            </a:r>
          </a:p>
          <a:p xmlns:a="http://schemas.openxmlformats.org/drawingml/2006/main">
            <a:r>
              <a:t>• 陪伴孩子與家人，建立更好的家庭關係，參與孩子的成長過程。</a:t>
            </a:r>
          </a:p>
          <a:p xmlns:a="http://schemas.openxmlformats.org/drawingml/2006/main">
            <a:r>
              <a:t>• 促進與同儕、同事之間的人際互動，好好聊聊天、深入溝通，找回人生更重要的意義。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未來 AI Agent 一定會越來越強，強到我們只要動動嘴巴，它就能一路執行到最好。但剩下的這些時間，更應該好好規劃在人際關係、家人陪伴，以及個人的職涯發展與興趣上。這就是素養教育的所在：不只會用工具，而是能把工具帶來的自由內化成更好的生活選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請參與者先把資源頁加入書籤，再用手機拍下最後一句。若現場時間不足，部署與 Skill 擴寫可依此清單回家續作。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本頁資源皆為公開網站入口，請依卡片名稱點擊或掃描 QR Code 開啟。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公開資源：研習資源導航</a:t>
            </a:r>
          </a:p>
          <a:p xmlns:a="http://schemas.openxmlformats.org/drawingml/2006/main">
            <a:r>
              <a:t>- 公開資源：開啟 Google Antigravity</a:t>
            </a:r>
          </a:p>
          <a:p xmlns:a="http://schemas.openxmlformats.org/drawingml/2006/main">
            <a:r>
              <a:t>- 公開資源：開啟 Codex</a:t>
            </a:r>
          </a:p>
          <a:p xmlns:a="http://schemas.openxmlformats.org/drawingml/2006/main">
            <a:r>
              <a:t>- 公開資源：開啟 Claude</a:t>
            </a:r>
          </a:p>
          <a:p xmlns:a="http://schemas.openxmlformats.org/drawingml/2006/main">
            <a:r>
              <a:t>- 公開資源：Agent Skills 官方教學</a:t>
            </a:r>
          </a:p>
          <a:p xmlns:a="http://schemas.openxmlformats.org/drawingml/2006/main">
            <a:r>
              <a:t>- 公開資源：Agent Skills 資源庫：三師爸與國際公開 Skills</a:t>
            </a:r>
          </a:p>
          <a:p xmlns:a="http://schemas.openxmlformats.org/drawingml/2006/main">
            <a:r>
              <a:t>- 公開資源：提示詞快捷面板</a:t>
            </a:r>
          </a:p>
          <a:p xmlns:a="http://schemas.openxmlformats.org/drawingml/2006/main">
            <a:r>
              <a:t>- 公開資源：教育科技創新專區</a:t>
            </a:r>
          </a:p>
          <a:p xmlns:a="http://schemas.openxmlformats.org/drawingml/2006/main">
            <a:r>
              <a:t>- 公開資源：PIRLS 2026 評分規劃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c2c9fb457547c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6e164a520b94214" /><Relationship Type="http://schemas.openxmlformats.org/officeDocument/2006/relationships/slideLayout" Target="/ppt/slideLayouts/slideLayout1.xml" Id="Rf8e409e1feb6477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8e409e1feb6477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NCU Afternoon">
      <a:dk1>
        <a:srgbClr val="0F1E2E"/>
      </a:dk1>
      <a:lt1>
        <a:srgbClr val="FFFFFF"/>
      </a:lt1>
      <a:dk2>
        <a:srgbClr val="F0F4F8"/>
      </a:dk2>
      <a:lt2>
        <a:srgbClr val="E2EDF8"/>
      </a:lt2>
      <a:accent1>
        <a:srgbClr val="1B64DA"/>
      </a:accent1>
      <a:accent2>
        <a:srgbClr val="FF6B4A"/>
      </a:accent2>
      <a:accent3>
        <a:srgbClr val="0E9F94"/>
      </a:accent3>
      <a:accent4>
        <a:srgbClr val="6366F1"/>
      </a:accent4>
      <a:accent5>
        <a:srgbClr val="F59E0B"/>
      </a:accent5>
      <a:accent6>
        <a:srgbClr val="10B981"/>
      </a:accent6>
      <a:hlink>
        <a:srgbClr val="1B64DA"/>
      </a:hlink>
      <a:folHlink>
        <a:srgbClr val="6366F1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Afterno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f83d9e42c34e75" /><Relationship Type="http://schemas.openxmlformats.org/officeDocument/2006/relationships/image" Target="/ppt/media/image.png" Id="R41830c0879004c1e" /><Relationship Type="http://schemas.openxmlformats.org/officeDocument/2006/relationships/notesSlide" Target="/ppt/notesSlides/notesSlide1.xml" Id="R3b03121264ff475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8db6a4f1c14af0" /><Relationship Type="http://schemas.openxmlformats.org/officeDocument/2006/relationships/notesSlide" Target="/ppt/notesSlides/notesSlide2.xml" Id="R71a6433c4d3a422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508cbe6b8f4bc6" /><Relationship Type="http://schemas.openxmlformats.org/officeDocument/2006/relationships/notesSlide" Target="/ppt/notesSlides/notesSlide3.xml" Id="R7af058c5397540d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b1a91ab53347a3" /><Relationship Type="http://schemas.openxmlformats.org/officeDocument/2006/relationships/image" Target="/ppt/media/image2.png" Id="R123615d472f24d59" /><Relationship Type="http://schemas.openxmlformats.org/officeDocument/2006/relationships/notesSlide" Target="/ppt/notesSlides/notesSlide4.xml" Id="R49425d3f73cf4e5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7f5388385242f5" /><Relationship Type="http://schemas.openxmlformats.org/officeDocument/2006/relationships/image" Target="/ppt/media/image3.png" Id="R92ccd9dd98034ce2" /><Relationship Type="http://schemas.openxmlformats.org/officeDocument/2006/relationships/notesSlide" Target="/ppt/notesSlides/notesSlide5.xml" Id="R702ef3abd85740c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f07c2dc5064352" /><Relationship Type="http://schemas.openxmlformats.org/officeDocument/2006/relationships/image" Target="/ppt/media/image4.png" Id="R886ac229cb7342cc" /><Relationship Type="http://schemas.openxmlformats.org/officeDocument/2006/relationships/hyperlink" Target="https://www.smes.tyc.edu.tw/modules/school/index.php?department_id=6&amp;zone_id=0&amp;page_id=46&amp;content_id=119&amp;type=news" TargetMode="External" Id="R00a95a615ab346ea" /><Relationship Type="http://schemas.openxmlformats.org/officeDocument/2006/relationships/notesSlide" Target="/ppt/notesSlides/notesSlide6.xml" Id="Rfac9a94736444e2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7f0f50f2224089" /><Relationship Type="http://schemas.openxmlformats.org/officeDocument/2006/relationships/notesSlide" Target="/ppt/notesSlides/notesSlide7.xml" Id="R17cc96bc2f20413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4e3f2f890e4265" /><Relationship Type="http://schemas.openxmlformats.org/officeDocument/2006/relationships/notesSlide" Target="/ppt/notesSlides/notesSlide8.xml" Id="R3431dc0fb7db416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37e885cd834b92" /><Relationship Type="http://schemas.openxmlformats.org/officeDocument/2006/relationships/hyperlink" Target="https://openclaw.ai/" TargetMode="External" Id="Re121a8819fab4a32" /><Relationship Type="http://schemas.openxmlformats.org/officeDocument/2006/relationships/hyperlink" Target="https://github.com/openclaw/openclaw" TargetMode="External" Id="Rbe492f2f81f44bfa" /><Relationship Type="http://schemas.openxmlformats.org/officeDocument/2006/relationships/image" Target="/ppt/media/image5.png" Id="R82a9417519aa4dd4" /><Relationship Type="http://schemas.openxmlformats.org/officeDocument/2006/relationships/image" Target="/ppt/media/image6.png" Id="R1f9ce395ec674ec3" /><Relationship Type="http://schemas.openxmlformats.org/officeDocument/2006/relationships/notesSlide" Target="/ppt/notesSlides/notesSlide9.xml" Id="R4ed077fa026e43e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4fe99f8e7a4ecc" /><Relationship Type="http://schemas.openxmlformats.org/officeDocument/2006/relationships/notesSlide" Target="/ppt/notesSlides/notesSlide10.xml" Id="Rd405906ac76240d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78227fc4554255" /><Relationship Type="http://schemas.openxmlformats.org/officeDocument/2006/relationships/hyperlink" Target="https://antigravity.google/" TargetMode="External" Id="R75134f46e0fb46ee" /><Relationship Type="http://schemas.openxmlformats.org/officeDocument/2006/relationships/hyperlink" Target="https://chatgpt.com/codex/" TargetMode="External" Id="Ra16124279b8f4cdd" /><Relationship Type="http://schemas.openxmlformats.org/officeDocument/2006/relationships/hyperlink" Target="https://claude.ai/" TargetMode="External" Id="R5ba706cc34f54630" /><Relationship Type="http://schemas.openxmlformats.org/officeDocument/2006/relationships/image" Target="/ppt/media/image7.png" Id="R870a9590a67c4b88" /><Relationship Type="http://schemas.openxmlformats.org/officeDocument/2006/relationships/image" Target="/ppt/media/image8.png" Id="R0130de9ef4654736" /><Relationship Type="http://schemas.openxmlformats.org/officeDocument/2006/relationships/image" Target="/ppt/media/image9.png" Id="Rd8968d5eca9e4e84" /><Relationship Type="http://schemas.openxmlformats.org/officeDocument/2006/relationships/notesSlide" Target="/ppt/notesSlides/notesSlide11.xml" Id="R1f38d0e3a115413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bd0724a26a48ee" /><Relationship Type="http://schemas.openxmlformats.org/officeDocument/2006/relationships/notesSlide" Target="/ppt/notesSlides/notesSlide12.xml" Id="R1f9f5c7a3389472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f208c36a40481d" /><Relationship Type="http://schemas.openxmlformats.org/officeDocument/2006/relationships/hyperlink" Target="https://cagoooo.github.io/Akai/tool/73/" TargetMode="External" Id="Ra79f3260d26d4bff" /><Relationship Type="http://schemas.openxmlformats.org/officeDocument/2006/relationships/image" Target="/ppt/media/image10.png" Id="R5962872f3714474a" /><Relationship Type="http://schemas.openxmlformats.org/officeDocument/2006/relationships/hyperlink" Target="https://cagoooo.github.io/filter/" TargetMode="External" Id="R2aea820b581345f8" /><Relationship Type="http://schemas.openxmlformats.org/officeDocument/2006/relationships/image" Target="/ppt/media/image11.png" Id="R8b72ea9b7ba349ad" /><Relationship Type="http://schemas.openxmlformats.org/officeDocument/2006/relationships/hyperlink" Target="https://cagoooo.github.io/Akai/tool/87/" TargetMode="External" Id="Rbb4292bb0e8e42df" /><Relationship Type="http://schemas.openxmlformats.org/officeDocument/2006/relationships/image" Target="/ppt/media/image12.png" Id="R76585cfbcf1d4ea2" /><Relationship Type="http://schemas.openxmlformats.org/officeDocument/2006/relationships/hyperlink" Target="https://cagoooo.github.io/pirls-questioncraft/" TargetMode="External" Id="R10ccfd869e894fe7" /><Relationship Type="http://schemas.openxmlformats.org/officeDocument/2006/relationships/image" Target="/ppt/media/image13.png" Id="R77693f14a3dc4840" /><Relationship Type="http://schemas.openxmlformats.org/officeDocument/2006/relationships/hyperlink" Target="https://cagoooo.github.io/Akai/tool/103/" TargetMode="External" Id="R8414777e0a734bee" /><Relationship Type="http://schemas.openxmlformats.org/officeDocument/2006/relationships/image" Target="/ppt/media/image14.png" Id="Re2f85caa73d94c18" /><Relationship Type="http://schemas.openxmlformats.org/officeDocument/2006/relationships/hyperlink" Target="https://cagoooo.github.io/PlayRight/" TargetMode="External" Id="R4c3aeeb44a2d49cb" /><Relationship Type="http://schemas.openxmlformats.org/officeDocument/2006/relationships/image" Target="/ppt/media/image15.png" Id="R1bfc7a331d514eb1" /><Relationship Type="http://schemas.openxmlformats.org/officeDocument/2006/relationships/notesSlide" Target="/ppt/notesSlides/notesSlide13.xml" Id="R460ddad0b3664f4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691e9712454f32" /><Relationship Type="http://schemas.openxmlformats.org/officeDocument/2006/relationships/hyperlink" Target="https://cagoooo.github.io/Akai/tool/105/" TargetMode="External" Id="Rd14d00c132a743f1" /><Relationship Type="http://schemas.openxmlformats.org/officeDocument/2006/relationships/image" Target="/ppt/media/image16.png" Id="R3a46ab047db54245" /><Relationship Type="http://schemas.openxmlformats.org/officeDocument/2006/relationships/hyperlink" Target="https://cagoooo.github.io/taic-edu/" TargetMode="External" Id="Re73825fa9ab3464f" /><Relationship Type="http://schemas.openxmlformats.org/officeDocument/2006/relationships/image" Target="/ppt/media/image17.png" Id="R0f767b6eb69a46cd" /><Relationship Type="http://schemas.openxmlformats.org/officeDocument/2006/relationships/hyperlink" Target="https://cagoooo.github.io/Akai/tool/123/" TargetMode="External" Id="R7cd46a2b934c499d" /><Relationship Type="http://schemas.openxmlformats.org/officeDocument/2006/relationships/image" Target="/ppt/media/image18.png" Id="Rdb8d02e9dd6545f8" /><Relationship Type="http://schemas.openxmlformats.org/officeDocument/2006/relationships/hyperlink" Target="https://cagoooo.github.io/smes-web-migration/" TargetMode="External" Id="Rad84e44b466a420d" /><Relationship Type="http://schemas.openxmlformats.org/officeDocument/2006/relationships/image" Target="/ppt/media/image19.png" Id="R661eb750140c4eb2" /><Relationship Type="http://schemas.openxmlformats.org/officeDocument/2006/relationships/hyperlink" Target="https://cagoooo.github.io/Akai/tool/88/" TargetMode="External" Id="Ra5b927372ce0414f" /><Relationship Type="http://schemas.openxmlformats.org/officeDocument/2006/relationships/image" Target="/ppt/media/image20.png" Id="R4ef84440555443c0" /><Relationship Type="http://schemas.openxmlformats.org/officeDocument/2006/relationships/hyperlink" Target="https://cagoooo.github.io/JHScurriculum/" TargetMode="External" Id="Rc6f4ec4791ce4b2a" /><Relationship Type="http://schemas.openxmlformats.org/officeDocument/2006/relationships/image" Target="/ppt/media/image21.png" Id="R1d042c5bc3a04576" /><Relationship Type="http://schemas.openxmlformats.org/officeDocument/2006/relationships/notesSlide" Target="/ppt/notesSlides/notesSlide14.xml" Id="R0790a2eeb7e7482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2d77d2b0e6485f" /><Relationship Type="http://schemas.openxmlformats.org/officeDocument/2006/relationships/hyperlink" Target="https://antigravity.google/" TargetMode="External" Id="Rff9eb87f78e54d4e" /><Relationship Type="http://schemas.openxmlformats.org/officeDocument/2006/relationships/image" Target="/ppt/media/image22.png" Id="R941433ab8be1410a" /><Relationship Type="http://schemas.openxmlformats.org/officeDocument/2006/relationships/notesSlide" Target="/ppt/notesSlides/notesSlide15.xml" Id="Redd358669cb6479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2d82baed9f401c" /><Relationship Type="http://schemas.openxmlformats.org/officeDocument/2006/relationships/hyperlink" Target="https://antigravity.google/" TargetMode="External" Id="R0d022583a23d4326" /><Relationship Type="http://schemas.openxmlformats.org/officeDocument/2006/relationships/image" Target="/ppt/media/image23.png" Id="Rd0e2cbb5b6214b76" /><Relationship Type="http://schemas.openxmlformats.org/officeDocument/2006/relationships/notesSlide" Target="/ppt/notesSlides/notesSlide16.xml" Id="R34684a682147418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18733edac9460d" /><Relationship Type="http://schemas.openxmlformats.org/officeDocument/2006/relationships/hyperlink" Target="https://ai.google.dev/gemini-api/docs/models/gemini-3.7-flash" TargetMode="External" Id="R5fc192ef76d34bea" /><Relationship Type="http://schemas.openxmlformats.org/officeDocument/2006/relationships/hyperlink" Target="https://blog.google/innovation-and-ai/models-and-research/gemini-models/introducing-gemini-3-7-flash/" TargetMode="External" Id="R2381be1dab4c4ec8" /><Relationship Type="http://schemas.openxmlformats.org/officeDocument/2006/relationships/image" Target="/ppt/media/image24.png" Id="Ra9f098de18204bec" /><Relationship Type="http://schemas.openxmlformats.org/officeDocument/2006/relationships/image" Target="/ppt/media/image25.png" Id="R77192e7f3aac488f" /><Relationship Type="http://schemas.openxmlformats.org/officeDocument/2006/relationships/notesSlide" Target="/ppt/notesSlides/notesSlide17.xml" Id="R049897a67a2747b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740200d9b84e36" /><Relationship Type="http://schemas.openxmlformats.org/officeDocument/2006/relationships/hyperlink" Target="https://antigravity.google/" TargetMode="External" Id="R6886a7a5244b4aea" /><Relationship Type="http://schemas.openxmlformats.org/officeDocument/2006/relationships/image" Target="/ppt/media/image26.png" Id="R19f9eeb35ef14419" /><Relationship Type="http://schemas.openxmlformats.org/officeDocument/2006/relationships/notesSlide" Target="/ppt/notesSlides/notesSlide18.xml" Id="R2e997b3314c4498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da7e246bae4cf5" /><Relationship Type="http://schemas.openxmlformats.org/officeDocument/2006/relationships/hyperlink" Target="https://antigravity.google/" TargetMode="External" Id="R9e406def546e4225" /><Relationship Type="http://schemas.openxmlformats.org/officeDocument/2006/relationships/image" Target="/ppt/media/image27.png" Id="Re44a56ab62104182" /><Relationship Type="http://schemas.openxmlformats.org/officeDocument/2006/relationships/notesSlide" Target="/ppt/notesSlides/notesSlide19.xml" Id="R31584775d96c47f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dae140e7304f9d" /><Relationship Type="http://schemas.openxmlformats.org/officeDocument/2006/relationships/hyperlink" Target="https://antigravity.google/" TargetMode="External" Id="Rd2250507e7444370" /><Relationship Type="http://schemas.openxmlformats.org/officeDocument/2006/relationships/image" Target="/ppt/media/image28.png" Id="Rd551cf7f2df54284" /><Relationship Type="http://schemas.openxmlformats.org/officeDocument/2006/relationships/notesSlide" Target="/ppt/notesSlides/notesSlide20.xml" Id="R162aeaf69e574f6b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dd2457d9a84193" /><Relationship Type="http://schemas.openxmlformats.org/officeDocument/2006/relationships/hyperlink" Target="https://antigravity.google/" TargetMode="External" Id="R846a5d9e2ebf45e5" /><Relationship Type="http://schemas.openxmlformats.org/officeDocument/2006/relationships/image" Target="/ppt/media/image29.png" Id="R400f9dd30b4943d6" /><Relationship Type="http://schemas.openxmlformats.org/officeDocument/2006/relationships/notesSlide" Target="/ppt/notesSlides/notesSlide21.xml" Id="R5adf04c1224f49d3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e7768dd2bb4a6b" /><Relationship Type="http://schemas.openxmlformats.org/officeDocument/2006/relationships/hyperlink" Target="https://antigravity.google/" TargetMode="External" Id="Rdf1da4a45ec4429a" /><Relationship Type="http://schemas.openxmlformats.org/officeDocument/2006/relationships/image" Target="/ppt/media/image30.png" Id="R930ed7c2e1e84a94" /><Relationship Type="http://schemas.openxmlformats.org/officeDocument/2006/relationships/notesSlide" Target="/ppt/notesSlides/notesSlide22.xml" Id="Rb0e76049d2424cbb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b34425fe4b4003" /><Relationship Type="http://schemas.openxmlformats.org/officeDocument/2006/relationships/hyperlink" Target="https://gemini.google.com/app" TargetMode="External" Id="R5ec073b18701409d" /><Relationship Type="http://schemas.openxmlformats.org/officeDocument/2006/relationships/hyperlink" Target="https://support.google.com/gemini/answer/17094710?hl=zh-HK" TargetMode="External" Id="R117589f26b8d458e" /><Relationship Type="http://schemas.openxmlformats.org/officeDocument/2006/relationships/hyperlink" Target="https://youtu.be/kbAgdV__8Mc?si=b9NH1NDr67lf5CZ_" TargetMode="External" Id="R4f361f55495740be" /><Relationship Type="http://schemas.openxmlformats.org/officeDocument/2006/relationships/image" Target="/ppt/media/image31.png" Id="R2edebeff67a6470e" /><Relationship Type="http://schemas.openxmlformats.org/officeDocument/2006/relationships/image" Target="/ppt/media/image32.png" Id="Rb8afd04546a5485b" /><Relationship Type="http://schemas.openxmlformats.org/officeDocument/2006/relationships/image" Target="/ppt/media/image33.png" Id="Ra8289da9f5da4e19" /><Relationship Type="http://schemas.openxmlformats.org/officeDocument/2006/relationships/notesSlide" Target="/ppt/notesSlides/notesSlide23.xml" Id="R87443b242d8441e2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7ec6639a6b4c4f" /><Relationship Type="http://schemas.openxmlformats.org/officeDocument/2006/relationships/hyperlink" Target="https://support.google.com/gemini/answer/17094710?hl=zh-HK" TargetMode="External" Id="R16db881dc6b14329" /><Relationship Type="http://schemas.openxmlformats.org/officeDocument/2006/relationships/hyperlink" Target="https://youtu.be/kbAgdV__8Mc?si=b9NH1NDr67lf5CZ_" TargetMode="External" Id="Rd15c9e6692cb4713" /><Relationship Type="http://schemas.openxmlformats.org/officeDocument/2006/relationships/image" Target="/ppt/media/image34.png" Id="Rfee45b92250c463a" /><Relationship Type="http://schemas.openxmlformats.org/officeDocument/2006/relationships/image" Target="/ppt/media/image35.png" Id="R669307f4c2e149c7" /><Relationship Type="http://schemas.openxmlformats.org/officeDocument/2006/relationships/notesSlide" Target="/ppt/notesSlides/notesSlide24.xml" Id="R7045960a327f48a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93ebce69794503" /><Relationship Type="http://schemas.openxmlformats.org/officeDocument/2006/relationships/hyperlink" Target="https://support.google.com/gemini/answer/17094710?hl=zh-HK" TargetMode="External" Id="R95b2bcf767e54656" /><Relationship Type="http://schemas.openxmlformats.org/officeDocument/2006/relationships/image" Target="/ppt/media/image36.png" Id="R01fca4ae0f1c485d" /><Relationship Type="http://schemas.openxmlformats.org/officeDocument/2006/relationships/notesSlide" Target="/ppt/notesSlides/notesSlide25.xml" Id="R340e7adf65d142e5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49923681fe497f" /><Relationship Type="http://schemas.openxmlformats.org/officeDocument/2006/relationships/hyperlink" Target="https://support.google.com/gemini/answer/17094710?hl=zh-HK" TargetMode="External" Id="Rd20f4258a1e04d43" /><Relationship Type="http://schemas.openxmlformats.org/officeDocument/2006/relationships/hyperlink" Target="https://youtu.be/kbAgdV__8Mc?si=b9NH1NDr67lf5CZ_" TargetMode="External" Id="R610ad75ebe9b4230" /><Relationship Type="http://schemas.openxmlformats.org/officeDocument/2006/relationships/image" Target="/ppt/media/image37.png" Id="R5b2a81fbb7704f89" /><Relationship Type="http://schemas.openxmlformats.org/officeDocument/2006/relationships/notesSlide" Target="/ppt/notesSlides/notesSlide26.xml" Id="R3cec643bb0bc4a8e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f3b2ad6eb6408a" /><Relationship Type="http://schemas.openxmlformats.org/officeDocument/2006/relationships/hyperlink" Target="https://support.google.com/gemini/answer/17094710?hl=zh-HK" TargetMode="External" Id="R641c6cf9a6b648c1" /><Relationship Type="http://schemas.openxmlformats.org/officeDocument/2006/relationships/hyperlink" Target="https://youtu.be/kbAgdV__8Mc?si=b9NH1NDr67lf5CZ_" TargetMode="External" Id="R9401fb5e37d94ff6" /><Relationship Type="http://schemas.openxmlformats.org/officeDocument/2006/relationships/image" Target="/ppt/media/image38.png" Id="Rf9a78cde7a4546c0" /><Relationship Type="http://schemas.openxmlformats.org/officeDocument/2006/relationships/image" Target="/ppt/media/image39.png" Id="R97307bf50064452e" /><Relationship Type="http://schemas.openxmlformats.org/officeDocument/2006/relationships/notesSlide" Target="/ppt/notesSlides/notesSlide27.xml" Id="R46c6ce5a49d845e1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efd4945b384600" /><Relationship Type="http://schemas.openxmlformats.org/officeDocument/2006/relationships/hyperlink" Target="https://antigravity.google/docs/remote-control/" TargetMode="External" Id="R36c37940cb494228" /><Relationship Type="http://schemas.openxmlformats.org/officeDocument/2006/relationships/image" Target="/ppt/media/image40.png" Id="R340c7e91ffcf4d20" /><Relationship Type="http://schemas.openxmlformats.org/officeDocument/2006/relationships/notesSlide" Target="/ppt/notesSlides/notesSlide28.xml" Id="R624596fd0c5d4564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3e38036cb342b0" /><Relationship Type="http://schemas.openxmlformats.org/officeDocument/2006/relationships/hyperlink" Target="https://antigravity.google/docs/remote-control/" TargetMode="External" Id="Rb294547344914101" /><Relationship Type="http://schemas.openxmlformats.org/officeDocument/2006/relationships/image" Target="/ppt/media/image41.png" Id="R1f0c8985c82640ab" /><Relationship Type="http://schemas.openxmlformats.org/officeDocument/2006/relationships/notesSlide" Target="/ppt/notesSlides/notesSlide29.xml" Id="R4ec78bfea7a749b7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247eeb207e4a8c" /><Relationship Type="http://schemas.openxmlformats.org/officeDocument/2006/relationships/hyperlink" Target="https://chatgpt.com/codex/" TargetMode="External" Id="R9b4f5b7d59744a11" /><Relationship Type="http://schemas.openxmlformats.org/officeDocument/2006/relationships/image" Target="/ppt/media/image42.png" Id="R71cc9e01da9b46ae" /><Relationship Type="http://schemas.openxmlformats.org/officeDocument/2006/relationships/notesSlide" Target="/ppt/notesSlides/notesSlide30.xml" Id="R09f1e38e875645a0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5bbaf728554278" /><Relationship Type="http://schemas.openxmlformats.org/officeDocument/2006/relationships/hyperlink" Target="https://chatgpt.com/codex/" TargetMode="External" Id="R77f949b270474ecf" /><Relationship Type="http://schemas.openxmlformats.org/officeDocument/2006/relationships/image" Target="/ppt/media/image43.png" Id="R8ad93d13e348443b" /><Relationship Type="http://schemas.openxmlformats.org/officeDocument/2006/relationships/notesSlide" Target="/ppt/notesSlides/notesSlide31.xml" Id="R62e1e7cbb4bc4124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2014be2cde43d8" /><Relationship Type="http://schemas.openxmlformats.org/officeDocument/2006/relationships/hyperlink" Target="https://chatgpt.com/codex/" TargetMode="External" Id="R551b219136ac4b50" /><Relationship Type="http://schemas.openxmlformats.org/officeDocument/2006/relationships/image" Target="/ppt/media/image44.png" Id="R5420b75d763e4171" /><Relationship Type="http://schemas.openxmlformats.org/officeDocument/2006/relationships/notesSlide" Target="/ppt/notesSlides/notesSlide32.xml" Id="Rd06866c15e384cb0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218bc1a1374e8f" /><Relationship Type="http://schemas.openxmlformats.org/officeDocument/2006/relationships/hyperlink" Target="https://chatgpt.com/codex/" TargetMode="External" Id="R998e374b388745dd" /><Relationship Type="http://schemas.openxmlformats.org/officeDocument/2006/relationships/image" Target="/ppt/media/image45.png" Id="R4add379738db40fd" /><Relationship Type="http://schemas.openxmlformats.org/officeDocument/2006/relationships/notesSlide" Target="/ppt/notesSlides/notesSlide33.xml" Id="R8b1893bbef4b48ae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bf469938f34845" /><Relationship Type="http://schemas.openxmlformats.org/officeDocument/2006/relationships/hyperlink" Target="https://chatgpt.com/codex/" TargetMode="External" Id="R8dc1acc014064aca" /><Relationship Type="http://schemas.openxmlformats.org/officeDocument/2006/relationships/image" Target="/ppt/media/image46.png" Id="R72f7d7bd974f4d77" /><Relationship Type="http://schemas.openxmlformats.org/officeDocument/2006/relationships/notesSlide" Target="/ppt/notesSlides/notesSlide34.xml" Id="Rc5ec10f444b14334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9ba08bf1644065" /><Relationship Type="http://schemas.openxmlformats.org/officeDocument/2006/relationships/hyperlink" Target="https://codelabs.developers.google.com/getting-started-with-antigravity-skills" TargetMode="External" Id="Rd8434bf3d61e4afb" /><Relationship Type="http://schemas.openxmlformats.org/officeDocument/2006/relationships/hyperlink" Target="https://learn.chatgpt.com/docs/build-skills" TargetMode="External" Id="R93b0daa6445b423b" /><Relationship Type="http://schemas.openxmlformats.org/officeDocument/2006/relationships/hyperlink" Target="https://cagoooo.github.io/ncu-ai-agent-workshop-20260826/04_%E5%AF%A6%E4%BD%9C%E5%B7%A5%E5%85%B7/07_Agent_Skills%E8%B3%87%E6%BA%90%E5%BA%AB.html" TargetMode="External" Id="Rdcdc82745a0d46fd" /><Relationship Type="http://schemas.openxmlformats.org/officeDocument/2006/relationships/image" Target="/ppt/media/image47.png" Id="R730d37ed87ad4257" /><Relationship Type="http://schemas.openxmlformats.org/officeDocument/2006/relationships/image" Target="/ppt/media/image48.png" Id="Rd01b4155c2b44b99" /><Relationship Type="http://schemas.openxmlformats.org/officeDocument/2006/relationships/image" Target="/ppt/media/image49.png" Id="R6a7dc4a0cc394bdf" /><Relationship Type="http://schemas.openxmlformats.org/officeDocument/2006/relationships/notesSlide" Target="/ppt/notesSlides/notesSlide35.xml" Id="R93b45588798941ee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5ca27b9fdf46a4" /><Relationship Type="http://schemas.openxmlformats.org/officeDocument/2006/relationships/hyperlink" Target="https://codelabs.developers.google.com/getting-started-with-antigravity-skills" TargetMode="External" Id="Rf9ee67dbbce94f59" /><Relationship Type="http://schemas.openxmlformats.org/officeDocument/2006/relationships/hyperlink" Target="https://learn.chatgpt.com/docs/build-skills" TargetMode="External" Id="Ra3d070d3a364426e" /><Relationship Type="http://schemas.openxmlformats.org/officeDocument/2006/relationships/hyperlink" Target="https://cagoooo.github.io/ncu-ai-agent-workshop-20260826/04_%E5%AF%A6%E4%BD%9C%E5%B7%A5%E5%85%B7/07_Agent_Skills%E8%B3%87%E6%BA%90%E5%BA%AB.html" TargetMode="External" Id="R3aba7da57899495a" /><Relationship Type="http://schemas.openxmlformats.org/officeDocument/2006/relationships/image" Target="/ppt/media/image50.png" Id="R96c6af08aabb42bb" /><Relationship Type="http://schemas.openxmlformats.org/officeDocument/2006/relationships/image" Target="/ppt/media/image51.png" Id="R726c4dca41cf4212" /><Relationship Type="http://schemas.openxmlformats.org/officeDocument/2006/relationships/image" Target="/ppt/media/image52.png" Id="Rd0c4266194a54357" /><Relationship Type="http://schemas.openxmlformats.org/officeDocument/2006/relationships/notesSlide" Target="/ppt/notesSlides/notesSlide36.xml" Id="R7d1c30cbb5584065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75f1f595be43c9" /><Relationship Type="http://schemas.openxmlformats.org/officeDocument/2006/relationships/image" Target="/ppt/media/image53.png" Id="R1a61487bda044375" /><Relationship Type="http://schemas.openxmlformats.org/officeDocument/2006/relationships/hyperlink" Target="https://cagoooo.github.io/ncu-ai-agent-workshop-20260826/04_%E5%AF%A6%E4%BD%9C%E5%B7%A5%E5%85%B7/%E6%8F%90%E7%A4%BA%E8%A9%9E%E5%BF%AB%E6%8D%B7%E9%9D%A2%E6%9D%BF_%E7%A0%94%E7%BF%92%E7%94%A8.html" TargetMode="External" Id="R2cb5af2332724ffb" /><Relationship Type="http://schemas.openxmlformats.org/officeDocument/2006/relationships/image" Target="/ppt/media/image54.png" Id="R021ef70006054bbb" /><Relationship Type="http://schemas.openxmlformats.org/officeDocument/2006/relationships/notesSlide" Target="/ppt/notesSlides/notesSlide37.xml" Id="R3214cb84ef7b4468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1394920b984247" /><Relationship Type="http://schemas.openxmlformats.org/officeDocument/2006/relationships/hyperlink" Target="https://codelabs.developers.google.com/getting-started-with-antigravity-skills" TargetMode="External" Id="R29de0cbf11d84c56" /><Relationship Type="http://schemas.openxmlformats.org/officeDocument/2006/relationships/hyperlink" Target="https://learn.chatgpt.com/docs/build-skills" TargetMode="External" Id="R80b2c30f3449496e" /><Relationship Type="http://schemas.openxmlformats.org/officeDocument/2006/relationships/hyperlink" Target="https://cagoooo.github.io/ncu-ai-agent-workshop-20260826/04_%E5%AF%A6%E4%BD%9C%E5%B7%A5%E5%85%B7/07_Agent_Skills%E8%B3%87%E6%BA%90%E5%BA%AB.html" TargetMode="External" Id="Rfdf839562bf54a0a" /><Relationship Type="http://schemas.openxmlformats.org/officeDocument/2006/relationships/image" Target="/ppt/media/image55.png" Id="R79b8361427e448ec" /><Relationship Type="http://schemas.openxmlformats.org/officeDocument/2006/relationships/image" Target="/ppt/media/image56.png" Id="R35f02a2eb430487d" /><Relationship Type="http://schemas.openxmlformats.org/officeDocument/2006/relationships/image" Target="/ppt/media/image57.png" Id="R798a26c07f814e21" /><Relationship Type="http://schemas.openxmlformats.org/officeDocument/2006/relationships/notesSlide" Target="/ppt/notesSlides/notesSlide38.xml" Id="R9ecf55f41bff4111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49f3686d084f04" /><Relationship Type="http://schemas.openxmlformats.org/officeDocument/2006/relationships/hyperlink" Target="https://codelabs.developers.google.com/getting-started-with-antigravity-skills" TargetMode="External" Id="R9b4c3adce00744b1" /><Relationship Type="http://schemas.openxmlformats.org/officeDocument/2006/relationships/hyperlink" Target="https://learn.chatgpt.com/docs/build-skills" TargetMode="External" Id="R8941600e605f472c" /><Relationship Type="http://schemas.openxmlformats.org/officeDocument/2006/relationships/hyperlink" Target="https://cagoooo.github.io/ncu-ai-agent-workshop-20260826/04_%E5%AF%A6%E4%BD%9C%E5%B7%A5%E5%85%B7/07_Agent_Skills%E8%B3%87%E6%BA%90%E5%BA%AB.html" TargetMode="External" Id="R55cc3cc40888487a" /><Relationship Type="http://schemas.openxmlformats.org/officeDocument/2006/relationships/image" Target="/ppt/media/image58.png" Id="R9ad8ad7aa7ff45bc" /><Relationship Type="http://schemas.openxmlformats.org/officeDocument/2006/relationships/image" Target="/ppt/media/image59.png" Id="Rd8cb884a244d410e" /><Relationship Type="http://schemas.openxmlformats.org/officeDocument/2006/relationships/image" Target="/ppt/media/image60.png" Id="Rddd3b6665cdf475f" /><Relationship Type="http://schemas.openxmlformats.org/officeDocument/2006/relationships/notesSlide" Target="/ppt/notesSlides/notesSlide39.xml" Id="R336ea214f4c14154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2e3ba6d0d04597" /><Relationship Type="http://schemas.openxmlformats.org/officeDocument/2006/relationships/hyperlink" Target="https://codelabs.developers.google.com/getting-started-with-antigravity-skills" TargetMode="External" Id="Rcd5be22101ed434e" /><Relationship Type="http://schemas.openxmlformats.org/officeDocument/2006/relationships/hyperlink" Target="https://learn.chatgpt.com/docs/build-skills" TargetMode="External" Id="R1596a94cf31648e4" /><Relationship Type="http://schemas.openxmlformats.org/officeDocument/2006/relationships/hyperlink" Target="https://cagoooo.github.io/ncu-ai-agent-workshop-20260826/04_%E5%AF%A6%E4%BD%9C%E5%B7%A5%E5%85%B7/07_Agent_Skills%E8%B3%87%E6%BA%90%E5%BA%AB.html" TargetMode="External" Id="R67f0edfc7d1d4eb0" /><Relationship Type="http://schemas.openxmlformats.org/officeDocument/2006/relationships/image" Target="/ppt/media/image61.png" Id="Rd3af210c070649df" /><Relationship Type="http://schemas.openxmlformats.org/officeDocument/2006/relationships/image" Target="/ppt/media/image62.png" Id="R2d97057d94a14111" /><Relationship Type="http://schemas.openxmlformats.org/officeDocument/2006/relationships/image" Target="/ppt/media/image63.png" Id="R04f9a98e03b640e2" /><Relationship Type="http://schemas.openxmlformats.org/officeDocument/2006/relationships/notesSlide" Target="/ppt/notesSlides/notesSlide40.xml" Id="R9ae84308fc04441d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665b3c75fd434d" /><Relationship Type="http://schemas.openxmlformats.org/officeDocument/2006/relationships/hyperlink" Target="https://codelabs.developers.google.com/getting-started-with-antigravity-skills" TargetMode="External" Id="R89e1cf79f2474e88" /><Relationship Type="http://schemas.openxmlformats.org/officeDocument/2006/relationships/hyperlink" Target="https://learn.chatgpt.com/docs/build-skills" TargetMode="External" Id="R49bc211e891d4c10" /><Relationship Type="http://schemas.openxmlformats.org/officeDocument/2006/relationships/hyperlink" Target="https://cagoooo.github.io/ncu-ai-agent-workshop-20260826/04_%E5%AF%A6%E4%BD%9C%E5%B7%A5%E5%85%B7/07_Agent_Skills%E8%B3%87%E6%BA%90%E5%BA%AB.html" TargetMode="External" Id="R52e82b3f91ed4b47" /><Relationship Type="http://schemas.openxmlformats.org/officeDocument/2006/relationships/image" Target="/ppt/media/image64.png" Id="R1fef8b4d23b841f9" /><Relationship Type="http://schemas.openxmlformats.org/officeDocument/2006/relationships/image" Target="/ppt/media/image65.png" Id="R65e461bd81ee426f" /><Relationship Type="http://schemas.openxmlformats.org/officeDocument/2006/relationships/image" Target="/ppt/media/image66.png" Id="R1bd0652de2094108" /><Relationship Type="http://schemas.openxmlformats.org/officeDocument/2006/relationships/notesSlide" Target="/ppt/notesSlides/notesSlide41.xml" Id="Rb77e6d9ea8aa4802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6d68b5ac274df3" /><Relationship Type="http://schemas.openxmlformats.org/officeDocument/2006/relationships/hyperlink" Target="https://codelabs.developers.google.com/getting-started-with-antigravity-skills" TargetMode="External" Id="R33093c52e1e54130" /><Relationship Type="http://schemas.openxmlformats.org/officeDocument/2006/relationships/hyperlink" Target="https://learn.chatgpt.com/docs/build-skills" TargetMode="External" Id="R76ff760342044ed5" /><Relationship Type="http://schemas.openxmlformats.org/officeDocument/2006/relationships/hyperlink" Target="https://cagoooo.github.io/ncu-ai-agent-workshop-20260826/04_%E5%AF%A6%E4%BD%9C%E5%B7%A5%E5%85%B7/07_Agent_Skills%E8%B3%87%E6%BA%90%E5%BA%AB.html" TargetMode="External" Id="R97b4d340917a4538" /><Relationship Type="http://schemas.openxmlformats.org/officeDocument/2006/relationships/image" Target="/ppt/media/image67.png" Id="Rbf93078c2352445d" /><Relationship Type="http://schemas.openxmlformats.org/officeDocument/2006/relationships/image" Target="/ppt/media/image68.png" Id="R2869dcea08264c3d" /><Relationship Type="http://schemas.openxmlformats.org/officeDocument/2006/relationships/image" Target="/ppt/media/image69.png" Id="Rcae4fe9614c24c50" /><Relationship Type="http://schemas.openxmlformats.org/officeDocument/2006/relationships/notesSlide" Target="/ppt/notesSlides/notesSlide42.xml" Id="R3d98d49a39db420f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5603a67e694e33" /><Relationship Type="http://schemas.openxmlformats.org/officeDocument/2006/relationships/hyperlink" Target="https://codelabs.developers.google.com/getting-started-with-antigravity-skills" TargetMode="External" Id="R2ec9a554d24d496e" /><Relationship Type="http://schemas.openxmlformats.org/officeDocument/2006/relationships/hyperlink" Target="https://learn.chatgpt.com/docs/build-skills" TargetMode="External" Id="Rab7fb4cee3e24fa4" /><Relationship Type="http://schemas.openxmlformats.org/officeDocument/2006/relationships/hyperlink" Target="https://cagoooo.github.io/ncu-ai-agent-workshop-20260826/04_%E5%AF%A6%E4%BD%9C%E5%B7%A5%E5%85%B7/07_Agent_Skills%E8%B3%87%E6%BA%90%E5%BA%AB.html" TargetMode="External" Id="Rbcb4b9dec94d4208" /><Relationship Type="http://schemas.openxmlformats.org/officeDocument/2006/relationships/image" Target="/ppt/media/image70.png" Id="R79dde30369414d35" /><Relationship Type="http://schemas.openxmlformats.org/officeDocument/2006/relationships/image" Target="/ppt/media/image71.png" Id="R208e0059379d459b" /><Relationship Type="http://schemas.openxmlformats.org/officeDocument/2006/relationships/image" Target="/ppt/media/image72.png" Id="Rb0e2b7471bda403f" /><Relationship Type="http://schemas.openxmlformats.org/officeDocument/2006/relationships/notesSlide" Target="/ppt/notesSlides/notesSlide43.xml" Id="R58d51a0b6d8a43a8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04011780384544" /><Relationship Type="http://schemas.openxmlformats.org/officeDocument/2006/relationships/hyperlink" Target="https://codelabs.developers.google.com/getting-started-with-antigravity-skills" TargetMode="External" Id="R3751170d40484971" /><Relationship Type="http://schemas.openxmlformats.org/officeDocument/2006/relationships/hyperlink" Target="https://learn.chatgpt.com/docs/build-skills" TargetMode="External" Id="R87870d0006e143f5" /><Relationship Type="http://schemas.openxmlformats.org/officeDocument/2006/relationships/hyperlink" Target="https://cagoooo.github.io/ncu-ai-agent-workshop-20260826/04_%E5%AF%A6%E4%BD%9C%E5%B7%A5%E5%85%B7/07_Agent_Skills%E8%B3%87%E6%BA%90%E5%BA%AB.html" TargetMode="External" Id="Ra491e7dfad9d446a" /><Relationship Type="http://schemas.openxmlformats.org/officeDocument/2006/relationships/image" Target="/ppt/media/image73.png" Id="R4c6f75207d57449e" /><Relationship Type="http://schemas.openxmlformats.org/officeDocument/2006/relationships/image" Target="/ppt/media/image74.png" Id="R717366700f854300" /><Relationship Type="http://schemas.openxmlformats.org/officeDocument/2006/relationships/image" Target="/ppt/media/image75.png" Id="R855c761496244400" /><Relationship Type="http://schemas.openxmlformats.org/officeDocument/2006/relationships/notesSlide" Target="/ppt/notesSlides/notesSlide44.xml" Id="Rfe91ef1478b94805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3ea8b9cc1e4359" /><Relationship Type="http://schemas.openxmlformats.org/officeDocument/2006/relationships/hyperlink" Target="https://antigravity.google/" TargetMode="External" Id="R60bfee331f2041a1" /><Relationship Type="http://schemas.openxmlformats.org/officeDocument/2006/relationships/hyperlink" Target="https://chatgpt.com/codex/" TargetMode="External" Id="R150586d3c07c4696" /><Relationship Type="http://schemas.openxmlformats.org/officeDocument/2006/relationships/image" Target="/ppt/media/image76.png" Id="R2ab39a8db3204378" /><Relationship Type="http://schemas.openxmlformats.org/officeDocument/2006/relationships/image" Target="/ppt/media/image77.png" Id="Rbba702bfca1d4ddb" /><Relationship Type="http://schemas.openxmlformats.org/officeDocument/2006/relationships/notesSlide" Target="/ppt/notesSlides/notesSlide45.xml" Id="R40d09c40521a4118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ae65afde9840bf" /><Relationship Type="http://schemas.openxmlformats.org/officeDocument/2006/relationships/hyperlink" Target="https://antigravity.google/" TargetMode="External" Id="R4817eb2bdbe2451e" /><Relationship Type="http://schemas.openxmlformats.org/officeDocument/2006/relationships/hyperlink" Target="https://chatgpt.com/codex/" TargetMode="External" Id="R1ac19c420c37475b" /><Relationship Type="http://schemas.openxmlformats.org/officeDocument/2006/relationships/image" Target="/ppt/media/image78.png" Id="R0d5b0e02463a43bf" /><Relationship Type="http://schemas.openxmlformats.org/officeDocument/2006/relationships/image" Target="/ppt/media/image79.png" Id="Rb3d00d20f7e44f4f" /><Relationship Type="http://schemas.openxmlformats.org/officeDocument/2006/relationships/notesSlide" Target="/ppt/notesSlides/notesSlide46.xml" Id="R05dbb516950a44aa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cf86c7d9b84c48" /><Relationship Type="http://schemas.openxmlformats.org/officeDocument/2006/relationships/hyperlink" Target="https://antigravity.google/" TargetMode="External" Id="R659a95791d3b4c76" /><Relationship Type="http://schemas.openxmlformats.org/officeDocument/2006/relationships/hyperlink" Target="https://chatgpt.com/codex/" TargetMode="External" Id="R0419bdcf854246e1" /><Relationship Type="http://schemas.openxmlformats.org/officeDocument/2006/relationships/image" Target="/ppt/media/image80.png" Id="Rdee251b211364aec" /><Relationship Type="http://schemas.openxmlformats.org/officeDocument/2006/relationships/image" Target="/ppt/media/image81.png" Id="R5d4ee38605ab42df" /><Relationship Type="http://schemas.openxmlformats.org/officeDocument/2006/relationships/notesSlide" Target="/ppt/notesSlides/notesSlide47.xml" Id="Rc29ba65df09242b1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5cd2d8fe754574" /><Relationship Type="http://schemas.openxmlformats.org/officeDocument/2006/relationships/hyperlink" Target="https://antigravity.google/" TargetMode="External" Id="R22aa3b9690d8498f" /><Relationship Type="http://schemas.openxmlformats.org/officeDocument/2006/relationships/hyperlink" Target="https://chatgpt.com/codex/" TargetMode="External" Id="R837c9843ef7a4008" /><Relationship Type="http://schemas.openxmlformats.org/officeDocument/2006/relationships/image" Target="/ppt/media/image82.png" Id="Rca7b4fdb5acc4478" /><Relationship Type="http://schemas.openxmlformats.org/officeDocument/2006/relationships/image" Target="/ppt/media/image83.png" Id="R1925b2ee4e704038" /><Relationship Type="http://schemas.openxmlformats.org/officeDocument/2006/relationships/notesSlide" Target="/ppt/notesSlides/notesSlide48.xml" Id="R836ab3384ac0425e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11954041db41f5" /><Relationship Type="http://schemas.openxmlformats.org/officeDocument/2006/relationships/hyperlink" Target="https://antigravity.google/" TargetMode="External" Id="R65c2d8c635dd41a1" /><Relationship Type="http://schemas.openxmlformats.org/officeDocument/2006/relationships/hyperlink" Target="https://chatgpt.com/codex/" TargetMode="External" Id="Ra46b19336e6c4e3d" /><Relationship Type="http://schemas.openxmlformats.org/officeDocument/2006/relationships/image" Target="/ppt/media/image84.png" Id="R53dc7d864562403d" /><Relationship Type="http://schemas.openxmlformats.org/officeDocument/2006/relationships/image" Target="/ppt/media/image85.png" Id="Raab291c2bfd247e1" /><Relationship Type="http://schemas.openxmlformats.org/officeDocument/2006/relationships/notesSlide" Target="/ppt/notesSlides/notesSlide49.xml" Id="R094b87b025d34c77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90015372df4ebc" /><Relationship Type="http://schemas.openxmlformats.org/officeDocument/2006/relationships/hyperlink" Target="https://antigravity.google/" TargetMode="External" Id="R0e06852edd5f4413" /><Relationship Type="http://schemas.openxmlformats.org/officeDocument/2006/relationships/hyperlink" Target="https://chatgpt.com/codex/" TargetMode="External" Id="R01a07bd12cef49fc" /><Relationship Type="http://schemas.openxmlformats.org/officeDocument/2006/relationships/image" Target="/ppt/media/image86.png" Id="R9bfb4fb8e4454269" /><Relationship Type="http://schemas.openxmlformats.org/officeDocument/2006/relationships/image" Target="/ppt/media/image87.png" Id="R4820795cc4c24a13" /><Relationship Type="http://schemas.openxmlformats.org/officeDocument/2006/relationships/notesSlide" Target="/ppt/notesSlides/notesSlide50.xml" Id="Ra49d036751ad47ce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c9d2a5e63549af" /><Relationship Type="http://schemas.openxmlformats.org/officeDocument/2006/relationships/hyperlink" Target="https://antigravity.google/" TargetMode="External" Id="Re12c1b39e33147ac" /><Relationship Type="http://schemas.openxmlformats.org/officeDocument/2006/relationships/hyperlink" Target="https://chatgpt.com/codex/" TargetMode="External" Id="Rea61879018b14238" /><Relationship Type="http://schemas.openxmlformats.org/officeDocument/2006/relationships/image" Target="/ppt/media/image88.png" Id="R9c01fbeee504447a" /><Relationship Type="http://schemas.openxmlformats.org/officeDocument/2006/relationships/image" Target="/ppt/media/image89.png" Id="R52667b9b79944438" /><Relationship Type="http://schemas.openxmlformats.org/officeDocument/2006/relationships/notesSlide" Target="/ppt/notesSlides/notesSlide51.xml" Id="R1b9f3684c30f42da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7f4850b2504df3" /><Relationship Type="http://schemas.openxmlformats.org/officeDocument/2006/relationships/hyperlink" Target="https://antigravity.google/" TargetMode="External" Id="R3ff4346ed26c4021" /><Relationship Type="http://schemas.openxmlformats.org/officeDocument/2006/relationships/hyperlink" Target="https://chatgpt.com/codex/" TargetMode="External" Id="R33bcfe11b2074f1d" /><Relationship Type="http://schemas.openxmlformats.org/officeDocument/2006/relationships/image" Target="/ppt/media/image90.png" Id="R5d159cf898934d29" /><Relationship Type="http://schemas.openxmlformats.org/officeDocument/2006/relationships/image" Target="/ppt/media/image91.png" Id="R5763a2e71d104fbf" /><Relationship Type="http://schemas.openxmlformats.org/officeDocument/2006/relationships/notesSlide" Target="/ppt/notesSlides/notesSlide52.xml" Id="R04d29c81a39341a2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a6c37ee2244fe2" /><Relationship Type="http://schemas.openxmlformats.org/officeDocument/2006/relationships/hyperlink" Target="https://antigravity.google/" TargetMode="External" Id="R68af9ad2a659402d" /><Relationship Type="http://schemas.openxmlformats.org/officeDocument/2006/relationships/hyperlink" Target="https://chatgpt.com/codex/" TargetMode="External" Id="R61b758a5c1d44c70" /><Relationship Type="http://schemas.openxmlformats.org/officeDocument/2006/relationships/image" Target="/ppt/media/image92.png" Id="R5b7967d622724e47" /><Relationship Type="http://schemas.openxmlformats.org/officeDocument/2006/relationships/image" Target="/ppt/media/image93.png" Id="Rb15bed15fceb425e" /><Relationship Type="http://schemas.openxmlformats.org/officeDocument/2006/relationships/notesSlide" Target="/ppt/notesSlides/notesSlide53.xml" Id="Ra09967a8939f408a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25921270c84da8" /><Relationship Type="http://schemas.openxmlformats.org/officeDocument/2006/relationships/hyperlink" Target="https://antigravity.google/" TargetMode="External" Id="Rac02f63e03bf4520" /><Relationship Type="http://schemas.openxmlformats.org/officeDocument/2006/relationships/hyperlink" Target="https://chatgpt.com/codex/" TargetMode="External" Id="R2c8ae3c84e3a4a00" /><Relationship Type="http://schemas.openxmlformats.org/officeDocument/2006/relationships/image" Target="/ppt/media/image94.png" Id="Re4f2ee412d164b7d" /><Relationship Type="http://schemas.openxmlformats.org/officeDocument/2006/relationships/image" Target="/ppt/media/image95.png" Id="R0476d64544e24904" /><Relationship Type="http://schemas.openxmlformats.org/officeDocument/2006/relationships/notesSlide" Target="/ppt/notesSlides/notesSlide54.xml" Id="R3a216ded59ec47a5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9577c47e664e2f" /><Relationship Type="http://schemas.openxmlformats.org/officeDocument/2006/relationships/hyperlink" Target="https://antigravity.google/" TargetMode="External" Id="R2c33ca0257bf44f0" /><Relationship Type="http://schemas.openxmlformats.org/officeDocument/2006/relationships/hyperlink" Target="https://chatgpt.com/codex/" TargetMode="External" Id="R63aa1d65e485485a" /><Relationship Type="http://schemas.openxmlformats.org/officeDocument/2006/relationships/image" Target="/ppt/media/image96.png" Id="Rcc80cb9d60a64630" /><Relationship Type="http://schemas.openxmlformats.org/officeDocument/2006/relationships/image" Target="/ppt/media/image97.png" Id="Rda5993c6894d4ceb" /><Relationship Type="http://schemas.openxmlformats.org/officeDocument/2006/relationships/notesSlide" Target="/ppt/notesSlides/notesSlide55.xml" Id="R191555e2aa714d74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0f7446a20b40fb" /><Relationship Type="http://schemas.openxmlformats.org/officeDocument/2006/relationships/notesSlide" Target="/ppt/notesSlides/notesSlide56.xml" Id="R37879f4acde14ca3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9c35470f014ece" /><Relationship Type="http://schemas.openxmlformats.org/officeDocument/2006/relationships/notesSlide" Target="/ppt/notesSlides/notesSlide57.xml" Id="Rc8964c07592d4084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c01ede602a42a7" /><Relationship Type="http://schemas.openxmlformats.org/officeDocument/2006/relationships/notesSlide" Target="/ppt/notesSlides/notesSlide58.xml" Id="R33330271765e454a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abf7152de84aa0" /><Relationship Type="http://schemas.openxmlformats.org/officeDocument/2006/relationships/notesSlide" Target="/ppt/notesSlides/notesSlide59.xml" Id="R84c1d90859544915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f63d19faf04906" /><Relationship Type="http://schemas.openxmlformats.org/officeDocument/2006/relationships/notesSlide" Target="/ppt/notesSlides/notesSlide60.xml" Id="R07f5cad951af4db3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4e8870d0834ea7" /><Relationship Type="http://schemas.openxmlformats.org/officeDocument/2006/relationships/notesSlide" Target="/ppt/notesSlides/notesSlide61.xml" Id="Rb998761d20cd41c6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600025b06a4820" /><Relationship Type="http://schemas.openxmlformats.org/officeDocument/2006/relationships/hyperlink" Target="https://cagoooo.github.io/ncu-ai-agent-workshop-20260826/START_HERE_%E7%A0%94%E7%BF%92%E8%B3%87%E6%BA%90%E5%B0%8E%E8%88%AA.html" TargetMode="External" Id="R232eeb8293a4418b" /><Relationship Type="http://schemas.openxmlformats.org/officeDocument/2006/relationships/image" Target="/ppt/media/image98.png" Id="Reaaed67afbf843f3" /><Relationship Type="http://schemas.openxmlformats.org/officeDocument/2006/relationships/hyperlink" Target="https://antigravity.google/" TargetMode="External" Id="R0a9906c551854377" /><Relationship Type="http://schemas.openxmlformats.org/officeDocument/2006/relationships/image" Target="/ppt/media/image99.png" Id="R4f9c0c5aca584785" /><Relationship Type="http://schemas.openxmlformats.org/officeDocument/2006/relationships/hyperlink" Target="https://chatgpt.com/codex/" TargetMode="External" Id="Ra0bf7511901441ed" /><Relationship Type="http://schemas.openxmlformats.org/officeDocument/2006/relationships/image" Target="/ppt/media/image100.png" Id="R95b99fd188b44e59" /><Relationship Type="http://schemas.openxmlformats.org/officeDocument/2006/relationships/hyperlink" Target="https://claude.ai/" TargetMode="External" Id="Ra08c4fb201c44475" /><Relationship Type="http://schemas.openxmlformats.org/officeDocument/2006/relationships/image" Target="/ppt/media/image101.png" Id="Rf163b1cd5ce740b9" /><Relationship Type="http://schemas.openxmlformats.org/officeDocument/2006/relationships/hyperlink" Target="https://codelabs.developers.google.com/getting-started-with-antigravity-skills" TargetMode="External" Id="Rb7b618bdcf62486e" /><Relationship Type="http://schemas.openxmlformats.org/officeDocument/2006/relationships/image" Target="/ppt/media/image102.png" Id="Rdfc588b4726c4e42" /><Relationship Type="http://schemas.openxmlformats.org/officeDocument/2006/relationships/hyperlink" Target="https://cagoooo.github.io/ncu-ai-agent-workshop-20260826/04_%E5%AF%A6%E4%BD%9C%E5%B7%A5%E5%85%B7/07_Agent_Skills%E8%B3%87%E6%BA%90%E5%BA%AB.html" TargetMode="External" Id="R1fbb2fcdade34266" /><Relationship Type="http://schemas.openxmlformats.org/officeDocument/2006/relationships/image" Target="/ppt/media/image103.png" Id="Rddc6ae3d8927414f" /><Relationship Type="http://schemas.openxmlformats.org/officeDocument/2006/relationships/hyperlink" Target="https://cagoooo.github.io/ncu-ai-agent-workshop-20260826/04_%E5%AF%A6%E4%BD%9C%E5%B7%A5%E5%85%B7/%E6%8F%90%E7%A4%BA%E8%A9%9E%E5%BF%AB%E6%8D%B7%E9%9D%A2%E6%9D%BF_%E7%A0%94%E7%BF%92%E7%94%A8.html" TargetMode="External" Id="R6231445e73c54da1" /><Relationship Type="http://schemas.openxmlformats.org/officeDocument/2006/relationships/image" Target="/ppt/media/image104.png" Id="Rb1259adfb37e43f4" /><Relationship Type="http://schemas.openxmlformats.org/officeDocument/2006/relationships/hyperlink" Target="https://cagoooo.github.io/Akai/" TargetMode="External" Id="R09727076d4144db7" /><Relationship Type="http://schemas.openxmlformats.org/officeDocument/2006/relationships/image" Target="/ppt/media/image105.png" Id="R006fac590b564c8a" /><Relationship Type="http://schemas.openxmlformats.org/officeDocument/2006/relationships/hyperlink" Target="https://www.iea.nl/sites/default/files/2025-10/GA66_PIRLS%202026.pdf" TargetMode="External" Id="Rd9bb99384a374f2c" /><Relationship Type="http://schemas.openxmlformats.org/officeDocument/2006/relationships/image" Target="/ppt/media/image106.png" Id="R2c8190ce752248d1" /><Relationship Type="http://schemas.openxmlformats.org/officeDocument/2006/relationships/notesSlide" Target="/ppt/notesSlides/notesSlide62.xml" Id="Rb3eab955c292488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830c0879004c1e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hape-1057">
            <a:extLst xmlns:a="http://schemas.openxmlformats.org/drawingml/2006/main">
              <a:ext uri="{FF2B5EF4-FFF2-40B4-BE49-F238E27FC236}">
                <a16:creationId xmlns:a16="http://schemas.microsoft.com/office/drawing/2014/main" id="{A47C1B7E-223E-49A7-86D6-1CE21BAEE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0"/>
            <a:ext cx="5619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text-1058">
            <a:extLst xmlns:a="http://schemas.openxmlformats.org/drawingml/2006/main">
              <a:ext uri="{FF2B5EF4-FFF2-40B4-BE49-F238E27FC236}">
                <a16:creationId xmlns:a16="http://schemas.microsoft.com/office/drawing/2014/main" id="{8D46A5EA-1EC4-4A34-868D-4BB495FF9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1435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國立中央大學｜2026.08.26</a:t>
            </a:r>
          </a:p>
        </p:txBody>
      </p:sp>
      <p:sp>
        <p:nvSpPr>
          <p:cNvPr id="4" name="text-1059">
            <a:extLst xmlns:a="http://schemas.openxmlformats.org/drawingml/2006/main">
              <a:ext uri="{FF2B5EF4-FFF2-40B4-BE49-F238E27FC236}">
                <a16:creationId xmlns:a16="http://schemas.microsoft.com/office/drawing/2014/main" id="{C7456676-8F9C-40AB-B543-B374875E9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000125"/>
            <a:ext cx="447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下午場｜13:00–16:00</a:t>
            </a:r>
          </a:p>
        </p:txBody>
      </p:sp>
      <p:sp>
        <p:nvSpPr>
          <p:cNvPr id="5" name="text-1060">
            <a:extLst xmlns:a="http://schemas.openxmlformats.org/drawingml/2006/main">
              <a:ext uri="{FF2B5EF4-FFF2-40B4-BE49-F238E27FC236}">
                <a16:creationId xmlns:a16="http://schemas.microsoft.com/office/drawing/2014/main" id="{FABFD02D-5C53-45FB-84F8-D3F58285B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504950"/>
            <a:ext cx="46291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打造會做事的 AI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教學與研究夥伴：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Antigravity／Codex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Claude／Agent Skills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資料分析實戰</a:t>
            </a:r>
          </a:p>
        </p:txBody>
      </p:sp>
      <p:sp>
        <p:nvSpPr>
          <p:cNvPr id="6" name="shape-1061">
            <a:extLst xmlns:a="http://schemas.openxmlformats.org/drawingml/2006/main">
              <a:ext uri="{FF2B5EF4-FFF2-40B4-BE49-F238E27FC236}">
                <a16:creationId xmlns:a16="http://schemas.microsoft.com/office/drawing/2014/main" id="{4CB4E1EF-2EFC-4DFB-A678-4F3FB24DD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305300"/>
            <a:ext cx="7239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2">
            <a:extLst xmlns:a="http://schemas.openxmlformats.org/drawingml/2006/main">
              <a:ext uri="{FF2B5EF4-FFF2-40B4-BE49-F238E27FC236}">
                <a16:creationId xmlns:a16="http://schemas.microsoft.com/office/drawing/2014/main" id="{B522262F-7D61-4A3B-9C2C-9D8BEE829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629150"/>
            <a:ext cx="46291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從 AI 教學與研究助理到 AI Agent：大學教師的生成式 AI 實作工作坊</a:t>
            </a:r>
          </a:p>
        </p:txBody>
      </p:sp>
      <p:sp>
        <p:nvSpPr>
          <p:cNvPr id="8" name="text-1063">
            <a:extLst xmlns:a="http://schemas.openxmlformats.org/drawingml/2006/main">
              <a:ext uri="{FF2B5EF4-FFF2-40B4-BE49-F238E27FC236}">
                <a16:creationId xmlns:a16="http://schemas.microsoft.com/office/drawing/2014/main" id="{34F74E14-22E1-4C50-A03B-B006137DC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864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黃凱揚（阿凱老師）｜桃園市龍潭區石門國小資訊組長｜教學年資第 11 年</a:t>
            </a:r>
          </a:p>
        </p:txBody>
      </p:sp>
    </p:spTree>
    <p:extLst>
      <p:ext uri="{BB962C8B-B14F-4D97-AF65-F5344CB8AC3E}">
        <p14:creationId xmlns:p14="http://schemas.microsoft.com/office/powerpoint/2010/main" val="19728191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1064">
            <a:extLst xmlns:a="http://schemas.openxmlformats.org/drawingml/2006/main">
              <a:ext uri="{FF2B5EF4-FFF2-40B4-BE49-F238E27FC236}">
                <a16:creationId xmlns:a16="http://schemas.microsoft.com/office/drawing/2014/main" id="{3137605D-8693-4A49-80A0-3EAC6289C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LEARNING OUTCOMES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52E9668-9C22-41C2-B4E9-BB78581C8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下午離開前，你會有四項成果</a:t>
            </a:r>
          </a:p>
        </p:txBody>
      </p:sp>
      <p:cxnSp>
        <p:nvCxnSpPr>
          <p:cNvPr id="24" name="shape-106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066">
            <a:extLst xmlns:a="http://schemas.openxmlformats.org/drawingml/2006/main">
              <a:ext uri="{FF2B5EF4-FFF2-40B4-BE49-F238E27FC236}">
                <a16:creationId xmlns:a16="http://schemas.microsoft.com/office/drawing/2014/main" id="{C0EFE3C3-6231-4DE8-8A85-7AF8E6AFA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E49E09E-B9DA-45CC-A61F-C649E6F89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6" name="shape-1067">
            <a:extLst xmlns:a="http://schemas.openxmlformats.org/drawingml/2006/main">
              <a:ext uri="{FF2B5EF4-FFF2-40B4-BE49-F238E27FC236}">
                <a16:creationId xmlns:a16="http://schemas.microsoft.com/office/drawing/2014/main" id="{5D6CDB30-9147-419E-99F8-3C959072F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068">
            <a:extLst xmlns:a="http://schemas.openxmlformats.org/drawingml/2006/main">
              <a:ext uri="{FF2B5EF4-FFF2-40B4-BE49-F238E27FC236}">
                <a16:creationId xmlns:a16="http://schemas.microsoft.com/office/drawing/2014/main" id="{077C8B01-ED8B-4163-AE1E-0EEAACC72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069">
            <a:extLst xmlns:a="http://schemas.openxmlformats.org/drawingml/2006/main">
              <a:ext uri="{FF2B5EF4-FFF2-40B4-BE49-F238E27FC236}">
                <a16:creationId xmlns:a16="http://schemas.microsoft.com/office/drawing/2014/main" id="{31D1CDA5-9AFB-4FEC-829D-2454D6F16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看懂 Agent</a:t>
            </a:r>
          </a:p>
        </p:txBody>
      </p:sp>
      <p:sp>
        <p:nvSpPr>
          <p:cNvPr id="9" name="text-1070">
            <a:extLst xmlns:a="http://schemas.openxmlformats.org/drawingml/2006/main">
              <a:ext uri="{FF2B5EF4-FFF2-40B4-BE49-F238E27FC236}">
                <a16:creationId xmlns:a16="http://schemas.microsoft.com/office/drawing/2014/main" id="{62734B86-900E-4D12-8A95-2A0868D24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能分辨對話、助理與 Agent，知道何時必須人在迴路。</a:t>
            </a:r>
          </a:p>
        </p:txBody>
      </p:sp>
      <p:sp>
        <p:nvSpPr>
          <p:cNvPr id="10" name="shape-1071">
            <a:extLst xmlns:a="http://schemas.openxmlformats.org/drawingml/2006/main">
              <a:ext uri="{FF2B5EF4-FFF2-40B4-BE49-F238E27FC236}">
                <a16:creationId xmlns:a16="http://schemas.microsoft.com/office/drawing/2014/main" id="{9DEC564E-C659-42A4-A9DC-B52F08A00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072">
            <a:extLst xmlns:a="http://schemas.openxmlformats.org/drawingml/2006/main">
              <a:ext uri="{FF2B5EF4-FFF2-40B4-BE49-F238E27FC236}">
                <a16:creationId xmlns:a16="http://schemas.microsoft.com/office/drawing/2014/main" id="{291D584A-2B79-4E97-B4CD-1A457A8AA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073">
            <a:extLst xmlns:a="http://schemas.openxmlformats.org/drawingml/2006/main">
              <a:ext uri="{FF2B5EF4-FFF2-40B4-BE49-F238E27FC236}">
                <a16:creationId xmlns:a16="http://schemas.microsoft.com/office/drawing/2014/main" id="{69A98539-D795-4B85-9AC6-648BECD5D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建立工具策略</a:t>
            </a:r>
          </a:p>
        </p:txBody>
      </p:sp>
      <p:sp>
        <p:nvSpPr>
          <p:cNvPr id="13" name="text-1074">
            <a:extLst xmlns:a="http://schemas.openxmlformats.org/drawingml/2006/main">
              <a:ext uri="{FF2B5EF4-FFF2-40B4-BE49-F238E27FC236}">
                <a16:creationId xmlns:a16="http://schemas.microsoft.com/office/drawing/2014/main" id="{35EC32F4-42E6-41F7-8413-F8A5C1B3A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比較 Antigravity／Gemini 3.7 Flash、Codex 與 Claude，依任務、權限與驗收證據選擇工具。</a:t>
            </a:r>
          </a:p>
        </p:txBody>
      </p:sp>
      <p:sp>
        <p:nvSpPr>
          <p:cNvPr id="14" name="shape-1075">
            <a:extLst xmlns:a="http://schemas.openxmlformats.org/drawingml/2006/main">
              <a:ext uri="{FF2B5EF4-FFF2-40B4-BE49-F238E27FC236}">
                <a16:creationId xmlns:a16="http://schemas.microsoft.com/office/drawing/2014/main" id="{BAD93EE1-A829-4769-9709-BC8631138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076">
            <a:extLst xmlns:a="http://schemas.openxmlformats.org/drawingml/2006/main">
              <a:ext uri="{FF2B5EF4-FFF2-40B4-BE49-F238E27FC236}">
                <a16:creationId xmlns:a16="http://schemas.microsoft.com/office/drawing/2014/main" id="{300250F8-BDBD-478F-8B2F-C604C4E4A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077">
            <a:extLst xmlns:a="http://schemas.openxmlformats.org/drawingml/2006/main">
              <a:ext uri="{FF2B5EF4-FFF2-40B4-BE49-F238E27FC236}">
                <a16:creationId xmlns:a16="http://schemas.microsoft.com/office/drawing/2014/main" id="{D8394666-E4AA-4A81-A3EC-FBE6DC8DE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完成一個 Skill</a:t>
            </a:r>
          </a:p>
        </p:txBody>
      </p:sp>
      <p:sp>
        <p:nvSpPr>
          <p:cNvPr id="17" name="text-1078">
            <a:extLst xmlns:a="http://schemas.openxmlformats.org/drawingml/2006/main">
              <a:ext uri="{FF2B5EF4-FFF2-40B4-BE49-F238E27FC236}">
                <a16:creationId xmlns:a16="http://schemas.microsoft.com/office/drawing/2014/main" id="{2BC4B8C4-153D-4658-89AD-559689F37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把教學或研究提示詞升級成可重複、可測試的工作流程。</a:t>
            </a:r>
          </a:p>
        </p:txBody>
      </p:sp>
      <p:sp>
        <p:nvSpPr>
          <p:cNvPr id="18" name="shape-1079">
            <a:extLst xmlns:a="http://schemas.openxmlformats.org/drawingml/2006/main">
              <a:ext uri="{FF2B5EF4-FFF2-40B4-BE49-F238E27FC236}">
                <a16:creationId xmlns:a16="http://schemas.microsoft.com/office/drawing/2014/main" id="{9938B495-5096-4D2F-847D-573EBAB1C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080">
            <a:extLst xmlns:a="http://schemas.openxmlformats.org/drawingml/2006/main">
              <a:ext uri="{FF2B5EF4-FFF2-40B4-BE49-F238E27FC236}">
                <a16:creationId xmlns:a16="http://schemas.microsoft.com/office/drawing/2014/main" id="{7B3E1A49-E3E1-471C-8118-53E53B56C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081">
            <a:extLst xmlns:a="http://schemas.openxmlformats.org/drawingml/2006/main">
              <a:ext uri="{FF2B5EF4-FFF2-40B4-BE49-F238E27FC236}">
                <a16:creationId xmlns:a16="http://schemas.microsoft.com/office/drawing/2014/main" id="{EAC3C2FE-6B77-41A3-8F6E-3BD2A711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完成資料分析</a:t>
            </a:r>
          </a:p>
        </p:txBody>
      </p:sp>
      <p:sp>
        <p:nvSpPr>
          <p:cNvPr id="21" name="text-1082">
            <a:extLst xmlns:a="http://schemas.openxmlformats.org/drawingml/2006/main">
              <a:ext uri="{FF2B5EF4-FFF2-40B4-BE49-F238E27FC236}">
                <a16:creationId xmlns:a16="http://schemas.microsoft.com/office/drawing/2014/main" id="{6180E726-BAF8-40BA-8E44-624EFCA79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以合成資料練習選擇題統計、簡答初編與人工複核。</a:t>
            </a:r>
          </a:p>
        </p:txBody>
      </p:sp>
    </p:spTree>
    <p:extLst>
      <p:ext uri="{BB962C8B-B14F-4D97-AF65-F5344CB8AC3E}">
        <p14:creationId xmlns:p14="http://schemas.microsoft.com/office/powerpoint/2010/main" val="104223734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text-1083">
            <a:extLst xmlns:a="http://schemas.openxmlformats.org/drawingml/2006/main">
              <a:ext uri="{FF2B5EF4-FFF2-40B4-BE49-F238E27FC236}">
                <a16:creationId xmlns:a16="http://schemas.microsoft.com/office/drawing/2014/main" id="{BEBBF069-7D12-4042-AB02-60015C729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RUN OF SHOW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0A2C6C0-CFF4-4FC2-9817-BFA9D5EE5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下午 180 分鐘：從操作到可重複流程</a:t>
            </a:r>
          </a:p>
        </p:txBody>
      </p:sp>
      <p:cxnSp>
        <p:nvCxnSpPr>
          <p:cNvPr id="41" name="shape-108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085">
            <a:extLst xmlns:a="http://schemas.openxmlformats.org/drawingml/2006/main">
              <a:ext uri="{FF2B5EF4-FFF2-40B4-BE49-F238E27FC236}">
                <a16:creationId xmlns:a16="http://schemas.microsoft.com/office/drawing/2014/main" id="{22B723D0-A51A-41A9-9B7B-7065D97A4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308B753-E68A-4E96-A8E7-DB37CF86E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6" name="shape-1086">
            <a:extLst xmlns:a="http://schemas.openxmlformats.org/drawingml/2006/main">
              <a:ext uri="{FF2B5EF4-FFF2-40B4-BE49-F238E27FC236}">
                <a16:creationId xmlns:a16="http://schemas.microsoft.com/office/drawing/2014/main" id="{67143101-D3B2-44FB-A038-270B24C77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24200"/>
            <a:ext cx="10591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8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hape-1087">
            <a:extLst xmlns:a="http://schemas.openxmlformats.org/drawingml/2006/main">
              <a:ext uri="{FF2B5EF4-FFF2-40B4-BE49-F238E27FC236}">
                <a16:creationId xmlns:a16="http://schemas.microsoft.com/office/drawing/2014/main" id="{99C08D66-9CF9-4FE5-84D4-E060470E8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088">
            <a:extLst xmlns:a="http://schemas.openxmlformats.org/drawingml/2006/main">
              <a:ext uri="{FF2B5EF4-FFF2-40B4-BE49-F238E27FC236}">
                <a16:creationId xmlns:a16="http://schemas.microsoft.com/office/drawing/2014/main" id="{647144CD-6264-4A21-A688-1BFA71825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00–20</a:t>
            </a:r>
          </a:p>
        </p:txBody>
      </p:sp>
      <p:sp>
        <p:nvSpPr>
          <p:cNvPr id="9" name="text-1089">
            <a:extLst xmlns:a="http://schemas.openxmlformats.org/drawingml/2006/main">
              <a:ext uri="{FF2B5EF4-FFF2-40B4-BE49-F238E27FC236}">
                <a16:creationId xmlns:a16="http://schemas.microsoft.com/office/drawing/2014/main" id="{67BB144B-3D93-4883-8452-AE03B59D2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 觀念</a:t>
            </a:r>
          </a:p>
        </p:txBody>
      </p:sp>
      <p:sp>
        <p:nvSpPr>
          <p:cNvPr id="10" name="text-1090">
            <a:extLst xmlns:a="http://schemas.openxmlformats.org/drawingml/2006/main">
              <a:ext uri="{FF2B5EF4-FFF2-40B4-BE49-F238E27FC236}">
                <a16:creationId xmlns:a16="http://schemas.microsoft.com/office/drawing/2014/main" id="{9FC27CAF-09EB-4E41-A804-0DD799F08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能力與風險</a:t>
            </a:r>
          </a:p>
        </p:txBody>
      </p:sp>
      <p:sp>
        <p:nvSpPr>
          <p:cNvPr id="11" name="shape-1091">
            <a:extLst xmlns:a="http://schemas.openxmlformats.org/drawingml/2006/main">
              <a:ext uri="{FF2B5EF4-FFF2-40B4-BE49-F238E27FC236}">
                <a16:creationId xmlns:a16="http://schemas.microsoft.com/office/drawing/2014/main" id="{C5B69DAF-70A2-47D3-A872-5A30DE25B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6064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1092">
            <a:extLst xmlns:a="http://schemas.openxmlformats.org/drawingml/2006/main">
              <a:ext uri="{FF2B5EF4-FFF2-40B4-BE49-F238E27FC236}">
                <a16:creationId xmlns:a16="http://schemas.microsoft.com/office/drawing/2014/main" id="{675FD868-E3F2-4561-8B9E-941204D46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3614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20–45</a:t>
            </a:r>
          </a:p>
        </p:txBody>
      </p:sp>
      <p:sp>
        <p:nvSpPr>
          <p:cNvPr id="13" name="text-1093">
            <a:extLst xmlns:a="http://schemas.openxmlformats.org/drawingml/2006/main">
              <a:ext uri="{FF2B5EF4-FFF2-40B4-BE49-F238E27FC236}">
                <a16:creationId xmlns:a16="http://schemas.microsoft.com/office/drawing/2014/main" id="{FBD982D8-A8CC-45E0-AFDF-B531A562D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5014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Antigravity＋Spark</a:t>
            </a:r>
          </a:p>
        </p:txBody>
      </p:sp>
      <p:sp>
        <p:nvSpPr>
          <p:cNvPr id="14" name="text-1094">
            <a:extLst xmlns:a="http://schemas.openxmlformats.org/drawingml/2006/main">
              <a:ext uri="{FF2B5EF4-FFF2-40B4-BE49-F238E27FC236}">
                <a16:creationId xmlns:a16="http://schemas.microsoft.com/office/drawing/2014/main" id="{D92AB0E8-AF51-4142-A9B3-1290B2C2A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5014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任務、排程與證據</a:t>
            </a:r>
          </a:p>
        </p:txBody>
      </p:sp>
      <p:sp>
        <p:nvSpPr>
          <p:cNvPr id="15" name="shape-1095">
            <a:extLst xmlns:a="http://schemas.openxmlformats.org/drawingml/2006/main">
              <a:ext uri="{FF2B5EF4-FFF2-40B4-BE49-F238E27FC236}">
                <a16:creationId xmlns:a16="http://schemas.microsoft.com/office/drawing/2014/main" id="{9FA56743-578D-43E3-93AD-AE6EED930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9179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1096">
            <a:extLst xmlns:a="http://schemas.openxmlformats.org/drawingml/2006/main">
              <a:ext uri="{FF2B5EF4-FFF2-40B4-BE49-F238E27FC236}">
                <a16:creationId xmlns:a16="http://schemas.microsoft.com/office/drawing/2014/main" id="{DAF2F345-0EEB-4297-A79E-ADB4A4AE9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6729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45–70</a:t>
            </a:r>
          </a:p>
        </p:txBody>
      </p:sp>
      <p:sp>
        <p:nvSpPr>
          <p:cNvPr id="17" name="text-1097">
            <a:extLst xmlns:a="http://schemas.openxmlformats.org/drawingml/2006/main">
              <a:ext uri="{FF2B5EF4-FFF2-40B4-BE49-F238E27FC236}">
                <a16:creationId xmlns:a16="http://schemas.microsoft.com/office/drawing/2014/main" id="{730CDC19-E625-45A0-91BA-23EB8B62F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8129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Claude</a:t>
            </a:r>
          </a:p>
        </p:txBody>
      </p:sp>
      <p:sp>
        <p:nvSpPr>
          <p:cNvPr id="18" name="text-1098">
            <a:extLst xmlns:a="http://schemas.openxmlformats.org/drawingml/2006/main">
              <a:ext uri="{FF2B5EF4-FFF2-40B4-BE49-F238E27FC236}">
                <a16:creationId xmlns:a16="http://schemas.microsoft.com/office/drawing/2014/main" id="{F571FECE-5D25-49EE-BCBE-FA153537E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8129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模型與成本</a:t>
            </a:r>
          </a:p>
        </p:txBody>
      </p:sp>
      <p:sp>
        <p:nvSpPr>
          <p:cNvPr id="19" name="shape-1099">
            <a:extLst xmlns:a="http://schemas.openxmlformats.org/drawingml/2006/main">
              <a:ext uri="{FF2B5EF4-FFF2-40B4-BE49-F238E27FC236}">
                <a16:creationId xmlns:a16="http://schemas.microsoft.com/office/drawing/2014/main" id="{AF1D6D98-C6A5-4A09-9D26-09CACFFA9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2293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100">
            <a:extLst xmlns:a="http://schemas.openxmlformats.org/drawingml/2006/main">
              <a:ext uri="{FF2B5EF4-FFF2-40B4-BE49-F238E27FC236}">
                <a16:creationId xmlns:a16="http://schemas.microsoft.com/office/drawing/2014/main" id="{CD58D741-4C69-4AF7-A7C0-8979B60DE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9843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70–95</a:t>
            </a:r>
          </a:p>
        </p:txBody>
      </p:sp>
      <p:sp>
        <p:nvSpPr>
          <p:cNvPr id="21" name="text-1101">
            <a:extLst xmlns:a="http://schemas.openxmlformats.org/drawingml/2006/main">
              <a:ext uri="{FF2B5EF4-FFF2-40B4-BE49-F238E27FC236}">
                <a16:creationId xmlns:a16="http://schemas.microsoft.com/office/drawing/2014/main" id="{FE3C8261-A21B-457A-BB6F-4B1E71819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1243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sp>
        <p:nvSpPr>
          <p:cNvPr id="22" name="text-1102">
            <a:extLst xmlns:a="http://schemas.openxmlformats.org/drawingml/2006/main">
              <a:ext uri="{FF2B5EF4-FFF2-40B4-BE49-F238E27FC236}">
                <a16:creationId xmlns:a16="http://schemas.microsoft.com/office/drawing/2014/main" id="{EE027574-ABFB-4573-9065-BAB811444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1243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實作工作流</a:t>
            </a:r>
          </a:p>
        </p:txBody>
      </p:sp>
      <p:sp>
        <p:nvSpPr>
          <p:cNvPr id="23" name="shape-1103">
            <a:extLst xmlns:a="http://schemas.openxmlformats.org/drawingml/2006/main">
              <a:ext uri="{FF2B5EF4-FFF2-40B4-BE49-F238E27FC236}">
                <a16:creationId xmlns:a16="http://schemas.microsoft.com/office/drawing/2014/main" id="{C8B50952-4B96-4066-9750-8F61CF1BC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5407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-1104">
            <a:extLst xmlns:a="http://schemas.openxmlformats.org/drawingml/2006/main">
              <a:ext uri="{FF2B5EF4-FFF2-40B4-BE49-F238E27FC236}">
                <a16:creationId xmlns:a16="http://schemas.microsoft.com/office/drawing/2014/main" id="{B69013C3-1903-4A98-8E25-D674931FE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2957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95–105</a:t>
            </a:r>
          </a:p>
        </p:txBody>
      </p:sp>
      <p:sp>
        <p:nvSpPr>
          <p:cNvPr id="25" name="text-1105">
            <a:extLst xmlns:a="http://schemas.openxmlformats.org/drawingml/2006/main">
              <a:ext uri="{FF2B5EF4-FFF2-40B4-BE49-F238E27FC236}">
                <a16:creationId xmlns:a16="http://schemas.microsoft.com/office/drawing/2014/main" id="{84F87BFB-327E-4424-9389-1C8555E1D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4357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休息</a:t>
            </a:r>
          </a:p>
        </p:txBody>
      </p:sp>
      <p:sp>
        <p:nvSpPr>
          <p:cNvPr id="26" name="text-1106">
            <a:extLst xmlns:a="http://schemas.openxmlformats.org/drawingml/2006/main">
              <a:ext uri="{FF2B5EF4-FFF2-40B4-BE49-F238E27FC236}">
                <a16:creationId xmlns:a16="http://schemas.microsoft.com/office/drawing/2014/main" id="{EC8D77BA-A38F-4F39-878F-283E09F27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4357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整理成果</a:t>
            </a:r>
          </a:p>
        </p:txBody>
      </p:sp>
      <p:sp>
        <p:nvSpPr>
          <p:cNvPr id="27" name="shape-1107">
            <a:extLst xmlns:a="http://schemas.openxmlformats.org/drawingml/2006/main">
              <a:ext uri="{FF2B5EF4-FFF2-40B4-BE49-F238E27FC236}">
                <a16:creationId xmlns:a16="http://schemas.microsoft.com/office/drawing/2014/main" id="{7FDBD9EE-6907-48E7-A220-7640359FE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8521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text-1108">
            <a:extLst xmlns:a="http://schemas.openxmlformats.org/drawingml/2006/main">
              <a:ext uri="{FF2B5EF4-FFF2-40B4-BE49-F238E27FC236}">
                <a16:creationId xmlns:a16="http://schemas.microsoft.com/office/drawing/2014/main" id="{B1FCDB0B-F030-4976-9E42-96EC880F6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6071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105–140</a:t>
            </a:r>
          </a:p>
        </p:txBody>
      </p:sp>
      <p:sp>
        <p:nvSpPr>
          <p:cNvPr id="29" name="text-1109">
            <a:extLst xmlns:a="http://schemas.openxmlformats.org/drawingml/2006/main">
              <a:ext uri="{FF2B5EF4-FFF2-40B4-BE49-F238E27FC236}">
                <a16:creationId xmlns:a16="http://schemas.microsoft.com/office/drawing/2014/main" id="{E337DEDA-C652-4FD3-8F63-2E789A2B0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7471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 Skills</a:t>
            </a:r>
          </a:p>
        </p:txBody>
      </p:sp>
      <p:sp>
        <p:nvSpPr>
          <p:cNvPr id="30" name="text-1110">
            <a:extLst xmlns:a="http://schemas.openxmlformats.org/drawingml/2006/main">
              <a:ext uri="{FF2B5EF4-FFF2-40B4-BE49-F238E27FC236}">
                <a16:creationId xmlns:a16="http://schemas.microsoft.com/office/drawing/2014/main" id="{84A8CC15-DB94-4089-B9FF-1B605D1C9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7471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提示詞升級</a:t>
            </a:r>
          </a:p>
        </p:txBody>
      </p:sp>
      <p:sp>
        <p:nvSpPr>
          <p:cNvPr id="31" name="shape-1111">
            <a:extLst xmlns:a="http://schemas.openxmlformats.org/drawingml/2006/main">
              <a:ext uri="{FF2B5EF4-FFF2-40B4-BE49-F238E27FC236}">
                <a16:creationId xmlns:a16="http://schemas.microsoft.com/office/drawing/2014/main" id="{DA5D6256-A201-4430-A3F6-432860431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1636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112">
            <a:extLst xmlns:a="http://schemas.openxmlformats.org/drawingml/2006/main">
              <a:ext uri="{FF2B5EF4-FFF2-40B4-BE49-F238E27FC236}">
                <a16:creationId xmlns:a16="http://schemas.microsoft.com/office/drawing/2014/main" id="{DB096987-C0F9-4436-8DAD-3968F8E64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9186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140–160</a:t>
            </a:r>
          </a:p>
        </p:txBody>
      </p:sp>
      <p:sp>
        <p:nvSpPr>
          <p:cNvPr id="33" name="text-1113">
            <a:extLst xmlns:a="http://schemas.openxmlformats.org/drawingml/2006/main">
              <a:ext uri="{FF2B5EF4-FFF2-40B4-BE49-F238E27FC236}">
                <a16:creationId xmlns:a16="http://schemas.microsoft.com/office/drawing/2014/main" id="{D9B6E5E0-1688-4BE1-A5C5-D84917E32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0586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學生資料</a:t>
            </a:r>
          </a:p>
        </p:txBody>
      </p:sp>
      <p:sp>
        <p:nvSpPr>
          <p:cNvPr id="34" name="text-1114">
            <a:extLst xmlns:a="http://schemas.openxmlformats.org/drawingml/2006/main">
              <a:ext uri="{FF2B5EF4-FFF2-40B4-BE49-F238E27FC236}">
                <a16:creationId xmlns:a16="http://schemas.microsoft.com/office/drawing/2014/main" id="{3BA4C01A-FD3D-420A-8269-204C2F73D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0586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PIRLS 風格分析</a:t>
            </a:r>
          </a:p>
        </p:txBody>
      </p:sp>
      <p:sp>
        <p:nvSpPr>
          <p:cNvPr id="35" name="shape-1115">
            <a:extLst xmlns:a="http://schemas.openxmlformats.org/drawingml/2006/main">
              <a:ext uri="{FF2B5EF4-FFF2-40B4-BE49-F238E27FC236}">
                <a16:creationId xmlns:a16="http://schemas.microsoft.com/office/drawing/2014/main" id="{3D48108A-1730-4F8F-97A3-B38CFC6F4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text-1116">
            <a:extLst xmlns:a="http://schemas.openxmlformats.org/drawingml/2006/main">
              <a:ext uri="{FF2B5EF4-FFF2-40B4-BE49-F238E27FC236}">
                <a16:creationId xmlns:a16="http://schemas.microsoft.com/office/drawing/2014/main" id="{44AD8E9A-661A-47E6-8A60-D9E87B59E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160–180</a:t>
            </a:r>
          </a:p>
        </p:txBody>
      </p:sp>
      <p:sp>
        <p:nvSpPr>
          <p:cNvPr id="37" name="text-1117">
            <a:extLst xmlns:a="http://schemas.openxmlformats.org/drawingml/2006/main">
              <a:ext uri="{FF2B5EF4-FFF2-40B4-BE49-F238E27FC236}">
                <a16:creationId xmlns:a16="http://schemas.microsoft.com/office/drawing/2014/main" id="{3402181A-D8BC-4472-AF92-3BEACC312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整合分享</a:t>
            </a:r>
          </a:p>
        </p:txBody>
      </p:sp>
      <p:sp>
        <p:nvSpPr>
          <p:cNvPr id="38" name="text-1118">
            <a:extLst xmlns:a="http://schemas.openxmlformats.org/drawingml/2006/main">
              <a:ext uri="{FF2B5EF4-FFF2-40B4-BE49-F238E27FC236}">
                <a16:creationId xmlns:a16="http://schemas.microsoft.com/office/drawing/2014/main" id="{567EABF1-01D4-4589-8E95-713A7A095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可驗證交付</a:t>
            </a:r>
          </a:p>
        </p:txBody>
      </p:sp>
    </p:spTree>
    <p:extLst>
      <p:ext uri="{BB962C8B-B14F-4D97-AF65-F5344CB8AC3E}">
        <p14:creationId xmlns:p14="http://schemas.microsoft.com/office/powerpoint/2010/main" val="18079742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1119">
            <a:extLst xmlns:a="http://schemas.openxmlformats.org/drawingml/2006/main">
              <a:ext uri="{FF2B5EF4-FFF2-40B4-BE49-F238E27FC236}">
                <a16:creationId xmlns:a16="http://schemas.microsoft.com/office/drawing/2014/main" id="{968BF8CF-7BEE-4920-8FA8-A50E755FC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REAL PAIN · DNS MIGRATION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E358A16-BC6D-4AE9-AE97-F4ADB67C2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147 個 PDF：DNS 遷移留下的重複性痛點</a:t>
            </a:r>
          </a:p>
        </p:txBody>
      </p:sp>
      <p:cxnSp>
        <p:nvCxnSpPr>
          <p:cNvPr id="13" name="shape-112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121">
            <a:extLst xmlns:a="http://schemas.openxmlformats.org/drawingml/2006/main">
              <a:ext uri="{FF2B5EF4-FFF2-40B4-BE49-F238E27FC236}">
                <a16:creationId xmlns:a16="http://schemas.microsoft.com/office/drawing/2014/main" id="{43B4A9A1-893A-4FBE-A780-9012766CE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24A7A9A-9D0A-4894-BF12-54D47566F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6" name="shape-1122">
            <a:extLst xmlns:a="http://schemas.openxmlformats.org/drawingml/2006/main">
              <a:ext uri="{FF2B5EF4-FFF2-40B4-BE49-F238E27FC236}">
                <a16:creationId xmlns:a16="http://schemas.microsoft.com/office/drawing/2014/main" id="{F4266FD6-E0C8-4512-B26C-73EE0D98F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62100"/>
            <a:ext cx="6934200" cy="453390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3615d472f24d59"/>
          <a:stretch xmlns:a="http://schemas.openxmlformats.org/drawingml/2006/main"/>
        </p:blipFill>
        <p:spPr>
          <a:xfrm xmlns:a="http://schemas.openxmlformats.org/drawingml/2006/main">
            <a:off x="647700" y="1818770"/>
            <a:ext cx="6667500" cy="4020559"/>
          </a:xfrm>
          <a:prstGeom xmlns:a="http://schemas.openxmlformats.org/drawingml/2006/main" prst="roundRect">
            <a:avLst>
              <a:gd name="adj" fmla="val 2679"/>
            </a:avLst>
          </a:prstGeom>
        </p:spPr>
      </p:pic>
      <p:sp>
        <p:nvSpPr>
          <p:cNvPr id="8" name="shape-1123">
            <a:extLst xmlns:a="http://schemas.openxmlformats.org/drawingml/2006/main">
              <a:ext uri="{FF2B5EF4-FFF2-40B4-BE49-F238E27FC236}">
                <a16:creationId xmlns:a16="http://schemas.microsoft.com/office/drawing/2014/main" id="{3ECC3D90-B34D-4A9C-AAD0-E33342CDE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562100"/>
            <a:ext cx="3886200" cy="4533900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9" name="text-1124">
            <a:extLst xmlns:a="http://schemas.openxmlformats.org/drawingml/2006/main">
              <a:ext uri="{FF2B5EF4-FFF2-40B4-BE49-F238E27FC236}">
                <a16:creationId xmlns:a16="http://schemas.microsoft.com/office/drawing/2014/main" id="{ABECE5C0-DACF-4637-AED8-183AD6A38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09750"/>
            <a:ext cx="33909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痛點：排山倒海的 PDF</a:t>
            </a:r>
          </a:p>
        </p:txBody>
      </p:sp>
      <p:sp>
        <p:nvSpPr>
          <p:cNvPr id="10" name="text-1125">
            <a:extLst xmlns:a="http://schemas.openxmlformats.org/drawingml/2006/main">
              <a:ext uri="{FF2B5EF4-FFF2-40B4-BE49-F238E27FC236}">
                <a16:creationId xmlns:a16="http://schemas.microsoft.com/office/drawing/2014/main" id="{A61E40F6-AD4D-4E32-A021-8C598DDCF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724150"/>
            <a:ext cx="3390900" cy="289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舊站連結仍指向 www，DNS 遷移後無法直接下載。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人工逐一找檔、改網址、下載，重複又毫無效率。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做到懷疑人生：這正是 Agent 值得接手的工作。</a:t>
            </a:r>
          </a:p>
        </p:txBody>
      </p:sp>
    </p:spTree>
    <p:extLst>
      <p:ext uri="{BB962C8B-B14F-4D97-AF65-F5344CB8AC3E}">
        <p14:creationId xmlns:p14="http://schemas.microsoft.com/office/powerpoint/2010/main" val="58563812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1126">
            <a:extLst xmlns:a="http://schemas.openxmlformats.org/drawingml/2006/main">
              <a:ext uri="{FF2B5EF4-FFF2-40B4-BE49-F238E27FC236}">
                <a16:creationId xmlns:a16="http://schemas.microsoft.com/office/drawing/2014/main" id="{27BECAF7-8912-45C8-8472-7AE402031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PROMPT → PLAN → VERIFY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8A38EF6-C734-41CC-B2D3-66D03D2C5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把規則說清楚，Agent 就能一次接手</a:t>
            </a:r>
          </a:p>
        </p:txBody>
      </p:sp>
      <p:cxnSp>
        <p:nvCxnSpPr>
          <p:cNvPr id="13" name="shape-112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128">
            <a:extLst xmlns:a="http://schemas.openxmlformats.org/drawingml/2006/main">
              <a:ext uri="{FF2B5EF4-FFF2-40B4-BE49-F238E27FC236}">
                <a16:creationId xmlns:a16="http://schemas.microsoft.com/office/drawing/2014/main" id="{B9D9E510-BA56-485C-BDF3-7E222B323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9FEA7CA-1B20-486B-904F-82944A0A5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sp>
        <p:nvSpPr>
          <p:cNvPr id="6" name="shape-1129">
            <a:extLst xmlns:a="http://schemas.openxmlformats.org/drawingml/2006/main">
              <a:ext uri="{FF2B5EF4-FFF2-40B4-BE49-F238E27FC236}">
                <a16:creationId xmlns:a16="http://schemas.microsoft.com/office/drawing/2014/main" id="{EEED78E7-9AA4-45ED-9D28-45E3E9A5C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62100"/>
            <a:ext cx="6934200" cy="453390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ccd9dd98034ce2"/>
          <a:stretch xmlns:a="http://schemas.openxmlformats.org/drawingml/2006/main"/>
        </p:blipFill>
        <p:spPr>
          <a:xfrm xmlns:a="http://schemas.openxmlformats.org/drawingml/2006/main">
            <a:off x="843445" y="1695450"/>
            <a:ext cx="6276010" cy="4267200"/>
          </a:xfrm>
          <a:prstGeom xmlns:a="http://schemas.openxmlformats.org/drawingml/2006/main" prst="roundRect">
            <a:avLst>
              <a:gd name="adj" fmla="val 2679"/>
            </a:avLst>
          </a:prstGeom>
        </p:spPr>
      </p:pic>
      <p:sp>
        <p:nvSpPr>
          <p:cNvPr id="8" name="shape-1130">
            <a:extLst xmlns:a="http://schemas.openxmlformats.org/drawingml/2006/main">
              <a:ext uri="{FF2B5EF4-FFF2-40B4-BE49-F238E27FC236}">
                <a16:creationId xmlns:a16="http://schemas.microsoft.com/office/drawing/2014/main" id="{FC55918A-6460-44B2-8465-AEB105150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562100"/>
            <a:ext cx="3886200" cy="4533900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9" name="text-1131">
            <a:extLst xmlns:a="http://schemas.openxmlformats.org/drawingml/2006/main">
              <a:ext uri="{FF2B5EF4-FFF2-40B4-BE49-F238E27FC236}">
                <a16:creationId xmlns:a16="http://schemas.microsoft.com/office/drawing/2014/main" id="{05F35151-2D07-4A19-81E7-D13BB4FA0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09750"/>
            <a:ext cx="33909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提示詞：來源 → 轉換 → 驗收</a:t>
            </a:r>
          </a:p>
        </p:txBody>
      </p:sp>
      <p:sp>
        <p:nvSpPr>
          <p:cNvPr id="10" name="text-1132">
            <a:extLst xmlns:a="http://schemas.openxmlformats.org/drawingml/2006/main">
              <a:ext uri="{FF2B5EF4-FFF2-40B4-BE49-F238E27FC236}">
                <a16:creationId xmlns:a16="http://schemas.microsoft.com/office/drawing/2014/main" id="{26CE1A2C-DFEA-4EE3-A3BC-61402530A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724150"/>
            <a:ext cx="3390900" cy="289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來源：讀取公告 nsn=3187，找出頁面中的全部 PDF。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轉換：www.smes.tyc.edu.tw → web.smes.tyc.edu.tw，依 files_sn 組出新路徑。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驗收：逐一下載、確認 PDF 有效，統計成功／失敗與殘檔。</a:t>
            </a:r>
          </a:p>
        </p:txBody>
      </p:sp>
    </p:spTree>
    <p:extLst>
      <p:ext uri="{BB962C8B-B14F-4D97-AF65-F5344CB8AC3E}">
        <p14:creationId xmlns:p14="http://schemas.microsoft.com/office/powerpoint/2010/main" val="30046840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ext-1133">
            <a:extLst xmlns:a="http://schemas.openxmlformats.org/drawingml/2006/main">
              <a:ext uri="{FF2B5EF4-FFF2-40B4-BE49-F238E27FC236}">
                <a16:creationId xmlns:a16="http://schemas.microsoft.com/office/drawing/2014/main" id="{6C81AF64-62FD-4519-898A-A15EAE6F6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AGENT RESULT · CLOSED LOOP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1B1B6D6-7547-4F05-A1FB-4FAB6EB5D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4 分 6 秒：147 個檔案一次到位</a:t>
            </a:r>
          </a:p>
        </p:txBody>
      </p:sp>
      <p:cxnSp>
        <p:nvCxnSpPr>
          <p:cNvPr id="14" name="shape-113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135">
            <a:extLst xmlns:a="http://schemas.openxmlformats.org/drawingml/2006/main">
              <a:ext uri="{FF2B5EF4-FFF2-40B4-BE49-F238E27FC236}">
                <a16:creationId xmlns:a16="http://schemas.microsoft.com/office/drawing/2014/main" id="{D8EF5BE9-0BFB-4830-B2B4-4BB6DCD20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A12B5E2-B47F-46E4-9D58-704F03B7C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sp>
        <p:nvSpPr>
          <p:cNvPr id="6" name="shape-1136">
            <a:extLst xmlns:a="http://schemas.openxmlformats.org/drawingml/2006/main">
              <a:ext uri="{FF2B5EF4-FFF2-40B4-BE49-F238E27FC236}">
                <a16:creationId xmlns:a16="http://schemas.microsoft.com/office/drawing/2014/main" id="{81033EB9-7062-4D6E-94A4-F258B5547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62100"/>
            <a:ext cx="6934200" cy="453390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6ac229cb7342cc"/>
          <a:stretch xmlns:a="http://schemas.openxmlformats.org/drawingml/2006/main"/>
        </p:blipFill>
        <p:spPr>
          <a:xfrm xmlns:a="http://schemas.openxmlformats.org/drawingml/2006/main">
            <a:off x="647700" y="1836931"/>
            <a:ext cx="6667500" cy="3984238"/>
          </a:xfrm>
          <a:prstGeom xmlns:a="http://schemas.openxmlformats.org/drawingml/2006/main" prst="roundRect">
            <a:avLst>
              <a:gd name="adj" fmla="val 2679"/>
            </a:avLst>
          </a:prstGeom>
        </p:spPr>
      </p:pic>
      <p:sp>
        <p:nvSpPr>
          <p:cNvPr id="8" name="shape-1137">
            <a:extLst xmlns:a="http://schemas.openxmlformats.org/drawingml/2006/main">
              <a:ext uri="{FF2B5EF4-FFF2-40B4-BE49-F238E27FC236}">
                <a16:creationId xmlns:a16="http://schemas.microsoft.com/office/drawing/2014/main" id="{8ADD4356-65AC-4F12-89AF-CE0F98D39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562100"/>
            <a:ext cx="3886200" cy="4533900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9" name="text-1138">
            <a:extLst xmlns:a="http://schemas.openxmlformats.org/drawingml/2006/main">
              <a:ext uri="{FF2B5EF4-FFF2-40B4-BE49-F238E27FC236}">
                <a16:creationId xmlns:a16="http://schemas.microsoft.com/office/drawing/2014/main" id="{C3E30D12-4552-4178-8F29-212C1F5CB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09750"/>
            <a:ext cx="33909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成果：147 / 147 成功</a:t>
            </a:r>
          </a:p>
        </p:txBody>
      </p:sp>
      <p:sp>
        <p:nvSpPr>
          <p:cNvPr id="10" name="text-1139">
            <a:extLst xmlns:a="http://schemas.openxmlformats.org/drawingml/2006/main">
              <a:ext uri="{FF2B5EF4-FFF2-40B4-BE49-F238E27FC236}">
                <a16:creationId xmlns:a16="http://schemas.microsoft.com/office/drawing/2014/main" id="{0B0821E5-136C-4D65-8272-F3B086800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724150"/>
            <a:ext cx="3390900" cy="2324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處理時間 4 分 6 秒；解析 147 份 PDF，成功 147/147。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有效 PDF 147/147、失敗 0，資料夾內可逐檔檢查與保存。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最後上傳到新校網公告，完成從遷移、驗收到發布的閉環。</a:t>
            </a:r>
          </a:p>
        </p:txBody>
      </p:sp>
      <p:sp>
        <p:nvSpPr>
          <p:cNvPr id="11" name="text-1140">
            <a:extLst xmlns:a="http://schemas.openxmlformats.org/drawingml/2006/main">
              <a:ext uri="{FF2B5EF4-FFF2-40B4-BE49-F238E27FC236}">
                <a16:creationId xmlns:a16="http://schemas.microsoft.com/office/drawing/2014/main" id="{8B4F76E3-EC9F-4759-86C4-3121034A8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505450"/>
            <a:ext cx="339090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1B64DA"/>
            </a:solidFill>
            <a:prstDash val="solid"/>
          </a:ln>
        </p:spPr>
        <p:txBody>
          <a:bodyPr xmlns:a="http://schemas.openxmlformats.org/drawingml/2006/main" wrap="square" lIns="114300" tIns="47625" rIns="114300" bIns="47625" anchor="ctr">
            <a:normAutofit fontScale="8678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0a95a615ab346ea"/>
              </a:rPr>
              <a:t>查看新校網公告最終成果 ↗</a:t>
            </a:r>
          </a:p>
        </p:txBody>
      </p:sp>
    </p:spTree>
    <p:extLst>
      <p:ext uri="{BB962C8B-B14F-4D97-AF65-F5344CB8AC3E}">
        <p14:creationId xmlns:p14="http://schemas.microsoft.com/office/powerpoint/2010/main" val="39238023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text-1141">
            <a:extLst xmlns:a="http://schemas.openxmlformats.org/drawingml/2006/main">
              <a:ext uri="{FF2B5EF4-FFF2-40B4-BE49-F238E27FC236}">
                <a16:creationId xmlns:a16="http://schemas.microsoft.com/office/drawing/2014/main" id="{F5D21CC2-05AD-4E3F-882E-8939C26CC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CAPABILITY LADDER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EE91F4B-BFD2-4C97-B2DD-7ABD6C983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對話、助理、Agent：差別在能否推進工作</a:t>
            </a:r>
          </a:p>
        </p:txBody>
      </p:sp>
      <p:cxnSp>
        <p:nvCxnSpPr>
          <p:cNvPr id="32" name="shape-114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143">
            <a:extLst xmlns:a="http://schemas.openxmlformats.org/drawingml/2006/main">
              <a:ext uri="{FF2B5EF4-FFF2-40B4-BE49-F238E27FC236}">
                <a16:creationId xmlns:a16="http://schemas.microsoft.com/office/drawing/2014/main" id="{0C47A964-919C-45A9-BA84-4148A64D4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B3FC070-C47F-40C3-9570-D9DDFB81A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07</a:t>
            </a:r>
          </a:p>
        </p:txBody>
      </p:sp>
      <p:sp>
        <p:nvSpPr>
          <p:cNvPr id="6" name="shape-1144">
            <a:extLst xmlns:a="http://schemas.openxmlformats.org/drawingml/2006/main">
              <a:ext uri="{FF2B5EF4-FFF2-40B4-BE49-F238E27FC236}">
                <a16:creationId xmlns:a16="http://schemas.microsoft.com/office/drawing/2014/main" id="{219812D2-33B3-4DFC-AA5B-BDA959801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145">
            <a:extLst xmlns:a="http://schemas.openxmlformats.org/drawingml/2006/main">
              <a:ext uri="{FF2B5EF4-FFF2-40B4-BE49-F238E27FC236}">
                <a16:creationId xmlns:a16="http://schemas.microsoft.com/office/drawing/2014/main" id="{4F085CD9-2794-4E2D-9953-C17DB41F6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146">
            <a:extLst xmlns:a="http://schemas.openxmlformats.org/drawingml/2006/main">
              <a:ext uri="{FF2B5EF4-FFF2-40B4-BE49-F238E27FC236}">
                <a16:creationId xmlns:a16="http://schemas.microsoft.com/office/drawing/2014/main" id="{4A2921A1-42F0-44D3-81EC-2364DB87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147">
            <a:extLst xmlns:a="http://schemas.openxmlformats.org/drawingml/2006/main">
              <a:ext uri="{FF2B5EF4-FFF2-40B4-BE49-F238E27FC236}">
                <a16:creationId xmlns:a16="http://schemas.microsoft.com/office/drawing/2014/main" id="{2F1F0C28-46E1-4698-AD2B-67F24C09C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對話</a:t>
            </a:r>
          </a:p>
        </p:txBody>
      </p:sp>
      <p:sp>
        <p:nvSpPr>
          <p:cNvPr id="10" name="text-1148">
            <a:extLst xmlns:a="http://schemas.openxmlformats.org/drawingml/2006/main">
              <a:ext uri="{FF2B5EF4-FFF2-40B4-BE49-F238E27FC236}">
                <a16:creationId xmlns:a16="http://schemas.microsoft.com/office/drawing/2014/main" id="{86C68762-378D-4DA1-97EC-45DBDC196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回答、解釋、發想</a:t>
            </a:r>
          </a:p>
        </p:txBody>
      </p:sp>
      <p:sp>
        <p:nvSpPr>
          <p:cNvPr id="11" name="text-1149">
            <a:extLst xmlns:a="http://schemas.openxmlformats.org/drawingml/2006/main">
              <a:ext uri="{FF2B5EF4-FFF2-40B4-BE49-F238E27FC236}">
                <a16:creationId xmlns:a16="http://schemas.microsoft.com/office/drawing/2014/main" id="{9E5C75D1-ED68-4114-A7C9-53434C1ED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150">
            <a:extLst xmlns:a="http://schemas.openxmlformats.org/drawingml/2006/main">
              <a:ext uri="{FF2B5EF4-FFF2-40B4-BE49-F238E27FC236}">
                <a16:creationId xmlns:a16="http://schemas.microsoft.com/office/drawing/2014/main" id="{AB2D61BF-C1D7-46E5-A4EE-E5C963E99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3" name="shape-1151">
            <a:extLst xmlns:a="http://schemas.openxmlformats.org/drawingml/2006/main">
              <a:ext uri="{FF2B5EF4-FFF2-40B4-BE49-F238E27FC236}">
                <a16:creationId xmlns:a16="http://schemas.microsoft.com/office/drawing/2014/main" id="{96991D66-879F-4058-A8A0-0A8771308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152">
            <a:extLst xmlns:a="http://schemas.openxmlformats.org/drawingml/2006/main">
              <a:ext uri="{FF2B5EF4-FFF2-40B4-BE49-F238E27FC236}">
                <a16:creationId xmlns:a16="http://schemas.microsoft.com/office/drawing/2014/main" id="{0212544F-D7CA-4B73-8F15-D7E27143E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153">
            <a:extLst xmlns:a="http://schemas.openxmlformats.org/drawingml/2006/main">
              <a:ext uri="{FF2B5EF4-FFF2-40B4-BE49-F238E27FC236}">
                <a16:creationId xmlns:a16="http://schemas.microsoft.com/office/drawing/2014/main" id="{4D83BDAB-7910-4EFF-9517-C879C094D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助理</a:t>
            </a:r>
          </a:p>
        </p:txBody>
      </p:sp>
      <p:sp>
        <p:nvSpPr>
          <p:cNvPr id="16" name="text-1154">
            <a:extLst xmlns:a="http://schemas.openxmlformats.org/drawingml/2006/main">
              <a:ext uri="{FF2B5EF4-FFF2-40B4-BE49-F238E27FC236}">
                <a16:creationId xmlns:a16="http://schemas.microsoft.com/office/drawing/2014/main" id="{E61ADFE1-AB43-4B9D-93A3-7CB88961E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固定角色與格式</a:t>
            </a:r>
          </a:p>
        </p:txBody>
      </p:sp>
      <p:sp>
        <p:nvSpPr>
          <p:cNvPr id="17" name="text-1155">
            <a:extLst xmlns:a="http://schemas.openxmlformats.org/drawingml/2006/main">
              <a:ext uri="{FF2B5EF4-FFF2-40B4-BE49-F238E27FC236}">
                <a16:creationId xmlns:a16="http://schemas.microsoft.com/office/drawing/2014/main" id="{6B7D0EF6-EBCC-4950-A74E-A42B02978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156">
            <a:extLst xmlns:a="http://schemas.openxmlformats.org/drawingml/2006/main">
              <a:ext uri="{FF2B5EF4-FFF2-40B4-BE49-F238E27FC236}">
                <a16:creationId xmlns:a16="http://schemas.microsoft.com/office/drawing/2014/main" id="{982B4726-F2A4-4CD4-A834-3CB109058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shape-1157">
            <a:extLst xmlns:a="http://schemas.openxmlformats.org/drawingml/2006/main">
              <a:ext uri="{FF2B5EF4-FFF2-40B4-BE49-F238E27FC236}">
                <a16:creationId xmlns:a16="http://schemas.microsoft.com/office/drawing/2014/main" id="{5658CC48-F9D0-4E5E-A64E-05B7FE0D2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158">
            <a:extLst xmlns:a="http://schemas.openxmlformats.org/drawingml/2006/main">
              <a:ext uri="{FF2B5EF4-FFF2-40B4-BE49-F238E27FC236}">
                <a16:creationId xmlns:a16="http://schemas.microsoft.com/office/drawing/2014/main" id="{90CAAF5F-C3EF-4F49-8296-492380DDA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159">
            <a:extLst xmlns:a="http://schemas.openxmlformats.org/drawingml/2006/main">
              <a:ext uri="{FF2B5EF4-FFF2-40B4-BE49-F238E27FC236}">
                <a16:creationId xmlns:a16="http://schemas.microsoft.com/office/drawing/2014/main" id="{DE5E5C12-C809-4D35-AA7C-EB9D75437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</a:t>
            </a:r>
          </a:p>
        </p:txBody>
      </p:sp>
      <p:sp>
        <p:nvSpPr>
          <p:cNvPr id="22" name="text-1160">
            <a:extLst xmlns:a="http://schemas.openxmlformats.org/drawingml/2006/main">
              <a:ext uri="{FF2B5EF4-FFF2-40B4-BE49-F238E27FC236}">
                <a16:creationId xmlns:a16="http://schemas.microsoft.com/office/drawing/2014/main" id="{50258926-71FC-4F7B-A10A-4CF77888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讀取環境、規劃、使用工具</a:t>
            </a:r>
          </a:p>
        </p:txBody>
      </p:sp>
      <p:sp>
        <p:nvSpPr>
          <p:cNvPr id="23" name="text-1161">
            <a:extLst xmlns:a="http://schemas.openxmlformats.org/drawingml/2006/main">
              <a:ext uri="{FF2B5EF4-FFF2-40B4-BE49-F238E27FC236}">
                <a16:creationId xmlns:a16="http://schemas.microsoft.com/office/drawing/2014/main" id="{91C65BD9-D733-43F5-AB37-CD755CF60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162">
            <a:extLst xmlns:a="http://schemas.openxmlformats.org/drawingml/2006/main">
              <a:ext uri="{FF2B5EF4-FFF2-40B4-BE49-F238E27FC236}">
                <a16:creationId xmlns:a16="http://schemas.microsoft.com/office/drawing/2014/main" id="{1C5F565B-7576-4F1B-9C94-E91741D36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5" name="shape-1163">
            <a:extLst xmlns:a="http://schemas.openxmlformats.org/drawingml/2006/main">
              <a:ext uri="{FF2B5EF4-FFF2-40B4-BE49-F238E27FC236}">
                <a16:creationId xmlns:a16="http://schemas.microsoft.com/office/drawing/2014/main" id="{6FEB2A36-5162-4BF2-9318-8BB536671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164">
            <a:extLst xmlns:a="http://schemas.openxmlformats.org/drawingml/2006/main">
              <a:ext uri="{FF2B5EF4-FFF2-40B4-BE49-F238E27FC236}">
                <a16:creationId xmlns:a16="http://schemas.microsoft.com/office/drawing/2014/main" id="{5BF1CC94-3C26-411A-8951-90831B9F3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165">
            <a:extLst xmlns:a="http://schemas.openxmlformats.org/drawingml/2006/main">
              <a:ext uri="{FF2B5EF4-FFF2-40B4-BE49-F238E27FC236}">
                <a16:creationId xmlns:a16="http://schemas.microsoft.com/office/drawing/2014/main" id="{AD511869-1166-476B-A6C8-2B1F47352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可信 Agent</a:t>
            </a:r>
          </a:p>
        </p:txBody>
      </p:sp>
      <p:sp>
        <p:nvSpPr>
          <p:cNvPr id="28" name="text-1166">
            <a:extLst xmlns:a="http://schemas.openxmlformats.org/drawingml/2006/main">
              <a:ext uri="{FF2B5EF4-FFF2-40B4-BE49-F238E27FC236}">
                <a16:creationId xmlns:a16="http://schemas.microsoft.com/office/drawing/2014/main" id="{9E152F32-6C16-45C9-8793-4B5781315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驗證結果、回報限制、等待授權</a:t>
            </a:r>
          </a:p>
        </p:txBody>
      </p:sp>
      <p:sp>
        <p:nvSpPr>
          <p:cNvPr id="29" name="text-1167">
            <a:extLst xmlns:a="http://schemas.openxmlformats.org/drawingml/2006/main">
              <a:ext uri="{FF2B5EF4-FFF2-40B4-BE49-F238E27FC236}">
                <a16:creationId xmlns:a16="http://schemas.microsoft.com/office/drawing/2014/main" id="{AD9889B3-7B29-4B74-9DAE-8552231D0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17302325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168">
            <a:extLst xmlns:a="http://schemas.openxmlformats.org/drawingml/2006/main">
              <a:ext uri="{FF2B5EF4-FFF2-40B4-BE49-F238E27FC236}">
                <a16:creationId xmlns:a16="http://schemas.microsoft.com/office/drawing/2014/main" id="{3E0369C5-1CEA-4777-BF46-84A3E1F99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AGENT LOOP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37A2C94-3181-46E6-A029-D146C8535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 五步循環：完成，不是只產生</a:t>
            </a:r>
          </a:p>
        </p:txBody>
      </p:sp>
      <p:cxnSp>
        <p:nvCxnSpPr>
          <p:cNvPr id="38" name="shape-116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170">
            <a:extLst xmlns:a="http://schemas.openxmlformats.org/drawingml/2006/main">
              <a:ext uri="{FF2B5EF4-FFF2-40B4-BE49-F238E27FC236}">
                <a16:creationId xmlns:a16="http://schemas.microsoft.com/office/drawing/2014/main" id="{6713B08B-1C54-4DE8-9E86-95A816BFC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FC12C42-D93F-4825-BF91-A634C0822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08</a:t>
            </a:r>
          </a:p>
        </p:txBody>
      </p:sp>
      <p:sp>
        <p:nvSpPr>
          <p:cNvPr id="6" name="shape-1171">
            <a:extLst xmlns:a="http://schemas.openxmlformats.org/drawingml/2006/main">
              <a:ext uri="{FF2B5EF4-FFF2-40B4-BE49-F238E27FC236}">
                <a16:creationId xmlns:a16="http://schemas.microsoft.com/office/drawing/2014/main" id="{1A032AE6-E334-4BB7-8EC2-71A18EFA7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172">
            <a:extLst xmlns:a="http://schemas.openxmlformats.org/drawingml/2006/main">
              <a:ext uri="{FF2B5EF4-FFF2-40B4-BE49-F238E27FC236}">
                <a16:creationId xmlns:a16="http://schemas.microsoft.com/office/drawing/2014/main" id="{C993AE88-6E87-4A03-A581-A3536B2AB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173">
            <a:extLst xmlns:a="http://schemas.openxmlformats.org/drawingml/2006/main">
              <a:ext uri="{FF2B5EF4-FFF2-40B4-BE49-F238E27FC236}">
                <a16:creationId xmlns:a16="http://schemas.microsoft.com/office/drawing/2014/main" id="{6C45D6E1-0126-41E9-A14A-204256BDC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174">
            <a:extLst xmlns:a="http://schemas.openxmlformats.org/drawingml/2006/main">
              <a:ext uri="{FF2B5EF4-FFF2-40B4-BE49-F238E27FC236}">
                <a16:creationId xmlns:a16="http://schemas.microsoft.com/office/drawing/2014/main" id="{33D0C738-D14F-43F3-B68B-49FEDF517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理解</a:t>
            </a:r>
          </a:p>
        </p:txBody>
      </p:sp>
      <p:sp>
        <p:nvSpPr>
          <p:cNvPr id="10" name="text-1175">
            <a:extLst xmlns:a="http://schemas.openxmlformats.org/drawingml/2006/main">
              <a:ext uri="{FF2B5EF4-FFF2-40B4-BE49-F238E27FC236}">
                <a16:creationId xmlns:a16="http://schemas.microsoft.com/office/drawing/2014/main" id="{E08246B8-CE79-4291-9E19-F645B1AA6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確認目標與環境</a:t>
            </a:r>
          </a:p>
        </p:txBody>
      </p:sp>
      <p:sp>
        <p:nvSpPr>
          <p:cNvPr id="11" name="text-1176">
            <a:extLst xmlns:a="http://schemas.openxmlformats.org/drawingml/2006/main">
              <a:ext uri="{FF2B5EF4-FFF2-40B4-BE49-F238E27FC236}">
                <a16:creationId xmlns:a16="http://schemas.microsoft.com/office/drawing/2014/main" id="{9FAB96E1-5036-4E6C-BE28-2C9ABE5B5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177">
            <a:extLst xmlns:a="http://schemas.openxmlformats.org/drawingml/2006/main">
              <a:ext uri="{FF2B5EF4-FFF2-40B4-BE49-F238E27FC236}">
                <a16:creationId xmlns:a16="http://schemas.microsoft.com/office/drawing/2014/main" id="{DC86FF53-7BC7-432D-9F4B-24723502E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3" name="shape-1178">
            <a:extLst xmlns:a="http://schemas.openxmlformats.org/drawingml/2006/main">
              <a:ext uri="{FF2B5EF4-FFF2-40B4-BE49-F238E27FC236}">
                <a16:creationId xmlns:a16="http://schemas.microsoft.com/office/drawing/2014/main" id="{7CD45DE8-5B6C-45D9-BC4D-193D1F923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179">
            <a:extLst xmlns:a="http://schemas.openxmlformats.org/drawingml/2006/main">
              <a:ext uri="{FF2B5EF4-FFF2-40B4-BE49-F238E27FC236}">
                <a16:creationId xmlns:a16="http://schemas.microsoft.com/office/drawing/2014/main" id="{FC36290F-B1C4-4F02-A2DE-647C0C0F5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180">
            <a:extLst xmlns:a="http://schemas.openxmlformats.org/drawingml/2006/main">
              <a:ext uri="{FF2B5EF4-FFF2-40B4-BE49-F238E27FC236}">
                <a16:creationId xmlns:a16="http://schemas.microsoft.com/office/drawing/2014/main" id="{5781111B-7CE3-4363-9E7F-238093BE6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規劃</a:t>
            </a:r>
          </a:p>
        </p:txBody>
      </p:sp>
      <p:sp>
        <p:nvSpPr>
          <p:cNvPr id="16" name="text-1181">
            <a:extLst xmlns:a="http://schemas.openxmlformats.org/drawingml/2006/main">
              <a:ext uri="{FF2B5EF4-FFF2-40B4-BE49-F238E27FC236}">
                <a16:creationId xmlns:a16="http://schemas.microsoft.com/office/drawing/2014/main" id="{0EAA7BD4-AA77-46A7-BFD7-5A9FDBAB0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拆解步驟與風險</a:t>
            </a:r>
          </a:p>
        </p:txBody>
      </p:sp>
      <p:sp>
        <p:nvSpPr>
          <p:cNvPr id="17" name="text-1182">
            <a:extLst xmlns:a="http://schemas.openxmlformats.org/drawingml/2006/main">
              <a:ext uri="{FF2B5EF4-FFF2-40B4-BE49-F238E27FC236}">
                <a16:creationId xmlns:a16="http://schemas.microsoft.com/office/drawing/2014/main" id="{3E39E57F-7294-4A25-9C26-2164F882B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183">
            <a:extLst xmlns:a="http://schemas.openxmlformats.org/drawingml/2006/main">
              <a:ext uri="{FF2B5EF4-FFF2-40B4-BE49-F238E27FC236}">
                <a16:creationId xmlns:a16="http://schemas.microsoft.com/office/drawing/2014/main" id="{B1F35232-F092-4952-988C-193F0F1EA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shape-1184">
            <a:extLst xmlns:a="http://schemas.openxmlformats.org/drawingml/2006/main">
              <a:ext uri="{FF2B5EF4-FFF2-40B4-BE49-F238E27FC236}">
                <a16:creationId xmlns:a16="http://schemas.microsoft.com/office/drawing/2014/main" id="{6B0B49A4-9B9D-44AC-BE6D-43931EE2E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185">
            <a:extLst xmlns:a="http://schemas.openxmlformats.org/drawingml/2006/main">
              <a:ext uri="{FF2B5EF4-FFF2-40B4-BE49-F238E27FC236}">
                <a16:creationId xmlns:a16="http://schemas.microsoft.com/office/drawing/2014/main" id="{53A1B341-0C72-4E29-BD79-224ADD76A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186">
            <a:extLst xmlns:a="http://schemas.openxmlformats.org/drawingml/2006/main">
              <a:ext uri="{FF2B5EF4-FFF2-40B4-BE49-F238E27FC236}">
                <a16:creationId xmlns:a16="http://schemas.microsoft.com/office/drawing/2014/main" id="{5D52B2CF-2A07-4095-87E3-AA825D461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執行</a:t>
            </a:r>
          </a:p>
        </p:txBody>
      </p:sp>
      <p:sp>
        <p:nvSpPr>
          <p:cNvPr id="22" name="text-1187">
            <a:extLst xmlns:a="http://schemas.openxmlformats.org/drawingml/2006/main">
              <a:ext uri="{FF2B5EF4-FFF2-40B4-BE49-F238E27FC236}">
                <a16:creationId xmlns:a16="http://schemas.microsoft.com/office/drawing/2014/main" id="{FFBFADD7-AD76-4510-94F5-4B67B1C3E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讀檔、寫檔、使用工具</a:t>
            </a:r>
          </a:p>
        </p:txBody>
      </p:sp>
      <p:sp>
        <p:nvSpPr>
          <p:cNvPr id="23" name="text-1188">
            <a:extLst xmlns:a="http://schemas.openxmlformats.org/drawingml/2006/main">
              <a:ext uri="{FF2B5EF4-FFF2-40B4-BE49-F238E27FC236}">
                <a16:creationId xmlns:a16="http://schemas.microsoft.com/office/drawing/2014/main" id="{0016182C-2184-48FB-B53A-DAE1E7E88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189">
            <a:extLst xmlns:a="http://schemas.openxmlformats.org/drawingml/2006/main">
              <a:ext uri="{FF2B5EF4-FFF2-40B4-BE49-F238E27FC236}">
                <a16:creationId xmlns:a16="http://schemas.microsoft.com/office/drawing/2014/main" id="{EB680310-6F63-4BB0-BB43-A2D9E8FB7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5" name="shape-1190">
            <a:extLst xmlns:a="http://schemas.openxmlformats.org/drawingml/2006/main">
              <a:ext uri="{FF2B5EF4-FFF2-40B4-BE49-F238E27FC236}">
                <a16:creationId xmlns:a16="http://schemas.microsoft.com/office/drawing/2014/main" id="{A8DCFC2B-F0F3-4645-9582-E1C404F48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191">
            <a:extLst xmlns:a="http://schemas.openxmlformats.org/drawingml/2006/main">
              <a:ext uri="{FF2B5EF4-FFF2-40B4-BE49-F238E27FC236}">
                <a16:creationId xmlns:a16="http://schemas.microsoft.com/office/drawing/2014/main" id="{6AFD40A8-CC88-43BB-88ED-9C46E50FB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192">
            <a:extLst xmlns:a="http://schemas.openxmlformats.org/drawingml/2006/main">
              <a:ext uri="{FF2B5EF4-FFF2-40B4-BE49-F238E27FC236}">
                <a16:creationId xmlns:a16="http://schemas.microsoft.com/office/drawing/2014/main" id="{46A48B2A-A390-4E65-9493-C2F6D8C9D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驗證</a:t>
            </a:r>
          </a:p>
        </p:txBody>
      </p:sp>
      <p:sp>
        <p:nvSpPr>
          <p:cNvPr id="28" name="text-1193">
            <a:extLst xmlns:a="http://schemas.openxmlformats.org/drawingml/2006/main">
              <a:ext uri="{FF2B5EF4-FFF2-40B4-BE49-F238E27FC236}">
                <a16:creationId xmlns:a16="http://schemas.microsoft.com/office/drawing/2014/main" id="{F12D597C-D62A-46BD-9D55-973850CE4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測試、畫面、差異</a:t>
            </a:r>
          </a:p>
        </p:txBody>
      </p:sp>
      <p:sp>
        <p:nvSpPr>
          <p:cNvPr id="29" name="text-1194">
            <a:extLst xmlns:a="http://schemas.openxmlformats.org/drawingml/2006/main">
              <a:ext uri="{FF2B5EF4-FFF2-40B4-BE49-F238E27FC236}">
                <a16:creationId xmlns:a16="http://schemas.microsoft.com/office/drawing/2014/main" id="{7D8A6D44-25CA-4CF9-8117-7DDB39D31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195">
            <a:extLst xmlns:a="http://schemas.openxmlformats.org/drawingml/2006/main">
              <a:ext uri="{FF2B5EF4-FFF2-40B4-BE49-F238E27FC236}">
                <a16:creationId xmlns:a16="http://schemas.microsoft.com/office/drawing/2014/main" id="{86A26591-5414-49C0-A89F-EC65CD45B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31" name="shape-1196">
            <a:extLst xmlns:a="http://schemas.openxmlformats.org/drawingml/2006/main">
              <a:ext uri="{FF2B5EF4-FFF2-40B4-BE49-F238E27FC236}">
                <a16:creationId xmlns:a16="http://schemas.microsoft.com/office/drawing/2014/main" id="{921564A3-75D2-4E5F-B08F-61B44936D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197">
            <a:extLst xmlns:a="http://schemas.openxmlformats.org/drawingml/2006/main">
              <a:ext uri="{FF2B5EF4-FFF2-40B4-BE49-F238E27FC236}">
                <a16:creationId xmlns:a16="http://schemas.microsoft.com/office/drawing/2014/main" id="{8111F0EE-EA15-46CC-BBD3-E70C06BC1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198">
            <a:extLst xmlns:a="http://schemas.openxmlformats.org/drawingml/2006/main">
              <a:ext uri="{FF2B5EF4-FFF2-40B4-BE49-F238E27FC236}">
                <a16:creationId xmlns:a16="http://schemas.microsoft.com/office/drawing/2014/main" id="{2C899517-2F2B-44E8-B859-86602936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交付</a:t>
            </a:r>
          </a:p>
        </p:txBody>
      </p:sp>
      <p:sp>
        <p:nvSpPr>
          <p:cNvPr id="34" name="text-1199">
            <a:extLst xmlns:a="http://schemas.openxmlformats.org/drawingml/2006/main">
              <a:ext uri="{FF2B5EF4-FFF2-40B4-BE49-F238E27FC236}">
                <a16:creationId xmlns:a16="http://schemas.microsoft.com/office/drawing/2014/main" id="{B6AFDAD6-91C6-4E14-B238-C999CDE11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成果、限制、下一步</a:t>
            </a:r>
          </a:p>
        </p:txBody>
      </p:sp>
      <p:sp>
        <p:nvSpPr>
          <p:cNvPr id="35" name="text-1200">
            <a:extLst xmlns:a="http://schemas.openxmlformats.org/drawingml/2006/main">
              <a:ext uri="{FF2B5EF4-FFF2-40B4-BE49-F238E27FC236}">
                <a16:creationId xmlns:a16="http://schemas.microsoft.com/office/drawing/2014/main" id="{B7B83131-C72E-4413-935B-5BFE11100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77142358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201">
            <a:extLst xmlns:a="http://schemas.openxmlformats.org/drawingml/2006/main">
              <a:ext uri="{FF2B5EF4-FFF2-40B4-BE49-F238E27FC236}">
                <a16:creationId xmlns:a16="http://schemas.microsoft.com/office/drawing/2014/main" id="{5DB5D3A0-A47C-4B5B-8BF9-AAD154080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WHY AGENTS NOW · OPENCLAW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2F4FCE6-041F-4D2E-B324-B42BC8A92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為什麼 Agent 會紅起來？從 OpenClaw 看見「長了手腳」</a:t>
            </a:r>
          </a:p>
        </p:txBody>
      </p:sp>
      <p:cxnSp>
        <p:nvCxnSpPr>
          <p:cNvPr id="30" name="shape-120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203">
            <a:extLst xmlns:a="http://schemas.openxmlformats.org/drawingml/2006/main">
              <a:ext uri="{FF2B5EF4-FFF2-40B4-BE49-F238E27FC236}">
                <a16:creationId xmlns:a16="http://schemas.microsoft.com/office/drawing/2014/main" id="{8E629E96-AEBE-4E48-B582-BC86B750E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7601AAC-EA08-4CFC-9133-9AA9A3AC7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09</a:t>
            </a:r>
          </a:p>
        </p:txBody>
      </p:sp>
      <p:sp>
        <p:nvSpPr>
          <p:cNvPr id="6" name="shape-1204">
            <a:extLst xmlns:a="http://schemas.openxmlformats.org/drawingml/2006/main">
              <a:ext uri="{FF2B5EF4-FFF2-40B4-BE49-F238E27FC236}">
                <a16:creationId xmlns:a16="http://schemas.microsoft.com/office/drawing/2014/main" id="{B4C440B8-2347-4AF2-8340-4676088BA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205">
            <a:extLst xmlns:a="http://schemas.openxmlformats.org/drawingml/2006/main">
              <a:ext uri="{FF2B5EF4-FFF2-40B4-BE49-F238E27FC236}">
                <a16:creationId xmlns:a16="http://schemas.microsoft.com/office/drawing/2014/main" id="{ACACD549-F295-4DBF-8356-A4B0E9C4E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206">
            <a:extLst xmlns:a="http://schemas.openxmlformats.org/drawingml/2006/main">
              <a:ext uri="{FF2B5EF4-FFF2-40B4-BE49-F238E27FC236}">
                <a16:creationId xmlns:a16="http://schemas.microsoft.com/office/drawing/2014/main" id="{61249D99-8811-4CC3-9516-D0BA4C4AF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聊天機器人的邊界</a:t>
            </a:r>
          </a:p>
        </p:txBody>
      </p:sp>
      <p:sp>
        <p:nvSpPr>
          <p:cNvPr id="9" name="text-1207">
            <a:extLst xmlns:a="http://schemas.openxmlformats.org/drawingml/2006/main">
              <a:ext uri="{FF2B5EF4-FFF2-40B4-BE49-F238E27FC236}">
                <a16:creationId xmlns:a16="http://schemas.microsoft.com/office/drawing/2014/main" id="{2A2A6C5A-F08F-4179-8DAF-0E0E6F5CD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原本以為 AI 只會回答、摘要與生成文字；Agent 開始接手的是「做事」。</a:t>
            </a:r>
          </a:p>
        </p:txBody>
      </p:sp>
      <p:sp>
        <p:nvSpPr>
          <p:cNvPr id="10" name="shape-1208">
            <a:extLst xmlns:a="http://schemas.openxmlformats.org/drawingml/2006/main">
              <a:ext uri="{FF2B5EF4-FFF2-40B4-BE49-F238E27FC236}">
                <a16:creationId xmlns:a16="http://schemas.microsoft.com/office/drawing/2014/main" id="{07B7A608-DF99-4A4C-9552-BAFAA15AA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209">
            <a:extLst xmlns:a="http://schemas.openxmlformats.org/drawingml/2006/main">
              <a:ext uri="{FF2B5EF4-FFF2-40B4-BE49-F238E27FC236}">
                <a16:creationId xmlns:a16="http://schemas.microsoft.com/office/drawing/2014/main" id="{18E4E505-01EE-41CE-A578-E34744DF7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210">
            <a:extLst xmlns:a="http://schemas.openxmlformats.org/drawingml/2006/main">
              <a:ext uri="{FF2B5EF4-FFF2-40B4-BE49-F238E27FC236}">
                <a16:creationId xmlns:a16="http://schemas.microsoft.com/office/drawing/2014/main" id="{3C6C18B8-82B1-46EC-A876-84E867555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OpenClaw 的觸發</a:t>
            </a:r>
          </a:p>
        </p:txBody>
      </p:sp>
      <p:sp>
        <p:nvSpPr>
          <p:cNvPr id="13" name="text-1211">
            <a:extLst xmlns:a="http://schemas.openxmlformats.org/drawingml/2006/main">
              <a:ext uri="{FF2B5EF4-FFF2-40B4-BE49-F238E27FC236}">
                <a16:creationId xmlns:a16="http://schemas.microsoft.com/office/drawing/2014/main" id="{C73377CD-C72B-4996-9231-B04279388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2026 年初 OpenClaw（小龍蝦）受到高度關注，讓更多人直觀看到模型可以連到裝置、工具與訊息渠道。</a:t>
            </a:r>
          </a:p>
        </p:txBody>
      </p:sp>
      <p:sp>
        <p:nvSpPr>
          <p:cNvPr id="14" name="shape-1212">
            <a:extLst xmlns:a="http://schemas.openxmlformats.org/drawingml/2006/main">
              <a:ext uri="{FF2B5EF4-FFF2-40B4-BE49-F238E27FC236}">
                <a16:creationId xmlns:a16="http://schemas.microsoft.com/office/drawing/2014/main" id="{DFBD2079-4F26-4269-93BE-AFF4C51E5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213">
            <a:extLst xmlns:a="http://schemas.openxmlformats.org/drawingml/2006/main">
              <a:ext uri="{FF2B5EF4-FFF2-40B4-BE49-F238E27FC236}">
                <a16:creationId xmlns:a16="http://schemas.microsoft.com/office/drawing/2014/main" id="{21B3A224-2FBA-496E-A587-A5C4E486B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214">
            <a:extLst xmlns:a="http://schemas.openxmlformats.org/drawingml/2006/main">
              <a:ext uri="{FF2B5EF4-FFF2-40B4-BE49-F238E27FC236}">
                <a16:creationId xmlns:a16="http://schemas.microsoft.com/office/drawing/2014/main" id="{27A56118-E6FD-4FB4-9AB0-961C275B1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手腳是工具鏈</a:t>
            </a:r>
          </a:p>
        </p:txBody>
      </p:sp>
      <p:sp>
        <p:nvSpPr>
          <p:cNvPr id="17" name="text-1215">
            <a:extLst xmlns:a="http://schemas.openxmlformats.org/drawingml/2006/main">
              <a:ext uri="{FF2B5EF4-FFF2-40B4-BE49-F238E27FC236}">
                <a16:creationId xmlns:a16="http://schemas.microsoft.com/office/drawing/2014/main" id="{E4C72A58-F4E2-4763-BB04-C0BE4A7AD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透過 MCP、CLI、瀏覽器、檔案與主機工具，Agent 能讀取環境、呼叫軟體、執行命令並回報結果。</a:t>
            </a:r>
          </a:p>
        </p:txBody>
      </p:sp>
      <p:sp>
        <p:nvSpPr>
          <p:cNvPr id="18" name="shape-1216">
            <a:extLst xmlns:a="http://schemas.openxmlformats.org/drawingml/2006/main">
              <a:ext uri="{FF2B5EF4-FFF2-40B4-BE49-F238E27FC236}">
                <a16:creationId xmlns:a16="http://schemas.microsoft.com/office/drawing/2014/main" id="{6DE0ED7A-95F3-4E2D-A88A-C326D1AD9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217">
            <a:extLst xmlns:a="http://schemas.openxmlformats.org/drawingml/2006/main">
              <a:ext uri="{FF2B5EF4-FFF2-40B4-BE49-F238E27FC236}">
                <a16:creationId xmlns:a16="http://schemas.microsoft.com/office/drawing/2014/main" id="{12E4F7AD-A401-497F-A1AD-2012BD44F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218">
            <a:extLst xmlns:a="http://schemas.openxmlformats.org/drawingml/2006/main">
              <a:ext uri="{FF2B5EF4-FFF2-40B4-BE49-F238E27FC236}">
                <a16:creationId xmlns:a16="http://schemas.microsoft.com/office/drawing/2014/main" id="{B30EB3BE-479D-45BF-86B8-033E90367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產業共同轉向</a:t>
            </a:r>
          </a:p>
        </p:txBody>
      </p:sp>
      <p:sp>
        <p:nvSpPr>
          <p:cNvPr id="21" name="text-1219">
            <a:extLst xmlns:a="http://schemas.openxmlformats.org/drawingml/2006/main">
              <a:ext uri="{FF2B5EF4-FFF2-40B4-BE49-F238E27FC236}">
                <a16:creationId xmlns:a16="http://schemas.microsoft.com/office/drawing/2014/main" id="{6521A2F2-DA7F-4147-90A5-A6B6C5AE1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OpenAI、Anthropic、Google 都把工具呼叫、電腦使用與 Agent 工作流推到前線；OpenClaw 讓這條路變得具體可感。</a:t>
            </a:r>
          </a:p>
        </p:txBody>
      </p:sp>
      <p:sp>
        <p:nvSpPr>
          <p:cNvPr id="22" name="text-2250">
            <a:extLst xmlns:a="http://schemas.openxmlformats.org/drawingml/2006/main">
              <a:ext uri="{FF2B5EF4-FFF2-40B4-BE49-F238E27FC236}">
                <a16:creationId xmlns:a16="http://schemas.microsoft.com/office/drawing/2014/main" id="{443BBE89-67CF-45AF-98DC-99DA7930E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716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121a8819fab4a32"/>
              </a:rPr>
              <a:t>OpenClaw 官方網站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e492f2f81f44bfa"/>
              </a:rPr>
              <a:t>OpenClaw GitHub ↗</a:t>
            </a:r>
          </a:p>
        </p:txBody>
      </p:sp>
      <p:sp>
        <p:nvSpPr>
          <p:cNvPr id="23" name="shape-2296">
            <a:extLst xmlns:a="http://schemas.openxmlformats.org/drawingml/2006/main">
              <a:ext uri="{FF2B5EF4-FFF2-40B4-BE49-F238E27FC236}">
                <a16:creationId xmlns:a16="http://schemas.microsoft.com/office/drawing/2014/main" id="{8C9BCBE9-0628-4E65-9110-4B54F915D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a9417519aa4dd4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2297">
            <a:extLst xmlns:a="http://schemas.openxmlformats.org/drawingml/2006/main">
              <a:ext uri="{FF2B5EF4-FFF2-40B4-BE49-F238E27FC236}">
                <a16:creationId xmlns:a16="http://schemas.microsoft.com/office/drawing/2014/main" id="{1E4A8A12-43E6-40D4-9496-2D9135F49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OpenClaw 官方網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9ce395ec674ec3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2298">
            <a:extLst xmlns:a="http://schemas.openxmlformats.org/drawingml/2006/main">
              <a:ext uri="{FF2B5EF4-FFF2-40B4-BE49-F238E27FC236}">
                <a16:creationId xmlns:a16="http://schemas.microsoft.com/office/drawing/2014/main" id="{A4D95BE7-BF9F-4720-BB05-024C68BD0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OpenClaw Git</a:t>
            </a:r>
          </a:p>
        </p:txBody>
      </p:sp>
    </p:spTree>
    <p:extLst>
      <p:ext uri="{BB962C8B-B14F-4D97-AF65-F5344CB8AC3E}">
        <p14:creationId xmlns:p14="http://schemas.microsoft.com/office/powerpoint/2010/main" val="161977153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1220">
            <a:extLst xmlns:a="http://schemas.openxmlformats.org/drawingml/2006/main">
              <a:ext uri="{FF2B5EF4-FFF2-40B4-BE49-F238E27FC236}">
                <a16:creationId xmlns:a16="http://schemas.microsoft.com/office/drawing/2014/main" id="{53CE4883-601C-4692-BC7A-1E4592714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HUMAN-IN-THE-LOOP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B7A20C2-02BE-4813-ACC9-34C6737D0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Human-in-the-loop：人在 Agent 閉環裡做決策</a:t>
            </a:r>
          </a:p>
        </p:txBody>
      </p:sp>
      <p:cxnSp>
        <p:nvCxnSpPr>
          <p:cNvPr id="24" name="shape-122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222">
            <a:extLst xmlns:a="http://schemas.openxmlformats.org/drawingml/2006/main">
              <a:ext uri="{FF2B5EF4-FFF2-40B4-BE49-F238E27FC236}">
                <a16:creationId xmlns:a16="http://schemas.microsoft.com/office/drawing/2014/main" id="{62186701-5354-4732-A392-5E1587C7F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BCF87D0-9F24-41D7-AEE1-E5F3621B1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10</a:t>
            </a:r>
          </a:p>
        </p:txBody>
      </p:sp>
      <p:sp>
        <p:nvSpPr>
          <p:cNvPr id="6" name="shape-1223">
            <a:extLst xmlns:a="http://schemas.openxmlformats.org/drawingml/2006/main">
              <a:ext uri="{FF2B5EF4-FFF2-40B4-BE49-F238E27FC236}">
                <a16:creationId xmlns:a16="http://schemas.microsoft.com/office/drawing/2014/main" id="{8CF19613-DDAC-4811-8C58-86E5E7BB2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224">
            <a:extLst xmlns:a="http://schemas.openxmlformats.org/drawingml/2006/main">
              <a:ext uri="{FF2B5EF4-FFF2-40B4-BE49-F238E27FC236}">
                <a16:creationId xmlns:a16="http://schemas.microsoft.com/office/drawing/2014/main" id="{C7D1456D-E105-4FFB-81C5-91D71EA69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RUN</a:t>
            </a:r>
          </a:p>
        </p:txBody>
      </p:sp>
      <p:sp>
        <p:nvSpPr>
          <p:cNvPr id="8" name="text-1225">
            <a:extLst xmlns:a="http://schemas.openxmlformats.org/drawingml/2006/main">
              <a:ext uri="{FF2B5EF4-FFF2-40B4-BE49-F238E27FC236}">
                <a16:creationId xmlns:a16="http://schemas.microsoft.com/office/drawing/2014/main" id="{E40042DE-9212-4925-8154-E03CC10D8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 的閉環</a:t>
            </a:r>
          </a:p>
        </p:txBody>
      </p:sp>
      <p:sp>
        <p:nvSpPr>
          <p:cNvPr id="9" name="text-1226">
            <a:extLst xmlns:a="http://schemas.openxmlformats.org/drawingml/2006/main">
              <a:ext uri="{FF2B5EF4-FFF2-40B4-BE49-F238E27FC236}">
                <a16:creationId xmlns:a16="http://schemas.microsoft.com/office/drawing/2014/main" id="{331E5156-BB9D-4A3A-83F1-90C837022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給定目標後，Agent 可以理解、規劃、執行、驗證與交付，長時間不中斷地推進。</a:t>
            </a:r>
          </a:p>
        </p:txBody>
      </p:sp>
      <p:sp>
        <p:nvSpPr>
          <p:cNvPr id="10" name="shape-1227">
            <a:extLst xmlns:a="http://schemas.openxmlformats.org/drawingml/2006/main">
              <a:ext uri="{FF2B5EF4-FFF2-40B4-BE49-F238E27FC236}">
                <a16:creationId xmlns:a16="http://schemas.microsoft.com/office/drawing/2014/main" id="{29377DAB-A8F8-4402-A9DA-B202F93BB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228">
            <a:extLst xmlns:a="http://schemas.openxmlformats.org/drawingml/2006/main">
              <a:ext uri="{FF2B5EF4-FFF2-40B4-BE49-F238E27FC236}">
                <a16:creationId xmlns:a16="http://schemas.microsoft.com/office/drawing/2014/main" id="{4927E4BE-BBB6-45F6-A00C-FA091A552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15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LOOK</a:t>
            </a:r>
          </a:p>
        </p:txBody>
      </p:sp>
      <p:sp>
        <p:nvSpPr>
          <p:cNvPr id="12" name="text-1229">
            <a:extLst xmlns:a="http://schemas.openxmlformats.org/drawingml/2006/main">
              <a:ext uri="{FF2B5EF4-FFF2-40B4-BE49-F238E27FC236}">
                <a16:creationId xmlns:a16="http://schemas.microsoft.com/office/drawing/2014/main" id="{64781EB3-4F40-4C73-87BC-58CC84AB0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人監控方向</a:t>
            </a:r>
          </a:p>
        </p:txBody>
      </p:sp>
      <p:sp>
        <p:nvSpPr>
          <p:cNvPr id="13" name="text-1230">
            <a:extLst xmlns:a="http://schemas.openxmlformats.org/drawingml/2006/main">
              <a:ext uri="{FF2B5EF4-FFF2-40B4-BE49-F238E27FC236}">
                <a16:creationId xmlns:a16="http://schemas.microsoft.com/office/drawing/2014/main" id="{6E56C7A2-0269-4DD7-BD01-31012155A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人仍在 loop 裡看計畫、看證據，確認 Agent 沒有做錯、做歪或偏離真正目的。</a:t>
            </a:r>
          </a:p>
        </p:txBody>
      </p:sp>
      <p:sp>
        <p:nvSpPr>
          <p:cNvPr id="14" name="shape-1231">
            <a:extLst xmlns:a="http://schemas.openxmlformats.org/drawingml/2006/main">
              <a:ext uri="{FF2B5EF4-FFF2-40B4-BE49-F238E27FC236}">
                <a16:creationId xmlns:a16="http://schemas.microsoft.com/office/drawing/2014/main" id="{03B5CE9A-25DE-419B-BECA-F21967396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232">
            <a:extLst xmlns:a="http://schemas.openxmlformats.org/drawingml/2006/main">
              <a:ext uri="{FF2B5EF4-FFF2-40B4-BE49-F238E27FC236}">
                <a16:creationId xmlns:a16="http://schemas.microsoft.com/office/drawing/2014/main" id="{1FC52A3C-0524-4278-9238-4B38304AD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STOP</a:t>
            </a:r>
          </a:p>
        </p:txBody>
      </p:sp>
      <p:sp>
        <p:nvSpPr>
          <p:cNvPr id="16" name="text-1233">
            <a:extLst xmlns:a="http://schemas.openxmlformats.org/drawingml/2006/main">
              <a:ext uri="{FF2B5EF4-FFF2-40B4-BE49-F238E27FC236}">
                <a16:creationId xmlns:a16="http://schemas.microsoft.com/office/drawing/2014/main" id="{12047BB8-892A-4C4E-A77E-71C75F6B8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關鍵節點停下</a:t>
            </a:r>
          </a:p>
        </p:txBody>
      </p:sp>
      <p:sp>
        <p:nvSpPr>
          <p:cNvPr id="17" name="text-1234">
            <a:extLst xmlns:a="http://schemas.openxmlformats.org/drawingml/2006/main">
              <a:ext uri="{FF2B5EF4-FFF2-40B4-BE49-F238E27FC236}">
                <a16:creationId xmlns:a16="http://schemas.microsoft.com/office/drawing/2014/main" id="{08A627A1-6466-4755-BD5B-FB6D4714D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遇到刪除、公開、上傳、敏感資料或高影響決策，必須停下來請人確認。</a:t>
            </a:r>
          </a:p>
        </p:txBody>
      </p:sp>
      <p:sp>
        <p:nvSpPr>
          <p:cNvPr id="18" name="shape-1235">
            <a:extLst xmlns:a="http://schemas.openxmlformats.org/drawingml/2006/main">
              <a:ext uri="{FF2B5EF4-FFF2-40B4-BE49-F238E27FC236}">
                <a16:creationId xmlns:a16="http://schemas.microsoft.com/office/drawing/2014/main" id="{A4DC762E-DBED-45C0-924F-81BA63FEC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236">
            <a:extLst xmlns:a="http://schemas.openxmlformats.org/drawingml/2006/main">
              <a:ext uri="{FF2B5EF4-FFF2-40B4-BE49-F238E27FC236}">
                <a16:creationId xmlns:a16="http://schemas.microsoft.com/office/drawing/2014/main" id="{97ABFF2C-C32D-4F24-B4B1-854E3D654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368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TRUST</a:t>
            </a:r>
          </a:p>
        </p:txBody>
      </p:sp>
      <p:sp>
        <p:nvSpPr>
          <p:cNvPr id="20" name="text-1237">
            <a:extLst xmlns:a="http://schemas.openxmlformats.org/drawingml/2006/main">
              <a:ext uri="{FF2B5EF4-FFF2-40B4-BE49-F238E27FC236}">
                <a16:creationId xmlns:a16="http://schemas.microsoft.com/office/drawing/2014/main" id="{C58EF12C-D0C5-4A78-8BAD-CB39BCAE6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慢一點更可信</a:t>
            </a:r>
          </a:p>
        </p:txBody>
      </p:sp>
      <p:sp>
        <p:nvSpPr>
          <p:cNvPr id="21" name="text-1238">
            <a:extLst xmlns:a="http://schemas.openxmlformats.org/drawingml/2006/main">
              <a:ext uri="{FF2B5EF4-FFF2-40B4-BE49-F238E27FC236}">
                <a16:creationId xmlns:a16="http://schemas.microsoft.com/office/drawing/2014/main" id="{DC177837-E853-4122-BD67-7E6CA06EB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人類介入可能降低純自動化速度，卻能換取正確性、可追查性與責任清楚。</a:t>
            </a:r>
          </a:p>
        </p:txBody>
      </p:sp>
    </p:spTree>
    <p:extLst>
      <p:ext uri="{BB962C8B-B14F-4D97-AF65-F5344CB8AC3E}">
        <p14:creationId xmlns:p14="http://schemas.microsoft.com/office/powerpoint/2010/main" val="127876761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1239">
            <a:extLst xmlns:a="http://schemas.openxmlformats.org/drawingml/2006/main">
              <a:ext uri="{FF2B5EF4-FFF2-40B4-BE49-F238E27FC236}">
                <a16:creationId xmlns:a16="http://schemas.microsoft.com/office/drawing/2014/main" id="{B3A24F4E-8F29-42FE-9C5C-DE3E4E9DE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AGENT PERSONALITY &amp; STRATEGY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4C60316-BD67-40AE-A33A-47925765D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三大 Agent 的人生交往學：看個性、選伴侶、配任務</a:t>
            </a:r>
          </a:p>
        </p:txBody>
      </p:sp>
      <p:cxnSp>
        <p:nvCxnSpPr>
          <p:cNvPr id="31" name="shape-124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241">
            <a:extLst xmlns:a="http://schemas.openxmlformats.org/drawingml/2006/main">
              <a:ext uri="{FF2B5EF4-FFF2-40B4-BE49-F238E27FC236}">
                <a16:creationId xmlns:a16="http://schemas.microsoft.com/office/drawing/2014/main" id="{4942E8AA-2D96-4EAD-BEC5-64098FDFD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CBD182D-D8F5-4FC4-AD09-E4BB2C492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11</a:t>
            </a:r>
          </a:p>
        </p:txBody>
      </p:sp>
      <p:sp>
        <p:nvSpPr>
          <p:cNvPr id="6" name="shape-1242">
            <a:extLst xmlns:a="http://schemas.openxmlformats.org/drawingml/2006/main">
              <a:ext uri="{FF2B5EF4-FFF2-40B4-BE49-F238E27FC236}">
                <a16:creationId xmlns:a16="http://schemas.microsoft.com/office/drawing/2014/main" id="{619D55AE-73F7-4128-BCDB-72F0D9EC4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94100" cy="426720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243">
            <a:extLst xmlns:a="http://schemas.openxmlformats.org/drawingml/2006/main">
              <a:ext uri="{FF2B5EF4-FFF2-40B4-BE49-F238E27FC236}">
                <a16:creationId xmlns:a16="http://schemas.microsoft.com/office/drawing/2014/main" id="{A11DAA7C-C2EB-4A00-8CA4-ED7C6E295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85950"/>
            <a:ext cx="31750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244">
            <a:extLst xmlns:a="http://schemas.openxmlformats.org/drawingml/2006/main">
              <a:ext uri="{FF2B5EF4-FFF2-40B4-BE49-F238E27FC236}">
                <a16:creationId xmlns:a16="http://schemas.microsoft.com/office/drawing/2014/main" id="{DA914250-0825-4E58-B147-30FDCFF89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G</a:t>
            </a:r>
          </a:p>
        </p:txBody>
      </p:sp>
      <p:sp>
        <p:nvSpPr>
          <p:cNvPr id="9" name="text-1245">
            <a:extLst xmlns:a="http://schemas.openxmlformats.org/drawingml/2006/main">
              <a:ext uri="{FF2B5EF4-FFF2-40B4-BE49-F238E27FC236}">
                <a16:creationId xmlns:a16="http://schemas.microsoft.com/office/drawing/2014/main" id="{0E3058DC-8EA6-41F8-A3D1-6F25FDD8B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317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57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Antigravity／Gemini 3.7 Flash</a:t>
            </a:r>
          </a:p>
        </p:txBody>
      </p:sp>
      <p:sp>
        <p:nvSpPr>
          <p:cNvPr id="10" name="text-1246">
            <a:extLst xmlns:a="http://schemas.openxmlformats.org/drawingml/2006/main">
              <a:ext uri="{FF2B5EF4-FFF2-40B4-BE49-F238E27FC236}">
                <a16:creationId xmlns:a16="http://schemas.microsoft.com/office/drawing/2014/main" id="{1D3ECFF1-31F7-47C5-89B0-ED49D9555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67100"/>
            <a:ext cx="31750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定位：Google 最新 GA 的 Agent 工作馬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個人體感：相較其他家 Agent，速度快 20 倍以上，像熱血年輕人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優勢：複雜 coding、工具規劃、長鏈任務與可靠多步驟執行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邊界：仍要設定 Harness、權限與驗收</a:t>
            </a:r>
          </a:p>
        </p:txBody>
      </p:sp>
      <p:sp>
        <p:nvSpPr>
          <p:cNvPr id="11" name="shape-1247">
            <a:extLst xmlns:a="http://schemas.openxmlformats.org/drawingml/2006/main">
              <a:ext uri="{FF2B5EF4-FFF2-40B4-BE49-F238E27FC236}">
                <a16:creationId xmlns:a16="http://schemas.microsoft.com/office/drawing/2014/main" id="{4320FFC1-592E-4412-B9F1-CFF9DA915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676400"/>
            <a:ext cx="3594100" cy="426720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2" name="shape-1248">
            <a:extLst xmlns:a="http://schemas.openxmlformats.org/drawingml/2006/main">
              <a:ext uri="{FF2B5EF4-FFF2-40B4-BE49-F238E27FC236}">
                <a16:creationId xmlns:a16="http://schemas.microsoft.com/office/drawing/2014/main" id="{57A2E45E-8DE9-4910-8477-6B42A4B3C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1885950"/>
            <a:ext cx="31750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1249">
            <a:extLst xmlns:a="http://schemas.openxmlformats.org/drawingml/2006/main">
              <a:ext uri="{FF2B5EF4-FFF2-40B4-BE49-F238E27FC236}">
                <a16:creationId xmlns:a16="http://schemas.microsoft.com/office/drawing/2014/main" id="{288DFD8F-98AA-4429-AEE1-C3988B90C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D9775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C</a:t>
            </a:r>
          </a:p>
        </p:txBody>
      </p:sp>
      <p:sp>
        <p:nvSpPr>
          <p:cNvPr id="14" name="text-1250">
            <a:extLst xmlns:a="http://schemas.openxmlformats.org/drawingml/2006/main">
              <a:ext uri="{FF2B5EF4-FFF2-40B4-BE49-F238E27FC236}">
                <a16:creationId xmlns:a16="http://schemas.microsoft.com/office/drawing/2014/main" id="{4EA43C12-29ED-4C96-866D-D122C28CF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705100"/>
            <a:ext cx="317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Claude</a:t>
            </a:r>
          </a:p>
        </p:txBody>
      </p:sp>
      <p:sp>
        <p:nvSpPr>
          <p:cNvPr id="15" name="text-1251">
            <a:extLst xmlns:a="http://schemas.openxmlformats.org/drawingml/2006/main">
              <a:ext uri="{FF2B5EF4-FFF2-40B4-BE49-F238E27FC236}">
                <a16:creationId xmlns:a16="http://schemas.microsoft.com/office/drawing/2014/main" id="{C6E29C49-6CCC-4FB5-833B-7F8BF3F8C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467100"/>
            <a:ext cx="31750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2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人設：成熟穩重的終身伴侶，進入細水長流的婚姻穩定期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優勢：極致沉穩可靠，代碼與長鏈任務完全不用擔心翻車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特性：少突發驚喜，Token 燒完必須耐心等每週週期重置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最適合：大型系統重構、複雜多檔分析、關鍵高難度任務</a:t>
            </a:r>
          </a:p>
        </p:txBody>
      </p:sp>
      <p:sp>
        <p:nvSpPr>
          <p:cNvPr id="16" name="shape-1252">
            <a:extLst xmlns:a="http://schemas.openxmlformats.org/drawingml/2006/main">
              <a:ext uri="{FF2B5EF4-FFF2-40B4-BE49-F238E27FC236}">
                <a16:creationId xmlns:a16="http://schemas.microsoft.com/office/drawing/2014/main" id="{8D9014AF-AF73-42D2-923B-46C8C2E45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676400"/>
            <a:ext cx="3594100" cy="426720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7" name="shape-1253">
            <a:extLst xmlns:a="http://schemas.openxmlformats.org/drawingml/2006/main">
              <a:ext uri="{FF2B5EF4-FFF2-40B4-BE49-F238E27FC236}">
                <a16:creationId xmlns:a16="http://schemas.microsoft.com/office/drawing/2014/main" id="{A13881FB-5F3F-41A6-A0C4-991731B5B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1885950"/>
            <a:ext cx="31750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-1254">
            <a:extLst xmlns:a="http://schemas.openxmlformats.org/drawingml/2006/main">
              <a:ext uri="{FF2B5EF4-FFF2-40B4-BE49-F238E27FC236}">
                <a16:creationId xmlns:a16="http://schemas.microsoft.com/office/drawing/2014/main" id="{401D72F2-73AB-4DF2-B17B-5E32DDBFE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X</a:t>
            </a:r>
          </a:p>
        </p:txBody>
      </p:sp>
      <p:sp>
        <p:nvSpPr>
          <p:cNvPr id="19" name="text-1255">
            <a:extLst xmlns:a="http://schemas.openxmlformats.org/drawingml/2006/main">
              <a:ext uri="{FF2B5EF4-FFF2-40B4-BE49-F238E27FC236}">
                <a16:creationId xmlns:a16="http://schemas.microsoft.com/office/drawing/2014/main" id="{65744101-6479-4797-946B-841A11B66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705100"/>
            <a:ext cx="317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Codex／ChatGPT</a:t>
            </a:r>
          </a:p>
        </p:txBody>
      </p:sp>
      <p:sp>
        <p:nvSpPr>
          <p:cNvPr id="20" name="text-1256">
            <a:extLst xmlns:a="http://schemas.openxmlformats.org/drawingml/2006/main">
              <a:ext uri="{FF2B5EF4-FFF2-40B4-BE49-F238E27FC236}">
                <a16:creationId xmlns:a16="http://schemas.microsoft.com/office/drawing/2014/main" id="{E91FB150-63E9-4531-A402-72336CC4C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467100"/>
            <a:ext cx="31750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60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人設：變化性最大、彈性極高的情人，可切換 1.5 倍速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優勢：支援原生語音流暢口述，要快要穩隨心所欲靈活切換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亮點：常有重置驚喜與 100% 回檔彈性，讓你隨時接關做下去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最適合：日常研究輔助、互動工具、語音實作、頻繁試錯</a:t>
            </a:r>
          </a:p>
        </p:txBody>
      </p:sp>
      <p:sp>
        <p:nvSpPr>
          <p:cNvPr id="21" name="text-2249">
            <a:extLst xmlns:a="http://schemas.openxmlformats.org/drawingml/2006/main">
              <a:ext uri="{FF2B5EF4-FFF2-40B4-BE49-F238E27FC236}">
                <a16:creationId xmlns:a16="http://schemas.microsoft.com/office/drawing/2014/main" id="{A416EBE1-0E37-490B-BB8A-3E240CCD8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5134f46e0fb46ee"/>
              </a:rPr>
              <a:t>Antigravity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16124279b8f4cdd"/>
              </a:rPr>
              <a:t>Codex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ba706cc34f54630"/>
              </a:rPr>
              <a:t>Claude ↗</a:t>
            </a:r>
          </a:p>
        </p:txBody>
      </p:sp>
      <p:sp>
        <p:nvSpPr>
          <p:cNvPr id="22" name="shape-2292">
            <a:extLst xmlns:a="http://schemas.openxmlformats.org/drawingml/2006/main">
              <a:ext uri="{FF2B5EF4-FFF2-40B4-BE49-F238E27FC236}">
                <a16:creationId xmlns:a16="http://schemas.microsoft.com/office/drawing/2014/main" id="{F480A2CE-05EB-47BE-827B-7B01A3855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0a9590a67c4b88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4" name="text-2293">
            <a:extLst xmlns:a="http://schemas.openxmlformats.org/drawingml/2006/main">
              <a:ext uri="{FF2B5EF4-FFF2-40B4-BE49-F238E27FC236}">
                <a16:creationId xmlns:a16="http://schemas.microsoft.com/office/drawing/2014/main" id="{04D56296-518B-433C-83AE-B29479621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30de9ef4654736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6" name="text-2294">
            <a:extLst xmlns:a="http://schemas.openxmlformats.org/drawingml/2006/main">
              <a:ext uri="{FF2B5EF4-FFF2-40B4-BE49-F238E27FC236}">
                <a16:creationId xmlns:a16="http://schemas.microsoft.com/office/drawing/2014/main" id="{9BFA1663-5067-41D8-8B0D-F69852B22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968d5eca9e4e84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8" name="text-2295">
            <a:extLst xmlns:a="http://schemas.openxmlformats.org/drawingml/2006/main">
              <a:ext uri="{FF2B5EF4-FFF2-40B4-BE49-F238E27FC236}">
                <a16:creationId xmlns:a16="http://schemas.microsoft.com/office/drawing/2014/main" id="{6889FE80-7C9C-4505-BA26-FC81DADDD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Claude</a:t>
            </a:r>
          </a:p>
        </p:txBody>
      </p:sp>
    </p:spTree>
    <p:extLst>
      <p:ext uri="{BB962C8B-B14F-4D97-AF65-F5344CB8AC3E}">
        <p14:creationId xmlns:p14="http://schemas.microsoft.com/office/powerpoint/2010/main" val="48254883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1257">
            <a:extLst xmlns:a="http://schemas.openxmlformats.org/drawingml/2006/main">
              <a:ext uri="{FF2B5EF4-FFF2-40B4-BE49-F238E27FC236}">
                <a16:creationId xmlns:a16="http://schemas.microsoft.com/office/drawing/2014/main" id="{907D03F2-1FAD-429C-A5D8-5A39A777B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CONTINUITY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A9CE45A-956D-454D-848F-FBB7A2AC6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下午不重做：直接升級上午成果</a:t>
            </a:r>
          </a:p>
        </p:txBody>
      </p:sp>
      <p:cxnSp>
        <p:nvCxnSpPr>
          <p:cNvPr id="20" name="shape-125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259">
            <a:extLst xmlns:a="http://schemas.openxmlformats.org/drawingml/2006/main">
              <a:ext uri="{FF2B5EF4-FFF2-40B4-BE49-F238E27FC236}">
                <a16:creationId xmlns:a16="http://schemas.microsoft.com/office/drawing/2014/main" id="{F4F1610A-9A7D-4D53-B914-76FF21228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5D98971-3863-4A02-B5A7-1089FEA88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12</a:t>
            </a:r>
          </a:p>
        </p:txBody>
      </p:sp>
      <p:sp>
        <p:nvSpPr>
          <p:cNvPr id="6" name="shape-1260">
            <a:extLst xmlns:a="http://schemas.openxmlformats.org/drawingml/2006/main">
              <a:ext uri="{FF2B5EF4-FFF2-40B4-BE49-F238E27FC236}">
                <a16:creationId xmlns:a16="http://schemas.microsoft.com/office/drawing/2014/main" id="{10FEACFC-D46B-4941-95BB-284CAE247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261">
            <a:extLst xmlns:a="http://schemas.openxmlformats.org/drawingml/2006/main">
              <a:ext uri="{FF2B5EF4-FFF2-40B4-BE49-F238E27FC236}">
                <a16:creationId xmlns:a16="http://schemas.microsoft.com/office/drawing/2014/main" id="{B3AF4308-0615-445D-9F13-E6BC9A6AC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8" name="text-1262">
            <a:extLst xmlns:a="http://schemas.openxmlformats.org/drawingml/2006/main">
              <a:ext uri="{FF2B5EF4-FFF2-40B4-BE49-F238E27FC236}">
                <a16:creationId xmlns:a16="http://schemas.microsoft.com/office/drawing/2014/main" id="{A4C105A2-1D45-43ED-B063-0B353161E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上午已有</a:t>
            </a:r>
          </a:p>
        </p:txBody>
      </p:sp>
      <p:sp>
        <p:nvSpPr>
          <p:cNvPr id="9" name="text-1263">
            <a:extLst xmlns:a="http://schemas.openxmlformats.org/drawingml/2006/main">
              <a:ext uri="{FF2B5EF4-FFF2-40B4-BE49-F238E27FC236}">
                <a16:creationId xmlns:a16="http://schemas.microsoft.com/office/drawing/2014/main" id="{988CA1A9-56D8-4D8A-A963-8DED059B6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Gemini Notebook 來源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Gem 教學方法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Canvas 互動原型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部署或分享連結</a:t>
            </a:r>
          </a:p>
        </p:txBody>
      </p:sp>
      <p:sp>
        <p:nvSpPr>
          <p:cNvPr id="10" name="text-1264">
            <a:extLst xmlns:a="http://schemas.openxmlformats.org/drawingml/2006/main">
              <a:ext uri="{FF2B5EF4-FFF2-40B4-BE49-F238E27FC236}">
                <a16:creationId xmlns:a16="http://schemas.microsoft.com/office/drawing/2014/main" id="{C0FC1352-8697-4244-933D-8F990A4E3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下午新增</a:t>
            </a:r>
          </a:p>
        </p:txBody>
      </p:sp>
      <p:sp>
        <p:nvSpPr>
          <p:cNvPr id="11" name="text-1265">
            <a:extLst xmlns:a="http://schemas.openxmlformats.org/drawingml/2006/main">
              <a:ext uri="{FF2B5EF4-FFF2-40B4-BE49-F238E27FC236}">
                <a16:creationId xmlns:a16="http://schemas.microsoft.com/office/drawing/2014/main" id="{C7C72D7C-E061-425E-924A-45DF89E9E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專案資料夾與任務簡報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 修改與測試證據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可重複使用的 Skill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跨工具驗證紀錄</a:t>
            </a:r>
          </a:p>
        </p:txBody>
      </p:sp>
      <p:sp>
        <p:nvSpPr>
          <p:cNvPr id="12" name="text-1266">
            <a:extLst xmlns:a="http://schemas.openxmlformats.org/drawingml/2006/main">
              <a:ext uri="{FF2B5EF4-FFF2-40B4-BE49-F238E27FC236}">
                <a16:creationId xmlns:a16="http://schemas.microsoft.com/office/drawing/2014/main" id="{66C052D6-ECC8-4B44-A15F-B8F22CA22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上午成果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來源、Gem、Canvas、連結</a:t>
            </a:r>
          </a:p>
        </p:txBody>
      </p:sp>
      <p:sp>
        <p:nvSpPr>
          <p:cNvPr id="13" name="text-1267">
            <a:extLst xmlns:a="http://schemas.openxmlformats.org/drawingml/2006/main">
              <a:ext uri="{FF2B5EF4-FFF2-40B4-BE49-F238E27FC236}">
                <a16:creationId xmlns:a16="http://schemas.microsoft.com/office/drawing/2014/main" id="{3E4720FE-093B-4898-8B00-1CC85582C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同一個問題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繼續往下做</a:t>
            </a:r>
          </a:p>
        </p:txBody>
      </p:sp>
      <p:sp>
        <p:nvSpPr>
          <p:cNvPr id="14" name="text-1268">
            <a:extLst xmlns:a="http://schemas.openxmlformats.org/drawingml/2006/main">
              <a:ext uri="{FF2B5EF4-FFF2-40B4-BE49-F238E27FC236}">
                <a16:creationId xmlns:a16="http://schemas.microsoft.com/office/drawing/2014/main" id="{468E5930-9E19-420D-8547-18B3CAB0D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EECE7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下午升級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任務、Skill、證據、驗證</a:t>
            </a:r>
          </a:p>
        </p:txBody>
      </p:sp>
      <p:cxnSp>
        <p:nvCxnSpPr>
          <p:cNvPr id="32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3181350" y="5181600"/>
            <a:ext cx="17240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B64DA"/>
            </a:solidFill>
            <a:prstDash val="solid"/>
            <a:tailEnd type="arrow" w="sm" len="sm"/>
          </a:ln>
        </p:spPr>
      </p:cxnSp>
      <p:cxnSp>
        <p:nvCxnSpPr>
          <p:cNvPr id="33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286625" y="5181600"/>
            <a:ext cx="17240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6B4A"/>
            </a:solidFill>
            <a:prstDash val="solid"/>
            <a:tailEnd type="arrow" w="sm" len="sm"/>
          </a:ln>
        </p:spPr>
      </p:cxnSp>
      <p:sp>
        <p:nvSpPr>
          <p:cNvPr id="17" name="text-1269">
            <a:extLst xmlns:a="http://schemas.openxmlformats.org/drawingml/2006/main">
              <a:ext uri="{FF2B5EF4-FFF2-40B4-BE49-F238E27FC236}">
                <a16:creationId xmlns:a16="http://schemas.microsoft.com/office/drawing/2014/main" id="{5D4EAC2C-E187-4E1D-9226-5E5ED9935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619750"/>
            <a:ext cx="598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不是重做，而是把作品變成可重複流程</a:t>
            </a:r>
          </a:p>
        </p:txBody>
      </p:sp>
    </p:spTree>
    <p:extLst>
      <p:ext uri="{BB962C8B-B14F-4D97-AF65-F5344CB8AC3E}">
        <p14:creationId xmlns:p14="http://schemas.microsoft.com/office/powerpoint/2010/main" val="192994976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1270">
            <a:extLst xmlns:a="http://schemas.openxmlformats.org/drawingml/2006/main">
              <a:ext uri="{FF2B5EF4-FFF2-40B4-BE49-F238E27FC236}">
                <a16:creationId xmlns:a16="http://schemas.microsoft.com/office/drawing/2014/main" id="{A1140DDF-A0CF-4BE7-80B5-C8B862EE0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1D37295-D2B3-4792-92AD-8A93E0383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阿凱老師實戰案例導航｜資料與 Agent Skills</a:t>
            </a:r>
          </a:p>
        </p:txBody>
      </p:sp>
      <p:cxnSp>
        <p:nvCxnSpPr>
          <p:cNvPr id="33" name="shape-127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272">
            <a:extLst xmlns:a="http://schemas.openxmlformats.org/drawingml/2006/main">
              <a:ext uri="{FF2B5EF4-FFF2-40B4-BE49-F238E27FC236}">
                <a16:creationId xmlns:a16="http://schemas.microsoft.com/office/drawing/2014/main" id="{4B307521-D03D-4E8F-8D51-F0ED443A2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07F17C1-5435-47E6-A147-6164507FB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13</a:t>
            </a:r>
          </a:p>
        </p:txBody>
      </p:sp>
      <p:sp>
        <p:nvSpPr>
          <p:cNvPr id="6" name="text-1273">
            <a:extLst xmlns:a="http://schemas.openxmlformats.org/drawingml/2006/main">
              <a:ext uri="{FF2B5EF4-FFF2-40B4-BE49-F238E27FC236}">
                <a16:creationId xmlns:a16="http://schemas.microsoft.com/office/drawing/2014/main" id="{3E9A577A-1CEA-4D59-9DCE-46DADD165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從學生表現分析、PIRLS 評量設計到 Web Agent 技能，觀察可驗證的工作流程。</a:t>
            </a:r>
          </a:p>
        </p:txBody>
      </p:sp>
      <p:sp>
        <p:nvSpPr>
          <p:cNvPr id="7" name="shape-1274">
            <a:extLst xmlns:a="http://schemas.openxmlformats.org/drawingml/2006/main">
              <a:ext uri="{FF2B5EF4-FFF2-40B4-BE49-F238E27FC236}">
                <a16:creationId xmlns:a16="http://schemas.microsoft.com/office/drawing/2014/main" id="{F409F78C-B2B3-4857-B25E-698F15B93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8" name="text-1275">
            <a:extLst xmlns:a="http://schemas.openxmlformats.org/drawingml/2006/main">
              <a:ext uri="{FF2B5EF4-FFF2-40B4-BE49-F238E27FC236}">
                <a16:creationId xmlns:a16="http://schemas.microsoft.com/office/drawing/2014/main" id="{63E3CB2C-A380-4358-80CC-0132343BF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#73 · 學生資料分析</a:t>
            </a:r>
          </a:p>
        </p:txBody>
      </p:sp>
      <p:sp>
        <p:nvSpPr>
          <p:cNvPr id="9" name="text-1276">
            <a:extLst xmlns:a="http://schemas.openxmlformats.org/drawingml/2006/main">
              <a:ext uri="{FF2B5EF4-FFF2-40B4-BE49-F238E27FC236}">
                <a16:creationId xmlns:a16="http://schemas.microsoft.com/office/drawing/2014/main" id="{2DCBD8CB-831E-43D1-966D-76B3DA7F3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國小期中考成績篩選工具</a:t>
            </a:r>
          </a:p>
        </p:txBody>
      </p:sp>
      <p:sp>
        <p:nvSpPr>
          <p:cNvPr id="10" name="text-1277">
            <a:extLst xmlns:a="http://schemas.openxmlformats.org/drawingml/2006/main">
              <a:ext uri="{FF2B5EF4-FFF2-40B4-BE49-F238E27FC236}">
                <a16:creationId xmlns:a16="http://schemas.microsoft.com/office/drawing/2014/main" id="{FD8982E1-67CA-4EFD-9D28-0168BEC33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快速查看成績分布與篩選結果，作為結構化學生資料分析的入門案例。</a:t>
            </a:r>
          </a:p>
        </p:txBody>
      </p:sp>
      <p:sp>
        <p:nvSpPr>
          <p:cNvPr id="11" name="text-1278">
            <a:extLst xmlns:a="http://schemas.openxmlformats.org/drawingml/2006/main">
              <a:ext uri="{FF2B5EF4-FFF2-40B4-BE49-F238E27FC236}">
                <a16:creationId xmlns:a16="http://schemas.microsoft.com/office/drawing/2014/main" id="{AB3B4EA8-557D-4092-8112-820C2F819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79f3260d26d4bff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62872f3714474a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1279">
            <a:extLst xmlns:a="http://schemas.openxmlformats.org/drawingml/2006/main">
              <a:ext uri="{FF2B5EF4-FFF2-40B4-BE49-F238E27FC236}">
                <a16:creationId xmlns:a16="http://schemas.microsoft.com/office/drawing/2014/main" id="{7274B761-1588-4DE4-8A48-D9D93B0AD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aea820b581345f8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72ea9b7ba349ad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1280">
            <a:extLst xmlns:a="http://schemas.openxmlformats.org/drawingml/2006/main">
              <a:ext uri="{FF2B5EF4-FFF2-40B4-BE49-F238E27FC236}">
                <a16:creationId xmlns:a16="http://schemas.microsoft.com/office/drawing/2014/main" id="{6D9BF68E-4B19-43DB-849E-FEDE7A3B1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6" name="text-1281">
            <a:extLst xmlns:a="http://schemas.openxmlformats.org/drawingml/2006/main">
              <a:ext uri="{FF2B5EF4-FFF2-40B4-BE49-F238E27FC236}">
                <a16:creationId xmlns:a16="http://schemas.microsoft.com/office/drawing/2014/main" id="{C3BAEEFF-EE1A-4961-B491-78D1D49E8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#87 · PIRLS 評量</a:t>
            </a:r>
          </a:p>
        </p:txBody>
      </p:sp>
      <p:sp>
        <p:nvSpPr>
          <p:cNvPr id="17" name="text-1282">
            <a:extLst xmlns:a="http://schemas.openxmlformats.org/drawingml/2006/main">
              <a:ext uri="{FF2B5EF4-FFF2-40B4-BE49-F238E27FC236}">
                <a16:creationId xmlns:a16="http://schemas.microsoft.com/office/drawing/2014/main" id="{E167C2CE-8695-4272-A54F-AD35C65E8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PIRLS 閱讀理解生成站 PRO</a:t>
            </a:r>
          </a:p>
        </p:txBody>
      </p:sp>
      <p:sp>
        <p:nvSpPr>
          <p:cNvPr id="18" name="text-1283">
            <a:extLst xmlns:a="http://schemas.openxmlformats.org/drawingml/2006/main">
              <a:ext uri="{FF2B5EF4-FFF2-40B4-BE49-F238E27FC236}">
                <a16:creationId xmlns:a16="http://schemas.microsoft.com/office/drawing/2014/main" id="{FD758EE7-C1A0-4780-9223-6807DB010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依四層次生成提問與答案說明，銜接評量設計、規準與人工檢核。</a:t>
            </a:r>
          </a:p>
        </p:txBody>
      </p:sp>
      <p:sp>
        <p:nvSpPr>
          <p:cNvPr id="19" name="text-1284">
            <a:extLst xmlns:a="http://schemas.openxmlformats.org/drawingml/2006/main">
              <a:ext uri="{FF2B5EF4-FFF2-40B4-BE49-F238E27FC236}">
                <a16:creationId xmlns:a16="http://schemas.microsoft.com/office/drawing/2014/main" id="{7533B1E2-BCAE-44B0-BF91-C2572B88B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b4292bb0e8e42df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585cfbcf1d4ea2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1285">
            <a:extLst xmlns:a="http://schemas.openxmlformats.org/drawingml/2006/main">
              <a:ext uri="{FF2B5EF4-FFF2-40B4-BE49-F238E27FC236}">
                <a16:creationId xmlns:a16="http://schemas.microsoft.com/office/drawing/2014/main" id="{971F130B-00CC-4A6C-B60B-50595834A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0ccfd869e894fe7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693f14a3dc4840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1286">
            <a:extLst xmlns:a="http://schemas.openxmlformats.org/drawingml/2006/main">
              <a:ext uri="{FF2B5EF4-FFF2-40B4-BE49-F238E27FC236}">
                <a16:creationId xmlns:a16="http://schemas.microsoft.com/office/drawing/2014/main" id="{E43F47FB-B577-470D-89FC-D51ECCB5D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4" name="text-1287">
            <a:extLst xmlns:a="http://schemas.openxmlformats.org/drawingml/2006/main">
              <a:ext uri="{FF2B5EF4-FFF2-40B4-BE49-F238E27FC236}">
                <a16:creationId xmlns:a16="http://schemas.microsoft.com/office/drawing/2014/main" id="{FF0245E1-05D3-48E7-996C-BA3206753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#103 · 提示詞與 Skill</a:t>
            </a:r>
          </a:p>
        </p:txBody>
      </p:sp>
      <p:sp>
        <p:nvSpPr>
          <p:cNvPr id="25" name="text-1288">
            <a:extLst xmlns:a="http://schemas.openxmlformats.org/drawingml/2006/main">
              <a:ext uri="{FF2B5EF4-FFF2-40B4-BE49-F238E27FC236}">
                <a16:creationId xmlns:a16="http://schemas.microsoft.com/office/drawing/2014/main" id="{E6234A6A-FA62-4623-8911-F6F2C1704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AI Agent 的 Web 技能雙引擎</a:t>
            </a:r>
          </a:p>
        </p:txBody>
      </p:sp>
      <p:sp>
        <p:nvSpPr>
          <p:cNvPr id="26" name="text-1289">
            <a:extLst xmlns:a="http://schemas.openxmlformats.org/drawingml/2006/main">
              <a:ext uri="{FF2B5EF4-FFF2-40B4-BE49-F238E27FC236}">
                <a16:creationId xmlns:a16="http://schemas.microsoft.com/office/drawing/2014/main" id="{54068BD5-8925-4716-BC3A-00CC9058A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用 Playwright × Webwright 解釋 Agent 如何規劃、操作並回報證據。</a:t>
            </a:r>
          </a:p>
        </p:txBody>
      </p:sp>
      <p:sp>
        <p:nvSpPr>
          <p:cNvPr id="27" name="text-1290">
            <a:extLst xmlns:a="http://schemas.openxmlformats.org/drawingml/2006/main">
              <a:ext uri="{FF2B5EF4-FFF2-40B4-BE49-F238E27FC236}">
                <a16:creationId xmlns:a16="http://schemas.microsoft.com/office/drawing/2014/main" id="{092CC4B9-1F1D-4DA2-B0D1-C654B6512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414777e0a734bee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f85caa73d94c18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1291">
            <a:extLst xmlns:a="http://schemas.openxmlformats.org/drawingml/2006/main">
              <a:ext uri="{FF2B5EF4-FFF2-40B4-BE49-F238E27FC236}">
                <a16:creationId xmlns:a16="http://schemas.microsoft.com/office/drawing/2014/main" id="{FBD2E23F-7CCE-49F0-867F-C972E0D3B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c3aeeb44a2d49cb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fc7a331d514eb1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42465406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1292">
            <a:extLst xmlns:a="http://schemas.openxmlformats.org/drawingml/2006/main">
              <a:ext uri="{FF2B5EF4-FFF2-40B4-BE49-F238E27FC236}">
                <a16:creationId xmlns:a16="http://schemas.microsoft.com/office/drawing/2014/main" id="{07AFBCF5-56AF-47C2-8276-A4EDA28EF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4655CDA-3333-4DFE-A6CD-D00BA2459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阿凱老師實戰案例導航｜研究與驗證</a:t>
            </a:r>
          </a:p>
        </p:txBody>
      </p:sp>
      <p:cxnSp>
        <p:nvCxnSpPr>
          <p:cNvPr id="33" name="shape-129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294">
            <a:extLst xmlns:a="http://schemas.openxmlformats.org/drawingml/2006/main">
              <a:ext uri="{FF2B5EF4-FFF2-40B4-BE49-F238E27FC236}">
                <a16:creationId xmlns:a16="http://schemas.microsoft.com/office/drawing/2014/main" id="{2A52742A-8484-4014-8CE1-1982DE3A2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34E3EB4-DBF0-42EA-8C38-DC99D5192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14</a:t>
            </a:r>
          </a:p>
        </p:txBody>
      </p:sp>
      <p:sp>
        <p:nvSpPr>
          <p:cNvPr id="6" name="text-1295">
            <a:extLst xmlns:a="http://schemas.openxmlformats.org/drawingml/2006/main">
              <a:ext uri="{FF2B5EF4-FFF2-40B4-BE49-F238E27FC236}">
                <a16:creationId xmlns:a16="http://schemas.microsoft.com/office/drawing/2014/main" id="{3D3126CB-A835-4806-ACD0-748586DBA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把資料來源、審查規準、無障礙檢測與人工覆核組成可追查的 Agent 流程。</a:t>
            </a:r>
          </a:p>
        </p:txBody>
      </p:sp>
      <p:sp>
        <p:nvSpPr>
          <p:cNvPr id="7" name="shape-1296">
            <a:extLst xmlns:a="http://schemas.openxmlformats.org/drawingml/2006/main">
              <a:ext uri="{FF2B5EF4-FFF2-40B4-BE49-F238E27FC236}">
                <a16:creationId xmlns:a16="http://schemas.microsoft.com/office/drawing/2014/main" id="{1E75F3F4-9A06-4367-A1A5-15C94DFF4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8" name="text-1297">
            <a:extLst xmlns:a="http://schemas.openxmlformats.org/drawingml/2006/main">
              <a:ext uri="{FF2B5EF4-FFF2-40B4-BE49-F238E27FC236}">
                <a16:creationId xmlns:a16="http://schemas.microsoft.com/office/drawing/2014/main" id="{12089870-3366-4FD0-BA9B-0F3B57518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#105 · 研究工作流程</a:t>
            </a:r>
          </a:p>
        </p:txBody>
      </p:sp>
      <p:sp>
        <p:nvSpPr>
          <p:cNvPr id="9" name="text-1298">
            <a:extLst xmlns:a="http://schemas.openxmlformats.org/drawingml/2006/main">
              <a:ext uri="{FF2B5EF4-FFF2-40B4-BE49-F238E27FC236}">
                <a16:creationId xmlns:a16="http://schemas.microsoft.com/office/drawing/2014/main" id="{99D87EC9-0E33-4753-8F62-0F3146328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臺灣主權 AI 訓練語料庫</a:t>
            </a:r>
          </a:p>
        </p:txBody>
      </p:sp>
      <p:sp>
        <p:nvSpPr>
          <p:cNvPr id="10" name="text-1299">
            <a:extLst xmlns:a="http://schemas.openxmlformats.org/drawingml/2006/main">
              <a:ext uri="{FF2B5EF4-FFF2-40B4-BE49-F238E27FC236}">
                <a16:creationId xmlns:a16="http://schemas.microsoft.com/office/drawing/2014/main" id="{BCE7B6A1-65E3-41B3-998E-D82C6B407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4,554 筆開放語料依主題、課綱與授權整理，再轉化成教學研究素材。</a:t>
            </a:r>
          </a:p>
        </p:txBody>
      </p:sp>
      <p:sp>
        <p:nvSpPr>
          <p:cNvPr id="11" name="text-1300">
            <a:extLst xmlns:a="http://schemas.openxmlformats.org/drawingml/2006/main">
              <a:ext uri="{FF2B5EF4-FFF2-40B4-BE49-F238E27FC236}">
                <a16:creationId xmlns:a16="http://schemas.microsoft.com/office/drawing/2014/main" id="{012104CD-DEC8-43D8-A699-3E0415F1A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14d00c132a743f1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46ab047db54245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1301">
            <a:extLst xmlns:a="http://schemas.openxmlformats.org/drawingml/2006/main">
              <a:ext uri="{FF2B5EF4-FFF2-40B4-BE49-F238E27FC236}">
                <a16:creationId xmlns:a16="http://schemas.microsoft.com/office/drawing/2014/main" id="{CDF6E284-C4E1-4331-8086-100126E2B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73825fa9ab3464f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767b6eb69a46cd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1302">
            <a:extLst xmlns:a="http://schemas.openxmlformats.org/drawingml/2006/main">
              <a:ext uri="{FF2B5EF4-FFF2-40B4-BE49-F238E27FC236}">
                <a16:creationId xmlns:a16="http://schemas.microsoft.com/office/drawing/2014/main" id="{D6F451DF-7556-410E-BBE0-5C623F258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6" name="text-1303">
            <a:extLst xmlns:a="http://schemas.openxmlformats.org/drawingml/2006/main">
              <a:ext uri="{FF2B5EF4-FFF2-40B4-BE49-F238E27FC236}">
                <a16:creationId xmlns:a16="http://schemas.microsoft.com/office/drawing/2014/main" id="{ABF50AFF-9652-4736-B45D-23FFC063F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#123 · RWD／無障礙</a:t>
            </a:r>
          </a:p>
        </p:txBody>
      </p:sp>
      <p:sp>
        <p:nvSpPr>
          <p:cNvPr id="17" name="text-1304">
            <a:extLst xmlns:a="http://schemas.openxmlformats.org/drawingml/2006/main">
              <a:ext uri="{FF2B5EF4-FFF2-40B4-BE49-F238E27FC236}">
                <a16:creationId xmlns:a16="http://schemas.microsoft.com/office/drawing/2014/main" id="{6DFA698E-C157-4C2F-9C8B-D94DEE6EE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校網無障礙 AA 遷移操作平台</a:t>
            </a:r>
          </a:p>
        </p:txBody>
      </p:sp>
      <p:sp>
        <p:nvSpPr>
          <p:cNvPr id="18" name="text-1305">
            <a:extLst xmlns:a="http://schemas.openxmlformats.org/drawingml/2006/main">
              <a:ext uri="{FF2B5EF4-FFF2-40B4-BE49-F238E27FC236}">
                <a16:creationId xmlns:a16="http://schemas.microsoft.com/office/drawing/2014/main" id="{AD97CFC4-AB34-45AF-BD19-3C074AB41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12 步遷移清單、對比度檢查與送審雷區，示範可驗證工作流程。</a:t>
            </a:r>
          </a:p>
        </p:txBody>
      </p:sp>
      <p:sp>
        <p:nvSpPr>
          <p:cNvPr id="19" name="text-1306">
            <a:extLst xmlns:a="http://schemas.openxmlformats.org/drawingml/2006/main">
              <a:ext uri="{FF2B5EF4-FFF2-40B4-BE49-F238E27FC236}">
                <a16:creationId xmlns:a16="http://schemas.microsoft.com/office/drawing/2014/main" id="{96970D9C-9C29-43A3-AFAA-AB2FE9018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cd46a2b934c499d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8d02e9dd6545f8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1307">
            <a:extLst xmlns:a="http://schemas.openxmlformats.org/drawingml/2006/main">
              <a:ext uri="{FF2B5EF4-FFF2-40B4-BE49-F238E27FC236}">
                <a16:creationId xmlns:a16="http://schemas.microsoft.com/office/drawing/2014/main" id="{35CD29F2-3E93-4469-8D99-F2AA8FE34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d84e44b466a420d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1eb750140c4eb2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1308">
            <a:extLst xmlns:a="http://schemas.openxmlformats.org/drawingml/2006/main">
              <a:ext uri="{FF2B5EF4-FFF2-40B4-BE49-F238E27FC236}">
                <a16:creationId xmlns:a16="http://schemas.microsoft.com/office/drawing/2014/main" id="{4FC914F6-23C7-4BDA-BEF6-BD84F9FD3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4" name="text-1309">
            <a:extLst xmlns:a="http://schemas.openxmlformats.org/drawingml/2006/main">
              <a:ext uri="{FF2B5EF4-FFF2-40B4-BE49-F238E27FC236}">
                <a16:creationId xmlns:a16="http://schemas.microsoft.com/office/drawing/2014/main" id="{2F856DF1-1C51-43FB-A87A-AA46576AA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#88 · Agent 驗證</a:t>
            </a:r>
          </a:p>
        </p:txBody>
      </p:sp>
      <p:sp>
        <p:nvSpPr>
          <p:cNvPr id="25" name="text-1310">
            <a:extLst xmlns:a="http://schemas.openxmlformats.org/drawingml/2006/main">
              <a:ext uri="{FF2B5EF4-FFF2-40B4-BE49-F238E27FC236}">
                <a16:creationId xmlns:a16="http://schemas.microsoft.com/office/drawing/2014/main" id="{F6745155-3273-450C-8CF7-36CD85F77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國中課程計畫 AI 審查工具</a:t>
            </a:r>
          </a:p>
        </p:txBody>
      </p:sp>
      <p:sp>
        <p:nvSpPr>
          <p:cNvPr id="26" name="text-1311">
            <a:extLst xmlns:a="http://schemas.openxmlformats.org/drawingml/2006/main">
              <a:ext uri="{FF2B5EF4-FFF2-40B4-BE49-F238E27FC236}">
                <a16:creationId xmlns:a16="http://schemas.microsoft.com/office/drawing/2014/main" id="{BC9B637F-2377-4B86-9874-87FC74AEC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依 40+ 審查標準逐項比對 PDF，示範規則、證據與人工覆核。</a:t>
            </a:r>
          </a:p>
        </p:txBody>
      </p:sp>
      <p:sp>
        <p:nvSpPr>
          <p:cNvPr id="27" name="text-1312">
            <a:extLst xmlns:a="http://schemas.openxmlformats.org/drawingml/2006/main">
              <a:ext uri="{FF2B5EF4-FFF2-40B4-BE49-F238E27FC236}">
                <a16:creationId xmlns:a16="http://schemas.microsoft.com/office/drawing/2014/main" id="{7C1B2454-5992-43A8-8509-94786A757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5b927372ce0414f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f84440555443c0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1313">
            <a:extLst xmlns:a="http://schemas.openxmlformats.org/drawingml/2006/main">
              <a:ext uri="{FF2B5EF4-FFF2-40B4-BE49-F238E27FC236}">
                <a16:creationId xmlns:a16="http://schemas.microsoft.com/office/drawing/2014/main" id="{E00136C2-CAA0-490B-9712-37C5FBF09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6f4ec4791ce4b2a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042c5bc3a04576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83399467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314">
            <a:extLst xmlns:a="http://schemas.openxmlformats.org/drawingml/2006/main">
              <a:ext uri="{FF2B5EF4-FFF2-40B4-BE49-F238E27FC236}">
                <a16:creationId xmlns:a16="http://schemas.microsoft.com/office/drawing/2014/main" id="{1D101A09-E5CF-4821-BCE6-47240D660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2" name="text-1315">
            <a:extLst xmlns:a="http://schemas.openxmlformats.org/drawingml/2006/main">
              <a:ext uri="{FF2B5EF4-FFF2-40B4-BE49-F238E27FC236}">
                <a16:creationId xmlns:a16="http://schemas.microsoft.com/office/drawing/2014/main" id="{0E666664-6DA9-4F9C-8257-5074D21A9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sp>
        <p:nvSpPr>
          <p:cNvPr id="3" name="text-1316">
            <a:extLst xmlns:a="http://schemas.openxmlformats.org/drawingml/2006/main">
              <a:ext uri="{FF2B5EF4-FFF2-40B4-BE49-F238E27FC236}">
                <a16:creationId xmlns:a16="http://schemas.microsoft.com/office/drawing/2014/main" id="{43AF9F8B-2032-43B5-9993-330FC0022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把工作區變成 Agent 的中央指揮中心：交付任務、監看計畫、檢查產物與驗證證據。</a:t>
            </a:r>
          </a:p>
        </p:txBody>
      </p:sp>
      <p:sp>
        <p:nvSpPr>
          <p:cNvPr id="4" name="shape-1317">
            <a:extLst xmlns:a="http://schemas.openxmlformats.org/drawingml/2006/main">
              <a:ext uri="{FF2B5EF4-FFF2-40B4-BE49-F238E27FC236}">
                <a16:creationId xmlns:a16="http://schemas.microsoft.com/office/drawing/2014/main" id="{398294ED-3597-403D-B70D-D3DED6A02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318">
            <a:extLst xmlns:a="http://schemas.openxmlformats.org/drawingml/2006/main">
              <a:ext uri="{FF2B5EF4-FFF2-40B4-BE49-F238E27FC236}">
                <a16:creationId xmlns:a16="http://schemas.microsoft.com/office/drawing/2014/main" id="{9BDC3A06-FDF2-46BE-8BA8-AC3B0A0DF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sp>
        <p:nvSpPr>
          <p:cNvPr id="6" name="shape-1319">
            <a:extLst xmlns:a="http://schemas.openxmlformats.org/drawingml/2006/main">
              <a:ext uri="{FF2B5EF4-FFF2-40B4-BE49-F238E27FC236}">
                <a16:creationId xmlns:a16="http://schemas.microsoft.com/office/drawing/2014/main" id="{E8625FE3-E0E9-41EE-ABE0-E6CEC811F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5524500"/>
            <a:ext cx="23812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320">
            <a:extLst xmlns:a="http://schemas.openxmlformats.org/drawingml/2006/main">
              <a:ext uri="{FF2B5EF4-FFF2-40B4-BE49-F238E27FC236}">
                <a16:creationId xmlns:a16="http://schemas.microsoft.com/office/drawing/2014/main" id="{1BD5B9F4-C7DE-4C1D-BBD3-09A5585BE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559117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✦</a:t>
            </a:r>
          </a:p>
        </p:txBody>
      </p:sp>
      <p:sp>
        <p:nvSpPr>
          <p:cNvPr id="8" name="text-1321">
            <a:extLst xmlns:a="http://schemas.openxmlformats.org/drawingml/2006/main">
              <a:ext uri="{FF2B5EF4-FFF2-40B4-BE49-F238E27FC236}">
                <a16:creationId xmlns:a16="http://schemas.microsoft.com/office/drawing/2014/main" id="{CDE19B82-8069-4D76-98C4-ECD7EA764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5600700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sp>
        <p:nvSpPr>
          <p:cNvPr id="9" name="text-1322">
            <a:extLst xmlns:a="http://schemas.openxmlformats.org/drawingml/2006/main">
              <a:ext uri="{FF2B5EF4-FFF2-40B4-BE49-F238E27FC236}">
                <a16:creationId xmlns:a16="http://schemas.microsoft.com/office/drawing/2014/main" id="{956284B6-A752-415A-814C-180666DB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5800725"/>
            <a:ext cx="17335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7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Google Agent 工作區</a:t>
            </a:r>
          </a:p>
        </p:txBody>
      </p:sp>
      <p:cxnSp>
        <p:nvCxnSpPr>
          <p:cNvPr id="26" name="shape-132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11" name="text-1324">
            <a:extLst xmlns:a="http://schemas.openxmlformats.org/drawingml/2006/main">
              <a:ext uri="{FF2B5EF4-FFF2-40B4-BE49-F238E27FC236}">
                <a16:creationId xmlns:a16="http://schemas.microsoft.com/office/drawing/2014/main" id="{661D9510-AB58-49A9-BF43-0D0CC5D73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C39CB46-783A-4059-A9E6-2C4CABF6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15</a:t>
            </a:r>
          </a:p>
        </p:txBody>
      </p:sp>
      <p:sp>
        <p:nvSpPr>
          <p:cNvPr id="13" name="text-2251">
            <a:extLst xmlns:a="http://schemas.openxmlformats.org/drawingml/2006/main">
              <a:ext uri="{FF2B5EF4-FFF2-40B4-BE49-F238E27FC236}">
                <a16:creationId xmlns:a16="http://schemas.microsoft.com/office/drawing/2014/main" id="{DDEC67A9-785D-4119-ABCD-F7D871B64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f9eb87f78e54d4e"/>
              </a:rPr>
              <a:t>開啟 Antigravity ↗</a:t>
            </a:r>
          </a:p>
        </p:txBody>
      </p:sp>
      <p:sp>
        <p:nvSpPr>
          <p:cNvPr id="14" name="shape-2299">
            <a:extLst xmlns:a="http://schemas.openxmlformats.org/drawingml/2006/main">
              <a:ext uri="{FF2B5EF4-FFF2-40B4-BE49-F238E27FC236}">
                <a16:creationId xmlns:a16="http://schemas.microsoft.com/office/drawing/2014/main" id="{986C2DF3-51E9-440C-A578-A659768D2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1433ab8be1410a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2300">
            <a:extLst xmlns:a="http://schemas.openxmlformats.org/drawingml/2006/main">
              <a:ext uri="{FF2B5EF4-FFF2-40B4-BE49-F238E27FC236}">
                <a16:creationId xmlns:a16="http://schemas.microsoft.com/office/drawing/2014/main" id="{F45FE31E-7099-49F2-99CF-535FB0FF9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84441579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ext-1325">
            <a:extLst xmlns:a="http://schemas.openxmlformats.org/drawingml/2006/main">
              <a:ext uri="{FF2B5EF4-FFF2-40B4-BE49-F238E27FC236}">
                <a16:creationId xmlns:a16="http://schemas.microsoft.com/office/drawing/2014/main" id="{763673F6-C8BE-49E8-A692-8CCDCB727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AGENTIC DEVELOPMENT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ECD6543-C328-4D2D-B1EC-3A113C22B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Antigravity：不是更大的聊天框</a:t>
            </a:r>
          </a:p>
        </p:txBody>
      </p:sp>
      <p:cxnSp>
        <p:nvCxnSpPr>
          <p:cNvPr id="18" name="shape-132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327">
            <a:extLst xmlns:a="http://schemas.openxmlformats.org/drawingml/2006/main">
              <a:ext uri="{FF2B5EF4-FFF2-40B4-BE49-F238E27FC236}">
                <a16:creationId xmlns:a16="http://schemas.microsoft.com/office/drawing/2014/main" id="{352352D8-4C68-443C-8404-E83A0B258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FA4D805-2E66-4479-BBE7-F3CE269F6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16</a:t>
            </a:r>
          </a:p>
        </p:txBody>
      </p:sp>
      <p:sp>
        <p:nvSpPr>
          <p:cNvPr id="6" name="shape-1328">
            <a:extLst xmlns:a="http://schemas.openxmlformats.org/drawingml/2006/main">
              <a:ext uri="{FF2B5EF4-FFF2-40B4-BE49-F238E27FC236}">
                <a16:creationId xmlns:a16="http://schemas.microsoft.com/office/drawing/2014/main" id="{52F629B3-6663-41BA-8DA3-C0DAA1FFA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329">
            <a:extLst xmlns:a="http://schemas.openxmlformats.org/drawingml/2006/main">
              <a:ext uri="{FF2B5EF4-FFF2-40B4-BE49-F238E27FC236}">
                <a16:creationId xmlns:a16="http://schemas.microsoft.com/office/drawing/2014/main" id="{6E668A92-DE55-412F-8142-81F78BBDD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8" name="text-1330">
            <a:extLst xmlns:a="http://schemas.openxmlformats.org/drawingml/2006/main">
              <a:ext uri="{FF2B5EF4-FFF2-40B4-BE49-F238E27FC236}">
                <a16:creationId xmlns:a16="http://schemas.microsoft.com/office/drawing/2014/main" id="{CAF87C18-E73D-4EE0-88D0-6D7F8F5BB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你提供</a:t>
            </a:r>
          </a:p>
        </p:txBody>
      </p:sp>
      <p:sp>
        <p:nvSpPr>
          <p:cNvPr id="9" name="text-1331">
            <a:extLst xmlns:a="http://schemas.openxmlformats.org/drawingml/2006/main">
              <a:ext uri="{FF2B5EF4-FFF2-40B4-BE49-F238E27FC236}">
                <a16:creationId xmlns:a16="http://schemas.microsoft.com/office/drawing/2014/main" id="{232EEA6C-0759-41C2-A7C6-AC8047450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工作區與檔案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清楚的任務與限制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可驗收的完成條件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必要的授權</a:t>
            </a:r>
          </a:p>
        </p:txBody>
      </p:sp>
      <p:sp>
        <p:nvSpPr>
          <p:cNvPr id="10" name="text-1332">
            <a:extLst xmlns:a="http://schemas.openxmlformats.org/drawingml/2006/main">
              <a:ext uri="{FF2B5EF4-FFF2-40B4-BE49-F238E27FC236}">
                <a16:creationId xmlns:a16="http://schemas.microsoft.com/office/drawing/2014/main" id="{1A7B0CAA-ED65-4A8B-8B5D-CF0E58A7D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Agent 推進</a:t>
            </a:r>
          </a:p>
        </p:txBody>
      </p:sp>
      <p:sp>
        <p:nvSpPr>
          <p:cNvPr id="11" name="text-1333">
            <a:extLst xmlns:a="http://schemas.openxmlformats.org/drawingml/2006/main">
              <a:ext uri="{FF2B5EF4-FFF2-40B4-BE49-F238E27FC236}">
                <a16:creationId xmlns:a16="http://schemas.microsoft.com/office/drawing/2014/main" id="{443695E9-C586-405F-A373-DDA90769C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建立計畫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使用檔案與工具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修改、執行與檢查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回報成果與阻礙</a:t>
            </a:r>
          </a:p>
        </p:txBody>
      </p:sp>
      <p:sp>
        <p:nvSpPr>
          <p:cNvPr id="12" name="text-2252">
            <a:extLst xmlns:a="http://schemas.openxmlformats.org/drawingml/2006/main">
              <a:ext uri="{FF2B5EF4-FFF2-40B4-BE49-F238E27FC236}">
                <a16:creationId xmlns:a16="http://schemas.microsoft.com/office/drawing/2014/main" id="{7A104C1A-995C-4A38-B9D6-8BD812D57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d022583a23d4326"/>
              </a:rPr>
              <a:t>開啟 Antigravity ↗</a:t>
            </a:r>
          </a:p>
        </p:txBody>
      </p:sp>
      <p:sp>
        <p:nvSpPr>
          <p:cNvPr id="13" name="shape-2301">
            <a:extLst xmlns:a="http://schemas.openxmlformats.org/drawingml/2006/main">
              <a:ext uri="{FF2B5EF4-FFF2-40B4-BE49-F238E27FC236}">
                <a16:creationId xmlns:a16="http://schemas.microsoft.com/office/drawing/2014/main" id="{A7FA4438-58F1-4F35-B230-D2E2E72FB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e2cbb5b6214b76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5" name="text-2302">
            <a:extLst xmlns:a="http://schemas.openxmlformats.org/drawingml/2006/main">
              <a:ext uri="{FF2B5EF4-FFF2-40B4-BE49-F238E27FC236}">
                <a16:creationId xmlns:a16="http://schemas.microsoft.com/office/drawing/2014/main" id="{A55C632A-C20C-485C-859A-76D36FEA0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31816105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334">
            <a:extLst xmlns:a="http://schemas.openxmlformats.org/drawingml/2006/main">
              <a:ext uri="{FF2B5EF4-FFF2-40B4-BE49-F238E27FC236}">
                <a16:creationId xmlns:a16="http://schemas.microsoft.com/office/drawing/2014/main" id="{D3E0CCA5-5495-4252-B3F8-3C4FF44B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WORKHORSE MODEL · NEW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95B8D66-AB0F-4B94-A871-ED33C5070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Gemini 3.7 Flash：Antigravity 的工作馬</a:t>
            </a:r>
          </a:p>
        </p:txBody>
      </p:sp>
      <p:cxnSp>
        <p:nvCxnSpPr>
          <p:cNvPr id="30" name="shape-133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336">
            <a:extLst xmlns:a="http://schemas.openxmlformats.org/drawingml/2006/main">
              <a:ext uri="{FF2B5EF4-FFF2-40B4-BE49-F238E27FC236}">
                <a16:creationId xmlns:a16="http://schemas.microsoft.com/office/drawing/2014/main" id="{A84C43E0-4DBD-440A-B582-361F2E6D3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A6E8A84-5FB2-4B90-B303-6EF367AB8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17</a:t>
            </a:r>
          </a:p>
        </p:txBody>
      </p:sp>
      <p:sp>
        <p:nvSpPr>
          <p:cNvPr id="6" name="shape-1337">
            <a:extLst xmlns:a="http://schemas.openxmlformats.org/drawingml/2006/main">
              <a:ext uri="{FF2B5EF4-FFF2-40B4-BE49-F238E27FC236}">
                <a16:creationId xmlns:a16="http://schemas.microsoft.com/office/drawing/2014/main" id="{D4CE59CE-8A9B-47FF-A728-FC58748A5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338">
            <a:extLst xmlns:a="http://schemas.openxmlformats.org/drawingml/2006/main">
              <a:ext uri="{FF2B5EF4-FFF2-40B4-BE49-F238E27FC236}">
                <a16:creationId xmlns:a16="http://schemas.microsoft.com/office/drawing/2014/main" id="{0EBF7A97-2B71-4C68-BE8F-BC80A3436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339">
            <a:extLst xmlns:a="http://schemas.openxmlformats.org/drawingml/2006/main">
              <a:ext uri="{FF2B5EF4-FFF2-40B4-BE49-F238E27FC236}">
                <a16:creationId xmlns:a16="http://schemas.microsoft.com/office/drawing/2014/main" id="{45198268-6443-4825-900F-1CAEE5183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官方定位</a:t>
            </a:r>
          </a:p>
        </p:txBody>
      </p:sp>
      <p:sp>
        <p:nvSpPr>
          <p:cNvPr id="9" name="text-1340">
            <a:extLst xmlns:a="http://schemas.openxmlformats.org/drawingml/2006/main">
              <a:ext uri="{FF2B5EF4-FFF2-40B4-BE49-F238E27FC236}">
                <a16:creationId xmlns:a16="http://schemas.microsoft.com/office/drawing/2014/main" id="{78BEE858-34D9-4F4B-99C4-C470B70F5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Gemini 3.7 Flash 已正式 GA，針對複雜 coding、Agent 工作流與可靠的多步驟執行設計。</a:t>
            </a:r>
          </a:p>
        </p:txBody>
      </p:sp>
      <p:sp>
        <p:nvSpPr>
          <p:cNvPr id="10" name="shape-1341">
            <a:extLst xmlns:a="http://schemas.openxmlformats.org/drawingml/2006/main">
              <a:ext uri="{FF2B5EF4-FFF2-40B4-BE49-F238E27FC236}">
                <a16:creationId xmlns:a16="http://schemas.microsoft.com/office/drawing/2014/main" id="{1DC9ED83-AAAC-40D3-8EFF-259D0019F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342">
            <a:extLst xmlns:a="http://schemas.openxmlformats.org/drawingml/2006/main">
              <a:ext uri="{FF2B5EF4-FFF2-40B4-BE49-F238E27FC236}">
                <a16:creationId xmlns:a16="http://schemas.microsoft.com/office/drawing/2014/main" id="{E5CE4917-BDCD-4CEF-BC5F-31374C134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343">
            <a:extLst xmlns:a="http://schemas.openxmlformats.org/drawingml/2006/main">
              <a:ext uri="{FF2B5EF4-FFF2-40B4-BE49-F238E27FC236}">
                <a16:creationId xmlns:a16="http://schemas.microsoft.com/office/drawing/2014/main" id="{55BD2F8E-64E3-4480-9AAF-25C459C59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為何適合長鏈</a:t>
            </a:r>
          </a:p>
        </p:txBody>
      </p:sp>
      <p:sp>
        <p:nvSpPr>
          <p:cNvPr id="13" name="text-1344">
            <a:extLst xmlns:a="http://schemas.openxmlformats.org/drawingml/2006/main">
              <a:ext uri="{FF2B5EF4-FFF2-40B4-BE49-F238E27FC236}">
                <a16:creationId xmlns:a16="http://schemas.microsoft.com/office/drawing/2014/main" id="{E5F5E07E-1CB8-4860-A06D-1902812D6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更重視長程規劃、工具使用與任務推進，適合把完整工作交給它持續執行。</a:t>
            </a:r>
          </a:p>
        </p:txBody>
      </p:sp>
      <p:sp>
        <p:nvSpPr>
          <p:cNvPr id="14" name="shape-1345">
            <a:extLst xmlns:a="http://schemas.openxmlformats.org/drawingml/2006/main">
              <a:ext uri="{FF2B5EF4-FFF2-40B4-BE49-F238E27FC236}">
                <a16:creationId xmlns:a16="http://schemas.microsoft.com/office/drawing/2014/main" id="{9EF2252C-64FA-459C-8D2C-E641D1DD9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346">
            <a:extLst xmlns:a="http://schemas.openxmlformats.org/drawingml/2006/main">
              <a:ext uri="{FF2B5EF4-FFF2-40B4-BE49-F238E27FC236}">
                <a16:creationId xmlns:a16="http://schemas.microsoft.com/office/drawing/2014/main" id="{DF0FC001-DD4E-443F-A687-E153944F0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347">
            <a:extLst xmlns:a="http://schemas.openxmlformats.org/drawingml/2006/main">
              <a:ext uri="{FF2B5EF4-FFF2-40B4-BE49-F238E27FC236}">
                <a16:creationId xmlns:a16="http://schemas.microsoft.com/office/drawing/2014/main" id="{D2DC11CF-5C24-49BC-AB52-843871C21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放進 Harness</a:t>
            </a:r>
          </a:p>
        </p:txBody>
      </p:sp>
      <p:sp>
        <p:nvSpPr>
          <p:cNvPr id="17" name="text-1348">
            <a:extLst xmlns:a="http://schemas.openxmlformats.org/drawingml/2006/main">
              <a:ext uri="{FF2B5EF4-FFF2-40B4-BE49-F238E27FC236}">
                <a16:creationId xmlns:a16="http://schemas.microsoft.com/office/drawing/2014/main" id="{B252F40E-7D6E-4D95-8641-426F98888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先寫清楚目標、素材、可用工具、權限範圍與完成條件，再讓模型成為可監督的工作馬。</a:t>
            </a:r>
          </a:p>
        </p:txBody>
      </p:sp>
      <p:sp>
        <p:nvSpPr>
          <p:cNvPr id="18" name="shape-1349">
            <a:extLst xmlns:a="http://schemas.openxmlformats.org/drawingml/2006/main">
              <a:ext uri="{FF2B5EF4-FFF2-40B4-BE49-F238E27FC236}">
                <a16:creationId xmlns:a16="http://schemas.microsoft.com/office/drawing/2014/main" id="{CE3E1C8B-4B08-4052-91A7-E4391B394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350">
            <a:extLst xmlns:a="http://schemas.openxmlformats.org/drawingml/2006/main">
              <a:ext uri="{FF2B5EF4-FFF2-40B4-BE49-F238E27FC236}">
                <a16:creationId xmlns:a16="http://schemas.microsoft.com/office/drawing/2014/main" id="{6F89570F-F0F4-4541-A060-8D514822B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351">
            <a:extLst xmlns:a="http://schemas.openxmlformats.org/drawingml/2006/main">
              <a:ext uri="{FF2B5EF4-FFF2-40B4-BE49-F238E27FC236}">
                <a16:creationId xmlns:a16="http://schemas.microsoft.com/office/drawing/2014/main" id="{CE339411-FBF5-4BE7-8314-EF291BC8F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信任仍要驗收</a:t>
            </a:r>
          </a:p>
        </p:txBody>
      </p:sp>
      <p:sp>
        <p:nvSpPr>
          <p:cNvPr id="21" name="text-1352">
            <a:extLst xmlns:a="http://schemas.openxmlformats.org/drawingml/2006/main">
              <a:ext uri="{FF2B5EF4-FFF2-40B4-BE49-F238E27FC236}">
                <a16:creationId xmlns:a16="http://schemas.microsoft.com/office/drawing/2014/main" id="{7251D3FD-40FC-417E-9154-47E202D99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模型能力提升不等於放任自動化；人要看計畫、測試與證據，遇到關鍵節點要能停下來決策。</a:t>
            </a:r>
          </a:p>
        </p:txBody>
      </p:sp>
      <p:sp>
        <p:nvSpPr>
          <p:cNvPr id="22" name="text-2258">
            <a:extLst xmlns:a="http://schemas.openxmlformats.org/drawingml/2006/main">
              <a:ext uri="{FF2B5EF4-FFF2-40B4-BE49-F238E27FC236}">
                <a16:creationId xmlns:a16="http://schemas.microsoft.com/office/drawing/2014/main" id="{2170EB33-E3D3-497E-9D5F-F7F5606EE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716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fc192ef76d34bea"/>
              </a:rPr>
              <a:t>Gemini 3.7 Flash 官方模型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381be1dab4c4ec8"/>
              </a:rPr>
              <a:t>Google 官方介紹 ↗</a:t>
            </a:r>
          </a:p>
        </p:txBody>
      </p:sp>
      <p:sp>
        <p:nvSpPr>
          <p:cNvPr id="23" name="shape-2313">
            <a:extLst xmlns:a="http://schemas.openxmlformats.org/drawingml/2006/main">
              <a:ext uri="{FF2B5EF4-FFF2-40B4-BE49-F238E27FC236}">
                <a16:creationId xmlns:a16="http://schemas.microsoft.com/office/drawing/2014/main" id="{4C773252-B546-44D9-AB9A-9DF8F7A86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f098de18204bec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2314">
            <a:extLst xmlns:a="http://schemas.openxmlformats.org/drawingml/2006/main">
              <a:ext uri="{FF2B5EF4-FFF2-40B4-BE49-F238E27FC236}">
                <a16:creationId xmlns:a16="http://schemas.microsoft.com/office/drawing/2014/main" id="{8930A8D7-8974-41D7-B5AA-19DDB43AA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3.7 Flash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192e7f3aac488f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2315">
            <a:extLst xmlns:a="http://schemas.openxmlformats.org/drawingml/2006/main">
              <a:ext uri="{FF2B5EF4-FFF2-40B4-BE49-F238E27FC236}">
                <a16:creationId xmlns:a16="http://schemas.microsoft.com/office/drawing/2014/main" id="{77C4BFA1-EFF7-457B-A961-47539D6C3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Google 官方介紹</a:t>
            </a:r>
          </a:p>
        </p:txBody>
      </p:sp>
    </p:spTree>
    <p:extLst>
      <p:ext uri="{BB962C8B-B14F-4D97-AF65-F5344CB8AC3E}">
        <p14:creationId xmlns:p14="http://schemas.microsoft.com/office/powerpoint/2010/main" val="31992905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1353">
            <a:extLst xmlns:a="http://schemas.openxmlformats.org/drawingml/2006/main">
              <a:ext uri="{FF2B5EF4-FFF2-40B4-BE49-F238E27FC236}">
                <a16:creationId xmlns:a16="http://schemas.microsoft.com/office/drawing/2014/main" id="{B9348892-934B-4087-BF93-E2CCE6F86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WORKSPACE ORIENTATION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2078AB5-66C9-427A-9700-1342EF2B7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進入工作區，先看四個地方</a:t>
            </a:r>
          </a:p>
        </p:txBody>
      </p:sp>
      <p:cxnSp>
        <p:nvCxnSpPr>
          <p:cNvPr id="28" name="shape-135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355">
            <a:extLst xmlns:a="http://schemas.openxmlformats.org/drawingml/2006/main">
              <a:ext uri="{FF2B5EF4-FFF2-40B4-BE49-F238E27FC236}">
                <a16:creationId xmlns:a16="http://schemas.microsoft.com/office/drawing/2014/main" id="{3CF6DC45-F7AE-4E9B-99C1-174C70570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0836C9F-C437-40D9-B7A3-D84DD795F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18</a:t>
            </a:r>
          </a:p>
        </p:txBody>
      </p:sp>
      <p:sp>
        <p:nvSpPr>
          <p:cNvPr id="6" name="shape-1356">
            <a:extLst xmlns:a="http://schemas.openxmlformats.org/drawingml/2006/main">
              <a:ext uri="{FF2B5EF4-FFF2-40B4-BE49-F238E27FC236}">
                <a16:creationId xmlns:a16="http://schemas.microsoft.com/office/drawing/2014/main" id="{A28BD2C1-F4D6-4B2C-880E-485452BF0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357">
            <a:extLst xmlns:a="http://schemas.openxmlformats.org/drawingml/2006/main">
              <a:ext uri="{FF2B5EF4-FFF2-40B4-BE49-F238E27FC236}">
                <a16:creationId xmlns:a16="http://schemas.microsoft.com/office/drawing/2014/main" id="{FC8AFEC3-059D-457E-AAAB-49D656165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358">
            <a:extLst xmlns:a="http://schemas.openxmlformats.org/drawingml/2006/main">
              <a:ext uri="{FF2B5EF4-FFF2-40B4-BE49-F238E27FC236}">
                <a16:creationId xmlns:a16="http://schemas.microsoft.com/office/drawing/2014/main" id="{0ECA5F95-AFC8-4E7C-ADC2-40BFA0C86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檔案</a:t>
            </a:r>
          </a:p>
        </p:txBody>
      </p:sp>
      <p:sp>
        <p:nvSpPr>
          <p:cNvPr id="9" name="text-1359">
            <a:extLst xmlns:a="http://schemas.openxmlformats.org/drawingml/2006/main">
              <a:ext uri="{FF2B5EF4-FFF2-40B4-BE49-F238E27FC236}">
                <a16:creationId xmlns:a16="http://schemas.microsoft.com/office/drawing/2014/main" id="{44776565-958F-4145-9920-365FB32C4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Agent 能看到哪些素材？是否把敏感檔案放錯位置？</a:t>
            </a:r>
          </a:p>
        </p:txBody>
      </p:sp>
      <p:sp>
        <p:nvSpPr>
          <p:cNvPr id="10" name="shape-1360">
            <a:extLst xmlns:a="http://schemas.openxmlformats.org/drawingml/2006/main">
              <a:ext uri="{FF2B5EF4-FFF2-40B4-BE49-F238E27FC236}">
                <a16:creationId xmlns:a16="http://schemas.microsoft.com/office/drawing/2014/main" id="{73C7FB6B-1C61-4A5E-8B6F-94AB53EC3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361">
            <a:extLst xmlns:a="http://schemas.openxmlformats.org/drawingml/2006/main">
              <a:ext uri="{FF2B5EF4-FFF2-40B4-BE49-F238E27FC236}">
                <a16:creationId xmlns:a16="http://schemas.microsoft.com/office/drawing/2014/main" id="{5E2B059E-0288-462A-BD60-F879A6754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362">
            <a:extLst xmlns:a="http://schemas.openxmlformats.org/drawingml/2006/main">
              <a:ext uri="{FF2B5EF4-FFF2-40B4-BE49-F238E27FC236}">
                <a16:creationId xmlns:a16="http://schemas.microsoft.com/office/drawing/2014/main" id="{38E0F61E-F4C9-4D85-8FC0-5AF89F7F1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任務</a:t>
            </a:r>
          </a:p>
        </p:txBody>
      </p:sp>
      <p:sp>
        <p:nvSpPr>
          <p:cNvPr id="13" name="text-1363">
            <a:extLst xmlns:a="http://schemas.openxmlformats.org/drawingml/2006/main">
              <a:ext uri="{FF2B5EF4-FFF2-40B4-BE49-F238E27FC236}">
                <a16:creationId xmlns:a16="http://schemas.microsoft.com/office/drawing/2014/main" id="{D6249766-1B9F-418F-8588-FF25C84BD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目標是否單一、具體，且能在本工作區完成？</a:t>
            </a:r>
          </a:p>
        </p:txBody>
      </p:sp>
      <p:sp>
        <p:nvSpPr>
          <p:cNvPr id="14" name="shape-1364">
            <a:extLst xmlns:a="http://schemas.openxmlformats.org/drawingml/2006/main">
              <a:ext uri="{FF2B5EF4-FFF2-40B4-BE49-F238E27FC236}">
                <a16:creationId xmlns:a16="http://schemas.microsoft.com/office/drawing/2014/main" id="{6C885D72-1D3F-4294-B585-7A8CAAD1B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365">
            <a:extLst xmlns:a="http://schemas.openxmlformats.org/drawingml/2006/main">
              <a:ext uri="{FF2B5EF4-FFF2-40B4-BE49-F238E27FC236}">
                <a16:creationId xmlns:a16="http://schemas.microsoft.com/office/drawing/2014/main" id="{68FFD8FD-CEF5-4AC4-8356-8322C3C25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366">
            <a:extLst xmlns:a="http://schemas.openxmlformats.org/drawingml/2006/main">
              <a:ext uri="{FF2B5EF4-FFF2-40B4-BE49-F238E27FC236}">
                <a16:creationId xmlns:a16="http://schemas.microsoft.com/office/drawing/2014/main" id="{EF929D7C-7B50-4320-B68B-5A6194B4F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計畫</a:t>
            </a:r>
          </a:p>
        </p:txBody>
      </p:sp>
      <p:sp>
        <p:nvSpPr>
          <p:cNvPr id="17" name="text-1367">
            <a:extLst xmlns:a="http://schemas.openxmlformats.org/drawingml/2006/main">
              <a:ext uri="{FF2B5EF4-FFF2-40B4-BE49-F238E27FC236}">
                <a16:creationId xmlns:a16="http://schemas.microsoft.com/office/drawing/2014/main" id="{C001F551-CB66-417D-B4D0-83F55D141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步驟是否合理？哪一步需要授權或外部資訊？</a:t>
            </a:r>
          </a:p>
        </p:txBody>
      </p:sp>
      <p:sp>
        <p:nvSpPr>
          <p:cNvPr id="18" name="shape-1368">
            <a:extLst xmlns:a="http://schemas.openxmlformats.org/drawingml/2006/main">
              <a:ext uri="{FF2B5EF4-FFF2-40B4-BE49-F238E27FC236}">
                <a16:creationId xmlns:a16="http://schemas.microsoft.com/office/drawing/2014/main" id="{D8D6A584-854E-4E19-BAFE-F5717883C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369">
            <a:extLst xmlns:a="http://schemas.openxmlformats.org/drawingml/2006/main">
              <a:ext uri="{FF2B5EF4-FFF2-40B4-BE49-F238E27FC236}">
                <a16:creationId xmlns:a16="http://schemas.microsoft.com/office/drawing/2014/main" id="{3E9EEB55-4416-4C64-B9CC-6DC83AD0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370">
            <a:extLst xmlns:a="http://schemas.openxmlformats.org/drawingml/2006/main">
              <a:ext uri="{FF2B5EF4-FFF2-40B4-BE49-F238E27FC236}">
                <a16:creationId xmlns:a16="http://schemas.microsoft.com/office/drawing/2014/main" id="{8A95C898-44EB-40D9-B6C0-D3C83A23D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結果</a:t>
            </a:r>
          </a:p>
        </p:txBody>
      </p:sp>
      <p:sp>
        <p:nvSpPr>
          <p:cNvPr id="21" name="text-1371">
            <a:extLst xmlns:a="http://schemas.openxmlformats.org/drawingml/2006/main">
              <a:ext uri="{FF2B5EF4-FFF2-40B4-BE49-F238E27FC236}">
                <a16:creationId xmlns:a16="http://schemas.microsoft.com/office/drawing/2014/main" id="{7BA11209-9313-4D99-AABF-7D2A48558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有哪些變更、測試、畫面與仍未確認的項目？</a:t>
            </a:r>
          </a:p>
        </p:txBody>
      </p:sp>
      <p:sp>
        <p:nvSpPr>
          <p:cNvPr id="22" name="text-2253">
            <a:extLst xmlns:a="http://schemas.openxmlformats.org/drawingml/2006/main">
              <a:ext uri="{FF2B5EF4-FFF2-40B4-BE49-F238E27FC236}">
                <a16:creationId xmlns:a16="http://schemas.microsoft.com/office/drawing/2014/main" id="{C60BECE8-1073-4578-A2E7-1A32454C5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886a7a5244b4aea"/>
              </a:rPr>
              <a:t>開啟 Antigravity ↗</a:t>
            </a:r>
          </a:p>
        </p:txBody>
      </p:sp>
      <p:sp>
        <p:nvSpPr>
          <p:cNvPr id="23" name="shape-2303">
            <a:extLst xmlns:a="http://schemas.openxmlformats.org/drawingml/2006/main">
              <a:ext uri="{FF2B5EF4-FFF2-40B4-BE49-F238E27FC236}">
                <a16:creationId xmlns:a16="http://schemas.microsoft.com/office/drawing/2014/main" id="{C72C5854-8593-4E90-811C-074CF0DD2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f9eeb35ef14419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2304">
            <a:extLst xmlns:a="http://schemas.openxmlformats.org/drawingml/2006/main">
              <a:ext uri="{FF2B5EF4-FFF2-40B4-BE49-F238E27FC236}">
                <a16:creationId xmlns:a16="http://schemas.microsoft.com/office/drawing/2014/main" id="{0B773D25-20EC-4D09-8B51-40809CF8F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91968547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1372">
            <a:extLst xmlns:a="http://schemas.openxmlformats.org/drawingml/2006/main">
              <a:ext uri="{FF2B5EF4-FFF2-40B4-BE49-F238E27FC236}">
                <a16:creationId xmlns:a16="http://schemas.microsoft.com/office/drawing/2014/main" id="{1B615FB6-8C4E-4A0C-AE22-3A3546DE7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TASK BRIEF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0A28C52-D891-4867-81D7-1DDC2C11C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第一個 Agent 任務：四句話就能清楚</a:t>
            </a:r>
          </a:p>
        </p:txBody>
      </p:sp>
      <p:cxnSp>
        <p:nvCxnSpPr>
          <p:cNvPr id="28" name="shape-137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374">
            <a:extLst xmlns:a="http://schemas.openxmlformats.org/drawingml/2006/main">
              <a:ext uri="{FF2B5EF4-FFF2-40B4-BE49-F238E27FC236}">
                <a16:creationId xmlns:a16="http://schemas.microsoft.com/office/drawing/2014/main" id="{9C0AD163-5F30-4842-980F-FF35A3650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4C1EC17-DDAE-43F7-8833-F22F60DC3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19</a:t>
            </a:r>
          </a:p>
        </p:txBody>
      </p:sp>
      <p:sp>
        <p:nvSpPr>
          <p:cNvPr id="6" name="shape-1375">
            <a:extLst xmlns:a="http://schemas.openxmlformats.org/drawingml/2006/main">
              <a:ext uri="{FF2B5EF4-FFF2-40B4-BE49-F238E27FC236}">
                <a16:creationId xmlns:a16="http://schemas.microsoft.com/office/drawing/2014/main" id="{718FA5A8-8C6C-4D74-8C2D-FEA240034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376">
            <a:extLst xmlns:a="http://schemas.openxmlformats.org/drawingml/2006/main">
              <a:ext uri="{FF2B5EF4-FFF2-40B4-BE49-F238E27FC236}">
                <a16:creationId xmlns:a16="http://schemas.microsoft.com/office/drawing/2014/main" id="{E53FD184-C8EB-44FD-8E39-76B282463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377">
            <a:extLst xmlns:a="http://schemas.openxmlformats.org/drawingml/2006/main">
              <a:ext uri="{FF2B5EF4-FFF2-40B4-BE49-F238E27FC236}">
                <a16:creationId xmlns:a16="http://schemas.microsoft.com/office/drawing/2014/main" id="{DDC9C8D9-9736-4B4E-998C-92F55FD39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目標</a:t>
            </a:r>
          </a:p>
        </p:txBody>
      </p:sp>
      <p:sp>
        <p:nvSpPr>
          <p:cNvPr id="9" name="text-1378">
            <a:extLst xmlns:a="http://schemas.openxmlformats.org/drawingml/2006/main">
              <a:ext uri="{FF2B5EF4-FFF2-40B4-BE49-F238E27FC236}">
                <a16:creationId xmlns:a16="http://schemas.microsoft.com/office/drawing/2014/main" id="{06EC93F0-2BB1-42E4-8F94-4C3F1634A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把上午 Canvas 原型改善成可在手機使用的教學活動。</a:t>
            </a:r>
          </a:p>
        </p:txBody>
      </p:sp>
      <p:sp>
        <p:nvSpPr>
          <p:cNvPr id="10" name="shape-1379">
            <a:extLst xmlns:a="http://schemas.openxmlformats.org/drawingml/2006/main">
              <a:ext uri="{FF2B5EF4-FFF2-40B4-BE49-F238E27FC236}">
                <a16:creationId xmlns:a16="http://schemas.microsoft.com/office/drawing/2014/main" id="{0B01C551-B21A-49C3-A7FB-88332A532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380">
            <a:extLst xmlns:a="http://schemas.openxmlformats.org/drawingml/2006/main">
              <a:ext uri="{FF2B5EF4-FFF2-40B4-BE49-F238E27FC236}">
                <a16:creationId xmlns:a16="http://schemas.microsoft.com/office/drawing/2014/main" id="{7A7B3729-81C3-4A45-A17B-3B72F6C05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381">
            <a:extLst xmlns:a="http://schemas.openxmlformats.org/drawingml/2006/main">
              <a:ext uri="{FF2B5EF4-FFF2-40B4-BE49-F238E27FC236}">
                <a16:creationId xmlns:a16="http://schemas.microsoft.com/office/drawing/2014/main" id="{0F25B886-59EE-4D4C-B05A-A17D15B90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素材</a:t>
            </a:r>
          </a:p>
        </p:txBody>
      </p:sp>
      <p:sp>
        <p:nvSpPr>
          <p:cNvPr id="13" name="text-1382">
            <a:extLst xmlns:a="http://schemas.openxmlformats.org/drawingml/2006/main">
              <a:ext uri="{FF2B5EF4-FFF2-40B4-BE49-F238E27FC236}">
                <a16:creationId xmlns:a16="http://schemas.microsoft.com/office/drawing/2014/main" id="{A80C1C85-4A71-4845-971E-AD222C5BF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使用指定資料夾、截圖、課程文字與現有程式碼。</a:t>
            </a:r>
          </a:p>
        </p:txBody>
      </p:sp>
      <p:sp>
        <p:nvSpPr>
          <p:cNvPr id="14" name="shape-1383">
            <a:extLst xmlns:a="http://schemas.openxmlformats.org/drawingml/2006/main">
              <a:ext uri="{FF2B5EF4-FFF2-40B4-BE49-F238E27FC236}">
                <a16:creationId xmlns:a16="http://schemas.microsoft.com/office/drawing/2014/main" id="{242BC243-0436-4857-880F-9FF0ABB52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384">
            <a:extLst xmlns:a="http://schemas.openxmlformats.org/drawingml/2006/main">
              <a:ext uri="{FF2B5EF4-FFF2-40B4-BE49-F238E27FC236}">
                <a16:creationId xmlns:a16="http://schemas.microsoft.com/office/drawing/2014/main" id="{29B46697-3DA0-48BE-AF07-6DC0B4A70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385">
            <a:extLst xmlns:a="http://schemas.openxmlformats.org/drawingml/2006/main">
              <a:ext uri="{FF2B5EF4-FFF2-40B4-BE49-F238E27FC236}">
                <a16:creationId xmlns:a16="http://schemas.microsoft.com/office/drawing/2014/main" id="{ECCA449E-04AE-427C-9A18-3A1A04D8F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限制</a:t>
            </a:r>
          </a:p>
        </p:txBody>
      </p:sp>
      <p:sp>
        <p:nvSpPr>
          <p:cNvPr id="17" name="text-1386">
            <a:extLst xmlns:a="http://schemas.openxmlformats.org/drawingml/2006/main">
              <a:ext uri="{FF2B5EF4-FFF2-40B4-BE49-F238E27FC236}">
                <a16:creationId xmlns:a16="http://schemas.microsoft.com/office/drawing/2014/main" id="{94CD0588-C84B-480B-96CF-64E13AB6E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不改核心內容、不放個資、不新增付費服務、不直接公開。</a:t>
            </a:r>
          </a:p>
        </p:txBody>
      </p:sp>
      <p:sp>
        <p:nvSpPr>
          <p:cNvPr id="18" name="shape-1387">
            <a:extLst xmlns:a="http://schemas.openxmlformats.org/drawingml/2006/main">
              <a:ext uri="{FF2B5EF4-FFF2-40B4-BE49-F238E27FC236}">
                <a16:creationId xmlns:a16="http://schemas.microsoft.com/office/drawing/2014/main" id="{E38FA40B-A1DC-41FB-8857-E68D0C863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388">
            <a:extLst xmlns:a="http://schemas.openxmlformats.org/drawingml/2006/main">
              <a:ext uri="{FF2B5EF4-FFF2-40B4-BE49-F238E27FC236}">
                <a16:creationId xmlns:a16="http://schemas.microsoft.com/office/drawing/2014/main" id="{BDEE06DA-234C-402B-9B07-2F1EEB43D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389">
            <a:extLst xmlns:a="http://schemas.openxmlformats.org/drawingml/2006/main">
              <a:ext uri="{FF2B5EF4-FFF2-40B4-BE49-F238E27FC236}">
                <a16:creationId xmlns:a16="http://schemas.microsoft.com/office/drawing/2014/main" id="{C57AD3A5-8D10-4443-8C0F-B0C4F35CE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驗收</a:t>
            </a:r>
          </a:p>
        </p:txBody>
      </p:sp>
      <p:sp>
        <p:nvSpPr>
          <p:cNvPr id="21" name="text-1390">
            <a:extLst xmlns:a="http://schemas.openxmlformats.org/drawingml/2006/main">
              <a:ext uri="{FF2B5EF4-FFF2-40B4-BE49-F238E27FC236}">
                <a16:creationId xmlns:a16="http://schemas.microsoft.com/office/drawing/2014/main" id="{B06CFB37-D3A5-454F-8E2A-9D539D0DC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完成桌機與手機測試，提供修改摘要與畫面證據。</a:t>
            </a:r>
          </a:p>
        </p:txBody>
      </p:sp>
      <p:sp>
        <p:nvSpPr>
          <p:cNvPr id="22" name="text-2254">
            <a:extLst xmlns:a="http://schemas.openxmlformats.org/drawingml/2006/main">
              <a:ext uri="{FF2B5EF4-FFF2-40B4-BE49-F238E27FC236}">
                <a16:creationId xmlns:a16="http://schemas.microsoft.com/office/drawing/2014/main" id="{A44559DF-6C6A-4FB1-9FBF-A765DC2D6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e406def546e4225"/>
              </a:rPr>
              <a:t>開啟 Antigravity ↗</a:t>
            </a:r>
          </a:p>
        </p:txBody>
      </p:sp>
      <p:sp>
        <p:nvSpPr>
          <p:cNvPr id="23" name="shape-2305">
            <a:extLst xmlns:a="http://schemas.openxmlformats.org/drawingml/2006/main">
              <a:ext uri="{FF2B5EF4-FFF2-40B4-BE49-F238E27FC236}">
                <a16:creationId xmlns:a16="http://schemas.microsoft.com/office/drawing/2014/main" id="{87951F69-1A3A-4994-8B1B-7C8C72548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4a56ab62104182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2306">
            <a:extLst xmlns:a="http://schemas.openxmlformats.org/drawingml/2006/main">
              <a:ext uri="{FF2B5EF4-FFF2-40B4-BE49-F238E27FC236}">
                <a16:creationId xmlns:a16="http://schemas.microsoft.com/office/drawing/2014/main" id="{45F4421F-6CC9-447B-B524-9962BD2CE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86181711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text-1391">
            <a:extLst xmlns:a="http://schemas.openxmlformats.org/drawingml/2006/main">
              <a:ext uri="{FF2B5EF4-FFF2-40B4-BE49-F238E27FC236}">
                <a16:creationId xmlns:a16="http://schemas.microsoft.com/office/drawing/2014/main" id="{4C3BCA82-E4DF-4FA0-BA63-E3DA9234B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LIVE DEMO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082FAB4-DC13-4405-8108-F37D6AECF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示範：請 Agent 改作品，但保留控制權</a:t>
            </a:r>
          </a:p>
        </p:txBody>
      </p:sp>
      <p:cxnSp>
        <p:nvCxnSpPr>
          <p:cNvPr id="59" name="shape-139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393">
            <a:extLst xmlns:a="http://schemas.openxmlformats.org/drawingml/2006/main">
              <a:ext uri="{FF2B5EF4-FFF2-40B4-BE49-F238E27FC236}">
                <a16:creationId xmlns:a16="http://schemas.microsoft.com/office/drawing/2014/main" id="{C62B8B2A-EE6E-4F9A-883A-A2A3036FA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0AC5003-2393-4CC9-8CA4-E7F7C6DEE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20</a:t>
            </a:r>
          </a:p>
        </p:txBody>
      </p:sp>
      <p:sp>
        <p:nvSpPr>
          <p:cNvPr id="6" name="shape-1394">
            <a:extLst xmlns:a="http://schemas.openxmlformats.org/drawingml/2006/main">
              <a:ext uri="{FF2B5EF4-FFF2-40B4-BE49-F238E27FC236}">
                <a16:creationId xmlns:a16="http://schemas.microsoft.com/office/drawing/2014/main" id="{6CCF748D-3F82-495E-B1AB-B41191FCE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395">
            <a:extLst xmlns:a="http://schemas.openxmlformats.org/drawingml/2006/main">
              <a:ext uri="{FF2B5EF4-FFF2-40B4-BE49-F238E27FC236}">
                <a16:creationId xmlns:a16="http://schemas.microsoft.com/office/drawing/2014/main" id="{E5CBB32E-ECD8-4D37-979A-1124D7CE5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396">
            <a:extLst xmlns:a="http://schemas.openxmlformats.org/drawingml/2006/main">
              <a:ext uri="{FF2B5EF4-FFF2-40B4-BE49-F238E27FC236}">
                <a16:creationId xmlns:a16="http://schemas.microsoft.com/office/drawing/2014/main" id="{78110426-FA45-43CE-A2E6-C1397189D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397">
            <a:extLst xmlns:a="http://schemas.openxmlformats.org/drawingml/2006/main">
              <a:ext uri="{FF2B5EF4-FFF2-40B4-BE49-F238E27FC236}">
                <a16:creationId xmlns:a16="http://schemas.microsoft.com/office/drawing/2014/main" id="{5683C8E5-67B8-4F2F-A9EE-EC1994219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先檢查</a:t>
            </a:r>
          </a:p>
        </p:txBody>
      </p:sp>
      <p:sp>
        <p:nvSpPr>
          <p:cNvPr id="10" name="text-1398">
            <a:extLst xmlns:a="http://schemas.openxmlformats.org/drawingml/2006/main">
              <a:ext uri="{FF2B5EF4-FFF2-40B4-BE49-F238E27FC236}">
                <a16:creationId xmlns:a16="http://schemas.microsoft.com/office/drawing/2014/main" id="{A0503890-A73F-4EFE-A0D2-A47B375B7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說明結構與問題</a:t>
            </a:r>
          </a:p>
        </p:txBody>
      </p:sp>
      <p:sp>
        <p:nvSpPr>
          <p:cNvPr id="11" name="text-1399">
            <a:extLst xmlns:a="http://schemas.openxmlformats.org/drawingml/2006/main">
              <a:ext uri="{FF2B5EF4-FFF2-40B4-BE49-F238E27FC236}">
                <a16:creationId xmlns:a16="http://schemas.microsoft.com/office/drawing/2014/main" id="{21ED5D97-59F1-43EA-9BBA-52383A7CE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400">
            <a:extLst xmlns:a="http://schemas.openxmlformats.org/drawingml/2006/main">
              <a:ext uri="{FF2B5EF4-FFF2-40B4-BE49-F238E27FC236}">
                <a16:creationId xmlns:a16="http://schemas.microsoft.com/office/drawing/2014/main" id="{FBE86CF3-D675-46B6-B14E-0F3743F4D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3" name="shape-1401">
            <a:extLst xmlns:a="http://schemas.openxmlformats.org/drawingml/2006/main">
              <a:ext uri="{FF2B5EF4-FFF2-40B4-BE49-F238E27FC236}">
                <a16:creationId xmlns:a16="http://schemas.microsoft.com/office/drawing/2014/main" id="{A8B34B84-B6D3-4DCA-9511-E851A1AA8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402">
            <a:extLst xmlns:a="http://schemas.openxmlformats.org/drawingml/2006/main">
              <a:ext uri="{FF2B5EF4-FFF2-40B4-BE49-F238E27FC236}">
                <a16:creationId xmlns:a16="http://schemas.microsoft.com/office/drawing/2014/main" id="{C6102C0D-9B65-4418-BE24-D55C67D53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403">
            <a:extLst xmlns:a="http://schemas.openxmlformats.org/drawingml/2006/main">
              <a:ext uri="{FF2B5EF4-FFF2-40B4-BE49-F238E27FC236}">
                <a16:creationId xmlns:a16="http://schemas.microsoft.com/office/drawing/2014/main" id="{3117E135-F995-4877-A2E2-234175B15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提計畫</a:t>
            </a:r>
          </a:p>
        </p:txBody>
      </p:sp>
      <p:sp>
        <p:nvSpPr>
          <p:cNvPr id="16" name="text-1404">
            <a:extLst xmlns:a="http://schemas.openxmlformats.org/drawingml/2006/main">
              <a:ext uri="{FF2B5EF4-FFF2-40B4-BE49-F238E27FC236}">
                <a16:creationId xmlns:a16="http://schemas.microsoft.com/office/drawing/2014/main" id="{01F03650-E602-42BE-AB6F-DC1D241C9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列修改與不修改</a:t>
            </a:r>
          </a:p>
        </p:txBody>
      </p:sp>
      <p:sp>
        <p:nvSpPr>
          <p:cNvPr id="17" name="text-1405">
            <a:extLst xmlns:a="http://schemas.openxmlformats.org/drawingml/2006/main">
              <a:ext uri="{FF2B5EF4-FFF2-40B4-BE49-F238E27FC236}">
                <a16:creationId xmlns:a16="http://schemas.microsoft.com/office/drawing/2014/main" id="{5F575477-18BE-45E6-BF1A-6B45F6F20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406">
            <a:extLst xmlns:a="http://schemas.openxmlformats.org/drawingml/2006/main">
              <a:ext uri="{FF2B5EF4-FFF2-40B4-BE49-F238E27FC236}">
                <a16:creationId xmlns:a16="http://schemas.microsoft.com/office/drawing/2014/main" id="{0F1DCA16-22A1-430C-8F15-6E08E1C57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shape-1407">
            <a:extLst xmlns:a="http://schemas.openxmlformats.org/drawingml/2006/main">
              <a:ext uri="{FF2B5EF4-FFF2-40B4-BE49-F238E27FC236}">
                <a16:creationId xmlns:a16="http://schemas.microsoft.com/office/drawing/2014/main" id="{F62AEA3C-8116-462F-8B64-1B453CC3C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408">
            <a:extLst xmlns:a="http://schemas.openxmlformats.org/drawingml/2006/main">
              <a:ext uri="{FF2B5EF4-FFF2-40B4-BE49-F238E27FC236}">
                <a16:creationId xmlns:a16="http://schemas.microsoft.com/office/drawing/2014/main" id="{FC2BA377-0EF4-434B-AF6C-94A159BFE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409">
            <a:extLst xmlns:a="http://schemas.openxmlformats.org/drawingml/2006/main">
              <a:ext uri="{FF2B5EF4-FFF2-40B4-BE49-F238E27FC236}">
                <a16:creationId xmlns:a16="http://schemas.microsoft.com/office/drawing/2014/main" id="{22CF27F8-6562-4A21-A889-E92855355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實作</a:t>
            </a:r>
          </a:p>
        </p:txBody>
      </p:sp>
      <p:sp>
        <p:nvSpPr>
          <p:cNvPr id="22" name="text-1410">
            <a:extLst xmlns:a="http://schemas.openxmlformats.org/drawingml/2006/main">
              <a:ext uri="{FF2B5EF4-FFF2-40B4-BE49-F238E27FC236}">
                <a16:creationId xmlns:a16="http://schemas.microsoft.com/office/drawing/2014/main" id="{466ABBF8-6DB3-4748-98C2-528811B68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只改同意範圍</a:t>
            </a:r>
          </a:p>
        </p:txBody>
      </p:sp>
      <p:sp>
        <p:nvSpPr>
          <p:cNvPr id="23" name="text-1411">
            <a:extLst xmlns:a="http://schemas.openxmlformats.org/drawingml/2006/main">
              <a:ext uri="{FF2B5EF4-FFF2-40B4-BE49-F238E27FC236}">
                <a16:creationId xmlns:a16="http://schemas.microsoft.com/office/drawing/2014/main" id="{CC09A43D-B50D-4D8B-98B1-574ED0515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412">
            <a:extLst xmlns:a="http://schemas.openxmlformats.org/drawingml/2006/main">
              <a:ext uri="{FF2B5EF4-FFF2-40B4-BE49-F238E27FC236}">
                <a16:creationId xmlns:a16="http://schemas.microsoft.com/office/drawing/2014/main" id="{929C73BD-C9A9-4AC3-A15D-DAD16B0AE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5" name="shape-1413">
            <a:extLst xmlns:a="http://schemas.openxmlformats.org/drawingml/2006/main">
              <a:ext uri="{FF2B5EF4-FFF2-40B4-BE49-F238E27FC236}">
                <a16:creationId xmlns:a16="http://schemas.microsoft.com/office/drawing/2014/main" id="{DBCC7D99-6B32-43BF-AAFE-5153B1183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414">
            <a:extLst xmlns:a="http://schemas.openxmlformats.org/drawingml/2006/main">
              <a:ext uri="{FF2B5EF4-FFF2-40B4-BE49-F238E27FC236}">
                <a16:creationId xmlns:a16="http://schemas.microsoft.com/office/drawing/2014/main" id="{4EC9247D-009C-4E3C-86D4-B2308F6A5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415">
            <a:extLst xmlns:a="http://schemas.openxmlformats.org/drawingml/2006/main">
              <a:ext uri="{FF2B5EF4-FFF2-40B4-BE49-F238E27FC236}">
                <a16:creationId xmlns:a16="http://schemas.microsoft.com/office/drawing/2014/main" id="{0D205A44-A843-4738-8102-44B4B3213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測試</a:t>
            </a:r>
          </a:p>
        </p:txBody>
      </p:sp>
      <p:sp>
        <p:nvSpPr>
          <p:cNvPr id="28" name="text-1416">
            <a:extLst xmlns:a="http://schemas.openxmlformats.org/drawingml/2006/main">
              <a:ext uri="{FF2B5EF4-FFF2-40B4-BE49-F238E27FC236}">
                <a16:creationId xmlns:a16="http://schemas.microsoft.com/office/drawing/2014/main" id="{20A43688-F403-4799-804C-646E24A6A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桌機與手機流程</a:t>
            </a:r>
          </a:p>
        </p:txBody>
      </p:sp>
      <p:sp>
        <p:nvSpPr>
          <p:cNvPr id="29" name="text-1417">
            <a:extLst xmlns:a="http://schemas.openxmlformats.org/drawingml/2006/main">
              <a:ext uri="{FF2B5EF4-FFF2-40B4-BE49-F238E27FC236}">
                <a16:creationId xmlns:a16="http://schemas.microsoft.com/office/drawing/2014/main" id="{812A24CB-40BB-445A-A454-E5A977835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418">
            <a:extLst xmlns:a="http://schemas.openxmlformats.org/drawingml/2006/main">
              <a:ext uri="{FF2B5EF4-FFF2-40B4-BE49-F238E27FC236}">
                <a16:creationId xmlns:a16="http://schemas.microsoft.com/office/drawing/2014/main" id="{E7617C9E-AA1B-48DD-A242-0AAC3ABAC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31" name="shape-1419">
            <a:extLst xmlns:a="http://schemas.openxmlformats.org/drawingml/2006/main">
              <a:ext uri="{FF2B5EF4-FFF2-40B4-BE49-F238E27FC236}">
                <a16:creationId xmlns:a16="http://schemas.microsoft.com/office/drawing/2014/main" id="{7C464365-7A79-4F00-BC26-59237A8B1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420">
            <a:extLst xmlns:a="http://schemas.openxmlformats.org/drawingml/2006/main">
              <a:ext uri="{FF2B5EF4-FFF2-40B4-BE49-F238E27FC236}">
                <a16:creationId xmlns:a16="http://schemas.microsoft.com/office/drawing/2014/main" id="{C1273558-B137-4F62-BE1E-3A9CFE09C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421">
            <a:extLst xmlns:a="http://schemas.openxmlformats.org/drawingml/2006/main">
              <a:ext uri="{FF2B5EF4-FFF2-40B4-BE49-F238E27FC236}">
                <a16:creationId xmlns:a16="http://schemas.microsoft.com/office/drawing/2014/main" id="{F7C2905C-8DBE-466F-BEA1-44EA18DDC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交付</a:t>
            </a:r>
          </a:p>
        </p:txBody>
      </p:sp>
      <p:sp>
        <p:nvSpPr>
          <p:cNvPr id="34" name="text-1422">
            <a:extLst xmlns:a="http://schemas.openxmlformats.org/drawingml/2006/main">
              <a:ext uri="{FF2B5EF4-FFF2-40B4-BE49-F238E27FC236}">
                <a16:creationId xmlns:a16="http://schemas.microsoft.com/office/drawing/2014/main" id="{F92DA674-DDFD-4D89-AF63-A62324D55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差異、證據、限制</a:t>
            </a:r>
          </a:p>
        </p:txBody>
      </p:sp>
      <p:sp>
        <p:nvSpPr>
          <p:cNvPr id="35" name="shape-1423">
            <a:extLst xmlns:a="http://schemas.openxmlformats.org/drawingml/2006/main">
              <a:ext uri="{FF2B5EF4-FFF2-40B4-BE49-F238E27FC236}">
                <a16:creationId xmlns:a16="http://schemas.microsoft.com/office/drawing/2014/main" id="{6581749F-59EC-4095-94CE-4D08F0B8E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67300"/>
            <a:ext cx="1116330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36" name="text-1424">
            <a:extLst xmlns:a="http://schemas.openxmlformats.org/drawingml/2006/main">
              <a:ext uri="{FF2B5EF4-FFF2-40B4-BE49-F238E27FC236}">
                <a16:creationId xmlns:a16="http://schemas.microsoft.com/office/drawing/2014/main" id="{08F972F6-D3A3-4922-BD76-8C4904DCC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9700"/>
            <a:ext cx="146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人在迴路</a:t>
            </a:r>
          </a:p>
        </p:txBody>
      </p:sp>
      <p:sp>
        <p:nvSpPr>
          <p:cNvPr id="37" name="text-1425">
            <a:extLst xmlns:a="http://schemas.openxmlformats.org/drawingml/2006/main">
              <a:ext uri="{FF2B5EF4-FFF2-40B4-BE49-F238E27FC236}">
                <a16:creationId xmlns:a16="http://schemas.microsoft.com/office/drawing/2014/main" id="{64D302A1-29FF-4BEC-A1B5-CA22F0830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14975"/>
            <a:ext cx="1466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177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Agent 可以推進，但最後的範圍與發布決定仍由人保留</a:t>
            </a:r>
          </a:p>
        </p:txBody>
      </p:sp>
      <p:sp>
        <p:nvSpPr>
          <p:cNvPr id="38" name="shape-1426">
            <a:extLst xmlns:a="http://schemas.openxmlformats.org/drawingml/2006/main">
              <a:ext uri="{FF2B5EF4-FFF2-40B4-BE49-F238E27FC236}">
                <a16:creationId xmlns:a16="http://schemas.microsoft.com/office/drawing/2014/main" id="{E99E9E34-4258-46A4-B146-40224B4E2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1B64DA"/>
            </a:solidFill>
            <a:prstDash val="solid"/>
          </a:ln>
        </p:spPr>
      </p:sp>
      <p:sp>
        <p:nvSpPr>
          <p:cNvPr id="39" name="text-1427">
            <a:extLst xmlns:a="http://schemas.openxmlformats.org/drawingml/2006/main">
              <a:ext uri="{FF2B5EF4-FFF2-40B4-BE49-F238E27FC236}">
                <a16:creationId xmlns:a16="http://schemas.microsoft.com/office/drawing/2014/main" id="{418B8397-7708-48F9-85D5-028C050A5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Agent 提案</a:t>
            </a:r>
          </a:p>
        </p:txBody>
      </p:sp>
      <p:sp>
        <p:nvSpPr>
          <p:cNvPr id="40" name="text-1428">
            <a:extLst xmlns:a="http://schemas.openxmlformats.org/drawingml/2006/main">
              <a:ext uri="{FF2B5EF4-FFF2-40B4-BE49-F238E27FC236}">
                <a16:creationId xmlns:a16="http://schemas.microsoft.com/office/drawing/2014/main" id="{DE14B0E0-64CB-4BE6-A2C0-46106C928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先看計畫</a:t>
            </a:r>
          </a:p>
        </p:txBody>
      </p:sp>
      <p:sp>
        <p:nvSpPr>
          <p:cNvPr id="41" name="text-1429">
            <a:extLst xmlns:a="http://schemas.openxmlformats.org/drawingml/2006/main">
              <a:ext uri="{FF2B5EF4-FFF2-40B4-BE49-F238E27FC236}">
                <a16:creationId xmlns:a16="http://schemas.microsoft.com/office/drawing/2014/main" id="{693354FB-08DC-4390-AEA0-D910A107E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5324475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22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CCD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CCD8E5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42" name="shape-1430">
            <a:extLst xmlns:a="http://schemas.openxmlformats.org/drawingml/2006/main">
              <a:ext uri="{FF2B5EF4-FFF2-40B4-BE49-F238E27FC236}">
                <a16:creationId xmlns:a16="http://schemas.microsoft.com/office/drawing/2014/main" id="{80C4719D-E706-46EC-AC3F-2B5E1BF99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0E9F94"/>
            </a:solidFill>
            <a:prstDash val="solid"/>
          </a:ln>
        </p:spPr>
      </p:sp>
      <p:sp>
        <p:nvSpPr>
          <p:cNvPr id="43" name="text-1431">
            <a:extLst xmlns:a="http://schemas.openxmlformats.org/drawingml/2006/main">
              <a:ext uri="{FF2B5EF4-FFF2-40B4-BE49-F238E27FC236}">
                <a16:creationId xmlns:a16="http://schemas.microsoft.com/office/drawing/2014/main" id="{00CF0D27-564A-4C0D-8894-9BA1944F1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0E9F94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E9F94"/>
                </a:solidFill>
                <a:latin typeface="Noto Sans TC"/>
                <a:ea typeface="Noto Sans TC"/>
                <a:cs typeface="Noto Sans TC"/>
              </a:rPr>
              <a:t>教師核准</a:t>
            </a:r>
          </a:p>
        </p:txBody>
      </p:sp>
      <p:sp>
        <p:nvSpPr>
          <p:cNvPr id="44" name="text-1432">
            <a:extLst xmlns:a="http://schemas.openxmlformats.org/drawingml/2006/main">
              <a:ext uri="{FF2B5EF4-FFF2-40B4-BE49-F238E27FC236}">
                <a16:creationId xmlns:a16="http://schemas.microsoft.com/office/drawing/2014/main" id="{A2F41BFA-F2DC-4AB2-B437-E61D0E11A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確認範圍</a:t>
            </a:r>
          </a:p>
        </p:txBody>
      </p:sp>
      <p:sp>
        <p:nvSpPr>
          <p:cNvPr id="45" name="text-1433">
            <a:extLst xmlns:a="http://schemas.openxmlformats.org/drawingml/2006/main">
              <a:ext uri="{FF2B5EF4-FFF2-40B4-BE49-F238E27FC236}">
                <a16:creationId xmlns:a16="http://schemas.microsoft.com/office/drawing/2014/main" id="{C6004EDE-65C1-4378-9716-08F69BC21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5324475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22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CCD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CCD8E5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46" name="shape-1434">
            <a:extLst xmlns:a="http://schemas.openxmlformats.org/drawingml/2006/main">
              <a:ext uri="{FF2B5EF4-FFF2-40B4-BE49-F238E27FC236}">
                <a16:creationId xmlns:a16="http://schemas.microsoft.com/office/drawing/2014/main" id="{C8FD15AA-7D2A-4583-95AA-0AAA76E3C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FF6B4A"/>
            </a:solidFill>
            <a:prstDash val="solid"/>
          </a:ln>
        </p:spPr>
      </p:sp>
      <p:sp>
        <p:nvSpPr>
          <p:cNvPr id="47" name="text-1435">
            <a:extLst xmlns:a="http://schemas.openxmlformats.org/drawingml/2006/main">
              <a:ext uri="{FF2B5EF4-FFF2-40B4-BE49-F238E27FC236}">
                <a16:creationId xmlns:a16="http://schemas.microsoft.com/office/drawing/2014/main" id="{0400AD98-C0B4-44B3-BCF3-3219F9AF7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測試驗證</a:t>
            </a:r>
          </a:p>
        </p:txBody>
      </p:sp>
      <p:sp>
        <p:nvSpPr>
          <p:cNvPr id="48" name="text-1436">
            <a:extLst xmlns:a="http://schemas.openxmlformats.org/drawingml/2006/main">
              <a:ext uri="{FF2B5EF4-FFF2-40B4-BE49-F238E27FC236}">
                <a16:creationId xmlns:a16="http://schemas.microsoft.com/office/drawing/2014/main" id="{F8BEABE1-B694-4048-97FC-7DA0AD890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桌機 × 手機</a:t>
            </a:r>
          </a:p>
        </p:txBody>
      </p:sp>
      <p:sp>
        <p:nvSpPr>
          <p:cNvPr id="49" name="text-1437">
            <a:extLst xmlns:a="http://schemas.openxmlformats.org/drawingml/2006/main">
              <a:ext uri="{FF2B5EF4-FFF2-40B4-BE49-F238E27FC236}">
                <a16:creationId xmlns:a16="http://schemas.microsoft.com/office/drawing/2014/main" id="{358D629A-3081-45BE-9965-073C26D9B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5324475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22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CCD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CCD8E5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50" name="shape-1438">
            <a:extLst xmlns:a="http://schemas.openxmlformats.org/drawingml/2006/main">
              <a:ext uri="{FF2B5EF4-FFF2-40B4-BE49-F238E27FC236}">
                <a16:creationId xmlns:a16="http://schemas.microsoft.com/office/drawing/2014/main" id="{9CC15F7D-BB37-4957-AC73-B620389E1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51" name="text-1439">
            <a:extLst xmlns:a="http://schemas.openxmlformats.org/drawingml/2006/main">
              <a:ext uri="{FF2B5EF4-FFF2-40B4-BE49-F238E27FC236}">
                <a16:creationId xmlns:a16="http://schemas.microsoft.com/office/drawing/2014/main" id="{413D2B4B-721B-4EF6-BED7-5440B31A9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再決定交付</a:t>
            </a:r>
          </a:p>
        </p:txBody>
      </p:sp>
      <p:sp>
        <p:nvSpPr>
          <p:cNvPr id="52" name="text-1440">
            <a:extLst xmlns:a="http://schemas.openxmlformats.org/drawingml/2006/main">
              <a:ext uri="{FF2B5EF4-FFF2-40B4-BE49-F238E27FC236}">
                <a16:creationId xmlns:a16="http://schemas.microsoft.com/office/drawing/2014/main" id="{473F0817-DD73-45F4-BBCD-2BC087C94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差異・證據・限制</a:t>
            </a:r>
          </a:p>
        </p:txBody>
      </p:sp>
      <p:sp>
        <p:nvSpPr>
          <p:cNvPr id="53" name="text-2255">
            <a:extLst xmlns:a="http://schemas.openxmlformats.org/drawingml/2006/main">
              <a:ext uri="{FF2B5EF4-FFF2-40B4-BE49-F238E27FC236}">
                <a16:creationId xmlns:a16="http://schemas.microsoft.com/office/drawing/2014/main" id="{1B630E99-CF9F-441A-9588-A2369BFFB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2250507e7444370"/>
              </a:rPr>
              <a:t>開啟 Antigravity ↗</a:t>
            </a:r>
          </a:p>
        </p:txBody>
      </p:sp>
      <p:sp>
        <p:nvSpPr>
          <p:cNvPr id="54" name="shape-2307">
            <a:extLst xmlns:a="http://schemas.openxmlformats.org/drawingml/2006/main">
              <a:ext uri="{FF2B5EF4-FFF2-40B4-BE49-F238E27FC236}">
                <a16:creationId xmlns:a16="http://schemas.microsoft.com/office/drawing/2014/main" id="{01BC4769-3D46-470D-BA26-9B1FE513B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1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51cf7f2df54284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56" name="text-2308">
            <a:extLst xmlns:a="http://schemas.openxmlformats.org/drawingml/2006/main">
              <a:ext uri="{FF2B5EF4-FFF2-40B4-BE49-F238E27FC236}">
                <a16:creationId xmlns:a16="http://schemas.microsoft.com/office/drawing/2014/main" id="{FFE181FF-D8C6-4D7C-A8EE-AF5F07A39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76396285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1441">
            <a:extLst xmlns:a="http://schemas.openxmlformats.org/drawingml/2006/main">
              <a:ext uri="{FF2B5EF4-FFF2-40B4-BE49-F238E27FC236}">
                <a16:creationId xmlns:a16="http://schemas.microsoft.com/office/drawing/2014/main" id="{18FC3C81-F86E-4969-B7ED-FE3878488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EVIDENCE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FD6BB02-A3D1-469B-B842-B650CFA07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 的完成證據：四樣少一樣就要追問</a:t>
            </a:r>
          </a:p>
        </p:txBody>
      </p:sp>
      <p:cxnSp>
        <p:nvCxnSpPr>
          <p:cNvPr id="28" name="shape-144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443">
            <a:extLst xmlns:a="http://schemas.openxmlformats.org/drawingml/2006/main">
              <a:ext uri="{FF2B5EF4-FFF2-40B4-BE49-F238E27FC236}">
                <a16:creationId xmlns:a16="http://schemas.microsoft.com/office/drawing/2014/main" id="{08433619-E5D0-4511-9FC9-A3F392D92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49BE26B-3C43-4E6B-A975-D4D656146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21</a:t>
            </a:r>
          </a:p>
        </p:txBody>
      </p:sp>
      <p:sp>
        <p:nvSpPr>
          <p:cNvPr id="6" name="shape-1444">
            <a:extLst xmlns:a="http://schemas.openxmlformats.org/drawingml/2006/main">
              <a:ext uri="{FF2B5EF4-FFF2-40B4-BE49-F238E27FC236}">
                <a16:creationId xmlns:a16="http://schemas.microsoft.com/office/drawing/2014/main" id="{49162C35-265D-4CC5-81F8-8426CFE4F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445">
            <a:extLst xmlns:a="http://schemas.openxmlformats.org/drawingml/2006/main">
              <a:ext uri="{FF2B5EF4-FFF2-40B4-BE49-F238E27FC236}">
                <a16:creationId xmlns:a16="http://schemas.microsoft.com/office/drawing/2014/main" id="{AFE67074-5714-4A70-ACEA-6C66E5DB4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446">
            <a:extLst xmlns:a="http://schemas.openxmlformats.org/drawingml/2006/main">
              <a:ext uri="{FF2B5EF4-FFF2-40B4-BE49-F238E27FC236}">
                <a16:creationId xmlns:a16="http://schemas.microsoft.com/office/drawing/2014/main" id="{09228124-4DC2-4FCA-BC19-127445114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變更摘要</a:t>
            </a:r>
          </a:p>
        </p:txBody>
      </p:sp>
      <p:sp>
        <p:nvSpPr>
          <p:cNvPr id="9" name="text-1447">
            <a:extLst xmlns:a="http://schemas.openxmlformats.org/drawingml/2006/main">
              <a:ext uri="{FF2B5EF4-FFF2-40B4-BE49-F238E27FC236}">
                <a16:creationId xmlns:a16="http://schemas.microsoft.com/office/drawing/2014/main" id="{D4E936EA-930B-4FA9-98C3-60FC6B520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改了哪些檔案、為什麼改、沒有改什麼。</a:t>
            </a:r>
          </a:p>
        </p:txBody>
      </p:sp>
      <p:sp>
        <p:nvSpPr>
          <p:cNvPr id="10" name="shape-1448">
            <a:extLst xmlns:a="http://schemas.openxmlformats.org/drawingml/2006/main">
              <a:ext uri="{FF2B5EF4-FFF2-40B4-BE49-F238E27FC236}">
                <a16:creationId xmlns:a16="http://schemas.microsoft.com/office/drawing/2014/main" id="{F18FCAAE-04B1-4095-BBBA-03AB0A12D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449">
            <a:extLst xmlns:a="http://schemas.openxmlformats.org/drawingml/2006/main">
              <a:ext uri="{FF2B5EF4-FFF2-40B4-BE49-F238E27FC236}">
                <a16:creationId xmlns:a16="http://schemas.microsoft.com/office/drawing/2014/main" id="{EDE89F04-5C2C-4D90-BCEB-00779C8C7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450">
            <a:extLst xmlns:a="http://schemas.openxmlformats.org/drawingml/2006/main">
              <a:ext uri="{FF2B5EF4-FFF2-40B4-BE49-F238E27FC236}">
                <a16:creationId xmlns:a16="http://schemas.microsoft.com/office/drawing/2014/main" id="{BB35B86B-011C-4656-96BE-B7B05D082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測試結果</a:t>
            </a:r>
          </a:p>
        </p:txBody>
      </p:sp>
      <p:sp>
        <p:nvSpPr>
          <p:cNvPr id="13" name="text-1451">
            <a:extLst xmlns:a="http://schemas.openxmlformats.org/drawingml/2006/main">
              <a:ext uri="{FF2B5EF4-FFF2-40B4-BE49-F238E27FC236}">
                <a16:creationId xmlns:a16="http://schemas.microsoft.com/office/drawing/2014/main" id="{5D71605B-0B60-4DB0-95C5-A9A5F0B3D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實際執行哪些檢查，結果是通過、失敗或未執行。</a:t>
            </a:r>
          </a:p>
        </p:txBody>
      </p:sp>
      <p:sp>
        <p:nvSpPr>
          <p:cNvPr id="14" name="shape-1452">
            <a:extLst xmlns:a="http://schemas.openxmlformats.org/drawingml/2006/main">
              <a:ext uri="{FF2B5EF4-FFF2-40B4-BE49-F238E27FC236}">
                <a16:creationId xmlns:a16="http://schemas.microsoft.com/office/drawing/2014/main" id="{D1A4D1CC-3B58-4926-AD73-D23596D5E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453">
            <a:extLst xmlns:a="http://schemas.openxmlformats.org/drawingml/2006/main">
              <a:ext uri="{FF2B5EF4-FFF2-40B4-BE49-F238E27FC236}">
                <a16:creationId xmlns:a16="http://schemas.microsoft.com/office/drawing/2014/main" id="{3FC9527F-ED7C-4E96-B06C-672EF5864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454">
            <a:extLst xmlns:a="http://schemas.openxmlformats.org/drawingml/2006/main">
              <a:ext uri="{FF2B5EF4-FFF2-40B4-BE49-F238E27FC236}">
                <a16:creationId xmlns:a16="http://schemas.microsoft.com/office/drawing/2014/main" id="{DF6550BA-D5DB-4B25-BD71-CABBEB537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畫面證據</a:t>
            </a:r>
          </a:p>
        </p:txBody>
      </p:sp>
      <p:sp>
        <p:nvSpPr>
          <p:cNvPr id="17" name="text-1455">
            <a:extLst xmlns:a="http://schemas.openxmlformats.org/drawingml/2006/main">
              <a:ext uri="{FF2B5EF4-FFF2-40B4-BE49-F238E27FC236}">
                <a16:creationId xmlns:a16="http://schemas.microsoft.com/office/drawing/2014/main" id="{36F203CD-A633-4CA5-B1A2-45F2D276C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用實際截圖或預覽驗證，不只描述應該長什麼樣。</a:t>
            </a:r>
          </a:p>
        </p:txBody>
      </p:sp>
      <p:sp>
        <p:nvSpPr>
          <p:cNvPr id="18" name="shape-1456">
            <a:extLst xmlns:a="http://schemas.openxmlformats.org/drawingml/2006/main">
              <a:ext uri="{FF2B5EF4-FFF2-40B4-BE49-F238E27FC236}">
                <a16:creationId xmlns:a16="http://schemas.microsoft.com/office/drawing/2014/main" id="{97E65C43-9425-46E2-B590-A58A63007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457">
            <a:extLst xmlns:a="http://schemas.openxmlformats.org/drawingml/2006/main">
              <a:ext uri="{FF2B5EF4-FFF2-40B4-BE49-F238E27FC236}">
                <a16:creationId xmlns:a16="http://schemas.microsoft.com/office/drawing/2014/main" id="{448C2929-38A0-4267-8930-AF2FB7A8C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458">
            <a:extLst xmlns:a="http://schemas.openxmlformats.org/drawingml/2006/main">
              <a:ext uri="{FF2B5EF4-FFF2-40B4-BE49-F238E27FC236}">
                <a16:creationId xmlns:a16="http://schemas.microsoft.com/office/drawing/2014/main" id="{E99E8557-F2A3-4D5E-8815-E6344BF74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已知限制</a:t>
            </a:r>
          </a:p>
        </p:txBody>
      </p:sp>
      <p:sp>
        <p:nvSpPr>
          <p:cNvPr id="21" name="text-1459">
            <a:extLst xmlns:a="http://schemas.openxmlformats.org/drawingml/2006/main">
              <a:ext uri="{FF2B5EF4-FFF2-40B4-BE49-F238E27FC236}">
                <a16:creationId xmlns:a16="http://schemas.microsoft.com/office/drawing/2014/main" id="{D1A781C7-B735-435D-A1D3-85E5C9D4F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哪些仍未確認、需要帳號、需要人工判斷或下一輪處理。</a:t>
            </a:r>
          </a:p>
        </p:txBody>
      </p:sp>
      <p:sp>
        <p:nvSpPr>
          <p:cNvPr id="22" name="text-2256">
            <a:extLst xmlns:a="http://schemas.openxmlformats.org/drawingml/2006/main">
              <a:ext uri="{FF2B5EF4-FFF2-40B4-BE49-F238E27FC236}">
                <a16:creationId xmlns:a16="http://schemas.microsoft.com/office/drawing/2014/main" id="{515B1ED5-A52F-4713-9A88-AC55BAAB2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46a5d9e2ebf45e5"/>
              </a:rPr>
              <a:t>開啟 Antigravity ↗</a:t>
            </a:r>
          </a:p>
        </p:txBody>
      </p:sp>
      <p:sp>
        <p:nvSpPr>
          <p:cNvPr id="23" name="shape-2309">
            <a:extLst xmlns:a="http://schemas.openxmlformats.org/drawingml/2006/main">
              <a:ext uri="{FF2B5EF4-FFF2-40B4-BE49-F238E27FC236}">
                <a16:creationId xmlns:a16="http://schemas.microsoft.com/office/drawing/2014/main" id="{9CA095AB-9B2C-4DA7-BD91-DF02C04FE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0f9dd30b4943d6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2310">
            <a:extLst xmlns:a="http://schemas.openxmlformats.org/drawingml/2006/main">
              <a:ext uri="{FF2B5EF4-FFF2-40B4-BE49-F238E27FC236}">
                <a16:creationId xmlns:a16="http://schemas.microsoft.com/office/drawing/2014/main" id="{219819B6-2D50-4255-AA2A-75BF40F02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902447084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1460">
            <a:extLst xmlns:a="http://schemas.openxmlformats.org/drawingml/2006/main">
              <a:ext uri="{FF2B5EF4-FFF2-40B4-BE49-F238E27FC236}">
                <a16:creationId xmlns:a16="http://schemas.microsoft.com/office/drawing/2014/main" id="{60C01B23-A6F0-44FD-8389-9203D7C5E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0A2DD7E-1F94-4409-A6B1-72BD238EB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實作 A｜Antigravity 完成一個小而完整的任務</a:t>
            </a:r>
          </a:p>
        </p:txBody>
      </p:sp>
      <p:cxnSp>
        <p:nvCxnSpPr>
          <p:cNvPr id="25" name="shape-146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462">
            <a:extLst xmlns:a="http://schemas.openxmlformats.org/drawingml/2006/main">
              <a:ext uri="{FF2B5EF4-FFF2-40B4-BE49-F238E27FC236}">
                <a16:creationId xmlns:a16="http://schemas.microsoft.com/office/drawing/2014/main" id="{742AE22E-E41F-4F3B-BE6F-373CC0195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5F6F641-EB80-418A-92C4-D15B2F942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22</a:t>
            </a:r>
          </a:p>
        </p:txBody>
      </p:sp>
      <p:sp>
        <p:nvSpPr>
          <p:cNvPr id="6" name="text-1463">
            <a:extLst xmlns:a="http://schemas.openxmlformats.org/drawingml/2006/main">
              <a:ext uri="{FF2B5EF4-FFF2-40B4-BE49-F238E27FC236}">
                <a16:creationId xmlns:a16="http://schemas.microsoft.com/office/drawing/2014/main" id="{8F8DCC65-784B-41C3-ACDF-BB05F8C73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464">
            <a:extLst xmlns:a="http://schemas.openxmlformats.org/drawingml/2006/main">
              <a:ext uri="{FF2B5EF4-FFF2-40B4-BE49-F238E27FC236}">
                <a16:creationId xmlns:a16="http://schemas.microsoft.com/office/drawing/2014/main" id="{1893F1C8-0A3C-4315-BE4E-8E382CD3E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465">
            <a:extLst xmlns:a="http://schemas.openxmlformats.org/drawingml/2006/main">
              <a:ext uri="{FF2B5EF4-FFF2-40B4-BE49-F238E27FC236}">
                <a16:creationId xmlns:a16="http://schemas.microsoft.com/office/drawing/2014/main" id="{C41EF473-71A4-4CE3-8549-C681A7478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466">
            <a:extLst xmlns:a="http://schemas.openxmlformats.org/drawingml/2006/main">
              <a:ext uri="{FF2B5EF4-FFF2-40B4-BE49-F238E27FC236}">
                <a16:creationId xmlns:a16="http://schemas.microsoft.com/office/drawing/2014/main" id="{47EEB504-18BB-4114-A320-B4DF8133B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交付四句任務簡報</a:t>
            </a:r>
          </a:p>
        </p:txBody>
      </p:sp>
      <p:sp>
        <p:nvSpPr>
          <p:cNvPr id="10" name="text-1467">
            <a:extLst xmlns:a="http://schemas.openxmlformats.org/drawingml/2006/main">
              <a:ext uri="{FF2B5EF4-FFF2-40B4-BE49-F238E27FC236}">
                <a16:creationId xmlns:a16="http://schemas.microsoft.com/office/drawing/2014/main" id="{9F2D52B7-599D-444A-8D36-E57F06366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468">
            <a:extLst xmlns:a="http://schemas.openxmlformats.org/drawingml/2006/main">
              <a:ext uri="{FF2B5EF4-FFF2-40B4-BE49-F238E27FC236}">
                <a16:creationId xmlns:a16="http://schemas.microsoft.com/office/drawing/2014/main" id="{72CE23D0-429B-4C38-B5CF-6CE56C9EB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先請 Agent 檢查並提出計畫</a:t>
            </a:r>
          </a:p>
        </p:txBody>
      </p:sp>
      <p:sp>
        <p:nvSpPr>
          <p:cNvPr id="12" name="text-1469">
            <a:extLst xmlns:a="http://schemas.openxmlformats.org/drawingml/2006/main">
              <a:ext uri="{FF2B5EF4-FFF2-40B4-BE49-F238E27FC236}">
                <a16:creationId xmlns:a16="http://schemas.microsoft.com/office/drawing/2014/main" id="{0BD1F775-B1A4-4494-849A-0EDBF4B1B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470">
            <a:extLst xmlns:a="http://schemas.openxmlformats.org/drawingml/2006/main">
              <a:ext uri="{FF2B5EF4-FFF2-40B4-BE49-F238E27FC236}">
                <a16:creationId xmlns:a16="http://schemas.microsoft.com/office/drawing/2014/main" id="{DF56DF9C-2757-49BF-9416-0449FAF4A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確認範圍後執行</a:t>
            </a:r>
          </a:p>
        </p:txBody>
      </p:sp>
      <p:sp>
        <p:nvSpPr>
          <p:cNvPr id="14" name="text-1471">
            <a:extLst xmlns:a="http://schemas.openxmlformats.org/drawingml/2006/main">
              <a:ext uri="{FF2B5EF4-FFF2-40B4-BE49-F238E27FC236}">
                <a16:creationId xmlns:a16="http://schemas.microsoft.com/office/drawing/2014/main" id="{30FECC3A-F663-45D1-9854-197AC69F2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472">
            <a:extLst xmlns:a="http://schemas.openxmlformats.org/drawingml/2006/main">
              <a:ext uri="{FF2B5EF4-FFF2-40B4-BE49-F238E27FC236}">
                <a16:creationId xmlns:a16="http://schemas.microsoft.com/office/drawing/2014/main" id="{D09FDDBF-AD76-4F06-8F0C-2F7579EDC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取得變更、測試與限制</a:t>
            </a:r>
          </a:p>
        </p:txBody>
      </p:sp>
      <p:sp>
        <p:nvSpPr>
          <p:cNvPr id="16" name="shape-1473">
            <a:extLst xmlns:a="http://schemas.openxmlformats.org/drawingml/2006/main">
              <a:ext uri="{FF2B5EF4-FFF2-40B4-BE49-F238E27FC236}">
                <a16:creationId xmlns:a16="http://schemas.microsoft.com/office/drawing/2014/main" id="{4E16C2CB-3658-4A1E-BC65-88501BD28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7" name="text-1474">
            <a:extLst xmlns:a="http://schemas.openxmlformats.org/drawingml/2006/main">
              <a:ext uri="{FF2B5EF4-FFF2-40B4-BE49-F238E27FC236}">
                <a16:creationId xmlns:a16="http://schemas.microsoft.com/office/drawing/2014/main" id="{44B06491-2730-4ADC-98FD-8F08390DC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475">
            <a:extLst xmlns:a="http://schemas.openxmlformats.org/drawingml/2006/main">
              <a:ext uri="{FF2B5EF4-FFF2-40B4-BE49-F238E27FC236}">
                <a16:creationId xmlns:a16="http://schemas.microsoft.com/office/drawing/2014/main" id="{34740AAE-B9B3-45A4-96CE-2DAFBBEC0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任務單一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有實際產物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有至少一項驗證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沒有未授權發布</a:t>
            </a:r>
          </a:p>
        </p:txBody>
      </p:sp>
      <p:sp>
        <p:nvSpPr>
          <p:cNvPr id="19" name="text-2257">
            <a:extLst xmlns:a="http://schemas.openxmlformats.org/drawingml/2006/main">
              <a:ext uri="{FF2B5EF4-FFF2-40B4-BE49-F238E27FC236}">
                <a16:creationId xmlns:a16="http://schemas.microsoft.com/office/drawing/2014/main" id="{0040882B-90FC-4777-A4D7-ABCFC3733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f1da4a45ec4429a"/>
              </a:rPr>
              <a:t>開啟 Antigravity ↗</a:t>
            </a:r>
          </a:p>
        </p:txBody>
      </p:sp>
      <p:sp>
        <p:nvSpPr>
          <p:cNvPr id="20" name="shape-2311">
            <a:extLst xmlns:a="http://schemas.openxmlformats.org/drawingml/2006/main">
              <a:ext uri="{FF2B5EF4-FFF2-40B4-BE49-F238E27FC236}">
                <a16:creationId xmlns:a16="http://schemas.microsoft.com/office/drawing/2014/main" id="{5C58683F-35BE-4550-9A14-D6EA1FA32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0ed7c2e1e84a94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2312">
            <a:extLst xmlns:a="http://schemas.openxmlformats.org/drawingml/2006/main">
              <a:ext uri="{FF2B5EF4-FFF2-40B4-BE49-F238E27FC236}">
                <a16:creationId xmlns:a16="http://schemas.microsoft.com/office/drawing/2014/main" id="{94A0383A-BD10-4E16-9F85-C29453447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932500063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text-1476">
            <a:extLst xmlns:a="http://schemas.openxmlformats.org/drawingml/2006/main">
              <a:ext uri="{FF2B5EF4-FFF2-40B4-BE49-F238E27FC236}">
                <a16:creationId xmlns:a16="http://schemas.microsoft.com/office/drawing/2014/main" id="{8E7F9B98-FC50-48FD-9D58-F3D089F48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SCHEDULED AGENT · GEMINI SPARK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6E8B966-DEB5-4BC9-AC15-5F8BD03C5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Gemini Spark：讓 Agent 按時上工</a:t>
            </a:r>
          </a:p>
        </p:txBody>
      </p:sp>
      <p:cxnSp>
        <p:nvCxnSpPr>
          <p:cNvPr id="32" name="shape-147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478">
            <a:extLst xmlns:a="http://schemas.openxmlformats.org/drawingml/2006/main">
              <a:ext uri="{FF2B5EF4-FFF2-40B4-BE49-F238E27FC236}">
                <a16:creationId xmlns:a16="http://schemas.microsoft.com/office/drawing/2014/main" id="{1CB36F67-5F87-4C79-B937-53D62C5A5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EA2B9D8-7E3A-42CA-BD37-C5A1DE205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23</a:t>
            </a:r>
          </a:p>
        </p:txBody>
      </p:sp>
      <p:sp>
        <p:nvSpPr>
          <p:cNvPr id="6" name="shape-1479">
            <a:extLst xmlns:a="http://schemas.openxmlformats.org/drawingml/2006/main">
              <a:ext uri="{FF2B5EF4-FFF2-40B4-BE49-F238E27FC236}">
                <a16:creationId xmlns:a16="http://schemas.microsoft.com/office/drawing/2014/main" id="{68A472D6-C26B-444C-9E22-3F12361D5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480">
            <a:extLst xmlns:a="http://schemas.openxmlformats.org/drawingml/2006/main">
              <a:ext uri="{FF2B5EF4-FFF2-40B4-BE49-F238E27FC236}">
                <a16:creationId xmlns:a16="http://schemas.microsoft.com/office/drawing/2014/main" id="{B36918DC-9E87-44A1-9935-81AF6E6C0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481">
            <a:extLst xmlns:a="http://schemas.openxmlformats.org/drawingml/2006/main">
              <a:ext uri="{FF2B5EF4-FFF2-40B4-BE49-F238E27FC236}">
                <a16:creationId xmlns:a16="http://schemas.microsoft.com/office/drawing/2014/main" id="{AA022D1C-AB72-41BB-B0B4-3F2149CD7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一次任務</a:t>
            </a:r>
          </a:p>
        </p:txBody>
      </p:sp>
      <p:sp>
        <p:nvSpPr>
          <p:cNvPr id="9" name="text-1482">
            <a:extLst xmlns:a="http://schemas.openxmlformats.org/drawingml/2006/main">
              <a:ext uri="{FF2B5EF4-FFF2-40B4-BE49-F238E27FC236}">
                <a16:creationId xmlns:a16="http://schemas.microsoft.com/office/drawing/2014/main" id="{0EC5F804-886B-4ACB-8305-D0F96F42E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先說清楚目標、素材、限制與驗收，讓 Spark 完成一個可檢查的工作。</a:t>
            </a:r>
          </a:p>
        </p:txBody>
      </p:sp>
      <p:sp>
        <p:nvSpPr>
          <p:cNvPr id="10" name="shape-1483">
            <a:extLst xmlns:a="http://schemas.openxmlformats.org/drawingml/2006/main">
              <a:ext uri="{FF2B5EF4-FFF2-40B4-BE49-F238E27FC236}">
                <a16:creationId xmlns:a16="http://schemas.microsoft.com/office/drawing/2014/main" id="{BDBBEA6E-BD92-4A42-BE09-B6EBDBCFB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484">
            <a:extLst xmlns:a="http://schemas.openxmlformats.org/drawingml/2006/main">
              <a:ext uri="{FF2B5EF4-FFF2-40B4-BE49-F238E27FC236}">
                <a16:creationId xmlns:a16="http://schemas.microsoft.com/office/drawing/2014/main" id="{8BAED9AD-B778-4F58-9CDE-CEEF56557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485">
            <a:extLst xmlns:a="http://schemas.openxmlformats.org/drawingml/2006/main">
              <a:ext uri="{FF2B5EF4-FFF2-40B4-BE49-F238E27FC236}">
                <a16:creationId xmlns:a16="http://schemas.microsoft.com/office/drawing/2014/main" id="{AF4350C0-A832-4109-943C-2C2D973E7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背景排程</a:t>
            </a:r>
          </a:p>
        </p:txBody>
      </p:sp>
      <p:sp>
        <p:nvSpPr>
          <p:cNvPr id="13" name="text-1486">
            <a:extLst xmlns:a="http://schemas.openxmlformats.org/drawingml/2006/main">
              <a:ext uri="{FF2B5EF4-FFF2-40B4-BE49-F238E27FC236}">
                <a16:creationId xmlns:a16="http://schemas.microsoft.com/office/drawing/2014/main" id="{CC31F1FC-B2D2-4B31-8631-2E74DB7D5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把任務交給雲端，在指定時間或符合條件時啟動，不必一直守在聊天室前。</a:t>
            </a:r>
          </a:p>
        </p:txBody>
      </p:sp>
      <p:sp>
        <p:nvSpPr>
          <p:cNvPr id="14" name="shape-1487">
            <a:extLst xmlns:a="http://schemas.openxmlformats.org/drawingml/2006/main">
              <a:ext uri="{FF2B5EF4-FFF2-40B4-BE49-F238E27FC236}">
                <a16:creationId xmlns:a16="http://schemas.microsoft.com/office/drawing/2014/main" id="{4CE3A428-299E-4411-AC99-35C7DF8EA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488">
            <a:extLst xmlns:a="http://schemas.openxmlformats.org/drawingml/2006/main">
              <a:ext uri="{FF2B5EF4-FFF2-40B4-BE49-F238E27FC236}">
                <a16:creationId xmlns:a16="http://schemas.microsoft.com/office/drawing/2014/main" id="{12B7663D-3A47-4F67-8780-440F876A4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489">
            <a:extLst xmlns:a="http://schemas.openxmlformats.org/drawingml/2006/main">
              <a:ext uri="{FF2B5EF4-FFF2-40B4-BE49-F238E27FC236}">
                <a16:creationId xmlns:a16="http://schemas.microsoft.com/office/drawing/2014/main" id="{B0113969-977D-4861-AB2A-26D8A352B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重複工作</a:t>
            </a:r>
          </a:p>
        </p:txBody>
      </p:sp>
      <p:sp>
        <p:nvSpPr>
          <p:cNvPr id="17" name="text-1490">
            <a:extLst xmlns:a="http://schemas.openxmlformats.org/drawingml/2006/main">
              <a:ext uri="{FF2B5EF4-FFF2-40B4-BE49-F238E27FC236}">
                <a16:creationId xmlns:a16="http://schemas.microsoft.com/office/drawing/2014/main" id="{283294EE-617D-4E41-866A-B7612DBD1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每週整理教學資料、追蹤研究主題、彙整待辦，讓高頻流程按表運行。</a:t>
            </a:r>
          </a:p>
        </p:txBody>
      </p:sp>
      <p:sp>
        <p:nvSpPr>
          <p:cNvPr id="18" name="shape-1491">
            <a:extLst xmlns:a="http://schemas.openxmlformats.org/drawingml/2006/main">
              <a:ext uri="{FF2B5EF4-FFF2-40B4-BE49-F238E27FC236}">
                <a16:creationId xmlns:a16="http://schemas.microsoft.com/office/drawing/2014/main" id="{FD793E8B-B665-4DA0-90A1-82CAF7EE5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492">
            <a:extLst xmlns:a="http://schemas.openxmlformats.org/drawingml/2006/main">
              <a:ext uri="{FF2B5EF4-FFF2-40B4-BE49-F238E27FC236}">
                <a16:creationId xmlns:a16="http://schemas.microsoft.com/office/drawing/2014/main" id="{04E48A7F-2A1D-4110-B08F-507947773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493">
            <a:extLst xmlns:a="http://schemas.openxmlformats.org/drawingml/2006/main">
              <a:ext uri="{FF2B5EF4-FFF2-40B4-BE49-F238E27FC236}">
                <a16:creationId xmlns:a16="http://schemas.microsoft.com/office/drawing/2014/main" id="{F55693CF-0B5D-4892-8423-D1EB76AC0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人仍在迴路</a:t>
            </a:r>
          </a:p>
        </p:txBody>
      </p:sp>
      <p:sp>
        <p:nvSpPr>
          <p:cNvPr id="21" name="text-1494">
            <a:extLst xmlns:a="http://schemas.openxmlformats.org/drawingml/2006/main">
              <a:ext uri="{FF2B5EF4-FFF2-40B4-BE49-F238E27FC236}">
                <a16:creationId xmlns:a16="http://schemas.microsoft.com/office/drawing/2014/main" id="{5AD31A5D-9FA4-4DF9-A5AA-066A71F84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產出先進草稿與待確認區；公開、寄送、評分與敏感決策仍由人確認。</a:t>
            </a:r>
          </a:p>
        </p:txBody>
      </p:sp>
      <p:sp>
        <p:nvSpPr>
          <p:cNvPr id="22" name="text-2259">
            <a:extLst xmlns:a="http://schemas.openxmlformats.org/drawingml/2006/main">
              <a:ext uri="{FF2B5EF4-FFF2-40B4-BE49-F238E27FC236}">
                <a16:creationId xmlns:a16="http://schemas.microsoft.com/office/drawing/2014/main" id="{B331E0C9-4ACD-4D45-82BB-E6009906B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ec073b18701409d"/>
              </a:rPr>
              <a:t>Gemini Spark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17589f26b8d458e"/>
              </a:rPr>
              <a:t>Google 排程說明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f361f55495740be"/>
              </a:rPr>
              <a:t>影片教學 ↗</a:t>
            </a:r>
          </a:p>
        </p:txBody>
      </p:sp>
      <p:sp>
        <p:nvSpPr>
          <p:cNvPr id="23" name="shape-2316">
            <a:extLst xmlns:a="http://schemas.openxmlformats.org/drawingml/2006/main">
              <a:ext uri="{FF2B5EF4-FFF2-40B4-BE49-F238E27FC236}">
                <a16:creationId xmlns:a16="http://schemas.microsoft.com/office/drawing/2014/main" id="{3E0AE814-E628-462C-B441-A0F6D2092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debeff67a6470e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5" name="text-2317">
            <a:extLst xmlns:a="http://schemas.openxmlformats.org/drawingml/2006/main">
              <a:ext uri="{FF2B5EF4-FFF2-40B4-BE49-F238E27FC236}">
                <a16:creationId xmlns:a16="http://schemas.microsoft.com/office/drawing/2014/main" id="{FC11F9CD-83D5-4AB3-B496-86D045CD6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Spark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afd04546a5485b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7" name="text-2318">
            <a:extLst xmlns:a="http://schemas.openxmlformats.org/drawingml/2006/main">
              <a:ext uri="{FF2B5EF4-FFF2-40B4-BE49-F238E27FC236}">
                <a16:creationId xmlns:a16="http://schemas.microsoft.com/office/drawing/2014/main" id="{55164D46-C9F9-480B-BF52-7767629B0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02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Google 排程說明</a:t>
            </a:r>
          </a:p>
        </p:txBody>
      </p:sp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289da9f5da4e19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2319">
            <a:extLst xmlns:a="http://schemas.openxmlformats.org/drawingml/2006/main">
              <a:ext uri="{FF2B5EF4-FFF2-40B4-BE49-F238E27FC236}">
                <a16:creationId xmlns:a16="http://schemas.microsoft.com/office/drawing/2014/main" id="{C50F36AE-6CB1-44A0-8CBB-874A1FE51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影片教學</a:t>
            </a:r>
          </a:p>
        </p:txBody>
      </p:sp>
    </p:spTree>
    <p:extLst>
      <p:ext uri="{BB962C8B-B14F-4D97-AF65-F5344CB8AC3E}">
        <p14:creationId xmlns:p14="http://schemas.microsoft.com/office/powerpoint/2010/main" val="102188593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495">
            <a:extLst xmlns:a="http://schemas.openxmlformats.org/drawingml/2006/main">
              <a:ext uri="{FF2B5EF4-FFF2-40B4-BE49-F238E27FC236}">
                <a16:creationId xmlns:a16="http://schemas.microsoft.com/office/drawing/2014/main" id="{B26259EF-69C2-425E-B1BC-B5C58E817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SPARK METHOD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DBC7B2B-7566-49C5-A5FB-2062822E8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影片教學法：Notebook → Skill → Task → Review</a:t>
            </a:r>
          </a:p>
        </p:txBody>
      </p:sp>
      <p:cxnSp>
        <p:nvCxnSpPr>
          <p:cNvPr id="38" name="shape-149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497">
            <a:extLst xmlns:a="http://schemas.openxmlformats.org/drawingml/2006/main">
              <a:ext uri="{FF2B5EF4-FFF2-40B4-BE49-F238E27FC236}">
                <a16:creationId xmlns:a16="http://schemas.microsoft.com/office/drawing/2014/main" id="{071D1830-FCBB-4CFF-9E99-30E057499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9A1740A-17CC-43A8-B166-8112B2D4D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24</a:t>
            </a:r>
          </a:p>
        </p:txBody>
      </p:sp>
      <p:sp>
        <p:nvSpPr>
          <p:cNvPr id="6" name="shape-1498">
            <a:extLst xmlns:a="http://schemas.openxmlformats.org/drawingml/2006/main">
              <a:ext uri="{FF2B5EF4-FFF2-40B4-BE49-F238E27FC236}">
                <a16:creationId xmlns:a16="http://schemas.microsoft.com/office/drawing/2014/main" id="{89D814B9-6973-42ED-A889-9BF2166E8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499">
            <a:extLst xmlns:a="http://schemas.openxmlformats.org/drawingml/2006/main">
              <a:ext uri="{FF2B5EF4-FFF2-40B4-BE49-F238E27FC236}">
                <a16:creationId xmlns:a16="http://schemas.microsoft.com/office/drawing/2014/main" id="{01B34E64-2F49-444C-A167-B03E9ABAA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500">
            <a:extLst xmlns:a="http://schemas.openxmlformats.org/drawingml/2006/main">
              <a:ext uri="{FF2B5EF4-FFF2-40B4-BE49-F238E27FC236}">
                <a16:creationId xmlns:a16="http://schemas.microsoft.com/office/drawing/2014/main" id="{F02D8D92-1F7A-4536-BF52-0F0D20D1A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501">
            <a:extLst xmlns:a="http://schemas.openxmlformats.org/drawingml/2006/main">
              <a:ext uri="{FF2B5EF4-FFF2-40B4-BE49-F238E27FC236}">
                <a16:creationId xmlns:a16="http://schemas.microsoft.com/office/drawing/2014/main" id="{CC55BA26-72CD-4A30-BEDD-A22D00267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sp>
        <p:nvSpPr>
          <p:cNvPr id="10" name="text-1502">
            <a:extLst xmlns:a="http://schemas.openxmlformats.org/drawingml/2006/main">
              <a:ext uri="{FF2B5EF4-FFF2-40B4-BE49-F238E27FC236}">
                <a16:creationId xmlns:a16="http://schemas.microsoft.com/office/drawing/2014/main" id="{92D7CE6B-392C-4F2C-B398-C800DF97B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整理規範、來源與可引用資料</a:t>
            </a:r>
          </a:p>
        </p:txBody>
      </p:sp>
      <p:sp>
        <p:nvSpPr>
          <p:cNvPr id="11" name="text-1503">
            <a:extLst xmlns:a="http://schemas.openxmlformats.org/drawingml/2006/main">
              <a:ext uri="{FF2B5EF4-FFF2-40B4-BE49-F238E27FC236}">
                <a16:creationId xmlns:a16="http://schemas.microsoft.com/office/drawing/2014/main" id="{0D702E72-3910-4247-8ABD-63F5A900E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504">
            <a:extLst xmlns:a="http://schemas.openxmlformats.org/drawingml/2006/main">
              <a:ext uri="{FF2B5EF4-FFF2-40B4-BE49-F238E27FC236}">
                <a16:creationId xmlns:a16="http://schemas.microsoft.com/office/drawing/2014/main" id="{1E5A59F8-399D-4C2B-A95E-5E14BFD92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3" name="shape-1505">
            <a:extLst xmlns:a="http://schemas.openxmlformats.org/drawingml/2006/main">
              <a:ext uri="{FF2B5EF4-FFF2-40B4-BE49-F238E27FC236}">
                <a16:creationId xmlns:a16="http://schemas.microsoft.com/office/drawing/2014/main" id="{0E114FCF-164C-4D63-A57A-8C75D118C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506">
            <a:extLst xmlns:a="http://schemas.openxmlformats.org/drawingml/2006/main">
              <a:ext uri="{FF2B5EF4-FFF2-40B4-BE49-F238E27FC236}">
                <a16:creationId xmlns:a16="http://schemas.microsoft.com/office/drawing/2014/main" id="{34D64F0E-A434-43FD-B09B-792681114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507">
            <a:extLst xmlns:a="http://schemas.openxmlformats.org/drawingml/2006/main">
              <a:ext uri="{FF2B5EF4-FFF2-40B4-BE49-F238E27FC236}">
                <a16:creationId xmlns:a16="http://schemas.microsoft.com/office/drawing/2014/main" id="{9E97CFAD-6C4D-4FDF-86C2-D40201614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Skill</a:t>
            </a:r>
          </a:p>
        </p:txBody>
      </p:sp>
      <p:sp>
        <p:nvSpPr>
          <p:cNvPr id="16" name="text-1508">
            <a:extLst xmlns:a="http://schemas.openxmlformats.org/drawingml/2006/main">
              <a:ext uri="{FF2B5EF4-FFF2-40B4-BE49-F238E27FC236}">
                <a16:creationId xmlns:a16="http://schemas.microsoft.com/office/drawing/2014/main" id="{467BAEF9-2B08-4AF1-9E7F-AD6FEA2FC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封裝規則、參考筆記本與輸出格式</a:t>
            </a:r>
          </a:p>
        </p:txBody>
      </p:sp>
      <p:sp>
        <p:nvSpPr>
          <p:cNvPr id="17" name="text-1509">
            <a:extLst xmlns:a="http://schemas.openxmlformats.org/drawingml/2006/main">
              <a:ext uri="{FF2B5EF4-FFF2-40B4-BE49-F238E27FC236}">
                <a16:creationId xmlns:a16="http://schemas.microsoft.com/office/drawing/2014/main" id="{31BF52B7-5895-4985-815B-A7EB32037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510">
            <a:extLst xmlns:a="http://schemas.openxmlformats.org/drawingml/2006/main">
              <a:ext uri="{FF2B5EF4-FFF2-40B4-BE49-F238E27FC236}">
                <a16:creationId xmlns:a16="http://schemas.microsoft.com/office/drawing/2014/main" id="{4710749A-6557-41B3-B135-4E503891E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shape-1511">
            <a:extLst xmlns:a="http://schemas.openxmlformats.org/drawingml/2006/main">
              <a:ext uri="{FF2B5EF4-FFF2-40B4-BE49-F238E27FC236}">
                <a16:creationId xmlns:a16="http://schemas.microsoft.com/office/drawing/2014/main" id="{2427C359-1574-4E1B-937C-5C8362295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512">
            <a:extLst xmlns:a="http://schemas.openxmlformats.org/drawingml/2006/main">
              <a:ext uri="{FF2B5EF4-FFF2-40B4-BE49-F238E27FC236}">
                <a16:creationId xmlns:a16="http://schemas.microsoft.com/office/drawing/2014/main" id="{5DC40AA3-9089-419D-8B23-B6AF4F84C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513">
            <a:extLst xmlns:a="http://schemas.openxmlformats.org/drawingml/2006/main">
              <a:ext uri="{FF2B5EF4-FFF2-40B4-BE49-F238E27FC236}">
                <a16:creationId xmlns:a16="http://schemas.microsoft.com/office/drawing/2014/main" id="{18B03D35-F786-4A6D-8817-A24BC49C1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Task</a:t>
            </a:r>
          </a:p>
        </p:txBody>
      </p:sp>
      <p:sp>
        <p:nvSpPr>
          <p:cNvPr id="22" name="text-1514">
            <a:extLst xmlns:a="http://schemas.openxmlformats.org/drawingml/2006/main">
              <a:ext uri="{FF2B5EF4-FFF2-40B4-BE49-F238E27FC236}">
                <a16:creationId xmlns:a16="http://schemas.microsoft.com/office/drawing/2014/main" id="{9F23D184-752E-4C76-BDB7-74B00D934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交代一件具體工作，用「/」選 Skill</a:t>
            </a:r>
          </a:p>
        </p:txBody>
      </p:sp>
      <p:sp>
        <p:nvSpPr>
          <p:cNvPr id="23" name="text-1515">
            <a:extLst xmlns:a="http://schemas.openxmlformats.org/drawingml/2006/main">
              <a:ext uri="{FF2B5EF4-FFF2-40B4-BE49-F238E27FC236}">
                <a16:creationId xmlns:a16="http://schemas.microsoft.com/office/drawing/2014/main" id="{26F62C8F-10A4-464E-8D4B-5B1E942B3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516">
            <a:extLst xmlns:a="http://schemas.openxmlformats.org/drawingml/2006/main">
              <a:ext uri="{FF2B5EF4-FFF2-40B4-BE49-F238E27FC236}">
                <a16:creationId xmlns:a16="http://schemas.microsoft.com/office/drawing/2014/main" id="{C6734881-54E1-4CA3-BAC1-08497F29F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5" name="shape-1517">
            <a:extLst xmlns:a="http://schemas.openxmlformats.org/drawingml/2006/main">
              <a:ext uri="{FF2B5EF4-FFF2-40B4-BE49-F238E27FC236}">
                <a16:creationId xmlns:a16="http://schemas.microsoft.com/office/drawing/2014/main" id="{2B971AA6-973F-4914-8783-649718E91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518">
            <a:extLst xmlns:a="http://schemas.openxmlformats.org/drawingml/2006/main">
              <a:ext uri="{FF2B5EF4-FFF2-40B4-BE49-F238E27FC236}">
                <a16:creationId xmlns:a16="http://schemas.microsoft.com/office/drawing/2014/main" id="{BDF53256-5A1C-4F6F-8E2D-F97359968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519">
            <a:extLst xmlns:a="http://schemas.openxmlformats.org/drawingml/2006/main">
              <a:ext uri="{FF2B5EF4-FFF2-40B4-BE49-F238E27FC236}">
                <a16:creationId xmlns:a16="http://schemas.microsoft.com/office/drawing/2014/main" id="{4BE95B8A-3797-40CA-933F-D96F196E3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Review</a:t>
            </a:r>
          </a:p>
        </p:txBody>
      </p:sp>
      <p:sp>
        <p:nvSpPr>
          <p:cNvPr id="28" name="text-1520">
            <a:extLst xmlns:a="http://schemas.openxmlformats.org/drawingml/2006/main">
              <a:ext uri="{FF2B5EF4-FFF2-40B4-BE49-F238E27FC236}">
                <a16:creationId xmlns:a16="http://schemas.microsoft.com/office/drawing/2014/main" id="{A6722798-041D-4190-A3FF-0C77BA5A2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查看草稿、補修內容，再決定採用</a:t>
            </a:r>
          </a:p>
        </p:txBody>
      </p:sp>
      <p:sp>
        <p:nvSpPr>
          <p:cNvPr id="29" name="text-1521">
            <a:extLst xmlns:a="http://schemas.openxmlformats.org/drawingml/2006/main">
              <a:ext uri="{FF2B5EF4-FFF2-40B4-BE49-F238E27FC236}">
                <a16:creationId xmlns:a16="http://schemas.microsoft.com/office/drawing/2014/main" id="{55D48FEE-4F0E-4D81-ABA8-774098A5F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2260">
            <a:extLst xmlns:a="http://schemas.openxmlformats.org/drawingml/2006/main">
              <a:ext uri="{FF2B5EF4-FFF2-40B4-BE49-F238E27FC236}">
                <a16:creationId xmlns:a16="http://schemas.microsoft.com/office/drawing/2014/main" id="{347E02F3-C0A1-456C-B06A-9F98964F5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6db881dc6b14329"/>
              </a:rPr>
              <a:t>Google 排程說明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15c9e6692cb4713"/>
              </a:rPr>
              <a:t>影片教學 ↗</a:t>
            </a:r>
          </a:p>
        </p:txBody>
      </p:sp>
      <p:sp>
        <p:nvSpPr>
          <p:cNvPr id="31" name="shape-2320">
            <a:extLst xmlns:a="http://schemas.openxmlformats.org/drawingml/2006/main">
              <a:ext uri="{FF2B5EF4-FFF2-40B4-BE49-F238E27FC236}">
                <a16:creationId xmlns:a16="http://schemas.microsoft.com/office/drawing/2014/main" id="{0D194366-852C-43CE-B84E-97F375366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e45b92250c463a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2321">
            <a:extLst xmlns:a="http://schemas.openxmlformats.org/drawingml/2006/main">
              <a:ext uri="{FF2B5EF4-FFF2-40B4-BE49-F238E27FC236}">
                <a16:creationId xmlns:a16="http://schemas.microsoft.com/office/drawing/2014/main" id="{3C49250F-62BC-4750-AE85-CA7AF9821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9307f4c2e149c7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2322">
            <a:extLst xmlns:a="http://schemas.openxmlformats.org/drawingml/2006/main">
              <a:ext uri="{FF2B5EF4-FFF2-40B4-BE49-F238E27FC236}">
                <a16:creationId xmlns:a16="http://schemas.microsoft.com/office/drawing/2014/main" id="{1F12DF1D-26B5-468A-957D-6E39D5868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影片教學</a:t>
            </a:r>
          </a:p>
        </p:txBody>
      </p:sp>
    </p:spTree>
    <p:extLst>
      <p:ext uri="{BB962C8B-B14F-4D97-AF65-F5344CB8AC3E}">
        <p14:creationId xmlns:p14="http://schemas.microsoft.com/office/powerpoint/2010/main" val="553485910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1522">
            <a:extLst xmlns:a="http://schemas.openxmlformats.org/drawingml/2006/main">
              <a:ext uri="{FF2B5EF4-FFF2-40B4-BE49-F238E27FC236}">
                <a16:creationId xmlns:a16="http://schemas.microsoft.com/office/drawing/2014/main" id="{BC9D4940-023B-4CB4-927B-DEACBB14D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SPARK MENTAL MODEL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53DCE5E-DC57-4382-B424-12EFF9A66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任務、排程、技能：什麼、何時、如何</a:t>
            </a:r>
          </a:p>
        </p:txBody>
      </p:sp>
      <p:cxnSp>
        <p:nvCxnSpPr>
          <p:cNvPr id="28" name="shape-152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524">
            <a:extLst xmlns:a="http://schemas.openxmlformats.org/drawingml/2006/main">
              <a:ext uri="{FF2B5EF4-FFF2-40B4-BE49-F238E27FC236}">
                <a16:creationId xmlns:a16="http://schemas.microsoft.com/office/drawing/2014/main" id="{E25AF2D2-2B4D-4F2A-8AF3-032E2368D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A7A4242-79C5-4694-9C55-8C58D402A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25</a:t>
            </a:r>
          </a:p>
        </p:txBody>
      </p:sp>
      <p:sp>
        <p:nvSpPr>
          <p:cNvPr id="6" name="shape-1525">
            <a:extLst xmlns:a="http://schemas.openxmlformats.org/drawingml/2006/main">
              <a:ext uri="{FF2B5EF4-FFF2-40B4-BE49-F238E27FC236}">
                <a16:creationId xmlns:a16="http://schemas.microsoft.com/office/drawing/2014/main" id="{EDB7C426-3DB8-4F40-B61E-7760D4217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526">
            <a:extLst xmlns:a="http://schemas.openxmlformats.org/drawingml/2006/main">
              <a:ext uri="{FF2B5EF4-FFF2-40B4-BE49-F238E27FC236}">
                <a16:creationId xmlns:a16="http://schemas.microsoft.com/office/drawing/2014/main" id="{97B163C2-02FF-4AE8-9964-5060D4560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570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WHAT</a:t>
            </a:r>
          </a:p>
        </p:txBody>
      </p:sp>
      <p:sp>
        <p:nvSpPr>
          <p:cNvPr id="8" name="text-1527">
            <a:extLst xmlns:a="http://schemas.openxmlformats.org/drawingml/2006/main">
              <a:ext uri="{FF2B5EF4-FFF2-40B4-BE49-F238E27FC236}">
                <a16:creationId xmlns:a16="http://schemas.microsoft.com/office/drawing/2014/main" id="{B4C5F38C-42A7-491C-9498-3778E1E18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任務｜做什麼</a:t>
            </a:r>
          </a:p>
        </p:txBody>
      </p:sp>
      <p:sp>
        <p:nvSpPr>
          <p:cNvPr id="9" name="text-1528">
            <a:extLst xmlns:a="http://schemas.openxmlformats.org/drawingml/2006/main">
              <a:ext uri="{FF2B5EF4-FFF2-40B4-BE49-F238E27FC236}">
                <a16:creationId xmlns:a16="http://schemas.microsoft.com/office/drawing/2014/main" id="{DD0D1CBF-FCC2-43C0-B2AA-CBD26B584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定義目標、輸入材料、成果格式與完成條件。</a:t>
            </a:r>
          </a:p>
        </p:txBody>
      </p:sp>
      <p:sp>
        <p:nvSpPr>
          <p:cNvPr id="10" name="shape-1529">
            <a:extLst xmlns:a="http://schemas.openxmlformats.org/drawingml/2006/main">
              <a:ext uri="{FF2B5EF4-FFF2-40B4-BE49-F238E27FC236}">
                <a16:creationId xmlns:a16="http://schemas.microsoft.com/office/drawing/2014/main" id="{5EB2F5F6-7C21-4A15-B25C-B5F155557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530">
            <a:extLst xmlns:a="http://schemas.openxmlformats.org/drawingml/2006/main">
              <a:ext uri="{FF2B5EF4-FFF2-40B4-BE49-F238E27FC236}">
                <a16:creationId xmlns:a16="http://schemas.microsoft.com/office/drawing/2014/main" id="{4A704D45-9F56-4535-BCE5-1E40C4009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86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WHEN</a:t>
            </a:r>
          </a:p>
        </p:txBody>
      </p:sp>
      <p:sp>
        <p:nvSpPr>
          <p:cNvPr id="12" name="text-1531">
            <a:extLst xmlns:a="http://schemas.openxmlformats.org/drawingml/2006/main">
              <a:ext uri="{FF2B5EF4-FFF2-40B4-BE49-F238E27FC236}">
                <a16:creationId xmlns:a16="http://schemas.microsoft.com/office/drawing/2014/main" id="{557EC184-6F58-4808-B8EB-1F84685D3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排程｜何時做</a:t>
            </a:r>
          </a:p>
        </p:txBody>
      </p:sp>
      <p:sp>
        <p:nvSpPr>
          <p:cNvPr id="13" name="text-1532">
            <a:extLst xmlns:a="http://schemas.openxmlformats.org/drawingml/2006/main">
              <a:ext uri="{FF2B5EF4-FFF2-40B4-BE49-F238E27FC236}">
                <a16:creationId xmlns:a16="http://schemas.microsoft.com/office/drawing/2014/main" id="{E14FC023-2D87-411B-8B8D-FEF6B9995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一次執行、固定時間，或由 Gmail／主題條件觸發。</a:t>
            </a:r>
          </a:p>
        </p:txBody>
      </p:sp>
      <p:sp>
        <p:nvSpPr>
          <p:cNvPr id="14" name="shape-1533">
            <a:extLst xmlns:a="http://schemas.openxmlformats.org/drawingml/2006/main">
              <a:ext uri="{FF2B5EF4-FFF2-40B4-BE49-F238E27FC236}">
                <a16:creationId xmlns:a16="http://schemas.microsoft.com/office/drawing/2014/main" id="{75479C3F-87B8-4DAE-BCC3-07E55EF9F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534">
            <a:extLst xmlns:a="http://schemas.openxmlformats.org/drawingml/2006/main">
              <a:ext uri="{FF2B5EF4-FFF2-40B4-BE49-F238E27FC236}">
                <a16:creationId xmlns:a16="http://schemas.microsoft.com/office/drawing/2014/main" id="{5DFA8256-F777-43D3-8133-C47A720C2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HOW</a:t>
            </a:r>
          </a:p>
        </p:txBody>
      </p:sp>
      <p:sp>
        <p:nvSpPr>
          <p:cNvPr id="16" name="text-1535">
            <a:extLst xmlns:a="http://schemas.openxmlformats.org/drawingml/2006/main">
              <a:ext uri="{FF2B5EF4-FFF2-40B4-BE49-F238E27FC236}">
                <a16:creationId xmlns:a16="http://schemas.microsoft.com/office/drawing/2014/main" id="{528EC80D-0931-49CB-905D-E0871FF2C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Skill｜如何做</a:t>
            </a:r>
          </a:p>
        </p:txBody>
      </p:sp>
      <p:sp>
        <p:nvSpPr>
          <p:cNvPr id="17" name="text-1536">
            <a:extLst xmlns:a="http://schemas.openxmlformats.org/drawingml/2006/main">
              <a:ext uri="{FF2B5EF4-FFF2-40B4-BE49-F238E27FC236}">
                <a16:creationId xmlns:a16="http://schemas.microsoft.com/office/drawing/2014/main" id="{787893E4-BC69-4EC7-8F68-0880C0F46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把規則、參考資料、步驟與檢查方式變成可重用方法。</a:t>
            </a:r>
          </a:p>
        </p:txBody>
      </p:sp>
      <p:sp>
        <p:nvSpPr>
          <p:cNvPr id="18" name="shape-1537">
            <a:extLst xmlns:a="http://schemas.openxmlformats.org/drawingml/2006/main">
              <a:ext uri="{FF2B5EF4-FFF2-40B4-BE49-F238E27FC236}">
                <a16:creationId xmlns:a16="http://schemas.microsoft.com/office/drawing/2014/main" id="{DAC0FF2E-CD2E-491E-9A4C-9FAF4CCDA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538">
            <a:extLst xmlns:a="http://schemas.openxmlformats.org/drawingml/2006/main">
              <a:ext uri="{FF2B5EF4-FFF2-40B4-BE49-F238E27FC236}">
                <a16:creationId xmlns:a16="http://schemas.microsoft.com/office/drawing/2014/main" id="{D0CF8144-3EB2-4451-BAB4-C85793C92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USE</a:t>
            </a:r>
          </a:p>
        </p:txBody>
      </p:sp>
      <p:sp>
        <p:nvSpPr>
          <p:cNvPr id="20" name="text-1539">
            <a:extLst xmlns:a="http://schemas.openxmlformats.org/drawingml/2006/main">
              <a:ext uri="{FF2B5EF4-FFF2-40B4-BE49-F238E27FC236}">
                <a16:creationId xmlns:a16="http://schemas.microsoft.com/office/drawing/2014/main" id="{5FC46A7C-68F9-42EA-9B25-F3EB93335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連結｜用什麼</a:t>
            </a:r>
          </a:p>
        </p:txBody>
      </p:sp>
      <p:sp>
        <p:nvSpPr>
          <p:cNvPr id="21" name="text-1540">
            <a:extLst xmlns:a="http://schemas.openxmlformats.org/drawingml/2006/main">
              <a:ext uri="{FF2B5EF4-FFF2-40B4-BE49-F238E27FC236}">
                <a16:creationId xmlns:a16="http://schemas.microsoft.com/office/drawing/2014/main" id="{57D5DE69-8DF1-479D-A558-D0FC8FE9E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依授權連接 Notebook、Workspace 等應用；先確認可見範圍。</a:t>
            </a:r>
          </a:p>
        </p:txBody>
      </p:sp>
      <p:sp>
        <p:nvSpPr>
          <p:cNvPr id="22" name="text-2263">
            <a:extLst xmlns:a="http://schemas.openxmlformats.org/drawingml/2006/main">
              <a:ext uri="{FF2B5EF4-FFF2-40B4-BE49-F238E27FC236}">
                <a16:creationId xmlns:a16="http://schemas.microsoft.com/office/drawing/2014/main" id="{48CD6E62-04CF-4B81-A90C-7A2562F3C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5b2bcf767e54656"/>
              </a:rPr>
              <a:t>Google 排程說明 ↗</a:t>
            </a:r>
          </a:p>
        </p:txBody>
      </p:sp>
      <p:sp>
        <p:nvSpPr>
          <p:cNvPr id="23" name="shape-2323">
            <a:extLst xmlns:a="http://schemas.openxmlformats.org/drawingml/2006/main">
              <a:ext uri="{FF2B5EF4-FFF2-40B4-BE49-F238E27FC236}">
                <a16:creationId xmlns:a16="http://schemas.microsoft.com/office/drawing/2014/main" id="{52148FD5-C94B-4CC6-9FC2-8ACAD1102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fca4ae0f1c485d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2324">
            <a:extLst xmlns:a="http://schemas.openxmlformats.org/drawingml/2006/main">
              <a:ext uri="{FF2B5EF4-FFF2-40B4-BE49-F238E27FC236}">
                <a16:creationId xmlns:a16="http://schemas.microsoft.com/office/drawing/2014/main" id="{235FFA3D-03F4-41E0-A582-C32F91ED8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Google 排程說明</a:t>
            </a:r>
          </a:p>
        </p:txBody>
      </p:sp>
    </p:spTree>
    <p:extLst>
      <p:ext uri="{BB962C8B-B14F-4D97-AF65-F5344CB8AC3E}">
        <p14:creationId xmlns:p14="http://schemas.microsoft.com/office/powerpoint/2010/main" val="60438231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1541">
            <a:extLst xmlns:a="http://schemas.openxmlformats.org/drawingml/2006/main">
              <a:ext uri="{FF2B5EF4-FFF2-40B4-BE49-F238E27FC236}">
                <a16:creationId xmlns:a16="http://schemas.microsoft.com/office/drawing/2014/main" id="{427E1E72-E5D9-4DE1-8E93-EAE232703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872A6C6-DA34-4CD0-AEC0-D5E7A8C7E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實作｜建立每週教學研究助理排程</a:t>
            </a:r>
          </a:p>
        </p:txBody>
      </p:sp>
      <p:cxnSp>
        <p:nvCxnSpPr>
          <p:cNvPr id="25" name="shape-154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543">
            <a:extLst xmlns:a="http://schemas.openxmlformats.org/drawingml/2006/main">
              <a:ext uri="{FF2B5EF4-FFF2-40B4-BE49-F238E27FC236}">
                <a16:creationId xmlns:a16="http://schemas.microsoft.com/office/drawing/2014/main" id="{8AC4F5BE-37DC-493B-A1C7-55050020F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487F65D-3FBA-473D-8510-4F9BB673B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26</a:t>
            </a:r>
          </a:p>
        </p:txBody>
      </p:sp>
      <p:sp>
        <p:nvSpPr>
          <p:cNvPr id="6" name="text-1544">
            <a:extLst xmlns:a="http://schemas.openxmlformats.org/drawingml/2006/main">
              <a:ext uri="{FF2B5EF4-FFF2-40B4-BE49-F238E27FC236}">
                <a16:creationId xmlns:a16="http://schemas.microsoft.com/office/drawing/2014/main" id="{EA8157A5-5B14-449E-83B9-C13945D58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20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545">
            <a:extLst xmlns:a="http://schemas.openxmlformats.org/drawingml/2006/main">
              <a:ext uri="{FF2B5EF4-FFF2-40B4-BE49-F238E27FC236}">
                <a16:creationId xmlns:a16="http://schemas.microsoft.com/office/drawing/2014/main" id="{B15CC1B5-0268-4118-B34B-EEDDEF819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546">
            <a:extLst xmlns:a="http://schemas.openxmlformats.org/drawingml/2006/main">
              <a:ext uri="{FF2B5EF4-FFF2-40B4-BE49-F238E27FC236}">
                <a16:creationId xmlns:a16="http://schemas.microsoft.com/office/drawing/2014/main" id="{BDD7C758-13F0-4FE6-A85C-DE23B70E2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547">
            <a:extLst xmlns:a="http://schemas.openxmlformats.org/drawingml/2006/main">
              <a:ext uri="{FF2B5EF4-FFF2-40B4-BE49-F238E27FC236}">
                <a16:creationId xmlns:a16="http://schemas.microsoft.com/office/drawing/2014/main" id="{5070C111-1D16-432C-B194-991E49977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建立或選定 Gemini Notebook 來源</a:t>
            </a:r>
          </a:p>
        </p:txBody>
      </p:sp>
      <p:sp>
        <p:nvSpPr>
          <p:cNvPr id="10" name="text-1548">
            <a:extLst xmlns:a="http://schemas.openxmlformats.org/drawingml/2006/main">
              <a:ext uri="{FF2B5EF4-FFF2-40B4-BE49-F238E27FC236}">
                <a16:creationId xmlns:a16="http://schemas.microsoft.com/office/drawing/2014/main" id="{FDAFA69C-EFB3-4D88-A1B1-EC00B1764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549">
            <a:extLst xmlns:a="http://schemas.openxmlformats.org/drawingml/2006/main">
              <a:ext uri="{FF2B5EF4-FFF2-40B4-BE49-F238E27FC236}">
                <a16:creationId xmlns:a16="http://schemas.microsoft.com/office/drawing/2014/main" id="{BF1E2888-92B5-4B88-89F2-37C1C9A03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建立 Skill：摘要、點子與待查證事項</a:t>
            </a:r>
          </a:p>
        </p:txBody>
      </p:sp>
      <p:sp>
        <p:nvSpPr>
          <p:cNvPr id="12" name="text-1550">
            <a:extLst xmlns:a="http://schemas.openxmlformats.org/drawingml/2006/main">
              <a:ext uri="{FF2B5EF4-FFF2-40B4-BE49-F238E27FC236}">
                <a16:creationId xmlns:a16="http://schemas.microsoft.com/office/drawing/2014/main" id="{83F0822A-91BB-46A8-BED4-B4E632EB5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551">
            <a:extLst xmlns:a="http://schemas.openxmlformats.org/drawingml/2006/main">
              <a:ext uri="{FF2B5EF4-FFF2-40B4-BE49-F238E27FC236}">
                <a16:creationId xmlns:a16="http://schemas.microsoft.com/office/drawing/2014/main" id="{B9D36C93-7C4E-43A8-B0A3-3C6079231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設定每週時間，輸出到指定文件</a:t>
            </a:r>
          </a:p>
        </p:txBody>
      </p:sp>
      <p:sp>
        <p:nvSpPr>
          <p:cNvPr id="14" name="text-1552">
            <a:extLst xmlns:a="http://schemas.openxmlformats.org/drawingml/2006/main">
              <a:ext uri="{FF2B5EF4-FFF2-40B4-BE49-F238E27FC236}">
                <a16:creationId xmlns:a16="http://schemas.microsoft.com/office/drawing/2014/main" id="{88F0A5D0-004C-42E1-BFB4-E41147DB5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553">
            <a:extLst xmlns:a="http://schemas.openxmlformats.org/drawingml/2006/main">
              <a:ext uri="{FF2B5EF4-FFF2-40B4-BE49-F238E27FC236}">
                <a16:creationId xmlns:a16="http://schemas.microsoft.com/office/drawing/2014/main" id="{D01059A6-9BCF-4EAE-9B26-458D7D851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隔週查看草稿，人工確認後再採用</a:t>
            </a:r>
          </a:p>
        </p:txBody>
      </p:sp>
      <p:sp>
        <p:nvSpPr>
          <p:cNvPr id="16" name="shape-1554">
            <a:extLst xmlns:a="http://schemas.openxmlformats.org/drawingml/2006/main">
              <a:ext uri="{FF2B5EF4-FFF2-40B4-BE49-F238E27FC236}">
                <a16:creationId xmlns:a16="http://schemas.microsoft.com/office/drawing/2014/main" id="{62A1BDD8-8E3E-4CB2-AC7C-17784B006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7" name="text-1555">
            <a:extLst xmlns:a="http://schemas.openxmlformats.org/drawingml/2006/main">
              <a:ext uri="{FF2B5EF4-FFF2-40B4-BE49-F238E27FC236}">
                <a16:creationId xmlns:a16="http://schemas.microsoft.com/office/drawing/2014/main" id="{35B16560-B911-432B-8C0A-EB4913D29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556">
            <a:extLst xmlns:a="http://schemas.openxmlformats.org/drawingml/2006/main">
              <a:ext uri="{FF2B5EF4-FFF2-40B4-BE49-F238E27FC236}">
                <a16:creationId xmlns:a16="http://schemas.microsoft.com/office/drawing/2014/main" id="{F3C55842-74CA-4F0B-99C3-19CC09A63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只讀指定來源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輸出格式固定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不直接寄送或發布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留下人工檢查紀錄</a:t>
            </a:r>
          </a:p>
        </p:txBody>
      </p:sp>
      <p:sp>
        <p:nvSpPr>
          <p:cNvPr id="19" name="text-2261">
            <a:extLst xmlns:a="http://schemas.openxmlformats.org/drawingml/2006/main">
              <a:ext uri="{FF2B5EF4-FFF2-40B4-BE49-F238E27FC236}">
                <a16:creationId xmlns:a16="http://schemas.microsoft.com/office/drawing/2014/main" id="{1E229738-A538-47F8-BD91-177FAE717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20f4258a1e04d43"/>
              </a:rPr>
              <a:t>Google 排程說明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10ad75ebe9b4230"/>
              </a:rPr>
              <a:t>影片教學 ↗</a:t>
            </a:r>
          </a:p>
        </p:txBody>
      </p:sp>
      <p:sp>
        <p:nvSpPr>
          <p:cNvPr id="20" name="shape-2325">
            <a:extLst xmlns:a="http://schemas.openxmlformats.org/drawingml/2006/main">
              <a:ext uri="{FF2B5EF4-FFF2-40B4-BE49-F238E27FC236}">
                <a16:creationId xmlns:a16="http://schemas.microsoft.com/office/drawing/2014/main" id="{A71D0681-B2DA-4E52-AED6-2FF7E6CE4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2a81fbb7704f89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2326">
            <a:extLst xmlns:a="http://schemas.openxmlformats.org/drawingml/2006/main">
              <a:ext uri="{FF2B5EF4-FFF2-40B4-BE49-F238E27FC236}">
                <a16:creationId xmlns:a16="http://schemas.microsoft.com/office/drawing/2014/main" id="{E2483B95-7261-47F7-8133-8569D8733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Google 排程說明</a:t>
            </a:r>
          </a:p>
        </p:txBody>
      </p:sp>
    </p:spTree>
    <p:extLst>
      <p:ext uri="{BB962C8B-B14F-4D97-AF65-F5344CB8AC3E}">
        <p14:creationId xmlns:p14="http://schemas.microsoft.com/office/powerpoint/2010/main" val="1520233916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557">
            <a:extLst xmlns:a="http://schemas.openxmlformats.org/drawingml/2006/main">
              <a:ext uri="{FF2B5EF4-FFF2-40B4-BE49-F238E27FC236}">
                <a16:creationId xmlns:a16="http://schemas.microsoft.com/office/drawing/2014/main" id="{8105B870-8349-41F7-9F21-946A18250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LEARNING JOURNEY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4B6DF6B-A025-4972-BF6E-B5E874FC0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學習歷程：一次成果變成可重複系統</a:t>
            </a:r>
          </a:p>
        </p:txBody>
      </p:sp>
      <p:cxnSp>
        <p:nvCxnSpPr>
          <p:cNvPr id="30" name="shape-155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559">
            <a:extLst xmlns:a="http://schemas.openxmlformats.org/drawingml/2006/main">
              <a:ext uri="{FF2B5EF4-FFF2-40B4-BE49-F238E27FC236}">
                <a16:creationId xmlns:a16="http://schemas.microsoft.com/office/drawing/2014/main" id="{81D294A2-1EF4-476B-9376-7884EE372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1C9CE6B-F0AF-43ED-9EA5-1E8E70213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27</a:t>
            </a:r>
          </a:p>
        </p:txBody>
      </p:sp>
      <p:sp>
        <p:nvSpPr>
          <p:cNvPr id="6" name="shape-1560">
            <a:extLst xmlns:a="http://schemas.openxmlformats.org/drawingml/2006/main">
              <a:ext uri="{FF2B5EF4-FFF2-40B4-BE49-F238E27FC236}">
                <a16:creationId xmlns:a16="http://schemas.microsoft.com/office/drawing/2014/main" id="{B4ECD6F9-21AF-4D66-A4D1-747EF18DA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561">
            <a:extLst xmlns:a="http://schemas.openxmlformats.org/drawingml/2006/main">
              <a:ext uri="{FF2B5EF4-FFF2-40B4-BE49-F238E27FC236}">
                <a16:creationId xmlns:a16="http://schemas.microsoft.com/office/drawing/2014/main" id="{217C8532-5950-408E-8F11-4A05069FF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562">
            <a:extLst xmlns:a="http://schemas.openxmlformats.org/drawingml/2006/main">
              <a:ext uri="{FF2B5EF4-FFF2-40B4-BE49-F238E27FC236}">
                <a16:creationId xmlns:a16="http://schemas.microsoft.com/office/drawing/2014/main" id="{F0F5D841-B0AA-4FFC-AB46-53626AAB4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一次成果</a:t>
            </a:r>
          </a:p>
        </p:txBody>
      </p:sp>
      <p:sp>
        <p:nvSpPr>
          <p:cNvPr id="9" name="text-1563">
            <a:extLst xmlns:a="http://schemas.openxmlformats.org/drawingml/2006/main">
              <a:ext uri="{FF2B5EF4-FFF2-40B4-BE49-F238E27FC236}">
                <a16:creationId xmlns:a16="http://schemas.microsoft.com/office/drawing/2014/main" id="{A2813D15-E556-4EBE-87C7-0A0D11EBF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先完成一件真實工作，觀察哪些步驟最耗時、最容易漏。</a:t>
            </a:r>
          </a:p>
        </p:txBody>
      </p:sp>
      <p:sp>
        <p:nvSpPr>
          <p:cNvPr id="10" name="shape-1564">
            <a:extLst xmlns:a="http://schemas.openxmlformats.org/drawingml/2006/main">
              <a:ext uri="{FF2B5EF4-FFF2-40B4-BE49-F238E27FC236}">
                <a16:creationId xmlns:a16="http://schemas.microsoft.com/office/drawing/2014/main" id="{13E3CB09-FD76-4470-840F-B52F215C3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565">
            <a:extLst xmlns:a="http://schemas.openxmlformats.org/drawingml/2006/main">
              <a:ext uri="{FF2B5EF4-FFF2-40B4-BE49-F238E27FC236}">
                <a16:creationId xmlns:a16="http://schemas.microsoft.com/office/drawing/2014/main" id="{02234A96-DEEE-4513-A657-3E7A4CDA1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566">
            <a:extLst xmlns:a="http://schemas.openxmlformats.org/drawingml/2006/main">
              <a:ext uri="{FF2B5EF4-FFF2-40B4-BE49-F238E27FC236}">
                <a16:creationId xmlns:a16="http://schemas.microsoft.com/office/drawing/2014/main" id="{68FE86B1-1F9D-400F-8CAA-B0989AB6F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抽出規則</a:t>
            </a:r>
          </a:p>
        </p:txBody>
      </p:sp>
      <p:sp>
        <p:nvSpPr>
          <p:cNvPr id="13" name="text-1567">
            <a:extLst xmlns:a="http://schemas.openxmlformats.org/drawingml/2006/main">
              <a:ext uri="{FF2B5EF4-FFF2-40B4-BE49-F238E27FC236}">
                <a16:creationId xmlns:a16="http://schemas.microsoft.com/office/drawing/2014/main" id="{76DB7E23-AB95-4EC1-9392-B013CD097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把來源、格式、檢查與停止條件整理成自己的 Skill。</a:t>
            </a:r>
          </a:p>
        </p:txBody>
      </p:sp>
      <p:sp>
        <p:nvSpPr>
          <p:cNvPr id="14" name="shape-1568">
            <a:extLst xmlns:a="http://schemas.openxmlformats.org/drawingml/2006/main">
              <a:ext uri="{FF2B5EF4-FFF2-40B4-BE49-F238E27FC236}">
                <a16:creationId xmlns:a16="http://schemas.microsoft.com/office/drawing/2014/main" id="{A5DDA9A0-2FC8-4602-808A-70B355049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569">
            <a:extLst xmlns:a="http://schemas.openxmlformats.org/drawingml/2006/main">
              <a:ext uri="{FF2B5EF4-FFF2-40B4-BE49-F238E27FC236}">
                <a16:creationId xmlns:a16="http://schemas.microsoft.com/office/drawing/2014/main" id="{289EEB8D-F4C2-4981-9D12-BC69F14EF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570">
            <a:extLst xmlns:a="http://schemas.openxmlformats.org/drawingml/2006/main">
              <a:ext uri="{FF2B5EF4-FFF2-40B4-BE49-F238E27FC236}">
                <a16:creationId xmlns:a16="http://schemas.microsoft.com/office/drawing/2014/main" id="{FF5041FF-C4BB-4031-939D-DC658CBF7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排程重跑</a:t>
            </a:r>
          </a:p>
        </p:txBody>
      </p:sp>
      <p:sp>
        <p:nvSpPr>
          <p:cNvPr id="17" name="text-1571">
            <a:extLst xmlns:a="http://schemas.openxmlformats.org/drawingml/2006/main">
              <a:ext uri="{FF2B5EF4-FFF2-40B4-BE49-F238E27FC236}">
                <a16:creationId xmlns:a16="http://schemas.microsoft.com/office/drawing/2014/main" id="{FC519824-14C5-4747-8E93-441BA37C5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在固定時間重新執行，讓 Agent 持續留下可比較的草稿。</a:t>
            </a:r>
          </a:p>
        </p:txBody>
      </p:sp>
      <p:sp>
        <p:nvSpPr>
          <p:cNvPr id="18" name="shape-1572">
            <a:extLst xmlns:a="http://schemas.openxmlformats.org/drawingml/2006/main">
              <a:ext uri="{FF2B5EF4-FFF2-40B4-BE49-F238E27FC236}">
                <a16:creationId xmlns:a16="http://schemas.microsoft.com/office/drawing/2014/main" id="{F06B4C50-6291-4067-95DC-046754E73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573">
            <a:extLst xmlns:a="http://schemas.openxmlformats.org/drawingml/2006/main">
              <a:ext uri="{FF2B5EF4-FFF2-40B4-BE49-F238E27FC236}">
                <a16:creationId xmlns:a16="http://schemas.microsoft.com/office/drawing/2014/main" id="{9F0A7633-3351-44AF-BA6E-CA149090F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574">
            <a:extLst xmlns:a="http://schemas.openxmlformats.org/drawingml/2006/main">
              <a:ext uri="{FF2B5EF4-FFF2-40B4-BE49-F238E27FC236}">
                <a16:creationId xmlns:a16="http://schemas.microsoft.com/office/drawing/2014/main" id="{7D6E2406-B949-4210-8611-7047C55E7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回顧進化</a:t>
            </a:r>
          </a:p>
        </p:txBody>
      </p:sp>
      <p:sp>
        <p:nvSpPr>
          <p:cNvPr id="21" name="text-1575">
            <a:extLst xmlns:a="http://schemas.openxmlformats.org/drawingml/2006/main">
              <a:ext uri="{FF2B5EF4-FFF2-40B4-BE49-F238E27FC236}">
                <a16:creationId xmlns:a16="http://schemas.microsoft.com/office/drawing/2014/main" id="{C6A968BA-8C2A-4C4E-8F8C-DC57DD464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每次人工檢查後修正規則，逐步貼合自己的工作流與生活。</a:t>
            </a:r>
          </a:p>
        </p:txBody>
      </p:sp>
      <p:sp>
        <p:nvSpPr>
          <p:cNvPr id="22" name="text-2262">
            <a:extLst xmlns:a="http://schemas.openxmlformats.org/drawingml/2006/main">
              <a:ext uri="{FF2B5EF4-FFF2-40B4-BE49-F238E27FC236}">
                <a16:creationId xmlns:a16="http://schemas.microsoft.com/office/drawing/2014/main" id="{E3CEE982-B654-45B2-8EC5-529F06BD8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41c6cf9a6b648c1"/>
              </a:rPr>
              <a:t>Google 排程說明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401fb5e37d94ff6"/>
              </a:rPr>
              <a:t>影片教學 ↗</a:t>
            </a:r>
          </a:p>
        </p:txBody>
      </p:sp>
      <p:sp>
        <p:nvSpPr>
          <p:cNvPr id="23" name="shape-2327">
            <a:extLst xmlns:a="http://schemas.openxmlformats.org/drawingml/2006/main">
              <a:ext uri="{FF2B5EF4-FFF2-40B4-BE49-F238E27FC236}">
                <a16:creationId xmlns:a16="http://schemas.microsoft.com/office/drawing/2014/main" id="{C594A1E9-1FD5-4F6D-9E6C-1CC5E94AA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a78cde7a4546c0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2328">
            <a:extLst xmlns:a="http://schemas.openxmlformats.org/drawingml/2006/main">
              <a:ext uri="{FF2B5EF4-FFF2-40B4-BE49-F238E27FC236}">
                <a16:creationId xmlns:a16="http://schemas.microsoft.com/office/drawing/2014/main" id="{F39DAC64-4D5B-46E3-8831-778C1C25D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Spark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307bf50064452e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2329">
            <a:extLst xmlns:a="http://schemas.openxmlformats.org/drawingml/2006/main">
              <a:ext uri="{FF2B5EF4-FFF2-40B4-BE49-F238E27FC236}">
                <a16:creationId xmlns:a16="http://schemas.microsoft.com/office/drawing/2014/main" id="{6A381E4C-2A39-4D14-9E8A-9492D6C67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Google 排程說明</a:t>
            </a:r>
          </a:p>
        </p:txBody>
      </p:sp>
    </p:spTree>
    <p:extLst>
      <p:ext uri="{BB962C8B-B14F-4D97-AF65-F5344CB8AC3E}">
        <p14:creationId xmlns:p14="http://schemas.microsoft.com/office/powerpoint/2010/main" val="38701947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1576">
            <a:extLst xmlns:a="http://schemas.openxmlformats.org/drawingml/2006/main">
              <a:ext uri="{FF2B5EF4-FFF2-40B4-BE49-F238E27FC236}">
                <a16:creationId xmlns:a16="http://schemas.microsoft.com/office/drawing/2014/main" id="{1511BDFD-21C6-4BD2-9666-C13D01ED5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REMOTE CONTROL · NEW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9F1175A-A6E7-4979-9333-CB9C02E77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Antigravity 最新功能：手機也能接手電腦 Agent</a:t>
            </a:r>
          </a:p>
        </p:txBody>
      </p:sp>
      <p:cxnSp>
        <p:nvCxnSpPr>
          <p:cNvPr id="28" name="shape-157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578">
            <a:extLst xmlns:a="http://schemas.openxmlformats.org/drawingml/2006/main">
              <a:ext uri="{FF2B5EF4-FFF2-40B4-BE49-F238E27FC236}">
                <a16:creationId xmlns:a16="http://schemas.microsoft.com/office/drawing/2014/main" id="{0979E9C9-2F14-4768-8A20-8E2EB4AB4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D7A7C5F-F431-46BA-8377-D77D19C73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28</a:t>
            </a:r>
          </a:p>
        </p:txBody>
      </p:sp>
      <p:sp>
        <p:nvSpPr>
          <p:cNvPr id="6" name="shape-1579">
            <a:extLst xmlns:a="http://schemas.openxmlformats.org/drawingml/2006/main">
              <a:ext uri="{FF2B5EF4-FFF2-40B4-BE49-F238E27FC236}">
                <a16:creationId xmlns:a16="http://schemas.microsoft.com/office/drawing/2014/main" id="{88FA19DB-1E9C-47BC-B413-DF1D23B3F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580">
            <a:extLst xmlns:a="http://schemas.openxmlformats.org/drawingml/2006/main">
              <a:ext uri="{FF2B5EF4-FFF2-40B4-BE49-F238E27FC236}">
                <a16:creationId xmlns:a16="http://schemas.microsoft.com/office/drawing/2014/main" id="{D0D7EC44-7A14-49E3-A8E4-06F227693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581">
            <a:extLst xmlns:a="http://schemas.openxmlformats.org/drawingml/2006/main">
              <a:ext uri="{FF2B5EF4-FFF2-40B4-BE49-F238E27FC236}">
                <a16:creationId xmlns:a16="http://schemas.microsoft.com/office/drawing/2014/main" id="{D50A51CD-3BAF-483E-8EDE-7431B8A65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任務不中斷</a:t>
            </a:r>
          </a:p>
        </p:txBody>
      </p:sp>
      <p:sp>
        <p:nvSpPr>
          <p:cNvPr id="9" name="text-1582">
            <a:extLst xmlns:a="http://schemas.openxmlformats.org/drawingml/2006/main">
              <a:ext uri="{FF2B5EF4-FFF2-40B4-BE49-F238E27FC236}">
                <a16:creationId xmlns:a16="http://schemas.microsoft.com/office/drawing/2014/main" id="{8DDE59EC-C280-4536-A022-43F520155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電腦上的 Antigravity 持續保留本地工作環境；人離開座位後，長任務不必停在桌前。</a:t>
            </a:r>
          </a:p>
        </p:txBody>
      </p:sp>
      <p:sp>
        <p:nvSpPr>
          <p:cNvPr id="10" name="shape-1583">
            <a:extLst xmlns:a="http://schemas.openxmlformats.org/drawingml/2006/main">
              <a:ext uri="{FF2B5EF4-FFF2-40B4-BE49-F238E27FC236}">
                <a16:creationId xmlns:a16="http://schemas.microsoft.com/office/drawing/2014/main" id="{88EB4588-9A1C-4D6B-9903-56F1423AE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584">
            <a:extLst xmlns:a="http://schemas.openxmlformats.org/drawingml/2006/main">
              <a:ext uri="{FF2B5EF4-FFF2-40B4-BE49-F238E27FC236}">
                <a16:creationId xmlns:a16="http://schemas.microsoft.com/office/drawing/2014/main" id="{D5764B8B-549F-4D4E-8DC6-9922FE6CD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585">
            <a:extLst xmlns:a="http://schemas.openxmlformats.org/drawingml/2006/main">
              <a:ext uri="{FF2B5EF4-FFF2-40B4-BE49-F238E27FC236}">
                <a16:creationId xmlns:a16="http://schemas.microsoft.com/office/drawing/2014/main" id="{13830D23-5F6A-4D11-8FFB-0349FFE12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手機瀏覽器接手</a:t>
            </a:r>
          </a:p>
        </p:txBody>
      </p:sp>
      <p:sp>
        <p:nvSpPr>
          <p:cNvPr id="13" name="text-1586">
            <a:extLst xmlns:a="http://schemas.openxmlformats.org/drawingml/2006/main">
              <a:ext uri="{FF2B5EF4-FFF2-40B4-BE49-F238E27FC236}">
                <a16:creationId xmlns:a16="http://schemas.microsoft.com/office/drawing/2014/main" id="{DC9BADC6-E7FD-4A9F-860D-19B14C1E8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從手機查看進行中的對話、啟動新任務、檢視計畫與 Agent 產物。</a:t>
            </a:r>
          </a:p>
        </p:txBody>
      </p:sp>
      <p:sp>
        <p:nvSpPr>
          <p:cNvPr id="14" name="shape-1587">
            <a:extLst xmlns:a="http://schemas.openxmlformats.org/drawingml/2006/main">
              <a:ext uri="{FF2B5EF4-FFF2-40B4-BE49-F238E27FC236}">
                <a16:creationId xmlns:a16="http://schemas.microsoft.com/office/drawing/2014/main" id="{A032FE14-A12B-401A-B356-5DA84B5A0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588">
            <a:extLst xmlns:a="http://schemas.openxmlformats.org/drawingml/2006/main">
              <a:ext uri="{FF2B5EF4-FFF2-40B4-BE49-F238E27FC236}">
                <a16:creationId xmlns:a16="http://schemas.microsoft.com/office/drawing/2014/main" id="{A694D74A-4C77-49EC-9966-4A739419B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589">
            <a:extLst xmlns:a="http://schemas.openxmlformats.org/drawingml/2006/main">
              <a:ext uri="{FF2B5EF4-FFF2-40B4-BE49-F238E27FC236}">
                <a16:creationId xmlns:a16="http://schemas.microsoft.com/office/drawing/2014/main" id="{05020447-FAC6-4D71-BD96-4220560E5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想到就即時修正</a:t>
            </a:r>
          </a:p>
        </p:txBody>
      </p:sp>
      <p:sp>
        <p:nvSpPr>
          <p:cNvPr id="17" name="text-1590">
            <a:extLst xmlns:a="http://schemas.openxmlformats.org/drawingml/2006/main">
              <a:ext uri="{FF2B5EF4-FFF2-40B4-BE49-F238E27FC236}">
                <a16:creationId xmlns:a16="http://schemas.microsoft.com/office/drawing/2014/main" id="{CA424CC7-4CEC-481B-981E-FAE2D0095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臨時想到新條件，可以透過手機補充指令，讓 Agent 繼續推進並回報結果。</a:t>
            </a:r>
          </a:p>
        </p:txBody>
      </p:sp>
      <p:sp>
        <p:nvSpPr>
          <p:cNvPr id="18" name="shape-1591">
            <a:extLst xmlns:a="http://schemas.openxmlformats.org/drawingml/2006/main">
              <a:ext uri="{FF2B5EF4-FFF2-40B4-BE49-F238E27FC236}">
                <a16:creationId xmlns:a16="http://schemas.microsoft.com/office/drawing/2014/main" id="{B1F32840-D22C-4F1C-B0B6-14EB5A4AC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592">
            <a:extLst xmlns:a="http://schemas.openxmlformats.org/drawingml/2006/main">
              <a:ext uri="{FF2B5EF4-FFF2-40B4-BE49-F238E27FC236}">
                <a16:creationId xmlns:a16="http://schemas.microsoft.com/office/drawing/2014/main" id="{6E2BA3B8-D551-4159-AFDD-C8624FC8F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593">
            <a:extLst xmlns:a="http://schemas.openxmlformats.org/drawingml/2006/main">
              <a:ext uri="{FF2B5EF4-FFF2-40B4-BE49-F238E27FC236}">
                <a16:creationId xmlns:a16="http://schemas.microsoft.com/office/drawing/2014/main" id="{AB502C97-1F46-47DD-A943-AB0E3930F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逐步開放中</a:t>
            </a:r>
          </a:p>
        </p:txBody>
      </p:sp>
      <p:sp>
        <p:nvSpPr>
          <p:cNvPr id="21" name="text-1594">
            <a:extLst xmlns:a="http://schemas.openxmlformats.org/drawingml/2006/main">
              <a:ext uri="{FF2B5EF4-FFF2-40B4-BE49-F238E27FC236}">
                <a16:creationId xmlns:a16="http://schemas.microsoft.com/office/drawing/2014/main" id="{6130C53C-1893-48F5-A042-0C4D745CF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Remote Control 目前採 rollout；需同一 Google 帳號，且桌面端已出現可啟用的功能。</a:t>
            </a:r>
          </a:p>
        </p:txBody>
      </p:sp>
      <p:sp>
        <p:nvSpPr>
          <p:cNvPr id="22" name="text-2264">
            <a:extLst xmlns:a="http://schemas.openxmlformats.org/drawingml/2006/main">
              <a:ext uri="{FF2B5EF4-FFF2-40B4-BE49-F238E27FC236}">
                <a16:creationId xmlns:a16="http://schemas.microsoft.com/office/drawing/2014/main" id="{5B2EDC6C-7D96-43FB-AABE-15C64A233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6c37940cb494228"/>
              </a:rPr>
              <a:t>Remote Control 官方說明 ↗</a:t>
            </a:r>
          </a:p>
        </p:txBody>
      </p:sp>
      <p:sp>
        <p:nvSpPr>
          <p:cNvPr id="23" name="shape-2330">
            <a:extLst xmlns:a="http://schemas.openxmlformats.org/drawingml/2006/main">
              <a:ext uri="{FF2B5EF4-FFF2-40B4-BE49-F238E27FC236}">
                <a16:creationId xmlns:a16="http://schemas.microsoft.com/office/drawing/2014/main" id="{F6657CF7-8EE3-4E42-8A32-CAC63C21C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0c7e91ffcf4d20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2331">
            <a:extLst xmlns:a="http://schemas.openxmlformats.org/drawingml/2006/main">
              <a:ext uri="{FF2B5EF4-FFF2-40B4-BE49-F238E27FC236}">
                <a16:creationId xmlns:a16="http://schemas.microsoft.com/office/drawing/2014/main" id="{873EC726-82B6-4D7D-8426-B21E0A982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Remote Contr</a:t>
            </a:r>
          </a:p>
        </p:txBody>
      </p:sp>
    </p:spTree>
    <p:extLst>
      <p:ext uri="{BB962C8B-B14F-4D97-AF65-F5344CB8AC3E}">
        <p14:creationId xmlns:p14="http://schemas.microsoft.com/office/powerpoint/2010/main" val="2071197037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text-1595">
            <a:extLst xmlns:a="http://schemas.openxmlformats.org/drawingml/2006/main">
              <a:ext uri="{FF2B5EF4-FFF2-40B4-BE49-F238E27FC236}">
                <a16:creationId xmlns:a16="http://schemas.microsoft.com/office/drawing/2014/main" id="{04B2CFC1-E917-45DF-857B-4CECCFBFB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REMOTE CONTROL WORKFLOW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538577C-16F6-4A34-923B-DC136701E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手機遠端修正：四步把工作接回來</a:t>
            </a:r>
          </a:p>
        </p:txBody>
      </p:sp>
      <p:cxnSp>
        <p:nvCxnSpPr>
          <p:cNvPr id="36" name="shape-159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597">
            <a:extLst xmlns:a="http://schemas.openxmlformats.org/drawingml/2006/main">
              <a:ext uri="{FF2B5EF4-FFF2-40B4-BE49-F238E27FC236}">
                <a16:creationId xmlns:a16="http://schemas.microsoft.com/office/drawing/2014/main" id="{4934D6F8-C79C-469D-BE93-03F73ED45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FD97ACE-E540-4765-A34F-281279085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29</a:t>
            </a:r>
          </a:p>
        </p:txBody>
      </p:sp>
      <p:sp>
        <p:nvSpPr>
          <p:cNvPr id="6" name="shape-1598">
            <a:extLst xmlns:a="http://schemas.openxmlformats.org/drawingml/2006/main">
              <a:ext uri="{FF2B5EF4-FFF2-40B4-BE49-F238E27FC236}">
                <a16:creationId xmlns:a16="http://schemas.microsoft.com/office/drawing/2014/main" id="{817392B0-5C93-498E-96BD-E01A19A9B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599">
            <a:extLst xmlns:a="http://schemas.openxmlformats.org/drawingml/2006/main">
              <a:ext uri="{FF2B5EF4-FFF2-40B4-BE49-F238E27FC236}">
                <a16:creationId xmlns:a16="http://schemas.microsoft.com/office/drawing/2014/main" id="{33CEDD9D-EB61-4DF8-8116-6EADA501C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600">
            <a:extLst xmlns:a="http://schemas.openxmlformats.org/drawingml/2006/main">
              <a:ext uri="{FF2B5EF4-FFF2-40B4-BE49-F238E27FC236}">
                <a16:creationId xmlns:a16="http://schemas.microsoft.com/office/drawing/2014/main" id="{C3B93460-A24C-44A8-9D01-C1691AC74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601">
            <a:extLst xmlns:a="http://schemas.openxmlformats.org/drawingml/2006/main">
              <a:ext uri="{FF2B5EF4-FFF2-40B4-BE49-F238E27FC236}">
                <a16:creationId xmlns:a16="http://schemas.microsoft.com/office/drawing/2014/main" id="{8BE6F346-D2D1-4B8F-92E0-9A71CE325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啟用</a:t>
            </a:r>
          </a:p>
        </p:txBody>
      </p:sp>
      <p:sp>
        <p:nvSpPr>
          <p:cNvPr id="10" name="text-1602">
            <a:extLst xmlns:a="http://schemas.openxmlformats.org/drawingml/2006/main">
              <a:ext uri="{FF2B5EF4-FFF2-40B4-BE49-F238E27FC236}">
                <a16:creationId xmlns:a16="http://schemas.microsoft.com/office/drawing/2014/main" id="{B1027712-BE5F-43C4-9A90-772586709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 2.0 → Settings → Account → Enable Remote Control</a:t>
            </a:r>
          </a:p>
        </p:txBody>
      </p:sp>
      <p:sp>
        <p:nvSpPr>
          <p:cNvPr id="11" name="text-1603">
            <a:extLst xmlns:a="http://schemas.openxmlformats.org/drawingml/2006/main">
              <a:ext uri="{FF2B5EF4-FFF2-40B4-BE49-F238E27FC236}">
                <a16:creationId xmlns:a16="http://schemas.microsoft.com/office/drawing/2014/main" id="{AECDE62E-C1AA-46DB-BB6A-0892A1982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604">
            <a:extLst xmlns:a="http://schemas.openxmlformats.org/drawingml/2006/main">
              <a:ext uri="{FF2B5EF4-FFF2-40B4-BE49-F238E27FC236}">
                <a16:creationId xmlns:a16="http://schemas.microsoft.com/office/drawing/2014/main" id="{F5D92B10-BF33-4031-B611-243A179BB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3" name="shape-1605">
            <a:extLst xmlns:a="http://schemas.openxmlformats.org/drawingml/2006/main">
              <a:ext uri="{FF2B5EF4-FFF2-40B4-BE49-F238E27FC236}">
                <a16:creationId xmlns:a16="http://schemas.microsoft.com/office/drawing/2014/main" id="{8DED160D-941C-4BC8-BE76-4B386D087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606">
            <a:extLst xmlns:a="http://schemas.openxmlformats.org/drawingml/2006/main">
              <a:ext uri="{FF2B5EF4-FFF2-40B4-BE49-F238E27FC236}">
                <a16:creationId xmlns:a16="http://schemas.microsoft.com/office/drawing/2014/main" id="{C804D56A-ED13-4BC0-8944-A7B097A25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607">
            <a:extLst xmlns:a="http://schemas.openxmlformats.org/drawingml/2006/main">
              <a:ext uri="{FF2B5EF4-FFF2-40B4-BE49-F238E27FC236}">
                <a16:creationId xmlns:a16="http://schemas.microsoft.com/office/drawing/2014/main" id="{AFCB2D51-D122-4A3F-98C6-EED593A52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連線</a:t>
            </a:r>
          </a:p>
        </p:txBody>
      </p:sp>
      <p:sp>
        <p:nvSpPr>
          <p:cNvPr id="16" name="text-1608">
            <a:extLst xmlns:a="http://schemas.openxmlformats.org/drawingml/2006/main">
              <a:ext uri="{FF2B5EF4-FFF2-40B4-BE49-F238E27FC236}">
                <a16:creationId xmlns:a16="http://schemas.microsoft.com/office/drawing/2014/main" id="{E4A86F9F-F69D-4B72-9F62-A3C9CB629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用手機瀏覽器開啟 Remote Control Dashboard</a:t>
            </a:r>
          </a:p>
        </p:txBody>
      </p:sp>
      <p:sp>
        <p:nvSpPr>
          <p:cNvPr id="17" name="text-1609">
            <a:extLst xmlns:a="http://schemas.openxmlformats.org/drawingml/2006/main">
              <a:ext uri="{FF2B5EF4-FFF2-40B4-BE49-F238E27FC236}">
                <a16:creationId xmlns:a16="http://schemas.microsoft.com/office/drawing/2014/main" id="{C4C29CF7-2F9A-43A7-BEC7-57FC086EF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610">
            <a:extLst xmlns:a="http://schemas.openxmlformats.org/drawingml/2006/main">
              <a:ext uri="{FF2B5EF4-FFF2-40B4-BE49-F238E27FC236}">
                <a16:creationId xmlns:a16="http://schemas.microsoft.com/office/drawing/2014/main" id="{D36F61D3-F2C8-409B-8EC7-922A46D77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shape-1611">
            <a:extLst xmlns:a="http://schemas.openxmlformats.org/drawingml/2006/main">
              <a:ext uri="{FF2B5EF4-FFF2-40B4-BE49-F238E27FC236}">
                <a16:creationId xmlns:a16="http://schemas.microsoft.com/office/drawing/2014/main" id="{F2309B5B-D65A-48A1-8BC8-4E01D5451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612">
            <a:extLst xmlns:a="http://schemas.openxmlformats.org/drawingml/2006/main">
              <a:ext uri="{FF2B5EF4-FFF2-40B4-BE49-F238E27FC236}">
                <a16:creationId xmlns:a16="http://schemas.microsoft.com/office/drawing/2014/main" id="{85FE6777-957C-445A-9199-9DED71194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613">
            <a:extLst xmlns:a="http://schemas.openxmlformats.org/drawingml/2006/main">
              <a:ext uri="{FF2B5EF4-FFF2-40B4-BE49-F238E27FC236}">
                <a16:creationId xmlns:a16="http://schemas.microsoft.com/office/drawing/2014/main" id="{4696853A-0E8C-44FA-AFDE-05096D3EC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選機</a:t>
            </a:r>
          </a:p>
        </p:txBody>
      </p:sp>
      <p:sp>
        <p:nvSpPr>
          <p:cNvPr id="22" name="text-1614">
            <a:extLst xmlns:a="http://schemas.openxmlformats.org/drawingml/2006/main">
              <a:ext uri="{FF2B5EF4-FFF2-40B4-BE49-F238E27FC236}">
                <a16:creationId xmlns:a16="http://schemas.microsoft.com/office/drawing/2014/main" id="{191820C3-E34B-41F8-87C7-FFB5AFC0E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使用同一 Google 帳號，在 instance switcher 選工作電腦</a:t>
            </a:r>
          </a:p>
        </p:txBody>
      </p:sp>
      <p:sp>
        <p:nvSpPr>
          <p:cNvPr id="23" name="text-1615">
            <a:extLst xmlns:a="http://schemas.openxmlformats.org/drawingml/2006/main">
              <a:ext uri="{FF2B5EF4-FFF2-40B4-BE49-F238E27FC236}">
                <a16:creationId xmlns:a16="http://schemas.microsoft.com/office/drawing/2014/main" id="{953A3012-E338-4F71-9447-6E0A87EC7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616">
            <a:extLst xmlns:a="http://schemas.openxmlformats.org/drawingml/2006/main">
              <a:ext uri="{FF2B5EF4-FFF2-40B4-BE49-F238E27FC236}">
                <a16:creationId xmlns:a16="http://schemas.microsoft.com/office/drawing/2014/main" id="{44B2D3B1-4CB9-430B-89E9-93B112E41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5" name="shape-1617">
            <a:extLst xmlns:a="http://schemas.openxmlformats.org/drawingml/2006/main">
              <a:ext uri="{FF2B5EF4-FFF2-40B4-BE49-F238E27FC236}">
                <a16:creationId xmlns:a16="http://schemas.microsoft.com/office/drawing/2014/main" id="{DD97247F-7D73-439F-9A9D-D2E8ED086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618">
            <a:extLst xmlns:a="http://schemas.openxmlformats.org/drawingml/2006/main">
              <a:ext uri="{FF2B5EF4-FFF2-40B4-BE49-F238E27FC236}">
                <a16:creationId xmlns:a16="http://schemas.microsoft.com/office/drawing/2014/main" id="{B05D7BD7-F1F2-427C-8D39-F1E511A3A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619">
            <a:extLst xmlns:a="http://schemas.openxmlformats.org/drawingml/2006/main">
              <a:ext uri="{FF2B5EF4-FFF2-40B4-BE49-F238E27FC236}">
                <a16:creationId xmlns:a16="http://schemas.microsoft.com/office/drawing/2014/main" id="{C763871B-D286-4C71-BFE1-00ADD4C95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修正</a:t>
            </a:r>
          </a:p>
        </p:txBody>
      </p:sp>
      <p:sp>
        <p:nvSpPr>
          <p:cNvPr id="28" name="text-1620">
            <a:extLst xmlns:a="http://schemas.openxmlformats.org/drawingml/2006/main">
              <a:ext uri="{FF2B5EF4-FFF2-40B4-BE49-F238E27FC236}">
                <a16:creationId xmlns:a16="http://schemas.microsoft.com/office/drawing/2014/main" id="{DFBDF3D8-DE22-4616-BB5A-2EE11F37A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查看對話、補充指令、檢視計畫與 artifacts；主機保持連線</a:t>
            </a:r>
          </a:p>
        </p:txBody>
      </p:sp>
      <p:sp>
        <p:nvSpPr>
          <p:cNvPr id="29" name="text-1621">
            <a:extLst xmlns:a="http://schemas.openxmlformats.org/drawingml/2006/main">
              <a:ext uri="{FF2B5EF4-FFF2-40B4-BE49-F238E27FC236}">
                <a16:creationId xmlns:a16="http://schemas.microsoft.com/office/drawing/2014/main" id="{2140522A-8C73-4619-95BF-94AB1B0A2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2265">
            <a:extLst xmlns:a="http://schemas.openxmlformats.org/drawingml/2006/main">
              <a:ext uri="{FF2B5EF4-FFF2-40B4-BE49-F238E27FC236}">
                <a16:creationId xmlns:a16="http://schemas.microsoft.com/office/drawing/2014/main" id="{C74FC1C7-1C3C-440F-8E5F-1DE6D87E4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294547344914101"/>
              </a:rPr>
              <a:t>Remote Control 官方說明 ↗</a:t>
            </a:r>
          </a:p>
        </p:txBody>
      </p:sp>
      <p:sp>
        <p:nvSpPr>
          <p:cNvPr id="31" name="shape-2332">
            <a:extLst xmlns:a="http://schemas.openxmlformats.org/drawingml/2006/main">
              <a:ext uri="{FF2B5EF4-FFF2-40B4-BE49-F238E27FC236}">
                <a16:creationId xmlns:a16="http://schemas.microsoft.com/office/drawing/2014/main" id="{2DC87E87-CEEB-43AD-A1EC-5E99AB383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0c8985c82640ab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3" name="text-2333">
            <a:extLst xmlns:a="http://schemas.openxmlformats.org/drawingml/2006/main">
              <a:ext uri="{FF2B5EF4-FFF2-40B4-BE49-F238E27FC236}">
                <a16:creationId xmlns:a16="http://schemas.microsoft.com/office/drawing/2014/main" id="{565053F5-1365-4CA8-BB4D-29CCF342F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Remote Contr</a:t>
            </a:r>
          </a:p>
        </p:txBody>
      </p:sp>
    </p:spTree>
    <p:extLst>
      <p:ext uri="{BB962C8B-B14F-4D97-AF65-F5344CB8AC3E}">
        <p14:creationId xmlns:p14="http://schemas.microsoft.com/office/powerpoint/2010/main" val="493945825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622">
            <a:extLst xmlns:a="http://schemas.openxmlformats.org/drawingml/2006/main">
              <a:ext uri="{FF2B5EF4-FFF2-40B4-BE49-F238E27FC236}">
                <a16:creationId xmlns:a16="http://schemas.microsoft.com/office/drawing/2014/main" id="{DCDE5468-A4E0-47CB-9A1F-28A13CA28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2" name="text-1623">
            <a:extLst xmlns:a="http://schemas.openxmlformats.org/drawingml/2006/main">
              <a:ext uri="{FF2B5EF4-FFF2-40B4-BE49-F238E27FC236}">
                <a16:creationId xmlns:a16="http://schemas.microsoft.com/office/drawing/2014/main" id="{B5E20E59-F97D-4C5E-9415-1E39A03D9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sp>
        <p:nvSpPr>
          <p:cNvPr id="3" name="text-1624">
            <a:extLst xmlns:a="http://schemas.openxmlformats.org/drawingml/2006/main">
              <a:ext uri="{FF2B5EF4-FFF2-40B4-BE49-F238E27FC236}">
                <a16:creationId xmlns:a16="http://schemas.microsoft.com/office/drawing/2014/main" id="{DA5B5088-4357-411D-8611-25A8476C4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ChatGPT Voice 可在桌面版 Work／Codex 中直接口述任務、追問進度與協調 Agent；Codex 也能讀取工作區脈絡、修改檔案、執行檢查並交付可追查成果。</a:t>
            </a:r>
          </a:p>
        </p:txBody>
      </p:sp>
      <p:sp>
        <p:nvSpPr>
          <p:cNvPr id="4" name="shape-1625">
            <a:extLst xmlns:a="http://schemas.openxmlformats.org/drawingml/2006/main">
              <a:ext uri="{FF2B5EF4-FFF2-40B4-BE49-F238E27FC236}">
                <a16:creationId xmlns:a16="http://schemas.microsoft.com/office/drawing/2014/main" id="{4906485E-A118-479B-8E42-6CE906C2D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626">
            <a:extLst xmlns:a="http://schemas.openxmlformats.org/drawingml/2006/main">
              <a:ext uri="{FF2B5EF4-FFF2-40B4-BE49-F238E27FC236}">
                <a16:creationId xmlns:a16="http://schemas.microsoft.com/office/drawing/2014/main" id="{3BA32740-A911-4ACB-A3D9-C24D0BF4C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sp>
        <p:nvSpPr>
          <p:cNvPr id="6" name="shape-1627">
            <a:extLst xmlns:a="http://schemas.openxmlformats.org/drawingml/2006/main">
              <a:ext uri="{FF2B5EF4-FFF2-40B4-BE49-F238E27FC236}">
                <a16:creationId xmlns:a16="http://schemas.microsoft.com/office/drawing/2014/main" id="{DDC905B8-BB95-487E-8B42-BC4510532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5524500"/>
            <a:ext cx="23812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628">
            <a:extLst xmlns:a="http://schemas.openxmlformats.org/drawingml/2006/main">
              <a:ext uri="{FF2B5EF4-FFF2-40B4-BE49-F238E27FC236}">
                <a16:creationId xmlns:a16="http://schemas.microsoft.com/office/drawing/2014/main" id="{59FB2C60-DF82-40D2-A7C7-1753F8BD4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559117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&lt;&gt;</a:t>
            </a:r>
          </a:p>
        </p:txBody>
      </p:sp>
      <p:sp>
        <p:nvSpPr>
          <p:cNvPr id="8" name="text-1629">
            <a:extLst xmlns:a="http://schemas.openxmlformats.org/drawingml/2006/main">
              <a:ext uri="{FF2B5EF4-FFF2-40B4-BE49-F238E27FC236}">
                <a16:creationId xmlns:a16="http://schemas.microsoft.com/office/drawing/2014/main" id="{7552099D-566E-4459-93A4-99BD50974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5600700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sp>
        <p:nvSpPr>
          <p:cNvPr id="9" name="text-1630">
            <a:extLst xmlns:a="http://schemas.openxmlformats.org/drawingml/2006/main">
              <a:ext uri="{FF2B5EF4-FFF2-40B4-BE49-F238E27FC236}">
                <a16:creationId xmlns:a16="http://schemas.microsoft.com/office/drawing/2014/main" id="{CF4C32ED-D898-4DA3-80F9-02F85BCD5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5800725"/>
            <a:ext cx="17335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7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ChatGPT Agent 工作區</a:t>
            </a:r>
          </a:p>
        </p:txBody>
      </p:sp>
      <p:cxnSp>
        <p:nvCxnSpPr>
          <p:cNvPr id="26" name="shape-163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11" name="text-1632">
            <a:extLst xmlns:a="http://schemas.openxmlformats.org/drawingml/2006/main">
              <a:ext uri="{FF2B5EF4-FFF2-40B4-BE49-F238E27FC236}">
                <a16:creationId xmlns:a16="http://schemas.microsoft.com/office/drawing/2014/main" id="{CB847C51-CF2F-4848-9A41-11174B06D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5864048-6AA5-4FD7-9F00-01ABC971B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30</a:t>
            </a:r>
          </a:p>
        </p:txBody>
      </p:sp>
      <p:sp>
        <p:nvSpPr>
          <p:cNvPr id="13" name="text-2266">
            <a:extLst xmlns:a="http://schemas.openxmlformats.org/drawingml/2006/main">
              <a:ext uri="{FF2B5EF4-FFF2-40B4-BE49-F238E27FC236}">
                <a16:creationId xmlns:a16="http://schemas.microsoft.com/office/drawing/2014/main" id="{F6307F56-4368-44B1-81BF-CF2AF08C9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b4f5b7d59744a11"/>
              </a:rPr>
              <a:t>開啟 Codex ↗</a:t>
            </a:r>
          </a:p>
        </p:txBody>
      </p:sp>
      <p:sp>
        <p:nvSpPr>
          <p:cNvPr id="14" name="shape-2334">
            <a:extLst xmlns:a="http://schemas.openxmlformats.org/drawingml/2006/main">
              <a:ext uri="{FF2B5EF4-FFF2-40B4-BE49-F238E27FC236}">
                <a16:creationId xmlns:a16="http://schemas.microsoft.com/office/drawing/2014/main" id="{17C8F83B-C6C7-4BA6-A01A-38C8594E0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cc9e01da9b46ae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2335">
            <a:extLst xmlns:a="http://schemas.openxmlformats.org/drawingml/2006/main">
              <a:ext uri="{FF2B5EF4-FFF2-40B4-BE49-F238E27FC236}">
                <a16:creationId xmlns:a16="http://schemas.microsoft.com/office/drawing/2014/main" id="{65C472FD-D8AD-4B1F-B514-B6F15A2E0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751534747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text-1633">
            <a:extLst xmlns:a="http://schemas.openxmlformats.org/drawingml/2006/main">
              <a:ext uri="{FF2B5EF4-FFF2-40B4-BE49-F238E27FC236}">
                <a16:creationId xmlns:a16="http://schemas.microsoft.com/office/drawing/2014/main" id="{5A53403F-FE3F-4975-B35B-A1F9BD923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WORKFLOW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DDE2D9B-5C0D-4041-B1A0-6FFDE37E6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Codex 實作工作流：先定位，再修改</a:t>
            </a:r>
          </a:p>
        </p:txBody>
      </p:sp>
      <p:cxnSp>
        <p:nvCxnSpPr>
          <p:cNvPr id="42" name="shape-163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635">
            <a:extLst xmlns:a="http://schemas.openxmlformats.org/drawingml/2006/main">
              <a:ext uri="{FF2B5EF4-FFF2-40B4-BE49-F238E27FC236}">
                <a16:creationId xmlns:a16="http://schemas.microsoft.com/office/drawing/2014/main" id="{74FBC512-DB9A-43C5-8ACD-E5FD060C0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8B7DF93-5397-46BC-89F7-12FF9AA62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31</a:t>
            </a:r>
          </a:p>
        </p:txBody>
      </p:sp>
      <p:sp>
        <p:nvSpPr>
          <p:cNvPr id="6" name="shape-1636">
            <a:extLst xmlns:a="http://schemas.openxmlformats.org/drawingml/2006/main">
              <a:ext uri="{FF2B5EF4-FFF2-40B4-BE49-F238E27FC236}">
                <a16:creationId xmlns:a16="http://schemas.microsoft.com/office/drawing/2014/main" id="{9E4D029A-81ED-45A3-93F7-06DD4B08A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637">
            <a:extLst xmlns:a="http://schemas.openxmlformats.org/drawingml/2006/main">
              <a:ext uri="{FF2B5EF4-FFF2-40B4-BE49-F238E27FC236}">
                <a16:creationId xmlns:a16="http://schemas.microsoft.com/office/drawing/2014/main" id="{FB598486-6A2B-4C73-BE41-F7A063A7D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638">
            <a:extLst xmlns:a="http://schemas.openxmlformats.org/drawingml/2006/main">
              <a:ext uri="{FF2B5EF4-FFF2-40B4-BE49-F238E27FC236}">
                <a16:creationId xmlns:a16="http://schemas.microsoft.com/office/drawing/2014/main" id="{16BF063B-3AAB-4506-AA15-2E1376297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639">
            <a:extLst xmlns:a="http://schemas.openxmlformats.org/drawingml/2006/main">
              <a:ext uri="{FF2B5EF4-FFF2-40B4-BE49-F238E27FC236}">
                <a16:creationId xmlns:a16="http://schemas.microsoft.com/office/drawing/2014/main" id="{6863CFD2-0204-418D-9E3B-40C31289C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開啟工作區／語音</a:t>
            </a:r>
          </a:p>
        </p:txBody>
      </p:sp>
      <p:sp>
        <p:nvSpPr>
          <p:cNvPr id="10" name="text-1640">
            <a:extLst xmlns:a="http://schemas.openxmlformats.org/drawingml/2006/main">
              <a:ext uri="{FF2B5EF4-FFF2-40B4-BE49-F238E27FC236}">
                <a16:creationId xmlns:a16="http://schemas.microsoft.com/office/drawing/2014/main" id="{1CBC9F7C-B2F3-4CCD-A0E1-63D7C2862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素材、麥克風與權限</a:t>
            </a:r>
          </a:p>
        </p:txBody>
      </p:sp>
      <p:sp>
        <p:nvSpPr>
          <p:cNvPr id="11" name="text-1641">
            <a:extLst xmlns:a="http://schemas.openxmlformats.org/drawingml/2006/main">
              <a:ext uri="{FF2B5EF4-FFF2-40B4-BE49-F238E27FC236}">
                <a16:creationId xmlns:a16="http://schemas.microsoft.com/office/drawing/2014/main" id="{4130C7B2-2BF0-4DC8-8876-ED1A7E44D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642">
            <a:extLst xmlns:a="http://schemas.openxmlformats.org/drawingml/2006/main">
              <a:ext uri="{FF2B5EF4-FFF2-40B4-BE49-F238E27FC236}">
                <a16:creationId xmlns:a16="http://schemas.microsoft.com/office/drawing/2014/main" id="{EE50A126-A5DF-4445-B1A5-D9DAAB249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3" name="shape-1643">
            <a:extLst xmlns:a="http://schemas.openxmlformats.org/drawingml/2006/main">
              <a:ext uri="{FF2B5EF4-FFF2-40B4-BE49-F238E27FC236}">
                <a16:creationId xmlns:a16="http://schemas.microsoft.com/office/drawing/2014/main" id="{3B9B7092-3726-4562-BEC3-E6BBB9278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644">
            <a:extLst xmlns:a="http://schemas.openxmlformats.org/drawingml/2006/main">
              <a:ext uri="{FF2B5EF4-FFF2-40B4-BE49-F238E27FC236}">
                <a16:creationId xmlns:a16="http://schemas.microsoft.com/office/drawing/2014/main" id="{94342E63-94CD-4294-A332-87543E95C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645">
            <a:extLst xmlns:a="http://schemas.openxmlformats.org/drawingml/2006/main">
              <a:ext uri="{FF2B5EF4-FFF2-40B4-BE49-F238E27FC236}">
                <a16:creationId xmlns:a16="http://schemas.microsoft.com/office/drawing/2014/main" id="{102CA9CD-6D59-4FC8-9AA8-B4755E0B2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描述任務</a:t>
            </a:r>
          </a:p>
        </p:txBody>
      </p:sp>
      <p:sp>
        <p:nvSpPr>
          <p:cNvPr id="16" name="text-1646">
            <a:extLst xmlns:a="http://schemas.openxmlformats.org/drawingml/2006/main">
              <a:ext uri="{FF2B5EF4-FFF2-40B4-BE49-F238E27FC236}">
                <a16:creationId xmlns:a16="http://schemas.microsoft.com/office/drawing/2014/main" id="{B391B694-9B72-4D09-8C92-4E63B01A5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目標、限制、驗收</a:t>
            </a:r>
          </a:p>
        </p:txBody>
      </p:sp>
      <p:sp>
        <p:nvSpPr>
          <p:cNvPr id="17" name="text-1647">
            <a:extLst xmlns:a="http://schemas.openxmlformats.org/drawingml/2006/main">
              <a:ext uri="{FF2B5EF4-FFF2-40B4-BE49-F238E27FC236}">
                <a16:creationId xmlns:a16="http://schemas.microsoft.com/office/drawing/2014/main" id="{5F37778B-CA78-4544-8DA5-97305AAF0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648">
            <a:extLst xmlns:a="http://schemas.openxmlformats.org/drawingml/2006/main">
              <a:ext uri="{FF2B5EF4-FFF2-40B4-BE49-F238E27FC236}">
                <a16:creationId xmlns:a16="http://schemas.microsoft.com/office/drawing/2014/main" id="{C4571F20-3A1E-4722-BD39-AFDB93EFA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shape-1649">
            <a:extLst xmlns:a="http://schemas.openxmlformats.org/drawingml/2006/main">
              <a:ext uri="{FF2B5EF4-FFF2-40B4-BE49-F238E27FC236}">
                <a16:creationId xmlns:a16="http://schemas.microsoft.com/office/drawing/2014/main" id="{6AF60D43-DA6D-431B-BEC5-0EECD1362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650">
            <a:extLst xmlns:a="http://schemas.openxmlformats.org/drawingml/2006/main">
              <a:ext uri="{FF2B5EF4-FFF2-40B4-BE49-F238E27FC236}">
                <a16:creationId xmlns:a16="http://schemas.microsoft.com/office/drawing/2014/main" id="{1018BE10-D77F-4DFA-B395-711517B30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651">
            <a:extLst xmlns:a="http://schemas.openxmlformats.org/drawingml/2006/main">
              <a:ext uri="{FF2B5EF4-FFF2-40B4-BE49-F238E27FC236}">
                <a16:creationId xmlns:a16="http://schemas.microsoft.com/office/drawing/2014/main" id="{05B3C49A-73BF-4368-8D68-39FB927F3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觀察進度</a:t>
            </a:r>
          </a:p>
        </p:txBody>
      </p:sp>
      <p:sp>
        <p:nvSpPr>
          <p:cNvPr id="22" name="text-1652">
            <a:extLst xmlns:a="http://schemas.openxmlformats.org/drawingml/2006/main">
              <a:ext uri="{FF2B5EF4-FFF2-40B4-BE49-F238E27FC236}">
                <a16:creationId xmlns:a16="http://schemas.microsoft.com/office/drawing/2014/main" id="{6F8047A8-758D-47B4-ACE0-D12FDC375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計畫、讀檔、工具使用</a:t>
            </a:r>
          </a:p>
        </p:txBody>
      </p:sp>
      <p:sp>
        <p:nvSpPr>
          <p:cNvPr id="23" name="text-1653">
            <a:extLst xmlns:a="http://schemas.openxmlformats.org/drawingml/2006/main">
              <a:ext uri="{FF2B5EF4-FFF2-40B4-BE49-F238E27FC236}">
                <a16:creationId xmlns:a16="http://schemas.microsoft.com/office/drawing/2014/main" id="{938BFC18-AF5B-4A77-BFD6-25ABD90A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654">
            <a:extLst xmlns:a="http://schemas.openxmlformats.org/drawingml/2006/main">
              <a:ext uri="{FF2B5EF4-FFF2-40B4-BE49-F238E27FC236}">
                <a16:creationId xmlns:a16="http://schemas.microsoft.com/office/drawing/2014/main" id="{0BFA0CFF-13F2-430C-A1C4-5B89BA688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5" name="shape-1655">
            <a:extLst xmlns:a="http://schemas.openxmlformats.org/drawingml/2006/main">
              <a:ext uri="{FF2B5EF4-FFF2-40B4-BE49-F238E27FC236}">
                <a16:creationId xmlns:a16="http://schemas.microsoft.com/office/drawing/2014/main" id="{40DBC13D-BAB7-4113-9AE3-AF52F6F85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656">
            <a:extLst xmlns:a="http://schemas.openxmlformats.org/drawingml/2006/main">
              <a:ext uri="{FF2B5EF4-FFF2-40B4-BE49-F238E27FC236}">
                <a16:creationId xmlns:a16="http://schemas.microsoft.com/office/drawing/2014/main" id="{4438E86B-3DB0-4025-893A-76C3FCED1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657">
            <a:extLst xmlns:a="http://schemas.openxmlformats.org/drawingml/2006/main">
              <a:ext uri="{FF2B5EF4-FFF2-40B4-BE49-F238E27FC236}">
                <a16:creationId xmlns:a16="http://schemas.microsoft.com/office/drawing/2014/main" id="{215DAAAB-20EF-4BB8-97B6-6C31AB732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檢查成果</a:t>
            </a:r>
          </a:p>
        </p:txBody>
      </p:sp>
      <p:sp>
        <p:nvSpPr>
          <p:cNvPr id="28" name="text-1658">
            <a:extLst xmlns:a="http://schemas.openxmlformats.org/drawingml/2006/main">
              <a:ext uri="{FF2B5EF4-FFF2-40B4-BE49-F238E27FC236}">
                <a16:creationId xmlns:a16="http://schemas.microsoft.com/office/drawing/2014/main" id="{0D909844-07A8-4E9F-AC8D-E2C65A334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檔案、測試、畫面、差異</a:t>
            </a:r>
          </a:p>
        </p:txBody>
      </p:sp>
      <p:sp>
        <p:nvSpPr>
          <p:cNvPr id="29" name="text-1659">
            <a:extLst xmlns:a="http://schemas.openxmlformats.org/drawingml/2006/main">
              <a:ext uri="{FF2B5EF4-FFF2-40B4-BE49-F238E27FC236}">
                <a16:creationId xmlns:a16="http://schemas.microsoft.com/office/drawing/2014/main" id="{4678617D-5382-4AF8-A27E-BFE49F221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660">
            <a:extLst xmlns:a="http://schemas.openxmlformats.org/drawingml/2006/main">
              <a:ext uri="{FF2B5EF4-FFF2-40B4-BE49-F238E27FC236}">
                <a16:creationId xmlns:a16="http://schemas.microsoft.com/office/drawing/2014/main" id="{4D4C4A91-339B-4C92-8EEA-45691A95D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31" name="shape-1661">
            <a:extLst xmlns:a="http://schemas.openxmlformats.org/drawingml/2006/main">
              <a:ext uri="{FF2B5EF4-FFF2-40B4-BE49-F238E27FC236}">
                <a16:creationId xmlns:a16="http://schemas.microsoft.com/office/drawing/2014/main" id="{1F76D600-A28D-4AE0-91CB-754267104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662">
            <a:extLst xmlns:a="http://schemas.openxmlformats.org/drawingml/2006/main">
              <a:ext uri="{FF2B5EF4-FFF2-40B4-BE49-F238E27FC236}">
                <a16:creationId xmlns:a16="http://schemas.microsoft.com/office/drawing/2014/main" id="{D39CBD90-36F7-44AD-847D-E66B89FE1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663">
            <a:extLst xmlns:a="http://schemas.openxmlformats.org/drawingml/2006/main">
              <a:ext uri="{FF2B5EF4-FFF2-40B4-BE49-F238E27FC236}">
                <a16:creationId xmlns:a16="http://schemas.microsoft.com/office/drawing/2014/main" id="{65FC4E21-1D15-42FB-90AB-A214E5E67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決定下一步</a:t>
            </a:r>
          </a:p>
        </p:txBody>
      </p:sp>
      <p:sp>
        <p:nvSpPr>
          <p:cNvPr id="34" name="text-1664">
            <a:extLst xmlns:a="http://schemas.openxmlformats.org/drawingml/2006/main">
              <a:ext uri="{FF2B5EF4-FFF2-40B4-BE49-F238E27FC236}">
                <a16:creationId xmlns:a16="http://schemas.microsoft.com/office/drawing/2014/main" id="{26DA6BB7-DDE2-497E-BA99-F9FBD4CEF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接受、修正或停止</a:t>
            </a:r>
          </a:p>
        </p:txBody>
      </p:sp>
      <p:sp>
        <p:nvSpPr>
          <p:cNvPr id="35" name="text-1665">
            <a:extLst xmlns:a="http://schemas.openxmlformats.org/drawingml/2006/main">
              <a:ext uri="{FF2B5EF4-FFF2-40B4-BE49-F238E27FC236}">
                <a16:creationId xmlns:a16="http://schemas.microsoft.com/office/drawing/2014/main" id="{9DB423A4-3D7A-492C-820B-95B8A285B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6" name="text-2267">
            <a:extLst xmlns:a="http://schemas.openxmlformats.org/drawingml/2006/main">
              <a:ext uri="{FF2B5EF4-FFF2-40B4-BE49-F238E27FC236}">
                <a16:creationId xmlns:a16="http://schemas.microsoft.com/office/drawing/2014/main" id="{4FA8F94F-739D-49CA-85F4-3A4A31617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7f949b270474ecf"/>
              </a:rPr>
              <a:t>開啟 Codex ↗</a:t>
            </a:r>
          </a:p>
        </p:txBody>
      </p:sp>
      <p:sp>
        <p:nvSpPr>
          <p:cNvPr id="37" name="shape-2336">
            <a:extLst xmlns:a="http://schemas.openxmlformats.org/drawingml/2006/main">
              <a:ext uri="{FF2B5EF4-FFF2-40B4-BE49-F238E27FC236}">
                <a16:creationId xmlns:a16="http://schemas.microsoft.com/office/drawing/2014/main" id="{A85386EB-6B4F-41BA-8570-80C6C2BE9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d93d13e348443b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9" name="text-2337">
            <a:extLst xmlns:a="http://schemas.openxmlformats.org/drawingml/2006/main">
              <a:ext uri="{FF2B5EF4-FFF2-40B4-BE49-F238E27FC236}">
                <a16:creationId xmlns:a16="http://schemas.microsoft.com/office/drawing/2014/main" id="{21A684EB-76AB-450C-9408-229FEF695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392100987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666">
            <a:extLst xmlns:a="http://schemas.openxmlformats.org/drawingml/2006/main">
              <a:ext uri="{FF2B5EF4-FFF2-40B4-BE49-F238E27FC236}">
                <a16:creationId xmlns:a16="http://schemas.microsoft.com/office/drawing/2014/main" id="{3419E0C2-67A4-43AF-942B-C9A7F7635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AGENT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2423CC0-658D-4D98-AB53-6E97D1E84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同一任務在 Codex 中這樣下達</a:t>
            </a:r>
          </a:p>
        </p:txBody>
      </p:sp>
      <p:cxnSp>
        <p:nvCxnSpPr>
          <p:cNvPr id="19" name="shape-166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668">
            <a:extLst xmlns:a="http://schemas.openxmlformats.org/drawingml/2006/main">
              <a:ext uri="{FF2B5EF4-FFF2-40B4-BE49-F238E27FC236}">
                <a16:creationId xmlns:a16="http://schemas.microsoft.com/office/drawing/2014/main" id="{3B7E4C39-C322-4EBD-9410-1633E9C79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E3D0C30-1723-454D-B75F-1FBE371A5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32</a:t>
            </a:r>
          </a:p>
        </p:txBody>
      </p:sp>
      <p:sp>
        <p:nvSpPr>
          <p:cNvPr id="6" name="text-1669">
            <a:extLst xmlns:a="http://schemas.openxmlformats.org/drawingml/2006/main">
              <a:ext uri="{FF2B5EF4-FFF2-40B4-BE49-F238E27FC236}">
                <a16:creationId xmlns:a16="http://schemas.microsoft.com/office/drawing/2014/main" id="{68AF8784-161C-4D22-A339-30DE32BF3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6858000" cy="4324350"/>
          </a:xfrm>
          <a:prstGeom xmlns:a="http://schemas.openxmlformats.org/drawingml/2006/main" prst="roundRect">
            <a:avLst>
              <a:gd name="adj" fmla="val 3524"/>
            </a:avLst>
          </a:prstGeom>
          <a:solidFill xmlns:a="http://schemas.openxmlformats.org/drawingml/2006/main">
            <a:srgbClr val="1B2A3D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247650" tIns="247650" rIns="247650" bIns="2476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目標：改善這個課程互動網站的手機操作體驗。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範圍：只處理目前工作區中的 HTML、CSS、JS。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限制：不更動教學內容、不新增外部服務、不發布。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請先：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1. 檢查結構與手機畫面。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2. 說明最重要的 3 個問題與修正計畫。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3. 實作後跑可行的檢查。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4. 回報修改檔案、驗證證據與未確認項目。</a:t>
            </a:r>
          </a:p>
        </p:txBody>
      </p:sp>
      <p:sp>
        <p:nvSpPr>
          <p:cNvPr id="7" name="text-1670">
            <a:extLst xmlns:a="http://schemas.openxmlformats.org/drawingml/2006/main">
              <a:ext uri="{FF2B5EF4-FFF2-40B4-BE49-F238E27FC236}">
                <a16:creationId xmlns:a16="http://schemas.microsoft.com/office/drawing/2014/main" id="{E94BAD12-F61C-460F-B2DA-7774BB65D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7526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明確邊界</a:t>
            </a:r>
          </a:p>
        </p:txBody>
      </p:sp>
      <p:sp>
        <p:nvSpPr>
          <p:cNvPr id="8" name="text-1671">
            <a:extLst xmlns:a="http://schemas.openxmlformats.org/drawingml/2006/main">
              <a:ext uri="{FF2B5EF4-FFF2-40B4-BE49-F238E27FC236}">
                <a16:creationId xmlns:a16="http://schemas.microsoft.com/office/drawing/2014/main" id="{721DB052-4300-425E-B25A-53D1CE1E9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1907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檔案與動作的範圍要具體。</a:t>
            </a:r>
          </a:p>
        </p:txBody>
      </p:sp>
      <p:sp>
        <p:nvSpPr>
          <p:cNvPr id="9" name="text-1672">
            <a:extLst xmlns:a="http://schemas.openxmlformats.org/drawingml/2006/main">
              <a:ext uri="{FF2B5EF4-FFF2-40B4-BE49-F238E27FC236}">
                <a16:creationId xmlns:a16="http://schemas.microsoft.com/office/drawing/2014/main" id="{362209C1-49DC-484B-AFE7-CE696CF9A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0515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0E9F94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0E9F94"/>
                </a:solidFill>
                <a:latin typeface="Noto Sans TC"/>
                <a:ea typeface="Noto Sans TC"/>
                <a:cs typeface="Noto Sans TC"/>
              </a:rPr>
              <a:t>先檢查</a:t>
            </a:r>
          </a:p>
        </p:txBody>
      </p:sp>
      <p:sp>
        <p:nvSpPr>
          <p:cNvPr id="10" name="text-1673">
            <a:extLst xmlns:a="http://schemas.openxmlformats.org/drawingml/2006/main">
              <a:ext uri="{FF2B5EF4-FFF2-40B4-BE49-F238E27FC236}">
                <a16:creationId xmlns:a16="http://schemas.microsoft.com/office/drawing/2014/main" id="{783A334F-5CD4-4389-BCD3-55F37BEB6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4330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讓 Agent 先讀環境，避免憑空重寫。</a:t>
            </a:r>
          </a:p>
        </p:txBody>
      </p:sp>
      <p:sp>
        <p:nvSpPr>
          <p:cNvPr id="11" name="text-1674">
            <a:extLst xmlns:a="http://schemas.openxmlformats.org/drawingml/2006/main">
              <a:ext uri="{FF2B5EF4-FFF2-40B4-BE49-F238E27FC236}">
                <a16:creationId xmlns:a16="http://schemas.microsoft.com/office/drawing/2014/main" id="{95976F8C-A607-4241-B477-D8DD472F9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4577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驗收可見</a:t>
            </a:r>
          </a:p>
        </p:txBody>
      </p:sp>
      <p:sp>
        <p:nvSpPr>
          <p:cNvPr id="12" name="text-1675">
            <a:extLst xmlns:a="http://schemas.openxmlformats.org/drawingml/2006/main">
              <a:ext uri="{FF2B5EF4-FFF2-40B4-BE49-F238E27FC236}">
                <a16:creationId xmlns:a16="http://schemas.microsoft.com/office/drawing/2014/main" id="{79419683-D3A7-4468-8946-A8AB7AACB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958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要求證據與未確認項目。</a:t>
            </a:r>
          </a:p>
        </p:txBody>
      </p:sp>
      <p:sp>
        <p:nvSpPr>
          <p:cNvPr id="13" name="text-2268">
            <a:extLst xmlns:a="http://schemas.openxmlformats.org/drawingml/2006/main">
              <a:ext uri="{FF2B5EF4-FFF2-40B4-BE49-F238E27FC236}">
                <a16:creationId xmlns:a16="http://schemas.microsoft.com/office/drawing/2014/main" id="{39A53C2D-31DF-4A26-81E1-F8F74EC00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51b219136ac4b50"/>
              </a:rPr>
              <a:t>開啟 Codex ↗</a:t>
            </a:r>
          </a:p>
        </p:txBody>
      </p:sp>
      <p:sp>
        <p:nvSpPr>
          <p:cNvPr id="14" name="shape-2338">
            <a:extLst xmlns:a="http://schemas.openxmlformats.org/drawingml/2006/main">
              <a:ext uri="{FF2B5EF4-FFF2-40B4-BE49-F238E27FC236}">
                <a16:creationId xmlns:a16="http://schemas.microsoft.com/office/drawing/2014/main" id="{D5303291-4951-410A-B001-5C16FE29C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20b75d763e4171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2339">
            <a:extLst xmlns:a="http://schemas.openxmlformats.org/drawingml/2006/main">
              <a:ext uri="{FF2B5EF4-FFF2-40B4-BE49-F238E27FC236}">
                <a16:creationId xmlns:a16="http://schemas.microsoft.com/office/drawing/2014/main" id="{55A40EE5-C4BD-459B-BAC7-0DE21190E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350665054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text-1676">
            <a:extLst xmlns:a="http://schemas.openxmlformats.org/drawingml/2006/main">
              <a:ext uri="{FF2B5EF4-FFF2-40B4-BE49-F238E27FC236}">
                <a16:creationId xmlns:a16="http://schemas.microsoft.com/office/drawing/2014/main" id="{0382FAA5-CD66-480A-A19B-7FBEE2518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TASK DESIGN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3704BAE-08AE-49FB-98C4-A66C2D1BE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好任務簡報的六個欄位</a:t>
            </a:r>
          </a:p>
        </p:txBody>
      </p:sp>
      <p:cxnSp>
        <p:nvCxnSpPr>
          <p:cNvPr id="36" name="shape-167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678">
            <a:extLst xmlns:a="http://schemas.openxmlformats.org/drawingml/2006/main">
              <a:ext uri="{FF2B5EF4-FFF2-40B4-BE49-F238E27FC236}">
                <a16:creationId xmlns:a16="http://schemas.microsoft.com/office/drawing/2014/main" id="{17A6F076-9C0C-418F-A70F-0415A5926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E9631DA-1212-4B15-8055-700A2DC92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33</a:t>
            </a:r>
          </a:p>
        </p:txBody>
      </p:sp>
      <p:sp>
        <p:nvSpPr>
          <p:cNvPr id="6" name="shape-1679">
            <a:extLst xmlns:a="http://schemas.openxmlformats.org/drawingml/2006/main">
              <a:ext uri="{FF2B5EF4-FFF2-40B4-BE49-F238E27FC236}">
                <a16:creationId xmlns:a16="http://schemas.microsoft.com/office/drawing/2014/main" id="{7A69BF87-DD0F-4041-859C-DD6E4AAEB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680">
            <a:extLst xmlns:a="http://schemas.openxmlformats.org/drawingml/2006/main">
              <a:ext uri="{FF2B5EF4-FFF2-40B4-BE49-F238E27FC236}">
                <a16:creationId xmlns:a16="http://schemas.microsoft.com/office/drawing/2014/main" id="{E75BA640-61A9-4AD1-AC1A-4E704CA12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1681">
            <a:extLst xmlns:a="http://schemas.openxmlformats.org/drawingml/2006/main">
              <a:ext uri="{FF2B5EF4-FFF2-40B4-BE49-F238E27FC236}">
                <a16:creationId xmlns:a16="http://schemas.microsoft.com/office/drawing/2014/main" id="{5C724527-CABD-44AA-81AB-BA82C4013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Why</a:t>
            </a:r>
          </a:p>
        </p:txBody>
      </p:sp>
      <p:sp>
        <p:nvSpPr>
          <p:cNvPr id="9" name="text-1682">
            <a:extLst xmlns:a="http://schemas.openxmlformats.org/drawingml/2006/main">
              <a:ext uri="{FF2B5EF4-FFF2-40B4-BE49-F238E27FC236}">
                <a16:creationId xmlns:a16="http://schemas.microsoft.com/office/drawing/2014/main" id="{ED9D401B-2EF7-467A-86C7-3A7CA79DE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教學／研究痛點與使用者價值</a:t>
            </a:r>
          </a:p>
        </p:txBody>
      </p:sp>
      <p:sp>
        <p:nvSpPr>
          <p:cNvPr id="10" name="shape-1683">
            <a:extLst xmlns:a="http://schemas.openxmlformats.org/drawingml/2006/main">
              <a:ext uri="{FF2B5EF4-FFF2-40B4-BE49-F238E27FC236}">
                <a16:creationId xmlns:a16="http://schemas.microsoft.com/office/drawing/2014/main" id="{B6132A2C-E9DA-4049-872A-B5AF1243C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684">
            <a:extLst xmlns:a="http://schemas.openxmlformats.org/drawingml/2006/main">
              <a:ext uri="{FF2B5EF4-FFF2-40B4-BE49-F238E27FC236}">
                <a16:creationId xmlns:a16="http://schemas.microsoft.com/office/drawing/2014/main" id="{F40ED341-E1F4-4561-87D3-93F735E0E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1685">
            <a:extLst xmlns:a="http://schemas.openxmlformats.org/drawingml/2006/main">
              <a:ext uri="{FF2B5EF4-FFF2-40B4-BE49-F238E27FC236}">
                <a16:creationId xmlns:a16="http://schemas.microsoft.com/office/drawing/2014/main" id="{CB2335F6-BEEE-4AAC-A70C-818A681A5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What</a:t>
            </a:r>
          </a:p>
        </p:txBody>
      </p:sp>
      <p:sp>
        <p:nvSpPr>
          <p:cNvPr id="13" name="text-1686">
            <a:extLst xmlns:a="http://schemas.openxmlformats.org/drawingml/2006/main">
              <a:ext uri="{FF2B5EF4-FFF2-40B4-BE49-F238E27FC236}">
                <a16:creationId xmlns:a16="http://schemas.microsoft.com/office/drawing/2014/main" id="{D4ACAB59-BE82-4CD7-A2F8-354F3A450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要完成的具體成果</a:t>
            </a:r>
          </a:p>
        </p:txBody>
      </p:sp>
      <p:sp>
        <p:nvSpPr>
          <p:cNvPr id="14" name="shape-1687">
            <a:extLst xmlns:a="http://schemas.openxmlformats.org/drawingml/2006/main">
              <a:ext uri="{FF2B5EF4-FFF2-40B4-BE49-F238E27FC236}">
                <a16:creationId xmlns:a16="http://schemas.microsoft.com/office/drawing/2014/main" id="{6E6B4993-D875-469F-A97E-2950486C8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688">
            <a:extLst xmlns:a="http://schemas.openxmlformats.org/drawingml/2006/main">
              <a:ext uri="{FF2B5EF4-FFF2-40B4-BE49-F238E27FC236}">
                <a16:creationId xmlns:a16="http://schemas.microsoft.com/office/drawing/2014/main" id="{E579DBA9-0550-4794-88EA-865D245FB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1689">
            <a:extLst xmlns:a="http://schemas.openxmlformats.org/drawingml/2006/main">
              <a:ext uri="{FF2B5EF4-FFF2-40B4-BE49-F238E27FC236}">
                <a16:creationId xmlns:a16="http://schemas.microsoft.com/office/drawing/2014/main" id="{ACF54517-F467-44D8-BEA7-B41721DAB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Where</a:t>
            </a:r>
          </a:p>
        </p:txBody>
      </p:sp>
      <p:sp>
        <p:nvSpPr>
          <p:cNvPr id="17" name="text-1690">
            <a:extLst xmlns:a="http://schemas.openxmlformats.org/drawingml/2006/main">
              <a:ext uri="{FF2B5EF4-FFF2-40B4-BE49-F238E27FC236}">
                <a16:creationId xmlns:a16="http://schemas.microsoft.com/office/drawing/2014/main" id="{D0A7BF8B-829D-435A-86A4-B76B4555B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工作區、檔案與資料來源</a:t>
            </a:r>
          </a:p>
        </p:txBody>
      </p:sp>
      <p:sp>
        <p:nvSpPr>
          <p:cNvPr id="18" name="shape-1691">
            <a:extLst xmlns:a="http://schemas.openxmlformats.org/drawingml/2006/main">
              <a:ext uri="{FF2B5EF4-FFF2-40B4-BE49-F238E27FC236}">
                <a16:creationId xmlns:a16="http://schemas.microsoft.com/office/drawing/2014/main" id="{F43DE96F-D1DF-4CE2-8B59-EFE01E3B0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692">
            <a:extLst xmlns:a="http://schemas.openxmlformats.org/drawingml/2006/main">
              <a:ext uri="{FF2B5EF4-FFF2-40B4-BE49-F238E27FC236}">
                <a16:creationId xmlns:a16="http://schemas.microsoft.com/office/drawing/2014/main" id="{28961110-A7BD-47D2-9D18-2787E6B43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0" name="text-1693">
            <a:extLst xmlns:a="http://schemas.openxmlformats.org/drawingml/2006/main">
              <a:ext uri="{FF2B5EF4-FFF2-40B4-BE49-F238E27FC236}">
                <a16:creationId xmlns:a16="http://schemas.microsoft.com/office/drawing/2014/main" id="{FC088A43-DCD5-4537-94C2-9A7C0EE9E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Limits</a:t>
            </a:r>
          </a:p>
        </p:txBody>
      </p:sp>
      <p:sp>
        <p:nvSpPr>
          <p:cNvPr id="21" name="text-1694">
            <a:extLst xmlns:a="http://schemas.openxmlformats.org/drawingml/2006/main">
              <a:ext uri="{FF2B5EF4-FFF2-40B4-BE49-F238E27FC236}">
                <a16:creationId xmlns:a16="http://schemas.microsoft.com/office/drawing/2014/main" id="{B514C001-6CCC-49EF-9254-BC3E3DAE0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不可改、不可公開、不可猜測</a:t>
            </a:r>
          </a:p>
        </p:txBody>
      </p:sp>
      <p:sp>
        <p:nvSpPr>
          <p:cNvPr id="22" name="shape-1695">
            <a:extLst xmlns:a="http://schemas.openxmlformats.org/drawingml/2006/main">
              <a:ext uri="{FF2B5EF4-FFF2-40B4-BE49-F238E27FC236}">
                <a16:creationId xmlns:a16="http://schemas.microsoft.com/office/drawing/2014/main" id="{854707EC-EB37-45DB-8048-8816F7E91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3" name="text-1696">
            <a:extLst xmlns:a="http://schemas.openxmlformats.org/drawingml/2006/main">
              <a:ext uri="{FF2B5EF4-FFF2-40B4-BE49-F238E27FC236}">
                <a16:creationId xmlns:a16="http://schemas.microsoft.com/office/drawing/2014/main" id="{EA36923B-BF06-49D8-ACA5-FE949628B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24" name="text-1697">
            <a:extLst xmlns:a="http://schemas.openxmlformats.org/drawingml/2006/main">
              <a:ext uri="{FF2B5EF4-FFF2-40B4-BE49-F238E27FC236}">
                <a16:creationId xmlns:a16="http://schemas.microsoft.com/office/drawing/2014/main" id="{28EE5C07-4C3B-4B89-A222-651B732A2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Checks</a:t>
            </a:r>
          </a:p>
        </p:txBody>
      </p:sp>
      <p:sp>
        <p:nvSpPr>
          <p:cNvPr id="25" name="text-1698">
            <a:extLst xmlns:a="http://schemas.openxmlformats.org/drawingml/2006/main">
              <a:ext uri="{FF2B5EF4-FFF2-40B4-BE49-F238E27FC236}">
                <a16:creationId xmlns:a16="http://schemas.microsoft.com/office/drawing/2014/main" id="{6C35808B-6B4D-4BA8-9159-13F077A35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測試、畫面與內容檢核</a:t>
            </a:r>
          </a:p>
        </p:txBody>
      </p:sp>
      <p:sp>
        <p:nvSpPr>
          <p:cNvPr id="26" name="shape-1699">
            <a:extLst xmlns:a="http://schemas.openxmlformats.org/drawingml/2006/main">
              <a:ext uri="{FF2B5EF4-FFF2-40B4-BE49-F238E27FC236}">
                <a16:creationId xmlns:a16="http://schemas.microsoft.com/office/drawing/2014/main" id="{7CB4543E-6179-436A-90D0-97865C809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7" name="text-1700">
            <a:extLst xmlns:a="http://schemas.openxmlformats.org/drawingml/2006/main">
              <a:ext uri="{FF2B5EF4-FFF2-40B4-BE49-F238E27FC236}">
                <a16:creationId xmlns:a16="http://schemas.microsoft.com/office/drawing/2014/main" id="{C68A1479-249D-4CEA-A535-7F825847D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6</a:t>
            </a:r>
          </a:p>
        </p:txBody>
      </p:sp>
      <p:sp>
        <p:nvSpPr>
          <p:cNvPr id="28" name="text-1701">
            <a:extLst xmlns:a="http://schemas.openxmlformats.org/drawingml/2006/main">
              <a:ext uri="{FF2B5EF4-FFF2-40B4-BE49-F238E27FC236}">
                <a16:creationId xmlns:a16="http://schemas.microsoft.com/office/drawing/2014/main" id="{BDFFADAD-DE46-444C-B7CA-76BC3B628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Handoff</a:t>
            </a:r>
          </a:p>
        </p:txBody>
      </p:sp>
      <p:sp>
        <p:nvSpPr>
          <p:cNvPr id="29" name="text-1702">
            <a:extLst xmlns:a="http://schemas.openxmlformats.org/drawingml/2006/main">
              <a:ext uri="{FF2B5EF4-FFF2-40B4-BE49-F238E27FC236}">
                <a16:creationId xmlns:a16="http://schemas.microsoft.com/office/drawing/2014/main" id="{9C30B7F7-E577-433A-AA63-DE222F6B1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成果、差異、限制、下一步</a:t>
            </a:r>
          </a:p>
        </p:txBody>
      </p:sp>
      <p:sp>
        <p:nvSpPr>
          <p:cNvPr id="30" name="text-2269">
            <a:extLst xmlns:a="http://schemas.openxmlformats.org/drawingml/2006/main">
              <a:ext uri="{FF2B5EF4-FFF2-40B4-BE49-F238E27FC236}">
                <a16:creationId xmlns:a16="http://schemas.microsoft.com/office/drawing/2014/main" id="{AE8F8C7E-509C-4DAC-92AA-29EAF0AEA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98e374b388745dd"/>
              </a:rPr>
              <a:t>開啟 Codex ↗</a:t>
            </a:r>
          </a:p>
        </p:txBody>
      </p:sp>
      <p:sp>
        <p:nvSpPr>
          <p:cNvPr id="31" name="shape-2340">
            <a:extLst xmlns:a="http://schemas.openxmlformats.org/drawingml/2006/main">
              <a:ext uri="{FF2B5EF4-FFF2-40B4-BE49-F238E27FC236}">
                <a16:creationId xmlns:a16="http://schemas.microsoft.com/office/drawing/2014/main" id="{16B1F68A-3BA6-4058-9457-E0E2B23D5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dd379738db40fd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3" name="text-2341">
            <a:extLst xmlns:a="http://schemas.openxmlformats.org/drawingml/2006/main">
              <a:ext uri="{FF2B5EF4-FFF2-40B4-BE49-F238E27FC236}">
                <a16:creationId xmlns:a16="http://schemas.microsoft.com/office/drawing/2014/main" id="{F3E3B65F-4C42-48AD-ADB6-5491C6360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850068955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1703">
            <a:extLst xmlns:a="http://schemas.openxmlformats.org/drawingml/2006/main">
              <a:ext uri="{FF2B5EF4-FFF2-40B4-BE49-F238E27FC236}">
                <a16:creationId xmlns:a16="http://schemas.microsoft.com/office/drawing/2014/main" id="{5EDC9825-65FE-4E91-B661-B91310EA5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497D8DC-52AB-4ACF-B6C9-011C72A18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實作 B｜Codex 完成同一任務</a:t>
            </a:r>
          </a:p>
        </p:txBody>
      </p:sp>
      <p:cxnSp>
        <p:nvCxnSpPr>
          <p:cNvPr id="25" name="shape-170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705">
            <a:extLst xmlns:a="http://schemas.openxmlformats.org/drawingml/2006/main">
              <a:ext uri="{FF2B5EF4-FFF2-40B4-BE49-F238E27FC236}">
                <a16:creationId xmlns:a16="http://schemas.microsoft.com/office/drawing/2014/main" id="{586B3250-61EB-491E-8313-63E9146AD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A280A53-1CDE-461A-9FCF-3CCB4645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34</a:t>
            </a:r>
          </a:p>
        </p:txBody>
      </p:sp>
      <p:sp>
        <p:nvSpPr>
          <p:cNvPr id="6" name="text-1706">
            <a:extLst xmlns:a="http://schemas.openxmlformats.org/drawingml/2006/main">
              <a:ext uri="{FF2B5EF4-FFF2-40B4-BE49-F238E27FC236}">
                <a16:creationId xmlns:a16="http://schemas.microsoft.com/office/drawing/2014/main" id="{859F7A2D-A924-465D-A69F-5F139DAA5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707">
            <a:extLst xmlns:a="http://schemas.openxmlformats.org/drawingml/2006/main">
              <a:ext uri="{FF2B5EF4-FFF2-40B4-BE49-F238E27FC236}">
                <a16:creationId xmlns:a16="http://schemas.microsoft.com/office/drawing/2014/main" id="{1BB6BD61-BFD7-4E72-B2AC-DD24424B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708">
            <a:extLst xmlns:a="http://schemas.openxmlformats.org/drawingml/2006/main">
              <a:ext uri="{FF2B5EF4-FFF2-40B4-BE49-F238E27FC236}">
                <a16:creationId xmlns:a16="http://schemas.microsoft.com/office/drawing/2014/main" id="{0E8E370B-9EB8-4A18-A4B6-C0693CB05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709">
            <a:extLst xmlns:a="http://schemas.openxmlformats.org/drawingml/2006/main">
              <a:ext uri="{FF2B5EF4-FFF2-40B4-BE49-F238E27FC236}">
                <a16:creationId xmlns:a16="http://schemas.microsoft.com/office/drawing/2014/main" id="{EE547078-296D-402B-BDDE-5B6F3A166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開啟上午成果的工作區</a:t>
            </a:r>
          </a:p>
        </p:txBody>
      </p:sp>
      <p:sp>
        <p:nvSpPr>
          <p:cNvPr id="10" name="text-1710">
            <a:extLst xmlns:a="http://schemas.openxmlformats.org/drawingml/2006/main">
              <a:ext uri="{FF2B5EF4-FFF2-40B4-BE49-F238E27FC236}">
                <a16:creationId xmlns:a16="http://schemas.microsoft.com/office/drawing/2014/main" id="{270EBE17-3675-4CB3-A105-E7FB5AA71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711">
            <a:extLst xmlns:a="http://schemas.openxmlformats.org/drawingml/2006/main">
              <a:ext uri="{FF2B5EF4-FFF2-40B4-BE49-F238E27FC236}">
                <a16:creationId xmlns:a16="http://schemas.microsoft.com/office/drawing/2014/main" id="{506B8015-D8FB-4709-BAB1-6BE62135C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貼上六欄任務簡報</a:t>
            </a:r>
          </a:p>
        </p:txBody>
      </p:sp>
      <p:sp>
        <p:nvSpPr>
          <p:cNvPr id="12" name="text-1712">
            <a:extLst xmlns:a="http://schemas.openxmlformats.org/drawingml/2006/main">
              <a:ext uri="{FF2B5EF4-FFF2-40B4-BE49-F238E27FC236}">
                <a16:creationId xmlns:a16="http://schemas.microsoft.com/office/drawing/2014/main" id="{C37F2F9F-850D-48D0-BBE1-ABDB4D003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713">
            <a:extLst xmlns:a="http://schemas.openxmlformats.org/drawingml/2006/main">
              <a:ext uri="{FF2B5EF4-FFF2-40B4-BE49-F238E27FC236}">
                <a16:creationId xmlns:a16="http://schemas.microsoft.com/office/drawing/2014/main" id="{DEAF179D-769B-497F-8906-81E2FE1CC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觀察 Agent 讀檔、規劃與執行</a:t>
            </a:r>
          </a:p>
        </p:txBody>
      </p:sp>
      <p:sp>
        <p:nvSpPr>
          <p:cNvPr id="14" name="text-1714">
            <a:extLst xmlns:a="http://schemas.openxmlformats.org/drawingml/2006/main">
              <a:ext uri="{FF2B5EF4-FFF2-40B4-BE49-F238E27FC236}">
                <a16:creationId xmlns:a16="http://schemas.microsoft.com/office/drawing/2014/main" id="{DC336C43-EAF8-4AA1-A0F6-17F413800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715">
            <a:extLst xmlns:a="http://schemas.openxmlformats.org/drawingml/2006/main">
              <a:ext uri="{FF2B5EF4-FFF2-40B4-BE49-F238E27FC236}">
                <a16:creationId xmlns:a16="http://schemas.microsoft.com/office/drawing/2014/main" id="{6DC5074F-DA90-43A8-927D-1AC1E21B7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比較 Antigravity 與 Codex 的證據</a:t>
            </a:r>
          </a:p>
        </p:txBody>
      </p:sp>
      <p:sp>
        <p:nvSpPr>
          <p:cNvPr id="16" name="shape-1716">
            <a:extLst xmlns:a="http://schemas.openxmlformats.org/drawingml/2006/main">
              <a:ext uri="{FF2B5EF4-FFF2-40B4-BE49-F238E27FC236}">
                <a16:creationId xmlns:a16="http://schemas.microsoft.com/office/drawing/2014/main" id="{065C932D-A93C-47CA-9416-AD961EF7C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7" name="text-1717">
            <a:extLst xmlns:a="http://schemas.openxmlformats.org/drawingml/2006/main">
              <a:ext uri="{FF2B5EF4-FFF2-40B4-BE49-F238E27FC236}">
                <a16:creationId xmlns:a16="http://schemas.microsoft.com/office/drawing/2014/main" id="{E7A3BAC8-818F-40FE-A676-8F768AD20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718">
            <a:extLst xmlns:a="http://schemas.openxmlformats.org/drawingml/2006/main">
              <a:ext uri="{FF2B5EF4-FFF2-40B4-BE49-F238E27FC236}">
                <a16:creationId xmlns:a16="http://schemas.microsoft.com/office/drawing/2014/main" id="{D6F621C8-F9B8-4B1B-A4E9-5A1677866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有檔案變更或分析產物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有實際檢查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能說明差異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保留人工決定</a:t>
            </a:r>
          </a:p>
        </p:txBody>
      </p:sp>
      <p:sp>
        <p:nvSpPr>
          <p:cNvPr id="19" name="text-2270">
            <a:extLst xmlns:a="http://schemas.openxmlformats.org/drawingml/2006/main">
              <a:ext uri="{FF2B5EF4-FFF2-40B4-BE49-F238E27FC236}">
                <a16:creationId xmlns:a16="http://schemas.microsoft.com/office/drawing/2014/main" id="{DEC562E1-2611-4D55-B1D1-105C298EC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dc1acc014064aca"/>
              </a:rPr>
              <a:t>開啟 Codex ↗</a:t>
            </a:r>
          </a:p>
        </p:txBody>
      </p:sp>
      <p:sp>
        <p:nvSpPr>
          <p:cNvPr id="20" name="shape-2342">
            <a:extLst xmlns:a="http://schemas.openxmlformats.org/drawingml/2006/main">
              <a:ext uri="{FF2B5EF4-FFF2-40B4-BE49-F238E27FC236}">
                <a16:creationId xmlns:a16="http://schemas.microsoft.com/office/drawing/2014/main" id="{1299ECAC-7B2F-435D-A83A-65AB362CE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f7d7bd974f4d77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2343">
            <a:extLst xmlns:a="http://schemas.openxmlformats.org/drawingml/2006/main">
              <a:ext uri="{FF2B5EF4-FFF2-40B4-BE49-F238E27FC236}">
                <a16:creationId xmlns:a16="http://schemas.microsoft.com/office/drawing/2014/main" id="{7FE2FE00-3078-4B05-B868-C217A53F9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782463143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719">
            <a:extLst xmlns:a="http://schemas.openxmlformats.org/drawingml/2006/main">
              <a:ext uri="{FF2B5EF4-FFF2-40B4-BE49-F238E27FC236}">
                <a16:creationId xmlns:a16="http://schemas.microsoft.com/office/drawing/2014/main" id="{C5ACFC2B-EA6D-4F3F-90CE-746958509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2" name="text-1720">
            <a:extLst xmlns:a="http://schemas.openxmlformats.org/drawingml/2006/main">
              <a:ext uri="{FF2B5EF4-FFF2-40B4-BE49-F238E27FC236}">
                <a16:creationId xmlns:a16="http://schemas.microsoft.com/office/drawing/2014/main" id="{40D159D7-20A9-4419-9AFC-B89397A78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 Skills</a:t>
            </a:r>
          </a:p>
        </p:txBody>
      </p:sp>
      <p:sp>
        <p:nvSpPr>
          <p:cNvPr id="3" name="text-1721">
            <a:extLst xmlns:a="http://schemas.openxmlformats.org/drawingml/2006/main">
              <a:ext uri="{FF2B5EF4-FFF2-40B4-BE49-F238E27FC236}">
                <a16:creationId xmlns:a16="http://schemas.microsoft.com/office/drawing/2014/main" id="{C9FE133B-A73C-41D7-9585-A8F9A1FE3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把反覆使用的提示詞、規則、範例與檢查方式，封裝成 Agent 需要時才載入的專業工作包。</a:t>
            </a:r>
          </a:p>
        </p:txBody>
      </p:sp>
      <p:sp>
        <p:nvSpPr>
          <p:cNvPr id="4" name="shape-1722">
            <a:extLst xmlns:a="http://schemas.openxmlformats.org/drawingml/2006/main">
              <a:ext uri="{FF2B5EF4-FFF2-40B4-BE49-F238E27FC236}">
                <a16:creationId xmlns:a16="http://schemas.microsoft.com/office/drawing/2014/main" id="{6E9D41F6-8CE1-4B82-AB5A-C56FDA81A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723">
            <a:extLst xmlns:a="http://schemas.openxmlformats.org/drawingml/2006/main">
              <a:ext uri="{FF2B5EF4-FFF2-40B4-BE49-F238E27FC236}">
                <a16:creationId xmlns:a16="http://schemas.microsoft.com/office/drawing/2014/main" id="{3A30711D-1A9D-4214-A7F3-CA344E45E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22" name="shape-172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7" name="text-1725">
            <a:extLst xmlns:a="http://schemas.openxmlformats.org/drawingml/2006/main">
              <a:ext uri="{FF2B5EF4-FFF2-40B4-BE49-F238E27FC236}">
                <a16:creationId xmlns:a16="http://schemas.microsoft.com/office/drawing/2014/main" id="{3985A362-786D-445E-BD57-9C1F9D5CF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83E9004-A9C9-4AC6-8C8A-A662EBDCB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35</a:t>
            </a:r>
          </a:p>
        </p:txBody>
      </p:sp>
      <p:sp>
        <p:nvSpPr>
          <p:cNvPr id="9" name="text-2271">
            <a:extLst xmlns:a="http://schemas.openxmlformats.org/drawingml/2006/main">
              <a:ext uri="{FF2B5EF4-FFF2-40B4-BE49-F238E27FC236}">
                <a16:creationId xmlns:a16="http://schemas.microsoft.com/office/drawing/2014/main" id="{7CE3183F-8B6B-4847-BC79-6A8870FCA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8434bf3d61e4afb"/>
              </a:rPr>
              <a:t>Antigravity Skills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3b0daa6445b423b"/>
              </a:rPr>
              <a:t>Codex Skills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cdc82745a0d46fd"/>
              </a:rPr>
              <a:t>Skills 資源庫 ↗</a:t>
            </a:r>
          </a:p>
        </p:txBody>
      </p:sp>
      <p:sp>
        <p:nvSpPr>
          <p:cNvPr id="10" name="shape-2344">
            <a:extLst xmlns:a="http://schemas.openxmlformats.org/drawingml/2006/main">
              <a:ext uri="{FF2B5EF4-FFF2-40B4-BE49-F238E27FC236}">
                <a16:creationId xmlns:a16="http://schemas.microsoft.com/office/drawing/2014/main" id="{8E5980A4-37FE-458C-9F27-5D68E2A82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0d37ed87ad4257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2" name="text-2345">
            <a:extLst xmlns:a="http://schemas.openxmlformats.org/drawingml/2006/main">
              <a:ext uri="{FF2B5EF4-FFF2-40B4-BE49-F238E27FC236}">
                <a16:creationId xmlns:a16="http://schemas.microsoft.com/office/drawing/2014/main" id="{ACEAE323-68EC-4CCE-84BB-0FCDA04C1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1b4155c2b44b99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4" name="text-2346">
            <a:extLst xmlns:a="http://schemas.openxmlformats.org/drawingml/2006/main">
              <a:ext uri="{FF2B5EF4-FFF2-40B4-BE49-F238E27FC236}">
                <a16:creationId xmlns:a16="http://schemas.microsoft.com/office/drawing/2014/main" id="{FEC0FDA0-902D-48B7-AA7B-674C7C1A4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7dc4a0cc394bdf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6" name="text-2347">
            <a:extLst xmlns:a="http://schemas.openxmlformats.org/drawingml/2006/main">
              <a:ext uri="{FF2B5EF4-FFF2-40B4-BE49-F238E27FC236}">
                <a16:creationId xmlns:a16="http://schemas.microsoft.com/office/drawing/2014/main" id="{20AD68AA-5607-4C97-80F2-E1519565A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Skills 資源庫</a:t>
            </a:r>
          </a:p>
        </p:txBody>
      </p:sp>
    </p:spTree>
    <p:extLst>
      <p:ext uri="{BB962C8B-B14F-4D97-AF65-F5344CB8AC3E}">
        <p14:creationId xmlns:p14="http://schemas.microsoft.com/office/powerpoint/2010/main" val="203031449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ext-1726">
            <a:extLst xmlns:a="http://schemas.openxmlformats.org/drawingml/2006/main">
              <a:ext uri="{FF2B5EF4-FFF2-40B4-BE49-F238E27FC236}">
                <a16:creationId xmlns:a16="http://schemas.microsoft.com/office/drawing/2014/main" id="{780FA310-B2A3-4ED5-9196-79A6B422F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SKILL AS A POWER-UP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26D8920-492A-4378-A41D-76E0AA0B4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Skills：像《駭客任務》灌入，也像寶可夢裝卡</a:t>
            </a:r>
          </a:p>
        </p:txBody>
      </p:sp>
      <p:cxnSp>
        <p:nvCxnSpPr>
          <p:cNvPr id="22" name="shape-172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728">
            <a:extLst xmlns:a="http://schemas.openxmlformats.org/drawingml/2006/main">
              <a:ext uri="{FF2B5EF4-FFF2-40B4-BE49-F238E27FC236}">
                <a16:creationId xmlns:a16="http://schemas.microsoft.com/office/drawing/2014/main" id="{85DED6F2-1491-4968-9634-0677F245A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EE95B87-E631-418A-A9B4-75B136C47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36</a:t>
            </a:r>
          </a:p>
        </p:txBody>
      </p:sp>
      <p:sp>
        <p:nvSpPr>
          <p:cNvPr id="6" name="shape-1729">
            <a:extLst xmlns:a="http://schemas.openxmlformats.org/drawingml/2006/main">
              <a:ext uri="{FF2B5EF4-FFF2-40B4-BE49-F238E27FC236}">
                <a16:creationId xmlns:a16="http://schemas.microsoft.com/office/drawing/2014/main" id="{BC9F07BC-560D-44A8-9DD2-1C8DC3413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730">
            <a:extLst xmlns:a="http://schemas.openxmlformats.org/drawingml/2006/main">
              <a:ext uri="{FF2B5EF4-FFF2-40B4-BE49-F238E27FC236}">
                <a16:creationId xmlns:a16="http://schemas.microsoft.com/office/drawing/2014/main" id="{261883ED-545D-4236-9B0A-57D4A1AF2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8" name="text-1731">
            <a:extLst xmlns:a="http://schemas.openxmlformats.org/drawingml/2006/main">
              <a:ext uri="{FF2B5EF4-FFF2-40B4-BE49-F238E27FC236}">
                <a16:creationId xmlns:a16="http://schemas.microsoft.com/office/drawing/2014/main" id="{C7F55400-88E5-4BE6-B7E7-238BB3644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《駭客任務》：技能像能力模組</a:t>
            </a:r>
          </a:p>
        </p:txBody>
      </p:sp>
      <p:sp>
        <p:nvSpPr>
          <p:cNvPr id="9" name="text-1732">
            <a:extLst xmlns:a="http://schemas.openxmlformats.org/drawingml/2006/main">
              <a:ext uri="{FF2B5EF4-FFF2-40B4-BE49-F238E27FC236}">
                <a16:creationId xmlns:a16="http://schemas.microsoft.com/office/drawing/2014/main" id="{2B62C628-9480-48C5-9945-470848064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Neo 原本不會空手道；技能灌入後，立刻進入新的行動方式。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Agent 裝上 Skill，也能學會一套可重複的工作流程。</a:t>
            </a:r>
          </a:p>
        </p:txBody>
      </p:sp>
      <p:sp>
        <p:nvSpPr>
          <p:cNvPr id="10" name="text-1733">
            <a:extLst xmlns:a="http://schemas.openxmlformats.org/drawingml/2006/main">
              <a:ext uri="{FF2B5EF4-FFF2-40B4-BE49-F238E27FC236}">
                <a16:creationId xmlns:a16="http://schemas.microsoft.com/office/drawing/2014/main" id="{8AAEAE58-982E-447C-9430-5538B2608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《寶可夢》：技能卡只是起點</a:t>
            </a:r>
          </a:p>
        </p:txBody>
      </p:sp>
      <p:sp>
        <p:nvSpPr>
          <p:cNvPr id="11" name="text-1734">
            <a:extLst xmlns:a="http://schemas.openxmlformats.org/drawingml/2006/main">
              <a:ext uri="{FF2B5EF4-FFF2-40B4-BE49-F238E27FC236}">
                <a16:creationId xmlns:a16="http://schemas.microsoft.com/office/drawing/2014/main" id="{3518A0F2-2BE0-40E1-A634-232FA523C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裝上招式後，還要練習、對戰與升級。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把大神的 Skill 抓進來，再和 Agent 對話修正，才會進化成你的版本。</a:t>
            </a:r>
          </a:p>
        </p:txBody>
      </p:sp>
      <p:sp>
        <p:nvSpPr>
          <p:cNvPr id="12" name="text-2272">
            <a:extLst xmlns:a="http://schemas.openxmlformats.org/drawingml/2006/main">
              <a:ext uri="{FF2B5EF4-FFF2-40B4-BE49-F238E27FC236}">
                <a16:creationId xmlns:a16="http://schemas.microsoft.com/office/drawing/2014/main" id="{852F248A-BC00-477E-A625-2D95E65A3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9ee67dbbce94f59"/>
              </a:rPr>
              <a:t>Antigravity Skills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3d070d3a364426e"/>
              </a:rPr>
              <a:t>Codex Skills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aba7da57899495a"/>
              </a:rPr>
              <a:t>Skills 資源庫 ↗</a:t>
            </a:r>
          </a:p>
        </p:txBody>
      </p:sp>
      <p:sp>
        <p:nvSpPr>
          <p:cNvPr id="13" name="shape-2348">
            <a:extLst xmlns:a="http://schemas.openxmlformats.org/drawingml/2006/main">
              <a:ext uri="{FF2B5EF4-FFF2-40B4-BE49-F238E27FC236}">
                <a16:creationId xmlns:a16="http://schemas.microsoft.com/office/drawing/2014/main" id="{FF4084D9-6C0E-4F16-B221-2CC32469F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c6af08aabb42bb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text-2349">
            <a:extLst xmlns:a="http://schemas.openxmlformats.org/drawingml/2006/main">
              <a:ext uri="{FF2B5EF4-FFF2-40B4-BE49-F238E27FC236}">
                <a16:creationId xmlns:a16="http://schemas.microsoft.com/office/drawing/2014/main" id="{2E65A11A-FC9E-4E80-85D5-D5AD6D33B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6c4dca41cf4212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7" name="text-2350">
            <a:extLst xmlns:a="http://schemas.openxmlformats.org/drawingml/2006/main">
              <a:ext uri="{FF2B5EF4-FFF2-40B4-BE49-F238E27FC236}">
                <a16:creationId xmlns:a16="http://schemas.microsoft.com/office/drawing/2014/main" id="{9F16BC54-4E59-4481-BB50-2D7CB3888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c4266194a54357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9" name="text-2351">
            <a:extLst xmlns:a="http://schemas.openxmlformats.org/drawingml/2006/main">
              <a:ext uri="{FF2B5EF4-FFF2-40B4-BE49-F238E27FC236}">
                <a16:creationId xmlns:a16="http://schemas.microsoft.com/office/drawing/2014/main" id="{39A162FE-6F44-4107-84D1-1E76B9D9D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Skills 資源庫</a:t>
            </a:r>
          </a:p>
        </p:txBody>
      </p:sp>
    </p:spTree>
    <p:extLst>
      <p:ext uri="{BB962C8B-B14F-4D97-AF65-F5344CB8AC3E}">
        <p14:creationId xmlns:p14="http://schemas.microsoft.com/office/powerpoint/2010/main" val="523779706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1735">
            <a:extLst xmlns:a="http://schemas.openxmlformats.org/drawingml/2006/main">
              <a:ext uri="{FF2B5EF4-FFF2-40B4-BE49-F238E27FC236}">
                <a16:creationId xmlns:a16="http://schemas.microsoft.com/office/drawing/2014/main" id="{1E0F7F5B-B85E-4AFB-AB17-60A65F585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51 PROMPTS · 9 DOMAINS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F2D7A3D-3788-4AB4-BB40-F9A3FA183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從提示詞快捷面板開始發想</a:t>
            </a:r>
          </a:p>
        </p:txBody>
      </p:sp>
      <p:cxnSp>
        <p:nvCxnSpPr>
          <p:cNvPr id="15" name="shape-173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737">
            <a:extLst xmlns:a="http://schemas.openxmlformats.org/drawingml/2006/main">
              <a:ext uri="{FF2B5EF4-FFF2-40B4-BE49-F238E27FC236}">
                <a16:creationId xmlns:a16="http://schemas.microsoft.com/office/drawing/2014/main" id="{061BD79C-6CC0-487E-B36B-3FC4E4799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E54665D-30B6-4F3E-B4E0-965F9D8C9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37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61487bda044375"/>
          <a:srcRect xmlns:a="http://schemas.openxmlformats.org/drawingml/2006/main" l="1389" t="0" r="138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1600200"/>
            <a:ext cx="6934200" cy="4457700"/>
          </a:xfrm>
          <a:prstGeom xmlns:a="http://schemas.openxmlformats.org/drawingml/2006/main" prst="roundRect">
            <a:avLst>
              <a:gd name="adj" fmla="val 3419"/>
            </a:avLst>
          </a:prstGeom>
        </p:spPr>
      </p:pic>
      <p:sp>
        <p:nvSpPr>
          <p:cNvPr id="7" name="text-1738">
            <a:extLst xmlns:a="http://schemas.openxmlformats.org/drawingml/2006/main">
              <a:ext uri="{FF2B5EF4-FFF2-40B4-BE49-F238E27FC236}">
                <a16:creationId xmlns:a16="http://schemas.microsoft.com/office/drawing/2014/main" id="{A0470E27-E3CB-465D-BAB6-A75030687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752600"/>
            <a:ext cx="371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9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阿凱老師的提示詞快捷面板</a:t>
            </a:r>
          </a:p>
        </p:txBody>
      </p:sp>
      <p:sp>
        <p:nvSpPr>
          <p:cNvPr id="8" name="text-1739">
            <a:extLst xmlns:a="http://schemas.openxmlformats.org/drawingml/2006/main">
              <a:ext uri="{FF2B5EF4-FFF2-40B4-BE49-F238E27FC236}">
                <a16:creationId xmlns:a16="http://schemas.microsoft.com/office/drawing/2014/main" id="{4F3F2A38-7C27-4901-9799-1B1DA1030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724150"/>
            <a:ext cx="371475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部署上線：Pages、Firebase、版本確認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網站設計：單檔網站、RWD、Google Sites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影音字幕：SRT、章節、短影片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圖像簡報、內容寫作、功能整合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技能文件、開發流程與常用片段</a:t>
            </a:r>
          </a:p>
        </p:txBody>
      </p:sp>
      <p:sp>
        <p:nvSpPr>
          <p:cNvPr id="9" name="text-2280">
            <a:extLst xmlns:a="http://schemas.openxmlformats.org/drawingml/2006/main">
              <a:ext uri="{FF2B5EF4-FFF2-40B4-BE49-F238E27FC236}">
                <a16:creationId xmlns:a16="http://schemas.microsoft.com/office/drawing/2014/main" id="{E6023431-AC6F-48BF-9616-2B13BF331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cb5af2332724ffb"/>
              </a:rPr>
              <a:t>開啟提示詞面板 ↗</a:t>
            </a:r>
          </a:p>
        </p:txBody>
      </p:sp>
      <p:sp>
        <p:nvSpPr>
          <p:cNvPr id="10" name="shape-2380">
            <a:extLst xmlns:a="http://schemas.openxmlformats.org/drawingml/2006/main">
              <a:ext uri="{FF2B5EF4-FFF2-40B4-BE49-F238E27FC236}">
                <a16:creationId xmlns:a16="http://schemas.microsoft.com/office/drawing/2014/main" id="{C957D527-E337-4195-BB69-E744558A1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1ef70006054bbb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2381">
            <a:extLst xmlns:a="http://schemas.openxmlformats.org/drawingml/2006/main">
              <a:ext uri="{FF2B5EF4-FFF2-40B4-BE49-F238E27FC236}">
                <a16:creationId xmlns:a16="http://schemas.microsoft.com/office/drawing/2014/main" id="{BA4E7A8A-3666-45A3-A0C1-3E9DBD087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提示詞面板</a:t>
            </a:r>
          </a:p>
        </p:txBody>
      </p:sp>
    </p:spTree>
    <p:extLst>
      <p:ext uri="{BB962C8B-B14F-4D97-AF65-F5344CB8AC3E}">
        <p14:creationId xmlns:p14="http://schemas.microsoft.com/office/powerpoint/2010/main" val="145223222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text-1740">
            <a:extLst xmlns:a="http://schemas.openxmlformats.org/drawingml/2006/main">
              <a:ext uri="{FF2B5EF4-FFF2-40B4-BE49-F238E27FC236}">
                <a16:creationId xmlns:a16="http://schemas.microsoft.com/office/drawing/2014/main" id="{BB496A8A-C36A-42F7-A9E2-44FD86F4A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PROMPT →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707A755-7FF5-4ECE-822D-36487E861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四問判斷：這個提示詞值得升級成 Skill 嗎？</a:t>
            </a:r>
          </a:p>
        </p:txBody>
      </p:sp>
      <p:cxnSp>
        <p:nvCxnSpPr>
          <p:cNvPr id="32" name="shape-174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742">
            <a:extLst xmlns:a="http://schemas.openxmlformats.org/drawingml/2006/main">
              <a:ext uri="{FF2B5EF4-FFF2-40B4-BE49-F238E27FC236}">
                <a16:creationId xmlns:a16="http://schemas.microsoft.com/office/drawing/2014/main" id="{28FE2025-4F4F-47CD-93F7-ADCF0462B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AEE9E4E-5E32-4F1C-8F77-C3109C914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38</a:t>
            </a:r>
          </a:p>
        </p:txBody>
      </p:sp>
      <p:sp>
        <p:nvSpPr>
          <p:cNvPr id="6" name="shape-1743">
            <a:extLst xmlns:a="http://schemas.openxmlformats.org/drawingml/2006/main">
              <a:ext uri="{FF2B5EF4-FFF2-40B4-BE49-F238E27FC236}">
                <a16:creationId xmlns:a16="http://schemas.microsoft.com/office/drawing/2014/main" id="{73AC6989-4844-4C52-969D-2E5D91403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744">
            <a:extLst xmlns:a="http://schemas.openxmlformats.org/drawingml/2006/main">
              <a:ext uri="{FF2B5EF4-FFF2-40B4-BE49-F238E27FC236}">
                <a16:creationId xmlns:a16="http://schemas.microsoft.com/office/drawing/2014/main" id="{B53B63C1-6BC0-4826-B95D-835C45DD8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R</a:t>
            </a:r>
          </a:p>
        </p:txBody>
      </p:sp>
      <p:sp>
        <p:nvSpPr>
          <p:cNvPr id="8" name="text-1745">
            <a:extLst xmlns:a="http://schemas.openxmlformats.org/drawingml/2006/main">
              <a:ext uri="{FF2B5EF4-FFF2-40B4-BE49-F238E27FC236}">
                <a16:creationId xmlns:a16="http://schemas.microsoft.com/office/drawing/2014/main" id="{D0998D44-8D1C-4E15-9AB7-C456D7019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會重複嗎？</a:t>
            </a:r>
          </a:p>
        </p:txBody>
      </p:sp>
      <p:sp>
        <p:nvSpPr>
          <p:cNvPr id="9" name="text-1746">
            <a:extLst xmlns:a="http://schemas.openxmlformats.org/drawingml/2006/main">
              <a:ext uri="{FF2B5EF4-FFF2-40B4-BE49-F238E27FC236}">
                <a16:creationId xmlns:a16="http://schemas.microsoft.com/office/drawing/2014/main" id="{346BF9F7-F175-47F1-AF9C-DBC0F7E55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一學期或一個團隊會反覆遇到，不是一次性要求。</a:t>
            </a:r>
          </a:p>
        </p:txBody>
      </p:sp>
      <p:sp>
        <p:nvSpPr>
          <p:cNvPr id="10" name="shape-1747">
            <a:extLst xmlns:a="http://schemas.openxmlformats.org/drawingml/2006/main">
              <a:ext uri="{FF2B5EF4-FFF2-40B4-BE49-F238E27FC236}">
                <a16:creationId xmlns:a16="http://schemas.microsoft.com/office/drawing/2014/main" id="{BD92859A-996B-4BAB-BB84-4E6E9D1A1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748">
            <a:extLst xmlns:a="http://schemas.openxmlformats.org/drawingml/2006/main">
              <a:ext uri="{FF2B5EF4-FFF2-40B4-BE49-F238E27FC236}">
                <a16:creationId xmlns:a16="http://schemas.microsoft.com/office/drawing/2014/main" id="{9D327290-25E7-4603-A8B4-0895E1A86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</a:t>
            </a:r>
          </a:p>
        </p:txBody>
      </p:sp>
      <p:sp>
        <p:nvSpPr>
          <p:cNvPr id="12" name="text-1749">
            <a:extLst xmlns:a="http://schemas.openxmlformats.org/drawingml/2006/main">
              <a:ext uri="{FF2B5EF4-FFF2-40B4-BE49-F238E27FC236}">
                <a16:creationId xmlns:a16="http://schemas.microsoft.com/office/drawing/2014/main" id="{B41CC505-84ED-49F2-9D23-0DCF46231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流程穩定嗎？</a:t>
            </a:r>
          </a:p>
        </p:txBody>
      </p:sp>
      <p:sp>
        <p:nvSpPr>
          <p:cNvPr id="13" name="text-1750">
            <a:extLst xmlns:a="http://schemas.openxmlformats.org/drawingml/2006/main">
              <a:ext uri="{FF2B5EF4-FFF2-40B4-BE49-F238E27FC236}">
                <a16:creationId xmlns:a16="http://schemas.microsoft.com/office/drawing/2014/main" id="{6E3A5E92-50F9-4047-8971-932D22B39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大部分步驟、限制與輸出欄位可固定。</a:t>
            </a:r>
          </a:p>
        </p:txBody>
      </p:sp>
      <p:sp>
        <p:nvSpPr>
          <p:cNvPr id="14" name="shape-1751">
            <a:extLst xmlns:a="http://schemas.openxmlformats.org/drawingml/2006/main">
              <a:ext uri="{FF2B5EF4-FFF2-40B4-BE49-F238E27FC236}">
                <a16:creationId xmlns:a16="http://schemas.microsoft.com/office/drawing/2014/main" id="{32BFE8A8-BA54-4884-BD95-8008F5634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752">
            <a:extLst xmlns:a="http://schemas.openxmlformats.org/drawingml/2006/main">
              <a:ext uri="{FF2B5EF4-FFF2-40B4-BE49-F238E27FC236}">
                <a16:creationId xmlns:a16="http://schemas.microsoft.com/office/drawing/2014/main" id="{B90BA270-E11E-4B38-AFA2-6319FBBA1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V</a:t>
            </a:r>
          </a:p>
        </p:txBody>
      </p:sp>
      <p:sp>
        <p:nvSpPr>
          <p:cNvPr id="16" name="text-1753">
            <a:extLst xmlns:a="http://schemas.openxmlformats.org/drawingml/2006/main">
              <a:ext uri="{FF2B5EF4-FFF2-40B4-BE49-F238E27FC236}">
                <a16:creationId xmlns:a16="http://schemas.microsoft.com/office/drawing/2014/main" id="{3B6B5E12-EF2D-4523-900B-A3EB398CC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能驗證嗎？</a:t>
            </a:r>
          </a:p>
        </p:txBody>
      </p:sp>
      <p:sp>
        <p:nvSpPr>
          <p:cNvPr id="17" name="text-1754">
            <a:extLst xmlns:a="http://schemas.openxmlformats.org/drawingml/2006/main">
              <a:ext uri="{FF2B5EF4-FFF2-40B4-BE49-F238E27FC236}">
                <a16:creationId xmlns:a16="http://schemas.microsoft.com/office/drawing/2014/main" id="{671DDD23-D933-4FAA-87DF-7B0D660C8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有可檢查的完成條件，而非只憑喜好。</a:t>
            </a:r>
          </a:p>
        </p:txBody>
      </p:sp>
      <p:sp>
        <p:nvSpPr>
          <p:cNvPr id="18" name="shape-1755">
            <a:extLst xmlns:a="http://schemas.openxmlformats.org/drawingml/2006/main">
              <a:ext uri="{FF2B5EF4-FFF2-40B4-BE49-F238E27FC236}">
                <a16:creationId xmlns:a16="http://schemas.microsoft.com/office/drawing/2014/main" id="{38740051-BFD0-421C-9E2C-2B224681F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756">
            <a:extLst xmlns:a="http://schemas.openxmlformats.org/drawingml/2006/main">
              <a:ext uri="{FF2B5EF4-FFF2-40B4-BE49-F238E27FC236}">
                <a16:creationId xmlns:a16="http://schemas.microsoft.com/office/drawing/2014/main" id="{3A3973DD-2018-45D8-8B56-A74FB1B2C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M</a:t>
            </a:r>
          </a:p>
        </p:txBody>
      </p:sp>
      <p:sp>
        <p:nvSpPr>
          <p:cNvPr id="20" name="text-1757">
            <a:extLst xmlns:a="http://schemas.openxmlformats.org/drawingml/2006/main">
              <a:ext uri="{FF2B5EF4-FFF2-40B4-BE49-F238E27FC236}">
                <a16:creationId xmlns:a16="http://schemas.microsoft.com/office/drawing/2014/main" id="{6DCE0203-B797-445D-809F-20698B4BA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能維護嗎？</a:t>
            </a:r>
          </a:p>
        </p:txBody>
      </p:sp>
      <p:sp>
        <p:nvSpPr>
          <p:cNvPr id="21" name="text-1758">
            <a:extLst xmlns:a="http://schemas.openxmlformats.org/drawingml/2006/main">
              <a:ext uri="{FF2B5EF4-FFF2-40B4-BE49-F238E27FC236}">
                <a16:creationId xmlns:a16="http://schemas.microsoft.com/office/drawing/2014/main" id="{C91311FF-2624-4580-9EAF-EE364C2AA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範例、規則與腳本可以更新、版控與交接。</a:t>
            </a:r>
          </a:p>
        </p:txBody>
      </p:sp>
      <p:sp>
        <p:nvSpPr>
          <p:cNvPr id="22" name="text-2273">
            <a:extLst xmlns:a="http://schemas.openxmlformats.org/drawingml/2006/main">
              <a:ext uri="{FF2B5EF4-FFF2-40B4-BE49-F238E27FC236}">
                <a16:creationId xmlns:a16="http://schemas.microsoft.com/office/drawing/2014/main" id="{D2F06ACA-DB16-4A41-A609-0117B6799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9de0cbf11d84c56"/>
              </a:rPr>
              <a:t>Antigravity Skills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0b2c30f3449496e"/>
              </a:rPr>
              <a:t>Codex Skills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df839562bf54a0a"/>
              </a:rPr>
              <a:t>Skills 資源庫 ↗</a:t>
            </a:r>
          </a:p>
        </p:txBody>
      </p:sp>
      <p:sp>
        <p:nvSpPr>
          <p:cNvPr id="23" name="shape-2352">
            <a:extLst xmlns:a="http://schemas.openxmlformats.org/drawingml/2006/main">
              <a:ext uri="{FF2B5EF4-FFF2-40B4-BE49-F238E27FC236}">
                <a16:creationId xmlns:a16="http://schemas.microsoft.com/office/drawing/2014/main" id="{84778C9B-36A3-4A4A-B725-0AAF6BD11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b8361427e448ec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5" name="text-2353">
            <a:extLst xmlns:a="http://schemas.openxmlformats.org/drawingml/2006/main">
              <a:ext uri="{FF2B5EF4-FFF2-40B4-BE49-F238E27FC236}">
                <a16:creationId xmlns:a16="http://schemas.microsoft.com/office/drawing/2014/main" id="{7323D6A1-35BD-4757-BAC8-A2AACA11F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f02a2eb430487d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7" name="text-2354">
            <a:extLst xmlns:a="http://schemas.openxmlformats.org/drawingml/2006/main">
              <a:ext uri="{FF2B5EF4-FFF2-40B4-BE49-F238E27FC236}">
                <a16:creationId xmlns:a16="http://schemas.microsoft.com/office/drawing/2014/main" id="{C2B8C561-1C70-4604-8D44-27BE76B83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8a26c07f814e21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2355">
            <a:extLst xmlns:a="http://schemas.openxmlformats.org/drawingml/2006/main">
              <a:ext uri="{FF2B5EF4-FFF2-40B4-BE49-F238E27FC236}">
                <a16:creationId xmlns:a16="http://schemas.microsoft.com/office/drawing/2014/main" id="{5454A4E7-1BEF-4484-8B01-322084CFF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Skills 資源庫</a:t>
            </a:r>
          </a:p>
        </p:txBody>
      </p:sp>
    </p:spTree>
    <p:extLst>
      <p:ext uri="{BB962C8B-B14F-4D97-AF65-F5344CB8AC3E}">
        <p14:creationId xmlns:p14="http://schemas.microsoft.com/office/powerpoint/2010/main" val="647700577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text-1759">
            <a:extLst xmlns:a="http://schemas.openxmlformats.org/drawingml/2006/main">
              <a:ext uri="{FF2B5EF4-FFF2-40B4-BE49-F238E27FC236}">
                <a16:creationId xmlns:a16="http://schemas.microsoft.com/office/drawing/2014/main" id="{CDB8B4F3-603D-4C9D-BF78-BE5B4FC94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CREATIVE STARTERS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2097627-18F6-4ACB-A435-498486BF7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六個真實提示詞，如何升級成 Skill</a:t>
            </a:r>
          </a:p>
        </p:txBody>
      </p:sp>
      <p:cxnSp>
        <p:nvCxnSpPr>
          <p:cNvPr id="40" name="shape-176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761">
            <a:extLst xmlns:a="http://schemas.openxmlformats.org/drawingml/2006/main">
              <a:ext uri="{FF2B5EF4-FFF2-40B4-BE49-F238E27FC236}">
                <a16:creationId xmlns:a16="http://schemas.microsoft.com/office/drawing/2014/main" id="{F69555FC-A2D9-43CE-A2DB-33D1EE6E5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173804E-84C7-4856-A834-5F6B5C60B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39</a:t>
            </a:r>
          </a:p>
        </p:txBody>
      </p:sp>
      <p:sp>
        <p:nvSpPr>
          <p:cNvPr id="6" name="shape-1762">
            <a:extLst xmlns:a="http://schemas.openxmlformats.org/drawingml/2006/main">
              <a:ext uri="{FF2B5EF4-FFF2-40B4-BE49-F238E27FC236}">
                <a16:creationId xmlns:a16="http://schemas.microsoft.com/office/drawing/2014/main" id="{929BCD66-EF63-47EB-8440-8B6666137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763">
            <a:extLst xmlns:a="http://schemas.openxmlformats.org/drawingml/2006/main">
              <a:ext uri="{FF2B5EF4-FFF2-40B4-BE49-F238E27FC236}">
                <a16:creationId xmlns:a16="http://schemas.microsoft.com/office/drawing/2014/main" id="{4248A7E3-73DB-481A-A1B9-C6BC0B653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WEB</a:t>
            </a:r>
          </a:p>
        </p:txBody>
      </p:sp>
      <p:sp>
        <p:nvSpPr>
          <p:cNvPr id="8" name="text-1764">
            <a:extLst xmlns:a="http://schemas.openxmlformats.org/drawingml/2006/main">
              <a:ext uri="{FF2B5EF4-FFF2-40B4-BE49-F238E27FC236}">
                <a16:creationId xmlns:a16="http://schemas.microsoft.com/office/drawing/2014/main" id="{23C1F98A-BF5B-46E2-9579-0C4FE5138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/onepage</a:t>
            </a:r>
          </a:p>
        </p:txBody>
      </p:sp>
      <p:sp>
        <p:nvSpPr>
          <p:cNvPr id="9" name="text-1765">
            <a:extLst xmlns:a="http://schemas.openxmlformats.org/drawingml/2006/main">
              <a:ext uri="{FF2B5EF4-FFF2-40B4-BE49-F238E27FC236}">
                <a16:creationId xmlns:a16="http://schemas.microsoft.com/office/drawing/2014/main" id="{D5DF3E89-9ACE-4DF3-9182-19884A275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單檔互動網站 → 課程資源頁產製＋RWD＋連結檢查。</a:t>
            </a:r>
          </a:p>
        </p:txBody>
      </p:sp>
      <p:sp>
        <p:nvSpPr>
          <p:cNvPr id="10" name="shape-1766">
            <a:extLst xmlns:a="http://schemas.openxmlformats.org/drawingml/2006/main">
              <a:ext uri="{FF2B5EF4-FFF2-40B4-BE49-F238E27FC236}">
                <a16:creationId xmlns:a16="http://schemas.microsoft.com/office/drawing/2014/main" id="{D56F5207-EC9A-48CD-B7F8-116D90397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767">
            <a:extLst xmlns:a="http://schemas.openxmlformats.org/drawingml/2006/main">
              <a:ext uri="{FF2B5EF4-FFF2-40B4-BE49-F238E27FC236}">
                <a16:creationId xmlns:a16="http://schemas.microsoft.com/office/drawing/2014/main" id="{EC94335C-265E-45D7-977A-099470399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PPT</a:t>
            </a:r>
          </a:p>
        </p:txBody>
      </p:sp>
      <p:sp>
        <p:nvSpPr>
          <p:cNvPr id="12" name="text-1768">
            <a:extLst xmlns:a="http://schemas.openxmlformats.org/drawingml/2006/main">
              <a:ext uri="{FF2B5EF4-FFF2-40B4-BE49-F238E27FC236}">
                <a16:creationId xmlns:a16="http://schemas.microsoft.com/office/drawing/2014/main" id="{5D36E3C6-AE18-499D-8F94-24EE95EE0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/ppt</a:t>
            </a:r>
          </a:p>
        </p:txBody>
      </p:sp>
      <p:sp>
        <p:nvSpPr>
          <p:cNvPr id="13" name="text-1769">
            <a:extLst xmlns:a="http://schemas.openxmlformats.org/drawingml/2006/main">
              <a:ext uri="{FF2B5EF4-FFF2-40B4-BE49-F238E27FC236}">
                <a16:creationId xmlns:a16="http://schemas.microsoft.com/office/drawing/2014/main" id="{CD4CD0E1-57E2-4562-99E2-1A52E5EFC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溫馨簡報 → 來源整理＋頁面結構＋逐頁渲染檢核。</a:t>
            </a:r>
          </a:p>
        </p:txBody>
      </p:sp>
      <p:sp>
        <p:nvSpPr>
          <p:cNvPr id="14" name="shape-1770">
            <a:extLst xmlns:a="http://schemas.openxmlformats.org/drawingml/2006/main">
              <a:ext uri="{FF2B5EF4-FFF2-40B4-BE49-F238E27FC236}">
                <a16:creationId xmlns:a16="http://schemas.microsoft.com/office/drawing/2014/main" id="{5BF5ED93-9735-45D1-8F18-3C067A660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771">
            <a:extLst xmlns:a="http://schemas.openxmlformats.org/drawingml/2006/main">
              <a:ext uri="{FF2B5EF4-FFF2-40B4-BE49-F238E27FC236}">
                <a16:creationId xmlns:a16="http://schemas.microsoft.com/office/drawing/2014/main" id="{E852FE50-75BB-4016-9D0C-A1F591E15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SRT</a:t>
            </a:r>
          </a:p>
        </p:txBody>
      </p:sp>
      <p:sp>
        <p:nvSpPr>
          <p:cNvPr id="16" name="text-1772">
            <a:extLst xmlns:a="http://schemas.openxmlformats.org/drawingml/2006/main">
              <a:ext uri="{FF2B5EF4-FFF2-40B4-BE49-F238E27FC236}">
                <a16:creationId xmlns:a16="http://schemas.microsoft.com/office/drawing/2014/main" id="{8890B7AB-65EB-4AA6-B957-B1B51FE9B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/srt</a:t>
            </a:r>
          </a:p>
        </p:txBody>
      </p:sp>
      <p:sp>
        <p:nvSpPr>
          <p:cNvPr id="17" name="text-1773">
            <a:extLst xmlns:a="http://schemas.openxmlformats.org/drawingml/2006/main">
              <a:ext uri="{FF2B5EF4-FFF2-40B4-BE49-F238E27FC236}">
                <a16:creationId xmlns:a16="http://schemas.microsoft.com/office/drawing/2014/main" id="{89D79714-8A4C-44A8-842D-5EB314E29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SRT 字幕 → 語音轉錄＋專名校正＋空白切斷＋格式測試。</a:t>
            </a:r>
          </a:p>
        </p:txBody>
      </p:sp>
      <p:sp>
        <p:nvSpPr>
          <p:cNvPr id="18" name="shape-1774">
            <a:extLst xmlns:a="http://schemas.openxmlformats.org/drawingml/2006/main">
              <a:ext uri="{FF2B5EF4-FFF2-40B4-BE49-F238E27FC236}">
                <a16:creationId xmlns:a16="http://schemas.microsoft.com/office/drawing/2014/main" id="{EE19D223-031E-4506-A8E0-E326F42C8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775">
            <a:extLst xmlns:a="http://schemas.openxmlformats.org/drawingml/2006/main">
              <a:ext uri="{FF2B5EF4-FFF2-40B4-BE49-F238E27FC236}">
                <a16:creationId xmlns:a16="http://schemas.microsoft.com/office/drawing/2014/main" id="{1738D0CD-07C5-4C8D-8621-1A21BCA11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QA</a:t>
            </a:r>
          </a:p>
        </p:txBody>
      </p:sp>
      <p:sp>
        <p:nvSpPr>
          <p:cNvPr id="20" name="text-1776">
            <a:extLst xmlns:a="http://schemas.openxmlformats.org/drawingml/2006/main">
              <a:ext uri="{FF2B5EF4-FFF2-40B4-BE49-F238E27FC236}">
                <a16:creationId xmlns:a16="http://schemas.microsoft.com/office/drawing/2014/main" id="{69634533-F298-4A70-A7E6-E89290FA1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/audit</a:t>
            </a:r>
          </a:p>
        </p:txBody>
      </p:sp>
      <p:sp>
        <p:nvSpPr>
          <p:cNvPr id="21" name="text-1777">
            <a:extLst xmlns:a="http://schemas.openxmlformats.org/drawingml/2006/main">
              <a:ext uri="{FF2B5EF4-FFF2-40B4-BE49-F238E27FC236}">
                <a16:creationId xmlns:a16="http://schemas.microsoft.com/office/drawing/2014/main" id="{B9D46900-7967-4A9A-AA12-ECDA1C2CB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資料夾總檢 → 唯讀盤點＋風險分類＋移植建議＋交接文件。</a:t>
            </a:r>
          </a:p>
        </p:txBody>
      </p:sp>
      <p:sp>
        <p:nvSpPr>
          <p:cNvPr id="22" name="shape-1778">
            <a:extLst xmlns:a="http://schemas.openxmlformats.org/drawingml/2006/main">
              <a:ext uri="{FF2B5EF4-FFF2-40B4-BE49-F238E27FC236}">
                <a16:creationId xmlns:a16="http://schemas.microsoft.com/office/drawing/2014/main" id="{7E0E42EA-56EF-4C83-9E89-243191B4B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3" name="text-1779">
            <a:extLst xmlns:a="http://schemas.openxmlformats.org/drawingml/2006/main">
              <a:ext uri="{FF2B5EF4-FFF2-40B4-BE49-F238E27FC236}">
                <a16:creationId xmlns:a16="http://schemas.microsoft.com/office/drawing/2014/main" id="{7121DABB-4D24-40A1-B17D-B1416312E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DEP</a:t>
            </a:r>
          </a:p>
        </p:txBody>
      </p:sp>
      <p:sp>
        <p:nvSpPr>
          <p:cNvPr id="24" name="text-1780">
            <a:extLst xmlns:a="http://schemas.openxmlformats.org/drawingml/2006/main">
              <a:ext uri="{FF2B5EF4-FFF2-40B4-BE49-F238E27FC236}">
                <a16:creationId xmlns:a16="http://schemas.microsoft.com/office/drawing/2014/main" id="{9CF216B5-34E6-4AB9-A24F-CBBC4DC1C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/pages</a:t>
            </a:r>
          </a:p>
        </p:txBody>
      </p:sp>
      <p:sp>
        <p:nvSpPr>
          <p:cNvPr id="25" name="text-1781">
            <a:extLst xmlns:a="http://schemas.openxmlformats.org/drawingml/2006/main">
              <a:ext uri="{FF2B5EF4-FFF2-40B4-BE49-F238E27FC236}">
                <a16:creationId xmlns:a16="http://schemas.microsoft.com/office/drawing/2014/main" id="{BBD87C12-B7B9-4A7E-B8DC-EC496EBB0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GitHub Pages → 建置設定＋部署＋公開網址驗證。</a:t>
            </a:r>
          </a:p>
        </p:txBody>
      </p:sp>
      <p:sp>
        <p:nvSpPr>
          <p:cNvPr id="26" name="shape-1782">
            <a:extLst xmlns:a="http://schemas.openxmlformats.org/drawingml/2006/main">
              <a:ext uri="{FF2B5EF4-FFF2-40B4-BE49-F238E27FC236}">
                <a16:creationId xmlns:a16="http://schemas.microsoft.com/office/drawing/2014/main" id="{E13F9075-950C-4F26-8073-EC44A8C0F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7" name="text-1783">
            <a:extLst xmlns:a="http://schemas.openxmlformats.org/drawingml/2006/main">
              <a:ext uri="{FF2B5EF4-FFF2-40B4-BE49-F238E27FC236}">
                <a16:creationId xmlns:a16="http://schemas.microsoft.com/office/drawing/2014/main" id="{B2E6E670-E36B-49A4-821C-75235E792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7D48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META</a:t>
            </a:r>
          </a:p>
        </p:txBody>
      </p:sp>
      <p:sp>
        <p:nvSpPr>
          <p:cNvPr id="28" name="text-1784">
            <a:extLst xmlns:a="http://schemas.openxmlformats.org/drawingml/2006/main">
              <a:ext uri="{FF2B5EF4-FFF2-40B4-BE49-F238E27FC236}">
                <a16:creationId xmlns:a16="http://schemas.microsoft.com/office/drawing/2014/main" id="{F6E01DCD-AE3E-4B85-B58B-4DD8DD8FF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/skill</a:t>
            </a:r>
          </a:p>
        </p:txBody>
      </p:sp>
      <p:sp>
        <p:nvSpPr>
          <p:cNvPr id="29" name="text-1785">
            <a:extLst xmlns:a="http://schemas.openxmlformats.org/drawingml/2006/main">
              <a:ext uri="{FF2B5EF4-FFF2-40B4-BE49-F238E27FC236}">
                <a16:creationId xmlns:a16="http://schemas.microsoft.com/office/drawing/2014/main" id="{DFB782C4-1389-48B7-AE00-213701F79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成功案例 → 根因、步驟、觸發條件與回歸測試的知識保存。</a:t>
            </a:r>
          </a:p>
        </p:txBody>
      </p:sp>
      <p:sp>
        <p:nvSpPr>
          <p:cNvPr id="30" name="text-2274">
            <a:extLst xmlns:a="http://schemas.openxmlformats.org/drawingml/2006/main">
              <a:ext uri="{FF2B5EF4-FFF2-40B4-BE49-F238E27FC236}">
                <a16:creationId xmlns:a16="http://schemas.microsoft.com/office/drawing/2014/main" id="{259B11E5-A4A0-4B4E-9ACB-05C349344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b4c3adce00744b1"/>
              </a:rPr>
              <a:t>Antigravity Skills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941600e605f472c"/>
              </a:rPr>
              <a:t>Codex Skills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5cc3cc40888487a"/>
              </a:rPr>
              <a:t>Skills 資源庫 ↗</a:t>
            </a:r>
          </a:p>
        </p:txBody>
      </p:sp>
      <p:sp>
        <p:nvSpPr>
          <p:cNvPr id="31" name="shape-2356">
            <a:extLst xmlns:a="http://schemas.openxmlformats.org/drawingml/2006/main">
              <a:ext uri="{FF2B5EF4-FFF2-40B4-BE49-F238E27FC236}">
                <a16:creationId xmlns:a16="http://schemas.microsoft.com/office/drawing/2014/main" id="{C4EB9022-CB9F-4F72-AA20-7EF551512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d8ad7aa7ff45bc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33" name="text-2357">
            <a:extLst xmlns:a="http://schemas.openxmlformats.org/drawingml/2006/main">
              <a:ext uri="{FF2B5EF4-FFF2-40B4-BE49-F238E27FC236}">
                <a16:creationId xmlns:a16="http://schemas.microsoft.com/office/drawing/2014/main" id="{D9B52C50-B1E4-43AC-AF0F-21C4BD6B1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cb884a244d410e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35" name="text-2358">
            <a:extLst xmlns:a="http://schemas.openxmlformats.org/drawingml/2006/main">
              <a:ext uri="{FF2B5EF4-FFF2-40B4-BE49-F238E27FC236}">
                <a16:creationId xmlns:a16="http://schemas.microsoft.com/office/drawing/2014/main" id="{662A0ADB-FE5B-4882-ADAC-91145983B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d3b6665cdf475f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37" name="text-2359">
            <a:extLst xmlns:a="http://schemas.openxmlformats.org/drawingml/2006/main">
              <a:ext uri="{FF2B5EF4-FFF2-40B4-BE49-F238E27FC236}">
                <a16:creationId xmlns:a16="http://schemas.microsoft.com/office/drawing/2014/main" id="{35668B85-9452-4FE2-9CD1-9E7BA3ADC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Skills 資源庫</a:t>
            </a:r>
          </a:p>
        </p:txBody>
      </p:sp>
    </p:spTree>
    <p:extLst>
      <p:ext uri="{BB962C8B-B14F-4D97-AF65-F5344CB8AC3E}">
        <p14:creationId xmlns:p14="http://schemas.microsoft.com/office/powerpoint/2010/main" val="879708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text-1786">
            <a:extLst xmlns:a="http://schemas.openxmlformats.org/drawingml/2006/main">
              <a:ext uri="{FF2B5EF4-FFF2-40B4-BE49-F238E27FC236}">
                <a16:creationId xmlns:a16="http://schemas.microsoft.com/office/drawing/2014/main" id="{C41CC9DD-FA7C-42F6-845E-863863854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FOLDER ANATOMY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23CA024-3085-44A1-8277-B343EB82D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Skill 資料夾：主文保持短，細節分層放</a:t>
            </a:r>
          </a:p>
        </p:txBody>
      </p:sp>
      <p:cxnSp>
        <p:nvCxnSpPr>
          <p:cNvPr id="40" name="shape-178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788">
            <a:extLst xmlns:a="http://schemas.openxmlformats.org/drawingml/2006/main">
              <a:ext uri="{FF2B5EF4-FFF2-40B4-BE49-F238E27FC236}">
                <a16:creationId xmlns:a16="http://schemas.microsoft.com/office/drawing/2014/main" id="{1BF3D1CD-9D59-4C38-90EC-95AA39969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708B38C-E081-4531-90E9-76EF8A9B6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40</a:t>
            </a:r>
          </a:p>
        </p:txBody>
      </p:sp>
      <p:sp>
        <p:nvSpPr>
          <p:cNvPr id="6" name="shape-1789">
            <a:extLst xmlns:a="http://schemas.openxmlformats.org/drawingml/2006/main">
              <a:ext uri="{FF2B5EF4-FFF2-40B4-BE49-F238E27FC236}">
                <a16:creationId xmlns:a16="http://schemas.microsoft.com/office/drawing/2014/main" id="{C47D9EE4-21EB-44DB-952A-AE009352B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790">
            <a:extLst xmlns:a="http://schemas.openxmlformats.org/drawingml/2006/main">
              <a:ext uri="{FF2B5EF4-FFF2-40B4-BE49-F238E27FC236}">
                <a16:creationId xmlns:a16="http://schemas.microsoft.com/office/drawing/2014/main" id="{C86192BE-51D2-42AE-8255-9DC3C8D17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791">
            <a:extLst xmlns:a="http://schemas.openxmlformats.org/drawingml/2006/main">
              <a:ext uri="{FF2B5EF4-FFF2-40B4-BE49-F238E27FC236}">
                <a16:creationId xmlns:a16="http://schemas.microsoft.com/office/drawing/2014/main" id="{59A53DA1-8190-4384-8C40-3A065AA2D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792">
            <a:extLst xmlns:a="http://schemas.openxmlformats.org/drawingml/2006/main">
              <a:ext uri="{FF2B5EF4-FFF2-40B4-BE49-F238E27FC236}">
                <a16:creationId xmlns:a16="http://schemas.microsoft.com/office/drawing/2014/main" id="{BF45728C-0296-408E-A418-2A07DFF5F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SKILL.md</a:t>
            </a:r>
          </a:p>
        </p:txBody>
      </p:sp>
      <p:sp>
        <p:nvSpPr>
          <p:cNvPr id="10" name="text-1793">
            <a:extLst xmlns:a="http://schemas.openxmlformats.org/drawingml/2006/main">
              <a:ext uri="{FF2B5EF4-FFF2-40B4-BE49-F238E27FC236}">
                <a16:creationId xmlns:a16="http://schemas.microsoft.com/office/drawing/2014/main" id="{CCF97A4D-B4F4-4ED2-AA45-DB5ACCCB0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名稱、描述、核心流程</a:t>
            </a:r>
          </a:p>
        </p:txBody>
      </p:sp>
      <p:sp>
        <p:nvSpPr>
          <p:cNvPr id="11" name="text-1794">
            <a:extLst xmlns:a="http://schemas.openxmlformats.org/drawingml/2006/main">
              <a:ext uri="{FF2B5EF4-FFF2-40B4-BE49-F238E27FC236}">
                <a16:creationId xmlns:a16="http://schemas.microsoft.com/office/drawing/2014/main" id="{59F46A0B-5A1C-4614-98BD-62718ED13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795">
            <a:extLst xmlns:a="http://schemas.openxmlformats.org/drawingml/2006/main">
              <a:ext uri="{FF2B5EF4-FFF2-40B4-BE49-F238E27FC236}">
                <a16:creationId xmlns:a16="http://schemas.microsoft.com/office/drawing/2014/main" id="{34EC60DE-9EE6-44D1-A2F6-01BF1DB13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3" name="shape-1796">
            <a:extLst xmlns:a="http://schemas.openxmlformats.org/drawingml/2006/main">
              <a:ext uri="{FF2B5EF4-FFF2-40B4-BE49-F238E27FC236}">
                <a16:creationId xmlns:a16="http://schemas.microsoft.com/office/drawing/2014/main" id="{9CB36014-C609-41F3-920C-127A0AFA7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797">
            <a:extLst xmlns:a="http://schemas.openxmlformats.org/drawingml/2006/main">
              <a:ext uri="{FF2B5EF4-FFF2-40B4-BE49-F238E27FC236}">
                <a16:creationId xmlns:a16="http://schemas.microsoft.com/office/drawing/2014/main" id="{DBDD1D6E-D392-4713-B38C-BE4CFEA4E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798">
            <a:extLst xmlns:a="http://schemas.openxmlformats.org/drawingml/2006/main">
              <a:ext uri="{FF2B5EF4-FFF2-40B4-BE49-F238E27FC236}">
                <a16:creationId xmlns:a16="http://schemas.microsoft.com/office/drawing/2014/main" id="{3B821013-3A74-430E-BEEF-6F00AC053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references/</a:t>
            </a:r>
          </a:p>
        </p:txBody>
      </p:sp>
      <p:sp>
        <p:nvSpPr>
          <p:cNvPr id="16" name="text-1799">
            <a:extLst xmlns:a="http://schemas.openxmlformats.org/drawingml/2006/main">
              <a:ext uri="{FF2B5EF4-FFF2-40B4-BE49-F238E27FC236}">
                <a16:creationId xmlns:a16="http://schemas.microsoft.com/office/drawing/2014/main" id="{14A08D26-2777-4262-9B28-1E1A0C20A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規範、知識、長篇範例</a:t>
            </a:r>
          </a:p>
        </p:txBody>
      </p:sp>
      <p:sp>
        <p:nvSpPr>
          <p:cNvPr id="17" name="text-1800">
            <a:extLst xmlns:a="http://schemas.openxmlformats.org/drawingml/2006/main">
              <a:ext uri="{FF2B5EF4-FFF2-40B4-BE49-F238E27FC236}">
                <a16:creationId xmlns:a16="http://schemas.microsoft.com/office/drawing/2014/main" id="{E9D0743E-1860-477F-9EFB-88D6206E1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801">
            <a:extLst xmlns:a="http://schemas.openxmlformats.org/drawingml/2006/main">
              <a:ext uri="{FF2B5EF4-FFF2-40B4-BE49-F238E27FC236}">
                <a16:creationId xmlns:a16="http://schemas.microsoft.com/office/drawing/2014/main" id="{EBEF99A6-4661-487F-80FE-A3643F29B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shape-1802">
            <a:extLst xmlns:a="http://schemas.openxmlformats.org/drawingml/2006/main">
              <a:ext uri="{FF2B5EF4-FFF2-40B4-BE49-F238E27FC236}">
                <a16:creationId xmlns:a16="http://schemas.microsoft.com/office/drawing/2014/main" id="{14A0D8B0-010E-4285-A491-1F359E3AD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803">
            <a:extLst xmlns:a="http://schemas.openxmlformats.org/drawingml/2006/main">
              <a:ext uri="{FF2B5EF4-FFF2-40B4-BE49-F238E27FC236}">
                <a16:creationId xmlns:a16="http://schemas.microsoft.com/office/drawing/2014/main" id="{770D32E2-BF48-4145-931F-A4A24BE8E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804">
            <a:extLst xmlns:a="http://schemas.openxmlformats.org/drawingml/2006/main">
              <a:ext uri="{FF2B5EF4-FFF2-40B4-BE49-F238E27FC236}">
                <a16:creationId xmlns:a16="http://schemas.microsoft.com/office/drawing/2014/main" id="{7DC1AEF4-364F-4F66-8A19-3E7F1528A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scripts/</a:t>
            </a:r>
          </a:p>
        </p:txBody>
      </p:sp>
      <p:sp>
        <p:nvSpPr>
          <p:cNvPr id="22" name="text-1805">
            <a:extLst xmlns:a="http://schemas.openxmlformats.org/drawingml/2006/main">
              <a:ext uri="{FF2B5EF4-FFF2-40B4-BE49-F238E27FC236}">
                <a16:creationId xmlns:a16="http://schemas.microsoft.com/office/drawing/2014/main" id="{FAD379C6-3D97-4ACD-8D70-CC70B3DB3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可重複執行的檢查與轉換</a:t>
            </a:r>
          </a:p>
        </p:txBody>
      </p:sp>
      <p:sp>
        <p:nvSpPr>
          <p:cNvPr id="23" name="text-1806">
            <a:extLst xmlns:a="http://schemas.openxmlformats.org/drawingml/2006/main">
              <a:ext uri="{FF2B5EF4-FFF2-40B4-BE49-F238E27FC236}">
                <a16:creationId xmlns:a16="http://schemas.microsoft.com/office/drawing/2014/main" id="{F38CC648-609F-4A92-9C79-F6AAFD107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807">
            <a:extLst xmlns:a="http://schemas.openxmlformats.org/drawingml/2006/main">
              <a:ext uri="{FF2B5EF4-FFF2-40B4-BE49-F238E27FC236}">
                <a16:creationId xmlns:a16="http://schemas.microsoft.com/office/drawing/2014/main" id="{291530E7-B1A7-4D46-BE21-6CD149614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5" name="shape-1808">
            <a:extLst xmlns:a="http://schemas.openxmlformats.org/drawingml/2006/main">
              <a:ext uri="{FF2B5EF4-FFF2-40B4-BE49-F238E27FC236}">
                <a16:creationId xmlns:a16="http://schemas.microsoft.com/office/drawing/2014/main" id="{64F8C58C-BC6D-4508-A415-6A47A8B9C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809">
            <a:extLst xmlns:a="http://schemas.openxmlformats.org/drawingml/2006/main">
              <a:ext uri="{FF2B5EF4-FFF2-40B4-BE49-F238E27FC236}">
                <a16:creationId xmlns:a16="http://schemas.microsoft.com/office/drawing/2014/main" id="{7F715686-86BA-40C5-A315-BF09B8508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810">
            <a:extLst xmlns:a="http://schemas.openxmlformats.org/drawingml/2006/main">
              <a:ext uri="{FF2B5EF4-FFF2-40B4-BE49-F238E27FC236}">
                <a16:creationId xmlns:a16="http://schemas.microsoft.com/office/drawing/2014/main" id="{53D46544-7FED-46B0-8C59-1578A2A93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assets/</a:t>
            </a:r>
          </a:p>
        </p:txBody>
      </p:sp>
      <p:sp>
        <p:nvSpPr>
          <p:cNvPr id="28" name="text-1811">
            <a:extLst xmlns:a="http://schemas.openxmlformats.org/drawingml/2006/main">
              <a:ext uri="{FF2B5EF4-FFF2-40B4-BE49-F238E27FC236}">
                <a16:creationId xmlns:a16="http://schemas.microsoft.com/office/drawing/2014/main" id="{D26597A3-0302-40B8-9192-2D07415CF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範本、圖片、輸出骨架</a:t>
            </a:r>
          </a:p>
        </p:txBody>
      </p:sp>
      <p:sp>
        <p:nvSpPr>
          <p:cNvPr id="29" name="text-1812">
            <a:extLst xmlns:a="http://schemas.openxmlformats.org/drawingml/2006/main">
              <a:ext uri="{FF2B5EF4-FFF2-40B4-BE49-F238E27FC236}">
                <a16:creationId xmlns:a16="http://schemas.microsoft.com/office/drawing/2014/main" id="{F0D2BF1D-27C8-4B8F-A8F8-AE6311829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2275">
            <a:extLst xmlns:a="http://schemas.openxmlformats.org/drawingml/2006/main">
              <a:ext uri="{FF2B5EF4-FFF2-40B4-BE49-F238E27FC236}">
                <a16:creationId xmlns:a16="http://schemas.microsoft.com/office/drawing/2014/main" id="{5617A55B-898F-413A-B9F3-47FBDC2B8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d5be22101ed434e"/>
              </a:rPr>
              <a:t>Antigravity Skills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596a94cf31648e4"/>
              </a:rPr>
              <a:t>Codex Skills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7f0edfc7d1d4eb0"/>
              </a:rPr>
              <a:t>Skills 資源庫 ↗</a:t>
            </a:r>
          </a:p>
        </p:txBody>
      </p:sp>
      <p:sp>
        <p:nvSpPr>
          <p:cNvPr id="31" name="shape-2360">
            <a:extLst xmlns:a="http://schemas.openxmlformats.org/drawingml/2006/main">
              <a:ext uri="{FF2B5EF4-FFF2-40B4-BE49-F238E27FC236}">
                <a16:creationId xmlns:a16="http://schemas.microsoft.com/office/drawing/2014/main" id="{92840814-BD06-4A87-A734-D73E0B617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af210c070649df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33" name="text-2361">
            <a:extLst xmlns:a="http://schemas.openxmlformats.org/drawingml/2006/main">
              <a:ext uri="{FF2B5EF4-FFF2-40B4-BE49-F238E27FC236}">
                <a16:creationId xmlns:a16="http://schemas.microsoft.com/office/drawing/2014/main" id="{7EF36CFA-48D0-45EB-9486-8D026F1E6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97057d94a14111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35" name="text-2362">
            <a:extLst xmlns:a="http://schemas.openxmlformats.org/drawingml/2006/main">
              <a:ext uri="{FF2B5EF4-FFF2-40B4-BE49-F238E27FC236}">
                <a16:creationId xmlns:a16="http://schemas.microsoft.com/office/drawing/2014/main" id="{4B2E5E29-AB63-4AD5-A9A9-499AAE088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f9a98e03b640e2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37" name="text-2363">
            <a:extLst xmlns:a="http://schemas.openxmlformats.org/drawingml/2006/main">
              <a:ext uri="{FF2B5EF4-FFF2-40B4-BE49-F238E27FC236}">
                <a16:creationId xmlns:a16="http://schemas.microsoft.com/office/drawing/2014/main" id="{5EC8C191-8ADA-4769-BD4D-1D51D30F1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Skills 資源庫</a:t>
            </a:r>
          </a:p>
        </p:txBody>
      </p:sp>
    </p:spTree>
    <p:extLst>
      <p:ext uri="{BB962C8B-B14F-4D97-AF65-F5344CB8AC3E}">
        <p14:creationId xmlns:p14="http://schemas.microsoft.com/office/powerpoint/2010/main" val="260768082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text-1813">
            <a:extLst xmlns:a="http://schemas.openxmlformats.org/drawingml/2006/main">
              <a:ext uri="{FF2B5EF4-FFF2-40B4-BE49-F238E27FC236}">
                <a16:creationId xmlns:a16="http://schemas.microsoft.com/office/drawing/2014/main" id="{7AFF1E50-8806-45A4-9770-9D84EED05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AGENT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C24364B-C17F-4F9F-AF1E-FD3C21044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跨平台 SKILL.md：最小而清楚</a:t>
            </a:r>
          </a:p>
        </p:txBody>
      </p:sp>
      <p:cxnSp>
        <p:nvCxnSpPr>
          <p:cNvPr id="23" name="shape-181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815">
            <a:extLst xmlns:a="http://schemas.openxmlformats.org/drawingml/2006/main">
              <a:ext uri="{FF2B5EF4-FFF2-40B4-BE49-F238E27FC236}">
                <a16:creationId xmlns:a16="http://schemas.microsoft.com/office/drawing/2014/main" id="{9B4D6538-07C3-44F0-8104-1B4A06DFA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E877496-5E02-46A3-894D-564A2AD3A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41</a:t>
            </a:r>
          </a:p>
        </p:txBody>
      </p:sp>
      <p:sp>
        <p:nvSpPr>
          <p:cNvPr id="6" name="text-1816">
            <a:extLst xmlns:a="http://schemas.openxmlformats.org/drawingml/2006/main">
              <a:ext uri="{FF2B5EF4-FFF2-40B4-BE49-F238E27FC236}">
                <a16:creationId xmlns:a16="http://schemas.microsoft.com/office/drawing/2014/main" id="{872AFAEA-76DA-4723-A831-BB000A57B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6858000" cy="4324350"/>
          </a:xfrm>
          <a:prstGeom xmlns:a="http://schemas.openxmlformats.org/drawingml/2006/main" prst="roundRect">
            <a:avLst>
              <a:gd name="adj" fmla="val 3524"/>
            </a:avLst>
          </a:prstGeom>
          <a:solidFill xmlns:a="http://schemas.openxmlformats.org/drawingml/2006/main">
            <a:srgbClr val="1B2A3D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247650" tIns="247650" rIns="247650" bIns="2476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---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name: course-site-quality-check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description: 檢查課程網站的手機版、無障礙、連結與部署狀態；當使用者要求網站上線前總檢時使用。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# 課程網站上線前總檢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1. 先唯讀檢查現況，不直接發布。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2. 依序檢查手機版、鍵盤操作、連結與隱私。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3. 對每項標示：通過／失敗／未確認。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4. 只有在使用者明確授權後才部署。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5. 交付檢查表、證據與下一步。</a:t>
            </a:r>
          </a:p>
        </p:txBody>
      </p:sp>
      <p:sp>
        <p:nvSpPr>
          <p:cNvPr id="7" name="text-1817">
            <a:extLst xmlns:a="http://schemas.openxmlformats.org/drawingml/2006/main">
              <a:ext uri="{FF2B5EF4-FFF2-40B4-BE49-F238E27FC236}">
                <a16:creationId xmlns:a16="http://schemas.microsoft.com/office/drawing/2014/main" id="{C084EB61-C2A3-45F7-BC7B-833BFBB32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7526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Frontmatter</a:t>
            </a:r>
          </a:p>
        </p:txBody>
      </p:sp>
      <p:sp>
        <p:nvSpPr>
          <p:cNvPr id="8" name="text-1818">
            <a:extLst xmlns:a="http://schemas.openxmlformats.org/drawingml/2006/main">
              <a:ext uri="{FF2B5EF4-FFF2-40B4-BE49-F238E27FC236}">
                <a16:creationId xmlns:a16="http://schemas.microsoft.com/office/drawing/2014/main" id="{20D6D73A-E2A5-448E-B3ED-3E7E12162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1907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為跨 Antigravity 與 Codex 使用，只保留 name、description。</a:t>
            </a:r>
          </a:p>
        </p:txBody>
      </p:sp>
      <p:sp>
        <p:nvSpPr>
          <p:cNvPr id="9" name="text-1819">
            <a:extLst xmlns:a="http://schemas.openxmlformats.org/drawingml/2006/main">
              <a:ext uri="{FF2B5EF4-FFF2-40B4-BE49-F238E27FC236}">
                <a16:creationId xmlns:a16="http://schemas.microsoft.com/office/drawing/2014/main" id="{E6412935-5370-43B5-B4F6-EE5CD76A4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0515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0E9F94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0E9F94"/>
                </a:solidFill>
                <a:latin typeface="Noto Sans TC"/>
                <a:ea typeface="Noto Sans TC"/>
                <a:cs typeface="Noto Sans TC"/>
              </a:rPr>
              <a:t>描述要能觸發</a:t>
            </a:r>
          </a:p>
        </p:txBody>
      </p:sp>
      <p:sp>
        <p:nvSpPr>
          <p:cNvPr id="10" name="text-1820">
            <a:extLst xmlns:a="http://schemas.openxmlformats.org/drawingml/2006/main">
              <a:ext uri="{FF2B5EF4-FFF2-40B4-BE49-F238E27FC236}">
                <a16:creationId xmlns:a16="http://schemas.microsoft.com/office/drawing/2014/main" id="{A2AAAFCF-F0BE-4E7E-90BB-293344F79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4330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寫清楚何時使用，以及它解決什麼工作。</a:t>
            </a:r>
          </a:p>
        </p:txBody>
      </p:sp>
      <p:sp>
        <p:nvSpPr>
          <p:cNvPr id="11" name="text-1821">
            <a:extLst xmlns:a="http://schemas.openxmlformats.org/drawingml/2006/main">
              <a:ext uri="{FF2B5EF4-FFF2-40B4-BE49-F238E27FC236}">
                <a16:creationId xmlns:a16="http://schemas.microsoft.com/office/drawing/2014/main" id="{C8DA8C06-41DF-4856-B634-4752A6CB0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4577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流程要能驗收</a:t>
            </a:r>
          </a:p>
        </p:txBody>
      </p:sp>
      <p:sp>
        <p:nvSpPr>
          <p:cNvPr id="12" name="text-1822">
            <a:extLst xmlns:a="http://schemas.openxmlformats.org/drawingml/2006/main">
              <a:ext uri="{FF2B5EF4-FFF2-40B4-BE49-F238E27FC236}">
                <a16:creationId xmlns:a16="http://schemas.microsoft.com/office/drawing/2014/main" id="{CD3553DC-0458-4687-8B3C-C38467EC8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958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步驟、狀態與授權邊界都可檢查。</a:t>
            </a:r>
          </a:p>
        </p:txBody>
      </p:sp>
      <p:sp>
        <p:nvSpPr>
          <p:cNvPr id="13" name="text-2276">
            <a:extLst xmlns:a="http://schemas.openxmlformats.org/drawingml/2006/main">
              <a:ext uri="{FF2B5EF4-FFF2-40B4-BE49-F238E27FC236}">
                <a16:creationId xmlns:a16="http://schemas.microsoft.com/office/drawing/2014/main" id="{79947A7F-BF65-4EC9-9ADF-D3D1B504E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9e1cf79f2474e88"/>
              </a:rPr>
              <a:t>Antigravity Skills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9bc211e891d4c10"/>
              </a:rPr>
              <a:t>Codex Skills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2e82b3f91ed4b47"/>
              </a:rPr>
              <a:t>Skills 資源庫 ↗</a:t>
            </a:r>
          </a:p>
        </p:txBody>
      </p:sp>
      <p:sp>
        <p:nvSpPr>
          <p:cNvPr id="14" name="shape-2364">
            <a:extLst xmlns:a="http://schemas.openxmlformats.org/drawingml/2006/main">
              <a:ext uri="{FF2B5EF4-FFF2-40B4-BE49-F238E27FC236}">
                <a16:creationId xmlns:a16="http://schemas.microsoft.com/office/drawing/2014/main" id="{F678E6D1-ECB7-4FFA-A335-E4946769F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ef8b4d23b841f9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6" name="text-2365">
            <a:extLst xmlns:a="http://schemas.openxmlformats.org/drawingml/2006/main">
              <a:ext uri="{FF2B5EF4-FFF2-40B4-BE49-F238E27FC236}">
                <a16:creationId xmlns:a16="http://schemas.microsoft.com/office/drawing/2014/main" id="{A1837715-31A3-4618-A3CF-F9D70CD43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e461bd81ee426f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8" name="text-2366">
            <a:extLst xmlns:a="http://schemas.openxmlformats.org/drawingml/2006/main">
              <a:ext uri="{FF2B5EF4-FFF2-40B4-BE49-F238E27FC236}">
                <a16:creationId xmlns:a16="http://schemas.microsoft.com/office/drawing/2014/main" id="{186838EC-9864-441E-96B9-3E72DC372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d0652de2094108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0" name="text-2367">
            <a:extLst xmlns:a="http://schemas.openxmlformats.org/drawingml/2006/main">
              <a:ext uri="{FF2B5EF4-FFF2-40B4-BE49-F238E27FC236}">
                <a16:creationId xmlns:a16="http://schemas.microsoft.com/office/drawing/2014/main" id="{BDEE6846-3B01-4AED-911E-D9EF5170B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Skills 資源庫</a:t>
            </a:r>
          </a:p>
        </p:txBody>
      </p:sp>
    </p:spTree>
    <p:extLst>
      <p:ext uri="{BB962C8B-B14F-4D97-AF65-F5344CB8AC3E}">
        <p14:creationId xmlns:p14="http://schemas.microsoft.com/office/powerpoint/2010/main" val="818352766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text-1823">
            <a:extLst xmlns:a="http://schemas.openxmlformats.org/drawingml/2006/main">
              <a:ext uri="{FF2B5EF4-FFF2-40B4-BE49-F238E27FC236}">
                <a16:creationId xmlns:a16="http://schemas.microsoft.com/office/drawing/2014/main" id="{FA5B1790-1721-4723-A08F-ED2A914E7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PROGRESSIVE DISCLOSURE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84FA33E-61B2-4CCB-A521-87421B129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漸進式揭露：Agent 需要時才讀細節</a:t>
            </a:r>
          </a:p>
        </p:txBody>
      </p:sp>
      <p:cxnSp>
        <p:nvCxnSpPr>
          <p:cNvPr id="36" name="shape-182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825">
            <a:extLst xmlns:a="http://schemas.openxmlformats.org/drawingml/2006/main">
              <a:ext uri="{FF2B5EF4-FFF2-40B4-BE49-F238E27FC236}">
                <a16:creationId xmlns:a16="http://schemas.microsoft.com/office/drawing/2014/main" id="{1E6B2B6D-605E-477A-BB69-CAF361CF5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28D0A0C-F614-4749-AF46-A9AF5E7EC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42</a:t>
            </a:r>
          </a:p>
        </p:txBody>
      </p:sp>
      <p:sp>
        <p:nvSpPr>
          <p:cNvPr id="6" name="shape-1826">
            <a:extLst xmlns:a="http://schemas.openxmlformats.org/drawingml/2006/main">
              <a:ext uri="{FF2B5EF4-FFF2-40B4-BE49-F238E27FC236}">
                <a16:creationId xmlns:a16="http://schemas.microsoft.com/office/drawing/2014/main" id="{F99F206C-C0AD-4139-9ABD-63C6B8E7E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827">
            <a:extLst xmlns:a="http://schemas.openxmlformats.org/drawingml/2006/main">
              <a:ext uri="{FF2B5EF4-FFF2-40B4-BE49-F238E27FC236}">
                <a16:creationId xmlns:a16="http://schemas.microsoft.com/office/drawing/2014/main" id="{FCE52A21-8635-4DF0-82D3-B7127AF42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828">
            <a:extLst xmlns:a="http://schemas.openxmlformats.org/drawingml/2006/main">
              <a:ext uri="{FF2B5EF4-FFF2-40B4-BE49-F238E27FC236}">
                <a16:creationId xmlns:a16="http://schemas.microsoft.com/office/drawing/2014/main" id="{6E61CB3F-FE08-43BA-BAEB-26A90CE34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第一層：描述</a:t>
            </a:r>
          </a:p>
        </p:txBody>
      </p:sp>
      <p:sp>
        <p:nvSpPr>
          <p:cNvPr id="9" name="text-1829">
            <a:extLst xmlns:a="http://schemas.openxmlformats.org/drawingml/2006/main">
              <a:ext uri="{FF2B5EF4-FFF2-40B4-BE49-F238E27FC236}">
                <a16:creationId xmlns:a16="http://schemas.microsoft.com/office/drawing/2014/main" id="{9806E9C4-FC10-44AA-9BA3-19170726B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Agent 先看名稱與 description，判斷是否適用。</a:t>
            </a:r>
          </a:p>
        </p:txBody>
      </p:sp>
      <p:sp>
        <p:nvSpPr>
          <p:cNvPr id="10" name="shape-1830">
            <a:extLst xmlns:a="http://schemas.openxmlformats.org/drawingml/2006/main">
              <a:ext uri="{FF2B5EF4-FFF2-40B4-BE49-F238E27FC236}">
                <a16:creationId xmlns:a16="http://schemas.microsoft.com/office/drawing/2014/main" id="{D2DAA9F0-2314-4630-B765-AF2DFBAB3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831">
            <a:extLst xmlns:a="http://schemas.openxmlformats.org/drawingml/2006/main">
              <a:ext uri="{FF2B5EF4-FFF2-40B4-BE49-F238E27FC236}">
                <a16:creationId xmlns:a16="http://schemas.microsoft.com/office/drawing/2014/main" id="{9D1399A9-02A7-40AB-9BB4-90AC025DF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832">
            <a:extLst xmlns:a="http://schemas.openxmlformats.org/drawingml/2006/main">
              <a:ext uri="{FF2B5EF4-FFF2-40B4-BE49-F238E27FC236}">
                <a16:creationId xmlns:a16="http://schemas.microsoft.com/office/drawing/2014/main" id="{CB0F62C2-2A0B-4B32-B6D5-41313CFE2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第二層：主流程</a:t>
            </a:r>
          </a:p>
        </p:txBody>
      </p:sp>
      <p:sp>
        <p:nvSpPr>
          <p:cNvPr id="13" name="text-1833">
            <a:extLst xmlns:a="http://schemas.openxmlformats.org/drawingml/2006/main">
              <a:ext uri="{FF2B5EF4-FFF2-40B4-BE49-F238E27FC236}">
                <a16:creationId xmlns:a16="http://schemas.microsoft.com/office/drawing/2014/main" id="{705D265C-51E2-4010-94C7-CDFC1AA1C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觸發後讀 SKILL.md，取得核心步驟與規則。</a:t>
            </a:r>
          </a:p>
        </p:txBody>
      </p:sp>
      <p:sp>
        <p:nvSpPr>
          <p:cNvPr id="14" name="shape-1834">
            <a:extLst xmlns:a="http://schemas.openxmlformats.org/drawingml/2006/main">
              <a:ext uri="{FF2B5EF4-FFF2-40B4-BE49-F238E27FC236}">
                <a16:creationId xmlns:a16="http://schemas.microsoft.com/office/drawing/2014/main" id="{10E77318-2A78-49B9-985B-290282A10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835">
            <a:extLst xmlns:a="http://schemas.openxmlformats.org/drawingml/2006/main">
              <a:ext uri="{FF2B5EF4-FFF2-40B4-BE49-F238E27FC236}">
                <a16:creationId xmlns:a16="http://schemas.microsoft.com/office/drawing/2014/main" id="{C9DF4ED1-BE3F-4CD8-B682-6E5D9870B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836">
            <a:extLst xmlns:a="http://schemas.openxmlformats.org/drawingml/2006/main">
              <a:ext uri="{FF2B5EF4-FFF2-40B4-BE49-F238E27FC236}">
                <a16:creationId xmlns:a16="http://schemas.microsoft.com/office/drawing/2014/main" id="{6AA6F327-8E48-4944-9FBF-DC6FA1A0A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第三層：附件</a:t>
            </a:r>
          </a:p>
        </p:txBody>
      </p:sp>
      <p:sp>
        <p:nvSpPr>
          <p:cNvPr id="17" name="text-1837">
            <a:extLst xmlns:a="http://schemas.openxmlformats.org/drawingml/2006/main">
              <a:ext uri="{FF2B5EF4-FFF2-40B4-BE49-F238E27FC236}">
                <a16:creationId xmlns:a16="http://schemas.microsoft.com/office/drawing/2014/main" id="{68F6111F-666A-4C04-B02D-6259D4283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任務需要時才讀 references、執行 scripts、取用 assets。</a:t>
            </a:r>
          </a:p>
        </p:txBody>
      </p:sp>
      <p:sp>
        <p:nvSpPr>
          <p:cNvPr id="18" name="text-1838">
            <a:extLst xmlns:a="http://schemas.openxmlformats.org/drawingml/2006/main">
              <a:ext uri="{FF2B5EF4-FFF2-40B4-BE49-F238E27FC236}">
                <a16:creationId xmlns:a16="http://schemas.microsoft.com/office/drawing/2014/main" id="{9BB923B7-3B81-42E4-ADEB-7ACC04ED1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描述</a:t>
            </a:r>
          </a:p>
        </p:txBody>
      </p:sp>
      <p:sp>
        <p:nvSpPr>
          <p:cNvPr id="19" name="text-1839">
            <a:extLst xmlns:a="http://schemas.openxmlformats.org/drawingml/2006/main">
              <a:ext uri="{FF2B5EF4-FFF2-40B4-BE49-F238E27FC236}">
                <a16:creationId xmlns:a16="http://schemas.microsoft.com/office/drawing/2014/main" id="{55A375C1-5959-4FB5-A4E9-80BA25EF6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SKILL.md</a:t>
            </a:r>
          </a:p>
        </p:txBody>
      </p:sp>
      <p:sp>
        <p:nvSpPr>
          <p:cNvPr id="20" name="text-1840">
            <a:extLst xmlns:a="http://schemas.openxmlformats.org/drawingml/2006/main">
              <a:ext uri="{FF2B5EF4-FFF2-40B4-BE49-F238E27FC236}">
                <a16:creationId xmlns:a16="http://schemas.microsoft.com/office/drawing/2014/main" id="{91F12A03-1ADB-46EE-B634-75DC61596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附件</a:t>
            </a:r>
          </a:p>
        </p:txBody>
      </p:sp>
      <p:sp>
        <p:nvSpPr>
          <p:cNvPr id="21" name="text-1841">
            <a:extLst xmlns:a="http://schemas.openxmlformats.org/drawingml/2006/main">
              <a:ext uri="{FF2B5EF4-FFF2-40B4-BE49-F238E27FC236}">
                <a16:creationId xmlns:a16="http://schemas.microsoft.com/office/drawing/2014/main" id="{1088964B-53D8-4C74-95BA-62299BD41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EECE7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可驗證成果</a:t>
            </a:r>
          </a:p>
        </p:txBody>
      </p:sp>
      <p:cxnSp>
        <p:nvCxnSpPr>
          <p:cNvPr id="55" name=""/>
          <p:cNvCxnSpPr>
            <a:stCxn xmlns:a="http://schemas.openxmlformats.org/drawingml/2006/main" id="18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2628900" y="5181600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B64DA"/>
            </a:solidFill>
            <a:prstDash val="solid"/>
            <a:tailEnd type="arrow" w="sm" len="sm"/>
          </a:ln>
        </p:spPr>
      </p:cxnSp>
      <p:cxnSp>
        <p:nvCxnSpPr>
          <p:cNvPr id="56" name=""/>
          <p:cNvCxnSpPr>
            <a:stCxn xmlns:a="http://schemas.openxmlformats.org/drawingml/2006/main" id="19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5295900" y="5181600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B64DA"/>
            </a:solidFill>
            <a:prstDash val="solid"/>
            <a:tailEnd type="arrow" w="sm" len="sm"/>
          </a:ln>
        </p:spPr>
      </p:cxnSp>
      <p:cxnSp>
        <p:nvCxnSpPr>
          <p:cNvPr id="57" name=""/>
          <p:cNvCxnSpPr>
            <a:stCxn xmlns:a="http://schemas.openxmlformats.org/drawingml/2006/main" id="20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7962900" y="5181600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6B4A"/>
            </a:solidFill>
            <a:prstDash val="solid"/>
            <a:tailEnd type="arrow" w="sm" len="sm"/>
          </a:ln>
        </p:spPr>
      </p:cxnSp>
      <p:sp>
        <p:nvSpPr>
          <p:cNvPr id="25" name="text-1842">
            <a:extLst xmlns:a="http://schemas.openxmlformats.org/drawingml/2006/main">
              <a:ext uri="{FF2B5EF4-FFF2-40B4-BE49-F238E27FC236}">
                <a16:creationId xmlns:a16="http://schemas.microsoft.com/office/drawing/2014/main" id="{5701F2E0-A1D6-4E75-B9DE-525FFFE1D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619750"/>
            <a:ext cx="560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按需載入，不把整個知識庫一次塞進主文</a:t>
            </a:r>
          </a:p>
        </p:txBody>
      </p:sp>
      <p:sp>
        <p:nvSpPr>
          <p:cNvPr id="26" name="text-2277">
            <a:extLst xmlns:a="http://schemas.openxmlformats.org/drawingml/2006/main">
              <a:ext uri="{FF2B5EF4-FFF2-40B4-BE49-F238E27FC236}">
                <a16:creationId xmlns:a16="http://schemas.microsoft.com/office/drawing/2014/main" id="{D6F4B496-F6C8-4D2F-9D26-5682B865B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3093c52e1e54130"/>
              </a:rPr>
              <a:t>Antigravity Skills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6ff760342044ed5"/>
              </a:rPr>
              <a:t>Codex Skills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7b4d340917a4538"/>
              </a:rPr>
              <a:t>Skills 資源庫 ↗</a:t>
            </a:r>
          </a:p>
        </p:txBody>
      </p:sp>
      <p:sp>
        <p:nvSpPr>
          <p:cNvPr id="27" name="shape-2368">
            <a:extLst xmlns:a="http://schemas.openxmlformats.org/drawingml/2006/main">
              <a:ext uri="{FF2B5EF4-FFF2-40B4-BE49-F238E27FC236}">
                <a16:creationId xmlns:a16="http://schemas.microsoft.com/office/drawing/2014/main" id="{20D7857F-1446-4195-AF7D-325BC87EC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93078c2352445d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2369">
            <a:extLst xmlns:a="http://schemas.openxmlformats.org/drawingml/2006/main">
              <a:ext uri="{FF2B5EF4-FFF2-40B4-BE49-F238E27FC236}">
                <a16:creationId xmlns:a16="http://schemas.microsoft.com/office/drawing/2014/main" id="{7CD0B458-60F6-48F7-B7AD-B973E89FD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69dcea08264c3d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31" name="text-2370">
            <a:extLst xmlns:a="http://schemas.openxmlformats.org/drawingml/2006/main">
              <a:ext uri="{FF2B5EF4-FFF2-40B4-BE49-F238E27FC236}">
                <a16:creationId xmlns:a16="http://schemas.microsoft.com/office/drawing/2014/main" id="{1A33CD9A-DF14-48B4-8257-AB311673F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e4fe9614c24c50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33" name="text-2371">
            <a:extLst xmlns:a="http://schemas.openxmlformats.org/drawingml/2006/main">
              <a:ext uri="{FF2B5EF4-FFF2-40B4-BE49-F238E27FC236}">
                <a16:creationId xmlns:a16="http://schemas.microsoft.com/office/drawing/2014/main" id="{558B8F52-6652-4574-AE6C-824FF7C42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Skills 資源庫</a:t>
            </a:r>
          </a:p>
        </p:txBody>
      </p:sp>
    </p:spTree>
    <p:extLst>
      <p:ext uri="{BB962C8B-B14F-4D97-AF65-F5344CB8AC3E}">
        <p14:creationId xmlns:p14="http://schemas.microsoft.com/office/powerpoint/2010/main" val="1101179389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1843">
            <a:extLst xmlns:a="http://schemas.openxmlformats.org/drawingml/2006/main">
              <a:ext uri="{FF2B5EF4-FFF2-40B4-BE49-F238E27FC236}">
                <a16:creationId xmlns:a16="http://schemas.microsoft.com/office/drawing/2014/main" id="{427C230E-FA8B-44AC-8FB4-836DBB62B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EA9FA9C-9D7E-432D-8DFE-4AA166AFF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實作 C｜把一筆提示詞升級成教育 Skill</a:t>
            </a:r>
          </a:p>
        </p:txBody>
      </p:sp>
      <p:cxnSp>
        <p:nvCxnSpPr>
          <p:cNvPr id="29" name="shape-184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845">
            <a:extLst xmlns:a="http://schemas.openxmlformats.org/drawingml/2006/main">
              <a:ext uri="{FF2B5EF4-FFF2-40B4-BE49-F238E27FC236}">
                <a16:creationId xmlns:a16="http://schemas.microsoft.com/office/drawing/2014/main" id="{F91E9C23-0652-4CD2-B28E-A97FEAA6F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50EFBB8-4C44-436E-A200-429F03464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43</a:t>
            </a:r>
          </a:p>
        </p:txBody>
      </p:sp>
      <p:sp>
        <p:nvSpPr>
          <p:cNvPr id="6" name="text-1846">
            <a:extLst xmlns:a="http://schemas.openxmlformats.org/drawingml/2006/main">
              <a:ext uri="{FF2B5EF4-FFF2-40B4-BE49-F238E27FC236}">
                <a16:creationId xmlns:a16="http://schemas.microsoft.com/office/drawing/2014/main" id="{3200AB9F-B6BC-430E-A084-2C3D8341B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847">
            <a:extLst xmlns:a="http://schemas.openxmlformats.org/drawingml/2006/main">
              <a:ext uri="{FF2B5EF4-FFF2-40B4-BE49-F238E27FC236}">
                <a16:creationId xmlns:a16="http://schemas.microsoft.com/office/drawing/2014/main" id="{DA37FCE6-89D1-4CFD-84CC-5749E310A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848">
            <a:extLst xmlns:a="http://schemas.openxmlformats.org/drawingml/2006/main">
              <a:ext uri="{FF2B5EF4-FFF2-40B4-BE49-F238E27FC236}">
                <a16:creationId xmlns:a16="http://schemas.microsoft.com/office/drawing/2014/main" id="{BBC9ACFA-B265-41EA-81AA-0763B40A1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849">
            <a:extLst xmlns:a="http://schemas.openxmlformats.org/drawingml/2006/main">
              <a:ext uri="{FF2B5EF4-FFF2-40B4-BE49-F238E27FC236}">
                <a16:creationId xmlns:a16="http://schemas.microsoft.com/office/drawing/2014/main" id="{477EF353-1685-4C42-85FA-6192F2005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從快捷面板選一個高頻提示詞</a:t>
            </a:r>
          </a:p>
        </p:txBody>
      </p:sp>
      <p:sp>
        <p:nvSpPr>
          <p:cNvPr id="10" name="text-1850">
            <a:extLst xmlns:a="http://schemas.openxmlformats.org/drawingml/2006/main">
              <a:ext uri="{FF2B5EF4-FFF2-40B4-BE49-F238E27FC236}">
                <a16:creationId xmlns:a16="http://schemas.microsoft.com/office/drawing/2014/main" id="{E8AEBC82-6A7C-4925-AB1C-9CC1EA4ED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851">
            <a:extLst xmlns:a="http://schemas.openxmlformats.org/drawingml/2006/main">
              <a:ext uri="{FF2B5EF4-FFF2-40B4-BE49-F238E27FC236}">
                <a16:creationId xmlns:a16="http://schemas.microsoft.com/office/drawing/2014/main" id="{C59DC674-DD74-4767-874D-01DFE1981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補齊輸入、步驟、限制與驗收</a:t>
            </a:r>
          </a:p>
        </p:txBody>
      </p:sp>
      <p:sp>
        <p:nvSpPr>
          <p:cNvPr id="12" name="text-1852">
            <a:extLst xmlns:a="http://schemas.openxmlformats.org/drawingml/2006/main">
              <a:ext uri="{FF2B5EF4-FFF2-40B4-BE49-F238E27FC236}">
                <a16:creationId xmlns:a16="http://schemas.microsoft.com/office/drawing/2014/main" id="{FDCEAC9D-D1A9-4546-AC3C-3617C883A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853">
            <a:extLst xmlns:a="http://schemas.openxmlformats.org/drawingml/2006/main">
              <a:ext uri="{FF2B5EF4-FFF2-40B4-BE49-F238E27FC236}">
                <a16:creationId xmlns:a16="http://schemas.microsoft.com/office/drawing/2014/main" id="{A2476F22-2057-4ED8-9469-FBA7D2BC2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建立資料夾與 SKILL.md</a:t>
            </a:r>
          </a:p>
        </p:txBody>
      </p:sp>
      <p:sp>
        <p:nvSpPr>
          <p:cNvPr id="14" name="text-1854">
            <a:extLst xmlns:a="http://schemas.openxmlformats.org/drawingml/2006/main">
              <a:ext uri="{FF2B5EF4-FFF2-40B4-BE49-F238E27FC236}">
                <a16:creationId xmlns:a16="http://schemas.microsoft.com/office/drawing/2014/main" id="{5BA5305A-E0D2-484E-8E97-AB282F0D7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855">
            <a:extLst xmlns:a="http://schemas.openxmlformats.org/drawingml/2006/main">
              <a:ext uri="{FF2B5EF4-FFF2-40B4-BE49-F238E27FC236}">
                <a16:creationId xmlns:a16="http://schemas.microsoft.com/office/drawing/2014/main" id="{8E6E5037-B0B7-4220-BDEA-EB32B85E8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在 Agent 中用自然語句觸發並修正</a:t>
            </a:r>
          </a:p>
        </p:txBody>
      </p:sp>
      <p:sp>
        <p:nvSpPr>
          <p:cNvPr id="16" name="shape-1856">
            <a:extLst xmlns:a="http://schemas.openxmlformats.org/drawingml/2006/main">
              <a:ext uri="{FF2B5EF4-FFF2-40B4-BE49-F238E27FC236}">
                <a16:creationId xmlns:a16="http://schemas.microsoft.com/office/drawing/2014/main" id="{511DFFDE-E130-43F4-B4C1-A7AD9ED27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7" name="text-1857">
            <a:extLst xmlns:a="http://schemas.openxmlformats.org/drawingml/2006/main">
              <a:ext uri="{FF2B5EF4-FFF2-40B4-BE49-F238E27FC236}">
                <a16:creationId xmlns:a16="http://schemas.microsoft.com/office/drawing/2014/main" id="{076A6A21-B282-44D2-81F6-49D3EA26C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858">
            <a:extLst xmlns:a="http://schemas.openxmlformats.org/drawingml/2006/main">
              <a:ext uri="{FF2B5EF4-FFF2-40B4-BE49-F238E27FC236}">
                <a16:creationId xmlns:a16="http://schemas.microsoft.com/office/drawing/2014/main" id="{29D7C775-8BED-47C2-92C5-F17A866B7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名稱與描述清楚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流程可重複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有至少一項驗收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需要授權的動作會停</a:t>
            </a:r>
          </a:p>
        </p:txBody>
      </p:sp>
      <p:sp>
        <p:nvSpPr>
          <p:cNvPr id="19" name="text-2278">
            <a:extLst xmlns:a="http://schemas.openxmlformats.org/drawingml/2006/main">
              <a:ext uri="{FF2B5EF4-FFF2-40B4-BE49-F238E27FC236}">
                <a16:creationId xmlns:a16="http://schemas.microsoft.com/office/drawing/2014/main" id="{3ADC4B19-0857-40F7-92B0-FDAB94157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ec9a554d24d496e"/>
              </a:rPr>
              <a:t>Antigravity Skills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b7fb4cee3e24fa4"/>
              </a:rPr>
              <a:t>Codex Skills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cb4b9dec94d4208"/>
              </a:rPr>
              <a:t>Skills 資源庫 ↗</a:t>
            </a:r>
          </a:p>
        </p:txBody>
      </p:sp>
      <p:sp>
        <p:nvSpPr>
          <p:cNvPr id="20" name="shape-2372">
            <a:extLst xmlns:a="http://schemas.openxmlformats.org/drawingml/2006/main">
              <a:ext uri="{FF2B5EF4-FFF2-40B4-BE49-F238E27FC236}">
                <a16:creationId xmlns:a16="http://schemas.microsoft.com/office/drawing/2014/main" id="{E1916585-6945-452C-8FC4-9E99E9E10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dde30369414d35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2" name="text-2373">
            <a:extLst xmlns:a="http://schemas.openxmlformats.org/drawingml/2006/main">
              <a:ext uri="{FF2B5EF4-FFF2-40B4-BE49-F238E27FC236}">
                <a16:creationId xmlns:a16="http://schemas.microsoft.com/office/drawing/2014/main" id="{EC25EDC1-E955-41CB-BE33-C393E9F81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8e0059379d459b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4" name="text-2374">
            <a:extLst xmlns:a="http://schemas.openxmlformats.org/drawingml/2006/main">
              <a:ext uri="{FF2B5EF4-FFF2-40B4-BE49-F238E27FC236}">
                <a16:creationId xmlns:a16="http://schemas.microsoft.com/office/drawing/2014/main" id="{CDB6B9D2-2215-42C2-9FC4-154B6A2A0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e2b7471bda403f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6" name="text-2375">
            <a:extLst xmlns:a="http://schemas.openxmlformats.org/drawingml/2006/main">
              <a:ext uri="{FF2B5EF4-FFF2-40B4-BE49-F238E27FC236}">
                <a16:creationId xmlns:a16="http://schemas.microsoft.com/office/drawing/2014/main" id="{0CD9E60B-FE47-4359-B0D2-F7C6C5600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Skills 資源庫</a:t>
            </a:r>
          </a:p>
        </p:txBody>
      </p:sp>
    </p:spTree>
    <p:extLst>
      <p:ext uri="{BB962C8B-B14F-4D97-AF65-F5344CB8AC3E}">
        <p14:creationId xmlns:p14="http://schemas.microsoft.com/office/powerpoint/2010/main" val="624698280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text-1859">
            <a:extLst xmlns:a="http://schemas.openxmlformats.org/drawingml/2006/main">
              <a:ext uri="{FF2B5EF4-FFF2-40B4-BE49-F238E27FC236}">
                <a16:creationId xmlns:a16="http://schemas.microsoft.com/office/drawing/2014/main" id="{DC48E180-F1DE-447B-8336-2DC954FAE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CROSS-AGENT TEST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7F2859D-672B-44A5-8768-6D54EF72D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同一個 Skill，做兩輪交叉測試</a:t>
            </a:r>
          </a:p>
        </p:txBody>
      </p:sp>
      <p:cxnSp>
        <p:nvCxnSpPr>
          <p:cNvPr id="32" name="shape-186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861">
            <a:extLst xmlns:a="http://schemas.openxmlformats.org/drawingml/2006/main">
              <a:ext uri="{FF2B5EF4-FFF2-40B4-BE49-F238E27FC236}">
                <a16:creationId xmlns:a16="http://schemas.microsoft.com/office/drawing/2014/main" id="{86B58084-91A1-4174-B580-1E08DE503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E39406A-AF6A-4B34-B0D4-6A9F5206B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44</a:t>
            </a:r>
          </a:p>
        </p:txBody>
      </p:sp>
      <p:sp>
        <p:nvSpPr>
          <p:cNvPr id="6" name="shape-1862">
            <a:extLst xmlns:a="http://schemas.openxmlformats.org/drawingml/2006/main">
              <a:ext uri="{FF2B5EF4-FFF2-40B4-BE49-F238E27FC236}">
                <a16:creationId xmlns:a16="http://schemas.microsoft.com/office/drawing/2014/main" id="{CDF34CF2-4B31-4012-B300-615316E36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863">
            <a:extLst xmlns:a="http://schemas.openxmlformats.org/drawingml/2006/main">
              <a:ext uri="{FF2B5EF4-FFF2-40B4-BE49-F238E27FC236}">
                <a16:creationId xmlns:a16="http://schemas.microsoft.com/office/drawing/2014/main" id="{6EAA353A-A161-4902-A33E-2071ADCED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864">
            <a:extLst xmlns:a="http://schemas.openxmlformats.org/drawingml/2006/main">
              <a:ext uri="{FF2B5EF4-FFF2-40B4-BE49-F238E27FC236}">
                <a16:creationId xmlns:a16="http://schemas.microsoft.com/office/drawing/2014/main" id="{B7D4E13F-C38B-493C-8621-564793A45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觸發</a:t>
            </a:r>
          </a:p>
        </p:txBody>
      </p:sp>
      <p:sp>
        <p:nvSpPr>
          <p:cNvPr id="9" name="text-1865">
            <a:extLst xmlns:a="http://schemas.openxmlformats.org/drawingml/2006/main">
              <a:ext uri="{FF2B5EF4-FFF2-40B4-BE49-F238E27FC236}">
                <a16:creationId xmlns:a16="http://schemas.microsoft.com/office/drawing/2014/main" id="{33534F10-2F11-459D-840A-C88578450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 與 Codex 是否都能從 description 判斷何時使用？</a:t>
            </a:r>
          </a:p>
        </p:txBody>
      </p:sp>
      <p:sp>
        <p:nvSpPr>
          <p:cNvPr id="10" name="shape-1866">
            <a:extLst xmlns:a="http://schemas.openxmlformats.org/drawingml/2006/main">
              <a:ext uri="{FF2B5EF4-FFF2-40B4-BE49-F238E27FC236}">
                <a16:creationId xmlns:a16="http://schemas.microsoft.com/office/drawing/2014/main" id="{9D1A069E-C775-478B-B052-CF5160320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867">
            <a:extLst xmlns:a="http://schemas.openxmlformats.org/drawingml/2006/main">
              <a:ext uri="{FF2B5EF4-FFF2-40B4-BE49-F238E27FC236}">
                <a16:creationId xmlns:a16="http://schemas.microsoft.com/office/drawing/2014/main" id="{DF77B51B-DDCF-498D-80C1-DC78D98D1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868">
            <a:extLst xmlns:a="http://schemas.openxmlformats.org/drawingml/2006/main">
              <a:ext uri="{FF2B5EF4-FFF2-40B4-BE49-F238E27FC236}">
                <a16:creationId xmlns:a16="http://schemas.microsoft.com/office/drawing/2014/main" id="{784068FE-3040-4448-8A03-544FF570C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步驟</a:t>
            </a:r>
          </a:p>
        </p:txBody>
      </p:sp>
      <p:sp>
        <p:nvSpPr>
          <p:cNvPr id="13" name="text-1869">
            <a:extLst xmlns:a="http://schemas.openxmlformats.org/drawingml/2006/main">
              <a:ext uri="{FF2B5EF4-FFF2-40B4-BE49-F238E27FC236}">
                <a16:creationId xmlns:a16="http://schemas.microsoft.com/office/drawing/2014/main" id="{86486856-1489-48DF-B502-0B6570B02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是否按相同順序處理，或清楚說明環境差異？</a:t>
            </a:r>
          </a:p>
        </p:txBody>
      </p:sp>
      <p:sp>
        <p:nvSpPr>
          <p:cNvPr id="14" name="shape-1870">
            <a:extLst xmlns:a="http://schemas.openxmlformats.org/drawingml/2006/main">
              <a:ext uri="{FF2B5EF4-FFF2-40B4-BE49-F238E27FC236}">
                <a16:creationId xmlns:a16="http://schemas.microsoft.com/office/drawing/2014/main" id="{E05B9DC9-5850-4A66-B68E-012F7D14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871">
            <a:extLst xmlns:a="http://schemas.openxmlformats.org/drawingml/2006/main">
              <a:ext uri="{FF2B5EF4-FFF2-40B4-BE49-F238E27FC236}">
                <a16:creationId xmlns:a16="http://schemas.microsoft.com/office/drawing/2014/main" id="{15F4B91C-2F67-4E9F-8439-AFE4559EE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872">
            <a:extLst xmlns:a="http://schemas.openxmlformats.org/drawingml/2006/main">
              <a:ext uri="{FF2B5EF4-FFF2-40B4-BE49-F238E27FC236}">
                <a16:creationId xmlns:a16="http://schemas.microsoft.com/office/drawing/2014/main" id="{C78053E5-B27C-430B-B5F8-CF3F8B4AC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護欄</a:t>
            </a:r>
          </a:p>
        </p:txBody>
      </p:sp>
      <p:sp>
        <p:nvSpPr>
          <p:cNvPr id="17" name="text-1873">
            <a:extLst xmlns:a="http://schemas.openxmlformats.org/drawingml/2006/main">
              <a:ext uri="{FF2B5EF4-FFF2-40B4-BE49-F238E27FC236}">
                <a16:creationId xmlns:a16="http://schemas.microsoft.com/office/drawing/2014/main" id="{07E2BDE4-6958-4235-9B77-7F4CE0833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是否都在發布、刪除、寄送或改權限前停下？</a:t>
            </a:r>
          </a:p>
        </p:txBody>
      </p:sp>
      <p:sp>
        <p:nvSpPr>
          <p:cNvPr id="18" name="shape-1874">
            <a:extLst xmlns:a="http://schemas.openxmlformats.org/drawingml/2006/main">
              <a:ext uri="{FF2B5EF4-FFF2-40B4-BE49-F238E27FC236}">
                <a16:creationId xmlns:a16="http://schemas.microsoft.com/office/drawing/2014/main" id="{664E835F-681F-40E5-9AA3-151778B6B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875">
            <a:extLst xmlns:a="http://schemas.openxmlformats.org/drawingml/2006/main">
              <a:ext uri="{FF2B5EF4-FFF2-40B4-BE49-F238E27FC236}">
                <a16:creationId xmlns:a16="http://schemas.microsoft.com/office/drawing/2014/main" id="{76AD6418-FE9F-4942-B677-84571E5F6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876">
            <a:extLst xmlns:a="http://schemas.openxmlformats.org/drawingml/2006/main">
              <a:ext uri="{FF2B5EF4-FFF2-40B4-BE49-F238E27FC236}">
                <a16:creationId xmlns:a16="http://schemas.microsoft.com/office/drawing/2014/main" id="{992F1519-CA2E-4790-8AD5-980EAEAF3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證據</a:t>
            </a:r>
          </a:p>
        </p:txBody>
      </p:sp>
      <p:sp>
        <p:nvSpPr>
          <p:cNvPr id="21" name="text-1877">
            <a:extLst xmlns:a="http://schemas.openxmlformats.org/drawingml/2006/main">
              <a:ext uri="{FF2B5EF4-FFF2-40B4-BE49-F238E27FC236}">
                <a16:creationId xmlns:a16="http://schemas.microsoft.com/office/drawing/2014/main" id="{787DBF6A-8E2C-41F7-89E5-D488DA18B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是否都回報通過、失敗與未確認，而非只說完成？</a:t>
            </a:r>
          </a:p>
        </p:txBody>
      </p:sp>
      <p:sp>
        <p:nvSpPr>
          <p:cNvPr id="22" name="text-2279">
            <a:extLst xmlns:a="http://schemas.openxmlformats.org/drawingml/2006/main">
              <a:ext uri="{FF2B5EF4-FFF2-40B4-BE49-F238E27FC236}">
                <a16:creationId xmlns:a16="http://schemas.microsoft.com/office/drawing/2014/main" id="{034CE47D-640E-4587-A6F3-175A0C02A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751170d40484971"/>
              </a:rPr>
              <a:t>Antigravity Skills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7870d0006e143f5"/>
              </a:rPr>
              <a:t>Codex Skills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491e7dfad9d446a"/>
              </a:rPr>
              <a:t>Skills 資源庫 ↗</a:t>
            </a:r>
          </a:p>
        </p:txBody>
      </p:sp>
      <p:sp>
        <p:nvSpPr>
          <p:cNvPr id="23" name="shape-2376">
            <a:extLst xmlns:a="http://schemas.openxmlformats.org/drawingml/2006/main">
              <a:ext uri="{FF2B5EF4-FFF2-40B4-BE49-F238E27FC236}">
                <a16:creationId xmlns:a16="http://schemas.microsoft.com/office/drawing/2014/main" id="{1BE5EF69-A60D-4B4C-B0A6-979443185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6f75207d57449e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5" name="text-2377">
            <a:extLst xmlns:a="http://schemas.openxmlformats.org/drawingml/2006/main">
              <a:ext uri="{FF2B5EF4-FFF2-40B4-BE49-F238E27FC236}">
                <a16:creationId xmlns:a16="http://schemas.microsoft.com/office/drawing/2014/main" id="{93F8E42B-3FD5-413C-8A23-EEA4F0F98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7366700f854300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7" name="text-2378">
            <a:extLst xmlns:a="http://schemas.openxmlformats.org/drawingml/2006/main">
              <a:ext uri="{FF2B5EF4-FFF2-40B4-BE49-F238E27FC236}">
                <a16:creationId xmlns:a16="http://schemas.microsoft.com/office/drawing/2014/main" id="{07BE9B0A-0384-43A0-8A97-50810E92D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5c761496244400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2379">
            <a:extLst xmlns:a="http://schemas.openxmlformats.org/drawingml/2006/main">
              <a:ext uri="{FF2B5EF4-FFF2-40B4-BE49-F238E27FC236}">
                <a16:creationId xmlns:a16="http://schemas.microsoft.com/office/drawing/2014/main" id="{72A4D409-1DEE-4AC5-B468-B82833E1F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Skills 資源庫</a:t>
            </a:r>
          </a:p>
        </p:txBody>
      </p:sp>
    </p:spTree>
    <p:extLst>
      <p:ext uri="{BB962C8B-B14F-4D97-AF65-F5344CB8AC3E}">
        <p14:creationId xmlns:p14="http://schemas.microsoft.com/office/powerpoint/2010/main" val="1090649418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ext-1878">
            <a:extLst xmlns:a="http://schemas.openxmlformats.org/drawingml/2006/main">
              <a:ext uri="{FF2B5EF4-FFF2-40B4-BE49-F238E27FC236}">
                <a16:creationId xmlns:a16="http://schemas.microsoft.com/office/drawing/2014/main" id="{A75A773C-CA2F-4A16-969A-7374143AC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" name="text-1879">
            <a:extLst xmlns:a="http://schemas.openxmlformats.org/drawingml/2006/main">
              <a:ext uri="{FF2B5EF4-FFF2-40B4-BE49-F238E27FC236}">
                <a16:creationId xmlns:a16="http://schemas.microsoft.com/office/drawing/2014/main" id="{9F93E246-0C62-49AA-87EC-C1E941850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AI 分析學生資料</a:t>
            </a:r>
          </a:p>
        </p:txBody>
      </p:sp>
      <p:sp>
        <p:nvSpPr>
          <p:cNvPr id="3" name="text-1880">
            <a:extLst xmlns:a="http://schemas.openxmlformats.org/drawingml/2006/main">
              <a:ext uri="{FF2B5EF4-FFF2-40B4-BE49-F238E27FC236}">
                <a16:creationId xmlns:a16="http://schemas.microsoft.com/office/drawing/2014/main" id="{51930EC5-E305-4917-9EB5-C71473A53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把選擇題統計與簡答題編碼分流處理，再用人工複核與一致性檢查，把 AI 變成研究助理而不是黑箱評分者。</a:t>
            </a:r>
          </a:p>
        </p:txBody>
      </p:sp>
      <p:sp>
        <p:nvSpPr>
          <p:cNvPr id="4" name="shape-1881">
            <a:extLst xmlns:a="http://schemas.openxmlformats.org/drawingml/2006/main">
              <a:ext uri="{FF2B5EF4-FFF2-40B4-BE49-F238E27FC236}">
                <a16:creationId xmlns:a16="http://schemas.microsoft.com/office/drawing/2014/main" id="{5A97EC93-0CD4-4093-B7F5-2BEBE14E3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882">
            <a:extLst xmlns:a="http://schemas.openxmlformats.org/drawingml/2006/main">
              <a:ext uri="{FF2B5EF4-FFF2-40B4-BE49-F238E27FC236}">
                <a16:creationId xmlns:a16="http://schemas.microsoft.com/office/drawing/2014/main" id="{9C3404C9-4F97-4432-9095-853F63AEC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20" name="shape-188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7" name="text-1884">
            <a:extLst xmlns:a="http://schemas.openxmlformats.org/drawingml/2006/main">
              <a:ext uri="{FF2B5EF4-FFF2-40B4-BE49-F238E27FC236}">
                <a16:creationId xmlns:a16="http://schemas.microsoft.com/office/drawing/2014/main" id="{D3F011D9-3EF9-4C41-A34E-361670E05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EADB42D-1279-419C-8D9F-CEB9E1F6E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45</a:t>
            </a:r>
          </a:p>
        </p:txBody>
      </p:sp>
      <p:sp>
        <p:nvSpPr>
          <p:cNvPr id="9" name="text-2281">
            <a:extLst xmlns:a="http://schemas.openxmlformats.org/drawingml/2006/main">
              <a:ext uri="{FF2B5EF4-FFF2-40B4-BE49-F238E27FC236}">
                <a16:creationId xmlns:a16="http://schemas.microsoft.com/office/drawing/2014/main" id="{C7A27DCF-76FC-4427-BB25-CA31C1A53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0bfee331f2041a1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50586d3c07c4696"/>
              </a:rPr>
              <a:t>Codex ↗</a:t>
            </a:r>
          </a:p>
        </p:txBody>
      </p:sp>
      <p:sp>
        <p:nvSpPr>
          <p:cNvPr id="10" name="shape-2382">
            <a:extLst xmlns:a="http://schemas.openxmlformats.org/drawingml/2006/main">
              <a:ext uri="{FF2B5EF4-FFF2-40B4-BE49-F238E27FC236}">
                <a16:creationId xmlns:a16="http://schemas.microsoft.com/office/drawing/2014/main" id="{3113FC9A-0814-484C-82A4-22179A073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b39a8db3204378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2" name="text-2383">
            <a:extLst xmlns:a="http://schemas.openxmlformats.org/drawingml/2006/main">
              <a:ext uri="{FF2B5EF4-FFF2-40B4-BE49-F238E27FC236}">
                <a16:creationId xmlns:a16="http://schemas.microsoft.com/office/drawing/2014/main" id="{D93FDD67-DF4F-44E5-B75C-AEA98A123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a702bfca1d4ddb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4" name="text-2384">
            <a:extLst xmlns:a="http://schemas.openxmlformats.org/drawingml/2006/main">
              <a:ext uri="{FF2B5EF4-FFF2-40B4-BE49-F238E27FC236}">
                <a16:creationId xmlns:a16="http://schemas.microsoft.com/office/drawing/2014/main" id="{0FA16555-A76D-46A4-B9A7-63F206C8E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66235611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1885">
            <a:extLst xmlns:a="http://schemas.openxmlformats.org/drawingml/2006/main">
              <a:ext uri="{FF2B5EF4-FFF2-40B4-BE49-F238E27FC236}">
                <a16:creationId xmlns:a16="http://schemas.microsoft.com/office/drawing/2014/main" id="{6F3D393F-612B-4692-B9F3-97B961842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TWO DATA LANES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B5F0740-5F9F-4CB3-A192-18636B858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先分流：選擇題算表現，簡答題讀理解證據</a:t>
            </a:r>
          </a:p>
        </p:txBody>
      </p:sp>
      <p:cxnSp>
        <p:nvCxnSpPr>
          <p:cNvPr id="31" name="shape-188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887">
            <a:extLst xmlns:a="http://schemas.openxmlformats.org/drawingml/2006/main">
              <a:ext uri="{FF2B5EF4-FFF2-40B4-BE49-F238E27FC236}">
                <a16:creationId xmlns:a16="http://schemas.microsoft.com/office/drawing/2014/main" id="{E901B1CE-7CD9-4E10-8282-B170A54C3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BCD7EDD-4579-4609-B3A3-06694D0B8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46</a:t>
            </a:r>
          </a:p>
        </p:txBody>
      </p:sp>
      <p:sp>
        <p:nvSpPr>
          <p:cNvPr id="6" name="shape-1888">
            <a:extLst xmlns:a="http://schemas.openxmlformats.org/drawingml/2006/main">
              <a:ext uri="{FF2B5EF4-FFF2-40B4-BE49-F238E27FC236}">
                <a16:creationId xmlns:a16="http://schemas.microsoft.com/office/drawing/2014/main" id="{19CB3E86-F8F1-48D7-B428-AF69911EC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889">
            <a:extLst xmlns:a="http://schemas.openxmlformats.org/drawingml/2006/main">
              <a:ext uri="{FF2B5EF4-FFF2-40B4-BE49-F238E27FC236}">
                <a16:creationId xmlns:a16="http://schemas.microsoft.com/office/drawing/2014/main" id="{FD1C119C-3D9E-4307-9579-72A5647FD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8" name="text-1890">
            <a:extLst xmlns:a="http://schemas.openxmlformats.org/drawingml/2006/main">
              <a:ext uri="{FF2B5EF4-FFF2-40B4-BE49-F238E27FC236}">
                <a16:creationId xmlns:a16="http://schemas.microsoft.com/office/drawing/2014/main" id="{0B003EAA-B775-40C1-85A8-5B2B1B9D1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選擇題／結構化資料</a:t>
            </a:r>
          </a:p>
        </p:txBody>
      </p:sp>
      <p:sp>
        <p:nvSpPr>
          <p:cNvPr id="9" name="text-1891">
            <a:extLst xmlns:a="http://schemas.openxmlformats.org/drawingml/2006/main">
              <a:ext uri="{FF2B5EF4-FFF2-40B4-BE49-F238E27FC236}">
                <a16:creationId xmlns:a16="http://schemas.microsoft.com/office/drawing/2014/main" id="{FEE7CD24-FC50-4B5E-B51A-72079F4EF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答案鍵比對與缺漏檢查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全班、分組與題目答對率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干擾選項分布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異常值與資料品質標記</a:t>
            </a:r>
          </a:p>
        </p:txBody>
      </p:sp>
      <p:sp>
        <p:nvSpPr>
          <p:cNvPr id="10" name="text-1892">
            <a:extLst xmlns:a="http://schemas.openxmlformats.org/drawingml/2006/main">
              <a:ext uri="{FF2B5EF4-FFF2-40B4-BE49-F238E27FC236}">
                <a16:creationId xmlns:a16="http://schemas.microsoft.com/office/drawing/2014/main" id="{0C76B57E-2A2A-4092-B981-2B3AA8E2E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簡答題／文字資料</a:t>
            </a:r>
          </a:p>
        </p:txBody>
      </p:sp>
      <p:sp>
        <p:nvSpPr>
          <p:cNvPr id="11" name="text-1893">
            <a:extLst xmlns:a="http://schemas.openxmlformats.org/drawingml/2006/main">
              <a:ext uri="{FF2B5EF4-FFF2-40B4-BE49-F238E27FC236}">
                <a16:creationId xmlns:a16="http://schemas.microsoft.com/office/drawing/2014/main" id="{FA68C9FA-37EA-47BC-96F1-55ED02E2A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先定義逐題編碼規準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保留支持編碼的文字證據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AI 初編＋信心與待複核旗標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人工獨立抽查與處理歧異</a:t>
            </a:r>
          </a:p>
        </p:txBody>
      </p:sp>
      <p:sp>
        <p:nvSpPr>
          <p:cNvPr id="12" name="text-1894">
            <a:extLst xmlns:a="http://schemas.openxmlformats.org/drawingml/2006/main">
              <a:ext uri="{FF2B5EF4-FFF2-40B4-BE49-F238E27FC236}">
                <a16:creationId xmlns:a16="http://schemas.microsoft.com/office/drawing/2014/main" id="{C82E9048-DCC3-4608-BFAA-D6FA0E4EB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答案鍵</a:t>
            </a:r>
          </a:p>
        </p:txBody>
      </p:sp>
      <p:sp>
        <p:nvSpPr>
          <p:cNvPr id="13" name="text-1895">
            <a:extLst xmlns:a="http://schemas.openxmlformats.org/drawingml/2006/main">
              <a:ext uri="{FF2B5EF4-FFF2-40B4-BE49-F238E27FC236}">
                <a16:creationId xmlns:a16="http://schemas.microsoft.com/office/drawing/2014/main" id="{4825ECFB-F77A-4ED0-886F-9D5EF89E9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統計</a:t>
            </a:r>
          </a:p>
        </p:txBody>
      </p:sp>
      <p:sp>
        <p:nvSpPr>
          <p:cNvPr id="14" name="text-1896">
            <a:extLst xmlns:a="http://schemas.openxmlformats.org/drawingml/2006/main">
              <a:ext uri="{FF2B5EF4-FFF2-40B4-BE49-F238E27FC236}">
                <a16:creationId xmlns:a16="http://schemas.microsoft.com/office/drawing/2014/main" id="{4455981C-FB82-4539-ABA9-91DD6F4A7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群體趨勢</a:t>
            </a:r>
          </a:p>
        </p:txBody>
      </p:sp>
      <p:cxnSp>
        <p:nvCxnSpPr>
          <p:cNvPr id="43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20383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B64DA"/>
            </a:solidFill>
            <a:prstDash val="solid"/>
            <a:tailEnd type="arrow" w="sm" len="sm"/>
          </a:ln>
        </p:spPr>
      </p:cxnSp>
      <p:cxnSp>
        <p:nvCxnSpPr>
          <p:cNvPr id="44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35623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B64DA"/>
            </a:solidFill>
            <a:prstDash val="solid"/>
            <a:tailEnd type="arrow" w="sm" len="sm"/>
          </a:ln>
        </p:spPr>
      </p:cxnSp>
      <p:sp>
        <p:nvSpPr>
          <p:cNvPr id="17" name="text-1897">
            <a:extLst xmlns:a="http://schemas.openxmlformats.org/drawingml/2006/main">
              <a:ext uri="{FF2B5EF4-FFF2-40B4-BE49-F238E27FC236}">
                <a16:creationId xmlns:a16="http://schemas.microsoft.com/office/drawing/2014/main" id="{928EF37F-EF32-4742-9B7B-1A351239B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編碼規準</a:t>
            </a:r>
          </a:p>
        </p:txBody>
      </p:sp>
      <p:sp>
        <p:nvSpPr>
          <p:cNvPr id="18" name="text-1898">
            <a:extLst xmlns:a="http://schemas.openxmlformats.org/drawingml/2006/main">
              <a:ext uri="{FF2B5EF4-FFF2-40B4-BE49-F238E27FC236}">
                <a16:creationId xmlns:a16="http://schemas.microsoft.com/office/drawing/2014/main" id="{6399833D-219E-4E22-AA83-DF7B97304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EECE7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AI 初編</a:t>
            </a:r>
          </a:p>
        </p:txBody>
      </p:sp>
      <p:sp>
        <p:nvSpPr>
          <p:cNvPr id="19" name="text-1899">
            <a:extLst xmlns:a="http://schemas.openxmlformats.org/drawingml/2006/main">
              <a:ext uri="{FF2B5EF4-FFF2-40B4-BE49-F238E27FC236}">
                <a16:creationId xmlns:a16="http://schemas.microsoft.com/office/drawing/2014/main" id="{10491700-9F3D-4A63-8CF1-6764FCA25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人工複核</a:t>
            </a:r>
          </a:p>
        </p:txBody>
      </p:sp>
      <p:cxnSp>
        <p:nvCxnSpPr>
          <p:cNvPr id="48" name=""/>
          <p:cNvCxnSpPr>
            <a:stCxn xmlns:a="http://schemas.openxmlformats.org/drawingml/2006/main" id="17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76771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9F94"/>
            </a:solidFill>
            <a:prstDash val="solid"/>
            <a:tailEnd type="arrow" w="sm" len="sm"/>
          </a:ln>
        </p:spPr>
      </p:cxnSp>
      <p:cxnSp>
        <p:nvCxnSpPr>
          <p:cNvPr id="49" name=""/>
          <p:cNvCxnSpPr>
            <a:stCxn xmlns:a="http://schemas.openxmlformats.org/drawingml/2006/main" id="18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92011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6B4A"/>
            </a:solidFill>
            <a:prstDash val="solid"/>
            <a:tailEnd type="arrow" w="sm" len="sm"/>
          </a:ln>
        </p:spPr>
      </p:cxnSp>
      <p:sp>
        <p:nvSpPr>
          <p:cNvPr id="22" name="text-1900">
            <a:extLst xmlns:a="http://schemas.openxmlformats.org/drawingml/2006/main">
              <a:ext uri="{FF2B5EF4-FFF2-40B4-BE49-F238E27FC236}">
                <a16:creationId xmlns:a16="http://schemas.microsoft.com/office/drawing/2014/main" id="{89642CBD-F4E9-4327-8F1C-5526CE59B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562600"/>
            <a:ext cx="914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兩條資料流，最後在報告層匯合；不要用同一套規則硬套</a:t>
            </a:r>
          </a:p>
        </p:txBody>
      </p:sp>
      <p:sp>
        <p:nvSpPr>
          <p:cNvPr id="23" name="text-2282">
            <a:extLst xmlns:a="http://schemas.openxmlformats.org/drawingml/2006/main">
              <a:ext uri="{FF2B5EF4-FFF2-40B4-BE49-F238E27FC236}">
                <a16:creationId xmlns:a16="http://schemas.microsoft.com/office/drawing/2014/main" id="{862256E1-3352-485D-A14A-7F5AA9E30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817eb2bdbe2451e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ac19c420c37475b"/>
              </a:rPr>
              <a:t>Codex ↗</a:t>
            </a:r>
          </a:p>
        </p:txBody>
      </p:sp>
      <p:sp>
        <p:nvSpPr>
          <p:cNvPr id="24" name="shape-2385">
            <a:extLst xmlns:a="http://schemas.openxmlformats.org/drawingml/2006/main">
              <a:ext uri="{FF2B5EF4-FFF2-40B4-BE49-F238E27FC236}">
                <a16:creationId xmlns:a16="http://schemas.microsoft.com/office/drawing/2014/main" id="{8542A68B-2AD8-4120-9F22-B73DDA74F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5b0e02463a43bf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6" name="text-2386">
            <a:extLst xmlns:a="http://schemas.openxmlformats.org/drawingml/2006/main">
              <a:ext uri="{FF2B5EF4-FFF2-40B4-BE49-F238E27FC236}">
                <a16:creationId xmlns:a16="http://schemas.microsoft.com/office/drawing/2014/main" id="{7BFAF126-4AEC-4D74-9767-765129C50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d00d20f7e44f4f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8" name="text-2387">
            <a:extLst xmlns:a="http://schemas.openxmlformats.org/drawingml/2006/main">
              <a:ext uri="{FF2B5EF4-FFF2-40B4-BE49-F238E27FC236}">
                <a16:creationId xmlns:a16="http://schemas.microsoft.com/office/drawing/2014/main" id="{C971A4F9-C787-4803-8BB6-5A8D6A8D1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429635746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text-1901">
            <a:extLst xmlns:a="http://schemas.openxmlformats.org/drawingml/2006/main">
              <a:ext uri="{FF2B5EF4-FFF2-40B4-BE49-F238E27FC236}">
                <a16:creationId xmlns:a16="http://schemas.microsoft.com/office/drawing/2014/main" id="{499F5409-9CA9-49FA-9DA8-873AA2C10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EVIDENCE PIPELINE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C4F0BB5-B1FD-4953-92AD-779AD88C0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七步研究流程：從原始資料到可追查報告</a:t>
            </a:r>
          </a:p>
        </p:txBody>
      </p:sp>
      <p:cxnSp>
        <p:nvCxnSpPr>
          <p:cNvPr id="56" name="shape-190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903">
            <a:extLst xmlns:a="http://schemas.openxmlformats.org/drawingml/2006/main">
              <a:ext uri="{FF2B5EF4-FFF2-40B4-BE49-F238E27FC236}">
                <a16:creationId xmlns:a16="http://schemas.microsoft.com/office/drawing/2014/main" id="{7FFD91FA-EA30-40E3-91E0-38C390B16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B37DFCE-B259-4247-9BD8-6383A705C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47</a:t>
            </a:r>
          </a:p>
        </p:txBody>
      </p:sp>
      <p:sp>
        <p:nvSpPr>
          <p:cNvPr id="6" name="shape-1904">
            <a:extLst xmlns:a="http://schemas.openxmlformats.org/drawingml/2006/main">
              <a:ext uri="{FF2B5EF4-FFF2-40B4-BE49-F238E27FC236}">
                <a16:creationId xmlns:a16="http://schemas.microsoft.com/office/drawing/2014/main" id="{82D2A8A6-3186-401F-AE59-8AB76DD1E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905">
            <a:extLst xmlns:a="http://schemas.openxmlformats.org/drawingml/2006/main">
              <a:ext uri="{FF2B5EF4-FFF2-40B4-BE49-F238E27FC236}">
                <a16:creationId xmlns:a16="http://schemas.microsoft.com/office/drawing/2014/main" id="{ADF7B426-B2B9-4919-BA66-1FB07164A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906">
            <a:extLst xmlns:a="http://schemas.openxmlformats.org/drawingml/2006/main">
              <a:ext uri="{FF2B5EF4-FFF2-40B4-BE49-F238E27FC236}">
                <a16:creationId xmlns:a16="http://schemas.microsoft.com/office/drawing/2014/main" id="{24EE8F7E-4018-4381-931D-B0560A1D5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907">
            <a:extLst xmlns:a="http://schemas.openxmlformats.org/drawingml/2006/main">
              <a:ext uri="{FF2B5EF4-FFF2-40B4-BE49-F238E27FC236}">
                <a16:creationId xmlns:a16="http://schemas.microsoft.com/office/drawing/2014/main" id="{B84809C3-F8B7-43C1-B24E-7A3C05C3F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去識別</a:t>
            </a:r>
          </a:p>
        </p:txBody>
      </p:sp>
      <p:sp>
        <p:nvSpPr>
          <p:cNvPr id="10" name="text-1908">
            <a:extLst xmlns:a="http://schemas.openxmlformats.org/drawingml/2006/main">
              <a:ext uri="{FF2B5EF4-FFF2-40B4-BE49-F238E27FC236}">
                <a16:creationId xmlns:a16="http://schemas.microsoft.com/office/drawing/2014/main" id="{22438667-9FF1-4A04-9DDD-DC9746450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移除姓名與直接識別欄位</a:t>
            </a:r>
          </a:p>
        </p:txBody>
      </p:sp>
      <p:sp>
        <p:nvSpPr>
          <p:cNvPr id="11" name="text-1909">
            <a:extLst xmlns:a="http://schemas.openxmlformats.org/drawingml/2006/main">
              <a:ext uri="{FF2B5EF4-FFF2-40B4-BE49-F238E27FC236}">
                <a16:creationId xmlns:a16="http://schemas.microsoft.com/office/drawing/2014/main" id="{8F345283-8E30-4A55-AAF4-19954DA62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910">
            <a:extLst xmlns:a="http://schemas.openxmlformats.org/drawingml/2006/main">
              <a:ext uri="{FF2B5EF4-FFF2-40B4-BE49-F238E27FC236}">
                <a16:creationId xmlns:a16="http://schemas.microsoft.com/office/drawing/2014/main" id="{AE4EE7FA-0210-4527-90D2-274159EF0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3" name="shape-1911">
            <a:extLst xmlns:a="http://schemas.openxmlformats.org/drawingml/2006/main">
              <a:ext uri="{FF2B5EF4-FFF2-40B4-BE49-F238E27FC236}">
                <a16:creationId xmlns:a16="http://schemas.microsoft.com/office/drawing/2014/main" id="{32FAA18D-ED75-4FCF-BD74-708EC19AF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912">
            <a:extLst xmlns:a="http://schemas.openxmlformats.org/drawingml/2006/main">
              <a:ext uri="{FF2B5EF4-FFF2-40B4-BE49-F238E27FC236}">
                <a16:creationId xmlns:a16="http://schemas.microsoft.com/office/drawing/2014/main" id="{508825A6-7638-4451-AD36-CF6F1E9E3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913">
            <a:extLst xmlns:a="http://schemas.openxmlformats.org/drawingml/2006/main">
              <a:ext uri="{FF2B5EF4-FFF2-40B4-BE49-F238E27FC236}">
                <a16:creationId xmlns:a16="http://schemas.microsoft.com/office/drawing/2014/main" id="{0930EBCA-1F35-4E51-856C-285BADB44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資料字典</a:t>
            </a:r>
          </a:p>
        </p:txBody>
      </p:sp>
      <p:sp>
        <p:nvSpPr>
          <p:cNvPr id="16" name="text-1914">
            <a:extLst xmlns:a="http://schemas.openxmlformats.org/drawingml/2006/main">
              <a:ext uri="{FF2B5EF4-FFF2-40B4-BE49-F238E27FC236}">
                <a16:creationId xmlns:a16="http://schemas.microsoft.com/office/drawing/2014/main" id="{1E548A2F-F788-4522-BEC3-159FAA6B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欄位、答案鍵、缺失值</a:t>
            </a:r>
          </a:p>
        </p:txBody>
      </p:sp>
      <p:sp>
        <p:nvSpPr>
          <p:cNvPr id="17" name="text-1915">
            <a:extLst xmlns:a="http://schemas.openxmlformats.org/drawingml/2006/main">
              <a:ext uri="{FF2B5EF4-FFF2-40B4-BE49-F238E27FC236}">
                <a16:creationId xmlns:a16="http://schemas.microsoft.com/office/drawing/2014/main" id="{B9EBE763-0C16-4412-8937-B119C6B70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916">
            <a:extLst xmlns:a="http://schemas.openxmlformats.org/drawingml/2006/main">
              <a:ext uri="{FF2B5EF4-FFF2-40B4-BE49-F238E27FC236}">
                <a16:creationId xmlns:a16="http://schemas.microsoft.com/office/drawing/2014/main" id="{3AC17DD9-0248-4F2A-87E6-06716C9D8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shape-1917">
            <a:extLst xmlns:a="http://schemas.openxmlformats.org/drawingml/2006/main">
              <a:ext uri="{FF2B5EF4-FFF2-40B4-BE49-F238E27FC236}">
                <a16:creationId xmlns:a16="http://schemas.microsoft.com/office/drawing/2014/main" id="{73F56F27-2C05-44F5-A0C7-5BD971006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918">
            <a:extLst xmlns:a="http://schemas.openxmlformats.org/drawingml/2006/main">
              <a:ext uri="{FF2B5EF4-FFF2-40B4-BE49-F238E27FC236}">
                <a16:creationId xmlns:a16="http://schemas.microsoft.com/office/drawing/2014/main" id="{C7927FF1-4250-42E4-AFB9-2A8548433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919">
            <a:extLst xmlns:a="http://schemas.openxmlformats.org/drawingml/2006/main">
              <a:ext uri="{FF2B5EF4-FFF2-40B4-BE49-F238E27FC236}">
                <a16:creationId xmlns:a16="http://schemas.microsoft.com/office/drawing/2014/main" id="{7F1C0A3F-1A58-4B9A-A4B5-E90684C0E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品質檢查</a:t>
            </a:r>
          </a:p>
        </p:txBody>
      </p:sp>
      <p:sp>
        <p:nvSpPr>
          <p:cNvPr id="22" name="text-1920">
            <a:extLst xmlns:a="http://schemas.openxmlformats.org/drawingml/2006/main">
              <a:ext uri="{FF2B5EF4-FFF2-40B4-BE49-F238E27FC236}">
                <a16:creationId xmlns:a16="http://schemas.microsoft.com/office/drawing/2014/main" id="{95EA6372-14B2-468D-B651-63A79D21E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重複、空白、非法值</a:t>
            </a:r>
          </a:p>
        </p:txBody>
      </p:sp>
      <p:sp>
        <p:nvSpPr>
          <p:cNvPr id="23" name="text-1921">
            <a:extLst xmlns:a="http://schemas.openxmlformats.org/drawingml/2006/main">
              <a:ext uri="{FF2B5EF4-FFF2-40B4-BE49-F238E27FC236}">
                <a16:creationId xmlns:a16="http://schemas.microsoft.com/office/drawing/2014/main" id="{4C79EDDB-722C-4E91-B4F8-EAFA6ECDB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922">
            <a:extLst xmlns:a="http://schemas.openxmlformats.org/drawingml/2006/main">
              <a:ext uri="{FF2B5EF4-FFF2-40B4-BE49-F238E27FC236}">
                <a16:creationId xmlns:a16="http://schemas.microsoft.com/office/drawing/2014/main" id="{8DAE9BA6-7A66-486A-B318-BDC821A98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5" name="shape-1923">
            <a:extLst xmlns:a="http://schemas.openxmlformats.org/drawingml/2006/main">
              <a:ext uri="{FF2B5EF4-FFF2-40B4-BE49-F238E27FC236}">
                <a16:creationId xmlns:a16="http://schemas.microsoft.com/office/drawing/2014/main" id="{EAB4F387-3686-48C9-B3D8-372565202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924">
            <a:extLst xmlns:a="http://schemas.openxmlformats.org/drawingml/2006/main">
              <a:ext uri="{FF2B5EF4-FFF2-40B4-BE49-F238E27FC236}">
                <a16:creationId xmlns:a16="http://schemas.microsoft.com/office/drawing/2014/main" id="{6510A3D3-9346-4DC9-A9E5-E750489BF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925">
            <a:extLst xmlns:a="http://schemas.openxmlformats.org/drawingml/2006/main">
              <a:ext uri="{FF2B5EF4-FFF2-40B4-BE49-F238E27FC236}">
                <a16:creationId xmlns:a16="http://schemas.microsoft.com/office/drawing/2014/main" id="{7B15E3EF-81A3-4E37-B92C-B16D4F405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選擇題</a:t>
            </a:r>
          </a:p>
        </p:txBody>
      </p:sp>
      <p:sp>
        <p:nvSpPr>
          <p:cNvPr id="28" name="text-1926">
            <a:extLst xmlns:a="http://schemas.openxmlformats.org/drawingml/2006/main">
              <a:ext uri="{FF2B5EF4-FFF2-40B4-BE49-F238E27FC236}">
                <a16:creationId xmlns:a16="http://schemas.microsoft.com/office/drawing/2014/main" id="{B751F09E-A567-4CE7-A1D7-647A9ED05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答對率與選項分布</a:t>
            </a:r>
          </a:p>
        </p:txBody>
      </p:sp>
      <p:sp>
        <p:nvSpPr>
          <p:cNvPr id="29" name="text-1927">
            <a:extLst xmlns:a="http://schemas.openxmlformats.org/drawingml/2006/main">
              <a:ext uri="{FF2B5EF4-FFF2-40B4-BE49-F238E27FC236}">
                <a16:creationId xmlns:a16="http://schemas.microsoft.com/office/drawing/2014/main" id="{31E57707-7729-4891-8FB3-165B705A5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928">
            <a:extLst xmlns:a="http://schemas.openxmlformats.org/drawingml/2006/main">
              <a:ext uri="{FF2B5EF4-FFF2-40B4-BE49-F238E27FC236}">
                <a16:creationId xmlns:a16="http://schemas.microsoft.com/office/drawing/2014/main" id="{DFC7D3E4-B0A2-4D8A-9DB2-F3000F65F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31" name="shape-1929">
            <a:extLst xmlns:a="http://schemas.openxmlformats.org/drawingml/2006/main">
              <a:ext uri="{FF2B5EF4-FFF2-40B4-BE49-F238E27FC236}">
                <a16:creationId xmlns:a16="http://schemas.microsoft.com/office/drawing/2014/main" id="{45958A43-1410-4F9A-A657-A3FA45FDF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930">
            <a:extLst xmlns:a="http://schemas.openxmlformats.org/drawingml/2006/main">
              <a:ext uri="{FF2B5EF4-FFF2-40B4-BE49-F238E27FC236}">
                <a16:creationId xmlns:a16="http://schemas.microsoft.com/office/drawing/2014/main" id="{3FEC783F-4D07-4205-9C97-6AB4A097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931">
            <a:extLst xmlns:a="http://schemas.openxmlformats.org/drawingml/2006/main">
              <a:ext uri="{FF2B5EF4-FFF2-40B4-BE49-F238E27FC236}">
                <a16:creationId xmlns:a16="http://schemas.microsoft.com/office/drawing/2014/main" id="{B45934E1-487C-420F-8BA2-B3DB47E11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簡答初編</a:t>
            </a:r>
          </a:p>
        </p:txBody>
      </p:sp>
      <p:sp>
        <p:nvSpPr>
          <p:cNvPr id="34" name="text-1932">
            <a:extLst xmlns:a="http://schemas.openxmlformats.org/drawingml/2006/main">
              <a:ext uri="{FF2B5EF4-FFF2-40B4-BE49-F238E27FC236}">
                <a16:creationId xmlns:a16="http://schemas.microsoft.com/office/drawing/2014/main" id="{DE99E374-7566-4DB2-90D0-CB0078577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依規準＋文字證據</a:t>
            </a:r>
          </a:p>
        </p:txBody>
      </p:sp>
      <p:sp>
        <p:nvSpPr>
          <p:cNvPr id="35" name="text-1933">
            <a:extLst xmlns:a="http://schemas.openxmlformats.org/drawingml/2006/main">
              <a:ext uri="{FF2B5EF4-FFF2-40B4-BE49-F238E27FC236}">
                <a16:creationId xmlns:a16="http://schemas.microsoft.com/office/drawing/2014/main" id="{EF663CB1-0633-4A34-B578-FC61E533E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6" name="shape-1934">
            <a:extLst xmlns:a="http://schemas.openxmlformats.org/drawingml/2006/main">
              <a:ext uri="{FF2B5EF4-FFF2-40B4-BE49-F238E27FC236}">
                <a16:creationId xmlns:a16="http://schemas.microsoft.com/office/drawing/2014/main" id="{A229886F-6E64-4E24-A796-B6F0578FB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37" name="shape-1935">
            <a:extLst xmlns:a="http://schemas.openxmlformats.org/drawingml/2006/main">
              <a:ext uri="{FF2B5EF4-FFF2-40B4-BE49-F238E27FC236}">
                <a16:creationId xmlns:a16="http://schemas.microsoft.com/office/drawing/2014/main" id="{DC42D4E4-4454-4BE9-8626-B97B86317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text-1936">
            <a:extLst xmlns:a="http://schemas.openxmlformats.org/drawingml/2006/main">
              <a:ext uri="{FF2B5EF4-FFF2-40B4-BE49-F238E27FC236}">
                <a16:creationId xmlns:a16="http://schemas.microsoft.com/office/drawing/2014/main" id="{E650DFF9-F0E9-4449-AB0B-6C0D23A32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6</a:t>
            </a:r>
          </a:p>
        </p:txBody>
      </p:sp>
      <p:sp>
        <p:nvSpPr>
          <p:cNvPr id="39" name="text-1937">
            <a:extLst xmlns:a="http://schemas.openxmlformats.org/drawingml/2006/main">
              <a:ext uri="{FF2B5EF4-FFF2-40B4-BE49-F238E27FC236}">
                <a16:creationId xmlns:a16="http://schemas.microsoft.com/office/drawing/2014/main" id="{A32EEBA6-A1B7-41CE-BB25-57741A06F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人工複核</a:t>
            </a:r>
          </a:p>
        </p:txBody>
      </p:sp>
      <p:sp>
        <p:nvSpPr>
          <p:cNvPr id="40" name="text-1938">
            <a:extLst xmlns:a="http://schemas.openxmlformats.org/drawingml/2006/main">
              <a:ext uri="{FF2B5EF4-FFF2-40B4-BE49-F238E27FC236}">
                <a16:creationId xmlns:a16="http://schemas.microsoft.com/office/drawing/2014/main" id="{041FFD84-BD77-4607-B1F0-AF37F4295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盲評抽查與歧異討論</a:t>
            </a:r>
          </a:p>
        </p:txBody>
      </p:sp>
      <p:sp>
        <p:nvSpPr>
          <p:cNvPr id="41" name="text-1939">
            <a:extLst xmlns:a="http://schemas.openxmlformats.org/drawingml/2006/main">
              <a:ext uri="{FF2B5EF4-FFF2-40B4-BE49-F238E27FC236}">
                <a16:creationId xmlns:a16="http://schemas.microsoft.com/office/drawing/2014/main" id="{091AD65A-5196-4016-A2D9-2B0AC8A7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42" name="shape-1940">
            <a:extLst xmlns:a="http://schemas.openxmlformats.org/drawingml/2006/main">
              <a:ext uri="{FF2B5EF4-FFF2-40B4-BE49-F238E27FC236}">
                <a16:creationId xmlns:a16="http://schemas.microsoft.com/office/drawing/2014/main" id="{26FC774E-4C2A-42B0-B71E-8A04FE9AE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43" name="shape-1941">
            <a:extLst xmlns:a="http://schemas.openxmlformats.org/drawingml/2006/main">
              <a:ext uri="{FF2B5EF4-FFF2-40B4-BE49-F238E27FC236}">
                <a16:creationId xmlns:a16="http://schemas.microsoft.com/office/drawing/2014/main" id="{02AFA666-B465-4A71-B6FC-1033816D3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text-1942">
            <a:extLst xmlns:a="http://schemas.openxmlformats.org/drawingml/2006/main">
              <a:ext uri="{FF2B5EF4-FFF2-40B4-BE49-F238E27FC236}">
                <a16:creationId xmlns:a16="http://schemas.microsoft.com/office/drawing/2014/main" id="{AD27B31F-8370-4D54-A30E-5AEDC2206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7</a:t>
            </a:r>
          </a:p>
        </p:txBody>
      </p:sp>
      <p:sp>
        <p:nvSpPr>
          <p:cNvPr id="45" name="text-1943">
            <a:extLst xmlns:a="http://schemas.openxmlformats.org/drawingml/2006/main">
              <a:ext uri="{FF2B5EF4-FFF2-40B4-BE49-F238E27FC236}">
                <a16:creationId xmlns:a16="http://schemas.microsoft.com/office/drawing/2014/main" id="{DA790986-3D2C-48ED-9DE5-738116A6E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彙整報告</a:t>
            </a:r>
          </a:p>
        </p:txBody>
      </p:sp>
      <p:sp>
        <p:nvSpPr>
          <p:cNvPr id="46" name="text-1944">
            <a:extLst xmlns:a="http://schemas.openxmlformats.org/drawingml/2006/main">
              <a:ext uri="{FF2B5EF4-FFF2-40B4-BE49-F238E27FC236}">
                <a16:creationId xmlns:a16="http://schemas.microsoft.com/office/drawing/2014/main" id="{A87C6833-89B7-4EFC-BB3C-9D9722E13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群體趨勢、限制、未確認</a:t>
            </a:r>
          </a:p>
        </p:txBody>
      </p:sp>
      <p:sp>
        <p:nvSpPr>
          <p:cNvPr id="47" name="text-1945">
            <a:extLst xmlns:a="http://schemas.openxmlformats.org/drawingml/2006/main">
              <a:ext uri="{FF2B5EF4-FFF2-40B4-BE49-F238E27FC236}">
                <a16:creationId xmlns:a16="http://schemas.microsoft.com/office/drawing/2014/main" id="{82D13C19-0251-4168-B465-ABF9A1E1F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48" name="text-2283">
            <a:extLst xmlns:a="http://schemas.openxmlformats.org/drawingml/2006/main">
              <a:ext uri="{FF2B5EF4-FFF2-40B4-BE49-F238E27FC236}">
                <a16:creationId xmlns:a16="http://schemas.microsoft.com/office/drawing/2014/main" id="{58AFDBE5-BF27-49DD-A2D2-FB02D6BAD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59a95791d3b4c76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419bdcf854246e1"/>
              </a:rPr>
              <a:t>Codex ↗</a:t>
            </a:r>
          </a:p>
        </p:txBody>
      </p:sp>
      <p:sp>
        <p:nvSpPr>
          <p:cNvPr id="49" name="shape-2388">
            <a:extLst xmlns:a="http://schemas.openxmlformats.org/drawingml/2006/main">
              <a:ext uri="{FF2B5EF4-FFF2-40B4-BE49-F238E27FC236}">
                <a16:creationId xmlns:a16="http://schemas.microsoft.com/office/drawing/2014/main" id="{F4AD491F-34D7-4714-9B7D-1F4A87C40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e251b211364aec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51" name="text-2389">
            <a:extLst xmlns:a="http://schemas.openxmlformats.org/drawingml/2006/main">
              <a:ext uri="{FF2B5EF4-FFF2-40B4-BE49-F238E27FC236}">
                <a16:creationId xmlns:a16="http://schemas.microsoft.com/office/drawing/2014/main" id="{1EDD2FE9-A099-4C6B-8CA8-32F44BC8D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10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4ee38605ab42df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53" name="text-2390">
            <a:extLst xmlns:a="http://schemas.openxmlformats.org/drawingml/2006/main">
              <a:ext uri="{FF2B5EF4-FFF2-40B4-BE49-F238E27FC236}">
                <a16:creationId xmlns:a16="http://schemas.microsoft.com/office/drawing/2014/main" id="{58568712-7E15-49AC-ACF8-97F75BE98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458853516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946">
            <a:extLst xmlns:a="http://schemas.openxmlformats.org/drawingml/2006/main">
              <a:ext uri="{FF2B5EF4-FFF2-40B4-BE49-F238E27FC236}">
                <a16:creationId xmlns:a16="http://schemas.microsoft.com/office/drawing/2014/main" id="{056A6B83-B475-4A0D-9EE3-7B4879C3A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HUMAN-SCORED · AI PARALLEL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8C6591B-E1AF-460D-BF50-E99C6FBBC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AI 初編不等於正式評分：PIRLS 2026 給我們的訊號</a:t>
            </a:r>
          </a:p>
        </p:txBody>
      </p:sp>
      <p:cxnSp>
        <p:nvCxnSpPr>
          <p:cNvPr id="30" name="shape-194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948">
            <a:extLst xmlns:a="http://schemas.openxmlformats.org/drawingml/2006/main">
              <a:ext uri="{FF2B5EF4-FFF2-40B4-BE49-F238E27FC236}">
                <a16:creationId xmlns:a16="http://schemas.microsoft.com/office/drawing/2014/main" id="{FC00AABA-BAD1-4549-878E-BF5973C49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DD3CF9F-5640-413A-AC9D-34A989E6E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48</a:t>
            </a:r>
          </a:p>
        </p:txBody>
      </p:sp>
      <p:sp>
        <p:nvSpPr>
          <p:cNvPr id="6" name="shape-1949">
            <a:extLst xmlns:a="http://schemas.openxmlformats.org/drawingml/2006/main">
              <a:ext uri="{FF2B5EF4-FFF2-40B4-BE49-F238E27FC236}">
                <a16:creationId xmlns:a16="http://schemas.microsoft.com/office/drawing/2014/main" id="{E734E2FF-87E5-4282-9CC4-C902D321B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950">
            <a:extLst xmlns:a="http://schemas.openxmlformats.org/drawingml/2006/main">
              <a:ext uri="{FF2B5EF4-FFF2-40B4-BE49-F238E27FC236}">
                <a16:creationId xmlns:a16="http://schemas.microsoft.com/office/drawing/2014/main" id="{A235EAD0-727B-4437-8F95-BCEBCBBF7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H</a:t>
            </a:r>
          </a:p>
        </p:txBody>
      </p:sp>
      <p:sp>
        <p:nvSpPr>
          <p:cNvPr id="8" name="text-1951">
            <a:extLst xmlns:a="http://schemas.openxmlformats.org/drawingml/2006/main">
              <a:ext uri="{FF2B5EF4-FFF2-40B4-BE49-F238E27FC236}">
                <a16:creationId xmlns:a16="http://schemas.microsoft.com/office/drawing/2014/main" id="{EC064A1B-D41B-4702-A0A4-A288BE0EB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人工仍是主流程</a:t>
            </a:r>
          </a:p>
        </p:txBody>
      </p:sp>
      <p:sp>
        <p:nvSpPr>
          <p:cNvPr id="9" name="text-1952">
            <a:extLst xmlns:a="http://schemas.openxmlformats.org/drawingml/2006/main">
              <a:ext uri="{FF2B5EF4-FFF2-40B4-BE49-F238E27FC236}">
                <a16:creationId xmlns:a16="http://schemas.microsoft.com/office/drawing/2014/main" id="{3320E172-FD23-4493-8BEE-1709D0606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PIRLS 2026 的 constructed-response 項目規劃由各國人工評分。</a:t>
            </a:r>
          </a:p>
        </p:txBody>
      </p:sp>
      <p:sp>
        <p:nvSpPr>
          <p:cNvPr id="10" name="shape-1953">
            <a:extLst xmlns:a="http://schemas.openxmlformats.org/drawingml/2006/main">
              <a:ext uri="{FF2B5EF4-FFF2-40B4-BE49-F238E27FC236}">
                <a16:creationId xmlns:a16="http://schemas.microsoft.com/office/drawing/2014/main" id="{6053562E-0B2D-4F5E-BCEB-F88B04491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954">
            <a:extLst xmlns:a="http://schemas.openxmlformats.org/drawingml/2006/main">
              <a:ext uri="{FF2B5EF4-FFF2-40B4-BE49-F238E27FC236}">
                <a16:creationId xmlns:a16="http://schemas.microsoft.com/office/drawing/2014/main" id="{5B777AEC-434C-4EEF-8B2C-F032A4DAC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AI</a:t>
            </a:r>
          </a:p>
        </p:txBody>
      </p:sp>
      <p:sp>
        <p:nvSpPr>
          <p:cNvPr id="12" name="text-1955">
            <a:extLst xmlns:a="http://schemas.openxmlformats.org/drawingml/2006/main">
              <a:ext uri="{FF2B5EF4-FFF2-40B4-BE49-F238E27FC236}">
                <a16:creationId xmlns:a16="http://schemas.microsoft.com/office/drawing/2014/main" id="{83705730-7CCC-42D6-B0C5-D037FCF44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AI 平行研究</a:t>
            </a:r>
          </a:p>
        </p:txBody>
      </p:sp>
      <p:sp>
        <p:nvSpPr>
          <p:cNvPr id="13" name="text-1956">
            <a:extLst xmlns:a="http://schemas.openxmlformats.org/drawingml/2006/main">
              <a:ext uri="{FF2B5EF4-FFF2-40B4-BE49-F238E27FC236}">
                <a16:creationId xmlns:a16="http://schemas.microsoft.com/office/drawing/2014/main" id="{3CF9A6E9-513C-4C4B-8D00-6234B8144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其中 40% 題目規劃同步以 LLM／NLP 方法進行平行評分研究。</a:t>
            </a:r>
          </a:p>
        </p:txBody>
      </p:sp>
      <p:sp>
        <p:nvSpPr>
          <p:cNvPr id="14" name="shape-1957">
            <a:extLst xmlns:a="http://schemas.openxmlformats.org/drawingml/2006/main">
              <a:ext uri="{FF2B5EF4-FFF2-40B4-BE49-F238E27FC236}">
                <a16:creationId xmlns:a16="http://schemas.microsoft.com/office/drawing/2014/main" id="{6153F41F-247C-4E5E-AC27-942CC340D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958">
            <a:extLst xmlns:a="http://schemas.openxmlformats.org/drawingml/2006/main">
              <a:ext uri="{FF2B5EF4-FFF2-40B4-BE49-F238E27FC236}">
                <a16:creationId xmlns:a16="http://schemas.microsoft.com/office/drawing/2014/main" id="{6ECBB8F3-56C1-49FD-9114-03C0CBCC3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Q</a:t>
            </a:r>
          </a:p>
        </p:txBody>
      </p:sp>
      <p:sp>
        <p:nvSpPr>
          <p:cNvPr id="16" name="text-1959">
            <a:extLst xmlns:a="http://schemas.openxmlformats.org/drawingml/2006/main">
              <a:ext uri="{FF2B5EF4-FFF2-40B4-BE49-F238E27FC236}">
                <a16:creationId xmlns:a16="http://schemas.microsoft.com/office/drawing/2014/main" id="{76077EB5-6C76-431A-A1F3-F06220E8F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不是只看準確率</a:t>
            </a:r>
          </a:p>
        </p:txBody>
      </p:sp>
      <p:sp>
        <p:nvSpPr>
          <p:cNvPr id="17" name="text-1960">
            <a:extLst xmlns:a="http://schemas.openxmlformats.org/drawingml/2006/main">
              <a:ext uri="{FF2B5EF4-FFF2-40B4-BE49-F238E27FC236}">
                <a16:creationId xmlns:a16="http://schemas.microsoft.com/office/drawing/2014/main" id="{901212B1-9C07-46B7-97F8-78AAECF80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還要關注資料隱私、安全、跨國與跨語言一致性。</a:t>
            </a:r>
          </a:p>
        </p:txBody>
      </p:sp>
      <p:sp>
        <p:nvSpPr>
          <p:cNvPr id="18" name="shape-1961">
            <a:extLst xmlns:a="http://schemas.openxmlformats.org/drawingml/2006/main">
              <a:ext uri="{FF2B5EF4-FFF2-40B4-BE49-F238E27FC236}">
                <a16:creationId xmlns:a16="http://schemas.microsoft.com/office/drawing/2014/main" id="{51F2A808-A692-43CE-90BF-5D3A9986D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962">
            <a:extLst xmlns:a="http://schemas.openxmlformats.org/drawingml/2006/main">
              <a:ext uri="{FF2B5EF4-FFF2-40B4-BE49-F238E27FC236}">
                <a16:creationId xmlns:a16="http://schemas.microsoft.com/office/drawing/2014/main" id="{69885EA2-3C39-4803-BC3D-C84779B79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I</a:t>
            </a:r>
          </a:p>
        </p:txBody>
      </p:sp>
      <p:sp>
        <p:nvSpPr>
          <p:cNvPr id="20" name="text-1963">
            <a:extLst xmlns:a="http://schemas.openxmlformats.org/drawingml/2006/main">
              <a:ext uri="{FF2B5EF4-FFF2-40B4-BE49-F238E27FC236}">
                <a16:creationId xmlns:a16="http://schemas.microsoft.com/office/drawing/2014/main" id="{7A2D363A-607A-46AE-A220-628F34AC8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逐題評估</a:t>
            </a:r>
          </a:p>
        </p:txBody>
      </p:sp>
      <p:sp>
        <p:nvSpPr>
          <p:cNvPr id="21" name="text-1964">
            <a:extLst xmlns:a="http://schemas.openxmlformats.org/drawingml/2006/main">
              <a:ext uri="{FF2B5EF4-FFF2-40B4-BE49-F238E27FC236}">
                <a16:creationId xmlns:a16="http://schemas.microsoft.com/office/drawing/2014/main" id="{142C8C24-BE6D-46FC-8975-F33A26C68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自動評分效果會依題目、語言與回答型態而變，需逐題驗證。</a:t>
            </a:r>
          </a:p>
        </p:txBody>
      </p:sp>
      <p:sp>
        <p:nvSpPr>
          <p:cNvPr id="22" name="text-2284">
            <a:extLst xmlns:a="http://schemas.openxmlformats.org/drawingml/2006/main">
              <a:ext uri="{FF2B5EF4-FFF2-40B4-BE49-F238E27FC236}">
                <a16:creationId xmlns:a16="http://schemas.microsoft.com/office/drawing/2014/main" id="{E8E002CC-62B1-44EC-938A-E507E4767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2aa3b9690d8498f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37c9843ef7a4008"/>
              </a:rPr>
              <a:t>Codex ↗</a:t>
            </a:r>
          </a:p>
        </p:txBody>
      </p:sp>
      <p:sp>
        <p:nvSpPr>
          <p:cNvPr id="23" name="shape-2391">
            <a:extLst xmlns:a="http://schemas.openxmlformats.org/drawingml/2006/main">
              <a:ext uri="{FF2B5EF4-FFF2-40B4-BE49-F238E27FC236}">
                <a16:creationId xmlns:a16="http://schemas.microsoft.com/office/drawing/2014/main" id="{A55E45C7-39AD-493E-8E66-D6D38EB83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7b4fdb5acc4478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2392">
            <a:extLst xmlns:a="http://schemas.openxmlformats.org/drawingml/2006/main">
              <a:ext uri="{FF2B5EF4-FFF2-40B4-BE49-F238E27FC236}">
                <a16:creationId xmlns:a16="http://schemas.microsoft.com/office/drawing/2014/main" id="{0F41DA8F-C39F-4D7D-9A2A-317EA6421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25b2ee4e704038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2393">
            <a:extLst xmlns:a="http://schemas.openxmlformats.org/drawingml/2006/main">
              <a:ext uri="{FF2B5EF4-FFF2-40B4-BE49-F238E27FC236}">
                <a16:creationId xmlns:a16="http://schemas.microsoft.com/office/drawing/2014/main" id="{25706329-72AF-4232-88D1-A3DB6C181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280094655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965">
            <a:extLst xmlns:a="http://schemas.openxmlformats.org/drawingml/2006/main">
              <a:ext uri="{FF2B5EF4-FFF2-40B4-BE49-F238E27FC236}">
                <a16:creationId xmlns:a16="http://schemas.microsoft.com/office/drawing/2014/main" id="{14CB03F8-6121-4244-BE4B-A96DC33E3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DATA &amp; CODING QUALITY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F2A9753-13E1-4F02-AC36-BF05E8F4F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報告前的四項品質檢核</a:t>
            </a:r>
          </a:p>
        </p:txBody>
      </p:sp>
      <p:cxnSp>
        <p:nvCxnSpPr>
          <p:cNvPr id="38" name="shape-196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967">
            <a:extLst xmlns:a="http://schemas.openxmlformats.org/drawingml/2006/main">
              <a:ext uri="{FF2B5EF4-FFF2-40B4-BE49-F238E27FC236}">
                <a16:creationId xmlns:a16="http://schemas.microsoft.com/office/drawing/2014/main" id="{EEB811F4-4132-4357-BC06-3B3D72CA4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2E7D34D-63F9-4B2D-A799-FA1AC6C8A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49</a:t>
            </a:r>
          </a:p>
        </p:txBody>
      </p:sp>
      <p:sp>
        <p:nvSpPr>
          <p:cNvPr id="6" name="shape-1968">
            <a:extLst xmlns:a="http://schemas.openxmlformats.org/drawingml/2006/main">
              <a:ext uri="{FF2B5EF4-FFF2-40B4-BE49-F238E27FC236}">
                <a16:creationId xmlns:a16="http://schemas.microsoft.com/office/drawing/2014/main" id="{24B34E66-0964-46E6-A954-DBDB73966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969">
            <a:extLst xmlns:a="http://schemas.openxmlformats.org/drawingml/2006/main">
              <a:ext uri="{FF2B5EF4-FFF2-40B4-BE49-F238E27FC236}">
                <a16:creationId xmlns:a16="http://schemas.microsoft.com/office/drawing/2014/main" id="{C19CA730-8918-4A04-942A-4866D8B17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970">
            <a:extLst xmlns:a="http://schemas.openxmlformats.org/drawingml/2006/main">
              <a:ext uri="{FF2B5EF4-FFF2-40B4-BE49-F238E27FC236}">
                <a16:creationId xmlns:a16="http://schemas.microsoft.com/office/drawing/2014/main" id="{030DA5F4-291F-4078-8D04-7CE9EFF42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資料完整性</a:t>
            </a:r>
          </a:p>
        </p:txBody>
      </p:sp>
      <p:sp>
        <p:nvSpPr>
          <p:cNvPr id="9" name="text-1971">
            <a:extLst xmlns:a="http://schemas.openxmlformats.org/drawingml/2006/main">
              <a:ext uri="{FF2B5EF4-FFF2-40B4-BE49-F238E27FC236}">
                <a16:creationId xmlns:a16="http://schemas.microsoft.com/office/drawing/2014/main" id="{F5F9F555-936C-4F81-B94D-10089F9C7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列出缺漏、重複、非法選項與無法解析的文字，不要自動補答案。</a:t>
            </a:r>
          </a:p>
        </p:txBody>
      </p:sp>
      <p:sp>
        <p:nvSpPr>
          <p:cNvPr id="10" name="shape-1972">
            <a:extLst xmlns:a="http://schemas.openxmlformats.org/drawingml/2006/main">
              <a:ext uri="{FF2B5EF4-FFF2-40B4-BE49-F238E27FC236}">
                <a16:creationId xmlns:a16="http://schemas.microsoft.com/office/drawing/2014/main" id="{DF0463C7-B520-4CC3-A8DF-46DAC36A8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973">
            <a:extLst xmlns:a="http://schemas.openxmlformats.org/drawingml/2006/main">
              <a:ext uri="{FF2B5EF4-FFF2-40B4-BE49-F238E27FC236}">
                <a16:creationId xmlns:a16="http://schemas.microsoft.com/office/drawing/2014/main" id="{2DFCB6BE-04E3-4BFB-8EDF-AFACC8D54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974">
            <a:extLst xmlns:a="http://schemas.openxmlformats.org/drawingml/2006/main">
              <a:ext uri="{FF2B5EF4-FFF2-40B4-BE49-F238E27FC236}">
                <a16:creationId xmlns:a16="http://schemas.microsoft.com/office/drawing/2014/main" id="{8162EF08-C107-4FA7-985B-288C72D5B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逐題可追查</a:t>
            </a:r>
          </a:p>
        </p:txBody>
      </p:sp>
      <p:sp>
        <p:nvSpPr>
          <p:cNvPr id="13" name="text-1975">
            <a:extLst xmlns:a="http://schemas.openxmlformats.org/drawingml/2006/main">
              <a:ext uri="{FF2B5EF4-FFF2-40B4-BE49-F238E27FC236}">
                <a16:creationId xmlns:a16="http://schemas.microsoft.com/office/drawing/2014/main" id="{D39DD611-B5C5-4A54-9F55-2BDD5E91F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每個簡答編碼都保留 evidence excerpt 與 rationale。</a:t>
            </a:r>
          </a:p>
        </p:txBody>
      </p:sp>
      <p:sp>
        <p:nvSpPr>
          <p:cNvPr id="14" name="shape-1976">
            <a:extLst xmlns:a="http://schemas.openxmlformats.org/drawingml/2006/main">
              <a:ext uri="{FF2B5EF4-FFF2-40B4-BE49-F238E27FC236}">
                <a16:creationId xmlns:a16="http://schemas.microsoft.com/office/drawing/2014/main" id="{1778349C-95F2-4E78-9593-1422DE7F5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977">
            <a:extLst xmlns:a="http://schemas.openxmlformats.org/drawingml/2006/main">
              <a:ext uri="{FF2B5EF4-FFF2-40B4-BE49-F238E27FC236}">
                <a16:creationId xmlns:a16="http://schemas.microsoft.com/office/drawing/2014/main" id="{45AC5849-B6C1-46E3-91FD-1717A47D8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978">
            <a:extLst xmlns:a="http://schemas.openxmlformats.org/drawingml/2006/main">
              <a:ext uri="{FF2B5EF4-FFF2-40B4-BE49-F238E27FC236}">
                <a16:creationId xmlns:a16="http://schemas.microsoft.com/office/drawing/2014/main" id="{015AABE9-650A-4B6B-B059-BDAAA930F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一致性</a:t>
            </a:r>
          </a:p>
        </p:txBody>
      </p:sp>
      <p:sp>
        <p:nvSpPr>
          <p:cNvPr id="17" name="text-1979">
            <a:extLst xmlns:a="http://schemas.openxmlformats.org/drawingml/2006/main">
              <a:ext uri="{FF2B5EF4-FFF2-40B4-BE49-F238E27FC236}">
                <a16:creationId xmlns:a16="http://schemas.microsoft.com/office/drawing/2014/main" id="{726534AE-0544-4424-946B-B0116A97F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比較 AI 與人工代碼，集中檢視不一致、低信心與邊界案例。</a:t>
            </a:r>
          </a:p>
        </p:txBody>
      </p:sp>
      <p:sp>
        <p:nvSpPr>
          <p:cNvPr id="18" name="shape-1980">
            <a:extLst xmlns:a="http://schemas.openxmlformats.org/drawingml/2006/main">
              <a:ext uri="{FF2B5EF4-FFF2-40B4-BE49-F238E27FC236}">
                <a16:creationId xmlns:a16="http://schemas.microsoft.com/office/drawing/2014/main" id="{66637B46-BEB0-46A7-B3A0-7E5F7947B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981">
            <a:extLst xmlns:a="http://schemas.openxmlformats.org/drawingml/2006/main">
              <a:ext uri="{FF2B5EF4-FFF2-40B4-BE49-F238E27FC236}">
                <a16:creationId xmlns:a16="http://schemas.microsoft.com/office/drawing/2014/main" id="{5A29462C-1815-4791-8435-ED0EBD4AF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982">
            <a:extLst xmlns:a="http://schemas.openxmlformats.org/drawingml/2006/main">
              <a:ext uri="{FF2B5EF4-FFF2-40B4-BE49-F238E27FC236}">
                <a16:creationId xmlns:a16="http://schemas.microsoft.com/office/drawing/2014/main" id="{C6776017-D54A-426C-8B61-765A88C3F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報告邊界</a:t>
            </a:r>
          </a:p>
        </p:txBody>
      </p:sp>
      <p:sp>
        <p:nvSpPr>
          <p:cNvPr id="21" name="text-1983">
            <a:extLst xmlns:a="http://schemas.openxmlformats.org/drawingml/2006/main">
              <a:ext uri="{FF2B5EF4-FFF2-40B4-BE49-F238E27FC236}">
                <a16:creationId xmlns:a16="http://schemas.microsoft.com/office/drawing/2014/main" id="{B3E698F8-12FD-4444-A325-4612D24F9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以群體趨勢協助教學診斷，不用未驗證的 AI 分數做高風險個人決策。</a:t>
            </a:r>
          </a:p>
        </p:txBody>
      </p:sp>
      <p:sp>
        <p:nvSpPr>
          <p:cNvPr id="22" name="text-1984">
            <a:extLst xmlns:a="http://schemas.openxmlformats.org/drawingml/2006/main">
              <a:ext uri="{FF2B5EF4-FFF2-40B4-BE49-F238E27FC236}">
                <a16:creationId xmlns:a16="http://schemas.microsoft.com/office/drawing/2014/main" id="{E564CFEC-47DF-4D7D-99F9-6A22FDE09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資料完整</a:t>
            </a:r>
          </a:p>
        </p:txBody>
      </p:sp>
      <p:sp>
        <p:nvSpPr>
          <p:cNvPr id="23" name="text-1985">
            <a:extLst xmlns:a="http://schemas.openxmlformats.org/drawingml/2006/main">
              <a:ext uri="{FF2B5EF4-FFF2-40B4-BE49-F238E27FC236}">
                <a16:creationId xmlns:a16="http://schemas.microsoft.com/office/drawing/2014/main" id="{E945302A-04DF-472B-B815-49DDC8C85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證據可追查</a:t>
            </a:r>
          </a:p>
        </p:txBody>
      </p:sp>
      <p:sp>
        <p:nvSpPr>
          <p:cNvPr id="24" name="text-1986">
            <a:extLst xmlns:a="http://schemas.openxmlformats.org/drawingml/2006/main">
              <a:ext uri="{FF2B5EF4-FFF2-40B4-BE49-F238E27FC236}">
                <a16:creationId xmlns:a16="http://schemas.microsoft.com/office/drawing/2014/main" id="{BE164CF2-345A-445A-A9A0-C75BB31FE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AI／人一致性</a:t>
            </a:r>
          </a:p>
        </p:txBody>
      </p:sp>
      <p:sp>
        <p:nvSpPr>
          <p:cNvPr id="25" name="text-1987">
            <a:extLst xmlns:a="http://schemas.openxmlformats.org/drawingml/2006/main">
              <a:ext uri="{FF2B5EF4-FFF2-40B4-BE49-F238E27FC236}">
                <a16:creationId xmlns:a16="http://schemas.microsoft.com/office/drawing/2014/main" id="{92A6D978-C636-4778-A95F-4374C5F22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EECE7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✓ 報告有邊界</a:t>
            </a:r>
          </a:p>
        </p:txBody>
      </p:sp>
      <p:cxnSp>
        <p:nvCxnSpPr>
          <p:cNvPr id="61" name=""/>
          <p:cNvCxnSpPr>
            <a:stCxn xmlns:a="http://schemas.openxmlformats.org/drawingml/2006/main" id="22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2895600" y="522922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B64DA"/>
            </a:solidFill>
            <a:prstDash val="solid"/>
            <a:tailEnd type="arrow" w="sm" len="sm"/>
          </a:ln>
        </p:spPr>
      </p:cxnSp>
      <p:cxnSp>
        <p:nvCxnSpPr>
          <p:cNvPr id="62" name=""/>
          <p:cNvCxnSpPr>
            <a:stCxn xmlns:a="http://schemas.openxmlformats.org/drawingml/2006/main" id="23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5619750" y="522922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B64DA"/>
            </a:solidFill>
            <a:prstDash val="solid"/>
            <a:tailEnd type="arrow" w="sm" len="sm"/>
          </a:ln>
        </p:spPr>
      </p:cxnSp>
      <p:cxnSp>
        <p:nvCxnSpPr>
          <p:cNvPr id="63" name=""/>
          <p:cNvCxnSpPr>
            <a:stCxn xmlns:a="http://schemas.openxmlformats.org/drawingml/2006/main" id="24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8343900" y="522922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6B4A"/>
            </a:solidFill>
            <a:prstDash val="solid"/>
            <a:tailEnd type="arrow" w="sm" len="sm"/>
          </a:ln>
        </p:spPr>
      </p:cxnSp>
      <p:sp>
        <p:nvSpPr>
          <p:cNvPr id="29" name="text-1988">
            <a:extLst xmlns:a="http://schemas.openxmlformats.org/drawingml/2006/main">
              <a:ext uri="{FF2B5EF4-FFF2-40B4-BE49-F238E27FC236}">
                <a16:creationId xmlns:a16="http://schemas.microsoft.com/office/drawing/2014/main" id="{728574F2-4987-4F52-A8BB-B21C9E6DE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657850"/>
            <a:ext cx="640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四道閘門都通過，才進入研究報告；否則標示未確認</a:t>
            </a:r>
          </a:p>
        </p:txBody>
      </p:sp>
      <p:sp>
        <p:nvSpPr>
          <p:cNvPr id="30" name="text-2285">
            <a:extLst xmlns:a="http://schemas.openxmlformats.org/drawingml/2006/main">
              <a:ext uri="{FF2B5EF4-FFF2-40B4-BE49-F238E27FC236}">
                <a16:creationId xmlns:a16="http://schemas.microsoft.com/office/drawing/2014/main" id="{7A812CFD-8F1D-4716-9269-DCDEE4723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5c2d8c635dd41a1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46b19336e6c4e3d"/>
              </a:rPr>
              <a:t>Codex ↗</a:t>
            </a:r>
          </a:p>
        </p:txBody>
      </p:sp>
      <p:sp>
        <p:nvSpPr>
          <p:cNvPr id="31" name="shape-2394">
            <a:extLst xmlns:a="http://schemas.openxmlformats.org/drawingml/2006/main">
              <a:ext uri="{FF2B5EF4-FFF2-40B4-BE49-F238E27FC236}">
                <a16:creationId xmlns:a16="http://schemas.microsoft.com/office/drawing/2014/main" id="{8AD68EFC-8005-43FD-A4E2-A8233A694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dc7d864562403d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2395">
            <a:extLst xmlns:a="http://schemas.openxmlformats.org/drawingml/2006/main">
              <a:ext uri="{FF2B5EF4-FFF2-40B4-BE49-F238E27FC236}">
                <a16:creationId xmlns:a16="http://schemas.microsoft.com/office/drawing/2014/main" id="{D9283768-891F-444E-8A72-5785E728B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b291c2bfd247e1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2396">
            <a:extLst xmlns:a="http://schemas.openxmlformats.org/drawingml/2006/main">
              <a:ext uri="{FF2B5EF4-FFF2-40B4-BE49-F238E27FC236}">
                <a16:creationId xmlns:a16="http://schemas.microsoft.com/office/drawing/2014/main" id="{2D6669F6-2052-4EFA-9484-E4C33E8E7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102130703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989">
            <a:extLst xmlns:a="http://schemas.openxmlformats.org/drawingml/2006/main">
              <a:ext uri="{FF2B5EF4-FFF2-40B4-BE49-F238E27FC236}">
                <a16:creationId xmlns:a16="http://schemas.microsoft.com/office/drawing/2014/main" id="{6317541A-91B9-46CF-85F7-0ADD31B38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0B5D346-20EB-4E97-AA27-A8DDE3AA2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實作 D｜PIRLS 風格合成資料分析</a:t>
            </a:r>
          </a:p>
        </p:txBody>
      </p:sp>
      <p:cxnSp>
        <p:nvCxnSpPr>
          <p:cNvPr id="27" name="shape-199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991">
            <a:extLst xmlns:a="http://schemas.openxmlformats.org/drawingml/2006/main">
              <a:ext uri="{FF2B5EF4-FFF2-40B4-BE49-F238E27FC236}">
                <a16:creationId xmlns:a16="http://schemas.microsoft.com/office/drawing/2014/main" id="{837BA043-3460-46BE-B51B-F186FDC78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69BED04-B06E-4C05-9818-715ECBFDC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50</a:t>
            </a:r>
          </a:p>
        </p:txBody>
      </p:sp>
      <p:sp>
        <p:nvSpPr>
          <p:cNvPr id="6" name="text-1992">
            <a:extLst xmlns:a="http://schemas.openxmlformats.org/drawingml/2006/main">
              <a:ext uri="{FF2B5EF4-FFF2-40B4-BE49-F238E27FC236}">
                <a16:creationId xmlns:a16="http://schemas.microsoft.com/office/drawing/2014/main" id="{10E0331C-1EBC-412B-9BB8-3D8F7DF20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20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993">
            <a:extLst xmlns:a="http://schemas.openxmlformats.org/drawingml/2006/main">
              <a:ext uri="{FF2B5EF4-FFF2-40B4-BE49-F238E27FC236}">
                <a16:creationId xmlns:a16="http://schemas.microsoft.com/office/drawing/2014/main" id="{028DB90F-8C12-4CCF-9A88-63671E07D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994">
            <a:extLst xmlns:a="http://schemas.openxmlformats.org/drawingml/2006/main">
              <a:ext uri="{FF2B5EF4-FFF2-40B4-BE49-F238E27FC236}">
                <a16:creationId xmlns:a16="http://schemas.microsoft.com/office/drawing/2014/main" id="{7A895CDD-1886-4AAF-BC35-809C82F0D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995">
            <a:extLst xmlns:a="http://schemas.openxmlformats.org/drawingml/2006/main">
              <a:ext uri="{FF2B5EF4-FFF2-40B4-BE49-F238E27FC236}">
                <a16:creationId xmlns:a16="http://schemas.microsoft.com/office/drawing/2014/main" id="{4D8A888D-048D-460F-84F9-F0554CE5A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載入 CSV、答案鍵與簡答題編碼規準</a:t>
            </a:r>
          </a:p>
        </p:txBody>
      </p:sp>
      <p:sp>
        <p:nvSpPr>
          <p:cNvPr id="10" name="text-1996">
            <a:extLst xmlns:a="http://schemas.openxmlformats.org/drawingml/2006/main">
              <a:ext uri="{FF2B5EF4-FFF2-40B4-BE49-F238E27FC236}">
                <a16:creationId xmlns:a16="http://schemas.microsoft.com/office/drawing/2014/main" id="{79B8B3F9-C9D7-4E47-B1DF-BDF60595C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997">
            <a:extLst xmlns:a="http://schemas.openxmlformats.org/drawingml/2006/main">
              <a:ext uri="{FF2B5EF4-FFF2-40B4-BE49-F238E27FC236}">
                <a16:creationId xmlns:a16="http://schemas.microsoft.com/office/drawing/2014/main" id="{B0F98320-18BD-4388-AC37-76C87B396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先做缺漏與非法值檢查</a:t>
            </a:r>
          </a:p>
        </p:txBody>
      </p:sp>
      <p:sp>
        <p:nvSpPr>
          <p:cNvPr id="12" name="text-1998">
            <a:extLst xmlns:a="http://schemas.openxmlformats.org/drawingml/2006/main">
              <a:ext uri="{FF2B5EF4-FFF2-40B4-BE49-F238E27FC236}">
                <a16:creationId xmlns:a16="http://schemas.microsoft.com/office/drawing/2014/main" id="{CA3EC660-F8CD-46D4-A621-E19B41021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999">
            <a:extLst xmlns:a="http://schemas.openxmlformats.org/drawingml/2006/main">
              <a:ext uri="{FF2B5EF4-FFF2-40B4-BE49-F238E27FC236}">
                <a16:creationId xmlns:a16="http://schemas.microsoft.com/office/drawing/2014/main" id="{2A2CA494-87C8-463C-BFA6-617401F25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計算選擇題答對率與選項分布</a:t>
            </a:r>
          </a:p>
        </p:txBody>
      </p:sp>
      <p:sp>
        <p:nvSpPr>
          <p:cNvPr id="14" name="text-2000">
            <a:extLst xmlns:a="http://schemas.openxmlformats.org/drawingml/2006/main">
              <a:ext uri="{FF2B5EF4-FFF2-40B4-BE49-F238E27FC236}">
                <a16:creationId xmlns:a16="http://schemas.microsoft.com/office/drawing/2014/main" id="{27B746BB-8F71-4289-B370-414DBA2CE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2001">
            <a:extLst xmlns:a="http://schemas.openxmlformats.org/drawingml/2006/main">
              <a:ext uri="{FF2B5EF4-FFF2-40B4-BE49-F238E27FC236}">
                <a16:creationId xmlns:a16="http://schemas.microsoft.com/office/drawing/2014/main" id="{CF05BD6E-322A-40FE-8764-9E1717275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讓 AI 初編簡答並與講師參考編碼比較</a:t>
            </a:r>
          </a:p>
        </p:txBody>
      </p:sp>
      <p:sp>
        <p:nvSpPr>
          <p:cNvPr id="16" name="shape-2002">
            <a:extLst xmlns:a="http://schemas.openxmlformats.org/drawingml/2006/main">
              <a:ext uri="{FF2B5EF4-FFF2-40B4-BE49-F238E27FC236}">
                <a16:creationId xmlns:a16="http://schemas.microsoft.com/office/drawing/2014/main" id="{F498894D-63AE-480A-AC70-B0572D9D8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7" name="text-2003">
            <a:extLst xmlns:a="http://schemas.openxmlformats.org/drawingml/2006/main">
              <a:ext uri="{FF2B5EF4-FFF2-40B4-BE49-F238E27FC236}">
                <a16:creationId xmlns:a16="http://schemas.microsoft.com/office/drawing/2014/main" id="{9F26CA1C-D11D-4880-98DB-D048F9BC5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2004">
            <a:extLst xmlns:a="http://schemas.openxmlformats.org/drawingml/2006/main">
              <a:ext uri="{FF2B5EF4-FFF2-40B4-BE49-F238E27FC236}">
                <a16:creationId xmlns:a16="http://schemas.microsoft.com/office/drawing/2014/main" id="{2F5D8CD6-4165-4B43-9DC8-1919E77E6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不含真實個資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選擇題與簡答題分流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列出所有不一致案例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報告標示限制與未確認</a:t>
            </a:r>
          </a:p>
        </p:txBody>
      </p:sp>
      <p:sp>
        <p:nvSpPr>
          <p:cNvPr id="19" name="text-2286">
            <a:extLst xmlns:a="http://schemas.openxmlformats.org/drawingml/2006/main">
              <a:ext uri="{FF2B5EF4-FFF2-40B4-BE49-F238E27FC236}">
                <a16:creationId xmlns:a16="http://schemas.microsoft.com/office/drawing/2014/main" id="{02656522-2F89-43E2-9997-1230D0943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e06852edd5f4413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1a07bd12cef49fc"/>
              </a:rPr>
              <a:t>Codex ↗</a:t>
            </a:r>
          </a:p>
        </p:txBody>
      </p:sp>
      <p:sp>
        <p:nvSpPr>
          <p:cNvPr id="20" name="shape-2397">
            <a:extLst xmlns:a="http://schemas.openxmlformats.org/drawingml/2006/main">
              <a:ext uri="{FF2B5EF4-FFF2-40B4-BE49-F238E27FC236}">
                <a16:creationId xmlns:a16="http://schemas.microsoft.com/office/drawing/2014/main" id="{5D13D87C-7A9A-4BF6-BFD4-5E9D560F2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fb4fb8e4454269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2398">
            <a:extLst xmlns:a="http://schemas.openxmlformats.org/drawingml/2006/main">
              <a:ext uri="{FF2B5EF4-FFF2-40B4-BE49-F238E27FC236}">
                <a16:creationId xmlns:a16="http://schemas.microsoft.com/office/drawing/2014/main" id="{E3ADE518-5DDC-487C-A7F1-E057C9EC2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20795cc4c24a13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2399">
            <a:extLst xmlns:a="http://schemas.openxmlformats.org/drawingml/2006/main">
              <a:ext uri="{FF2B5EF4-FFF2-40B4-BE49-F238E27FC236}">
                <a16:creationId xmlns:a16="http://schemas.microsoft.com/office/drawing/2014/main" id="{3844CE11-4133-42A8-A4BF-339B82DA8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010663130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2005">
            <a:extLst xmlns:a="http://schemas.openxmlformats.org/drawingml/2006/main">
              <a:ext uri="{FF2B5EF4-FFF2-40B4-BE49-F238E27FC236}">
                <a16:creationId xmlns:a16="http://schemas.microsoft.com/office/drawing/2014/main" id="{0687439A-26D2-4996-9957-249072855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ADVANCED USE CASES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50F11F1-6395-4B99-982B-BB1543992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大學教學的 Agent Skills 應用地圖</a:t>
            </a:r>
          </a:p>
        </p:txBody>
      </p:sp>
      <p:cxnSp>
        <p:nvCxnSpPr>
          <p:cNvPr id="38" name="shape-200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2007">
            <a:extLst xmlns:a="http://schemas.openxmlformats.org/drawingml/2006/main">
              <a:ext uri="{FF2B5EF4-FFF2-40B4-BE49-F238E27FC236}">
                <a16:creationId xmlns:a16="http://schemas.microsoft.com/office/drawing/2014/main" id="{816A6641-F8AF-4C97-86C8-9795E5EBD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D1CA906-4876-4774-B47B-346E061FE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51</a:t>
            </a:r>
          </a:p>
        </p:txBody>
      </p:sp>
      <p:sp>
        <p:nvSpPr>
          <p:cNvPr id="6" name="shape-2008">
            <a:extLst xmlns:a="http://schemas.openxmlformats.org/drawingml/2006/main">
              <a:ext uri="{FF2B5EF4-FFF2-40B4-BE49-F238E27FC236}">
                <a16:creationId xmlns:a16="http://schemas.microsoft.com/office/drawing/2014/main" id="{F65E232E-CD53-4032-98F8-66656EB0A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2009">
            <a:extLst xmlns:a="http://schemas.openxmlformats.org/drawingml/2006/main">
              <a:ext uri="{FF2B5EF4-FFF2-40B4-BE49-F238E27FC236}">
                <a16:creationId xmlns:a16="http://schemas.microsoft.com/office/drawing/2014/main" id="{30EAE108-167A-4FE6-B89E-04DEDB295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2010">
            <a:extLst xmlns:a="http://schemas.openxmlformats.org/drawingml/2006/main">
              <a:ext uri="{FF2B5EF4-FFF2-40B4-BE49-F238E27FC236}">
                <a16:creationId xmlns:a16="http://schemas.microsoft.com/office/drawing/2014/main" id="{0CFE84A8-B340-48C3-A927-34F70B016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課程設計</a:t>
            </a:r>
          </a:p>
        </p:txBody>
      </p:sp>
      <p:sp>
        <p:nvSpPr>
          <p:cNvPr id="9" name="text-2011">
            <a:extLst xmlns:a="http://schemas.openxmlformats.org/drawingml/2006/main">
              <a:ext uri="{FF2B5EF4-FFF2-40B4-BE49-F238E27FC236}">
                <a16:creationId xmlns:a16="http://schemas.microsoft.com/office/drawing/2014/main" id="{92D18938-80B7-46AA-9B5B-2223C6821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課綱一致性、學習目標與評量對齊、週次負荷檢核。</a:t>
            </a:r>
          </a:p>
        </p:txBody>
      </p:sp>
      <p:sp>
        <p:nvSpPr>
          <p:cNvPr id="10" name="shape-2012">
            <a:extLst xmlns:a="http://schemas.openxmlformats.org/drawingml/2006/main">
              <a:ext uri="{FF2B5EF4-FFF2-40B4-BE49-F238E27FC236}">
                <a16:creationId xmlns:a16="http://schemas.microsoft.com/office/drawing/2014/main" id="{EB2308C8-78EE-4F86-B831-C6F82D421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2013">
            <a:extLst xmlns:a="http://schemas.openxmlformats.org/drawingml/2006/main">
              <a:ext uri="{FF2B5EF4-FFF2-40B4-BE49-F238E27FC236}">
                <a16:creationId xmlns:a16="http://schemas.microsoft.com/office/drawing/2014/main" id="{854D7D4F-7ED9-44FE-8051-3FF5EFA09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2014">
            <a:extLst xmlns:a="http://schemas.openxmlformats.org/drawingml/2006/main">
              <a:ext uri="{FF2B5EF4-FFF2-40B4-BE49-F238E27FC236}">
                <a16:creationId xmlns:a16="http://schemas.microsoft.com/office/drawing/2014/main" id="{E634085A-C957-453A-91A7-4001FAA1D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研究與閱讀</a:t>
            </a:r>
          </a:p>
        </p:txBody>
      </p:sp>
      <p:sp>
        <p:nvSpPr>
          <p:cNvPr id="13" name="text-2015">
            <a:extLst xmlns:a="http://schemas.openxmlformats.org/drawingml/2006/main">
              <a:ext uri="{FF2B5EF4-FFF2-40B4-BE49-F238E27FC236}">
                <a16:creationId xmlns:a16="http://schemas.microsoft.com/office/drawing/2014/main" id="{EB3972E2-EBBB-4B3B-8727-9596FB2F9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文獻整理、觀點矩陣、研究限制與引用追查。</a:t>
            </a:r>
          </a:p>
        </p:txBody>
      </p:sp>
      <p:sp>
        <p:nvSpPr>
          <p:cNvPr id="14" name="shape-2016">
            <a:extLst xmlns:a="http://schemas.openxmlformats.org/drawingml/2006/main">
              <a:ext uri="{FF2B5EF4-FFF2-40B4-BE49-F238E27FC236}">
                <a16:creationId xmlns:a16="http://schemas.microsoft.com/office/drawing/2014/main" id="{5F76D401-C9C7-456B-BA4A-EA8B989FD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2017">
            <a:extLst xmlns:a="http://schemas.openxmlformats.org/drawingml/2006/main">
              <a:ext uri="{FF2B5EF4-FFF2-40B4-BE49-F238E27FC236}">
                <a16:creationId xmlns:a16="http://schemas.microsoft.com/office/drawing/2014/main" id="{4434EF52-E7AE-4C68-B3D0-CB514CE0D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2018">
            <a:extLst xmlns:a="http://schemas.openxmlformats.org/drawingml/2006/main">
              <a:ext uri="{FF2B5EF4-FFF2-40B4-BE49-F238E27FC236}">
                <a16:creationId xmlns:a16="http://schemas.microsoft.com/office/drawing/2014/main" id="{B75021B7-03E0-4908-9492-18B0F0BCD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教材製作</a:t>
            </a:r>
          </a:p>
        </p:txBody>
      </p:sp>
      <p:sp>
        <p:nvSpPr>
          <p:cNvPr id="17" name="text-2019">
            <a:extLst xmlns:a="http://schemas.openxmlformats.org/drawingml/2006/main">
              <a:ext uri="{FF2B5EF4-FFF2-40B4-BE49-F238E27FC236}">
                <a16:creationId xmlns:a16="http://schemas.microsoft.com/office/drawing/2014/main" id="{C6C4B36C-6B3A-413D-814C-144412D2D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簡報、互動網站、圖表、字幕與多格式轉換。</a:t>
            </a:r>
          </a:p>
        </p:txBody>
      </p:sp>
      <p:sp>
        <p:nvSpPr>
          <p:cNvPr id="18" name="shape-2020">
            <a:extLst xmlns:a="http://schemas.openxmlformats.org/drawingml/2006/main">
              <a:ext uri="{FF2B5EF4-FFF2-40B4-BE49-F238E27FC236}">
                <a16:creationId xmlns:a16="http://schemas.microsoft.com/office/drawing/2014/main" id="{47D2BBC4-1BA3-4D69-A6BB-99CFD537C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2021">
            <a:extLst xmlns:a="http://schemas.openxmlformats.org/drawingml/2006/main">
              <a:ext uri="{FF2B5EF4-FFF2-40B4-BE49-F238E27FC236}">
                <a16:creationId xmlns:a16="http://schemas.microsoft.com/office/drawing/2014/main" id="{21A6E575-56AA-431F-94BE-ED4202172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2022">
            <a:extLst xmlns:a="http://schemas.openxmlformats.org/drawingml/2006/main">
              <a:ext uri="{FF2B5EF4-FFF2-40B4-BE49-F238E27FC236}">
                <a16:creationId xmlns:a16="http://schemas.microsoft.com/office/drawing/2014/main" id="{67C965B7-88D6-4C46-B209-CAACA3395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學習支持</a:t>
            </a:r>
          </a:p>
        </p:txBody>
      </p:sp>
      <p:sp>
        <p:nvSpPr>
          <p:cNvPr id="21" name="text-2023">
            <a:extLst xmlns:a="http://schemas.openxmlformats.org/drawingml/2006/main">
              <a:ext uri="{FF2B5EF4-FFF2-40B4-BE49-F238E27FC236}">
                <a16:creationId xmlns:a16="http://schemas.microsoft.com/office/drawing/2014/main" id="{85EEF440-8F1B-45DF-B385-1100B5112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形成性回饋、差異化支架、常見迷思與練習生成。</a:t>
            </a:r>
          </a:p>
        </p:txBody>
      </p:sp>
      <p:sp>
        <p:nvSpPr>
          <p:cNvPr id="22" name="shape-2024">
            <a:extLst xmlns:a="http://schemas.openxmlformats.org/drawingml/2006/main">
              <a:ext uri="{FF2B5EF4-FFF2-40B4-BE49-F238E27FC236}">
                <a16:creationId xmlns:a16="http://schemas.microsoft.com/office/drawing/2014/main" id="{F41C71B6-97B9-41CB-ABF1-092A40A1E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3" name="text-2025">
            <a:extLst xmlns:a="http://schemas.openxmlformats.org/drawingml/2006/main">
              <a:ext uri="{FF2B5EF4-FFF2-40B4-BE49-F238E27FC236}">
                <a16:creationId xmlns:a16="http://schemas.microsoft.com/office/drawing/2014/main" id="{833D2240-A5BD-44B7-80AE-1D10142D1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sp>
        <p:nvSpPr>
          <p:cNvPr id="24" name="text-2026">
            <a:extLst xmlns:a="http://schemas.openxmlformats.org/drawingml/2006/main">
              <a:ext uri="{FF2B5EF4-FFF2-40B4-BE49-F238E27FC236}">
                <a16:creationId xmlns:a16="http://schemas.microsoft.com/office/drawing/2014/main" id="{4B16303E-77BC-444C-A7BF-50C86B419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品質保證</a:t>
            </a:r>
          </a:p>
        </p:txBody>
      </p:sp>
      <p:sp>
        <p:nvSpPr>
          <p:cNvPr id="25" name="text-2027">
            <a:extLst xmlns:a="http://schemas.openxmlformats.org/drawingml/2006/main">
              <a:ext uri="{FF2B5EF4-FFF2-40B4-BE49-F238E27FC236}">
                <a16:creationId xmlns:a16="http://schemas.microsoft.com/office/drawing/2014/main" id="{AEE68545-985A-4F86-96DE-013987DF2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RWD、無障礙、連結、內容依據與版本檢查。</a:t>
            </a:r>
          </a:p>
        </p:txBody>
      </p:sp>
      <p:sp>
        <p:nvSpPr>
          <p:cNvPr id="26" name="shape-2028">
            <a:extLst xmlns:a="http://schemas.openxmlformats.org/drawingml/2006/main">
              <a:ext uri="{FF2B5EF4-FFF2-40B4-BE49-F238E27FC236}">
                <a16:creationId xmlns:a16="http://schemas.microsoft.com/office/drawing/2014/main" id="{038DBFA4-72DD-4817-89EA-7ECADB26C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7" name="text-2029">
            <a:extLst xmlns:a="http://schemas.openxmlformats.org/drawingml/2006/main">
              <a:ext uri="{FF2B5EF4-FFF2-40B4-BE49-F238E27FC236}">
                <a16:creationId xmlns:a16="http://schemas.microsoft.com/office/drawing/2014/main" id="{51AB2A65-4EC0-4E24-9589-3C1EB173E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sp>
        <p:nvSpPr>
          <p:cNvPr id="28" name="text-2030">
            <a:extLst xmlns:a="http://schemas.openxmlformats.org/drawingml/2006/main">
              <a:ext uri="{FF2B5EF4-FFF2-40B4-BE49-F238E27FC236}">
                <a16:creationId xmlns:a16="http://schemas.microsoft.com/office/drawing/2014/main" id="{271DB796-7717-4B6B-B426-C82EF4A06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部署交付</a:t>
            </a:r>
          </a:p>
        </p:txBody>
      </p:sp>
      <p:sp>
        <p:nvSpPr>
          <p:cNvPr id="29" name="text-2031">
            <a:extLst xmlns:a="http://schemas.openxmlformats.org/drawingml/2006/main">
              <a:ext uri="{FF2B5EF4-FFF2-40B4-BE49-F238E27FC236}">
                <a16:creationId xmlns:a16="http://schemas.microsoft.com/office/drawing/2014/main" id="{9ACF17F8-7CC3-47E8-A60F-9FF2B095D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Sites、Pages、文件、測試證據與團隊交接。</a:t>
            </a:r>
          </a:p>
        </p:txBody>
      </p:sp>
      <p:sp>
        <p:nvSpPr>
          <p:cNvPr id="30" name="text-2287">
            <a:extLst xmlns:a="http://schemas.openxmlformats.org/drawingml/2006/main">
              <a:ext uri="{FF2B5EF4-FFF2-40B4-BE49-F238E27FC236}">
                <a16:creationId xmlns:a16="http://schemas.microsoft.com/office/drawing/2014/main" id="{EE4935FA-E7F5-454B-BD84-DD4526052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12c1b39e33147ac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a61879018b14238"/>
              </a:rPr>
              <a:t>Codex ↗</a:t>
            </a:r>
          </a:p>
        </p:txBody>
      </p:sp>
      <p:sp>
        <p:nvSpPr>
          <p:cNvPr id="31" name="shape-2400">
            <a:extLst xmlns:a="http://schemas.openxmlformats.org/drawingml/2006/main">
              <a:ext uri="{FF2B5EF4-FFF2-40B4-BE49-F238E27FC236}">
                <a16:creationId xmlns:a16="http://schemas.microsoft.com/office/drawing/2014/main" id="{B7AEE694-6C1C-4EF2-95F8-3804943BF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01fbeee504447a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2401">
            <a:extLst xmlns:a="http://schemas.openxmlformats.org/drawingml/2006/main">
              <a:ext uri="{FF2B5EF4-FFF2-40B4-BE49-F238E27FC236}">
                <a16:creationId xmlns:a16="http://schemas.microsoft.com/office/drawing/2014/main" id="{AE7DF067-319E-4C91-B417-E050736EE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667b9b79944438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2402">
            <a:extLst xmlns:a="http://schemas.openxmlformats.org/drawingml/2006/main">
              <a:ext uri="{FF2B5EF4-FFF2-40B4-BE49-F238E27FC236}">
                <a16:creationId xmlns:a16="http://schemas.microsoft.com/office/drawing/2014/main" id="{03CB1A36-4071-42BA-BBD1-5B36B34B2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2079991051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2032">
            <a:extLst xmlns:a="http://schemas.openxmlformats.org/drawingml/2006/main">
              <a:ext uri="{FF2B5EF4-FFF2-40B4-BE49-F238E27FC236}">
                <a16:creationId xmlns:a16="http://schemas.microsoft.com/office/drawing/2014/main" id="{0328CE20-CA40-427C-948E-A9F8B72A9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GUARDRAILS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78790A6-4EF6-4905-9D30-3B38A132A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教育現場安全護欄：先寫進 Skill，再交給 Agent</a:t>
            </a:r>
          </a:p>
        </p:txBody>
      </p:sp>
      <p:cxnSp>
        <p:nvCxnSpPr>
          <p:cNvPr id="30" name="shape-203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2034">
            <a:extLst xmlns:a="http://schemas.openxmlformats.org/drawingml/2006/main">
              <a:ext uri="{FF2B5EF4-FFF2-40B4-BE49-F238E27FC236}">
                <a16:creationId xmlns:a16="http://schemas.microsoft.com/office/drawing/2014/main" id="{244E69CD-9816-4546-8AB4-F4C78743F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4F11CC2-53AF-45B3-8DF1-B45FBC368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52</a:t>
            </a:r>
          </a:p>
        </p:txBody>
      </p:sp>
      <p:sp>
        <p:nvSpPr>
          <p:cNvPr id="6" name="shape-2035">
            <a:extLst xmlns:a="http://schemas.openxmlformats.org/drawingml/2006/main">
              <a:ext uri="{FF2B5EF4-FFF2-40B4-BE49-F238E27FC236}">
                <a16:creationId xmlns:a16="http://schemas.microsoft.com/office/drawing/2014/main" id="{01101AEB-5731-457A-8DF1-FD350E43C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2036">
            <a:extLst xmlns:a="http://schemas.openxmlformats.org/drawingml/2006/main">
              <a:ext uri="{FF2B5EF4-FFF2-40B4-BE49-F238E27FC236}">
                <a16:creationId xmlns:a16="http://schemas.microsoft.com/office/drawing/2014/main" id="{2880A944-D4B0-4B60-91DA-4583C55AD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2037">
            <a:extLst xmlns:a="http://schemas.openxmlformats.org/drawingml/2006/main">
              <a:ext uri="{FF2B5EF4-FFF2-40B4-BE49-F238E27FC236}">
                <a16:creationId xmlns:a16="http://schemas.microsoft.com/office/drawing/2014/main" id="{7E7D0464-B1A1-45B7-A727-3241CE04E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個資最小化</a:t>
            </a:r>
          </a:p>
        </p:txBody>
      </p:sp>
      <p:sp>
        <p:nvSpPr>
          <p:cNvPr id="9" name="text-2038">
            <a:extLst xmlns:a="http://schemas.openxmlformats.org/drawingml/2006/main">
              <a:ext uri="{FF2B5EF4-FFF2-40B4-BE49-F238E27FC236}">
                <a16:creationId xmlns:a16="http://schemas.microsoft.com/office/drawing/2014/main" id="{D14ADA93-4FBC-4224-8933-9F4EDCCCD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先匿名化；不把學生姓名、成績、信箱與研究資料放入公開工作區。</a:t>
            </a:r>
          </a:p>
        </p:txBody>
      </p:sp>
      <p:sp>
        <p:nvSpPr>
          <p:cNvPr id="10" name="shape-2039">
            <a:extLst xmlns:a="http://schemas.openxmlformats.org/drawingml/2006/main">
              <a:ext uri="{FF2B5EF4-FFF2-40B4-BE49-F238E27FC236}">
                <a16:creationId xmlns:a16="http://schemas.microsoft.com/office/drawing/2014/main" id="{1A50FE48-BE6F-4D5C-B821-9B51E5960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2040">
            <a:extLst xmlns:a="http://schemas.openxmlformats.org/drawingml/2006/main">
              <a:ext uri="{FF2B5EF4-FFF2-40B4-BE49-F238E27FC236}">
                <a16:creationId xmlns:a16="http://schemas.microsoft.com/office/drawing/2014/main" id="{8DA9723E-A076-45AF-AC37-71FDEDFBB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2041">
            <a:extLst xmlns:a="http://schemas.openxmlformats.org/drawingml/2006/main">
              <a:ext uri="{FF2B5EF4-FFF2-40B4-BE49-F238E27FC236}">
                <a16:creationId xmlns:a16="http://schemas.microsoft.com/office/drawing/2014/main" id="{B43D0F6C-8A2A-4544-A606-427847C4C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來源與版權</a:t>
            </a:r>
          </a:p>
        </p:txBody>
      </p:sp>
      <p:sp>
        <p:nvSpPr>
          <p:cNvPr id="13" name="text-2042">
            <a:extLst xmlns:a="http://schemas.openxmlformats.org/drawingml/2006/main">
              <a:ext uri="{FF2B5EF4-FFF2-40B4-BE49-F238E27FC236}">
                <a16:creationId xmlns:a16="http://schemas.microsoft.com/office/drawing/2014/main" id="{37D66497-EC7E-4EF2-9602-2A17C9EE7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保留引用、授權與來源邊界；生成不等於可任意公開。</a:t>
            </a:r>
          </a:p>
        </p:txBody>
      </p:sp>
      <p:sp>
        <p:nvSpPr>
          <p:cNvPr id="14" name="shape-2043">
            <a:extLst xmlns:a="http://schemas.openxmlformats.org/drawingml/2006/main">
              <a:ext uri="{FF2B5EF4-FFF2-40B4-BE49-F238E27FC236}">
                <a16:creationId xmlns:a16="http://schemas.microsoft.com/office/drawing/2014/main" id="{48BD6EAB-9CDC-4CA7-9F4A-5BC8156C1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2044">
            <a:extLst xmlns:a="http://schemas.openxmlformats.org/drawingml/2006/main">
              <a:ext uri="{FF2B5EF4-FFF2-40B4-BE49-F238E27FC236}">
                <a16:creationId xmlns:a16="http://schemas.microsoft.com/office/drawing/2014/main" id="{011196C0-3A1E-4875-ABF4-BA9D28989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2045">
            <a:extLst xmlns:a="http://schemas.openxmlformats.org/drawingml/2006/main">
              <a:ext uri="{FF2B5EF4-FFF2-40B4-BE49-F238E27FC236}">
                <a16:creationId xmlns:a16="http://schemas.microsoft.com/office/drawing/2014/main" id="{0D204484-2692-4980-85AB-944AB0E46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人工決策</a:t>
            </a:r>
          </a:p>
        </p:txBody>
      </p:sp>
      <p:sp>
        <p:nvSpPr>
          <p:cNvPr id="17" name="text-2046">
            <a:extLst xmlns:a="http://schemas.openxmlformats.org/drawingml/2006/main">
              <a:ext uri="{FF2B5EF4-FFF2-40B4-BE49-F238E27FC236}">
                <a16:creationId xmlns:a16="http://schemas.microsoft.com/office/drawing/2014/main" id="{4E734B88-616D-4629-AE4E-BD0C734F1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評分、倫理、輔導與正式行政決定，由人負責並保留紀錄。</a:t>
            </a:r>
          </a:p>
        </p:txBody>
      </p:sp>
      <p:sp>
        <p:nvSpPr>
          <p:cNvPr id="18" name="shape-2047">
            <a:extLst xmlns:a="http://schemas.openxmlformats.org/drawingml/2006/main">
              <a:ext uri="{FF2B5EF4-FFF2-40B4-BE49-F238E27FC236}">
                <a16:creationId xmlns:a16="http://schemas.microsoft.com/office/drawing/2014/main" id="{6D16120F-C41B-4D70-B618-DADB97394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2048">
            <a:extLst xmlns:a="http://schemas.openxmlformats.org/drawingml/2006/main">
              <a:ext uri="{FF2B5EF4-FFF2-40B4-BE49-F238E27FC236}">
                <a16:creationId xmlns:a16="http://schemas.microsoft.com/office/drawing/2014/main" id="{FE8775C3-CD83-429E-9358-42DA9C66A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2049">
            <a:extLst xmlns:a="http://schemas.openxmlformats.org/drawingml/2006/main">
              <a:ext uri="{FF2B5EF4-FFF2-40B4-BE49-F238E27FC236}">
                <a16:creationId xmlns:a16="http://schemas.microsoft.com/office/drawing/2014/main" id="{0CD00931-0ADA-4FF6-8B99-AE30B21F1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可逆優先</a:t>
            </a:r>
          </a:p>
        </p:txBody>
      </p:sp>
      <p:sp>
        <p:nvSpPr>
          <p:cNvPr id="21" name="text-2050">
            <a:extLst xmlns:a="http://schemas.openxmlformats.org/drawingml/2006/main">
              <a:ext uri="{FF2B5EF4-FFF2-40B4-BE49-F238E27FC236}">
                <a16:creationId xmlns:a16="http://schemas.microsoft.com/office/drawing/2014/main" id="{2FD38F77-4074-4E03-A767-BDF044A4E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先分析、預覽、備份；發布、刪除與改權限需要明確確認。</a:t>
            </a:r>
          </a:p>
        </p:txBody>
      </p:sp>
      <p:sp>
        <p:nvSpPr>
          <p:cNvPr id="22" name="text-2288">
            <a:extLst xmlns:a="http://schemas.openxmlformats.org/drawingml/2006/main">
              <a:ext uri="{FF2B5EF4-FFF2-40B4-BE49-F238E27FC236}">
                <a16:creationId xmlns:a16="http://schemas.microsoft.com/office/drawing/2014/main" id="{2CD762C9-A2AC-4B0C-AD0A-3B54220BE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ff4346ed26c4021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3bcfe11b2074f1d"/>
              </a:rPr>
              <a:t>Codex ↗</a:t>
            </a:r>
          </a:p>
        </p:txBody>
      </p:sp>
      <p:sp>
        <p:nvSpPr>
          <p:cNvPr id="23" name="shape-2403">
            <a:extLst xmlns:a="http://schemas.openxmlformats.org/drawingml/2006/main">
              <a:ext uri="{FF2B5EF4-FFF2-40B4-BE49-F238E27FC236}">
                <a16:creationId xmlns:a16="http://schemas.microsoft.com/office/drawing/2014/main" id="{51D7DA01-8F85-4392-8AA2-B8ECF2CCC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159cf898934d29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2404">
            <a:extLst xmlns:a="http://schemas.openxmlformats.org/drawingml/2006/main">
              <a:ext uri="{FF2B5EF4-FFF2-40B4-BE49-F238E27FC236}">
                <a16:creationId xmlns:a16="http://schemas.microsoft.com/office/drawing/2014/main" id="{56D22632-0322-499C-9F9C-83994915E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63a2e71d104fbf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2405">
            <a:extLst xmlns:a="http://schemas.openxmlformats.org/drawingml/2006/main">
              <a:ext uri="{FF2B5EF4-FFF2-40B4-BE49-F238E27FC236}">
                <a16:creationId xmlns:a16="http://schemas.microsoft.com/office/drawing/2014/main" id="{063E2374-BDA8-4F00-9C06-55176FE9B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226468501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2051">
            <a:extLst xmlns:a="http://schemas.openxmlformats.org/drawingml/2006/main">
              <a:ext uri="{FF2B5EF4-FFF2-40B4-BE49-F238E27FC236}">
                <a16:creationId xmlns:a16="http://schemas.microsoft.com/office/drawing/2014/main" id="{379F143E-1A27-4C64-8317-88492B5A9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F3C5F53-7FCB-48B1-9A19-17AD4923E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整合挑戰｜讓 Agent 回應一個可驗證的痛點</a:t>
            </a:r>
          </a:p>
        </p:txBody>
      </p:sp>
      <p:cxnSp>
        <p:nvCxnSpPr>
          <p:cNvPr id="27" name="shape-205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2053">
            <a:extLst xmlns:a="http://schemas.openxmlformats.org/drawingml/2006/main">
              <a:ext uri="{FF2B5EF4-FFF2-40B4-BE49-F238E27FC236}">
                <a16:creationId xmlns:a16="http://schemas.microsoft.com/office/drawing/2014/main" id="{BEE9733A-E9F6-48A1-85D0-B5B2110C6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E34236C-C53A-4C55-B59F-C53B1F5A5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53</a:t>
            </a:r>
          </a:p>
        </p:txBody>
      </p:sp>
      <p:sp>
        <p:nvSpPr>
          <p:cNvPr id="6" name="text-2054">
            <a:extLst xmlns:a="http://schemas.openxmlformats.org/drawingml/2006/main">
              <a:ext uri="{FF2B5EF4-FFF2-40B4-BE49-F238E27FC236}">
                <a16:creationId xmlns:a16="http://schemas.microsoft.com/office/drawing/2014/main" id="{67732D73-CB1E-4331-B739-3404B0438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15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2055">
            <a:extLst xmlns:a="http://schemas.openxmlformats.org/drawingml/2006/main">
              <a:ext uri="{FF2B5EF4-FFF2-40B4-BE49-F238E27FC236}">
                <a16:creationId xmlns:a16="http://schemas.microsoft.com/office/drawing/2014/main" id="{15633D58-DE88-47D9-A9F2-E0DEFE94E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2056">
            <a:extLst xmlns:a="http://schemas.openxmlformats.org/drawingml/2006/main">
              <a:ext uri="{FF2B5EF4-FFF2-40B4-BE49-F238E27FC236}">
                <a16:creationId xmlns:a16="http://schemas.microsoft.com/office/drawing/2014/main" id="{6E5B3117-A21B-49D5-8075-5AE16EFB9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2057">
            <a:extLst xmlns:a="http://schemas.openxmlformats.org/drawingml/2006/main">
              <a:ext uri="{FF2B5EF4-FFF2-40B4-BE49-F238E27FC236}">
                <a16:creationId xmlns:a16="http://schemas.microsoft.com/office/drawing/2014/main" id="{6DD41FA6-2949-4CE0-8D9A-A1738A467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啟用剛完成的 Skill</a:t>
            </a:r>
          </a:p>
        </p:txBody>
      </p:sp>
      <p:sp>
        <p:nvSpPr>
          <p:cNvPr id="10" name="text-2058">
            <a:extLst xmlns:a="http://schemas.openxmlformats.org/drawingml/2006/main">
              <a:ext uri="{FF2B5EF4-FFF2-40B4-BE49-F238E27FC236}">
                <a16:creationId xmlns:a16="http://schemas.microsoft.com/office/drawing/2014/main" id="{95914AAD-149E-4977-BACA-0C802B645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2059">
            <a:extLst xmlns:a="http://schemas.openxmlformats.org/drawingml/2006/main">
              <a:ext uri="{FF2B5EF4-FFF2-40B4-BE49-F238E27FC236}">
                <a16:creationId xmlns:a16="http://schemas.microsoft.com/office/drawing/2014/main" id="{85D9A8F8-FF09-46F8-8209-24F47255E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對上午作品或合成資料提出一項真實教學／研究痛點任務</a:t>
            </a:r>
          </a:p>
        </p:txBody>
      </p:sp>
      <p:sp>
        <p:nvSpPr>
          <p:cNvPr id="12" name="text-2060">
            <a:extLst xmlns:a="http://schemas.openxmlformats.org/drawingml/2006/main">
              <a:ext uri="{FF2B5EF4-FFF2-40B4-BE49-F238E27FC236}">
                <a16:creationId xmlns:a16="http://schemas.microsoft.com/office/drawing/2014/main" id="{6F7AD887-C2D2-41C7-B211-DA7B3F8EA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2061">
            <a:extLst xmlns:a="http://schemas.openxmlformats.org/drawingml/2006/main">
              <a:ext uri="{FF2B5EF4-FFF2-40B4-BE49-F238E27FC236}">
                <a16:creationId xmlns:a16="http://schemas.microsoft.com/office/drawing/2014/main" id="{0E8DD42F-7866-40EC-AF60-D2659BDA5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要求 Agent 實作並驗證</a:t>
            </a:r>
          </a:p>
        </p:txBody>
      </p:sp>
      <p:sp>
        <p:nvSpPr>
          <p:cNvPr id="14" name="text-2062">
            <a:extLst xmlns:a="http://schemas.openxmlformats.org/drawingml/2006/main">
              <a:ext uri="{FF2B5EF4-FFF2-40B4-BE49-F238E27FC236}">
                <a16:creationId xmlns:a16="http://schemas.microsoft.com/office/drawing/2014/main" id="{37779169-4574-43CF-A188-7E58E6658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2063">
            <a:extLst xmlns:a="http://schemas.openxmlformats.org/drawingml/2006/main">
              <a:ext uri="{FF2B5EF4-FFF2-40B4-BE49-F238E27FC236}">
                <a16:creationId xmlns:a16="http://schemas.microsoft.com/office/drawing/2014/main" id="{C3466675-ADE2-4B48-8584-543D57ED3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準備 90 秒成果與證據</a:t>
            </a:r>
          </a:p>
        </p:txBody>
      </p:sp>
      <p:sp>
        <p:nvSpPr>
          <p:cNvPr id="16" name="shape-2064">
            <a:extLst xmlns:a="http://schemas.openxmlformats.org/drawingml/2006/main">
              <a:ext uri="{FF2B5EF4-FFF2-40B4-BE49-F238E27FC236}">
                <a16:creationId xmlns:a16="http://schemas.microsoft.com/office/drawing/2014/main" id="{49587E2F-7444-4180-9E01-23A2A6F5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7" name="text-2065">
            <a:extLst xmlns:a="http://schemas.openxmlformats.org/drawingml/2006/main">
              <a:ext uri="{FF2B5EF4-FFF2-40B4-BE49-F238E27FC236}">
                <a16:creationId xmlns:a16="http://schemas.microsoft.com/office/drawing/2014/main" id="{1BE0D8C8-12D1-44D7-87DE-6236BA776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2066">
            <a:extLst xmlns:a="http://schemas.openxmlformats.org/drawingml/2006/main">
              <a:ext uri="{FF2B5EF4-FFF2-40B4-BE49-F238E27FC236}">
                <a16:creationId xmlns:a16="http://schemas.microsoft.com/office/drawing/2014/main" id="{53A993E2-FE8F-4177-82AC-80E612B86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Skill 有被正確觸發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成果可開啟或可檢查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至少一個驗證證據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說明一項人工決定</a:t>
            </a:r>
          </a:p>
        </p:txBody>
      </p:sp>
      <p:sp>
        <p:nvSpPr>
          <p:cNvPr id="19" name="text-2289">
            <a:extLst xmlns:a="http://schemas.openxmlformats.org/drawingml/2006/main">
              <a:ext uri="{FF2B5EF4-FFF2-40B4-BE49-F238E27FC236}">
                <a16:creationId xmlns:a16="http://schemas.microsoft.com/office/drawing/2014/main" id="{465AA0B5-C7F4-4EDE-B58C-C0B0E0A57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8af9ad2a659402d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1b758a5c1d44c70"/>
              </a:rPr>
              <a:t>Codex ↗</a:t>
            </a:r>
          </a:p>
        </p:txBody>
      </p:sp>
      <p:sp>
        <p:nvSpPr>
          <p:cNvPr id="20" name="shape-2406">
            <a:extLst xmlns:a="http://schemas.openxmlformats.org/drawingml/2006/main">
              <a:ext uri="{FF2B5EF4-FFF2-40B4-BE49-F238E27FC236}">
                <a16:creationId xmlns:a16="http://schemas.microsoft.com/office/drawing/2014/main" id="{9D8359CF-2F91-4EAA-8B1C-11462A972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7967d622724e47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2407">
            <a:extLst xmlns:a="http://schemas.openxmlformats.org/drawingml/2006/main">
              <a:ext uri="{FF2B5EF4-FFF2-40B4-BE49-F238E27FC236}">
                <a16:creationId xmlns:a16="http://schemas.microsoft.com/office/drawing/2014/main" id="{D56D2341-620E-47E7-9A6F-C7C04906A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5bed15fceb425e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2408">
            <a:extLst xmlns:a="http://schemas.openxmlformats.org/drawingml/2006/main">
              <a:ext uri="{FF2B5EF4-FFF2-40B4-BE49-F238E27FC236}">
                <a16:creationId xmlns:a16="http://schemas.microsoft.com/office/drawing/2014/main" id="{41465A99-C6E0-4B46-ABCC-F29D6EAD3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731792674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2067">
            <a:extLst xmlns:a="http://schemas.openxmlformats.org/drawingml/2006/main">
              <a:ext uri="{FF2B5EF4-FFF2-40B4-BE49-F238E27FC236}">
                <a16:creationId xmlns:a16="http://schemas.microsoft.com/office/drawing/2014/main" id="{7DEC0841-ABCE-4EFB-995D-A5FAA7A5F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PEER REVIEW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F9F69A2-E977-42BC-A2D8-B22A53084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同儕回饋只看四件事</a:t>
            </a:r>
          </a:p>
        </p:txBody>
      </p:sp>
      <p:cxnSp>
        <p:nvCxnSpPr>
          <p:cNvPr id="30" name="shape-206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2069">
            <a:extLst xmlns:a="http://schemas.openxmlformats.org/drawingml/2006/main">
              <a:ext uri="{FF2B5EF4-FFF2-40B4-BE49-F238E27FC236}">
                <a16:creationId xmlns:a16="http://schemas.microsoft.com/office/drawing/2014/main" id="{99DC7425-70A6-482E-B84F-2A0A2ABD9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4E08A2F-CD97-4D12-9472-5EACA5601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54</a:t>
            </a:r>
          </a:p>
        </p:txBody>
      </p:sp>
      <p:sp>
        <p:nvSpPr>
          <p:cNvPr id="6" name="shape-2070">
            <a:extLst xmlns:a="http://schemas.openxmlformats.org/drawingml/2006/main">
              <a:ext uri="{FF2B5EF4-FFF2-40B4-BE49-F238E27FC236}">
                <a16:creationId xmlns:a16="http://schemas.microsoft.com/office/drawing/2014/main" id="{8AAD66B3-E5E4-4E03-9719-D4C145BE8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2071">
            <a:extLst xmlns:a="http://schemas.openxmlformats.org/drawingml/2006/main">
              <a:ext uri="{FF2B5EF4-FFF2-40B4-BE49-F238E27FC236}">
                <a16:creationId xmlns:a16="http://schemas.microsoft.com/office/drawing/2014/main" id="{E8B36E42-3F26-4622-8B5C-D2161A169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2072">
            <a:extLst xmlns:a="http://schemas.openxmlformats.org/drawingml/2006/main">
              <a:ext uri="{FF2B5EF4-FFF2-40B4-BE49-F238E27FC236}">
                <a16:creationId xmlns:a16="http://schemas.microsoft.com/office/drawing/2014/main" id="{A2505202-65AD-468D-BD2F-91F08EAE0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價值</a:t>
            </a:r>
          </a:p>
        </p:txBody>
      </p:sp>
      <p:sp>
        <p:nvSpPr>
          <p:cNvPr id="9" name="text-2073">
            <a:extLst xmlns:a="http://schemas.openxmlformats.org/drawingml/2006/main">
              <a:ext uri="{FF2B5EF4-FFF2-40B4-BE49-F238E27FC236}">
                <a16:creationId xmlns:a16="http://schemas.microsoft.com/office/drawing/2014/main" id="{08708D50-6294-4472-81A9-677DF35CE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這個 Agent 任務是否回應真實教學／研究痛點？</a:t>
            </a:r>
          </a:p>
        </p:txBody>
      </p:sp>
      <p:sp>
        <p:nvSpPr>
          <p:cNvPr id="10" name="shape-2074">
            <a:extLst xmlns:a="http://schemas.openxmlformats.org/drawingml/2006/main">
              <a:ext uri="{FF2B5EF4-FFF2-40B4-BE49-F238E27FC236}">
                <a16:creationId xmlns:a16="http://schemas.microsoft.com/office/drawing/2014/main" id="{A46C0E11-3966-470D-B067-E59F97AE4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2075">
            <a:extLst xmlns:a="http://schemas.openxmlformats.org/drawingml/2006/main">
              <a:ext uri="{FF2B5EF4-FFF2-40B4-BE49-F238E27FC236}">
                <a16:creationId xmlns:a16="http://schemas.microsoft.com/office/drawing/2014/main" id="{789A4052-89B7-49E6-B27E-39F224BE9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2076">
            <a:extLst xmlns:a="http://schemas.openxmlformats.org/drawingml/2006/main">
              <a:ext uri="{FF2B5EF4-FFF2-40B4-BE49-F238E27FC236}">
                <a16:creationId xmlns:a16="http://schemas.microsoft.com/office/drawing/2014/main" id="{BB21C60F-0563-4F72-A00F-31965C7FE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清楚</a:t>
            </a:r>
          </a:p>
        </p:txBody>
      </p:sp>
      <p:sp>
        <p:nvSpPr>
          <p:cNvPr id="13" name="text-2077">
            <a:extLst xmlns:a="http://schemas.openxmlformats.org/drawingml/2006/main">
              <a:ext uri="{FF2B5EF4-FFF2-40B4-BE49-F238E27FC236}">
                <a16:creationId xmlns:a16="http://schemas.microsoft.com/office/drawing/2014/main" id="{76604D52-ED20-446E-877B-D8B3335E0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陌生人是否能理解 Skill 的觸發時機與流程？</a:t>
            </a:r>
          </a:p>
        </p:txBody>
      </p:sp>
      <p:sp>
        <p:nvSpPr>
          <p:cNvPr id="14" name="shape-2078">
            <a:extLst xmlns:a="http://schemas.openxmlformats.org/drawingml/2006/main">
              <a:ext uri="{FF2B5EF4-FFF2-40B4-BE49-F238E27FC236}">
                <a16:creationId xmlns:a16="http://schemas.microsoft.com/office/drawing/2014/main" id="{1D8BC501-07DF-4394-9061-D4188B5F4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2079">
            <a:extLst xmlns:a="http://schemas.openxmlformats.org/drawingml/2006/main">
              <a:ext uri="{FF2B5EF4-FFF2-40B4-BE49-F238E27FC236}">
                <a16:creationId xmlns:a16="http://schemas.microsoft.com/office/drawing/2014/main" id="{CEE5874E-33EB-448F-A18A-A00922B2C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2080">
            <a:extLst xmlns:a="http://schemas.openxmlformats.org/drawingml/2006/main">
              <a:ext uri="{FF2B5EF4-FFF2-40B4-BE49-F238E27FC236}">
                <a16:creationId xmlns:a16="http://schemas.microsoft.com/office/drawing/2014/main" id="{A01194C6-1A02-401D-9886-0E98BE97B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證據</a:t>
            </a:r>
          </a:p>
        </p:txBody>
      </p:sp>
      <p:sp>
        <p:nvSpPr>
          <p:cNvPr id="17" name="text-2081">
            <a:extLst xmlns:a="http://schemas.openxmlformats.org/drawingml/2006/main">
              <a:ext uri="{FF2B5EF4-FFF2-40B4-BE49-F238E27FC236}">
                <a16:creationId xmlns:a16="http://schemas.microsoft.com/office/drawing/2014/main" id="{15D4CB93-F862-4CC1-9CAA-42543C0BC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完成宣告是否有檔案、測試、畫面或引用支持？</a:t>
            </a:r>
          </a:p>
        </p:txBody>
      </p:sp>
      <p:sp>
        <p:nvSpPr>
          <p:cNvPr id="18" name="shape-2082">
            <a:extLst xmlns:a="http://schemas.openxmlformats.org/drawingml/2006/main">
              <a:ext uri="{FF2B5EF4-FFF2-40B4-BE49-F238E27FC236}">
                <a16:creationId xmlns:a16="http://schemas.microsoft.com/office/drawing/2014/main" id="{EFB4EA27-2965-459F-B799-D73882EDA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2083">
            <a:extLst xmlns:a="http://schemas.openxmlformats.org/drawingml/2006/main">
              <a:ext uri="{FF2B5EF4-FFF2-40B4-BE49-F238E27FC236}">
                <a16:creationId xmlns:a16="http://schemas.microsoft.com/office/drawing/2014/main" id="{5B1E1017-626E-4D9C-8285-B7EBE09AD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2084">
            <a:extLst xmlns:a="http://schemas.openxmlformats.org/drawingml/2006/main">
              <a:ext uri="{FF2B5EF4-FFF2-40B4-BE49-F238E27FC236}">
                <a16:creationId xmlns:a16="http://schemas.microsoft.com/office/drawing/2014/main" id="{5E127DBF-A722-468F-8604-019523125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邊界</a:t>
            </a:r>
          </a:p>
        </p:txBody>
      </p:sp>
      <p:sp>
        <p:nvSpPr>
          <p:cNvPr id="21" name="text-2085">
            <a:extLst xmlns:a="http://schemas.openxmlformats.org/drawingml/2006/main">
              <a:ext uri="{FF2B5EF4-FFF2-40B4-BE49-F238E27FC236}">
                <a16:creationId xmlns:a16="http://schemas.microsoft.com/office/drawing/2014/main" id="{885008D3-E888-415A-A1C2-1103B6D51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是否知道哪些動作需確認、哪些結果仍未確認？</a:t>
            </a:r>
          </a:p>
        </p:txBody>
      </p:sp>
      <p:sp>
        <p:nvSpPr>
          <p:cNvPr id="22" name="text-2290">
            <a:extLst xmlns:a="http://schemas.openxmlformats.org/drawingml/2006/main">
              <a:ext uri="{FF2B5EF4-FFF2-40B4-BE49-F238E27FC236}">
                <a16:creationId xmlns:a16="http://schemas.microsoft.com/office/drawing/2014/main" id="{045702D7-F166-4ECE-BD42-99E56CB9F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c02f63e03bf4520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c8ae3c84e3a4a00"/>
              </a:rPr>
              <a:t>Codex ↗</a:t>
            </a:r>
          </a:p>
        </p:txBody>
      </p:sp>
      <p:sp>
        <p:nvSpPr>
          <p:cNvPr id="23" name="shape-2409">
            <a:extLst xmlns:a="http://schemas.openxmlformats.org/drawingml/2006/main">
              <a:ext uri="{FF2B5EF4-FFF2-40B4-BE49-F238E27FC236}">
                <a16:creationId xmlns:a16="http://schemas.microsoft.com/office/drawing/2014/main" id="{05C03BF6-F9AE-4D39-9147-327377FDB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f2ee412d164b7d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2410">
            <a:extLst xmlns:a="http://schemas.openxmlformats.org/drawingml/2006/main">
              <a:ext uri="{FF2B5EF4-FFF2-40B4-BE49-F238E27FC236}">
                <a16:creationId xmlns:a16="http://schemas.microsoft.com/office/drawing/2014/main" id="{C36B70D4-2D5E-4DEA-BFD0-0200B3427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76d64544e24904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2411">
            <a:extLst xmlns:a="http://schemas.openxmlformats.org/drawingml/2006/main">
              <a:ext uri="{FF2B5EF4-FFF2-40B4-BE49-F238E27FC236}">
                <a16:creationId xmlns:a16="http://schemas.microsoft.com/office/drawing/2014/main" id="{6B364793-0B3A-4667-8F11-060F67545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838035726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ext-2086">
            <a:extLst xmlns:a="http://schemas.openxmlformats.org/drawingml/2006/main">
              <a:ext uri="{FF2B5EF4-FFF2-40B4-BE49-F238E27FC236}">
                <a16:creationId xmlns:a16="http://schemas.microsoft.com/office/drawing/2014/main" id="{22EF4202-8B44-49F1-A78E-B1578FF87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NEXT 30 DAYS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0AC6C72-F949-4562-A15A-EF6AEFCBA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30 天導入計畫：小步驗證，留下可重用資產</a:t>
            </a:r>
          </a:p>
        </p:txBody>
      </p:sp>
      <p:cxnSp>
        <p:nvCxnSpPr>
          <p:cNvPr id="35" name="shape-208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2088">
            <a:extLst xmlns:a="http://schemas.openxmlformats.org/drawingml/2006/main">
              <a:ext uri="{FF2B5EF4-FFF2-40B4-BE49-F238E27FC236}">
                <a16:creationId xmlns:a16="http://schemas.microsoft.com/office/drawing/2014/main" id="{8299082D-ED2E-4FB4-B512-25D4E3060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97ADCAC-26E7-4213-AB05-12D5F4F07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55</a:t>
            </a:r>
          </a:p>
        </p:txBody>
      </p:sp>
      <p:sp>
        <p:nvSpPr>
          <p:cNvPr id="6" name="shape-2089">
            <a:extLst xmlns:a="http://schemas.openxmlformats.org/drawingml/2006/main">
              <a:ext uri="{FF2B5EF4-FFF2-40B4-BE49-F238E27FC236}">
                <a16:creationId xmlns:a16="http://schemas.microsoft.com/office/drawing/2014/main" id="{3BAB13D4-6503-4CDB-B7FC-8E7FEE7BD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24200"/>
            <a:ext cx="10591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8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hape-2090">
            <a:extLst xmlns:a="http://schemas.openxmlformats.org/drawingml/2006/main">
              <a:ext uri="{FF2B5EF4-FFF2-40B4-BE49-F238E27FC236}">
                <a16:creationId xmlns:a16="http://schemas.microsoft.com/office/drawing/2014/main" id="{4EFA6F4C-F4D2-4BA0-BD41-E96AD03C3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2091">
            <a:extLst xmlns:a="http://schemas.openxmlformats.org/drawingml/2006/main">
              <a:ext uri="{FF2B5EF4-FFF2-40B4-BE49-F238E27FC236}">
                <a16:creationId xmlns:a16="http://schemas.microsoft.com/office/drawing/2014/main" id="{7E4A0FAD-B3A0-4F24-B6DE-2DE6AEBA9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第 1 週</a:t>
            </a:r>
          </a:p>
        </p:txBody>
      </p:sp>
      <p:sp>
        <p:nvSpPr>
          <p:cNvPr id="9" name="text-2092">
            <a:extLst xmlns:a="http://schemas.openxmlformats.org/drawingml/2006/main">
              <a:ext uri="{FF2B5EF4-FFF2-40B4-BE49-F238E27FC236}">
                <a16:creationId xmlns:a16="http://schemas.microsoft.com/office/drawing/2014/main" id="{E917BB0E-C2EA-4539-950E-D380780CF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選任務</a:t>
            </a:r>
          </a:p>
        </p:txBody>
      </p:sp>
      <p:sp>
        <p:nvSpPr>
          <p:cNvPr id="10" name="text-2093">
            <a:extLst xmlns:a="http://schemas.openxmlformats.org/drawingml/2006/main">
              <a:ext uri="{FF2B5EF4-FFF2-40B4-BE49-F238E27FC236}">
                <a16:creationId xmlns:a16="http://schemas.microsoft.com/office/drawing/2014/main" id="{53FE2485-9E8D-4D62-8B63-AFCCBB19B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高頻、耗時、可驗證</a:t>
            </a:r>
          </a:p>
        </p:txBody>
      </p:sp>
      <p:sp>
        <p:nvSpPr>
          <p:cNvPr id="11" name="shape-2094">
            <a:extLst xmlns:a="http://schemas.openxmlformats.org/drawingml/2006/main">
              <a:ext uri="{FF2B5EF4-FFF2-40B4-BE49-F238E27FC236}">
                <a16:creationId xmlns:a16="http://schemas.microsoft.com/office/drawing/2014/main" id="{9F4F8C47-2898-4CC5-8B03-AB64FE89A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2095">
            <a:extLst xmlns:a="http://schemas.openxmlformats.org/drawingml/2006/main">
              <a:ext uri="{FF2B5EF4-FFF2-40B4-BE49-F238E27FC236}">
                <a16:creationId xmlns:a16="http://schemas.microsoft.com/office/drawing/2014/main" id="{49731879-7057-4B16-A2BC-1EF0EE53C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第 2 週</a:t>
            </a:r>
          </a:p>
        </p:txBody>
      </p:sp>
      <p:sp>
        <p:nvSpPr>
          <p:cNvPr id="13" name="text-2096">
            <a:extLst xmlns:a="http://schemas.openxmlformats.org/drawingml/2006/main">
              <a:ext uri="{FF2B5EF4-FFF2-40B4-BE49-F238E27FC236}">
                <a16:creationId xmlns:a16="http://schemas.microsoft.com/office/drawing/2014/main" id="{F796F921-9BBE-49B4-BCF6-71B5881DE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試流程</a:t>
            </a:r>
          </a:p>
        </p:txBody>
      </p:sp>
      <p:sp>
        <p:nvSpPr>
          <p:cNvPr id="14" name="text-2097">
            <a:extLst xmlns:a="http://schemas.openxmlformats.org/drawingml/2006/main">
              <a:ext uri="{FF2B5EF4-FFF2-40B4-BE49-F238E27FC236}">
                <a16:creationId xmlns:a16="http://schemas.microsoft.com/office/drawing/2014/main" id="{AC47C9D0-5AD6-4382-A0B3-0AC4CC7F6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自己跑 3 次</a:t>
            </a:r>
          </a:p>
        </p:txBody>
      </p:sp>
      <p:sp>
        <p:nvSpPr>
          <p:cNvPr id="15" name="shape-2098">
            <a:extLst xmlns:a="http://schemas.openxmlformats.org/drawingml/2006/main">
              <a:ext uri="{FF2B5EF4-FFF2-40B4-BE49-F238E27FC236}">
                <a16:creationId xmlns:a16="http://schemas.microsoft.com/office/drawing/2014/main" id="{E66FCDF0-A176-44E1-B04F-3D331860D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2099">
            <a:extLst xmlns:a="http://schemas.openxmlformats.org/drawingml/2006/main">
              <a:ext uri="{FF2B5EF4-FFF2-40B4-BE49-F238E27FC236}">
                <a16:creationId xmlns:a16="http://schemas.microsoft.com/office/drawing/2014/main" id="{337DA6D2-333C-4318-B9D8-7CFCF268D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第 3 週</a:t>
            </a:r>
          </a:p>
        </p:txBody>
      </p:sp>
      <p:sp>
        <p:nvSpPr>
          <p:cNvPr id="17" name="text-2100">
            <a:extLst xmlns:a="http://schemas.openxmlformats.org/drawingml/2006/main">
              <a:ext uri="{FF2B5EF4-FFF2-40B4-BE49-F238E27FC236}">
                <a16:creationId xmlns:a16="http://schemas.microsoft.com/office/drawing/2014/main" id="{6D8EBFB1-9FCA-48EC-9FB0-C1CC37308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給同儕</a:t>
            </a:r>
          </a:p>
        </p:txBody>
      </p:sp>
      <p:sp>
        <p:nvSpPr>
          <p:cNvPr id="18" name="text-2101">
            <a:extLst xmlns:a="http://schemas.openxmlformats.org/drawingml/2006/main">
              <a:ext uri="{FF2B5EF4-FFF2-40B4-BE49-F238E27FC236}">
                <a16:creationId xmlns:a16="http://schemas.microsoft.com/office/drawing/2014/main" id="{4DFFBC32-D09B-4C4A-80B5-201C028B5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找 1 人盲測</a:t>
            </a:r>
          </a:p>
        </p:txBody>
      </p:sp>
      <p:sp>
        <p:nvSpPr>
          <p:cNvPr id="19" name="shape-2102">
            <a:extLst xmlns:a="http://schemas.openxmlformats.org/drawingml/2006/main">
              <a:ext uri="{FF2B5EF4-FFF2-40B4-BE49-F238E27FC236}">
                <a16:creationId xmlns:a16="http://schemas.microsoft.com/office/drawing/2014/main" id="{9136A3B4-B255-4E22-A096-168D7B019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2103">
            <a:extLst xmlns:a="http://schemas.openxmlformats.org/drawingml/2006/main">
              <a:ext uri="{FF2B5EF4-FFF2-40B4-BE49-F238E27FC236}">
                <a16:creationId xmlns:a16="http://schemas.microsoft.com/office/drawing/2014/main" id="{8A303739-20D9-4F9A-BB60-1EA8448A7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第 4 週</a:t>
            </a:r>
          </a:p>
        </p:txBody>
      </p:sp>
      <p:sp>
        <p:nvSpPr>
          <p:cNvPr id="21" name="text-2104">
            <a:extLst xmlns:a="http://schemas.openxmlformats.org/drawingml/2006/main">
              <a:ext uri="{FF2B5EF4-FFF2-40B4-BE49-F238E27FC236}">
                <a16:creationId xmlns:a16="http://schemas.microsoft.com/office/drawing/2014/main" id="{B9BF0426-B9DF-4464-997A-DB26139F0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修 Skill</a:t>
            </a:r>
          </a:p>
        </p:txBody>
      </p:sp>
      <p:sp>
        <p:nvSpPr>
          <p:cNvPr id="22" name="text-2105">
            <a:extLst xmlns:a="http://schemas.openxmlformats.org/drawingml/2006/main">
              <a:ext uri="{FF2B5EF4-FFF2-40B4-BE49-F238E27FC236}">
                <a16:creationId xmlns:a16="http://schemas.microsoft.com/office/drawing/2014/main" id="{0CE17526-74F0-48DA-9F77-F5565CD2C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補規則與範例</a:t>
            </a:r>
          </a:p>
        </p:txBody>
      </p:sp>
      <p:sp>
        <p:nvSpPr>
          <p:cNvPr id="23" name="shape-2106">
            <a:extLst xmlns:a="http://schemas.openxmlformats.org/drawingml/2006/main">
              <a:ext uri="{FF2B5EF4-FFF2-40B4-BE49-F238E27FC236}">
                <a16:creationId xmlns:a16="http://schemas.microsoft.com/office/drawing/2014/main" id="{67EB8080-3781-4686-AE73-77509212E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-2107">
            <a:extLst xmlns:a="http://schemas.openxmlformats.org/drawingml/2006/main">
              <a:ext uri="{FF2B5EF4-FFF2-40B4-BE49-F238E27FC236}">
                <a16:creationId xmlns:a16="http://schemas.microsoft.com/office/drawing/2014/main" id="{5ED71CE2-841B-4FA2-9933-1FCB0FC84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第 30 天</a:t>
            </a:r>
          </a:p>
        </p:txBody>
      </p:sp>
      <p:sp>
        <p:nvSpPr>
          <p:cNvPr id="25" name="text-2108">
            <a:extLst xmlns:a="http://schemas.openxmlformats.org/drawingml/2006/main">
              <a:ext uri="{FF2B5EF4-FFF2-40B4-BE49-F238E27FC236}">
                <a16:creationId xmlns:a16="http://schemas.microsoft.com/office/drawing/2014/main" id="{E159D7CD-1498-4546-9A83-85C960EE8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決定</a:t>
            </a:r>
          </a:p>
        </p:txBody>
      </p:sp>
      <p:sp>
        <p:nvSpPr>
          <p:cNvPr id="26" name="text-2109">
            <a:extLst xmlns:a="http://schemas.openxmlformats.org/drawingml/2006/main">
              <a:ext uri="{FF2B5EF4-FFF2-40B4-BE49-F238E27FC236}">
                <a16:creationId xmlns:a16="http://schemas.microsoft.com/office/drawing/2014/main" id="{67DDA141-1621-4269-AB8B-861915D00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採用、修改或淘汰</a:t>
            </a:r>
          </a:p>
        </p:txBody>
      </p:sp>
      <p:sp>
        <p:nvSpPr>
          <p:cNvPr id="27" name="text-2291">
            <a:extLst xmlns:a="http://schemas.openxmlformats.org/drawingml/2006/main">
              <a:ext uri="{FF2B5EF4-FFF2-40B4-BE49-F238E27FC236}">
                <a16:creationId xmlns:a16="http://schemas.microsoft.com/office/drawing/2014/main" id="{865A0E46-BDB9-4884-A777-00DEC7B6F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c33ca0257bf44f0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3aa1d65e485485a"/>
              </a:rPr>
              <a:t>Codex ↗</a:t>
            </a:r>
          </a:p>
        </p:txBody>
      </p:sp>
      <p:sp>
        <p:nvSpPr>
          <p:cNvPr id="28" name="shape-2412">
            <a:extLst xmlns:a="http://schemas.openxmlformats.org/drawingml/2006/main">
              <a:ext uri="{FF2B5EF4-FFF2-40B4-BE49-F238E27FC236}">
                <a16:creationId xmlns:a16="http://schemas.microsoft.com/office/drawing/2014/main" id="{062A185C-F652-4F99-81D6-1EED515EE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80cb9d60a64630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0" name="text-2413">
            <a:extLst xmlns:a="http://schemas.openxmlformats.org/drawingml/2006/main">
              <a:ext uri="{FF2B5EF4-FFF2-40B4-BE49-F238E27FC236}">
                <a16:creationId xmlns:a16="http://schemas.microsoft.com/office/drawing/2014/main" id="{C452E17C-88DB-4FBA-B819-706C13489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5993c6894d4ceb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2" name="text-2414">
            <a:extLst xmlns:a="http://schemas.openxmlformats.org/drawingml/2006/main">
              <a:ext uri="{FF2B5EF4-FFF2-40B4-BE49-F238E27FC236}">
                <a16:creationId xmlns:a16="http://schemas.microsoft.com/office/drawing/2014/main" id="{8E150434-3513-4924-AF5E-6B87363F3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849075311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2110">
            <a:extLst xmlns:a="http://schemas.openxmlformats.org/drawingml/2006/main">
              <a:ext uri="{FF2B5EF4-FFF2-40B4-BE49-F238E27FC236}">
                <a16:creationId xmlns:a16="http://schemas.microsoft.com/office/drawing/2014/main" id="{129879E6-B683-4DB3-A0F2-5B2BA88EA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FROM ASSISTANT TO SUPERPOWER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8EE0253-E263-4402-8F43-D18947854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 時代：我們像擁有了超能力</a:t>
            </a:r>
          </a:p>
        </p:txBody>
      </p:sp>
      <p:cxnSp>
        <p:nvCxnSpPr>
          <p:cNvPr id="24" name="shape-211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2112">
            <a:extLst xmlns:a="http://schemas.openxmlformats.org/drawingml/2006/main">
              <a:ext uri="{FF2B5EF4-FFF2-40B4-BE49-F238E27FC236}">
                <a16:creationId xmlns:a16="http://schemas.microsoft.com/office/drawing/2014/main" id="{4E535B41-54C6-4E39-AF2E-C41A61B45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B554763-538A-4C95-9734-F64166C40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56</a:t>
            </a:r>
          </a:p>
        </p:txBody>
      </p:sp>
      <p:sp>
        <p:nvSpPr>
          <p:cNvPr id="6" name="shape-2113">
            <a:extLst xmlns:a="http://schemas.openxmlformats.org/drawingml/2006/main">
              <a:ext uri="{FF2B5EF4-FFF2-40B4-BE49-F238E27FC236}">
                <a16:creationId xmlns:a16="http://schemas.microsoft.com/office/drawing/2014/main" id="{781489F0-92D3-4EE1-BF80-06A164949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2114">
            <a:extLst xmlns:a="http://schemas.openxmlformats.org/drawingml/2006/main">
              <a:ext uri="{FF2B5EF4-FFF2-40B4-BE49-F238E27FC236}">
                <a16:creationId xmlns:a16="http://schemas.microsoft.com/office/drawing/2014/main" id="{EFB3D665-5386-4844-A2E0-BD1B57331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2115">
            <a:extLst xmlns:a="http://schemas.openxmlformats.org/drawingml/2006/main">
              <a:ext uri="{FF2B5EF4-FFF2-40B4-BE49-F238E27FC236}">
                <a16:creationId xmlns:a16="http://schemas.microsoft.com/office/drawing/2014/main" id="{7BF4E672-47F4-4E92-9BD3-F85C45535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能力被放大</a:t>
            </a:r>
          </a:p>
        </p:txBody>
      </p:sp>
      <p:sp>
        <p:nvSpPr>
          <p:cNvPr id="9" name="text-2116">
            <a:extLst xmlns:a="http://schemas.openxmlformats.org/drawingml/2006/main">
              <a:ext uri="{FF2B5EF4-FFF2-40B4-BE49-F238E27FC236}">
                <a16:creationId xmlns:a16="http://schemas.microsoft.com/office/drawing/2014/main" id="{4400368A-22E5-4735-AF31-2B84F2E43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完成以前想不到自己做得到的事，從執行者變成能推進整個工作的人。</a:t>
            </a:r>
          </a:p>
        </p:txBody>
      </p:sp>
      <p:sp>
        <p:nvSpPr>
          <p:cNvPr id="10" name="shape-2117">
            <a:extLst xmlns:a="http://schemas.openxmlformats.org/drawingml/2006/main">
              <a:ext uri="{FF2B5EF4-FFF2-40B4-BE49-F238E27FC236}">
                <a16:creationId xmlns:a16="http://schemas.microsoft.com/office/drawing/2014/main" id="{46F29930-6126-4A71-AB1E-40166046D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2118">
            <a:extLst xmlns:a="http://schemas.openxmlformats.org/drawingml/2006/main">
              <a:ext uri="{FF2B5EF4-FFF2-40B4-BE49-F238E27FC236}">
                <a16:creationId xmlns:a16="http://schemas.microsoft.com/office/drawing/2014/main" id="{932959B9-9395-49C9-8A8D-A2EF8B453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2119">
            <a:extLst xmlns:a="http://schemas.openxmlformats.org/drawingml/2006/main">
              <a:ext uri="{FF2B5EF4-FFF2-40B4-BE49-F238E27FC236}">
                <a16:creationId xmlns:a16="http://schemas.microsoft.com/office/drawing/2014/main" id="{F511EE37-630A-4750-B7B2-C4BAC7EF5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新的可能感</a:t>
            </a:r>
          </a:p>
        </p:txBody>
      </p:sp>
      <p:sp>
        <p:nvSpPr>
          <p:cNvPr id="13" name="text-2120">
            <a:extLst xmlns:a="http://schemas.openxmlformats.org/drawingml/2006/main">
              <a:ext uri="{FF2B5EF4-FFF2-40B4-BE49-F238E27FC236}">
                <a16:creationId xmlns:a16="http://schemas.microsoft.com/office/drawing/2014/main" id="{7FD141BE-B098-45EA-AE47-733DCEDE7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「沒有你做不到的事，只有你想不到的事」成為一種強烈的行動感。</a:t>
            </a:r>
          </a:p>
        </p:txBody>
      </p:sp>
      <p:sp>
        <p:nvSpPr>
          <p:cNvPr id="14" name="shape-2121">
            <a:extLst xmlns:a="http://schemas.openxmlformats.org/drawingml/2006/main">
              <a:ext uri="{FF2B5EF4-FFF2-40B4-BE49-F238E27FC236}">
                <a16:creationId xmlns:a16="http://schemas.microsoft.com/office/drawing/2014/main" id="{809A9BB4-5DE1-4509-8DE4-CCF9942CD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2122">
            <a:extLst xmlns:a="http://schemas.openxmlformats.org/drawingml/2006/main">
              <a:ext uri="{FF2B5EF4-FFF2-40B4-BE49-F238E27FC236}">
                <a16:creationId xmlns:a16="http://schemas.microsoft.com/office/drawing/2014/main" id="{7399A2D4-3FC1-480D-940E-E1960AEA7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2123">
            <a:extLst xmlns:a="http://schemas.openxmlformats.org/drawingml/2006/main">
              <a:ext uri="{FF2B5EF4-FFF2-40B4-BE49-F238E27FC236}">
                <a16:creationId xmlns:a16="http://schemas.microsoft.com/office/drawing/2014/main" id="{6595E2A8-8DD6-4ED3-A6AE-4B74AFF1A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一個人也能做大事</a:t>
            </a:r>
          </a:p>
        </p:txBody>
      </p:sp>
      <p:sp>
        <p:nvSpPr>
          <p:cNvPr id="17" name="text-2124">
            <a:extLst xmlns:a="http://schemas.openxmlformats.org/drawingml/2006/main">
              <a:ext uri="{FF2B5EF4-FFF2-40B4-BE49-F238E27FC236}">
                <a16:creationId xmlns:a16="http://schemas.microsoft.com/office/drawing/2014/main" id="{A4302EC3-257D-4F24-A1D7-66C54D0FA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講者觀察：一人公司、一人獨角獸的想像，正被 Agent 重新打開。</a:t>
            </a:r>
          </a:p>
        </p:txBody>
      </p:sp>
      <p:sp>
        <p:nvSpPr>
          <p:cNvPr id="18" name="shape-2125">
            <a:extLst xmlns:a="http://schemas.openxmlformats.org/drawingml/2006/main">
              <a:ext uri="{FF2B5EF4-FFF2-40B4-BE49-F238E27FC236}">
                <a16:creationId xmlns:a16="http://schemas.microsoft.com/office/drawing/2014/main" id="{96B509C1-3DB5-4D85-B3F0-2B190BCB4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2126">
            <a:extLst xmlns:a="http://schemas.openxmlformats.org/drawingml/2006/main">
              <a:ext uri="{FF2B5EF4-FFF2-40B4-BE49-F238E27FC236}">
                <a16:creationId xmlns:a16="http://schemas.microsoft.com/office/drawing/2014/main" id="{0A31C965-D291-455B-8E82-B8ED62324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2127">
            <a:extLst xmlns:a="http://schemas.openxmlformats.org/drawingml/2006/main">
              <a:ext uri="{FF2B5EF4-FFF2-40B4-BE49-F238E27FC236}">
                <a16:creationId xmlns:a16="http://schemas.microsoft.com/office/drawing/2014/main" id="{16E4D6A4-A834-4CF7-BA4A-55A3E34B8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能力不等於責任全包</a:t>
            </a:r>
          </a:p>
        </p:txBody>
      </p:sp>
      <p:sp>
        <p:nvSpPr>
          <p:cNvPr id="21" name="text-2128">
            <a:extLst xmlns:a="http://schemas.openxmlformats.org/drawingml/2006/main">
              <a:ext uri="{FF2B5EF4-FFF2-40B4-BE49-F238E27FC236}">
                <a16:creationId xmlns:a16="http://schemas.microsoft.com/office/drawing/2014/main" id="{5599987E-7DAD-45CF-9800-5722C1FD0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力量變大之後，更要重新決定哪些事值得做、哪些事可以放下。</a:t>
            </a:r>
          </a:p>
        </p:txBody>
      </p:sp>
    </p:spTree>
    <p:extLst>
      <p:ext uri="{BB962C8B-B14F-4D97-AF65-F5344CB8AC3E}">
        <p14:creationId xmlns:p14="http://schemas.microsoft.com/office/powerpoint/2010/main" val="448736139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ext-2129">
            <a:extLst xmlns:a="http://schemas.openxmlformats.org/drawingml/2006/main">
              <a:ext uri="{FF2B5EF4-FFF2-40B4-BE49-F238E27FC236}">
                <a16:creationId xmlns:a16="http://schemas.microsoft.com/office/drawing/2014/main" id="{45A22174-9D32-4A58-B15D-2561ED8A3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DISCOVERY &amp; DOPAMINE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06390DE-EB1B-491F-94B7-6478A8AEF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從「做不到」到「我可以」：一人公司的多巴胺時代</a:t>
            </a:r>
          </a:p>
        </p:txBody>
      </p:sp>
      <p:cxnSp>
        <p:nvCxnSpPr>
          <p:cNvPr id="14" name="shape-213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2131">
            <a:extLst xmlns:a="http://schemas.openxmlformats.org/drawingml/2006/main">
              <a:ext uri="{FF2B5EF4-FFF2-40B4-BE49-F238E27FC236}">
                <a16:creationId xmlns:a16="http://schemas.microsoft.com/office/drawing/2014/main" id="{03F074A4-33CA-4663-B5DA-02192496C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47B05C4-F546-427D-BCA9-9288135E0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57</a:t>
            </a:r>
          </a:p>
        </p:txBody>
      </p:sp>
      <p:sp>
        <p:nvSpPr>
          <p:cNvPr id="6" name="shape-2132">
            <a:extLst xmlns:a="http://schemas.openxmlformats.org/drawingml/2006/main">
              <a:ext uri="{FF2B5EF4-FFF2-40B4-BE49-F238E27FC236}">
                <a16:creationId xmlns:a16="http://schemas.microsoft.com/office/drawing/2014/main" id="{BDD20034-CCCD-4E69-BB2C-B30F024E3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2133">
            <a:extLst xmlns:a="http://schemas.openxmlformats.org/drawingml/2006/main">
              <a:ext uri="{FF2B5EF4-FFF2-40B4-BE49-F238E27FC236}">
                <a16:creationId xmlns:a16="http://schemas.microsoft.com/office/drawing/2014/main" id="{9ADB2B7B-CD13-4B21-A9FE-CB8D675AA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8" name="text-2134">
            <a:extLst xmlns:a="http://schemas.openxmlformats.org/drawingml/2006/main">
              <a:ext uri="{FF2B5EF4-FFF2-40B4-BE49-F238E27FC236}">
                <a16:creationId xmlns:a16="http://schemas.microsoft.com/office/drawing/2014/main" id="{0D118809-D516-4CEF-A1A2-BFA0ACEAA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被打開的新大陸</a:t>
            </a:r>
          </a:p>
        </p:txBody>
      </p:sp>
      <p:sp>
        <p:nvSpPr>
          <p:cNvPr id="9" name="text-2135">
            <a:extLst xmlns:a="http://schemas.openxmlformats.org/drawingml/2006/main">
              <a:ext uri="{FF2B5EF4-FFF2-40B4-BE49-F238E27FC236}">
                <a16:creationId xmlns:a16="http://schemas.microsoft.com/office/drawing/2014/main" id="{9C20FF56-0CEF-4A20-9DEC-CFC1FC5FF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以前沒有 AI 的時候，我們常做到這裡就好。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有了 AI Agent，原本以為做不到的事，忽然可以拆解、委派、測試，再一步步完成。</a:t>
            </a:r>
          </a:p>
        </p:txBody>
      </p:sp>
      <p:sp>
        <p:nvSpPr>
          <p:cNvPr id="10" name="text-2136">
            <a:extLst xmlns:a="http://schemas.openxmlformats.org/drawingml/2006/main">
              <a:ext uri="{FF2B5EF4-FFF2-40B4-BE49-F238E27FC236}">
                <a16:creationId xmlns:a16="http://schemas.microsoft.com/office/drawing/2014/main" id="{BC875E9A-CBEB-4602-9F9B-C6CE32AD1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能力變強的代價</a:t>
            </a:r>
          </a:p>
        </p:txBody>
      </p:sp>
      <p:sp>
        <p:nvSpPr>
          <p:cNvPr id="11" name="text-2137">
            <a:extLst xmlns:a="http://schemas.openxmlformats.org/drawingml/2006/main">
              <a:ext uri="{FF2B5EF4-FFF2-40B4-BE49-F238E27FC236}">
                <a16:creationId xmlns:a16="http://schemas.microsoft.com/office/drawing/2014/main" id="{EE378CB1-1D92-4F80-9577-4CC7C3CFA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發現自己還能做更多，會產生強烈的成就感與興奮感。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但如果沒有停下來重新選擇，可能把每一個新可能都變成新的待辦事項。</a:t>
            </a:r>
          </a:p>
        </p:txBody>
      </p:sp>
    </p:spTree>
    <p:extLst>
      <p:ext uri="{BB962C8B-B14F-4D97-AF65-F5344CB8AC3E}">
        <p14:creationId xmlns:p14="http://schemas.microsoft.com/office/powerpoint/2010/main" val="712381188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2138">
            <a:extLst xmlns:a="http://schemas.openxmlformats.org/drawingml/2006/main">
              <a:ext uri="{FF2B5EF4-FFF2-40B4-BE49-F238E27FC236}">
                <a16:creationId xmlns:a16="http://schemas.microsoft.com/office/drawing/2014/main" id="{12AF792A-F690-48A4-B733-262C894DF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THE PRODUCTIVITY PARADOX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56B2CFD-E57A-4CCA-B72E-EC4F878B6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效率提升 20 倍，為什麼人反而更忙？</a:t>
            </a:r>
          </a:p>
        </p:txBody>
      </p:sp>
      <p:cxnSp>
        <p:nvCxnSpPr>
          <p:cNvPr id="24" name="shape-213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2140">
            <a:extLst xmlns:a="http://schemas.openxmlformats.org/drawingml/2006/main">
              <a:ext uri="{FF2B5EF4-FFF2-40B4-BE49-F238E27FC236}">
                <a16:creationId xmlns:a16="http://schemas.microsoft.com/office/drawing/2014/main" id="{2F0C9D35-A303-4875-AB0C-BB3D33B78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3D25768-9FB6-4B42-96CD-0C058FDAB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58</a:t>
            </a:r>
          </a:p>
        </p:txBody>
      </p:sp>
      <p:sp>
        <p:nvSpPr>
          <p:cNvPr id="6" name="shape-2141">
            <a:extLst xmlns:a="http://schemas.openxmlformats.org/drawingml/2006/main">
              <a:ext uri="{FF2B5EF4-FFF2-40B4-BE49-F238E27FC236}">
                <a16:creationId xmlns:a16="http://schemas.microsoft.com/office/drawing/2014/main" id="{402A870A-64FC-4D95-B26C-3A583083A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2142">
            <a:extLst xmlns:a="http://schemas.openxmlformats.org/drawingml/2006/main">
              <a:ext uri="{FF2B5EF4-FFF2-40B4-BE49-F238E27FC236}">
                <a16:creationId xmlns:a16="http://schemas.microsoft.com/office/drawing/2014/main" id="{B6AFBA7A-B045-4EA0-B8FD-08301DF03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2143">
            <a:extLst xmlns:a="http://schemas.openxmlformats.org/drawingml/2006/main">
              <a:ext uri="{FF2B5EF4-FFF2-40B4-BE49-F238E27FC236}">
                <a16:creationId xmlns:a16="http://schemas.microsoft.com/office/drawing/2014/main" id="{8121356F-7864-4E77-B452-4D0D2F96D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時間真的變多了</a:t>
            </a:r>
          </a:p>
        </p:txBody>
      </p:sp>
      <p:sp>
        <p:nvSpPr>
          <p:cNvPr id="9" name="text-2144">
            <a:extLst xmlns:a="http://schemas.openxmlformats.org/drawingml/2006/main">
              <a:ext uri="{FF2B5EF4-FFF2-40B4-BE49-F238E27FC236}">
                <a16:creationId xmlns:a16="http://schemas.microsoft.com/office/drawing/2014/main" id="{3FC7D7D2-AB5D-4F72-9050-E3DA13CA3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一件事可能只需要原本 1/10 甚至 1/20 的時間，效率提升至少 20 倍。</a:t>
            </a:r>
          </a:p>
        </p:txBody>
      </p:sp>
      <p:sp>
        <p:nvSpPr>
          <p:cNvPr id="10" name="shape-2145">
            <a:extLst xmlns:a="http://schemas.openxmlformats.org/drawingml/2006/main">
              <a:ext uri="{FF2B5EF4-FFF2-40B4-BE49-F238E27FC236}">
                <a16:creationId xmlns:a16="http://schemas.microsoft.com/office/drawing/2014/main" id="{142A85ED-0607-4733-A3B7-0C5039D70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2146">
            <a:extLst xmlns:a="http://schemas.openxmlformats.org/drawingml/2006/main">
              <a:ext uri="{FF2B5EF4-FFF2-40B4-BE49-F238E27FC236}">
                <a16:creationId xmlns:a16="http://schemas.microsoft.com/office/drawing/2014/main" id="{9954CC94-3069-4F6B-A11B-C47EE7A69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2147">
            <a:extLst xmlns:a="http://schemas.openxmlformats.org/drawingml/2006/main">
              <a:ext uri="{FF2B5EF4-FFF2-40B4-BE49-F238E27FC236}">
                <a16:creationId xmlns:a16="http://schemas.microsoft.com/office/drawing/2014/main" id="{560B35ED-EB14-499B-9AFB-BFC4B3210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任務也跟著膨脹</a:t>
            </a:r>
          </a:p>
        </p:txBody>
      </p:sp>
      <p:sp>
        <p:nvSpPr>
          <p:cNvPr id="13" name="text-2148">
            <a:extLst xmlns:a="http://schemas.openxmlformats.org/drawingml/2006/main">
              <a:ext uri="{FF2B5EF4-FFF2-40B4-BE49-F238E27FC236}">
                <a16:creationId xmlns:a16="http://schemas.microsoft.com/office/drawing/2014/main" id="{9774D75D-E2DA-4A45-99A4-CABC146CB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省下來的時間，常被拿去安排更多優化、改良、版本與新點子。</a:t>
            </a:r>
          </a:p>
        </p:txBody>
      </p:sp>
      <p:sp>
        <p:nvSpPr>
          <p:cNvPr id="14" name="shape-2149">
            <a:extLst xmlns:a="http://schemas.openxmlformats.org/drawingml/2006/main">
              <a:ext uri="{FF2B5EF4-FFF2-40B4-BE49-F238E27FC236}">
                <a16:creationId xmlns:a16="http://schemas.microsoft.com/office/drawing/2014/main" id="{FB22FC73-8EAA-4FA6-A63A-963AC6B7D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2150">
            <a:extLst xmlns:a="http://schemas.openxmlformats.org/drawingml/2006/main">
              <a:ext uri="{FF2B5EF4-FFF2-40B4-BE49-F238E27FC236}">
                <a16:creationId xmlns:a16="http://schemas.microsoft.com/office/drawing/2014/main" id="{3B54595A-6AFF-45EE-A763-B296D5239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2151">
            <a:extLst xmlns:a="http://schemas.openxmlformats.org/drawingml/2006/main">
              <a:ext uri="{FF2B5EF4-FFF2-40B4-BE49-F238E27FC236}">
                <a16:creationId xmlns:a16="http://schemas.microsoft.com/office/drawing/2014/main" id="{3C9E9974-2943-4B80-8FBD-2D79A10C8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忙不是 Agent 的錯</a:t>
            </a:r>
          </a:p>
        </p:txBody>
      </p:sp>
      <p:sp>
        <p:nvSpPr>
          <p:cNvPr id="17" name="text-2152">
            <a:extLst xmlns:a="http://schemas.openxmlformats.org/drawingml/2006/main">
              <a:ext uri="{FF2B5EF4-FFF2-40B4-BE49-F238E27FC236}">
                <a16:creationId xmlns:a16="http://schemas.microsoft.com/office/drawing/2014/main" id="{892FD5FB-4755-49E6-9A54-D0E556930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真正需要檢查的是：我們是否把所有能做的事，都誤認成應該做的事？</a:t>
            </a:r>
          </a:p>
        </p:txBody>
      </p:sp>
      <p:sp>
        <p:nvSpPr>
          <p:cNvPr id="18" name="shape-2153">
            <a:extLst xmlns:a="http://schemas.openxmlformats.org/drawingml/2006/main">
              <a:ext uri="{FF2B5EF4-FFF2-40B4-BE49-F238E27FC236}">
                <a16:creationId xmlns:a16="http://schemas.microsoft.com/office/drawing/2014/main" id="{52FB42AF-DF0C-4E2D-A2C9-4F1B313D9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2154">
            <a:extLst xmlns:a="http://schemas.openxmlformats.org/drawingml/2006/main">
              <a:ext uri="{FF2B5EF4-FFF2-40B4-BE49-F238E27FC236}">
                <a16:creationId xmlns:a16="http://schemas.microsoft.com/office/drawing/2014/main" id="{2EA92B79-BB2E-4675-8697-2091287C8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2155">
            <a:extLst xmlns:a="http://schemas.openxmlformats.org/drawingml/2006/main">
              <a:ext uri="{FF2B5EF4-FFF2-40B4-BE49-F238E27FC236}">
                <a16:creationId xmlns:a16="http://schemas.microsoft.com/office/drawing/2014/main" id="{835A6AED-0651-408B-904B-FBD34E30E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重新定義完成</a:t>
            </a:r>
          </a:p>
        </p:txBody>
      </p:sp>
      <p:sp>
        <p:nvSpPr>
          <p:cNvPr id="21" name="text-2156">
            <a:extLst xmlns:a="http://schemas.openxmlformats.org/drawingml/2006/main">
              <a:ext uri="{FF2B5EF4-FFF2-40B4-BE49-F238E27FC236}">
                <a16:creationId xmlns:a16="http://schemas.microsoft.com/office/drawing/2014/main" id="{B31F8F15-8D75-4A0A-A5B2-C24E76D1D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完成不只是做得更快，也包括知道何時停止、休息與把時間交還給生活。</a:t>
            </a:r>
          </a:p>
        </p:txBody>
      </p:sp>
    </p:spTree>
    <p:extLst>
      <p:ext uri="{BB962C8B-B14F-4D97-AF65-F5344CB8AC3E}">
        <p14:creationId xmlns:p14="http://schemas.microsoft.com/office/powerpoint/2010/main" val="51634535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ext-2157">
            <a:extLst xmlns:a="http://schemas.openxmlformats.org/drawingml/2006/main">
              <a:ext uri="{FF2B5EF4-FFF2-40B4-BE49-F238E27FC236}">
                <a16:creationId xmlns:a16="http://schemas.microsoft.com/office/drawing/2014/main" id="{709A4145-C48A-43E8-895A-300867D1A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WHO IS HARNESSING WHOM?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FC0E6C7-D0E4-43CE-BD94-FF2A2C36A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誰在駕馭誰？Harness 的人生反思</a:t>
            </a:r>
          </a:p>
        </p:txBody>
      </p:sp>
      <p:cxnSp>
        <p:nvCxnSpPr>
          <p:cNvPr id="14" name="shape-215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2159">
            <a:extLst xmlns:a="http://schemas.openxmlformats.org/drawingml/2006/main">
              <a:ext uri="{FF2B5EF4-FFF2-40B4-BE49-F238E27FC236}">
                <a16:creationId xmlns:a16="http://schemas.microsoft.com/office/drawing/2014/main" id="{992FE438-9B84-41A0-9777-1D952BE15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FC9243D-0BD3-4BFB-88B7-2F17C7BE1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59</a:t>
            </a:r>
          </a:p>
        </p:txBody>
      </p:sp>
      <p:sp>
        <p:nvSpPr>
          <p:cNvPr id="6" name="shape-2160">
            <a:extLst xmlns:a="http://schemas.openxmlformats.org/drawingml/2006/main">
              <a:ext uri="{FF2B5EF4-FFF2-40B4-BE49-F238E27FC236}">
                <a16:creationId xmlns:a16="http://schemas.microsoft.com/office/drawing/2014/main" id="{4BEB413A-917E-42D4-B9F6-94B2F72B4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2161">
            <a:extLst xmlns:a="http://schemas.openxmlformats.org/drawingml/2006/main">
              <a:ext uri="{FF2B5EF4-FFF2-40B4-BE49-F238E27FC236}">
                <a16:creationId xmlns:a16="http://schemas.microsoft.com/office/drawing/2014/main" id="{49809180-16B0-4455-BF4E-AE8F14F56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8" name="text-2162">
            <a:extLst xmlns:a="http://schemas.openxmlformats.org/drawingml/2006/main">
              <a:ext uri="{FF2B5EF4-FFF2-40B4-BE49-F238E27FC236}">
                <a16:creationId xmlns:a16="http://schemas.microsoft.com/office/drawing/2014/main" id="{88B3DDEF-0204-4D31-88BB-1683DCD88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我們原本的說法</a:t>
            </a:r>
          </a:p>
        </p:txBody>
      </p:sp>
      <p:sp>
        <p:nvSpPr>
          <p:cNvPr id="9" name="text-2163">
            <a:extLst xmlns:a="http://schemas.openxmlformats.org/drawingml/2006/main">
              <a:ext uri="{FF2B5EF4-FFF2-40B4-BE49-F238E27FC236}">
                <a16:creationId xmlns:a16="http://schemas.microsoft.com/office/drawing/2014/main" id="{8BC5BE0C-53CE-42CC-82AA-8B2683FEF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我們說要 harness Agent：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駕馭它、指派它、讓它長時間不中斷地完成工作。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人的目標、界線與最後決定，應該留在人的手上。</a:t>
            </a:r>
          </a:p>
        </p:txBody>
      </p:sp>
      <p:sp>
        <p:nvSpPr>
          <p:cNvPr id="10" name="text-2164">
            <a:extLst xmlns:a="http://schemas.openxmlformats.org/drawingml/2006/main">
              <a:ext uri="{FF2B5EF4-FFF2-40B4-BE49-F238E27FC236}">
                <a16:creationId xmlns:a16="http://schemas.microsoft.com/office/drawing/2014/main" id="{C5DC48BF-02DB-4E3E-ADDF-EC67CA92B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可能發生的反轉</a:t>
            </a:r>
          </a:p>
        </p:txBody>
      </p:sp>
      <p:sp>
        <p:nvSpPr>
          <p:cNvPr id="11" name="text-2165">
            <a:extLst xmlns:a="http://schemas.openxmlformats.org/drawingml/2006/main">
              <a:ext uri="{FF2B5EF4-FFF2-40B4-BE49-F238E27FC236}">
                <a16:creationId xmlns:a16="http://schemas.microsoft.com/office/drawing/2014/main" id="{689D6B26-F42B-4093-958F-7E0A391A8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如果 Agent 讓我們攬下更多任務，日夜追逐下一個優化，明明是我們在使用工具，生活卻開始被工具的可能性牽著走。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這就是「誰在駕馭誰？」的提醒。</a:t>
            </a:r>
          </a:p>
        </p:txBody>
      </p:sp>
    </p:spTree>
    <p:extLst>
      <p:ext uri="{BB962C8B-B14F-4D97-AF65-F5344CB8AC3E}">
        <p14:creationId xmlns:p14="http://schemas.microsoft.com/office/powerpoint/2010/main" val="1173151704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2166">
            <a:extLst xmlns:a="http://schemas.openxmlformats.org/drawingml/2006/main">
              <a:ext uri="{FF2B5EF4-FFF2-40B4-BE49-F238E27FC236}">
                <a16:creationId xmlns:a16="http://schemas.microsoft.com/office/drawing/2014/main" id="{0AF29F4F-C837-4430-AEFD-48339065B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POWER &amp; EMOTIONAL VALUE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3820EA0-B92F-4D2A-80DB-08283098A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 帶來強大能力，也帶來情緒價值</a:t>
            </a:r>
          </a:p>
        </p:txBody>
      </p:sp>
      <p:cxnSp>
        <p:nvCxnSpPr>
          <p:cNvPr id="24" name="shape-216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2168">
            <a:extLst xmlns:a="http://schemas.openxmlformats.org/drawingml/2006/main">
              <a:ext uri="{FF2B5EF4-FFF2-40B4-BE49-F238E27FC236}">
                <a16:creationId xmlns:a16="http://schemas.microsoft.com/office/drawing/2014/main" id="{8020838D-7C16-4562-9FA4-F1003C41B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26CDA35-F4BF-4762-9F6B-5A84904D6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60</a:t>
            </a:r>
          </a:p>
        </p:txBody>
      </p:sp>
      <p:sp>
        <p:nvSpPr>
          <p:cNvPr id="6" name="shape-2169">
            <a:extLst xmlns:a="http://schemas.openxmlformats.org/drawingml/2006/main">
              <a:ext uri="{FF2B5EF4-FFF2-40B4-BE49-F238E27FC236}">
                <a16:creationId xmlns:a16="http://schemas.microsoft.com/office/drawing/2014/main" id="{4FE4550C-9823-43E6-AAC3-C69AE20DC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2170">
            <a:extLst xmlns:a="http://schemas.openxmlformats.org/drawingml/2006/main">
              <a:ext uri="{FF2B5EF4-FFF2-40B4-BE49-F238E27FC236}">
                <a16:creationId xmlns:a16="http://schemas.microsoft.com/office/drawing/2014/main" id="{43AE07B8-F4E7-4A5C-BB12-8FB66F56C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2171">
            <a:extLst xmlns:a="http://schemas.openxmlformats.org/drawingml/2006/main">
              <a:ext uri="{FF2B5EF4-FFF2-40B4-BE49-F238E27FC236}">
                <a16:creationId xmlns:a16="http://schemas.microsoft.com/office/drawing/2014/main" id="{ECD7C375-3B95-43F6-A428-0FD603445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不用先是主管</a:t>
            </a:r>
          </a:p>
        </p:txBody>
      </p:sp>
      <p:sp>
        <p:nvSpPr>
          <p:cNvPr id="9" name="text-2172">
            <a:extLst xmlns:a="http://schemas.openxmlformats.org/drawingml/2006/main">
              <a:ext uri="{FF2B5EF4-FFF2-40B4-BE49-F238E27FC236}">
                <a16:creationId xmlns:a16="http://schemas.microsoft.com/office/drawing/2014/main" id="{F303EE16-1BFB-44F2-BE30-3FABA57C3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即使是基層員工或教師，也能像一位很會分派工作的主管，指派任務、拆解工作與追蹤進度。</a:t>
            </a:r>
          </a:p>
        </p:txBody>
      </p:sp>
      <p:sp>
        <p:nvSpPr>
          <p:cNvPr id="10" name="shape-2173">
            <a:extLst xmlns:a="http://schemas.openxmlformats.org/drawingml/2006/main">
              <a:ext uri="{FF2B5EF4-FFF2-40B4-BE49-F238E27FC236}">
                <a16:creationId xmlns:a16="http://schemas.microsoft.com/office/drawing/2014/main" id="{8CD7E9EA-6983-43F9-9CFF-1EF42D5C6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2174">
            <a:extLst xmlns:a="http://schemas.openxmlformats.org/drawingml/2006/main">
              <a:ext uri="{FF2B5EF4-FFF2-40B4-BE49-F238E27FC236}">
                <a16:creationId xmlns:a16="http://schemas.microsoft.com/office/drawing/2014/main" id="{3543EA95-0150-471B-A82C-803A4C016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2175">
            <a:extLst xmlns:a="http://schemas.openxmlformats.org/drawingml/2006/main">
              <a:ext uri="{FF2B5EF4-FFF2-40B4-BE49-F238E27FC236}">
                <a16:creationId xmlns:a16="http://schemas.microsoft.com/office/drawing/2014/main" id="{B56BA1C4-B962-474F-923B-C6BB3A541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隨時回應與陪伴</a:t>
            </a:r>
          </a:p>
        </p:txBody>
      </p:sp>
      <p:sp>
        <p:nvSpPr>
          <p:cNvPr id="13" name="text-2176">
            <a:extLst xmlns:a="http://schemas.openxmlformats.org/drawingml/2006/main">
              <a:ext uri="{FF2B5EF4-FFF2-40B4-BE49-F238E27FC236}">
                <a16:creationId xmlns:a16="http://schemas.microsoft.com/office/drawing/2014/main" id="{7A9603D1-A46E-4639-BFAE-05C4806BA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在使用者的體感中，AI 常能即時回應、鼓勵與陪伴，讓人覺得自己能完成好多事。</a:t>
            </a:r>
          </a:p>
        </p:txBody>
      </p:sp>
      <p:sp>
        <p:nvSpPr>
          <p:cNvPr id="14" name="shape-2177">
            <a:extLst xmlns:a="http://schemas.openxmlformats.org/drawingml/2006/main">
              <a:ext uri="{FF2B5EF4-FFF2-40B4-BE49-F238E27FC236}">
                <a16:creationId xmlns:a16="http://schemas.microsoft.com/office/drawing/2014/main" id="{E18247E5-8FA5-4D88-A171-EFF4DC131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2178">
            <a:extLst xmlns:a="http://schemas.openxmlformats.org/drawingml/2006/main">
              <a:ext uri="{FF2B5EF4-FFF2-40B4-BE49-F238E27FC236}">
                <a16:creationId xmlns:a16="http://schemas.microsoft.com/office/drawing/2014/main" id="{2CABC0DC-BB2C-4EBC-BA77-C584D4F67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2179">
            <a:extLst xmlns:a="http://schemas.openxmlformats.org/drawingml/2006/main">
              <a:ext uri="{FF2B5EF4-FFF2-40B4-BE49-F238E27FC236}">
                <a16:creationId xmlns:a16="http://schemas.microsoft.com/office/drawing/2014/main" id="{BBD2E79F-B97B-45F6-8377-BF15809EB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正面回饋很有力量</a:t>
            </a:r>
          </a:p>
        </p:txBody>
      </p:sp>
      <p:sp>
        <p:nvSpPr>
          <p:cNvPr id="17" name="text-2180">
            <a:extLst xmlns:a="http://schemas.openxmlformats.org/drawingml/2006/main">
              <a:ext uri="{FF2B5EF4-FFF2-40B4-BE49-F238E27FC236}">
                <a16:creationId xmlns:a16="http://schemas.microsoft.com/office/drawing/2014/main" id="{4B145355-B3CF-4BEF-9B9F-B88B1E2FB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它不會像真實同事一樣抱怨或離職；但「AI 永遠給正面情緒價值」是使用感受，不是無條件保證。</a:t>
            </a:r>
          </a:p>
        </p:txBody>
      </p:sp>
      <p:sp>
        <p:nvSpPr>
          <p:cNvPr id="18" name="shape-2181">
            <a:extLst xmlns:a="http://schemas.openxmlformats.org/drawingml/2006/main">
              <a:ext uri="{FF2B5EF4-FFF2-40B4-BE49-F238E27FC236}">
                <a16:creationId xmlns:a16="http://schemas.microsoft.com/office/drawing/2014/main" id="{BC25405E-1F6C-44AF-AA9E-BA3002C2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2182">
            <a:extLst xmlns:a="http://schemas.openxmlformats.org/drawingml/2006/main">
              <a:ext uri="{FF2B5EF4-FFF2-40B4-BE49-F238E27FC236}">
                <a16:creationId xmlns:a16="http://schemas.microsoft.com/office/drawing/2014/main" id="{039BC152-930F-4DF1-8C60-3880A5BDA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2183">
            <a:extLst xmlns:a="http://schemas.openxmlformats.org/drawingml/2006/main">
              <a:ext uri="{FF2B5EF4-FFF2-40B4-BE49-F238E27FC236}">
                <a16:creationId xmlns:a16="http://schemas.microsoft.com/office/drawing/2014/main" id="{8AEFC458-7621-4A2D-95AA-019E1F2AB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人仍要負責關係</a:t>
            </a:r>
          </a:p>
        </p:txBody>
      </p:sp>
      <p:sp>
        <p:nvSpPr>
          <p:cNvPr id="21" name="text-2184">
            <a:extLst xmlns:a="http://schemas.openxmlformats.org/drawingml/2006/main">
              <a:ext uri="{FF2B5EF4-FFF2-40B4-BE49-F238E27FC236}">
                <a16:creationId xmlns:a16="http://schemas.microsoft.com/office/drawing/2014/main" id="{DA0CE564-7831-47A4-853A-980E74224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把 AI 當成工作夥伴，不把家人、同儕與專業判斷交給它代替。</a:t>
            </a:r>
          </a:p>
        </p:txBody>
      </p:sp>
    </p:spTree>
    <p:extLst>
      <p:ext uri="{BB962C8B-B14F-4D97-AF65-F5344CB8AC3E}">
        <p14:creationId xmlns:p14="http://schemas.microsoft.com/office/powerpoint/2010/main" val="507251377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2185">
            <a:extLst xmlns:a="http://schemas.openxmlformats.org/drawingml/2006/main">
              <a:ext uri="{FF2B5EF4-FFF2-40B4-BE49-F238E27FC236}">
                <a16:creationId xmlns:a16="http://schemas.microsoft.com/office/drawing/2014/main" id="{A6B83339-7432-417C-ACA1-19EE30478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TIME RETURNED TO LIFE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4E35DF2-DDFA-4711-B959-AA58B01E9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把省下的時間還給人生：素養教育的所在</a:t>
            </a:r>
          </a:p>
        </p:txBody>
      </p:sp>
      <p:cxnSp>
        <p:nvCxnSpPr>
          <p:cNvPr id="38" name="shape-218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2187">
            <a:extLst xmlns:a="http://schemas.openxmlformats.org/drawingml/2006/main">
              <a:ext uri="{FF2B5EF4-FFF2-40B4-BE49-F238E27FC236}">
                <a16:creationId xmlns:a16="http://schemas.microsoft.com/office/drawing/2014/main" id="{2327805A-E11B-4D46-92DD-D63E39EC9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F96CEAB-DCB1-4D22-ABB6-F2EE5BF6C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61</a:t>
            </a:r>
          </a:p>
        </p:txBody>
      </p:sp>
      <p:sp>
        <p:nvSpPr>
          <p:cNvPr id="6" name="shape-2188">
            <a:extLst xmlns:a="http://schemas.openxmlformats.org/drawingml/2006/main">
              <a:ext uri="{FF2B5EF4-FFF2-40B4-BE49-F238E27FC236}">
                <a16:creationId xmlns:a16="http://schemas.microsoft.com/office/drawing/2014/main" id="{8EB142FA-E399-4899-A81E-9026E9D54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2189">
            <a:extLst xmlns:a="http://schemas.openxmlformats.org/drawingml/2006/main">
              <a:ext uri="{FF2B5EF4-FFF2-40B4-BE49-F238E27FC236}">
                <a16:creationId xmlns:a16="http://schemas.microsoft.com/office/drawing/2014/main" id="{8FD2AB21-8214-4597-A899-98119BA63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2190">
            <a:extLst xmlns:a="http://schemas.openxmlformats.org/drawingml/2006/main">
              <a:ext uri="{FF2B5EF4-FFF2-40B4-BE49-F238E27FC236}">
                <a16:creationId xmlns:a16="http://schemas.microsoft.com/office/drawing/2014/main" id="{74580443-0196-4EC8-A503-26422EB90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2191">
            <a:extLst xmlns:a="http://schemas.openxmlformats.org/drawingml/2006/main">
              <a:ext uri="{FF2B5EF4-FFF2-40B4-BE49-F238E27FC236}">
                <a16:creationId xmlns:a16="http://schemas.microsoft.com/office/drawing/2014/main" id="{963D8D14-F5DB-4993-A628-EC5D47D27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培養興趣</a:t>
            </a:r>
          </a:p>
        </p:txBody>
      </p:sp>
      <p:sp>
        <p:nvSpPr>
          <p:cNvPr id="10" name="text-2192">
            <a:extLst xmlns:a="http://schemas.openxmlformats.org/drawingml/2006/main">
              <a:ext uri="{FF2B5EF4-FFF2-40B4-BE49-F238E27FC236}">
                <a16:creationId xmlns:a16="http://schemas.microsoft.com/office/drawing/2014/main" id="{C36F6297-1B8D-4DFC-8566-2E0D6E46D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探索工作與教學之外，過去沒有時間嘗試的路。</a:t>
            </a:r>
          </a:p>
        </p:txBody>
      </p:sp>
      <p:sp>
        <p:nvSpPr>
          <p:cNvPr id="11" name="text-2193">
            <a:extLst xmlns:a="http://schemas.openxmlformats.org/drawingml/2006/main">
              <a:ext uri="{FF2B5EF4-FFF2-40B4-BE49-F238E27FC236}">
                <a16:creationId xmlns:a16="http://schemas.microsoft.com/office/drawing/2014/main" id="{468CA088-FAFD-4A57-92B9-E2B7E6B97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2194">
            <a:extLst xmlns:a="http://schemas.openxmlformats.org/drawingml/2006/main">
              <a:ext uri="{FF2B5EF4-FFF2-40B4-BE49-F238E27FC236}">
                <a16:creationId xmlns:a16="http://schemas.microsoft.com/office/drawing/2014/main" id="{0BD4D012-4506-40FD-9591-DDB26C5DD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3" name="shape-2195">
            <a:extLst xmlns:a="http://schemas.openxmlformats.org/drawingml/2006/main">
              <a:ext uri="{FF2B5EF4-FFF2-40B4-BE49-F238E27FC236}">
                <a16:creationId xmlns:a16="http://schemas.microsoft.com/office/drawing/2014/main" id="{EAC1EC0A-7450-4EB6-88C3-417C1496B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2196">
            <a:extLst xmlns:a="http://schemas.openxmlformats.org/drawingml/2006/main">
              <a:ext uri="{FF2B5EF4-FFF2-40B4-BE49-F238E27FC236}">
                <a16:creationId xmlns:a16="http://schemas.microsoft.com/office/drawing/2014/main" id="{0B1BF68A-B321-408C-989E-1BAEFC59B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2197">
            <a:extLst xmlns:a="http://schemas.openxmlformats.org/drawingml/2006/main">
              <a:ext uri="{FF2B5EF4-FFF2-40B4-BE49-F238E27FC236}">
                <a16:creationId xmlns:a16="http://schemas.microsoft.com/office/drawing/2014/main" id="{C1B8F086-18DE-41C5-8768-BAE61C270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陪伴家人</a:t>
            </a:r>
          </a:p>
        </p:txBody>
      </p:sp>
      <p:sp>
        <p:nvSpPr>
          <p:cNvPr id="16" name="text-2198">
            <a:extLst xmlns:a="http://schemas.openxmlformats.org/drawingml/2006/main">
              <a:ext uri="{FF2B5EF4-FFF2-40B4-BE49-F238E27FC236}">
                <a16:creationId xmlns:a16="http://schemas.microsoft.com/office/drawing/2014/main" id="{2B8A448F-4AFE-4430-997E-A4B2A203D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陪伴孩子與家人，參與孩子的成長過程。</a:t>
            </a:r>
          </a:p>
        </p:txBody>
      </p:sp>
      <p:sp>
        <p:nvSpPr>
          <p:cNvPr id="17" name="text-2199">
            <a:extLst xmlns:a="http://schemas.openxmlformats.org/drawingml/2006/main">
              <a:ext uri="{FF2B5EF4-FFF2-40B4-BE49-F238E27FC236}">
                <a16:creationId xmlns:a16="http://schemas.microsoft.com/office/drawing/2014/main" id="{CD821102-F848-4FEA-B86C-02D8B612B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2200">
            <a:extLst xmlns:a="http://schemas.openxmlformats.org/drawingml/2006/main">
              <a:ext uri="{FF2B5EF4-FFF2-40B4-BE49-F238E27FC236}">
                <a16:creationId xmlns:a16="http://schemas.microsoft.com/office/drawing/2014/main" id="{39F3A498-C814-4F72-B2EE-F799E1449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shape-2201">
            <a:extLst xmlns:a="http://schemas.openxmlformats.org/drawingml/2006/main">
              <a:ext uri="{FF2B5EF4-FFF2-40B4-BE49-F238E27FC236}">
                <a16:creationId xmlns:a16="http://schemas.microsoft.com/office/drawing/2014/main" id="{78312921-B9BB-42B3-A5A3-B2BB25BD8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2202">
            <a:extLst xmlns:a="http://schemas.openxmlformats.org/drawingml/2006/main">
              <a:ext uri="{FF2B5EF4-FFF2-40B4-BE49-F238E27FC236}">
                <a16:creationId xmlns:a16="http://schemas.microsoft.com/office/drawing/2014/main" id="{D6BB4160-5A8B-40A6-B711-70DFBEC6F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2203">
            <a:extLst xmlns:a="http://schemas.openxmlformats.org/drawingml/2006/main">
              <a:ext uri="{FF2B5EF4-FFF2-40B4-BE49-F238E27FC236}">
                <a16:creationId xmlns:a16="http://schemas.microsoft.com/office/drawing/2014/main" id="{83F0DC72-C56A-440F-9A3A-1D87A60E0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深入交流</a:t>
            </a:r>
          </a:p>
        </p:txBody>
      </p:sp>
      <p:sp>
        <p:nvSpPr>
          <p:cNvPr id="22" name="text-2204">
            <a:extLst xmlns:a="http://schemas.openxmlformats.org/drawingml/2006/main">
              <a:ext uri="{FF2B5EF4-FFF2-40B4-BE49-F238E27FC236}">
                <a16:creationId xmlns:a16="http://schemas.microsoft.com/office/drawing/2014/main" id="{01E9AC64-7655-4A38-BCBC-1BDFCF7ED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和同儕、同事好好聊天，重新建立理解與信任。</a:t>
            </a:r>
          </a:p>
        </p:txBody>
      </p:sp>
      <p:sp>
        <p:nvSpPr>
          <p:cNvPr id="23" name="text-2205">
            <a:extLst xmlns:a="http://schemas.openxmlformats.org/drawingml/2006/main">
              <a:ext uri="{FF2B5EF4-FFF2-40B4-BE49-F238E27FC236}">
                <a16:creationId xmlns:a16="http://schemas.microsoft.com/office/drawing/2014/main" id="{26F32645-523D-44A0-87A3-D423292A1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2206">
            <a:extLst xmlns:a="http://schemas.openxmlformats.org/drawingml/2006/main">
              <a:ext uri="{FF2B5EF4-FFF2-40B4-BE49-F238E27FC236}">
                <a16:creationId xmlns:a16="http://schemas.microsoft.com/office/drawing/2014/main" id="{E811B8CC-9639-477E-B466-95D0D08CB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5" name="shape-2207">
            <a:extLst xmlns:a="http://schemas.openxmlformats.org/drawingml/2006/main">
              <a:ext uri="{FF2B5EF4-FFF2-40B4-BE49-F238E27FC236}">
                <a16:creationId xmlns:a16="http://schemas.microsoft.com/office/drawing/2014/main" id="{CCDDED89-31F6-4792-8D3A-4C9915A76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2208">
            <a:extLst xmlns:a="http://schemas.openxmlformats.org/drawingml/2006/main">
              <a:ext uri="{FF2B5EF4-FFF2-40B4-BE49-F238E27FC236}">
                <a16:creationId xmlns:a16="http://schemas.microsoft.com/office/drawing/2014/main" id="{7F8B84ED-CFAF-42F4-809E-27908FEF1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2209">
            <a:extLst xmlns:a="http://schemas.openxmlformats.org/drawingml/2006/main">
              <a:ext uri="{FF2B5EF4-FFF2-40B4-BE49-F238E27FC236}">
                <a16:creationId xmlns:a16="http://schemas.microsoft.com/office/drawing/2014/main" id="{A01B1EBE-AE36-495D-8DF4-283BD150D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發展志向</a:t>
            </a:r>
          </a:p>
        </p:txBody>
      </p:sp>
      <p:sp>
        <p:nvSpPr>
          <p:cNvPr id="28" name="text-2210">
            <a:extLst xmlns:a="http://schemas.openxmlformats.org/drawingml/2006/main">
              <a:ext uri="{FF2B5EF4-FFF2-40B4-BE49-F238E27FC236}">
                <a16:creationId xmlns:a16="http://schemas.microsoft.com/office/drawing/2014/main" id="{4639F5E8-FFFF-4F8C-8E5E-FC8392E6F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把時間投入職涯發展、個人興趣與真正重要的目標。</a:t>
            </a:r>
          </a:p>
        </p:txBody>
      </p:sp>
      <p:sp>
        <p:nvSpPr>
          <p:cNvPr id="29" name="text-2211">
            <a:extLst xmlns:a="http://schemas.openxmlformats.org/drawingml/2006/main">
              <a:ext uri="{FF2B5EF4-FFF2-40B4-BE49-F238E27FC236}">
                <a16:creationId xmlns:a16="http://schemas.microsoft.com/office/drawing/2014/main" id="{9534F887-0A78-4F41-A1FC-A5F48AB80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2212">
            <a:extLst xmlns:a="http://schemas.openxmlformats.org/drawingml/2006/main">
              <a:ext uri="{FF2B5EF4-FFF2-40B4-BE49-F238E27FC236}">
                <a16:creationId xmlns:a16="http://schemas.microsoft.com/office/drawing/2014/main" id="{3F59F397-8DFD-41E0-9778-E3167CEFC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31" name="shape-2213">
            <a:extLst xmlns:a="http://schemas.openxmlformats.org/drawingml/2006/main">
              <a:ext uri="{FF2B5EF4-FFF2-40B4-BE49-F238E27FC236}">
                <a16:creationId xmlns:a16="http://schemas.microsoft.com/office/drawing/2014/main" id="{C37D11D8-8BE2-406E-906A-DE184D298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2214">
            <a:extLst xmlns:a="http://schemas.openxmlformats.org/drawingml/2006/main">
              <a:ext uri="{FF2B5EF4-FFF2-40B4-BE49-F238E27FC236}">
                <a16:creationId xmlns:a16="http://schemas.microsoft.com/office/drawing/2014/main" id="{BB3F9BE1-7A5C-4D5B-91C4-0F2F1A18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2215">
            <a:extLst xmlns:a="http://schemas.openxmlformats.org/drawingml/2006/main">
              <a:ext uri="{FF2B5EF4-FFF2-40B4-BE49-F238E27FC236}">
                <a16:creationId xmlns:a16="http://schemas.microsoft.com/office/drawing/2014/main" id="{A935E775-F4B9-4C81-A31B-BA55EC040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內化成生活</a:t>
            </a:r>
          </a:p>
        </p:txBody>
      </p:sp>
      <p:sp>
        <p:nvSpPr>
          <p:cNvPr id="34" name="text-2216">
            <a:extLst xmlns:a="http://schemas.openxmlformats.org/drawingml/2006/main">
              <a:ext uri="{FF2B5EF4-FFF2-40B4-BE49-F238E27FC236}">
                <a16:creationId xmlns:a16="http://schemas.microsoft.com/office/drawing/2014/main" id="{9E1D7D5F-2E31-4DFD-A833-A9DC33362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讓 AI 能力服務人的關係、成長與人生意義。</a:t>
            </a:r>
          </a:p>
        </p:txBody>
      </p:sp>
      <p:sp>
        <p:nvSpPr>
          <p:cNvPr id="35" name="text-2217">
            <a:extLst xmlns:a="http://schemas.openxmlformats.org/drawingml/2006/main">
              <a:ext uri="{FF2B5EF4-FFF2-40B4-BE49-F238E27FC236}">
                <a16:creationId xmlns:a16="http://schemas.microsoft.com/office/drawing/2014/main" id="{A88BA004-1778-4F6F-A85F-75C5C4878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1802008160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text-2218">
            <a:extLst xmlns:a="http://schemas.openxmlformats.org/drawingml/2006/main">
              <a:ext uri="{FF2B5EF4-FFF2-40B4-BE49-F238E27FC236}">
                <a16:creationId xmlns:a16="http://schemas.microsoft.com/office/drawing/2014/main" id="{72545565-1CE3-45EC-8FA8-CD1135FE5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BOOKMARKS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E5D7D17-8ABA-4939-9415-26EE22D72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下午資源書籤</a:t>
            </a:r>
          </a:p>
        </p:txBody>
      </p:sp>
      <p:cxnSp>
        <p:nvCxnSpPr>
          <p:cNvPr id="45" name="shape-221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2220">
            <a:extLst xmlns:a="http://schemas.openxmlformats.org/drawingml/2006/main">
              <a:ext uri="{FF2B5EF4-FFF2-40B4-BE49-F238E27FC236}">
                <a16:creationId xmlns:a16="http://schemas.microsoft.com/office/drawing/2014/main" id="{A6C6BDB2-11AF-473A-8DA7-C88D7523E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B5A2967-6DFF-4F8E-9AA7-26E62E838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62</a:t>
            </a:r>
          </a:p>
        </p:txBody>
      </p:sp>
      <p:sp>
        <p:nvSpPr>
          <p:cNvPr id="6" name="shape-2221">
            <a:extLst xmlns:a="http://schemas.openxmlformats.org/drawingml/2006/main">
              <a:ext uri="{FF2B5EF4-FFF2-40B4-BE49-F238E27FC236}">
                <a16:creationId xmlns:a16="http://schemas.microsoft.com/office/drawing/2014/main" id="{DA098295-4BB2-4321-8BC5-84337F0FA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2222">
            <a:extLst xmlns:a="http://schemas.openxmlformats.org/drawingml/2006/main">
              <a:ext uri="{FF2B5EF4-FFF2-40B4-BE49-F238E27FC236}">
                <a16:creationId xmlns:a16="http://schemas.microsoft.com/office/drawing/2014/main" id="{1337B95E-EC63-47D5-AAA8-B4C1733E8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研習資源導航</a:t>
            </a:r>
          </a:p>
        </p:txBody>
      </p:sp>
      <p:sp>
        <p:nvSpPr>
          <p:cNvPr id="8" name="text-2223">
            <a:extLst xmlns:a="http://schemas.openxmlformats.org/drawingml/2006/main">
              <a:ext uri="{FF2B5EF4-FFF2-40B4-BE49-F238E27FC236}">
                <a16:creationId xmlns:a16="http://schemas.microsoft.com/office/drawing/2014/main" id="{B1BBB313-DDE9-431C-BD5C-991D3B159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32eeb8293a4418b"/>
              </a:rPr>
              <a:t>公開網站資源 ↗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aed67afbf843f3"/>
          <a:stretch xmlns:a="http://schemas.openxmlformats.org/drawingml/2006/main"/>
        </p:blipFill>
        <p:spPr>
          <a:xfrm xmlns:a="http://schemas.openxmlformats.org/drawingml/2006/main">
            <a:off x="49530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0" name="shape-2224">
            <a:extLst xmlns:a="http://schemas.openxmlformats.org/drawingml/2006/main">
              <a:ext uri="{FF2B5EF4-FFF2-40B4-BE49-F238E27FC236}">
                <a16:creationId xmlns:a16="http://schemas.microsoft.com/office/drawing/2014/main" id="{35E7301E-EABD-40C5-978E-750CDF687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2225">
            <a:extLst xmlns:a="http://schemas.openxmlformats.org/drawingml/2006/main">
              <a:ext uri="{FF2B5EF4-FFF2-40B4-BE49-F238E27FC236}">
                <a16:creationId xmlns:a16="http://schemas.microsoft.com/office/drawing/2014/main" id="{6B1CBCAA-E3EE-42BC-AF0C-C6712D028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開啟 Google Antigravity</a:t>
            </a:r>
          </a:p>
        </p:txBody>
      </p:sp>
      <p:sp>
        <p:nvSpPr>
          <p:cNvPr id="12" name="text-2226">
            <a:extLst xmlns:a="http://schemas.openxmlformats.org/drawingml/2006/main">
              <a:ext uri="{FF2B5EF4-FFF2-40B4-BE49-F238E27FC236}">
                <a16:creationId xmlns:a16="http://schemas.microsoft.com/office/drawing/2014/main" id="{A307A546-DFA0-4726-B4DD-33DD2E66B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a9906c551854377"/>
              </a:rPr>
              <a:t>公開網站資源 ↗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9c0c5aca584785"/>
          <a:stretch xmlns:a="http://schemas.openxmlformats.org/drawingml/2006/main"/>
        </p:blipFill>
        <p:spPr>
          <a:xfrm xmlns:a="http://schemas.openxmlformats.org/drawingml/2006/main">
            <a:off x="49530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4" name="shape-2227">
            <a:extLst xmlns:a="http://schemas.openxmlformats.org/drawingml/2006/main">
              <a:ext uri="{FF2B5EF4-FFF2-40B4-BE49-F238E27FC236}">
                <a16:creationId xmlns:a16="http://schemas.microsoft.com/office/drawing/2014/main" id="{7C8E8422-03F9-4723-9889-EDEF84988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2228">
            <a:extLst xmlns:a="http://schemas.openxmlformats.org/drawingml/2006/main">
              <a:ext uri="{FF2B5EF4-FFF2-40B4-BE49-F238E27FC236}">
                <a16:creationId xmlns:a16="http://schemas.microsoft.com/office/drawing/2014/main" id="{BD8CE85E-E898-4302-811F-0C7B47AB7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開啟 Codex</a:t>
            </a:r>
          </a:p>
        </p:txBody>
      </p:sp>
      <p:sp>
        <p:nvSpPr>
          <p:cNvPr id="16" name="text-2229">
            <a:extLst xmlns:a="http://schemas.openxmlformats.org/drawingml/2006/main">
              <a:ext uri="{FF2B5EF4-FFF2-40B4-BE49-F238E27FC236}">
                <a16:creationId xmlns:a16="http://schemas.microsoft.com/office/drawing/2014/main" id="{C49B86C1-3E10-4D69-A279-F689BA21A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0bf7511901441ed"/>
              </a:rPr>
              <a:t>公開網站資源 ↗</a:t>
            </a:r>
          </a:p>
        </p:txBody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b99fd188b44e59"/>
          <a:stretch xmlns:a="http://schemas.openxmlformats.org/drawingml/2006/main"/>
        </p:blipFill>
        <p:spPr>
          <a:xfrm xmlns:a="http://schemas.openxmlformats.org/drawingml/2006/main">
            <a:off x="49530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8" name="shape-2230">
            <a:extLst xmlns:a="http://schemas.openxmlformats.org/drawingml/2006/main">
              <a:ext uri="{FF2B5EF4-FFF2-40B4-BE49-F238E27FC236}">
                <a16:creationId xmlns:a16="http://schemas.microsoft.com/office/drawing/2014/main" id="{9AD63479-5950-4E36-A629-1FECAC723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100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2231">
            <a:extLst xmlns:a="http://schemas.openxmlformats.org/drawingml/2006/main">
              <a:ext uri="{FF2B5EF4-FFF2-40B4-BE49-F238E27FC236}">
                <a16:creationId xmlns:a16="http://schemas.microsoft.com/office/drawing/2014/main" id="{0DDA79F3-3705-4349-9C99-620C5631A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開啟 Claude</a:t>
            </a:r>
          </a:p>
        </p:txBody>
      </p:sp>
      <p:sp>
        <p:nvSpPr>
          <p:cNvPr id="20" name="text-2232">
            <a:extLst xmlns:a="http://schemas.openxmlformats.org/drawingml/2006/main">
              <a:ext uri="{FF2B5EF4-FFF2-40B4-BE49-F238E27FC236}">
                <a16:creationId xmlns:a16="http://schemas.microsoft.com/office/drawing/2014/main" id="{0839C41D-E653-49DC-BC09-344A7E32C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08c4fb201c44475"/>
              </a:rPr>
              <a:t>公開網站資源 ↗</a:t>
            </a:r>
          </a:p>
        </p:txBody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63b1cd5ce740b9"/>
          <a:stretch xmlns:a="http://schemas.openxmlformats.org/drawingml/2006/main"/>
        </p:blipFill>
        <p:spPr>
          <a:xfrm xmlns:a="http://schemas.openxmlformats.org/drawingml/2006/main">
            <a:off x="4953000" y="42386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2" name="shape-2233">
            <a:extLst xmlns:a="http://schemas.openxmlformats.org/drawingml/2006/main">
              <a:ext uri="{FF2B5EF4-FFF2-40B4-BE49-F238E27FC236}">
                <a16:creationId xmlns:a16="http://schemas.microsoft.com/office/drawing/2014/main" id="{4BDF00D9-FB0A-46FA-821C-377B0296D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863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3" name="text-2234">
            <a:extLst xmlns:a="http://schemas.openxmlformats.org/drawingml/2006/main">
              <a:ext uri="{FF2B5EF4-FFF2-40B4-BE49-F238E27FC236}">
                <a16:creationId xmlns:a16="http://schemas.microsoft.com/office/drawing/2014/main" id="{2D55D707-822A-4F9C-BCED-A42390EE1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816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 Skills 官方教學</a:t>
            </a:r>
          </a:p>
        </p:txBody>
      </p:sp>
      <p:sp>
        <p:nvSpPr>
          <p:cNvPr id="24" name="text-2235">
            <a:extLst xmlns:a="http://schemas.openxmlformats.org/drawingml/2006/main">
              <a:ext uri="{FF2B5EF4-FFF2-40B4-BE49-F238E27FC236}">
                <a16:creationId xmlns:a16="http://schemas.microsoft.com/office/drawing/2014/main" id="{030FAEE7-BB35-4C7D-86AA-BB86EA613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864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7b618bdcf62486e"/>
              </a:rPr>
              <a:t>公開網站資源 ↗</a:t>
            </a:r>
          </a:p>
        </p:txBody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c588b4726c4e42"/>
          <a:stretch xmlns:a="http://schemas.openxmlformats.org/drawingml/2006/main"/>
        </p:blipFill>
        <p:spPr>
          <a:xfrm xmlns:a="http://schemas.openxmlformats.org/drawingml/2006/main">
            <a:off x="4953000" y="51149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6" name="shape-2236">
            <a:extLst xmlns:a="http://schemas.openxmlformats.org/drawingml/2006/main">
              <a:ext uri="{FF2B5EF4-FFF2-40B4-BE49-F238E27FC236}">
                <a16:creationId xmlns:a16="http://schemas.microsoft.com/office/drawing/2014/main" id="{B24BBA13-5D8D-416C-BE12-30CD3C409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7" name="text-2237">
            <a:extLst xmlns:a="http://schemas.openxmlformats.org/drawingml/2006/main">
              <a:ext uri="{FF2B5EF4-FFF2-40B4-BE49-F238E27FC236}">
                <a16:creationId xmlns:a16="http://schemas.microsoft.com/office/drawing/2014/main" id="{91B12E11-7ED7-42B6-86E6-82354EDCF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 Skills 資源庫：三師爸與國際公開 Skills</a:t>
            </a:r>
          </a:p>
        </p:txBody>
      </p:sp>
      <p:sp>
        <p:nvSpPr>
          <p:cNvPr id="28" name="text-2238">
            <a:extLst xmlns:a="http://schemas.openxmlformats.org/drawingml/2006/main">
              <a:ext uri="{FF2B5EF4-FFF2-40B4-BE49-F238E27FC236}">
                <a16:creationId xmlns:a16="http://schemas.microsoft.com/office/drawing/2014/main" id="{59C72762-C1A5-457F-9025-A7404374D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fbb2fcdade34266"/>
              </a:rPr>
              <a:t>公開網站資源 ↗</a:t>
            </a:r>
          </a:p>
        </p:txBody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c6ae3d8927414f"/>
          <a:stretch xmlns:a="http://schemas.openxmlformats.org/drawingml/2006/main"/>
        </p:blipFill>
        <p:spPr>
          <a:xfrm xmlns:a="http://schemas.openxmlformats.org/drawingml/2006/main">
            <a:off x="105537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0" name="shape-2239">
            <a:extLst xmlns:a="http://schemas.openxmlformats.org/drawingml/2006/main">
              <a:ext uri="{FF2B5EF4-FFF2-40B4-BE49-F238E27FC236}">
                <a16:creationId xmlns:a16="http://schemas.microsoft.com/office/drawing/2014/main" id="{2BAFE7E0-4AB2-45E8-9170-9EAAB1ACE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31" name="text-2240">
            <a:extLst xmlns:a="http://schemas.openxmlformats.org/drawingml/2006/main">
              <a:ext uri="{FF2B5EF4-FFF2-40B4-BE49-F238E27FC236}">
                <a16:creationId xmlns:a16="http://schemas.microsoft.com/office/drawing/2014/main" id="{258FEA1C-9EB7-49D7-9E15-CD03B516A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提示詞快捷面板</a:t>
            </a:r>
          </a:p>
        </p:txBody>
      </p:sp>
      <p:sp>
        <p:nvSpPr>
          <p:cNvPr id="32" name="text-2241">
            <a:extLst xmlns:a="http://schemas.openxmlformats.org/drawingml/2006/main">
              <a:ext uri="{FF2B5EF4-FFF2-40B4-BE49-F238E27FC236}">
                <a16:creationId xmlns:a16="http://schemas.microsoft.com/office/drawing/2014/main" id="{DEC8846D-3EA3-4C2B-8752-AD14C0660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231445e73c54da1"/>
              </a:rPr>
              <a:t>公開網站資源 ↗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259adfb37e43f4"/>
          <a:stretch xmlns:a="http://schemas.openxmlformats.org/drawingml/2006/main"/>
        </p:blipFill>
        <p:spPr>
          <a:xfrm xmlns:a="http://schemas.openxmlformats.org/drawingml/2006/main">
            <a:off x="105537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4" name="shape-2242">
            <a:extLst xmlns:a="http://schemas.openxmlformats.org/drawingml/2006/main">
              <a:ext uri="{FF2B5EF4-FFF2-40B4-BE49-F238E27FC236}">
                <a16:creationId xmlns:a16="http://schemas.microsoft.com/office/drawing/2014/main" id="{949A51D6-EA7D-4667-BADF-4EBF9ABCB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35" name="text-2243">
            <a:extLst xmlns:a="http://schemas.openxmlformats.org/drawingml/2006/main">
              <a:ext uri="{FF2B5EF4-FFF2-40B4-BE49-F238E27FC236}">
                <a16:creationId xmlns:a16="http://schemas.microsoft.com/office/drawing/2014/main" id="{559163D1-F83B-4E5C-92AC-888E59FB1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教育科技創新專區</a:t>
            </a:r>
          </a:p>
        </p:txBody>
      </p:sp>
      <p:sp>
        <p:nvSpPr>
          <p:cNvPr id="36" name="text-2244">
            <a:extLst xmlns:a="http://schemas.openxmlformats.org/drawingml/2006/main">
              <a:ext uri="{FF2B5EF4-FFF2-40B4-BE49-F238E27FC236}">
                <a16:creationId xmlns:a16="http://schemas.microsoft.com/office/drawing/2014/main" id="{3F2378D3-673F-4302-95EA-CB6C91D24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9727076d4144db7"/>
              </a:rPr>
              <a:t>公開網站資源 ↗</a:t>
            </a:r>
          </a:p>
        </p:txBody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6fac590b564c8a"/>
          <a:stretch xmlns:a="http://schemas.openxmlformats.org/drawingml/2006/main"/>
        </p:blipFill>
        <p:spPr>
          <a:xfrm xmlns:a="http://schemas.openxmlformats.org/drawingml/2006/main">
            <a:off x="105537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8" name="shape-2245">
            <a:extLst xmlns:a="http://schemas.openxmlformats.org/drawingml/2006/main">
              <a:ext uri="{FF2B5EF4-FFF2-40B4-BE49-F238E27FC236}">
                <a16:creationId xmlns:a16="http://schemas.microsoft.com/office/drawing/2014/main" id="{5CD6A52B-3B51-46FE-850A-120B9B6B3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2100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39" name="text-2246">
            <a:extLst xmlns:a="http://schemas.openxmlformats.org/drawingml/2006/main">
              <a:ext uri="{FF2B5EF4-FFF2-40B4-BE49-F238E27FC236}">
                <a16:creationId xmlns:a16="http://schemas.microsoft.com/office/drawing/2014/main" id="{9A1C72D8-48B7-43DA-9C6C-0D22BA329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3053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PIRLS 2026 評分規劃</a:t>
            </a:r>
          </a:p>
        </p:txBody>
      </p:sp>
      <p:sp>
        <p:nvSpPr>
          <p:cNvPr id="40" name="text-2247">
            <a:extLst xmlns:a="http://schemas.openxmlformats.org/drawingml/2006/main">
              <a:ext uri="{FF2B5EF4-FFF2-40B4-BE49-F238E27FC236}">
                <a16:creationId xmlns:a16="http://schemas.microsoft.com/office/drawing/2014/main" id="{D54D46AF-B177-4F15-902F-834E749F2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6101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9bb99384a374f2c"/>
              </a:rPr>
              <a:t>公開網站資源 ↗</a:t>
            </a:r>
          </a:p>
        </p:txBody>
      </p:sp>
      <p:pic>
        <p:nvPicPr>
          <p:cNvPr id="8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8190ce752248d1"/>
          <a:stretch xmlns:a="http://schemas.openxmlformats.org/drawingml/2006/main"/>
        </p:blipFill>
        <p:spPr>
          <a:xfrm xmlns:a="http://schemas.openxmlformats.org/drawingml/2006/main">
            <a:off x="10553700" y="42386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42" name="text-2248">
            <a:extLst xmlns:a="http://schemas.openxmlformats.org/drawingml/2006/main">
              <a:ext uri="{FF2B5EF4-FFF2-40B4-BE49-F238E27FC236}">
                <a16:creationId xmlns:a16="http://schemas.microsoft.com/office/drawing/2014/main" id="{3D2D21C9-83A6-4B50-9A0A-D6AF2DBF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38850"/>
            <a:ext cx="11163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好的教學與研究 Agent 不只會做事；它會在正確邊界內做事，並留下你能檢查的證據。</a:t>
            </a:r>
          </a:p>
        </p:txBody>
      </p:sp>
    </p:spTree>
    <p:extLst>
      <p:ext uri="{BB962C8B-B14F-4D97-AF65-F5344CB8AC3E}">
        <p14:creationId xmlns:p14="http://schemas.microsoft.com/office/powerpoint/2010/main" val="1634109735"/>
      </p:ext>
    </p:extLst>
  </p:cSld>
</p:sld>
</file>

<file path=ppt/theme/theme1.xml><?xml version="1.0" encoding="utf-8"?>
<a:theme xmlns:a="http://schemas.openxmlformats.org/drawingml/2006/main" name="ChatGPT">
  <a:themeElements>
    <a:clrScheme name="NCU Afternoon">
      <a:dk1>
        <a:srgbClr val="0F1E2E"/>
      </a:dk1>
      <a:lt1>
        <a:srgbClr val="FFFFFF"/>
      </a:lt1>
      <a:dk2>
        <a:srgbClr val="F0F4F8"/>
      </a:dk2>
      <a:lt2>
        <a:srgbClr val="E2EDF8"/>
      </a:lt2>
      <a:accent1>
        <a:srgbClr val="1B64DA"/>
      </a:accent1>
      <a:accent2>
        <a:srgbClr val="FF6B4A"/>
      </a:accent2>
      <a:accent3>
        <a:srgbClr val="0E9F94"/>
      </a:accent3>
      <a:accent4>
        <a:srgbClr val="6366F1"/>
      </a:accent4>
      <a:accent5>
        <a:srgbClr val="F59E0B"/>
      </a:accent5>
      <a:accent6>
        <a:srgbClr val="10B981"/>
      </a:accent6>
      <a:hlink>
        <a:srgbClr val="1B64DA"/>
      </a:hlink>
      <a:folHlink>
        <a:srgbClr val="6366F1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Afterno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2026-08-25T01:20:08.9780000Z</dcterms:created>
  <dcterms:modified xsi:type="dcterms:W3CDTF">2026-08-25T01:20:08.9780000Z</dcterms:modified>
</coreProperties>
</file>
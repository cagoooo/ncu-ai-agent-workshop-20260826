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40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41.xml" ContentType="application/vnd.openxmlformats-officedocument.presentationml.notesSlide+xml"/>
  <Override PartName="/ppt/slides/slide42.xml" ContentType="application/vnd.openxmlformats-officedocument.presentationml.slide+xml"/>
  <Override PartName="/ppt/notesSlides/notesSlide42.xml" ContentType="application/vnd.openxmlformats-officedocument.presentationml.notesSlide+xml"/>
  <Override PartName="/ppt/slides/slide43.xml" ContentType="application/vnd.openxmlformats-officedocument.presentationml.slide+xml"/>
  <Override PartName="/ppt/notesSlides/notesSlide43.xml" ContentType="application/vnd.openxmlformats-officedocument.presentationml.notesSlide+xml"/>
  <Override PartName="/ppt/slides/slide44.xml" ContentType="application/vnd.openxmlformats-officedocument.presentationml.slide+xml"/>
  <Override PartName="/ppt/notesSlides/notesSlide4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684273b73ff4d0e" /><Relationship Type="http://schemas.openxmlformats.org/officeDocument/2006/relationships/extended-properties" Target="/docProps/app.xml" Id="R5a6bf8178eca4a6e" /><Relationship Type="http://schemas.openxmlformats.org/officeDocument/2006/relationships/officeDocument" Target="/ppt/presentation.xml" Id="Rbfebbaedbf1742d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9be3f9f13e94f3f"/>
  </p:sldMasterIdLst>
  <p:notesMasterIdLst>
    <p:notesMasterId xmlns:r="http://schemas.openxmlformats.org/officeDocument/2006/relationships" r:id="R00d1d4a306464be7"/>
  </p:notesMasterIdLst>
  <p:sldIdLst>
    <p:sldId xmlns:r="http://schemas.openxmlformats.org/officeDocument/2006/relationships" id="256" r:id="Rfd985ab1eaed44ac"/>
    <p:sldId xmlns:r="http://schemas.openxmlformats.org/officeDocument/2006/relationships" id="257" r:id="R9b6fad7c95c74168"/>
    <p:sldId xmlns:r="http://schemas.openxmlformats.org/officeDocument/2006/relationships" id="258" r:id="R94f58b8c78c549d7"/>
    <p:sldId xmlns:r="http://schemas.openxmlformats.org/officeDocument/2006/relationships" id="259" r:id="R48dde24af61d4d84"/>
    <p:sldId xmlns:r="http://schemas.openxmlformats.org/officeDocument/2006/relationships" id="260" r:id="Rb7c221937e4c422e"/>
    <p:sldId xmlns:r="http://schemas.openxmlformats.org/officeDocument/2006/relationships" id="261" r:id="R94dff50b00504fda"/>
    <p:sldId xmlns:r="http://schemas.openxmlformats.org/officeDocument/2006/relationships" id="262" r:id="R7d40bd0d4da645f3"/>
    <p:sldId xmlns:r="http://schemas.openxmlformats.org/officeDocument/2006/relationships" id="263" r:id="Rc0232484e71d4e27"/>
    <p:sldId xmlns:r="http://schemas.openxmlformats.org/officeDocument/2006/relationships" id="264" r:id="Rbb856dceadfa461a"/>
    <p:sldId xmlns:r="http://schemas.openxmlformats.org/officeDocument/2006/relationships" id="265" r:id="Rf15670fc62d44b1f"/>
    <p:sldId xmlns:r="http://schemas.openxmlformats.org/officeDocument/2006/relationships" id="266" r:id="Reb55ea401fba4b63"/>
    <p:sldId xmlns:r="http://schemas.openxmlformats.org/officeDocument/2006/relationships" id="267" r:id="Reaa15edddd594b08"/>
    <p:sldId xmlns:r="http://schemas.openxmlformats.org/officeDocument/2006/relationships" id="268" r:id="Ra85bca24f12f4b2f"/>
    <p:sldId xmlns:r="http://schemas.openxmlformats.org/officeDocument/2006/relationships" id="269" r:id="Re32d455f36c44d64"/>
    <p:sldId xmlns:r="http://schemas.openxmlformats.org/officeDocument/2006/relationships" id="270" r:id="Rd87d0267d67e4d66"/>
    <p:sldId xmlns:r="http://schemas.openxmlformats.org/officeDocument/2006/relationships" id="271" r:id="Rf8da7b6cc8934a07"/>
    <p:sldId xmlns:r="http://schemas.openxmlformats.org/officeDocument/2006/relationships" id="272" r:id="Rcb4a679f38fa420e"/>
    <p:sldId xmlns:r="http://schemas.openxmlformats.org/officeDocument/2006/relationships" id="273" r:id="R78d7a80642054866"/>
    <p:sldId xmlns:r="http://schemas.openxmlformats.org/officeDocument/2006/relationships" id="274" r:id="R6c25bbdb3f584af3"/>
    <p:sldId xmlns:r="http://schemas.openxmlformats.org/officeDocument/2006/relationships" id="275" r:id="R7f639e769d2844a5"/>
    <p:sldId xmlns:r="http://schemas.openxmlformats.org/officeDocument/2006/relationships" id="276" r:id="R159242b3766348be"/>
    <p:sldId xmlns:r="http://schemas.openxmlformats.org/officeDocument/2006/relationships" id="277" r:id="R34bfc486dbd24138"/>
    <p:sldId xmlns:r="http://schemas.openxmlformats.org/officeDocument/2006/relationships" id="278" r:id="R91630c3883c84ff0"/>
    <p:sldId xmlns:r="http://schemas.openxmlformats.org/officeDocument/2006/relationships" id="279" r:id="R27c806c3e6954ab5"/>
    <p:sldId xmlns:r="http://schemas.openxmlformats.org/officeDocument/2006/relationships" id="280" r:id="R07ce3c980b0b4911"/>
    <p:sldId xmlns:r="http://schemas.openxmlformats.org/officeDocument/2006/relationships" id="281" r:id="R750a40440b564685"/>
    <p:sldId xmlns:r="http://schemas.openxmlformats.org/officeDocument/2006/relationships" id="282" r:id="Rebdfff0eeff64602"/>
    <p:sldId xmlns:r="http://schemas.openxmlformats.org/officeDocument/2006/relationships" id="283" r:id="R08d112083c8e430c"/>
    <p:sldId xmlns:r="http://schemas.openxmlformats.org/officeDocument/2006/relationships" id="284" r:id="R9266f1303a404e70"/>
    <p:sldId xmlns:r="http://schemas.openxmlformats.org/officeDocument/2006/relationships" id="285" r:id="R54c498cd7f16453b"/>
    <p:sldId xmlns:r="http://schemas.openxmlformats.org/officeDocument/2006/relationships" id="286" r:id="R436f84206982488c"/>
    <p:sldId xmlns:r="http://schemas.openxmlformats.org/officeDocument/2006/relationships" id="287" r:id="R1f19f4d1c9de4e57"/>
    <p:sldId xmlns:r="http://schemas.openxmlformats.org/officeDocument/2006/relationships" id="288" r:id="R821e4c8caaa5450d"/>
    <p:sldId xmlns:r="http://schemas.openxmlformats.org/officeDocument/2006/relationships" id="289" r:id="Rac6557252d25465a"/>
    <p:sldId xmlns:r="http://schemas.openxmlformats.org/officeDocument/2006/relationships" id="290" r:id="R33069e6ddf034ab7"/>
    <p:sldId xmlns:r="http://schemas.openxmlformats.org/officeDocument/2006/relationships" id="291" r:id="Rbb6578e56c81451a"/>
    <p:sldId xmlns:r="http://schemas.openxmlformats.org/officeDocument/2006/relationships" id="292" r:id="R94b577b9119c4a0e"/>
    <p:sldId xmlns:r="http://schemas.openxmlformats.org/officeDocument/2006/relationships" id="293" r:id="R941a816ab1bc4d3e"/>
    <p:sldId xmlns:r="http://schemas.openxmlformats.org/officeDocument/2006/relationships" id="294" r:id="R41716da30d144e8a"/>
    <p:sldId xmlns:r="http://schemas.openxmlformats.org/officeDocument/2006/relationships" id="295" r:id="Ra248bc0da7fa49c2"/>
    <p:sldId xmlns:r="http://schemas.openxmlformats.org/officeDocument/2006/relationships" id="296" r:id="R11a06f0659f049fa"/>
    <p:sldId xmlns:r="http://schemas.openxmlformats.org/officeDocument/2006/relationships" id="297" r:id="R714f51b1354b4f75"/>
    <p:sldId xmlns:r="http://schemas.openxmlformats.org/officeDocument/2006/relationships" id="298" r:id="R4b3349dc50834b59"/>
    <p:sldId xmlns:r="http://schemas.openxmlformats.org/officeDocument/2006/relationships" id="299" r:id="R404a91921eb84fc9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0fff52829344caa" /><Relationship Type="http://schemas.openxmlformats.org/officeDocument/2006/relationships/slideMaster" Target="/ppt/slideMasters/slideMaster1.xml" Id="R69be3f9f13e94f3f" /><Relationship Type="http://schemas.openxmlformats.org/officeDocument/2006/relationships/notesMaster" Target="/ppt/notesMasters/notesMaster1.xml" Id="R00d1d4a306464be7" /><Relationship Type="http://schemas.openxmlformats.org/officeDocument/2006/relationships/presProps" Target="/ppt/presProps.xml" Id="R54dc040b9e95478f" /><Relationship Type="http://schemas.openxmlformats.org/officeDocument/2006/relationships/tableStyles" Target="/ppt/tableStyles.xml" Id="R3cf97dd2b6d443b5" /><Relationship Type="http://schemas.openxmlformats.org/officeDocument/2006/relationships/slide" Target="/ppt/slides/slide1.xml" Id="Rfd985ab1eaed44ac" /><Relationship Type="http://schemas.openxmlformats.org/officeDocument/2006/relationships/slide" Target="/ppt/slides/slide2.xml" Id="R9b6fad7c95c74168" /><Relationship Type="http://schemas.openxmlformats.org/officeDocument/2006/relationships/slide" Target="/ppt/slides/slide3.xml" Id="R94f58b8c78c549d7" /><Relationship Type="http://schemas.openxmlformats.org/officeDocument/2006/relationships/slide" Target="/ppt/slides/slide4.xml" Id="R48dde24af61d4d84" /><Relationship Type="http://schemas.openxmlformats.org/officeDocument/2006/relationships/slide" Target="/ppt/slides/slide5.xml" Id="Rb7c221937e4c422e" /><Relationship Type="http://schemas.openxmlformats.org/officeDocument/2006/relationships/slide" Target="/ppt/slides/slide6.xml" Id="R94dff50b00504fda" /><Relationship Type="http://schemas.openxmlformats.org/officeDocument/2006/relationships/slide" Target="/ppt/slides/slide7.xml" Id="R7d40bd0d4da645f3" /><Relationship Type="http://schemas.openxmlformats.org/officeDocument/2006/relationships/slide" Target="/ppt/slides/slide8.xml" Id="Rc0232484e71d4e27" /><Relationship Type="http://schemas.openxmlformats.org/officeDocument/2006/relationships/slide" Target="/ppt/slides/slide9.xml" Id="Rbb856dceadfa461a" /><Relationship Type="http://schemas.openxmlformats.org/officeDocument/2006/relationships/slide" Target="/ppt/slides/slide10.xml" Id="Rf15670fc62d44b1f" /><Relationship Type="http://schemas.openxmlformats.org/officeDocument/2006/relationships/slide" Target="/ppt/slides/slide11.xml" Id="Reb55ea401fba4b63" /><Relationship Type="http://schemas.openxmlformats.org/officeDocument/2006/relationships/slide" Target="/ppt/slides/slide12.xml" Id="Reaa15edddd594b08" /><Relationship Type="http://schemas.openxmlformats.org/officeDocument/2006/relationships/slide" Target="/ppt/slides/slide13.xml" Id="Ra85bca24f12f4b2f" /><Relationship Type="http://schemas.openxmlformats.org/officeDocument/2006/relationships/slide" Target="/ppt/slides/slide14.xml" Id="Re32d455f36c44d64" /><Relationship Type="http://schemas.openxmlformats.org/officeDocument/2006/relationships/slide" Target="/ppt/slides/slide15.xml" Id="Rd87d0267d67e4d66" /><Relationship Type="http://schemas.openxmlformats.org/officeDocument/2006/relationships/slide" Target="/ppt/slides/slide16.xml" Id="Rf8da7b6cc8934a07" /><Relationship Type="http://schemas.openxmlformats.org/officeDocument/2006/relationships/slide" Target="/ppt/slides/slide17.xml" Id="Rcb4a679f38fa420e" /><Relationship Type="http://schemas.openxmlformats.org/officeDocument/2006/relationships/slide" Target="/ppt/slides/slide18.xml" Id="R78d7a80642054866" /><Relationship Type="http://schemas.openxmlformats.org/officeDocument/2006/relationships/slide" Target="/ppt/slides/slide19.xml" Id="R6c25bbdb3f584af3" /><Relationship Type="http://schemas.openxmlformats.org/officeDocument/2006/relationships/slide" Target="/ppt/slides/slide20.xml" Id="R7f639e769d2844a5" /><Relationship Type="http://schemas.openxmlformats.org/officeDocument/2006/relationships/slide" Target="/ppt/slides/slide21.xml" Id="R159242b3766348be" /><Relationship Type="http://schemas.openxmlformats.org/officeDocument/2006/relationships/slide" Target="/ppt/slides/slide22.xml" Id="R34bfc486dbd24138" /><Relationship Type="http://schemas.openxmlformats.org/officeDocument/2006/relationships/slide" Target="/ppt/slides/slide23.xml" Id="R91630c3883c84ff0" /><Relationship Type="http://schemas.openxmlformats.org/officeDocument/2006/relationships/slide" Target="/ppt/slides/slide24.xml" Id="R27c806c3e6954ab5" /><Relationship Type="http://schemas.openxmlformats.org/officeDocument/2006/relationships/slide" Target="/ppt/slides/slide25.xml" Id="R07ce3c980b0b4911" /><Relationship Type="http://schemas.openxmlformats.org/officeDocument/2006/relationships/slide" Target="/ppt/slides/slide26.xml" Id="R750a40440b564685" /><Relationship Type="http://schemas.openxmlformats.org/officeDocument/2006/relationships/slide" Target="/ppt/slides/slide27.xml" Id="Rebdfff0eeff64602" /><Relationship Type="http://schemas.openxmlformats.org/officeDocument/2006/relationships/slide" Target="/ppt/slides/slide28.xml" Id="R08d112083c8e430c" /><Relationship Type="http://schemas.openxmlformats.org/officeDocument/2006/relationships/slide" Target="/ppt/slides/slide29.xml" Id="R9266f1303a404e70" /><Relationship Type="http://schemas.openxmlformats.org/officeDocument/2006/relationships/slide" Target="/ppt/slides/slide30.xml" Id="R54c498cd7f16453b" /><Relationship Type="http://schemas.openxmlformats.org/officeDocument/2006/relationships/slide" Target="/ppt/slides/slide31.xml" Id="R436f84206982488c" /><Relationship Type="http://schemas.openxmlformats.org/officeDocument/2006/relationships/slide" Target="/ppt/slides/slide32.xml" Id="R1f19f4d1c9de4e57" /><Relationship Type="http://schemas.openxmlformats.org/officeDocument/2006/relationships/slide" Target="/ppt/slides/slide33.xml" Id="R821e4c8caaa5450d" /><Relationship Type="http://schemas.openxmlformats.org/officeDocument/2006/relationships/slide" Target="/ppt/slides/slide34.xml" Id="Rac6557252d25465a" /><Relationship Type="http://schemas.openxmlformats.org/officeDocument/2006/relationships/slide" Target="/ppt/slides/slide35.xml" Id="R33069e6ddf034ab7" /><Relationship Type="http://schemas.openxmlformats.org/officeDocument/2006/relationships/slide" Target="/ppt/slides/slide36.xml" Id="Rbb6578e56c81451a" /><Relationship Type="http://schemas.openxmlformats.org/officeDocument/2006/relationships/slide" Target="/ppt/slides/slide37.xml" Id="R94b577b9119c4a0e" /><Relationship Type="http://schemas.openxmlformats.org/officeDocument/2006/relationships/slide" Target="/ppt/slides/slide38.xml" Id="R941a816ab1bc4d3e" /><Relationship Type="http://schemas.openxmlformats.org/officeDocument/2006/relationships/slide" Target="/ppt/slides/slide39.xml" Id="R41716da30d144e8a" /><Relationship Type="http://schemas.openxmlformats.org/officeDocument/2006/relationships/slide" Target="/ppt/slides/slide40.xml" Id="Ra248bc0da7fa49c2" /><Relationship Type="http://schemas.openxmlformats.org/officeDocument/2006/relationships/slide" Target="/ppt/slides/slide41.xml" Id="R11a06f0659f049fa" /><Relationship Type="http://schemas.openxmlformats.org/officeDocument/2006/relationships/slide" Target="/ppt/slides/slide42.xml" Id="R714f51b1354b4f75" /><Relationship Type="http://schemas.openxmlformats.org/officeDocument/2006/relationships/slide" Target="/ppt/slides/slide43.xml" Id="R4b3349dc50834b59" /><Relationship Type="http://schemas.openxmlformats.org/officeDocument/2006/relationships/slide" Target="/ppt/slides/slide44.xml" Id="R404a91921eb84fc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f342caf90d84ae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NCU Afternoon">
      <a:dk1>
        <a:srgbClr val="000000"/>
      </a:dk1>
      <a:lt1>
        <a:srgbClr val="FFFFFF"/>
      </a:lt1>
      <a:dk2>
        <a:srgbClr val="07131F"/>
      </a:dk2>
      <a:lt2>
        <a:srgbClr val="0C1E30"/>
      </a:lt2>
      <a:accent1>
        <a:srgbClr val="55A7FF"/>
      </a:accent1>
      <a:accent2>
        <a:srgbClr val="FF806D"/>
      </a:accent2>
      <a:accent3>
        <a:srgbClr val="2CD2C7"/>
      </a:accent3>
      <a:accent4>
        <a:srgbClr val="A78BFA"/>
      </a:accent4>
      <a:accent5>
        <a:srgbClr val="F5C451"/>
      </a:accent5>
      <a:accent6>
        <a:srgbClr val="37D48B"/>
      </a:accent6>
      <a:hlink>
        <a:srgbClr val="55A7FF"/>
      </a:hlink>
      <a:folHlink>
        <a:srgbClr val="A78BFA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NCU Afternoon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fd76f5f5baf41dd" /><Relationship Type="http://schemas.openxmlformats.org/officeDocument/2006/relationships/notesMaster" Target="/ppt/notesMasters/notesMaster1.xml" Id="R82fad31a05dc4fd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bddd3f403d045e2" /><Relationship Type="http://schemas.openxmlformats.org/officeDocument/2006/relationships/notesMaster" Target="/ppt/notesMasters/notesMaster1.xml" Id="R03e9ba480dc84238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aef8acc6d7c4896" /><Relationship Type="http://schemas.openxmlformats.org/officeDocument/2006/relationships/notesMaster" Target="/ppt/notesMasters/notesMaster1.xml" Id="R5a74f6bcd8a54a04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a122c39ddd754d27" /><Relationship Type="http://schemas.openxmlformats.org/officeDocument/2006/relationships/notesMaster" Target="/ppt/notesMasters/notesMaster1.xml" Id="R6fff1126005c4bd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a365e039e9245bc" /><Relationship Type="http://schemas.openxmlformats.org/officeDocument/2006/relationships/notesMaster" Target="/ppt/notesMasters/notesMaster1.xml" Id="R2b7f854775e24816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ab6500391e414178" /><Relationship Type="http://schemas.openxmlformats.org/officeDocument/2006/relationships/notesMaster" Target="/ppt/notesMasters/notesMaster1.xml" Id="R8796e062becd4a45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1b67427d72564565" /><Relationship Type="http://schemas.openxmlformats.org/officeDocument/2006/relationships/notesMaster" Target="/ppt/notesMasters/notesMaster1.xml" Id="R784c550c914b4e79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128a4d82ad2e495e" /><Relationship Type="http://schemas.openxmlformats.org/officeDocument/2006/relationships/notesMaster" Target="/ppt/notesMasters/notesMaster1.xml" Id="R6b9f698ab27440de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73191dc684d94917" /><Relationship Type="http://schemas.openxmlformats.org/officeDocument/2006/relationships/notesMaster" Target="/ppt/notesMasters/notesMaster1.xml" Id="Re85dc73f79274af8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e71aa1f9cc5a46bb" /><Relationship Type="http://schemas.openxmlformats.org/officeDocument/2006/relationships/notesMaster" Target="/ppt/notesMasters/notesMaster1.xml" Id="R94d80dff7d474210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9a626d5b8fe04c13" /><Relationship Type="http://schemas.openxmlformats.org/officeDocument/2006/relationships/notesMaster" Target="/ppt/notesMasters/notesMaster1.xml" Id="R8f10fbdf41aa4163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ab6b8614f3f44c5c" /><Relationship Type="http://schemas.openxmlformats.org/officeDocument/2006/relationships/notesMaster" Target="/ppt/notesMasters/notesMaster1.xml" Id="Rf3248558dbfe45b9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f19496ee37cf4d73" /><Relationship Type="http://schemas.openxmlformats.org/officeDocument/2006/relationships/notesMaster" Target="/ppt/notesMasters/notesMaster1.xml" Id="Rcb6ce97dde9b44be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c89c452a31c54524" /><Relationship Type="http://schemas.openxmlformats.org/officeDocument/2006/relationships/notesMaster" Target="/ppt/notesMasters/notesMaster1.xml" Id="R79d749c8980344e2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7ee407eb226742e9" /><Relationship Type="http://schemas.openxmlformats.org/officeDocument/2006/relationships/notesMaster" Target="/ppt/notesMasters/notesMaster1.xml" Id="R653036463d0f41e6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8a40fd15204f4578" /><Relationship Type="http://schemas.openxmlformats.org/officeDocument/2006/relationships/notesMaster" Target="/ppt/notesMasters/notesMaster1.xml" Id="R40c8820dc6414d06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850add1730f04997" /><Relationship Type="http://schemas.openxmlformats.org/officeDocument/2006/relationships/notesMaster" Target="/ppt/notesMasters/notesMaster1.xml" Id="R5f9dd19be93a441d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8e472f77db384dec" /><Relationship Type="http://schemas.openxmlformats.org/officeDocument/2006/relationships/notesMaster" Target="/ppt/notesMasters/notesMaster1.xml" Id="R3d47d51d721c43fd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6c122a1af3814490" /><Relationship Type="http://schemas.openxmlformats.org/officeDocument/2006/relationships/notesMaster" Target="/ppt/notesMasters/notesMaster1.xml" Id="R8fe51c69bc4c435f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530cf3684eb24841" /><Relationship Type="http://schemas.openxmlformats.org/officeDocument/2006/relationships/notesMaster" Target="/ppt/notesMasters/notesMaster1.xml" Id="Rabb276ed8c8c494d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644be817d1f04e26" /><Relationship Type="http://schemas.openxmlformats.org/officeDocument/2006/relationships/notesMaster" Target="/ppt/notesMasters/notesMaster1.xml" Id="R44b0546153024f77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ad55c8472c7d40dc" /><Relationship Type="http://schemas.openxmlformats.org/officeDocument/2006/relationships/notesMaster" Target="/ppt/notesMasters/notesMaster1.xml" Id="Ra311fe2230084f19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671e7828143a4cdd" /><Relationship Type="http://schemas.openxmlformats.org/officeDocument/2006/relationships/notesMaster" Target="/ppt/notesMasters/notesMaster1.xml" Id="R7e4902f01dce4b4f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c36793f44cd84723" /><Relationship Type="http://schemas.openxmlformats.org/officeDocument/2006/relationships/notesMaster" Target="/ppt/notesMasters/notesMaster1.xml" Id="Ra5f40562358247f2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9a3c16bd4bb74a92" /><Relationship Type="http://schemas.openxmlformats.org/officeDocument/2006/relationships/notesMaster" Target="/ppt/notesMasters/notesMaster1.xml" Id="Rff5f63f971254cdc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feb16ca6a43e481b" /><Relationship Type="http://schemas.openxmlformats.org/officeDocument/2006/relationships/notesMaster" Target="/ppt/notesMasters/notesMaster1.xml" Id="Rc27aa50c0ac94cfd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0dfe0fb6be434ae3" /><Relationship Type="http://schemas.openxmlformats.org/officeDocument/2006/relationships/notesMaster" Target="/ppt/notesMasters/notesMaster1.xml" Id="Rad48e4ac8f124ec0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f2aae216236349f3" /><Relationship Type="http://schemas.openxmlformats.org/officeDocument/2006/relationships/notesMaster" Target="/ppt/notesMasters/notesMaster1.xml" Id="R19f5c528b8fa44d7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484e6694b2f0494e" /><Relationship Type="http://schemas.openxmlformats.org/officeDocument/2006/relationships/notesMaster" Target="/ppt/notesMasters/notesMaster1.xml" Id="R960798335cce44f4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9d4295b3d8f6497f" /><Relationship Type="http://schemas.openxmlformats.org/officeDocument/2006/relationships/notesMaster" Target="/ppt/notesMasters/notesMaster1.xml" Id="R27b1a0b7e7674a49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a505b5a1f6854c08" /><Relationship Type="http://schemas.openxmlformats.org/officeDocument/2006/relationships/notesMaster" Target="/ppt/notesMasters/notesMaster1.xml" Id="R34bc6f97b2e34e1a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8f1771050a614600" /><Relationship Type="http://schemas.openxmlformats.org/officeDocument/2006/relationships/notesMaster" Target="/ppt/notesMasters/notesMaster1.xml" Id="R9c8f039c2c744ddf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e5b2c7c68fa44ef8" /><Relationship Type="http://schemas.openxmlformats.org/officeDocument/2006/relationships/notesMaster" Target="/ppt/notesMasters/notesMaster1.xml" Id="R8ee99e862cf04a96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8e8dbdb4ff054172" /><Relationship Type="http://schemas.openxmlformats.org/officeDocument/2006/relationships/notesMaster" Target="/ppt/notesMasters/notesMaster1.xml" Id="R43e387185ff84f97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84d66d1705cd46b2" /><Relationship Type="http://schemas.openxmlformats.org/officeDocument/2006/relationships/notesMaster" Target="/ppt/notesMasters/notesMaster1.xml" Id="Rcf2976314882447f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a0555e40b4bb44ed" /><Relationship Type="http://schemas.openxmlformats.org/officeDocument/2006/relationships/notesMaster" Target="/ppt/notesMasters/notesMaster1.xml" Id="R826031fa12224f9b" /></Relationships>
</file>

<file path=ppt/notesSlides/_rels/notesSlide37.xml.rels>&#65279;<?xml version="1.0" encoding="utf-8"?><Relationships xmlns="http://schemas.openxmlformats.org/package/2006/relationships"><Relationship Type="http://schemas.openxmlformats.org/officeDocument/2006/relationships/slide" Target="/ppt/slides/slide37.xml" Id="R6a3ecb78ad154edf" /><Relationship Type="http://schemas.openxmlformats.org/officeDocument/2006/relationships/notesMaster" Target="/ppt/notesMasters/notesMaster1.xml" Id="Rd19e318b0f9f4a7b" /></Relationships>
</file>

<file path=ppt/notesSlides/_rels/notesSlide38.xml.rels>&#65279;<?xml version="1.0" encoding="utf-8"?><Relationships xmlns="http://schemas.openxmlformats.org/package/2006/relationships"><Relationship Type="http://schemas.openxmlformats.org/officeDocument/2006/relationships/slide" Target="/ppt/slides/slide38.xml" Id="Rb99f3576da284132" /><Relationship Type="http://schemas.openxmlformats.org/officeDocument/2006/relationships/notesMaster" Target="/ppt/notesMasters/notesMaster1.xml" Id="Rfb551b51f1c644b3" /></Relationships>
</file>

<file path=ppt/notesSlides/_rels/notesSlide39.xml.rels>&#65279;<?xml version="1.0" encoding="utf-8"?><Relationships xmlns="http://schemas.openxmlformats.org/package/2006/relationships"><Relationship Type="http://schemas.openxmlformats.org/officeDocument/2006/relationships/slide" Target="/ppt/slides/slide39.xml" Id="R52e87f8b2cdc4a1b" /><Relationship Type="http://schemas.openxmlformats.org/officeDocument/2006/relationships/notesMaster" Target="/ppt/notesMasters/notesMaster1.xml" Id="R5166583eff854996" /></Relationships>
</file>

<file path=ppt/notesSlides/_rels/notesSlide40.xml.rels>&#65279;<?xml version="1.0" encoding="utf-8"?><Relationships xmlns="http://schemas.openxmlformats.org/package/2006/relationships"><Relationship Type="http://schemas.openxmlformats.org/officeDocument/2006/relationships/slide" Target="/ppt/slides/slide40.xml" Id="R71999e379a16474a" /><Relationship Type="http://schemas.openxmlformats.org/officeDocument/2006/relationships/notesMaster" Target="/ppt/notesMasters/notesMaster1.xml" Id="R57e046b253384f2d" /></Relationships>
</file>

<file path=ppt/notesSlides/_rels/notesSlide41.xml.rels>&#65279;<?xml version="1.0" encoding="utf-8"?><Relationships xmlns="http://schemas.openxmlformats.org/package/2006/relationships"><Relationship Type="http://schemas.openxmlformats.org/officeDocument/2006/relationships/slide" Target="/ppt/slides/slide41.xml" Id="R1949cf3ce2ab4d47" /><Relationship Type="http://schemas.openxmlformats.org/officeDocument/2006/relationships/notesMaster" Target="/ppt/notesMasters/notesMaster1.xml" Id="R26534d5771404c6d" /></Relationships>
</file>

<file path=ppt/notesSlides/_rels/notesSlide42.xml.rels>&#65279;<?xml version="1.0" encoding="utf-8"?><Relationships xmlns="http://schemas.openxmlformats.org/package/2006/relationships"><Relationship Type="http://schemas.openxmlformats.org/officeDocument/2006/relationships/slide" Target="/ppt/slides/slide42.xml" Id="R3404b8253aca41e9" /><Relationship Type="http://schemas.openxmlformats.org/officeDocument/2006/relationships/notesMaster" Target="/ppt/notesMasters/notesMaster1.xml" Id="R4dc9485f2f51414a" /></Relationships>
</file>

<file path=ppt/notesSlides/_rels/notesSlide43.xml.rels>&#65279;<?xml version="1.0" encoding="utf-8"?><Relationships xmlns="http://schemas.openxmlformats.org/package/2006/relationships"><Relationship Type="http://schemas.openxmlformats.org/officeDocument/2006/relationships/slide" Target="/ppt/slides/slide43.xml" Id="R25557cb85ba64451" /><Relationship Type="http://schemas.openxmlformats.org/officeDocument/2006/relationships/notesMaster" Target="/ppt/notesMasters/notesMaster1.xml" Id="R383e538e8b394086" /></Relationships>
</file>

<file path=ppt/notesSlides/_rels/notesSlide44.xml.rels>&#65279;<?xml version="1.0" encoding="utf-8"?><Relationships xmlns="http://schemas.openxmlformats.org/package/2006/relationships"><Relationship Type="http://schemas.openxmlformats.org/officeDocument/2006/relationships/slide" Target="/ppt/slides/slide44.xml" Id="Rb8649263557a4f97" /><Relationship Type="http://schemas.openxmlformats.org/officeDocument/2006/relationships/notesMaster" Target="/ppt/notesMasters/notesMaster1.xml" Id="Rb654cfcb7a3b4a5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開場先說明：今天的重點不是把所有按鈕看過一遍，而是每位參與者都完成可帶回課堂的成果。邀請大家先選定一門課程或一個教學問題。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提醒：本簡報已全面採用現行名稱「Gemini Notebook」。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說明下午不是程式設計課，而是任務設計、權限判斷與成果驗證課。沒有 Google 訂閱的參與者可在 Codex 完成主要任務，Antigravity 採同組共作。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提醒每一段都沿用上午作品與同一教學問題。參與者不需要重新發想題目。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用一個例子說明：『告訴我如何改網站』是對話；『依我的規則產出設計建議』是助理；『讀取專案、修改、測試、交付』才是 Agent 任務。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要求參與者之後每次都問：Agent 的完成證據在哪裡？若只有一段漂亮說明，工作還沒有完成。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先讀取與分析通常風險較低；公開、刪除與替人做決策需要明確授權。請參與者把『需要我確認後才做』寫入任務限制。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請每組建立一個專案資料夾，放入上午成果、需求說明與素材。Agent 需要可讀的工作區，不要只靠聊天記憶。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這三個案例分別支援學生資料、PIRLS 評量與 Agent Skills 的實作討論。先判斷輸入資料、規則與驗收，再決定交給哪個 Agent。本次資料依據 H:\Akai v3.6.109 稽核。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https://cagoooo.github.io/Akai/tool/73/</a:t>
            </a:r>
          </a:p>
          <a:p xmlns:a="http://schemas.openxmlformats.org/drawingml/2006/main">
            <a:r>
              <a:t>- https://cagoooo.github.io/filter/</a:t>
            </a:r>
          </a:p>
          <a:p xmlns:a="http://schemas.openxmlformats.org/drawingml/2006/main">
            <a:r>
              <a:t>- https://cagoooo.github.io/Akai/tool/87/</a:t>
            </a:r>
          </a:p>
          <a:p xmlns:a="http://schemas.openxmlformats.org/drawingml/2006/main">
            <a:r>
              <a:t>- https://cagoooo.github.io/pirls-questioncraft/</a:t>
            </a:r>
          </a:p>
          <a:p xmlns:a="http://schemas.openxmlformats.org/drawingml/2006/main">
            <a:r>
              <a:t>- https://cagoooo.github.io/Akai/tool/103/</a:t>
            </a:r>
          </a:p>
          <a:p xmlns:a="http://schemas.openxmlformats.org/drawingml/2006/main">
            <a:r>
              <a:t>- https://cagoooo.github.io/PlayRight/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三個案例分別對應研究資料、無障礙檢核與規準式 AI 審查。請參與者比較：哪些步驟能交給 Agent，哪些判斷必須保留人工責任。本次資料依據 H:\Akai v3.6.109 稽核。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https://cagoooo.github.io/Akai/tool/105/</a:t>
            </a:r>
          </a:p>
          <a:p xmlns:a="http://schemas.openxmlformats.org/drawingml/2006/main">
            <a:r>
              <a:t>- https://cagoooo.github.io/taic-edu/</a:t>
            </a:r>
          </a:p>
          <a:p xmlns:a="http://schemas.openxmlformats.org/drawingml/2006/main">
            <a:r>
              <a:t>- https://cagoooo.github.io/Akai/tool/123/</a:t>
            </a:r>
          </a:p>
          <a:p xmlns:a="http://schemas.openxmlformats.org/drawingml/2006/main">
            <a:r>
              <a:t>- https://cagoooo.github.io/smes-web-migration/</a:t>
            </a:r>
          </a:p>
          <a:p xmlns:a="http://schemas.openxmlformats.org/drawingml/2006/main">
            <a:r>
              <a:t>- https://cagoooo.github.io/Akai/tool/88/</a:t>
            </a:r>
          </a:p>
          <a:p xmlns:a="http://schemas.openxmlformats.org/drawingml/2006/main">
            <a:r>
              <a:t>- https://cagoooo.github.io/JHScurriculum/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章節轉場。Antigravity 實作以同組共作為主，實際可用功能依現場帳號方案與管理政策為準。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https://codelabs.developers.google.com/getting-started-with-antigravity-skills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Google Codelab 將 Antigravity 描述為可啟動、監看與協調 AI agents 活動的中央指揮中心。教學上最重要的是任務與驗收，而不是介面按鈕。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https://codelabs.developers.google.com/getting-started-with-antigravity-skills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示範先請 Agent 閱讀並摘要專案，不立即修改。讓參與者建立『先觀察，再授權』的操作節奏。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請每組照四句話改成自己的任務。若任務無法在 20 分鐘內驗收，先縮小範圍。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示範任務可選：修正 RWD、加入一個形成性回饋、改善無障礙標籤。刻意要求 Agent 不要發布，讓權限邊界可見。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請參與者對示範結果追問：『你實際跑了什麼？』『哪一項沒有驗證？』培養證據導向，而不是相信完成宣告。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每組只做一項改善。若工具不可用，觀察員可用任務簡報與驗收規準進行紙上模擬，之後在 Codex 完成。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轉場：用同一個任務進入 Codex，比較工作方式與成果證據，而不是比較誰的回答比較像人。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https://learn.chatgpt.com/docs/build-skills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示範如何把一個模糊要求改成可驗證任務。強調 Codex 可以處理檔案與專案工作，但使用者仍需界定範圍與權限。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https://learn.chatgpt.com/docs/build-skills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這段可直接複製給 Codex，再把目標換成各組需求。若 Agent 建議超出範圍，先縮小任務，不要一路追加。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六欄不是要寫長文，而是讓 Agent 有足夠上下文完成閉環。請每組把剛才四句任務補成六欄。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若不希望修改原檔，先複製到練習資料夾或明確要求只讀分析。操作完用一句話回答：哪個工具的工作回報最容易查證？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不要下誰全面勝出的結論。選擇標準是帳號、資料位置、任務類型、權限與團隊工作方式。最好用同一驗收規準比較。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https://codelabs.developers.google.com/getting-started-with-antigravity-skills</a:t>
            </a:r>
          </a:p>
          <a:p xmlns:a="http://schemas.openxmlformats.org/drawingml/2006/main">
            <a:r>
              <a:t>- https://learn.chatgpt.com/docs/build-skills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轉場：提示詞解決這一次；Skill 保存一套可重複、可維護、可驗證的做法。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https://codelabs.developers.google.com/getting-started-with-antigravity-skills</a:t>
            </a:r>
          </a:p>
          <a:p xmlns:a="http://schemas.openxmlformats.org/drawingml/2006/main">
            <a:r>
              <a:t>- https://learn.chatgpt.com/docs/build-skills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Google Codelab 強調 Skill 是輕量、開放的 Agent 能力擴充格式，並以按需載入減少上下文飽和與工具膨脹。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https://codelabs.developers.google.com/getting-started-with-antigravity-skills</a:t>
            </a:r>
          </a:p>
          <a:p xmlns:a="http://schemas.openxmlformats.org/drawingml/2006/main">
            <a:r>
              <a:t>- https://learn.chatgpt.com/docs/build-skills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這是使用者提供的真實提示詞庫：目前畫面顯示 51 筆、9 大分類。現場每組先挑一筆最常用的，不從空白開始。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file:///G:/Agent/Prompt/%E6%8F%90%E7%A4%BA%E8%A9%9E%E5%BF%AB%E6%8D%B7%E9%9D%A2%E6%9D%BF.html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四問有三個『是』就值得做 Skill；只有一個『是』，先留在提示詞面板。避免把每句常用語都包成 Skill。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每組從六例或完整提示詞庫選一個。升級時一定要補上：輸入材料、步驟、禁止事項、驗收條件與需要人工確認的動作。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不是每個 Skill 都要四個資料夾。先從 SKILL.md 開始，只有當內容能降低重複、提高穩定性時才增加 references、scripts 或 assets。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https://codelabs.developers.google.com/getting-started-with-antigravity-skills</a:t>
            </a:r>
          </a:p>
          <a:p xmlns:a="http://schemas.openxmlformats.org/drawingml/2006/main">
            <a:r>
              <a:t>- https://learn.chatgpt.com/docs/build-skills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本工作坊採跨平台相容規格：YAML frontmatter 只放 name 與 description。正文用命令式步驟，並把人工授權邊界寫明。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https://codelabs.developers.google.com/getting-started-with-antigravity-skills</a:t>
            </a:r>
          </a:p>
          <a:p xmlns:a="http://schemas.openxmlformats.org/drawingml/2006/main">
            <a:r>
              <a:t>- https://learn.chatgpt.com/docs/build-skills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比喻成課程平台：首頁只放導航，進入單元才讀教學內容，需要時才下載附件。Skill 不應把整個知識庫一次塞進主文。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https://codelabs.developers.google.com/getting-started-with-antigravity-skills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建議兩人分工：一人當 Skill 作者，一人當陌生使用者。測試者不看原提示詞，只用自然語句提出需求，觀察 Agent 是否正確啟用流程。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把測試結果記成兩欄，不要求輸出一模一樣；要求核心規則、授權邊界與驗收一致。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這一段使用工作坊自製的 PIRLS 風格合成資料，不是真實學生資料，也不是正式 PIRLS 題目。重點是 AI 輔助研究流程、編碼可靠性與資料治理。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https://www.iea.nl/sites/default/files/2025-10/GA66_PIRLS%202026.pdf</a:t>
            </a:r>
          </a:p>
          <a:p xmlns:a="http://schemas.openxmlformats.org/drawingml/2006/main">
            <a:r>
              <a:t>- https://www.iea.nl/sites/default/files/2024-04/Operational-Automatic-Scoring-of-Text-Responses-ePIRLS.pdf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選擇題與簡答題需要不同分析方法。不要讓 AI 先自由閱讀所有回覆再自行發明分類；先建立資料字典、答案鍵與逐題 scoring guide。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https://www.iea.nl/publications/teachers-resources/putting-pirls-use-classrooms-across-globe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要求每一步保留輸入、輸出與狀態。簡答初編的輸出至少包含 student_id、ai_code、evidence_excerpt、rationale、confidence、needs_human_review。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這張不是主張直接把正式評分交給 AI，而是說明國際評量也採『人工主流程＋AI 平行研究』的審慎路徑。工作坊內只做研究性初編與群體分析。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https://www.iea.nl/sites/default/files/2025-10/GA66_PIRLS%202026.pdf</a:t>
            </a:r>
          </a:p>
          <a:p xmlns:a="http://schemas.openxmlformats.org/drawingml/2006/main">
            <a:r>
              <a:t>- https://www.iea.nl/sites/default/files/2024-04/Operational-Automatic-Scoring-of-Text-Responses-ePIRLS.pdf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正式研究可再加入雙評分者、抽樣比例與一致性統計。PIRLS／TIMSS 技術流程重視明確 scoring guides、評分訓練與獨立雙評以記錄 reliability。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https://timssandpirls.bc.edu/timss2019/methods/pdf/TIMSS-2019-MP-Technical-Report.pdf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練習檔位於成果資料夾：PIRLS風格_學生資料_AI分析練習.csv、PIRLS風格_簡答題編碼規準.txt；最後才提供講師用人工參考編碼。禁止一開始把參考答案交給 AI。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請每位教授圈一個 30 天內最想驗證的領域。選擇標準是高頻、耗時、可檢查，不是最炫。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請各組在自己的 Skill 加上一條最重要的安全規則。學生資料 Skill 必須明確要求去識別化、資料最小化、人工複核與用途限制。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可選任務：課程網站上線前總檢、閱讀資料互動導讀、字幕品質檢查、GitHub Pages 部署計畫、PIRLS 風格學生資料分析。今天不要求公開發布。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每組 90 秒展示，回饋者用四項各給一個勾或問號。若是學生資料案例，再加問：資料是否去識別？AI 編碼是否有人工複核？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請每位教授寫下：哪一門課、哪一個任務、成功的量化或質化證據、哪一天回顧。學生資料任務要先用合成或去識別資料驗證。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請參與者先把資源頁加入書籤，再用手機拍下最後一句。若現場時間不足，部署與 Skill 擴寫可依此清單回家續作。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../START_HERE_研習資源導航.html</a:t>
            </a:r>
          </a:p>
          <a:p xmlns:a="http://schemas.openxmlformats.org/drawingml/2006/main">
            <a:r>
              <a:t>- https://antigravity.google/</a:t>
            </a:r>
          </a:p>
          <a:p xmlns:a="http://schemas.openxmlformats.org/drawingml/2006/main">
            <a:r>
              <a:t>- https://chatgpt.com/codex/</a:t>
            </a:r>
          </a:p>
          <a:p xmlns:a="http://schemas.openxmlformats.org/drawingml/2006/main">
            <a:r>
              <a:t>- https://codelabs.developers.google.com/getting-started-with-antigravity-skills</a:t>
            </a:r>
          </a:p>
          <a:p xmlns:a="http://schemas.openxmlformats.org/drawingml/2006/main">
            <a:r>
              <a:t>- ../04_實作工具/提示詞快捷面板_研習用.html</a:t>
            </a:r>
          </a:p>
          <a:p xmlns:a="http://schemas.openxmlformats.org/drawingml/2006/main">
            <a:r>
              <a:t>- https://cagoooo.github.io/Akai/</a:t>
            </a:r>
          </a:p>
          <a:p xmlns:a="http://schemas.openxmlformats.org/drawingml/2006/main">
            <a:r>
              <a:t>- https://www.iea.nl/sites/default/files/2025-10/GA66_PIRLS%202026.pdf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bbf6f3cf73b4bfa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e9cd32384274cda" /><Relationship Type="http://schemas.openxmlformats.org/officeDocument/2006/relationships/slideLayout" Target="/ppt/slideLayouts/slideLayout1.xml" Id="R7e39fb93f4454751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e39fb93f4454751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NCU Afternoon">
      <a:dk1>
        <a:srgbClr val="000000"/>
      </a:dk1>
      <a:lt1>
        <a:srgbClr val="FFFFFF"/>
      </a:lt1>
      <a:dk2>
        <a:srgbClr val="07131F"/>
      </a:dk2>
      <a:lt2>
        <a:srgbClr val="0C1E30"/>
      </a:lt2>
      <a:accent1>
        <a:srgbClr val="55A7FF"/>
      </a:accent1>
      <a:accent2>
        <a:srgbClr val="FF806D"/>
      </a:accent2>
      <a:accent3>
        <a:srgbClr val="2CD2C7"/>
      </a:accent3>
      <a:accent4>
        <a:srgbClr val="A78BFA"/>
      </a:accent4>
      <a:accent5>
        <a:srgbClr val="F5C451"/>
      </a:accent5>
      <a:accent6>
        <a:srgbClr val="37D48B"/>
      </a:accent6>
      <a:hlink>
        <a:srgbClr val="55A7FF"/>
      </a:hlink>
      <a:folHlink>
        <a:srgbClr val="A78BFA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NCU Afternoon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c7e5292de7f4cfd" /><Relationship Type="http://schemas.openxmlformats.org/officeDocument/2006/relationships/image" Target="/ppt/media/image.png" Id="Rb109a3f9a9524eb4" /><Relationship Type="http://schemas.openxmlformats.org/officeDocument/2006/relationships/notesSlide" Target="/ppt/notesSlides/notesSlide1.xml" Id="R9f20eeeea62d410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8d581cb1be6433d" /><Relationship Type="http://schemas.openxmlformats.org/officeDocument/2006/relationships/notesSlide" Target="/ppt/notesSlides/notesSlide2.xml" Id="Radfc49eecf30474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c783736803443b4" /><Relationship Type="http://schemas.openxmlformats.org/officeDocument/2006/relationships/notesSlide" Target="/ppt/notesSlides/notesSlide3.xml" Id="Rec3f9d244fbc41e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52bfd82ba674500" /><Relationship Type="http://schemas.openxmlformats.org/officeDocument/2006/relationships/notesSlide" Target="/ppt/notesSlides/notesSlide4.xml" Id="R1f7b227f9fb14058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eca80566dba41b7" /><Relationship Type="http://schemas.openxmlformats.org/officeDocument/2006/relationships/notesSlide" Target="/ppt/notesSlides/notesSlide5.xml" Id="Rb81f0ebb25504b2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2d79b2f6fe04414" /><Relationship Type="http://schemas.openxmlformats.org/officeDocument/2006/relationships/notesSlide" Target="/ppt/notesSlides/notesSlide6.xml" Id="Recdf1831d1804ef6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efa58d69c864018" /><Relationship Type="http://schemas.openxmlformats.org/officeDocument/2006/relationships/notesSlide" Target="/ppt/notesSlides/notesSlide7.xml" Id="Rdce053fa69734e8b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78c1063ccc14d2b" /><Relationship Type="http://schemas.openxmlformats.org/officeDocument/2006/relationships/hyperlink" Target="https://cagoooo.github.io/Akai/tool/73/" TargetMode="External" Id="R68af85a427d2495d" /><Relationship Type="http://schemas.openxmlformats.org/officeDocument/2006/relationships/image" Target="/ppt/media/image2.png" Id="R4e704f0713264062" /><Relationship Type="http://schemas.openxmlformats.org/officeDocument/2006/relationships/hyperlink" Target="https://cagoooo.github.io/filter/" TargetMode="External" Id="R7afe7db5a1df427f" /><Relationship Type="http://schemas.openxmlformats.org/officeDocument/2006/relationships/image" Target="/ppt/media/image3.png" Id="R98b035edc5a84f8e" /><Relationship Type="http://schemas.openxmlformats.org/officeDocument/2006/relationships/hyperlink" Target="https://cagoooo.github.io/Akai/tool/87/" TargetMode="External" Id="Rdae7feebcf1b41f4" /><Relationship Type="http://schemas.openxmlformats.org/officeDocument/2006/relationships/image" Target="/ppt/media/image4.png" Id="R3aa18d4b7b354f66" /><Relationship Type="http://schemas.openxmlformats.org/officeDocument/2006/relationships/hyperlink" Target="https://cagoooo.github.io/pirls-questioncraft/" TargetMode="External" Id="R9a53371e42d843d7" /><Relationship Type="http://schemas.openxmlformats.org/officeDocument/2006/relationships/image" Target="/ppt/media/image5.png" Id="R1cc42a5ab3654be4" /><Relationship Type="http://schemas.openxmlformats.org/officeDocument/2006/relationships/hyperlink" Target="https://cagoooo.github.io/Akai/tool/103/" TargetMode="External" Id="R84316b4349ed4b4a" /><Relationship Type="http://schemas.openxmlformats.org/officeDocument/2006/relationships/image" Target="/ppt/media/image6.png" Id="R0012fd3eb6c34b91" /><Relationship Type="http://schemas.openxmlformats.org/officeDocument/2006/relationships/hyperlink" Target="https://cagoooo.github.io/PlayRight/" TargetMode="External" Id="Rf14ab726607c4a9b" /><Relationship Type="http://schemas.openxmlformats.org/officeDocument/2006/relationships/image" Target="/ppt/media/image7.png" Id="Rc3d92fc58d184096" /><Relationship Type="http://schemas.openxmlformats.org/officeDocument/2006/relationships/notesSlide" Target="/ppt/notesSlides/notesSlide8.xml" Id="R8e39d4b8fae248d7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519816c1e144431" /><Relationship Type="http://schemas.openxmlformats.org/officeDocument/2006/relationships/hyperlink" Target="https://cagoooo.github.io/Akai/tool/105/" TargetMode="External" Id="Rd506ea2d256e4046" /><Relationship Type="http://schemas.openxmlformats.org/officeDocument/2006/relationships/image" Target="/ppt/media/image8.png" Id="Rd223f767e64a48bd" /><Relationship Type="http://schemas.openxmlformats.org/officeDocument/2006/relationships/hyperlink" Target="https://cagoooo.github.io/taic-edu/" TargetMode="External" Id="R905ea9babae54ec7" /><Relationship Type="http://schemas.openxmlformats.org/officeDocument/2006/relationships/image" Target="/ppt/media/image9.png" Id="R5b84c6cf8cfa4efa" /><Relationship Type="http://schemas.openxmlformats.org/officeDocument/2006/relationships/hyperlink" Target="https://cagoooo.github.io/Akai/tool/123/" TargetMode="External" Id="R8b80e43c89ba43f9" /><Relationship Type="http://schemas.openxmlformats.org/officeDocument/2006/relationships/image" Target="/ppt/media/image10.png" Id="R656aae20d82049be" /><Relationship Type="http://schemas.openxmlformats.org/officeDocument/2006/relationships/hyperlink" Target="https://cagoooo.github.io/smes-web-migration/" TargetMode="External" Id="R58b79e816ff74866" /><Relationship Type="http://schemas.openxmlformats.org/officeDocument/2006/relationships/image" Target="/ppt/media/image11.png" Id="Rd9a9c2dbee21483a" /><Relationship Type="http://schemas.openxmlformats.org/officeDocument/2006/relationships/hyperlink" Target="https://cagoooo.github.io/Akai/tool/88/" TargetMode="External" Id="R04b3117a9ec44e54" /><Relationship Type="http://schemas.openxmlformats.org/officeDocument/2006/relationships/image" Target="/ppt/media/image12.png" Id="Ra41284154619472e" /><Relationship Type="http://schemas.openxmlformats.org/officeDocument/2006/relationships/hyperlink" Target="https://cagoooo.github.io/JHScurriculum/" TargetMode="External" Id="R8caa8fb83a814cbb" /><Relationship Type="http://schemas.openxmlformats.org/officeDocument/2006/relationships/image" Target="/ppt/media/image13.png" Id="Rf039ae6cd15f4005" /><Relationship Type="http://schemas.openxmlformats.org/officeDocument/2006/relationships/notesSlide" Target="/ppt/notesSlides/notesSlide9.xml" Id="Rb0cbfe72f81e4d70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fc6cbee70404c2b" /><Relationship Type="http://schemas.openxmlformats.org/officeDocument/2006/relationships/hyperlink" Target="https://antigravity.google/" TargetMode="External" Id="Raa4c464f03bb4c71" /><Relationship Type="http://schemas.openxmlformats.org/officeDocument/2006/relationships/image" Target="/ppt/media/image14.png" Id="Rfd2cc247ca184e52" /><Relationship Type="http://schemas.openxmlformats.org/officeDocument/2006/relationships/notesSlide" Target="/ppt/notesSlides/notesSlide10.xml" Id="R0a63a73bb63d4397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6208c62cd964132" /><Relationship Type="http://schemas.openxmlformats.org/officeDocument/2006/relationships/hyperlink" Target="https://antigravity.google/" TargetMode="External" Id="Re9f5ccac323348b9" /><Relationship Type="http://schemas.openxmlformats.org/officeDocument/2006/relationships/image" Target="/ppt/media/image15.png" Id="Reef2241212ad482b" /><Relationship Type="http://schemas.openxmlformats.org/officeDocument/2006/relationships/notesSlide" Target="/ppt/notesSlides/notesSlide11.xml" Id="Rd7999e30abd44517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dbec954f72e4b9e" /><Relationship Type="http://schemas.openxmlformats.org/officeDocument/2006/relationships/hyperlink" Target="https://antigravity.google/" TargetMode="External" Id="R4e9aa5ad43344781" /><Relationship Type="http://schemas.openxmlformats.org/officeDocument/2006/relationships/image" Target="/ppt/media/image16.png" Id="R07a84bf770264b51" /><Relationship Type="http://schemas.openxmlformats.org/officeDocument/2006/relationships/notesSlide" Target="/ppt/notesSlides/notesSlide12.xml" Id="R3cdc64a4a2d54f17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a2d0961abe8489e" /><Relationship Type="http://schemas.openxmlformats.org/officeDocument/2006/relationships/hyperlink" Target="https://antigravity.google/" TargetMode="External" Id="Raa363e825b3840a6" /><Relationship Type="http://schemas.openxmlformats.org/officeDocument/2006/relationships/image" Target="/ppt/media/image17.png" Id="R51e883b2d0304bb6" /><Relationship Type="http://schemas.openxmlformats.org/officeDocument/2006/relationships/notesSlide" Target="/ppt/notesSlides/notesSlide13.xml" Id="R8d531530d38d4268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8a1a97ec22d4884" /><Relationship Type="http://schemas.openxmlformats.org/officeDocument/2006/relationships/hyperlink" Target="https://antigravity.google/" TargetMode="External" Id="Rd329d963853945cc" /><Relationship Type="http://schemas.openxmlformats.org/officeDocument/2006/relationships/image" Target="/ppt/media/image18.png" Id="Raca087be18d7434e" /><Relationship Type="http://schemas.openxmlformats.org/officeDocument/2006/relationships/notesSlide" Target="/ppt/notesSlides/notesSlide14.xml" Id="R2001ef38f69b4c84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5e21a7f2b274c5e" /><Relationship Type="http://schemas.openxmlformats.org/officeDocument/2006/relationships/hyperlink" Target="https://antigravity.google/" TargetMode="External" Id="R046b20bea0e44593" /><Relationship Type="http://schemas.openxmlformats.org/officeDocument/2006/relationships/image" Target="/ppt/media/image19.png" Id="Rb6cab770b220489b" /><Relationship Type="http://schemas.openxmlformats.org/officeDocument/2006/relationships/notesSlide" Target="/ppt/notesSlides/notesSlide15.xml" Id="R0c97cb307ffe4c22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20b6a766bd14ee5" /><Relationship Type="http://schemas.openxmlformats.org/officeDocument/2006/relationships/hyperlink" Target="https://antigravity.google/" TargetMode="External" Id="Rbc977430d9424216" /><Relationship Type="http://schemas.openxmlformats.org/officeDocument/2006/relationships/image" Target="/ppt/media/image20.png" Id="R21b578ff31ec4acb" /><Relationship Type="http://schemas.openxmlformats.org/officeDocument/2006/relationships/notesSlide" Target="/ppt/notesSlides/notesSlide16.xml" Id="Rc94fd7842b5049b4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2ebb326657b42a0" /><Relationship Type="http://schemas.openxmlformats.org/officeDocument/2006/relationships/hyperlink" Target="https://chatgpt.com/codex/" TargetMode="External" Id="R81c5fe609bf646d2" /><Relationship Type="http://schemas.openxmlformats.org/officeDocument/2006/relationships/image" Target="/ppt/media/image21.png" Id="Raafb85f9ebc04c6c" /><Relationship Type="http://schemas.openxmlformats.org/officeDocument/2006/relationships/notesSlide" Target="/ppt/notesSlides/notesSlide17.xml" Id="Rbdddbbe88cb74a63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243fa614f784aca" /><Relationship Type="http://schemas.openxmlformats.org/officeDocument/2006/relationships/hyperlink" Target="https://chatgpt.com/codex/" TargetMode="External" Id="R81c381534bd140f5" /><Relationship Type="http://schemas.openxmlformats.org/officeDocument/2006/relationships/image" Target="/ppt/media/image22.png" Id="R00d86325a70f440f" /><Relationship Type="http://schemas.openxmlformats.org/officeDocument/2006/relationships/notesSlide" Target="/ppt/notesSlides/notesSlide18.xml" Id="Ra87f7b5e741e4f2b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8da0856bb804d1a" /><Relationship Type="http://schemas.openxmlformats.org/officeDocument/2006/relationships/hyperlink" Target="https://chatgpt.com/codex/" TargetMode="External" Id="R705bf46b93054ad5" /><Relationship Type="http://schemas.openxmlformats.org/officeDocument/2006/relationships/image" Target="/ppt/media/image23.png" Id="R9839dad57fb54c2d" /><Relationship Type="http://schemas.openxmlformats.org/officeDocument/2006/relationships/notesSlide" Target="/ppt/notesSlides/notesSlide19.xml" Id="R88225e1ebe5f4cc6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a7967065af04f5c" /><Relationship Type="http://schemas.openxmlformats.org/officeDocument/2006/relationships/hyperlink" Target="https://chatgpt.com/codex/" TargetMode="External" Id="Rf6ef7b00a5574768" /><Relationship Type="http://schemas.openxmlformats.org/officeDocument/2006/relationships/image" Target="/ppt/media/image24.png" Id="R827c3d8eb8bb499d" /><Relationship Type="http://schemas.openxmlformats.org/officeDocument/2006/relationships/notesSlide" Target="/ppt/notesSlides/notesSlide20.xml" Id="R292ee73abe404483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66d5772d7cb4e73" /><Relationship Type="http://schemas.openxmlformats.org/officeDocument/2006/relationships/hyperlink" Target="https://chatgpt.com/codex/" TargetMode="External" Id="R4a8987de40a1455d" /><Relationship Type="http://schemas.openxmlformats.org/officeDocument/2006/relationships/image" Target="/ppt/media/image25.png" Id="Rfd2ea45f398340c0" /><Relationship Type="http://schemas.openxmlformats.org/officeDocument/2006/relationships/notesSlide" Target="/ppt/notesSlides/notesSlide21.xml" Id="R024197b8e0bd4e58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1604897df5847dc" /><Relationship Type="http://schemas.openxmlformats.org/officeDocument/2006/relationships/hyperlink" Target="https://antigravity.google/" TargetMode="External" Id="Rb5ff5b7e65864e1c" /><Relationship Type="http://schemas.openxmlformats.org/officeDocument/2006/relationships/hyperlink" Target="https://chatgpt.com/codex/" TargetMode="External" Id="R7ef1a6fd2c0d4442" /><Relationship Type="http://schemas.openxmlformats.org/officeDocument/2006/relationships/image" Target="/ppt/media/image26.png" Id="R22b8f4a2a4f74c3c" /><Relationship Type="http://schemas.openxmlformats.org/officeDocument/2006/relationships/image" Target="/ppt/media/image27.png" Id="R4afd5932fb5b4ce9" /><Relationship Type="http://schemas.openxmlformats.org/officeDocument/2006/relationships/notesSlide" Target="/ppt/notesSlides/notesSlide22.xml" Id="R52791d53831b4873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cf71819b44746e2" /><Relationship Type="http://schemas.openxmlformats.org/officeDocument/2006/relationships/hyperlink" Target="https://codelabs.developers.google.com/getting-started-with-antigravity-skills" TargetMode="External" Id="Re975141fa4f7470f" /><Relationship Type="http://schemas.openxmlformats.org/officeDocument/2006/relationships/hyperlink" Target="https://learn.chatgpt.com/docs/build-skills" TargetMode="External" Id="Ra545c0205a18495a" /><Relationship Type="http://schemas.openxmlformats.org/officeDocument/2006/relationships/image" Target="/ppt/media/image28.png" Id="Raf66e9f4ba3d440c" /><Relationship Type="http://schemas.openxmlformats.org/officeDocument/2006/relationships/image" Target="/ppt/media/image29.png" Id="R626bee4bde71426b" /><Relationship Type="http://schemas.openxmlformats.org/officeDocument/2006/relationships/notesSlide" Target="/ppt/notesSlides/notesSlide23.xml" Id="Rc8df5e395d1f492d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61d12d150044219" /><Relationship Type="http://schemas.openxmlformats.org/officeDocument/2006/relationships/hyperlink" Target="https://codelabs.developers.google.com/getting-started-with-antigravity-skills" TargetMode="External" Id="R461f401dfa564dcd" /><Relationship Type="http://schemas.openxmlformats.org/officeDocument/2006/relationships/hyperlink" Target="https://learn.chatgpt.com/docs/build-skills" TargetMode="External" Id="Rd39bf8116fcf43ab" /><Relationship Type="http://schemas.openxmlformats.org/officeDocument/2006/relationships/image" Target="/ppt/media/image30.png" Id="R770729ecdc8f42f0" /><Relationship Type="http://schemas.openxmlformats.org/officeDocument/2006/relationships/image" Target="/ppt/media/image31.png" Id="Reb5b2a1a82e340b3" /><Relationship Type="http://schemas.openxmlformats.org/officeDocument/2006/relationships/notesSlide" Target="/ppt/notesSlides/notesSlide24.xml" Id="R1c28e4fc447341ff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44a3ca4ed1c4f6a" /><Relationship Type="http://schemas.openxmlformats.org/officeDocument/2006/relationships/image" Target="/ppt/media/image32.png" Id="Re8399bfa67834ce6" /><Relationship Type="http://schemas.openxmlformats.org/officeDocument/2006/relationships/hyperlink" Target="../04_&#23526;&#20316;&#24037;&#20855;/&#25552;&#31034;&#35422;&#24555;&#25463;&#38754;&#26495;_&#30740;&#32722;&#29992;.html" TargetMode="External" Id="R48e03112e0764011" /><Relationship Type="http://schemas.openxmlformats.org/officeDocument/2006/relationships/image" Target="/ppt/media/image33.png" Id="R097880044449470c" /><Relationship Type="http://schemas.openxmlformats.org/officeDocument/2006/relationships/notesSlide" Target="/ppt/notesSlides/notesSlide25.xml" Id="R2e1366d247634d5c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68adb4d8a934d02" /><Relationship Type="http://schemas.openxmlformats.org/officeDocument/2006/relationships/hyperlink" Target="https://codelabs.developers.google.com/getting-started-with-antigravity-skills" TargetMode="External" Id="Rd68104ea7a324634" /><Relationship Type="http://schemas.openxmlformats.org/officeDocument/2006/relationships/hyperlink" Target="https://learn.chatgpt.com/docs/build-skills" TargetMode="External" Id="R66b7c7ccdd504b80" /><Relationship Type="http://schemas.openxmlformats.org/officeDocument/2006/relationships/image" Target="/ppt/media/image34.png" Id="R82680cbc9c9e465a" /><Relationship Type="http://schemas.openxmlformats.org/officeDocument/2006/relationships/image" Target="/ppt/media/image35.png" Id="R0676e0998d4f4890" /><Relationship Type="http://schemas.openxmlformats.org/officeDocument/2006/relationships/notesSlide" Target="/ppt/notesSlides/notesSlide26.xml" Id="R342a2396401341f5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2d62bf11566419e" /><Relationship Type="http://schemas.openxmlformats.org/officeDocument/2006/relationships/hyperlink" Target="https://codelabs.developers.google.com/getting-started-with-antigravity-skills" TargetMode="External" Id="R6927d517acac4205" /><Relationship Type="http://schemas.openxmlformats.org/officeDocument/2006/relationships/hyperlink" Target="https://learn.chatgpt.com/docs/build-skills" TargetMode="External" Id="Rd4dc9d58aaa44575" /><Relationship Type="http://schemas.openxmlformats.org/officeDocument/2006/relationships/image" Target="/ppt/media/image36.png" Id="Rebea4251c57d4da0" /><Relationship Type="http://schemas.openxmlformats.org/officeDocument/2006/relationships/image" Target="/ppt/media/image37.png" Id="Rbcfb5340b13c4e68" /><Relationship Type="http://schemas.openxmlformats.org/officeDocument/2006/relationships/notesSlide" Target="/ppt/notesSlides/notesSlide27.xml" Id="R7b1a91ddcc4d49ce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583248abb024e24" /><Relationship Type="http://schemas.openxmlformats.org/officeDocument/2006/relationships/hyperlink" Target="https://codelabs.developers.google.com/getting-started-with-antigravity-skills" TargetMode="External" Id="Rf83b86a56faa429a" /><Relationship Type="http://schemas.openxmlformats.org/officeDocument/2006/relationships/hyperlink" Target="https://learn.chatgpt.com/docs/build-skills" TargetMode="External" Id="Re6aebf8459bd47e9" /><Relationship Type="http://schemas.openxmlformats.org/officeDocument/2006/relationships/image" Target="/ppt/media/image38.png" Id="R71e4dbcf12c147b9" /><Relationship Type="http://schemas.openxmlformats.org/officeDocument/2006/relationships/image" Target="/ppt/media/image39.png" Id="R3bb851cf40524525" /><Relationship Type="http://schemas.openxmlformats.org/officeDocument/2006/relationships/notesSlide" Target="/ppt/notesSlides/notesSlide28.xml" Id="R747683c54030448e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5dfbe564c594328" /><Relationship Type="http://schemas.openxmlformats.org/officeDocument/2006/relationships/hyperlink" Target="https://codelabs.developers.google.com/getting-started-with-antigravity-skills" TargetMode="External" Id="Rb50d5d5c51e04af1" /><Relationship Type="http://schemas.openxmlformats.org/officeDocument/2006/relationships/hyperlink" Target="https://learn.chatgpt.com/docs/build-skills" TargetMode="External" Id="Rcbdb217a9d6f46fc" /><Relationship Type="http://schemas.openxmlformats.org/officeDocument/2006/relationships/image" Target="/ppt/media/image40.png" Id="R4c50051baf0d43c4" /><Relationship Type="http://schemas.openxmlformats.org/officeDocument/2006/relationships/image" Target="/ppt/media/image41.png" Id="Re52b6d393ca941d4" /><Relationship Type="http://schemas.openxmlformats.org/officeDocument/2006/relationships/notesSlide" Target="/ppt/notesSlides/notesSlide29.xml" Id="R81a3212155ca451f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3810ed80e994f28" /><Relationship Type="http://schemas.openxmlformats.org/officeDocument/2006/relationships/hyperlink" Target="https://codelabs.developers.google.com/getting-started-with-antigravity-skills" TargetMode="External" Id="Rd2936841fe154fa1" /><Relationship Type="http://schemas.openxmlformats.org/officeDocument/2006/relationships/hyperlink" Target="https://learn.chatgpt.com/docs/build-skills" TargetMode="External" Id="R0e2ffb1886cc4fe0" /><Relationship Type="http://schemas.openxmlformats.org/officeDocument/2006/relationships/image" Target="/ppt/media/image42.png" Id="Rcd7fac6e036d4093" /><Relationship Type="http://schemas.openxmlformats.org/officeDocument/2006/relationships/image" Target="/ppt/media/image43.png" Id="R6b5e3b9ba6504f63" /><Relationship Type="http://schemas.openxmlformats.org/officeDocument/2006/relationships/notesSlide" Target="/ppt/notesSlides/notesSlide30.xml" Id="R80371f577b144a8d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51f87df911f4a69" /><Relationship Type="http://schemas.openxmlformats.org/officeDocument/2006/relationships/hyperlink" Target="https://codelabs.developers.google.com/getting-started-with-antigravity-skills" TargetMode="External" Id="Rd8df767f794848dd" /><Relationship Type="http://schemas.openxmlformats.org/officeDocument/2006/relationships/hyperlink" Target="https://learn.chatgpt.com/docs/build-skills" TargetMode="External" Id="Reede4a6a3cf54c86" /><Relationship Type="http://schemas.openxmlformats.org/officeDocument/2006/relationships/image" Target="/ppt/media/image44.png" Id="R6dae73e59a22411f" /><Relationship Type="http://schemas.openxmlformats.org/officeDocument/2006/relationships/image" Target="/ppt/media/image45.png" Id="Rb218c7cd431040ba" /><Relationship Type="http://schemas.openxmlformats.org/officeDocument/2006/relationships/notesSlide" Target="/ppt/notesSlides/notesSlide31.xml" Id="R2ac2d05665234348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865b66de5ad47e7" /><Relationship Type="http://schemas.openxmlformats.org/officeDocument/2006/relationships/hyperlink" Target="https://codelabs.developers.google.com/getting-started-with-antigravity-skills" TargetMode="External" Id="R6abae85d8d34413b" /><Relationship Type="http://schemas.openxmlformats.org/officeDocument/2006/relationships/hyperlink" Target="https://learn.chatgpt.com/docs/build-skills" TargetMode="External" Id="Rdb6f7e8fe0894220" /><Relationship Type="http://schemas.openxmlformats.org/officeDocument/2006/relationships/image" Target="/ppt/media/image46.png" Id="R939190692bc14c28" /><Relationship Type="http://schemas.openxmlformats.org/officeDocument/2006/relationships/image" Target="/ppt/media/image47.png" Id="Rdd38dd5b9a0548d2" /><Relationship Type="http://schemas.openxmlformats.org/officeDocument/2006/relationships/notesSlide" Target="/ppt/notesSlides/notesSlide32.xml" Id="Rfb34c2869f5f47c2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a2cbf2c19f24a8a" /><Relationship Type="http://schemas.openxmlformats.org/officeDocument/2006/relationships/hyperlink" Target="https://antigravity.google/" TargetMode="External" Id="Rd1fd6e13328348f2" /><Relationship Type="http://schemas.openxmlformats.org/officeDocument/2006/relationships/hyperlink" Target="https://chatgpt.com/codex/" TargetMode="External" Id="Rb5b9b5a2b7274e0c" /><Relationship Type="http://schemas.openxmlformats.org/officeDocument/2006/relationships/image" Target="/ppt/media/image48.png" Id="R4f34ab4d07174955" /><Relationship Type="http://schemas.openxmlformats.org/officeDocument/2006/relationships/image" Target="/ppt/media/image49.png" Id="Ra03df7f7066c4968" /><Relationship Type="http://schemas.openxmlformats.org/officeDocument/2006/relationships/notesSlide" Target="/ppt/notesSlides/notesSlide33.xml" Id="Rf5c1203566ec4b7f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2717a1fe6f444c1" /><Relationship Type="http://schemas.openxmlformats.org/officeDocument/2006/relationships/hyperlink" Target="https://antigravity.google/" TargetMode="External" Id="Rc0ef9e889b6149cd" /><Relationship Type="http://schemas.openxmlformats.org/officeDocument/2006/relationships/hyperlink" Target="https://chatgpt.com/codex/" TargetMode="External" Id="R0519021e03064521" /><Relationship Type="http://schemas.openxmlformats.org/officeDocument/2006/relationships/image" Target="/ppt/media/image50.png" Id="R3286f16bd48a4858" /><Relationship Type="http://schemas.openxmlformats.org/officeDocument/2006/relationships/image" Target="/ppt/media/image51.png" Id="R45606b618856495c" /><Relationship Type="http://schemas.openxmlformats.org/officeDocument/2006/relationships/notesSlide" Target="/ppt/notesSlides/notesSlide34.xml" Id="Re1a0327d78c8450f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fa95233aa934e8c" /><Relationship Type="http://schemas.openxmlformats.org/officeDocument/2006/relationships/hyperlink" Target="https://antigravity.google/" TargetMode="External" Id="R0127b1ea82a14b1f" /><Relationship Type="http://schemas.openxmlformats.org/officeDocument/2006/relationships/hyperlink" Target="https://chatgpt.com/codex/" TargetMode="External" Id="R6a84f90659674d15" /><Relationship Type="http://schemas.openxmlformats.org/officeDocument/2006/relationships/image" Target="/ppt/media/image52.png" Id="R46a1b6612a664d6a" /><Relationship Type="http://schemas.openxmlformats.org/officeDocument/2006/relationships/image" Target="/ppt/media/image53.png" Id="R452bc12740fd4cee" /><Relationship Type="http://schemas.openxmlformats.org/officeDocument/2006/relationships/notesSlide" Target="/ppt/notesSlides/notesSlide35.xml" Id="Rd03b68e00980452d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0deaa7c3b6443d1" /><Relationship Type="http://schemas.openxmlformats.org/officeDocument/2006/relationships/hyperlink" Target="https://antigravity.google/" TargetMode="External" Id="R7fa7932818534b92" /><Relationship Type="http://schemas.openxmlformats.org/officeDocument/2006/relationships/hyperlink" Target="https://chatgpt.com/codex/" TargetMode="External" Id="Ra635f91d98884933" /><Relationship Type="http://schemas.openxmlformats.org/officeDocument/2006/relationships/image" Target="/ppt/media/image54.png" Id="R627b83edcbd64b8e" /><Relationship Type="http://schemas.openxmlformats.org/officeDocument/2006/relationships/image" Target="/ppt/media/image55.png" Id="R1a6e9da2866247a6" /><Relationship Type="http://schemas.openxmlformats.org/officeDocument/2006/relationships/notesSlide" Target="/ppt/notesSlides/notesSlide36.xml" Id="R3ff805f0209a4540" /></Relationships>
</file>

<file path=ppt/slides/_rels/slide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af03e5b48dd4ee3" /><Relationship Type="http://schemas.openxmlformats.org/officeDocument/2006/relationships/hyperlink" Target="https://antigravity.google/" TargetMode="External" Id="R85b3d3df184f4dda" /><Relationship Type="http://schemas.openxmlformats.org/officeDocument/2006/relationships/hyperlink" Target="https://chatgpt.com/codex/" TargetMode="External" Id="Rd4ccdafe2cdd4011" /><Relationship Type="http://schemas.openxmlformats.org/officeDocument/2006/relationships/image" Target="/ppt/media/image56.png" Id="R6b6e197aebb54032" /><Relationship Type="http://schemas.openxmlformats.org/officeDocument/2006/relationships/image" Target="/ppt/media/image57.png" Id="R89034998b3d54438" /><Relationship Type="http://schemas.openxmlformats.org/officeDocument/2006/relationships/notesSlide" Target="/ppt/notesSlides/notesSlide37.xml" Id="Re1cdf1a95aaa4608" /></Relationships>
</file>

<file path=ppt/slides/_rels/slide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fc663bb878e4778" /><Relationship Type="http://schemas.openxmlformats.org/officeDocument/2006/relationships/hyperlink" Target="https://antigravity.google/" TargetMode="External" Id="Rbf0e671e1cff47b9" /><Relationship Type="http://schemas.openxmlformats.org/officeDocument/2006/relationships/hyperlink" Target="https://chatgpt.com/codex/" TargetMode="External" Id="R686b80ca13e344e8" /><Relationship Type="http://schemas.openxmlformats.org/officeDocument/2006/relationships/image" Target="/ppt/media/image58.png" Id="R60fe60eb971648a6" /><Relationship Type="http://schemas.openxmlformats.org/officeDocument/2006/relationships/image" Target="/ppt/media/image59.png" Id="R6754cab251c94a99" /><Relationship Type="http://schemas.openxmlformats.org/officeDocument/2006/relationships/notesSlide" Target="/ppt/notesSlides/notesSlide38.xml" Id="Rc01c0dfd1481418a" /></Relationships>
</file>

<file path=ppt/slides/_rels/slide3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a94c18664a74c2e" /><Relationship Type="http://schemas.openxmlformats.org/officeDocument/2006/relationships/hyperlink" Target="https://antigravity.google/" TargetMode="External" Id="Rf6b9f46cd53f4544" /><Relationship Type="http://schemas.openxmlformats.org/officeDocument/2006/relationships/hyperlink" Target="https://chatgpt.com/codex/" TargetMode="External" Id="R5a022f1a0e4b4f73" /><Relationship Type="http://schemas.openxmlformats.org/officeDocument/2006/relationships/image" Target="/ppt/media/image60.png" Id="R10faa4eb9e864177" /><Relationship Type="http://schemas.openxmlformats.org/officeDocument/2006/relationships/image" Target="/ppt/media/image61.png" Id="R427393f332954e2d" /><Relationship Type="http://schemas.openxmlformats.org/officeDocument/2006/relationships/notesSlide" Target="/ppt/notesSlides/notesSlide39.xml" Id="Rc8d9e57d52234ea0" /></Relationships>
</file>

<file path=ppt/slides/_rels/slide4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3fa30e01b794709" /><Relationship Type="http://schemas.openxmlformats.org/officeDocument/2006/relationships/hyperlink" Target="https://antigravity.google/" TargetMode="External" Id="R2211a12de1fe4aba" /><Relationship Type="http://schemas.openxmlformats.org/officeDocument/2006/relationships/hyperlink" Target="https://chatgpt.com/codex/" TargetMode="External" Id="R007aa4bfdd5246d8" /><Relationship Type="http://schemas.openxmlformats.org/officeDocument/2006/relationships/image" Target="/ppt/media/image62.png" Id="Rea22ee48b2c24f6f" /><Relationship Type="http://schemas.openxmlformats.org/officeDocument/2006/relationships/image" Target="/ppt/media/image63.png" Id="Rb494faa2b6a141fe" /><Relationship Type="http://schemas.openxmlformats.org/officeDocument/2006/relationships/notesSlide" Target="/ppt/notesSlides/notesSlide40.xml" Id="Rdc3e4aee9e48417a" /></Relationships>
</file>

<file path=ppt/slides/_rels/slide4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a004931c82a4513" /><Relationship Type="http://schemas.openxmlformats.org/officeDocument/2006/relationships/hyperlink" Target="https://antigravity.google/" TargetMode="External" Id="Rb3abe119cd3a4c1f" /><Relationship Type="http://schemas.openxmlformats.org/officeDocument/2006/relationships/hyperlink" Target="https://chatgpt.com/codex/" TargetMode="External" Id="Rb17b710aa21542a8" /><Relationship Type="http://schemas.openxmlformats.org/officeDocument/2006/relationships/image" Target="/ppt/media/image64.png" Id="R79746f59627a43db" /><Relationship Type="http://schemas.openxmlformats.org/officeDocument/2006/relationships/image" Target="/ppt/media/image65.png" Id="Rb03933d1d16e4654" /><Relationship Type="http://schemas.openxmlformats.org/officeDocument/2006/relationships/notesSlide" Target="/ppt/notesSlides/notesSlide41.xml" Id="R874467e7459b4394" /></Relationships>
</file>

<file path=ppt/slides/_rels/slide4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b413016dd764186" /><Relationship Type="http://schemas.openxmlformats.org/officeDocument/2006/relationships/hyperlink" Target="https://antigravity.google/" TargetMode="External" Id="R5af210cbb0e64412" /><Relationship Type="http://schemas.openxmlformats.org/officeDocument/2006/relationships/hyperlink" Target="https://chatgpt.com/codex/" TargetMode="External" Id="R908bbb782da54f63" /><Relationship Type="http://schemas.openxmlformats.org/officeDocument/2006/relationships/image" Target="/ppt/media/image66.png" Id="Rddc92591129f421b" /><Relationship Type="http://schemas.openxmlformats.org/officeDocument/2006/relationships/image" Target="/ppt/media/image67.png" Id="R442d6e0ce3264da2" /><Relationship Type="http://schemas.openxmlformats.org/officeDocument/2006/relationships/notesSlide" Target="/ppt/notesSlides/notesSlide42.xml" Id="Rcfd32e648bc44427" /></Relationships>
</file>

<file path=ppt/slides/_rels/slide4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9f17e0cb79146ac" /><Relationship Type="http://schemas.openxmlformats.org/officeDocument/2006/relationships/hyperlink" Target="https://antigravity.google/" TargetMode="External" Id="R19dad7b58bdc4284" /><Relationship Type="http://schemas.openxmlformats.org/officeDocument/2006/relationships/hyperlink" Target="https://chatgpt.com/codex/" TargetMode="External" Id="Reeea2c83fb18402c" /><Relationship Type="http://schemas.openxmlformats.org/officeDocument/2006/relationships/image" Target="/ppt/media/image68.png" Id="Rdffd4a0eafb04e92" /><Relationship Type="http://schemas.openxmlformats.org/officeDocument/2006/relationships/image" Target="/ppt/media/image69.png" Id="R2b7a293e1ad34a4c" /><Relationship Type="http://schemas.openxmlformats.org/officeDocument/2006/relationships/notesSlide" Target="/ppt/notesSlides/notesSlide43.xml" Id="Rf461fb155fff41a0" /></Relationships>
</file>

<file path=ppt/slides/_rels/slide4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f12ae969c3c438e" /><Relationship Type="http://schemas.openxmlformats.org/officeDocument/2006/relationships/hyperlink" Target="../START_HERE_&#30740;&#32722;&#36039;&#28304;&#23566;&#33322;.html" TargetMode="External" Id="Re6fecdfee16347ce" /><Relationship Type="http://schemas.openxmlformats.org/officeDocument/2006/relationships/image" Target="/ppt/media/image70.png" Id="Raf6457862dc04c7a" /><Relationship Type="http://schemas.openxmlformats.org/officeDocument/2006/relationships/hyperlink" Target="https://antigravity.google/" TargetMode="External" Id="R115c036b3981492f" /><Relationship Type="http://schemas.openxmlformats.org/officeDocument/2006/relationships/image" Target="/ppt/media/image71.png" Id="R4b7f5eb0736a44ad" /><Relationship Type="http://schemas.openxmlformats.org/officeDocument/2006/relationships/hyperlink" Target="https://chatgpt.com/codex/" TargetMode="External" Id="R499ef4411e3e4f4f" /><Relationship Type="http://schemas.openxmlformats.org/officeDocument/2006/relationships/image" Target="/ppt/media/image72.png" Id="R1ce0acae13454419" /><Relationship Type="http://schemas.openxmlformats.org/officeDocument/2006/relationships/hyperlink" Target="https://codelabs.developers.google.com/getting-started-with-antigravity-skills" TargetMode="External" Id="Rb0b53fc7c5d74f4d" /><Relationship Type="http://schemas.openxmlformats.org/officeDocument/2006/relationships/image" Target="/ppt/media/image73.png" Id="R005cfba767fa4106" /><Relationship Type="http://schemas.openxmlformats.org/officeDocument/2006/relationships/hyperlink" Target="../04_&#23526;&#20316;&#24037;&#20855;/&#25552;&#31034;&#35422;&#24555;&#25463;&#38754;&#26495;_&#30740;&#32722;&#29992;.html" TargetMode="External" Id="R66791a8ba1ff499b" /><Relationship Type="http://schemas.openxmlformats.org/officeDocument/2006/relationships/image" Target="/ppt/media/image74.png" Id="R6db6a0f98eb74d12" /><Relationship Type="http://schemas.openxmlformats.org/officeDocument/2006/relationships/hyperlink" Target="https://cagoooo.github.io/Akai/" TargetMode="External" Id="R03e6112ca730468c" /><Relationship Type="http://schemas.openxmlformats.org/officeDocument/2006/relationships/image" Target="/ppt/media/image75.png" Id="Rbc38ef762b384aae" /><Relationship Type="http://schemas.openxmlformats.org/officeDocument/2006/relationships/hyperlink" Target="https://www.iea.nl/sites/default/files/2025-10/GA66_PIRLS%202026.pdf" TargetMode="External" Id="Ra9451940d0fa4c5c" /><Relationship Type="http://schemas.openxmlformats.org/officeDocument/2006/relationships/image" Target="/ppt/media/image76.png" Id="Re7a6dfdd7a624fe8" /><Relationship Type="http://schemas.openxmlformats.org/officeDocument/2006/relationships/notesSlide" Target="/ppt/notesSlides/notesSlide44.xml" Id="R08a54f017e4f4337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109a3f9a9524eb4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shape-655">
            <a:extLst xmlns:a="http://schemas.openxmlformats.org/drawingml/2006/main">
              <a:ext uri="{FF2B5EF4-FFF2-40B4-BE49-F238E27FC236}">
                <a16:creationId xmlns:a16="http://schemas.microsoft.com/office/drawing/2014/main" id="{9C35ECBE-A56C-42F2-BF70-11CA74E3C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0"/>
            <a:ext cx="56197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31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text-656">
            <a:extLst xmlns:a="http://schemas.openxmlformats.org/drawingml/2006/main">
              <a:ext uri="{FF2B5EF4-FFF2-40B4-BE49-F238E27FC236}">
                <a16:creationId xmlns:a16="http://schemas.microsoft.com/office/drawing/2014/main" id="{12A1056F-33EE-44D7-9F16-B7FD370EA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514350"/>
            <a:ext cx="457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國立中央大學｜2026.08.26</a:t>
            </a:r>
          </a:p>
        </p:txBody>
      </p:sp>
      <p:sp>
        <p:nvSpPr>
          <p:cNvPr id="4" name="text-657">
            <a:extLst xmlns:a="http://schemas.openxmlformats.org/drawingml/2006/main">
              <a:ext uri="{FF2B5EF4-FFF2-40B4-BE49-F238E27FC236}">
                <a16:creationId xmlns:a16="http://schemas.microsoft.com/office/drawing/2014/main" id="{2D23A457-B25B-4C69-B85B-BF38EFBFB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1000125"/>
            <a:ext cx="4476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下午場｜13:00–16:00</a:t>
            </a:r>
          </a:p>
        </p:txBody>
      </p:sp>
      <p:sp>
        <p:nvSpPr>
          <p:cNvPr id="5" name="text-658">
            <a:extLst xmlns:a="http://schemas.openxmlformats.org/drawingml/2006/main">
              <a:ext uri="{FF2B5EF4-FFF2-40B4-BE49-F238E27FC236}">
                <a16:creationId xmlns:a16="http://schemas.microsoft.com/office/drawing/2014/main" id="{DFB759FC-2512-4F27-837F-FD722D8BC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1504950"/>
            <a:ext cx="4629150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打造會做事的 AI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教學與研究夥伴：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Antigravity、Codex、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Agent Skills 與資料分析實戰</a:t>
            </a:r>
          </a:p>
        </p:txBody>
      </p:sp>
      <p:sp>
        <p:nvSpPr>
          <p:cNvPr id="6" name="shape-659">
            <a:extLst xmlns:a="http://schemas.openxmlformats.org/drawingml/2006/main">
              <a:ext uri="{FF2B5EF4-FFF2-40B4-BE49-F238E27FC236}">
                <a16:creationId xmlns:a16="http://schemas.microsoft.com/office/drawing/2014/main" id="{A885C84C-FCCF-4118-B527-0B4F7A5AE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4305300"/>
            <a:ext cx="7239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text-660">
            <a:extLst xmlns:a="http://schemas.openxmlformats.org/drawingml/2006/main">
              <a:ext uri="{FF2B5EF4-FFF2-40B4-BE49-F238E27FC236}">
                <a16:creationId xmlns:a16="http://schemas.microsoft.com/office/drawing/2014/main" id="{40318A4A-5D53-4B27-AF70-86B2F7519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4629150"/>
            <a:ext cx="46291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從 AI 教學與研究助理到 AI Agent：大學教師的生成式 AI 實作工作坊</a:t>
            </a:r>
          </a:p>
        </p:txBody>
      </p:sp>
      <p:sp>
        <p:nvSpPr>
          <p:cNvPr id="8" name="text-661">
            <a:extLst xmlns:a="http://schemas.openxmlformats.org/drawingml/2006/main">
              <a:ext uri="{FF2B5EF4-FFF2-40B4-BE49-F238E27FC236}">
                <a16:creationId xmlns:a16="http://schemas.microsoft.com/office/drawing/2014/main" id="{62190F58-A631-4BC0-AE33-1291C9CAC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5886450"/>
            <a:ext cx="4953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黃凱揚（阿凱老師）｜桃園市龍潭區石門國小資訊組長｜教學年資第 11 年</a:t>
            </a:r>
          </a:p>
        </p:txBody>
      </p:sp>
    </p:spTree>
    <p:extLst>
      <p:ext uri="{BB962C8B-B14F-4D97-AF65-F5344CB8AC3E}">
        <p14:creationId xmlns:p14="http://schemas.microsoft.com/office/powerpoint/2010/main" val="162889448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text-662">
            <a:extLst xmlns:a="http://schemas.openxmlformats.org/drawingml/2006/main">
              <a:ext uri="{FF2B5EF4-FFF2-40B4-BE49-F238E27FC236}">
                <a16:creationId xmlns:a16="http://schemas.microsoft.com/office/drawing/2014/main" id="{CF372CC4-3B67-4A62-8530-045BC99E5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LEARNING OUTCOMES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0B70F5A3-CCDA-4FDB-B7D9-CF49F4305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下午離開前，你會有四項成果</a:t>
            </a:r>
          </a:p>
        </p:txBody>
      </p:sp>
      <p:cxnSp>
        <p:nvCxnSpPr>
          <p:cNvPr id="24" name="shape-663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664">
            <a:extLst xmlns:a="http://schemas.openxmlformats.org/drawingml/2006/main">
              <a:ext uri="{FF2B5EF4-FFF2-40B4-BE49-F238E27FC236}">
                <a16:creationId xmlns:a16="http://schemas.microsoft.com/office/drawing/2014/main" id="{DA8E5513-B38D-4BAD-9C63-DCFA54045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8D6A9270-ED4C-4FAD-ACA5-7E45DA1E7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6" name="shape-665">
            <a:extLst xmlns:a="http://schemas.openxmlformats.org/drawingml/2006/main">
              <a:ext uri="{FF2B5EF4-FFF2-40B4-BE49-F238E27FC236}">
                <a16:creationId xmlns:a16="http://schemas.microsoft.com/office/drawing/2014/main" id="{41AFA9F1-58DB-4962-A6BD-71D7573AF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7" name="text-666">
            <a:extLst xmlns:a="http://schemas.openxmlformats.org/drawingml/2006/main">
              <a:ext uri="{FF2B5EF4-FFF2-40B4-BE49-F238E27FC236}">
                <a16:creationId xmlns:a16="http://schemas.microsoft.com/office/drawing/2014/main" id="{07656012-06C7-4A30-92DD-4C1BEBC75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8" name="text-667">
            <a:extLst xmlns:a="http://schemas.openxmlformats.org/drawingml/2006/main">
              <a:ext uri="{FF2B5EF4-FFF2-40B4-BE49-F238E27FC236}">
                <a16:creationId xmlns:a16="http://schemas.microsoft.com/office/drawing/2014/main" id="{26E253D8-79EE-46C5-BD1B-2A480D587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看懂 Agent</a:t>
            </a:r>
          </a:p>
        </p:txBody>
      </p:sp>
      <p:sp>
        <p:nvSpPr>
          <p:cNvPr id="9" name="text-668">
            <a:extLst xmlns:a="http://schemas.openxmlformats.org/drawingml/2006/main">
              <a:ext uri="{FF2B5EF4-FFF2-40B4-BE49-F238E27FC236}">
                <a16:creationId xmlns:a16="http://schemas.microsoft.com/office/drawing/2014/main" id="{B020D16C-AB32-42DC-B74A-93876A6A0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能分辨對話、助理與 Agent，知道何時必須人在迴路。</a:t>
            </a:r>
          </a:p>
        </p:txBody>
      </p:sp>
      <p:sp>
        <p:nvSpPr>
          <p:cNvPr id="10" name="shape-669">
            <a:extLst xmlns:a="http://schemas.openxmlformats.org/drawingml/2006/main">
              <a:ext uri="{FF2B5EF4-FFF2-40B4-BE49-F238E27FC236}">
                <a16:creationId xmlns:a16="http://schemas.microsoft.com/office/drawing/2014/main" id="{F64B0985-C728-4BB0-B17D-EB5D388C4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1" name="text-670">
            <a:extLst xmlns:a="http://schemas.openxmlformats.org/drawingml/2006/main">
              <a:ext uri="{FF2B5EF4-FFF2-40B4-BE49-F238E27FC236}">
                <a16:creationId xmlns:a16="http://schemas.microsoft.com/office/drawing/2014/main" id="{9F9C16EF-7B9E-44D2-8229-6E2BECA94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2" name="text-671">
            <a:extLst xmlns:a="http://schemas.openxmlformats.org/drawingml/2006/main">
              <a:ext uri="{FF2B5EF4-FFF2-40B4-BE49-F238E27FC236}">
                <a16:creationId xmlns:a16="http://schemas.microsoft.com/office/drawing/2014/main" id="{4AAFA98C-7090-4A6B-A4C6-E025057BA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完成兩次任務</a:t>
            </a:r>
          </a:p>
        </p:txBody>
      </p:sp>
      <p:sp>
        <p:nvSpPr>
          <p:cNvPr id="13" name="text-672">
            <a:extLst xmlns:a="http://schemas.openxmlformats.org/drawingml/2006/main">
              <a:ext uri="{FF2B5EF4-FFF2-40B4-BE49-F238E27FC236}">
                <a16:creationId xmlns:a16="http://schemas.microsoft.com/office/drawing/2014/main" id="{8501014D-F0C4-48D2-8ACE-AD8EAE4D5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在 Antigravity 與 Codex 至少各跑一個可驗證任務。</a:t>
            </a:r>
          </a:p>
        </p:txBody>
      </p:sp>
      <p:sp>
        <p:nvSpPr>
          <p:cNvPr id="14" name="shape-673">
            <a:extLst xmlns:a="http://schemas.openxmlformats.org/drawingml/2006/main">
              <a:ext uri="{FF2B5EF4-FFF2-40B4-BE49-F238E27FC236}">
                <a16:creationId xmlns:a16="http://schemas.microsoft.com/office/drawing/2014/main" id="{DFDB7CE3-0794-4E8A-A6CD-B93941802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5" name="text-674">
            <a:extLst xmlns:a="http://schemas.openxmlformats.org/drawingml/2006/main">
              <a:ext uri="{FF2B5EF4-FFF2-40B4-BE49-F238E27FC236}">
                <a16:creationId xmlns:a16="http://schemas.microsoft.com/office/drawing/2014/main" id="{5C1C48B6-B034-444E-B814-7085589C7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-675">
            <a:extLst xmlns:a="http://schemas.openxmlformats.org/drawingml/2006/main">
              <a:ext uri="{FF2B5EF4-FFF2-40B4-BE49-F238E27FC236}">
                <a16:creationId xmlns:a16="http://schemas.microsoft.com/office/drawing/2014/main" id="{F5D6164B-EE74-40C8-8008-5F1410BC8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完成一個 Skill</a:t>
            </a:r>
          </a:p>
        </p:txBody>
      </p:sp>
      <p:sp>
        <p:nvSpPr>
          <p:cNvPr id="17" name="text-676">
            <a:extLst xmlns:a="http://schemas.openxmlformats.org/drawingml/2006/main">
              <a:ext uri="{FF2B5EF4-FFF2-40B4-BE49-F238E27FC236}">
                <a16:creationId xmlns:a16="http://schemas.microsoft.com/office/drawing/2014/main" id="{8493F30A-A563-4105-BCE3-694E6630E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把教學或研究提示詞升級成可重複、可測試的工作流程。</a:t>
            </a:r>
          </a:p>
        </p:txBody>
      </p:sp>
      <p:sp>
        <p:nvSpPr>
          <p:cNvPr id="18" name="shape-677">
            <a:extLst xmlns:a="http://schemas.openxmlformats.org/drawingml/2006/main">
              <a:ext uri="{FF2B5EF4-FFF2-40B4-BE49-F238E27FC236}">
                <a16:creationId xmlns:a16="http://schemas.microsoft.com/office/drawing/2014/main" id="{BEB29508-5EF5-4718-A0B9-D9FB5E1CA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9" name="text-678">
            <a:extLst xmlns:a="http://schemas.openxmlformats.org/drawingml/2006/main">
              <a:ext uri="{FF2B5EF4-FFF2-40B4-BE49-F238E27FC236}">
                <a16:creationId xmlns:a16="http://schemas.microsoft.com/office/drawing/2014/main" id="{E549EC32-0EBB-4A3A-A866-77A8E2811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20" name="text-679">
            <a:extLst xmlns:a="http://schemas.openxmlformats.org/drawingml/2006/main">
              <a:ext uri="{FF2B5EF4-FFF2-40B4-BE49-F238E27FC236}">
                <a16:creationId xmlns:a16="http://schemas.microsoft.com/office/drawing/2014/main" id="{860BDDB1-7719-4BD4-97BB-6D1F01001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完成資料分析</a:t>
            </a:r>
          </a:p>
        </p:txBody>
      </p:sp>
      <p:sp>
        <p:nvSpPr>
          <p:cNvPr id="21" name="text-680">
            <a:extLst xmlns:a="http://schemas.openxmlformats.org/drawingml/2006/main">
              <a:ext uri="{FF2B5EF4-FFF2-40B4-BE49-F238E27FC236}">
                <a16:creationId xmlns:a16="http://schemas.microsoft.com/office/drawing/2014/main" id="{4745CD34-DC82-422A-9DCE-73FE48C61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以合成資料練習選擇題統計、簡答初編與人工複核。</a:t>
            </a:r>
          </a:p>
        </p:txBody>
      </p:sp>
    </p:spTree>
    <p:extLst>
      <p:ext uri="{BB962C8B-B14F-4D97-AF65-F5344CB8AC3E}">
        <p14:creationId xmlns:p14="http://schemas.microsoft.com/office/powerpoint/2010/main" val="128303294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text-681">
            <a:extLst xmlns:a="http://schemas.openxmlformats.org/drawingml/2006/main">
              <a:ext uri="{FF2B5EF4-FFF2-40B4-BE49-F238E27FC236}">
                <a16:creationId xmlns:a16="http://schemas.microsoft.com/office/drawing/2014/main" id="{FAA1F66C-7641-4FD4-AB41-BCC3CC171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RUN OF SHOW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5932C08E-852E-4BF5-B39F-BE69E1EFD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下午 180 分鐘：從操作到可重複流程</a:t>
            </a:r>
          </a:p>
        </p:txBody>
      </p:sp>
      <p:cxnSp>
        <p:nvCxnSpPr>
          <p:cNvPr id="37" name="shape-682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683">
            <a:extLst xmlns:a="http://schemas.openxmlformats.org/drawingml/2006/main">
              <a:ext uri="{FF2B5EF4-FFF2-40B4-BE49-F238E27FC236}">
                <a16:creationId xmlns:a16="http://schemas.microsoft.com/office/drawing/2014/main" id="{4364EAE0-9E16-4B58-9282-3B2604C1A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B581A326-E43E-4B52-B8E2-E2E33ABE6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cxnSp>
        <p:nvCxnSpPr>
          <p:cNvPr id="40" name="shape-684"/>
          <p:cNvCxnSpPr/>
          <p:nvPr/>
        </p:nvCxnSpPr>
        <p:spPr>
          <a:xfrm xmlns:a="http://schemas.openxmlformats.org/drawingml/2006/main">
            <a:off x="876300" y="3143250"/>
            <a:ext cx="10401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7" name="shape-685">
            <a:extLst xmlns:a="http://schemas.openxmlformats.org/drawingml/2006/main">
              <a:ext uri="{FF2B5EF4-FFF2-40B4-BE49-F238E27FC236}">
                <a16:creationId xmlns:a16="http://schemas.microsoft.com/office/drawing/2014/main" id="{411964E6-0221-4A81-A2D5-3E8397665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686">
            <a:extLst xmlns:a="http://schemas.openxmlformats.org/drawingml/2006/main">
              <a:ext uri="{FF2B5EF4-FFF2-40B4-BE49-F238E27FC236}">
                <a16:creationId xmlns:a16="http://schemas.microsoft.com/office/drawing/2014/main" id="{B37F076E-616F-4511-A96B-480DF9EC1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00–20</a:t>
            </a:r>
          </a:p>
        </p:txBody>
      </p:sp>
      <p:sp>
        <p:nvSpPr>
          <p:cNvPr id="9" name="text-687">
            <a:extLst xmlns:a="http://schemas.openxmlformats.org/drawingml/2006/main">
              <a:ext uri="{FF2B5EF4-FFF2-40B4-BE49-F238E27FC236}">
                <a16:creationId xmlns:a16="http://schemas.microsoft.com/office/drawing/2014/main" id="{FED28430-77C6-4278-B8BF-2899B0938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38100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Agent 觀念</a:t>
            </a:r>
          </a:p>
        </p:txBody>
      </p:sp>
      <p:sp>
        <p:nvSpPr>
          <p:cNvPr id="10" name="text-688">
            <a:extLst xmlns:a="http://schemas.openxmlformats.org/drawingml/2006/main">
              <a:ext uri="{FF2B5EF4-FFF2-40B4-BE49-F238E27FC236}">
                <a16:creationId xmlns:a16="http://schemas.microsoft.com/office/drawing/2014/main" id="{49664B60-EDE7-4838-ADFD-90FC1F372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38100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能力與風險</a:t>
            </a:r>
          </a:p>
        </p:txBody>
      </p:sp>
      <p:sp>
        <p:nvSpPr>
          <p:cNvPr id="11" name="shape-689">
            <a:extLst xmlns:a="http://schemas.openxmlformats.org/drawingml/2006/main">
              <a:ext uri="{FF2B5EF4-FFF2-40B4-BE49-F238E27FC236}">
                <a16:creationId xmlns:a16="http://schemas.microsoft.com/office/drawing/2014/main" id="{E3266BF6-DB39-4DEA-A206-A6BC31C52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text-690">
            <a:extLst xmlns:a="http://schemas.openxmlformats.org/drawingml/2006/main">
              <a:ext uri="{FF2B5EF4-FFF2-40B4-BE49-F238E27FC236}">
                <a16:creationId xmlns:a16="http://schemas.microsoft.com/office/drawing/2014/main" id="{9E0B6350-F6A9-4A3C-BEB2-E4C48C22F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20–50</a:t>
            </a:r>
          </a:p>
        </p:txBody>
      </p:sp>
      <p:sp>
        <p:nvSpPr>
          <p:cNvPr id="13" name="text-691">
            <a:extLst xmlns:a="http://schemas.openxmlformats.org/drawingml/2006/main">
              <a:ext uri="{FF2B5EF4-FFF2-40B4-BE49-F238E27FC236}">
                <a16:creationId xmlns:a16="http://schemas.microsoft.com/office/drawing/2014/main" id="{EC1CBFC8-DF7F-49D2-BEDA-E039B2275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  <p:sp>
        <p:nvSpPr>
          <p:cNvPr id="14" name="text-692">
            <a:extLst xmlns:a="http://schemas.openxmlformats.org/drawingml/2006/main">
              <a:ext uri="{FF2B5EF4-FFF2-40B4-BE49-F238E27FC236}">
                <a16:creationId xmlns:a16="http://schemas.microsoft.com/office/drawing/2014/main" id="{617DB354-3520-4BE9-9B83-8F4684FB2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任務與證據</a:t>
            </a:r>
          </a:p>
        </p:txBody>
      </p:sp>
      <p:sp>
        <p:nvSpPr>
          <p:cNvPr id="15" name="shape-693">
            <a:extLst xmlns:a="http://schemas.openxmlformats.org/drawingml/2006/main">
              <a:ext uri="{FF2B5EF4-FFF2-40B4-BE49-F238E27FC236}">
                <a16:creationId xmlns:a16="http://schemas.microsoft.com/office/drawing/2014/main" id="{1208B5D8-EED0-42B2-8127-D57A9D7FA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text-694">
            <a:extLst xmlns:a="http://schemas.openxmlformats.org/drawingml/2006/main">
              <a:ext uri="{FF2B5EF4-FFF2-40B4-BE49-F238E27FC236}">
                <a16:creationId xmlns:a16="http://schemas.microsoft.com/office/drawing/2014/main" id="{E450D2D0-6F83-4D3C-81F2-56216505B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50–80</a:t>
            </a:r>
          </a:p>
        </p:txBody>
      </p:sp>
      <p:sp>
        <p:nvSpPr>
          <p:cNvPr id="17" name="text-695">
            <a:extLst xmlns:a="http://schemas.openxmlformats.org/drawingml/2006/main">
              <a:ext uri="{FF2B5EF4-FFF2-40B4-BE49-F238E27FC236}">
                <a16:creationId xmlns:a16="http://schemas.microsoft.com/office/drawing/2014/main" id="{926311D5-1BCB-4A30-B30B-B01E1D797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  <p:sp>
        <p:nvSpPr>
          <p:cNvPr id="18" name="text-696">
            <a:extLst xmlns:a="http://schemas.openxmlformats.org/drawingml/2006/main">
              <a:ext uri="{FF2B5EF4-FFF2-40B4-BE49-F238E27FC236}">
                <a16:creationId xmlns:a16="http://schemas.microsoft.com/office/drawing/2014/main" id="{FDD19ADF-ED80-4CB3-B64F-85F3F939C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實作工作流</a:t>
            </a:r>
          </a:p>
        </p:txBody>
      </p:sp>
      <p:sp>
        <p:nvSpPr>
          <p:cNvPr id="19" name="shape-697">
            <a:extLst xmlns:a="http://schemas.openxmlformats.org/drawingml/2006/main">
              <a:ext uri="{FF2B5EF4-FFF2-40B4-BE49-F238E27FC236}">
                <a16:creationId xmlns:a16="http://schemas.microsoft.com/office/drawing/2014/main" id="{2AAF7F93-F4BC-4E6C-BD9E-AE592E3F7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text-698">
            <a:extLst xmlns:a="http://schemas.openxmlformats.org/drawingml/2006/main">
              <a:ext uri="{FF2B5EF4-FFF2-40B4-BE49-F238E27FC236}">
                <a16:creationId xmlns:a16="http://schemas.microsoft.com/office/drawing/2014/main" id="{5D30523F-E8CB-46E3-A8A9-2A16C873F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80–90</a:t>
            </a:r>
          </a:p>
        </p:txBody>
      </p:sp>
      <p:sp>
        <p:nvSpPr>
          <p:cNvPr id="21" name="text-699">
            <a:extLst xmlns:a="http://schemas.openxmlformats.org/drawingml/2006/main">
              <a:ext uri="{FF2B5EF4-FFF2-40B4-BE49-F238E27FC236}">
                <a16:creationId xmlns:a16="http://schemas.microsoft.com/office/drawing/2014/main" id="{3911784A-0FDA-43AB-B847-CD0BA5E05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休息</a:t>
            </a:r>
          </a:p>
        </p:txBody>
      </p:sp>
      <p:sp>
        <p:nvSpPr>
          <p:cNvPr id="22" name="text-700">
            <a:extLst xmlns:a="http://schemas.openxmlformats.org/drawingml/2006/main">
              <a:ext uri="{FF2B5EF4-FFF2-40B4-BE49-F238E27FC236}">
                <a16:creationId xmlns:a16="http://schemas.microsoft.com/office/drawing/2014/main" id="{BBFD9912-0904-4695-8F74-3DB6C1393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整理成果</a:t>
            </a:r>
          </a:p>
        </p:txBody>
      </p:sp>
      <p:sp>
        <p:nvSpPr>
          <p:cNvPr id="23" name="shape-701">
            <a:extLst xmlns:a="http://schemas.openxmlformats.org/drawingml/2006/main">
              <a:ext uri="{FF2B5EF4-FFF2-40B4-BE49-F238E27FC236}">
                <a16:creationId xmlns:a16="http://schemas.microsoft.com/office/drawing/2014/main" id="{682F7D67-5F37-4582-B078-1B214FFA7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text-702">
            <a:extLst xmlns:a="http://schemas.openxmlformats.org/drawingml/2006/main">
              <a:ext uri="{FF2B5EF4-FFF2-40B4-BE49-F238E27FC236}">
                <a16:creationId xmlns:a16="http://schemas.microsoft.com/office/drawing/2014/main" id="{7CE56051-DDD9-4A4D-A6ED-5F0A7F422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90–135</a:t>
            </a:r>
          </a:p>
        </p:txBody>
      </p:sp>
      <p:sp>
        <p:nvSpPr>
          <p:cNvPr id="25" name="text-703">
            <a:extLst xmlns:a="http://schemas.openxmlformats.org/drawingml/2006/main">
              <a:ext uri="{FF2B5EF4-FFF2-40B4-BE49-F238E27FC236}">
                <a16:creationId xmlns:a16="http://schemas.microsoft.com/office/drawing/2014/main" id="{9048B5BC-21F2-4F3D-88CB-6C3EF0C2E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Agent Skills</a:t>
            </a:r>
          </a:p>
        </p:txBody>
      </p:sp>
      <p:sp>
        <p:nvSpPr>
          <p:cNvPr id="26" name="text-704">
            <a:extLst xmlns:a="http://schemas.openxmlformats.org/drawingml/2006/main">
              <a:ext uri="{FF2B5EF4-FFF2-40B4-BE49-F238E27FC236}">
                <a16:creationId xmlns:a16="http://schemas.microsoft.com/office/drawing/2014/main" id="{8A77C42D-A8E7-444A-8E0A-3DAEF1124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提示詞升級</a:t>
            </a:r>
          </a:p>
        </p:txBody>
      </p:sp>
      <p:sp>
        <p:nvSpPr>
          <p:cNvPr id="27" name="shape-705">
            <a:extLst xmlns:a="http://schemas.openxmlformats.org/drawingml/2006/main">
              <a:ext uri="{FF2B5EF4-FFF2-40B4-BE49-F238E27FC236}">
                <a16:creationId xmlns:a16="http://schemas.microsoft.com/office/drawing/2014/main" id="{414D035E-3630-4795-A5CA-9BC4687F8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text-706">
            <a:extLst xmlns:a="http://schemas.openxmlformats.org/drawingml/2006/main">
              <a:ext uri="{FF2B5EF4-FFF2-40B4-BE49-F238E27FC236}">
                <a16:creationId xmlns:a16="http://schemas.microsoft.com/office/drawing/2014/main" id="{B23C338B-F9A9-4D4C-8FA7-DAAE9FE9F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135–160</a:t>
            </a:r>
          </a:p>
        </p:txBody>
      </p:sp>
      <p:sp>
        <p:nvSpPr>
          <p:cNvPr id="29" name="text-707">
            <a:extLst xmlns:a="http://schemas.openxmlformats.org/drawingml/2006/main">
              <a:ext uri="{FF2B5EF4-FFF2-40B4-BE49-F238E27FC236}">
                <a16:creationId xmlns:a16="http://schemas.microsoft.com/office/drawing/2014/main" id="{4D79535D-3C7B-46E5-BB7D-2BF4AB7A9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學生資料</a:t>
            </a:r>
          </a:p>
        </p:txBody>
      </p:sp>
      <p:sp>
        <p:nvSpPr>
          <p:cNvPr id="30" name="text-708">
            <a:extLst xmlns:a="http://schemas.openxmlformats.org/drawingml/2006/main">
              <a:ext uri="{FF2B5EF4-FFF2-40B4-BE49-F238E27FC236}">
                <a16:creationId xmlns:a16="http://schemas.microsoft.com/office/drawing/2014/main" id="{67B716A9-B47C-4CD5-862D-0E0339355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PIRLS 風格分析</a:t>
            </a:r>
          </a:p>
        </p:txBody>
      </p:sp>
      <p:sp>
        <p:nvSpPr>
          <p:cNvPr id="31" name="shape-709">
            <a:extLst xmlns:a="http://schemas.openxmlformats.org/drawingml/2006/main">
              <a:ext uri="{FF2B5EF4-FFF2-40B4-BE49-F238E27FC236}">
                <a16:creationId xmlns:a16="http://schemas.microsoft.com/office/drawing/2014/main" id="{794F25D3-8FEC-4B35-B03D-0E50EDAED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80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text-710">
            <a:extLst xmlns:a="http://schemas.openxmlformats.org/drawingml/2006/main">
              <a:ext uri="{FF2B5EF4-FFF2-40B4-BE49-F238E27FC236}">
                <a16:creationId xmlns:a16="http://schemas.microsoft.com/office/drawing/2014/main" id="{E01AD600-58C3-431F-8A44-EF74F6633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91800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160–180</a:t>
            </a:r>
          </a:p>
        </p:txBody>
      </p:sp>
      <p:sp>
        <p:nvSpPr>
          <p:cNvPr id="33" name="text-711">
            <a:extLst xmlns:a="http://schemas.openxmlformats.org/drawingml/2006/main">
              <a:ext uri="{FF2B5EF4-FFF2-40B4-BE49-F238E27FC236}">
                <a16:creationId xmlns:a16="http://schemas.microsoft.com/office/drawing/2014/main" id="{EC0AC284-2ADD-4343-999A-699F84E7E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整合分享</a:t>
            </a:r>
          </a:p>
        </p:txBody>
      </p:sp>
      <p:sp>
        <p:nvSpPr>
          <p:cNvPr id="34" name="text-712">
            <a:extLst xmlns:a="http://schemas.openxmlformats.org/drawingml/2006/main">
              <a:ext uri="{FF2B5EF4-FFF2-40B4-BE49-F238E27FC236}">
                <a16:creationId xmlns:a16="http://schemas.microsoft.com/office/drawing/2014/main" id="{69D2E10A-EEB5-4542-BE10-72833A791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可驗證交付</a:t>
            </a:r>
          </a:p>
        </p:txBody>
      </p:sp>
    </p:spTree>
    <p:extLst>
      <p:ext uri="{BB962C8B-B14F-4D97-AF65-F5344CB8AC3E}">
        <p14:creationId xmlns:p14="http://schemas.microsoft.com/office/powerpoint/2010/main" val="113156578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text-713">
            <a:extLst xmlns:a="http://schemas.openxmlformats.org/drawingml/2006/main">
              <a:ext uri="{FF2B5EF4-FFF2-40B4-BE49-F238E27FC236}">
                <a16:creationId xmlns:a16="http://schemas.microsoft.com/office/drawing/2014/main" id="{99D336B1-A731-4D96-ADC0-7587965FA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CAPABILITY LADDER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6B2D086A-F8E9-4C8C-97DD-7FC9B7B79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對話、助理、Agent：差別在能否推進工作</a:t>
            </a:r>
          </a:p>
        </p:txBody>
      </p:sp>
      <p:cxnSp>
        <p:nvCxnSpPr>
          <p:cNvPr id="24" name="shape-714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715">
            <a:extLst xmlns:a="http://schemas.openxmlformats.org/drawingml/2006/main">
              <a:ext uri="{FF2B5EF4-FFF2-40B4-BE49-F238E27FC236}">
                <a16:creationId xmlns:a16="http://schemas.microsoft.com/office/drawing/2014/main" id="{39F7BE1F-C509-45D3-A957-12739254B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DC4C6F47-D9A0-4F4C-9B18-ABF409678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6" name="text-716">
            <a:extLst xmlns:a="http://schemas.openxmlformats.org/drawingml/2006/main">
              <a:ext uri="{FF2B5EF4-FFF2-40B4-BE49-F238E27FC236}">
                <a16:creationId xmlns:a16="http://schemas.microsoft.com/office/drawing/2014/main" id="{5B613AD1-80D3-4024-BEE7-BB1675526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8478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7" name="text-717">
            <a:extLst xmlns:a="http://schemas.openxmlformats.org/drawingml/2006/main">
              <a:ext uri="{FF2B5EF4-FFF2-40B4-BE49-F238E27FC236}">
                <a16:creationId xmlns:a16="http://schemas.microsoft.com/office/drawing/2014/main" id="{C50D3367-7FC0-4D7B-A26C-5F6CBE666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098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對話</a:t>
            </a:r>
          </a:p>
        </p:txBody>
      </p:sp>
      <p:sp>
        <p:nvSpPr>
          <p:cNvPr id="8" name="text-718">
            <a:extLst xmlns:a="http://schemas.openxmlformats.org/drawingml/2006/main">
              <a:ext uri="{FF2B5EF4-FFF2-40B4-BE49-F238E27FC236}">
                <a16:creationId xmlns:a16="http://schemas.microsoft.com/office/drawing/2014/main" id="{1209B236-9B38-404C-9949-FA44BE1D9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76600"/>
            <a:ext cx="2662238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回答、解釋、發想</a:t>
            </a:r>
          </a:p>
        </p:txBody>
      </p:sp>
      <p:sp>
        <p:nvSpPr>
          <p:cNvPr id="9" name="text-719">
            <a:extLst xmlns:a="http://schemas.openxmlformats.org/drawingml/2006/main">
              <a:ext uri="{FF2B5EF4-FFF2-40B4-BE49-F238E27FC236}">
                <a16:creationId xmlns:a16="http://schemas.microsoft.com/office/drawing/2014/main" id="{DD88D0CB-A1D3-42A9-ABDF-1C96B04CC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7538" y="1885950"/>
            <a:ext cx="228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602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00" b="1">
                <a:solidFill>
                  <a:srgbClr val="2A4761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1">
                <a:solidFill>
                  <a:srgbClr val="2A4761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0" name="text-720">
            <a:extLst xmlns:a="http://schemas.openxmlformats.org/drawingml/2006/main">
              <a:ext uri="{FF2B5EF4-FFF2-40B4-BE49-F238E27FC236}">
                <a16:creationId xmlns:a16="http://schemas.microsoft.com/office/drawing/2014/main" id="{19ED3555-38DF-4DA1-A301-9557A7363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038" y="18478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1" name="text-721">
            <a:extLst xmlns:a="http://schemas.openxmlformats.org/drawingml/2006/main">
              <a:ext uri="{FF2B5EF4-FFF2-40B4-BE49-F238E27FC236}">
                <a16:creationId xmlns:a16="http://schemas.microsoft.com/office/drawing/2014/main" id="{5ACDC56B-2FBC-4B76-A971-E539B5B37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038" y="26098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助理</a:t>
            </a:r>
          </a:p>
        </p:txBody>
      </p:sp>
      <p:sp>
        <p:nvSpPr>
          <p:cNvPr id="12" name="text-722">
            <a:extLst xmlns:a="http://schemas.openxmlformats.org/drawingml/2006/main">
              <a:ext uri="{FF2B5EF4-FFF2-40B4-BE49-F238E27FC236}">
                <a16:creationId xmlns:a16="http://schemas.microsoft.com/office/drawing/2014/main" id="{10FE9AD3-E4B3-4105-9728-AD9C8DBE4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038" y="3276600"/>
            <a:ext cx="2662238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固定角色與格式</a:t>
            </a:r>
          </a:p>
        </p:txBody>
      </p:sp>
      <p:sp>
        <p:nvSpPr>
          <p:cNvPr id="13" name="text-723">
            <a:extLst xmlns:a="http://schemas.openxmlformats.org/drawingml/2006/main">
              <a:ext uri="{FF2B5EF4-FFF2-40B4-BE49-F238E27FC236}">
                <a16:creationId xmlns:a16="http://schemas.microsoft.com/office/drawing/2014/main" id="{48CFEA8A-1699-4B09-B3AC-914255F5B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1225" y="1885950"/>
            <a:ext cx="228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602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00" b="1">
                <a:solidFill>
                  <a:srgbClr val="2A4761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1">
                <a:solidFill>
                  <a:srgbClr val="2A4761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4" name="text-724">
            <a:extLst xmlns:a="http://schemas.openxmlformats.org/drawingml/2006/main">
              <a:ext uri="{FF2B5EF4-FFF2-40B4-BE49-F238E27FC236}">
                <a16:creationId xmlns:a16="http://schemas.microsoft.com/office/drawing/2014/main" id="{3F65AC40-3DD2-4E31-90C9-04F5FCB6A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18478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15" name="text-725">
            <a:extLst xmlns:a="http://schemas.openxmlformats.org/drawingml/2006/main">
              <a:ext uri="{FF2B5EF4-FFF2-40B4-BE49-F238E27FC236}">
                <a16:creationId xmlns:a16="http://schemas.microsoft.com/office/drawing/2014/main" id="{12E16A64-6BB1-4B0D-A390-26ABF6DA7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6098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Agent</a:t>
            </a:r>
          </a:p>
        </p:txBody>
      </p:sp>
      <p:sp>
        <p:nvSpPr>
          <p:cNvPr id="16" name="text-726">
            <a:extLst xmlns:a="http://schemas.openxmlformats.org/drawingml/2006/main">
              <a:ext uri="{FF2B5EF4-FFF2-40B4-BE49-F238E27FC236}">
                <a16:creationId xmlns:a16="http://schemas.microsoft.com/office/drawing/2014/main" id="{D25DBB58-8D19-4989-910B-1DA48589B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3276600"/>
            <a:ext cx="2662238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讀取環境、規劃、使用工具</a:t>
            </a:r>
          </a:p>
        </p:txBody>
      </p:sp>
      <p:sp>
        <p:nvSpPr>
          <p:cNvPr id="17" name="text-727">
            <a:extLst xmlns:a="http://schemas.openxmlformats.org/drawingml/2006/main">
              <a:ext uri="{FF2B5EF4-FFF2-40B4-BE49-F238E27FC236}">
                <a16:creationId xmlns:a16="http://schemas.microsoft.com/office/drawing/2014/main" id="{46278867-776D-40F9-BA60-0FDE06A55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4913" y="1885950"/>
            <a:ext cx="228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602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00" b="1">
                <a:solidFill>
                  <a:srgbClr val="2A4761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1">
                <a:solidFill>
                  <a:srgbClr val="2A4761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8" name="text-728">
            <a:extLst xmlns:a="http://schemas.openxmlformats.org/drawingml/2006/main">
              <a:ext uri="{FF2B5EF4-FFF2-40B4-BE49-F238E27FC236}">
                <a16:creationId xmlns:a16="http://schemas.microsoft.com/office/drawing/2014/main" id="{2B1FF579-076C-4F0B-8E06-1A7D8D988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413" y="18478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19" name="text-729">
            <a:extLst xmlns:a="http://schemas.openxmlformats.org/drawingml/2006/main">
              <a:ext uri="{FF2B5EF4-FFF2-40B4-BE49-F238E27FC236}">
                <a16:creationId xmlns:a16="http://schemas.microsoft.com/office/drawing/2014/main" id="{D5AF32BF-A1D8-47D5-8CD0-0238D8A30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413" y="26098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可信 Agent</a:t>
            </a:r>
          </a:p>
        </p:txBody>
      </p:sp>
      <p:sp>
        <p:nvSpPr>
          <p:cNvPr id="20" name="text-730">
            <a:extLst xmlns:a="http://schemas.openxmlformats.org/drawingml/2006/main">
              <a:ext uri="{FF2B5EF4-FFF2-40B4-BE49-F238E27FC236}">
                <a16:creationId xmlns:a16="http://schemas.microsoft.com/office/drawing/2014/main" id="{AF623B0C-5452-49B2-9216-39BC8C0E4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413" y="3276600"/>
            <a:ext cx="2662238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驗證結果、回報限制、等待授權</a:t>
            </a:r>
          </a:p>
        </p:txBody>
      </p:sp>
      <p:sp>
        <p:nvSpPr>
          <p:cNvPr id="21" name="text-731">
            <a:extLst xmlns:a="http://schemas.openxmlformats.org/drawingml/2006/main">
              <a:ext uri="{FF2B5EF4-FFF2-40B4-BE49-F238E27FC236}">
                <a16:creationId xmlns:a16="http://schemas.microsoft.com/office/drawing/2014/main" id="{13788822-0E07-4372-8BDF-81D99BEBD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5314950"/>
            <a:ext cx="563880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152400" tIns="57150" rIns="1524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每一步都留下可檢查的成果</a:t>
            </a:r>
          </a:p>
        </p:txBody>
      </p:sp>
    </p:spTree>
    <p:extLst>
      <p:ext uri="{BB962C8B-B14F-4D97-AF65-F5344CB8AC3E}">
        <p14:creationId xmlns:p14="http://schemas.microsoft.com/office/powerpoint/2010/main" val="39535595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text-732">
            <a:extLst xmlns:a="http://schemas.openxmlformats.org/drawingml/2006/main">
              <a:ext uri="{FF2B5EF4-FFF2-40B4-BE49-F238E27FC236}">
                <a16:creationId xmlns:a16="http://schemas.microsoft.com/office/drawing/2014/main" id="{8D636062-DFCD-4974-BCBF-9DFE6B1E1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AGENT LOOP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6B932ABC-086B-4B36-80F5-7416A0CB5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Agent 五步循環：完成，不是只產生</a:t>
            </a:r>
          </a:p>
        </p:txBody>
      </p:sp>
      <p:cxnSp>
        <p:nvCxnSpPr>
          <p:cNvPr id="28" name="shape-733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734">
            <a:extLst xmlns:a="http://schemas.openxmlformats.org/drawingml/2006/main">
              <a:ext uri="{FF2B5EF4-FFF2-40B4-BE49-F238E27FC236}">
                <a16:creationId xmlns:a16="http://schemas.microsoft.com/office/drawing/2014/main" id="{EE38F87B-C619-4291-BFDF-7BB16918A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946AAFDC-3509-4C0C-A2B4-32E389083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05</a:t>
            </a:r>
          </a:p>
        </p:txBody>
      </p:sp>
      <p:sp>
        <p:nvSpPr>
          <p:cNvPr id="6" name="text-735">
            <a:extLst xmlns:a="http://schemas.openxmlformats.org/drawingml/2006/main">
              <a:ext uri="{FF2B5EF4-FFF2-40B4-BE49-F238E27FC236}">
                <a16:creationId xmlns:a16="http://schemas.microsoft.com/office/drawing/2014/main" id="{A129CE75-A847-4481-8F52-40B4AE58F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8478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7" name="text-736">
            <a:extLst xmlns:a="http://schemas.openxmlformats.org/drawingml/2006/main">
              <a:ext uri="{FF2B5EF4-FFF2-40B4-BE49-F238E27FC236}">
                <a16:creationId xmlns:a16="http://schemas.microsoft.com/office/drawing/2014/main" id="{80D5BEAB-C607-402F-B891-E9B98C9C5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098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理解</a:t>
            </a:r>
          </a:p>
        </p:txBody>
      </p:sp>
      <p:sp>
        <p:nvSpPr>
          <p:cNvPr id="8" name="text-737">
            <a:extLst xmlns:a="http://schemas.openxmlformats.org/drawingml/2006/main">
              <a:ext uri="{FF2B5EF4-FFF2-40B4-BE49-F238E27FC236}">
                <a16:creationId xmlns:a16="http://schemas.microsoft.com/office/drawing/2014/main" id="{ED74C117-D66B-4CEC-8728-55BBDE84F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76600"/>
            <a:ext cx="20955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確認目標與環境</a:t>
            </a:r>
          </a:p>
        </p:txBody>
      </p:sp>
      <p:sp>
        <p:nvSpPr>
          <p:cNvPr id="9" name="text-738">
            <a:extLst xmlns:a="http://schemas.openxmlformats.org/drawingml/2006/main">
              <a:ext uri="{FF2B5EF4-FFF2-40B4-BE49-F238E27FC236}">
                <a16:creationId xmlns:a16="http://schemas.microsoft.com/office/drawing/2014/main" id="{5C232ACC-AA4B-4EC8-8B08-C3E0891B7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1885950"/>
            <a:ext cx="228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602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00" b="1">
                <a:solidFill>
                  <a:srgbClr val="2A4761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1">
                <a:solidFill>
                  <a:srgbClr val="2A4761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0" name="text-739">
            <a:extLst xmlns:a="http://schemas.openxmlformats.org/drawingml/2006/main">
              <a:ext uri="{FF2B5EF4-FFF2-40B4-BE49-F238E27FC236}">
                <a16:creationId xmlns:a16="http://schemas.microsoft.com/office/drawing/2014/main" id="{BD36669E-A6CA-4979-8B39-65BE47D6D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18478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1" name="text-740">
            <a:extLst xmlns:a="http://schemas.openxmlformats.org/drawingml/2006/main">
              <a:ext uri="{FF2B5EF4-FFF2-40B4-BE49-F238E27FC236}">
                <a16:creationId xmlns:a16="http://schemas.microsoft.com/office/drawing/2014/main" id="{02B4A5AA-0420-4C97-81BA-B36793937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26098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規劃</a:t>
            </a:r>
          </a:p>
        </p:txBody>
      </p:sp>
      <p:sp>
        <p:nvSpPr>
          <p:cNvPr id="12" name="text-741">
            <a:extLst xmlns:a="http://schemas.openxmlformats.org/drawingml/2006/main">
              <a:ext uri="{FF2B5EF4-FFF2-40B4-BE49-F238E27FC236}">
                <a16:creationId xmlns:a16="http://schemas.microsoft.com/office/drawing/2014/main" id="{54EC778A-360F-4A0B-BA9B-B3641C389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3276600"/>
            <a:ext cx="20955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拆解步驟與風險</a:t>
            </a:r>
          </a:p>
        </p:txBody>
      </p:sp>
      <p:sp>
        <p:nvSpPr>
          <p:cNvPr id="13" name="text-742">
            <a:extLst xmlns:a="http://schemas.openxmlformats.org/drawingml/2006/main">
              <a:ext uri="{FF2B5EF4-FFF2-40B4-BE49-F238E27FC236}">
                <a16:creationId xmlns:a16="http://schemas.microsoft.com/office/drawing/2014/main" id="{C80EC9AB-0284-418D-ACAE-903A78B1D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1885950"/>
            <a:ext cx="228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602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00" b="1">
                <a:solidFill>
                  <a:srgbClr val="2A4761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1">
                <a:solidFill>
                  <a:srgbClr val="2A4761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4" name="text-743">
            <a:extLst xmlns:a="http://schemas.openxmlformats.org/drawingml/2006/main">
              <a:ext uri="{FF2B5EF4-FFF2-40B4-BE49-F238E27FC236}">
                <a16:creationId xmlns:a16="http://schemas.microsoft.com/office/drawing/2014/main" id="{B489F667-DA66-4395-ABDC-FED77A5F2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18478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15" name="text-744">
            <a:extLst xmlns:a="http://schemas.openxmlformats.org/drawingml/2006/main">
              <a:ext uri="{FF2B5EF4-FFF2-40B4-BE49-F238E27FC236}">
                <a16:creationId xmlns:a16="http://schemas.microsoft.com/office/drawing/2014/main" id="{8ED9A82A-6128-44D7-A934-C2F139040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6098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執行</a:t>
            </a:r>
          </a:p>
        </p:txBody>
      </p:sp>
      <p:sp>
        <p:nvSpPr>
          <p:cNvPr id="16" name="text-745">
            <a:extLst xmlns:a="http://schemas.openxmlformats.org/drawingml/2006/main">
              <a:ext uri="{FF2B5EF4-FFF2-40B4-BE49-F238E27FC236}">
                <a16:creationId xmlns:a16="http://schemas.microsoft.com/office/drawing/2014/main" id="{6F336A37-1DC5-4D9F-B9B1-4077726A2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3276600"/>
            <a:ext cx="20955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讀檔、寫檔、使用工具</a:t>
            </a:r>
          </a:p>
        </p:txBody>
      </p:sp>
      <p:sp>
        <p:nvSpPr>
          <p:cNvPr id="17" name="text-746">
            <a:extLst xmlns:a="http://schemas.openxmlformats.org/drawingml/2006/main">
              <a:ext uri="{FF2B5EF4-FFF2-40B4-BE49-F238E27FC236}">
                <a16:creationId xmlns:a16="http://schemas.microsoft.com/office/drawing/2014/main" id="{926F450B-8F8C-4C15-8C46-3F5DB15F2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1885950"/>
            <a:ext cx="228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602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00" b="1">
                <a:solidFill>
                  <a:srgbClr val="2A4761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1">
                <a:solidFill>
                  <a:srgbClr val="2A4761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8" name="text-747">
            <a:extLst xmlns:a="http://schemas.openxmlformats.org/drawingml/2006/main">
              <a:ext uri="{FF2B5EF4-FFF2-40B4-BE49-F238E27FC236}">
                <a16:creationId xmlns:a16="http://schemas.microsoft.com/office/drawing/2014/main" id="{53DD690C-0A8C-42D6-862F-DB9D23BCE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18478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19" name="text-748">
            <a:extLst xmlns:a="http://schemas.openxmlformats.org/drawingml/2006/main">
              <a:ext uri="{FF2B5EF4-FFF2-40B4-BE49-F238E27FC236}">
                <a16:creationId xmlns:a16="http://schemas.microsoft.com/office/drawing/2014/main" id="{C1AF7B31-DC7D-433D-B996-A37D52E5F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26098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驗證</a:t>
            </a:r>
          </a:p>
        </p:txBody>
      </p:sp>
      <p:sp>
        <p:nvSpPr>
          <p:cNvPr id="20" name="text-749">
            <a:extLst xmlns:a="http://schemas.openxmlformats.org/drawingml/2006/main">
              <a:ext uri="{FF2B5EF4-FFF2-40B4-BE49-F238E27FC236}">
                <a16:creationId xmlns:a16="http://schemas.microsoft.com/office/drawing/2014/main" id="{8277C947-971E-42A5-ABDC-BC7B8D39B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3276600"/>
            <a:ext cx="20955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測試、畫面、差異</a:t>
            </a:r>
          </a:p>
        </p:txBody>
      </p:sp>
      <p:sp>
        <p:nvSpPr>
          <p:cNvPr id="21" name="text-750">
            <a:extLst xmlns:a="http://schemas.openxmlformats.org/drawingml/2006/main">
              <a:ext uri="{FF2B5EF4-FFF2-40B4-BE49-F238E27FC236}">
                <a16:creationId xmlns:a16="http://schemas.microsoft.com/office/drawing/2014/main" id="{769F0CF1-DD7D-4772-BA2F-999A9A036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1885950"/>
            <a:ext cx="228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602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00" b="1">
                <a:solidFill>
                  <a:srgbClr val="2A4761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1">
                <a:solidFill>
                  <a:srgbClr val="2A4761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22" name="text-751">
            <a:extLst xmlns:a="http://schemas.openxmlformats.org/drawingml/2006/main">
              <a:ext uri="{FF2B5EF4-FFF2-40B4-BE49-F238E27FC236}">
                <a16:creationId xmlns:a16="http://schemas.microsoft.com/office/drawing/2014/main" id="{DEB6D2C9-610B-489F-BBB2-A3532C0F3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18478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5</a:t>
            </a:r>
          </a:p>
        </p:txBody>
      </p:sp>
      <p:sp>
        <p:nvSpPr>
          <p:cNvPr id="23" name="text-752">
            <a:extLst xmlns:a="http://schemas.openxmlformats.org/drawingml/2006/main">
              <a:ext uri="{FF2B5EF4-FFF2-40B4-BE49-F238E27FC236}">
                <a16:creationId xmlns:a16="http://schemas.microsoft.com/office/drawing/2014/main" id="{BF5FCF26-6F6E-4907-909B-E8BF35083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26098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交付</a:t>
            </a:r>
          </a:p>
        </p:txBody>
      </p:sp>
      <p:sp>
        <p:nvSpPr>
          <p:cNvPr id="24" name="text-753">
            <a:extLst xmlns:a="http://schemas.openxmlformats.org/drawingml/2006/main">
              <a:ext uri="{FF2B5EF4-FFF2-40B4-BE49-F238E27FC236}">
                <a16:creationId xmlns:a16="http://schemas.microsoft.com/office/drawing/2014/main" id="{91626E0E-AB81-4CAF-AF38-803602BDE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3276600"/>
            <a:ext cx="20955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成果、限制、下一步</a:t>
            </a:r>
          </a:p>
        </p:txBody>
      </p:sp>
      <p:sp>
        <p:nvSpPr>
          <p:cNvPr id="25" name="text-754">
            <a:extLst xmlns:a="http://schemas.openxmlformats.org/drawingml/2006/main">
              <a:ext uri="{FF2B5EF4-FFF2-40B4-BE49-F238E27FC236}">
                <a16:creationId xmlns:a16="http://schemas.microsoft.com/office/drawing/2014/main" id="{FE5743CB-EBCC-4C4C-9686-022DE6318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5314950"/>
            <a:ext cx="563880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152400" tIns="57150" rIns="1524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每一步都留下可檢查的成果</a:t>
            </a:r>
          </a:p>
        </p:txBody>
      </p:sp>
    </p:spTree>
    <p:extLst>
      <p:ext uri="{BB962C8B-B14F-4D97-AF65-F5344CB8AC3E}">
        <p14:creationId xmlns:p14="http://schemas.microsoft.com/office/powerpoint/2010/main" val="138745805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text-755">
            <a:extLst xmlns:a="http://schemas.openxmlformats.org/drawingml/2006/main">
              <a:ext uri="{FF2B5EF4-FFF2-40B4-BE49-F238E27FC236}">
                <a16:creationId xmlns:a16="http://schemas.microsoft.com/office/drawing/2014/main" id="{1B2BA9B1-3E2C-4210-BC8F-B20D812B7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HUMAN CONTROL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C8200AE8-B280-4204-A6ED-C9D366E94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人在迴路：三種情況一定要停一下</a:t>
            </a:r>
          </a:p>
        </p:txBody>
      </p:sp>
      <p:cxnSp>
        <p:nvCxnSpPr>
          <p:cNvPr id="20" name="shape-756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757">
            <a:extLst xmlns:a="http://schemas.openxmlformats.org/drawingml/2006/main">
              <a:ext uri="{FF2B5EF4-FFF2-40B4-BE49-F238E27FC236}">
                <a16:creationId xmlns:a16="http://schemas.microsoft.com/office/drawing/2014/main" id="{486BF5B9-BD71-429F-BFDE-B32C10D22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E7DCDB76-9153-4D44-BB92-5DA6CF0D2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06</a:t>
            </a:r>
          </a:p>
        </p:txBody>
      </p:sp>
      <p:sp>
        <p:nvSpPr>
          <p:cNvPr id="6" name="shape-758">
            <a:extLst xmlns:a="http://schemas.openxmlformats.org/drawingml/2006/main">
              <a:ext uri="{FF2B5EF4-FFF2-40B4-BE49-F238E27FC236}">
                <a16:creationId xmlns:a16="http://schemas.microsoft.com/office/drawing/2014/main" id="{0A2AE9C0-34F0-4AD9-ADD6-311CAA47C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3581400" cy="430530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7" name="text-759">
            <a:extLst xmlns:a="http://schemas.openxmlformats.org/drawingml/2006/main">
              <a:ext uri="{FF2B5EF4-FFF2-40B4-BE49-F238E27FC236}">
                <a16:creationId xmlns:a16="http://schemas.microsoft.com/office/drawing/2014/main" id="{7A4FA675-9483-4AFC-A6BF-38DBEFD5D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806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STOP</a:t>
            </a:r>
          </a:p>
        </p:txBody>
      </p:sp>
      <p:sp>
        <p:nvSpPr>
          <p:cNvPr id="8" name="text-760">
            <a:extLst xmlns:a="http://schemas.openxmlformats.org/drawingml/2006/main">
              <a:ext uri="{FF2B5EF4-FFF2-40B4-BE49-F238E27FC236}">
                <a16:creationId xmlns:a16="http://schemas.microsoft.com/office/drawing/2014/main" id="{D7D2809B-9C67-4FC4-9D7C-4AB506384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3162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不可逆</a:t>
            </a:r>
          </a:p>
        </p:txBody>
      </p:sp>
      <p:sp>
        <p:nvSpPr>
          <p:cNvPr id="9" name="text-761">
            <a:extLst xmlns:a="http://schemas.openxmlformats.org/drawingml/2006/main">
              <a:ext uri="{FF2B5EF4-FFF2-40B4-BE49-F238E27FC236}">
                <a16:creationId xmlns:a16="http://schemas.microsoft.com/office/drawing/2014/main" id="{1856F047-99E4-4B39-A76E-24EDCFAEF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3162300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刪除、覆寫、公開發布、寄信、上傳、改權限。</a:t>
            </a:r>
          </a:p>
        </p:txBody>
      </p:sp>
      <p:sp>
        <p:nvSpPr>
          <p:cNvPr id="10" name="shape-762">
            <a:extLst xmlns:a="http://schemas.openxmlformats.org/drawingml/2006/main">
              <a:ext uri="{FF2B5EF4-FFF2-40B4-BE49-F238E27FC236}">
                <a16:creationId xmlns:a16="http://schemas.microsoft.com/office/drawing/2014/main" id="{54EFBBA2-7161-49A6-9783-D192205A0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1676400"/>
            <a:ext cx="3581400" cy="430530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1" name="text-763">
            <a:extLst xmlns:a="http://schemas.openxmlformats.org/drawingml/2006/main">
              <a:ext uri="{FF2B5EF4-FFF2-40B4-BE49-F238E27FC236}">
                <a16:creationId xmlns:a16="http://schemas.microsoft.com/office/drawing/2014/main" id="{20B40FBF-D006-4A72-97E6-194DBD0F4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CD2C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SAFE</a:t>
            </a:r>
          </a:p>
        </p:txBody>
      </p:sp>
      <p:sp>
        <p:nvSpPr>
          <p:cNvPr id="12" name="text-764">
            <a:extLst xmlns:a="http://schemas.openxmlformats.org/drawingml/2006/main">
              <a:ext uri="{FF2B5EF4-FFF2-40B4-BE49-F238E27FC236}">
                <a16:creationId xmlns:a16="http://schemas.microsoft.com/office/drawing/2014/main" id="{696F8233-3FCB-4686-A49F-FBCBDE3E7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457450"/>
            <a:ext cx="3162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敏感</a:t>
            </a:r>
          </a:p>
        </p:txBody>
      </p:sp>
      <p:sp>
        <p:nvSpPr>
          <p:cNvPr id="13" name="text-765">
            <a:extLst xmlns:a="http://schemas.openxmlformats.org/drawingml/2006/main">
              <a:ext uri="{FF2B5EF4-FFF2-40B4-BE49-F238E27FC236}">
                <a16:creationId xmlns:a16="http://schemas.microsoft.com/office/drawing/2014/main" id="{A642163E-E787-4DB3-8754-E472AD66B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028950"/>
            <a:ext cx="3162300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學生個資、成績、未公開研究、帳號與金鑰。</a:t>
            </a:r>
          </a:p>
        </p:txBody>
      </p:sp>
      <p:sp>
        <p:nvSpPr>
          <p:cNvPr id="14" name="shape-766">
            <a:extLst xmlns:a="http://schemas.openxmlformats.org/drawingml/2006/main">
              <a:ext uri="{FF2B5EF4-FFF2-40B4-BE49-F238E27FC236}">
                <a16:creationId xmlns:a16="http://schemas.microsoft.com/office/drawing/2014/main" id="{A00584EF-DFDD-478B-9E37-404E67FB5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676400"/>
            <a:ext cx="3581400" cy="430530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5" name="text-767">
            <a:extLst xmlns:a="http://schemas.openxmlformats.org/drawingml/2006/main">
              <a:ext uri="{FF2B5EF4-FFF2-40B4-BE49-F238E27FC236}">
                <a16:creationId xmlns:a16="http://schemas.microsoft.com/office/drawing/2014/main" id="{2FEA2028-1BAC-4A1E-9E2B-1D9C1A85E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A78BF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ASK</a:t>
            </a:r>
          </a:p>
        </p:txBody>
      </p:sp>
      <p:sp>
        <p:nvSpPr>
          <p:cNvPr id="16" name="text-768">
            <a:extLst xmlns:a="http://schemas.openxmlformats.org/drawingml/2006/main">
              <a:ext uri="{FF2B5EF4-FFF2-40B4-BE49-F238E27FC236}">
                <a16:creationId xmlns:a16="http://schemas.microsoft.com/office/drawing/2014/main" id="{716EC6D5-0993-4B9A-9148-C576F0F76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457450"/>
            <a:ext cx="3162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高影響</a:t>
            </a:r>
          </a:p>
        </p:txBody>
      </p:sp>
      <p:sp>
        <p:nvSpPr>
          <p:cNvPr id="17" name="text-769">
            <a:extLst xmlns:a="http://schemas.openxmlformats.org/drawingml/2006/main">
              <a:ext uri="{FF2B5EF4-FFF2-40B4-BE49-F238E27FC236}">
                <a16:creationId xmlns:a16="http://schemas.microsoft.com/office/drawing/2014/main" id="{4B879320-0C85-4402-914A-82A22D292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028950"/>
            <a:ext cx="3162300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正式評量、行政決策、倫理或專業判斷。</a:t>
            </a:r>
          </a:p>
        </p:txBody>
      </p:sp>
    </p:spTree>
    <p:extLst>
      <p:ext uri="{BB962C8B-B14F-4D97-AF65-F5344CB8AC3E}">
        <p14:creationId xmlns:p14="http://schemas.microsoft.com/office/powerpoint/2010/main" val="93505046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text-770">
            <a:extLst xmlns:a="http://schemas.openxmlformats.org/drawingml/2006/main">
              <a:ext uri="{FF2B5EF4-FFF2-40B4-BE49-F238E27FC236}">
                <a16:creationId xmlns:a16="http://schemas.microsoft.com/office/drawing/2014/main" id="{3ACE3E7B-8D94-4F7E-A101-80DFC719A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CONTINUITY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0425779D-CB2F-4903-A3C0-9A4FE4E6F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下午不重做：直接升級上午成果</a:t>
            </a:r>
          </a:p>
        </p:txBody>
      </p:sp>
      <p:cxnSp>
        <p:nvCxnSpPr>
          <p:cNvPr id="20" name="shape-771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772">
            <a:extLst xmlns:a="http://schemas.openxmlformats.org/drawingml/2006/main">
              <a:ext uri="{FF2B5EF4-FFF2-40B4-BE49-F238E27FC236}">
                <a16:creationId xmlns:a16="http://schemas.microsoft.com/office/drawing/2014/main" id="{E9A08B77-8162-428F-AD2A-EDA89C6CB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FF229D2F-AA20-40AF-AF33-D8288CC0B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07</a:t>
            </a:r>
          </a:p>
        </p:txBody>
      </p:sp>
      <p:sp>
        <p:nvSpPr>
          <p:cNvPr id="6" name="shape-773">
            <a:extLst xmlns:a="http://schemas.openxmlformats.org/drawingml/2006/main">
              <a:ext uri="{FF2B5EF4-FFF2-40B4-BE49-F238E27FC236}">
                <a16:creationId xmlns:a16="http://schemas.microsoft.com/office/drawing/2014/main" id="{D4DF9CA7-EBAC-4F0B-A488-BA4774214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53625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7" name="shape-774">
            <a:extLst xmlns:a="http://schemas.openxmlformats.org/drawingml/2006/main">
              <a:ext uri="{FF2B5EF4-FFF2-40B4-BE49-F238E27FC236}">
                <a16:creationId xmlns:a16="http://schemas.microsoft.com/office/drawing/2014/main" id="{9F037A32-545B-47C0-BECD-E8AB175CA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1676400"/>
            <a:ext cx="55911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8" name="text-775">
            <a:extLst xmlns:a="http://schemas.openxmlformats.org/drawingml/2006/main">
              <a:ext uri="{FF2B5EF4-FFF2-40B4-BE49-F238E27FC236}">
                <a16:creationId xmlns:a16="http://schemas.microsoft.com/office/drawing/2014/main" id="{9045EB33-9EC4-431F-B99B-B20BB7C64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00250"/>
            <a:ext cx="47910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上午已有</a:t>
            </a:r>
          </a:p>
        </p:txBody>
      </p:sp>
      <p:sp>
        <p:nvSpPr>
          <p:cNvPr id="9" name="text-776">
            <a:extLst xmlns:a="http://schemas.openxmlformats.org/drawingml/2006/main">
              <a:ext uri="{FF2B5EF4-FFF2-40B4-BE49-F238E27FC236}">
                <a16:creationId xmlns:a16="http://schemas.microsoft.com/office/drawing/2014/main" id="{F88473CA-0DFD-4F8C-A94E-EAC0B6BF7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81300"/>
            <a:ext cx="47910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Gemini Notebook 來源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Gem 教學方法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Canvas 互動原型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部署或分享連結</a:t>
            </a:r>
          </a:p>
        </p:txBody>
      </p:sp>
      <p:sp>
        <p:nvSpPr>
          <p:cNvPr id="10" name="text-777">
            <a:extLst xmlns:a="http://schemas.openxmlformats.org/drawingml/2006/main">
              <a:ext uri="{FF2B5EF4-FFF2-40B4-BE49-F238E27FC236}">
                <a16:creationId xmlns:a16="http://schemas.microsoft.com/office/drawing/2014/main" id="{15CF296E-5E60-4A07-A918-A55646B31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000250"/>
            <a:ext cx="49815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下午新增</a:t>
            </a:r>
          </a:p>
        </p:txBody>
      </p:sp>
      <p:sp>
        <p:nvSpPr>
          <p:cNvPr id="11" name="text-778">
            <a:extLst xmlns:a="http://schemas.openxmlformats.org/drawingml/2006/main">
              <a:ext uri="{FF2B5EF4-FFF2-40B4-BE49-F238E27FC236}">
                <a16:creationId xmlns:a16="http://schemas.microsoft.com/office/drawing/2014/main" id="{62E89CAB-4C40-4E55-BB1F-98588DA27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781300"/>
            <a:ext cx="49815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專案資料夾與任務簡報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Agent 修改與測試證據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可重複使用的 Skill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跨工具驗證紀錄</a:t>
            </a:r>
          </a:p>
        </p:txBody>
      </p:sp>
      <p:sp>
        <p:nvSpPr>
          <p:cNvPr id="12" name="text-779">
            <a:extLst xmlns:a="http://schemas.openxmlformats.org/drawingml/2006/main">
              <a:ext uri="{FF2B5EF4-FFF2-40B4-BE49-F238E27FC236}">
                <a16:creationId xmlns:a16="http://schemas.microsoft.com/office/drawing/2014/main" id="{530319E0-1005-4732-98B7-7E46D64B8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876800"/>
            <a:ext cx="23812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上午成果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來源、Gem、Canvas、連結</a:t>
            </a:r>
          </a:p>
        </p:txBody>
      </p:sp>
      <p:sp>
        <p:nvSpPr>
          <p:cNvPr id="13" name="text-780">
            <a:extLst xmlns:a="http://schemas.openxmlformats.org/drawingml/2006/main">
              <a:ext uri="{FF2B5EF4-FFF2-40B4-BE49-F238E27FC236}">
                <a16:creationId xmlns:a16="http://schemas.microsoft.com/office/drawing/2014/main" id="{1FBE9CDB-2D16-4DE2-A65F-28AB03598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4876800"/>
            <a:ext cx="23812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同一個問題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繼續往下做</a:t>
            </a:r>
          </a:p>
        </p:txBody>
      </p:sp>
      <p:sp>
        <p:nvSpPr>
          <p:cNvPr id="14" name="text-781">
            <a:extLst xmlns:a="http://schemas.openxmlformats.org/drawingml/2006/main">
              <a:ext uri="{FF2B5EF4-FFF2-40B4-BE49-F238E27FC236}">
                <a16:creationId xmlns:a16="http://schemas.microsoft.com/office/drawing/2014/main" id="{BCF5A64F-EA20-4AC0-97F6-757B122B4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4876800"/>
            <a:ext cx="23812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2A1B22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下午升級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任務、Skill、證據、驗證</a:t>
            </a:r>
          </a:p>
        </p:txBody>
      </p:sp>
      <p:cxnSp>
        <p:nvCxnSpPr>
          <p:cNvPr id="32" name=""/>
          <p:cNvCxnSpPr>
            <a:stCxn xmlns:a="http://schemas.openxmlformats.org/drawingml/2006/main" id="12" idx="3"/>
            <a:endCxn xmlns:a="http://schemas.openxmlformats.org/drawingml/2006/main" id="13" idx="1"/>
          </p:cNvCxnSpPr>
          <p:nvPr/>
        </p:nvCxnSpPr>
        <p:spPr>
          <a:xfrm xmlns:a="http://schemas.openxmlformats.org/drawingml/2006/main">
            <a:off x="3181350" y="5181600"/>
            <a:ext cx="172402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5A7FF"/>
            </a:solidFill>
            <a:prstDash val="solid"/>
            <a:tailEnd type="arrow" w="sm" len="sm"/>
          </a:ln>
        </p:spPr>
      </p:cxnSp>
      <p:cxnSp>
        <p:nvCxnSpPr>
          <p:cNvPr id="33" name=""/>
          <p:cNvCxnSpPr>
            <a:stCxn xmlns:a="http://schemas.openxmlformats.org/drawingml/2006/main" id="13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7286625" y="5181600"/>
            <a:ext cx="172402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FF806D"/>
            </a:solidFill>
            <a:prstDash val="solid"/>
            <a:tailEnd type="arrow" w="sm" len="sm"/>
          </a:ln>
        </p:spPr>
      </p:cxnSp>
      <p:sp>
        <p:nvSpPr>
          <p:cNvPr id="17" name="text-782">
            <a:extLst xmlns:a="http://schemas.openxmlformats.org/drawingml/2006/main">
              <a:ext uri="{FF2B5EF4-FFF2-40B4-BE49-F238E27FC236}">
                <a16:creationId xmlns:a16="http://schemas.microsoft.com/office/drawing/2014/main" id="{0E784A89-294D-4C48-94C3-F65DE3E1A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5619750"/>
            <a:ext cx="5981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不是重做，而是把作品變成可重複流程</a:t>
            </a:r>
          </a:p>
        </p:txBody>
      </p:sp>
    </p:spTree>
    <p:extLst>
      <p:ext uri="{BB962C8B-B14F-4D97-AF65-F5344CB8AC3E}">
        <p14:creationId xmlns:p14="http://schemas.microsoft.com/office/powerpoint/2010/main" val="1720920326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text-783">
            <a:extLst xmlns:a="http://schemas.openxmlformats.org/drawingml/2006/main">
              <a:ext uri="{FF2B5EF4-FFF2-40B4-BE49-F238E27FC236}">
                <a16:creationId xmlns:a16="http://schemas.microsoft.com/office/drawing/2014/main" id="{2311BA7F-4998-4A15-ABB8-E81434846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AKAI CASE NAVIGATION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EEC0ADC8-4CDF-437E-9E43-2A63696F2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阿凱老師實戰案例導航｜資料與 Agent Skills</a:t>
            </a:r>
          </a:p>
        </p:txBody>
      </p:sp>
      <p:cxnSp>
        <p:nvCxnSpPr>
          <p:cNvPr id="33" name="shape-784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785">
            <a:extLst xmlns:a="http://schemas.openxmlformats.org/drawingml/2006/main">
              <a:ext uri="{FF2B5EF4-FFF2-40B4-BE49-F238E27FC236}">
                <a16:creationId xmlns:a16="http://schemas.microsoft.com/office/drawing/2014/main" id="{DDB9ACB2-A9CE-49CF-A286-F6EAD2547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15146149-F8B3-419A-A6A1-5C410CD75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08</a:t>
            </a:r>
          </a:p>
        </p:txBody>
      </p:sp>
      <p:sp>
        <p:nvSpPr>
          <p:cNvPr id="6" name="text-786">
            <a:extLst xmlns:a="http://schemas.openxmlformats.org/drawingml/2006/main">
              <a:ext uri="{FF2B5EF4-FFF2-40B4-BE49-F238E27FC236}">
                <a16:creationId xmlns:a16="http://schemas.microsoft.com/office/drawing/2014/main" id="{F0448265-57A9-45E3-B791-C4D8D2056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90650"/>
            <a:ext cx="11163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從學生表現分析、PIRLS 評量設計到 Web Agent 技能，觀察可驗證的工作流程。</a:t>
            </a:r>
          </a:p>
        </p:txBody>
      </p:sp>
      <p:sp>
        <p:nvSpPr>
          <p:cNvPr id="7" name="shape-787">
            <a:extLst xmlns:a="http://schemas.openxmlformats.org/drawingml/2006/main">
              <a:ext uri="{FF2B5EF4-FFF2-40B4-BE49-F238E27FC236}">
                <a16:creationId xmlns:a16="http://schemas.microsoft.com/office/drawing/2014/main" id="{0473D062-8099-4D0B-9391-56F61090A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24050"/>
            <a:ext cx="3594100" cy="4019550"/>
          </a:xfrm>
          <a:prstGeom xmlns:a="http://schemas.openxmlformats.org/drawingml/2006/main" prst="roundRect">
            <a:avLst>
              <a:gd name="adj" fmla="val 424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8" name="text-788">
            <a:extLst xmlns:a="http://schemas.openxmlformats.org/drawingml/2006/main">
              <a:ext uri="{FF2B5EF4-FFF2-40B4-BE49-F238E27FC236}">
                <a16:creationId xmlns:a16="http://schemas.microsoft.com/office/drawing/2014/main" id="{1375F232-F6B0-4773-BB98-521DC1EFF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33600"/>
            <a:ext cx="317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#73 · 學生資料分析</a:t>
            </a:r>
          </a:p>
        </p:txBody>
      </p:sp>
      <p:sp>
        <p:nvSpPr>
          <p:cNvPr id="9" name="text-789">
            <a:extLst xmlns:a="http://schemas.openxmlformats.org/drawingml/2006/main">
              <a:ext uri="{FF2B5EF4-FFF2-40B4-BE49-F238E27FC236}">
                <a16:creationId xmlns:a16="http://schemas.microsoft.com/office/drawing/2014/main" id="{25B6FC5B-3BFE-4128-A553-F66C47D88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71750"/>
            <a:ext cx="3175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國小期中考成績篩選工具</a:t>
            </a:r>
          </a:p>
        </p:txBody>
      </p:sp>
      <p:sp>
        <p:nvSpPr>
          <p:cNvPr id="10" name="text-790">
            <a:extLst xmlns:a="http://schemas.openxmlformats.org/drawingml/2006/main">
              <a:ext uri="{FF2B5EF4-FFF2-40B4-BE49-F238E27FC236}">
                <a16:creationId xmlns:a16="http://schemas.microsoft.com/office/drawing/2014/main" id="{B28071B7-F966-47C0-9D41-AB329B92F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24250"/>
            <a:ext cx="3175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快速查看成績分布與篩選結果，作為結構化學生資料分析的入門案例。</a:t>
            </a:r>
          </a:p>
        </p:txBody>
      </p:sp>
      <p:sp>
        <p:nvSpPr>
          <p:cNvPr id="11" name="text-791">
            <a:extLst xmlns:a="http://schemas.openxmlformats.org/drawingml/2006/main">
              <a:ext uri="{FF2B5EF4-FFF2-40B4-BE49-F238E27FC236}">
                <a16:creationId xmlns:a16="http://schemas.microsoft.com/office/drawing/2014/main" id="{EEC8C9DE-CB51-4CF5-9313-C43935E66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768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68af85a427d2495d"/>
              </a:rPr>
              <a:t>工具卡片介紹 ↗</a:t>
            </a:r>
          </a:p>
        </p:txBody>
      </p:sp>
      <p:pic>
        <p:nvPicPr>
          <p:cNvPr id="4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e704f0713264062"/>
          <a:stretch xmlns:a="http://schemas.openxmlformats.org/drawingml/2006/main"/>
        </p:blipFill>
        <p:spPr>
          <a:xfrm xmlns:a="http://schemas.openxmlformats.org/drawingml/2006/main">
            <a:off x="3270250" y="46482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13" name="text-792">
            <a:extLst xmlns:a="http://schemas.openxmlformats.org/drawingml/2006/main">
              <a:ext uri="{FF2B5EF4-FFF2-40B4-BE49-F238E27FC236}">
                <a16:creationId xmlns:a16="http://schemas.microsoft.com/office/drawing/2014/main" id="{653CC996-FE60-4AC5-A0E8-976456E3A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3340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FF806D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FF806D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7afe7db5a1df427f"/>
              </a:rPr>
              <a:t>直接開啟應用 ↗</a:t>
            </a:r>
          </a:p>
        </p:txBody>
      </p:sp>
      <p:pic>
        <p:nvPicPr>
          <p:cNvPr id="4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8b035edc5a84f8e"/>
          <a:stretch xmlns:a="http://schemas.openxmlformats.org/drawingml/2006/main"/>
        </p:blipFill>
        <p:spPr>
          <a:xfrm xmlns:a="http://schemas.openxmlformats.org/drawingml/2006/main">
            <a:off x="3270250" y="52959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15" name="shape-793">
            <a:extLst xmlns:a="http://schemas.openxmlformats.org/drawingml/2006/main">
              <a:ext uri="{FF2B5EF4-FFF2-40B4-BE49-F238E27FC236}">
                <a16:creationId xmlns:a16="http://schemas.microsoft.com/office/drawing/2014/main" id="{A2E51690-F7C2-45A6-A876-E157ACA6B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8950" y="1924050"/>
            <a:ext cx="3594100" cy="4019550"/>
          </a:xfrm>
          <a:prstGeom xmlns:a="http://schemas.openxmlformats.org/drawingml/2006/main" prst="roundRect">
            <a:avLst>
              <a:gd name="adj" fmla="val 424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6" name="text-794">
            <a:extLst xmlns:a="http://schemas.openxmlformats.org/drawingml/2006/main">
              <a:ext uri="{FF2B5EF4-FFF2-40B4-BE49-F238E27FC236}">
                <a16:creationId xmlns:a16="http://schemas.microsoft.com/office/drawing/2014/main" id="{2AC77CE5-6479-42D0-8DCB-8558DEF34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2133600"/>
            <a:ext cx="317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#87 · PIRLS 評量</a:t>
            </a:r>
          </a:p>
        </p:txBody>
      </p:sp>
      <p:sp>
        <p:nvSpPr>
          <p:cNvPr id="17" name="text-795">
            <a:extLst xmlns:a="http://schemas.openxmlformats.org/drawingml/2006/main">
              <a:ext uri="{FF2B5EF4-FFF2-40B4-BE49-F238E27FC236}">
                <a16:creationId xmlns:a16="http://schemas.microsoft.com/office/drawing/2014/main" id="{B205A54C-D0CE-4C73-87EB-88B191ED0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2571750"/>
            <a:ext cx="3175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PIRLS 閱讀理解生成站 PRO</a:t>
            </a:r>
          </a:p>
        </p:txBody>
      </p:sp>
      <p:sp>
        <p:nvSpPr>
          <p:cNvPr id="18" name="text-796">
            <a:extLst xmlns:a="http://schemas.openxmlformats.org/drawingml/2006/main">
              <a:ext uri="{FF2B5EF4-FFF2-40B4-BE49-F238E27FC236}">
                <a16:creationId xmlns:a16="http://schemas.microsoft.com/office/drawing/2014/main" id="{86E52E79-74BD-448B-8A47-A66EFCF8A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3524250"/>
            <a:ext cx="3175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依四層次生成提問與答案說明，銜接評量設計、規準與人工檢核。</a:t>
            </a:r>
          </a:p>
        </p:txBody>
      </p:sp>
      <p:sp>
        <p:nvSpPr>
          <p:cNvPr id="19" name="text-797">
            <a:extLst xmlns:a="http://schemas.openxmlformats.org/drawingml/2006/main">
              <a:ext uri="{FF2B5EF4-FFF2-40B4-BE49-F238E27FC236}">
                <a16:creationId xmlns:a16="http://schemas.microsoft.com/office/drawing/2014/main" id="{B8681249-4D42-4C77-A8B6-AB1FE9780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48768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dae7feebcf1b41f4"/>
              </a:rPr>
              <a:t>工具卡片介紹 ↗</a:t>
            </a:r>
          </a:p>
        </p:txBody>
      </p:sp>
      <p:pic>
        <p:nvPicPr>
          <p:cNvPr id="5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aa18d4b7b354f66"/>
          <a:stretch xmlns:a="http://schemas.openxmlformats.org/drawingml/2006/main"/>
        </p:blipFill>
        <p:spPr>
          <a:xfrm xmlns:a="http://schemas.openxmlformats.org/drawingml/2006/main">
            <a:off x="7054850" y="46482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1" name="text-798">
            <a:extLst xmlns:a="http://schemas.openxmlformats.org/drawingml/2006/main">
              <a:ext uri="{FF2B5EF4-FFF2-40B4-BE49-F238E27FC236}">
                <a16:creationId xmlns:a16="http://schemas.microsoft.com/office/drawing/2014/main" id="{652DEE19-D1D2-470C-8BF9-D132D7B94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53340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FF806D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FF806D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9a53371e42d843d7"/>
              </a:rPr>
              <a:t>直接開啟應用 ↗</a:t>
            </a:r>
          </a:p>
        </p:txBody>
      </p:sp>
      <p:pic>
        <p:nvPicPr>
          <p:cNvPr id="5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cc42a5ab3654be4"/>
          <a:stretch xmlns:a="http://schemas.openxmlformats.org/drawingml/2006/main"/>
        </p:blipFill>
        <p:spPr>
          <a:xfrm xmlns:a="http://schemas.openxmlformats.org/drawingml/2006/main">
            <a:off x="7054850" y="52959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3" name="shape-799">
            <a:extLst xmlns:a="http://schemas.openxmlformats.org/drawingml/2006/main">
              <a:ext uri="{FF2B5EF4-FFF2-40B4-BE49-F238E27FC236}">
                <a16:creationId xmlns:a16="http://schemas.microsoft.com/office/drawing/2014/main" id="{105CDAAE-B413-4364-BEDC-526A49AA7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3550" y="1924050"/>
            <a:ext cx="3594100" cy="4019550"/>
          </a:xfrm>
          <a:prstGeom xmlns:a="http://schemas.openxmlformats.org/drawingml/2006/main" prst="roundRect">
            <a:avLst>
              <a:gd name="adj" fmla="val 424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24" name="text-800">
            <a:extLst xmlns:a="http://schemas.openxmlformats.org/drawingml/2006/main">
              <a:ext uri="{FF2B5EF4-FFF2-40B4-BE49-F238E27FC236}">
                <a16:creationId xmlns:a16="http://schemas.microsoft.com/office/drawing/2014/main" id="{DBE09F0C-89F9-4584-A5D8-5B4B9EEB9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2133600"/>
            <a:ext cx="317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#103 · 提示詞與 Skill</a:t>
            </a:r>
          </a:p>
        </p:txBody>
      </p:sp>
      <p:sp>
        <p:nvSpPr>
          <p:cNvPr id="25" name="text-801">
            <a:extLst xmlns:a="http://schemas.openxmlformats.org/drawingml/2006/main">
              <a:ext uri="{FF2B5EF4-FFF2-40B4-BE49-F238E27FC236}">
                <a16:creationId xmlns:a16="http://schemas.microsoft.com/office/drawing/2014/main" id="{F90E1AF8-4168-4CB3-8E17-603D87B8F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2571750"/>
            <a:ext cx="3175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AI Agent 的 Web 技能雙引擎</a:t>
            </a:r>
          </a:p>
        </p:txBody>
      </p:sp>
      <p:sp>
        <p:nvSpPr>
          <p:cNvPr id="26" name="text-802">
            <a:extLst xmlns:a="http://schemas.openxmlformats.org/drawingml/2006/main">
              <a:ext uri="{FF2B5EF4-FFF2-40B4-BE49-F238E27FC236}">
                <a16:creationId xmlns:a16="http://schemas.microsoft.com/office/drawing/2014/main" id="{A1E5B5CE-CAF0-42E4-9285-B324488A3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3524250"/>
            <a:ext cx="3175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用 Playwright × Webwright 解釋 Agent 如何規劃、操作並回報證據。</a:t>
            </a:r>
          </a:p>
        </p:txBody>
      </p:sp>
      <p:sp>
        <p:nvSpPr>
          <p:cNvPr id="27" name="text-803">
            <a:extLst xmlns:a="http://schemas.openxmlformats.org/drawingml/2006/main">
              <a:ext uri="{FF2B5EF4-FFF2-40B4-BE49-F238E27FC236}">
                <a16:creationId xmlns:a16="http://schemas.microsoft.com/office/drawing/2014/main" id="{440510AF-12A7-4CB0-A5C8-53A543BA1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48768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84316b4349ed4b4a"/>
              </a:rPr>
              <a:t>工具卡片介紹 ↗</a:t>
            </a:r>
          </a:p>
        </p:txBody>
      </p:sp>
      <p:pic>
        <p:nvPicPr>
          <p:cNvPr id="5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012fd3eb6c34b91"/>
          <a:stretch xmlns:a="http://schemas.openxmlformats.org/drawingml/2006/main"/>
        </p:blipFill>
        <p:spPr>
          <a:xfrm xmlns:a="http://schemas.openxmlformats.org/drawingml/2006/main">
            <a:off x="10839450" y="46482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9" name="text-804">
            <a:extLst xmlns:a="http://schemas.openxmlformats.org/drawingml/2006/main">
              <a:ext uri="{FF2B5EF4-FFF2-40B4-BE49-F238E27FC236}">
                <a16:creationId xmlns:a16="http://schemas.microsoft.com/office/drawing/2014/main" id="{4B6968C7-0A6A-4F68-8B8C-FD3612FF1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53340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FF806D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FF806D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f14ab726607c4a9b"/>
              </a:rPr>
              <a:t>直接開啟應用 ↗</a:t>
            </a:r>
          </a:p>
        </p:txBody>
      </p:sp>
      <p:pic>
        <p:nvPicPr>
          <p:cNvPr id="6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3d92fc58d184096"/>
          <a:stretch xmlns:a="http://schemas.openxmlformats.org/drawingml/2006/main"/>
        </p:blipFill>
        <p:spPr>
          <a:xfrm xmlns:a="http://schemas.openxmlformats.org/drawingml/2006/main">
            <a:off x="10839450" y="52959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</p:spTree>
    <p:extLst>
      <p:ext uri="{BB962C8B-B14F-4D97-AF65-F5344CB8AC3E}">
        <p14:creationId xmlns:p14="http://schemas.microsoft.com/office/powerpoint/2010/main" val="342859146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text-805">
            <a:extLst xmlns:a="http://schemas.openxmlformats.org/drawingml/2006/main">
              <a:ext uri="{FF2B5EF4-FFF2-40B4-BE49-F238E27FC236}">
                <a16:creationId xmlns:a16="http://schemas.microsoft.com/office/drawing/2014/main" id="{CFEF2305-E77C-49CB-8550-2448FEDAC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AKAI CASE NAVIGATION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69FB55B8-5897-4D31-BE14-9CEA2B104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阿凱老師實戰案例導航｜研究與驗證</a:t>
            </a:r>
          </a:p>
        </p:txBody>
      </p:sp>
      <p:cxnSp>
        <p:nvCxnSpPr>
          <p:cNvPr id="33" name="shape-806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807">
            <a:extLst xmlns:a="http://schemas.openxmlformats.org/drawingml/2006/main">
              <a:ext uri="{FF2B5EF4-FFF2-40B4-BE49-F238E27FC236}">
                <a16:creationId xmlns:a16="http://schemas.microsoft.com/office/drawing/2014/main" id="{A26B7427-6098-4572-B9BB-EC6EB1C25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A0F6B5E1-9DC2-416A-B62A-1124116F3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09</a:t>
            </a:r>
          </a:p>
        </p:txBody>
      </p:sp>
      <p:sp>
        <p:nvSpPr>
          <p:cNvPr id="6" name="text-808">
            <a:extLst xmlns:a="http://schemas.openxmlformats.org/drawingml/2006/main">
              <a:ext uri="{FF2B5EF4-FFF2-40B4-BE49-F238E27FC236}">
                <a16:creationId xmlns:a16="http://schemas.microsoft.com/office/drawing/2014/main" id="{8D044A0D-6FF0-4A2A-8350-0F1AD6123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90650"/>
            <a:ext cx="11163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把資料來源、審查規準、無障礙檢測與人工覆核組成可追查的 Agent 流程。</a:t>
            </a:r>
          </a:p>
        </p:txBody>
      </p:sp>
      <p:sp>
        <p:nvSpPr>
          <p:cNvPr id="7" name="shape-809">
            <a:extLst xmlns:a="http://schemas.openxmlformats.org/drawingml/2006/main">
              <a:ext uri="{FF2B5EF4-FFF2-40B4-BE49-F238E27FC236}">
                <a16:creationId xmlns:a16="http://schemas.microsoft.com/office/drawing/2014/main" id="{035F7456-19B4-4D43-A344-F70A79127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24050"/>
            <a:ext cx="3594100" cy="4019550"/>
          </a:xfrm>
          <a:prstGeom xmlns:a="http://schemas.openxmlformats.org/drawingml/2006/main" prst="roundRect">
            <a:avLst>
              <a:gd name="adj" fmla="val 424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8" name="text-810">
            <a:extLst xmlns:a="http://schemas.openxmlformats.org/drawingml/2006/main">
              <a:ext uri="{FF2B5EF4-FFF2-40B4-BE49-F238E27FC236}">
                <a16:creationId xmlns:a16="http://schemas.microsoft.com/office/drawing/2014/main" id="{0796F1AD-6791-4833-93D2-301D02E61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33600"/>
            <a:ext cx="317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#105 · 研究工作流程</a:t>
            </a:r>
          </a:p>
        </p:txBody>
      </p:sp>
      <p:sp>
        <p:nvSpPr>
          <p:cNvPr id="9" name="text-811">
            <a:extLst xmlns:a="http://schemas.openxmlformats.org/drawingml/2006/main">
              <a:ext uri="{FF2B5EF4-FFF2-40B4-BE49-F238E27FC236}">
                <a16:creationId xmlns:a16="http://schemas.microsoft.com/office/drawing/2014/main" id="{FE0E908D-1196-4CBB-BA39-D28373C24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71750"/>
            <a:ext cx="3175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臺灣主權 AI 訓練語料庫</a:t>
            </a:r>
          </a:p>
        </p:txBody>
      </p:sp>
      <p:sp>
        <p:nvSpPr>
          <p:cNvPr id="10" name="text-812">
            <a:extLst xmlns:a="http://schemas.openxmlformats.org/drawingml/2006/main">
              <a:ext uri="{FF2B5EF4-FFF2-40B4-BE49-F238E27FC236}">
                <a16:creationId xmlns:a16="http://schemas.microsoft.com/office/drawing/2014/main" id="{70D172E0-E09F-49B9-9E4F-E5F72B20F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24250"/>
            <a:ext cx="3175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4,554 筆開放語料依主題、課綱與授權整理，再轉化成教學研究素材。</a:t>
            </a:r>
          </a:p>
        </p:txBody>
      </p:sp>
      <p:sp>
        <p:nvSpPr>
          <p:cNvPr id="11" name="text-813">
            <a:extLst xmlns:a="http://schemas.openxmlformats.org/drawingml/2006/main">
              <a:ext uri="{FF2B5EF4-FFF2-40B4-BE49-F238E27FC236}">
                <a16:creationId xmlns:a16="http://schemas.microsoft.com/office/drawing/2014/main" id="{70C1331B-F4A8-4FFB-85ED-9C9A2102E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768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d506ea2d256e4046"/>
              </a:rPr>
              <a:t>工具卡片介紹 ↗</a:t>
            </a:r>
          </a:p>
        </p:txBody>
      </p:sp>
      <p:pic>
        <p:nvPicPr>
          <p:cNvPr id="4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223f767e64a48bd"/>
          <a:stretch xmlns:a="http://schemas.openxmlformats.org/drawingml/2006/main"/>
        </p:blipFill>
        <p:spPr>
          <a:xfrm xmlns:a="http://schemas.openxmlformats.org/drawingml/2006/main">
            <a:off x="3270250" y="46482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13" name="text-814">
            <a:extLst xmlns:a="http://schemas.openxmlformats.org/drawingml/2006/main">
              <a:ext uri="{FF2B5EF4-FFF2-40B4-BE49-F238E27FC236}">
                <a16:creationId xmlns:a16="http://schemas.microsoft.com/office/drawing/2014/main" id="{7D926766-04A6-4065-BEEB-7C0BE9103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3340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FF806D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FF806D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905ea9babae54ec7"/>
              </a:rPr>
              <a:t>直接開啟應用 ↗</a:t>
            </a:r>
          </a:p>
        </p:txBody>
      </p:sp>
      <p:pic>
        <p:nvPicPr>
          <p:cNvPr id="4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b84c6cf8cfa4efa"/>
          <a:stretch xmlns:a="http://schemas.openxmlformats.org/drawingml/2006/main"/>
        </p:blipFill>
        <p:spPr>
          <a:xfrm xmlns:a="http://schemas.openxmlformats.org/drawingml/2006/main">
            <a:off x="3270250" y="52959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15" name="shape-815">
            <a:extLst xmlns:a="http://schemas.openxmlformats.org/drawingml/2006/main">
              <a:ext uri="{FF2B5EF4-FFF2-40B4-BE49-F238E27FC236}">
                <a16:creationId xmlns:a16="http://schemas.microsoft.com/office/drawing/2014/main" id="{6C434C4A-BE69-43AE-B54E-78AB92307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8950" y="1924050"/>
            <a:ext cx="3594100" cy="4019550"/>
          </a:xfrm>
          <a:prstGeom xmlns:a="http://schemas.openxmlformats.org/drawingml/2006/main" prst="roundRect">
            <a:avLst>
              <a:gd name="adj" fmla="val 424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6" name="text-816">
            <a:extLst xmlns:a="http://schemas.openxmlformats.org/drawingml/2006/main">
              <a:ext uri="{FF2B5EF4-FFF2-40B4-BE49-F238E27FC236}">
                <a16:creationId xmlns:a16="http://schemas.microsoft.com/office/drawing/2014/main" id="{50CB95E6-72BB-4B42-A234-4C5A22233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2133600"/>
            <a:ext cx="317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#123 · RWD／無障礙</a:t>
            </a:r>
          </a:p>
        </p:txBody>
      </p:sp>
      <p:sp>
        <p:nvSpPr>
          <p:cNvPr id="17" name="text-817">
            <a:extLst xmlns:a="http://schemas.openxmlformats.org/drawingml/2006/main">
              <a:ext uri="{FF2B5EF4-FFF2-40B4-BE49-F238E27FC236}">
                <a16:creationId xmlns:a16="http://schemas.microsoft.com/office/drawing/2014/main" id="{55791A69-DAA8-46F4-B3B5-8513E1E0B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2571750"/>
            <a:ext cx="3175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校網無障礙 AA 遷移操作平台</a:t>
            </a:r>
          </a:p>
        </p:txBody>
      </p:sp>
      <p:sp>
        <p:nvSpPr>
          <p:cNvPr id="18" name="text-818">
            <a:extLst xmlns:a="http://schemas.openxmlformats.org/drawingml/2006/main">
              <a:ext uri="{FF2B5EF4-FFF2-40B4-BE49-F238E27FC236}">
                <a16:creationId xmlns:a16="http://schemas.microsoft.com/office/drawing/2014/main" id="{D994EB00-4D30-4A77-AAC5-C18B6D5C8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3524250"/>
            <a:ext cx="3175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12 步遷移清單、對比度檢查與送審雷區，示範可驗證工作流程。</a:t>
            </a:r>
          </a:p>
        </p:txBody>
      </p:sp>
      <p:sp>
        <p:nvSpPr>
          <p:cNvPr id="19" name="text-819">
            <a:extLst xmlns:a="http://schemas.openxmlformats.org/drawingml/2006/main">
              <a:ext uri="{FF2B5EF4-FFF2-40B4-BE49-F238E27FC236}">
                <a16:creationId xmlns:a16="http://schemas.microsoft.com/office/drawing/2014/main" id="{078F6F51-DD21-4785-A6AA-9AA62A728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48768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8b80e43c89ba43f9"/>
              </a:rPr>
              <a:t>工具卡片介紹 ↗</a:t>
            </a:r>
          </a:p>
        </p:txBody>
      </p:sp>
      <p:pic>
        <p:nvPicPr>
          <p:cNvPr id="5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56aae20d82049be"/>
          <a:stretch xmlns:a="http://schemas.openxmlformats.org/drawingml/2006/main"/>
        </p:blipFill>
        <p:spPr>
          <a:xfrm xmlns:a="http://schemas.openxmlformats.org/drawingml/2006/main">
            <a:off x="7054850" y="46482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1" name="text-820">
            <a:extLst xmlns:a="http://schemas.openxmlformats.org/drawingml/2006/main">
              <a:ext uri="{FF2B5EF4-FFF2-40B4-BE49-F238E27FC236}">
                <a16:creationId xmlns:a16="http://schemas.microsoft.com/office/drawing/2014/main" id="{6349E199-98EA-4FD2-8A2D-639C9844E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53340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FF806D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FF806D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58b79e816ff74866"/>
              </a:rPr>
              <a:t>直接開啟應用 ↗</a:t>
            </a:r>
          </a:p>
        </p:txBody>
      </p:sp>
      <p:pic>
        <p:nvPicPr>
          <p:cNvPr id="5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9a9c2dbee21483a"/>
          <a:stretch xmlns:a="http://schemas.openxmlformats.org/drawingml/2006/main"/>
        </p:blipFill>
        <p:spPr>
          <a:xfrm xmlns:a="http://schemas.openxmlformats.org/drawingml/2006/main">
            <a:off x="7054850" y="52959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3" name="shape-821">
            <a:extLst xmlns:a="http://schemas.openxmlformats.org/drawingml/2006/main">
              <a:ext uri="{FF2B5EF4-FFF2-40B4-BE49-F238E27FC236}">
                <a16:creationId xmlns:a16="http://schemas.microsoft.com/office/drawing/2014/main" id="{18308A04-3C6E-40D9-BD8C-CE58AF4D9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3550" y="1924050"/>
            <a:ext cx="3594100" cy="4019550"/>
          </a:xfrm>
          <a:prstGeom xmlns:a="http://schemas.openxmlformats.org/drawingml/2006/main" prst="roundRect">
            <a:avLst>
              <a:gd name="adj" fmla="val 424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24" name="text-822">
            <a:extLst xmlns:a="http://schemas.openxmlformats.org/drawingml/2006/main">
              <a:ext uri="{FF2B5EF4-FFF2-40B4-BE49-F238E27FC236}">
                <a16:creationId xmlns:a16="http://schemas.microsoft.com/office/drawing/2014/main" id="{ACCD8437-E903-42CF-8EBC-B9347A63B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2133600"/>
            <a:ext cx="317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#88 · Agent 驗證</a:t>
            </a:r>
          </a:p>
        </p:txBody>
      </p:sp>
      <p:sp>
        <p:nvSpPr>
          <p:cNvPr id="25" name="text-823">
            <a:extLst xmlns:a="http://schemas.openxmlformats.org/drawingml/2006/main">
              <a:ext uri="{FF2B5EF4-FFF2-40B4-BE49-F238E27FC236}">
                <a16:creationId xmlns:a16="http://schemas.microsoft.com/office/drawing/2014/main" id="{7B6EB01C-0729-444A-90E3-C567AF3AA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2571750"/>
            <a:ext cx="3175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國中課程計畫 AI 審查工具</a:t>
            </a:r>
          </a:p>
        </p:txBody>
      </p:sp>
      <p:sp>
        <p:nvSpPr>
          <p:cNvPr id="26" name="text-824">
            <a:extLst xmlns:a="http://schemas.openxmlformats.org/drawingml/2006/main">
              <a:ext uri="{FF2B5EF4-FFF2-40B4-BE49-F238E27FC236}">
                <a16:creationId xmlns:a16="http://schemas.microsoft.com/office/drawing/2014/main" id="{180A4A43-4DB5-4EDC-839E-78EA07B35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3524250"/>
            <a:ext cx="3175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依 40+ 審查標準逐項比對 PDF，示範規則、證據與人工覆核。</a:t>
            </a:r>
          </a:p>
        </p:txBody>
      </p:sp>
      <p:sp>
        <p:nvSpPr>
          <p:cNvPr id="27" name="text-825">
            <a:extLst xmlns:a="http://schemas.openxmlformats.org/drawingml/2006/main">
              <a:ext uri="{FF2B5EF4-FFF2-40B4-BE49-F238E27FC236}">
                <a16:creationId xmlns:a16="http://schemas.microsoft.com/office/drawing/2014/main" id="{3CF6AD1E-376C-47FB-A965-2EBBBF787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48768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04b3117a9ec44e54"/>
              </a:rPr>
              <a:t>工具卡片介紹 ↗</a:t>
            </a:r>
          </a:p>
        </p:txBody>
      </p:sp>
      <p:pic>
        <p:nvPicPr>
          <p:cNvPr id="5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41284154619472e"/>
          <a:stretch xmlns:a="http://schemas.openxmlformats.org/drawingml/2006/main"/>
        </p:blipFill>
        <p:spPr>
          <a:xfrm xmlns:a="http://schemas.openxmlformats.org/drawingml/2006/main">
            <a:off x="10839450" y="46482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9" name="text-826">
            <a:extLst xmlns:a="http://schemas.openxmlformats.org/drawingml/2006/main">
              <a:ext uri="{FF2B5EF4-FFF2-40B4-BE49-F238E27FC236}">
                <a16:creationId xmlns:a16="http://schemas.microsoft.com/office/drawing/2014/main" id="{8B5B386C-417E-445B-AF9D-5A159EEE3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53340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FF806D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FF806D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8caa8fb83a814cbb"/>
              </a:rPr>
              <a:t>直接開啟應用 ↗</a:t>
            </a:r>
          </a:p>
        </p:txBody>
      </p:sp>
      <p:pic>
        <p:nvPicPr>
          <p:cNvPr id="6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039ae6cd15f4005"/>
          <a:stretch xmlns:a="http://schemas.openxmlformats.org/drawingml/2006/main"/>
        </p:blipFill>
        <p:spPr>
          <a:xfrm xmlns:a="http://schemas.openxmlformats.org/drawingml/2006/main">
            <a:off x="10839450" y="52959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</p:spTree>
    <p:extLst>
      <p:ext uri="{BB962C8B-B14F-4D97-AF65-F5344CB8AC3E}">
        <p14:creationId xmlns:p14="http://schemas.microsoft.com/office/powerpoint/2010/main" val="1285237372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827">
            <a:extLst xmlns:a="http://schemas.openxmlformats.org/drawingml/2006/main">
              <a:ext uri="{FF2B5EF4-FFF2-40B4-BE49-F238E27FC236}">
                <a16:creationId xmlns:a16="http://schemas.microsoft.com/office/drawing/2014/main" id="{C9211B58-8E4F-4C07-BC50-C9AC0FE75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2000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4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84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2" name="text-828">
            <a:extLst xmlns:a="http://schemas.openxmlformats.org/drawingml/2006/main">
              <a:ext uri="{FF2B5EF4-FFF2-40B4-BE49-F238E27FC236}">
                <a16:creationId xmlns:a16="http://schemas.microsoft.com/office/drawing/2014/main" id="{90B854B1-B8EA-4A36-85C3-7A847A50E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343150"/>
            <a:ext cx="10668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40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40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  <p:sp>
        <p:nvSpPr>
          <p:cNvPr id="3" name="text-829">
            <a:extLst xmlns:a="http://schemas.openxmlformats.org/drawingml/2006/main">
              <a:ext uri="{FF2B5EF4-FFF2-40B4-BE49-F238E27FC236}">
                <a16:creationId xmlns:a16="http://schemas.microsoft.com/office/drawing/2014/main" id="{85DB95DF-8566-4D70-91FB-4BB36FE9B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95700"/>
            <a:ext cx="84772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把工作區變成 Agent 的中央指揮中心：交付任務、監看計畫、檢查產物與驗證證據。</a:t>
            </a:r>
          </a:p>
        </p:txBody>
      </p:sp>
      <p:sp>
        <p:nvSpPr>
          <p:cNvPr id="4" name="shape-830">
            <a:extLst xmlns:a="http://schemas.openxmlformats.org/drawingml/2006/main">
              <a:ext uri="{FF2B5EF4-FFF2-40B4-BE49-F238E27FC236}">
                <a16:creationId xmlns:a16="http://schemas.microsoft.com/office/drawing/2014/main" id="{49223440-1562-4E08-99FE-5F956FEEE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3810000"/>
            <a:ext cx="1524000" cy="1524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text-831">
            <a:extLst xmlns:a="http://schemas.openxmlformats.org/drawingml/2006/main">
              <a:ext uri="{FF2B5EF4-FFF2-40B4-BE49-F238E27FC236}">
                <a16:creationId xmlns:a16="http://schemas.microsoft.com/office/drawing/2014/main" id="{414C3A64-4394-4C1C-B479-62959C6C8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4114800"/>
            <a:ext cx="1143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動手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做</a:t>
            </a:r>
          </a:p>
        </p:txBody>
      </p:sp>
      <p:cxnSp>
        <p:nvCxnSpPr>
          <p:cNvPr id="18" name="shape-832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7" name="text-833">
            <a:extLst xmlns:a="http://schemas.openxmlformats.org/drawingml/2006/main">
              <a:ext uri="{FF2B5EF4-FFF2-40B4-BE49-F238E27FC236}">
                <a16:creationId xmlns:a16="http://schemas.microsoft.com/office/drawing/2014/main" id="{D75DF0D4-F953-402E-88A2-A178C072B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8" name="page-number">
            <a:extLst xmlns:a="http://schemas.openxmlformats.org/drawingml/2006/main">
              <a:ext uri="{FF2B5EF4-FFF2-40B4-BE49-F238E27FC236}">
                <a16:creationId xmlns:a16="http://schemas.microsoft.com/office/drawing/2014/main" id="{8E5EBA5E-9C5D-4AAB-B9CB-20165D33C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10</a:t>
            </a:r>
          </a:p>
        </p:txBody>
      </p:sp>
      <p:sp>
        <p:nvSpPr>
          <p:cNvPr id="9" name="text-1429">
            <a:extLst xmlns:a="http://schemas.openxmlformats.org/drawingml/2006/main">
              <a:ext uri="{FF2B5EF4-FFF2-40B4-BE49-F238E27FC236}">
                <a16:creationId xmlns:a16="http://schemas.microsoft.com/office/drawing/2014/main" id="{66FB5E8A-62AD-400A-B5B1-9A90B1B0F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aa4c464f03bb4c71"/>
              </a:rPr>
              <a:t>開啟 Antigravity ↗</a:t>
            </a:r>
          </a:p>
        </p:txBody>
      </p:sp>
      <p:sp>
        <p:nvSpPr>
          <p:cNvPr id="10" name="shape-1463">
            <a:extLst xmlns:a="http://schemas.openxmlformats.org/drawingml/2006/main">
              <a:ext uri="{FF2B5EF4-FFF2-40B4-BE49-F238E27FC236}">
                <a16:creationId xmlns:a16="http://schemas.microsoft.com/office/drawing/2014/main" id="{BB12CDCD-4070-4447-9412-406652551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d2cc247ca184e52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12" name="text-1464">
            <a:extLst xmlns:a="http://schemas.openxmlformats.org/drawingml/2006/main">
              <a:ext uri="{FF2B5EF4-FFF2-40B4-BE49-F238E27FC236}">
                <a16:creationId xmlns:a16="http://schemas.microsoft.com/office/drawing/2014/main" id="{3A32C55F-3DDB-402E-A24C-7ABC85B72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</p:spTree>
    <p:extLst>
      <p:ext uri="{BB962C8B-B14F-4D97-AF65-F5344CB8AC3E}">
        <p14:creationId xmlns:p14="http://schemas.microsoft.com/office/powerpoint/2010/main" val="1648483956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text-834">
            <a:extLst xmlns:a="http://schemas.openxmlformats.org/drawingml/2006/main">
              <a:ext uri="{FF2B5EF4-FFF2-40B4-BE49-F238E27FC236}">
                <a16:creationId xmlns:a16="http://schemas.microsoft.com/office/drawing/2014/main" id="{688BE44E-9A56-4D01-8A93-70BAF8AE7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AGENTIC DEVELOPMENT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0A146A8C-9C83-4281-9EDC-30279B76C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Antigravity：不是更大的聊天框</a:t>
            </a:r>
          </a:p>
        </p:txBody>
      </p:sp>
      <p:cxnSp>
        <p:nvCxnSpPr>
          <p:cNvPr id="18" name="shape-835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836">
            <a:extLst xmlns:a="http://schemas.openxmlformats.org/drawingml/2006/main">
              <a:ext uri="{FF2B5EF4-FFF2-40B4-BE49-F238E27FC236}">
                <a16:creationId xmlns:a16="http://schemas.microsoft.com/office/drawing/2014/main" id="{72AA6E25-40BA-470E-A9F3-ED655407C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3F1F9AC7-4AF3-4EFD-85F0-6BBEB7C00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11</a:t>
            </a:r>
          </a:p>
        </p:txBody>
      </p:sp>
      <p:sp>
        <p:nvSpPr>
          <p:cNvPr id="6" name="shape-837">
            <a:extLst xmlns:a="http://schemas.openxmlformats.org/drawingml/2006/main">
              <a:ext uri="{FF2B5EF4-FFF2-40B4-BE49-F238E27FC236}">
                <a16:creationId xmlns:a16="http://schemas.microsoft.com/office/drawing/2014/main" id="{C692282A-418B-4278-972E-2866A06D1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53625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7" name="shape-838">
            <a:extLst xmlns:a="http://schemas.openxmlformats.org/drawingml/2006/main">
              <a:ext uri="{FF2B5EF4-FFF2-40B4-BE49-F238E27FC236}">
                <a16:creationId xmlns:a16="http://schemas.microsoft.com/office/drawing/2014/main" id="{FA6ABB01-6CB2-4B1E-AF60-10B062777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1676400"/>
            <a:ext cx="55911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8" name="text-839">
            <a:extLst xmlns:a="http://schemas.openxmlformats.org/drawingml/2006/main">
              <a:ext uri="{FF2B5EF4-FFF2-40B4-BE49-F238E27FC236}">
                <a16:creationId xmlns:a16="http://schemas.microsoft.com/office/drawing/2014/main" id="{0995B898-4E32-4B06-A415-22A75F43C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00250"/>
            <a:ext cx="47910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你提供</a:t>
            </a:r>
          </a:p>
        </p:txBody>
      </p:sp>
      <p:sp>
        <p:nvSpPr>
          <p:cNvPr id="9" name="text-840">
            <a:extLst xmlns:a="http://schemas.openxmlformats.org/drawingml/2006/main">
              <a:ext uri="{FF2B5EF4-FFF2-40B4-BE49-F238E27FC236}">
                <a16:creationId xmlns:a16="http://schemas.microsoft.com/office/drawing/2014/main" id="{254B4F56-C69B-4215-9522-8D0B9CDF5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81300"/>
            <a:ext cx="47910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工作區與檔案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清楚的任務與限制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可驗收的完成條件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必要的授權</a:t>
            </a:r>
          </a:p>
        </p:txBody>
      </p:sp>
      <p:sp>
        <p:nvSpPr>
          <p:cNvPr id="10" name="text-841">
            <a:extLst xmlns:a="http://schemas.openxmlformats.org/drawingml/2006/main">
              <a:ext uri="{FF2B5EF4-FFF2-40B4-BE49-F238E27FC236}">
                <a16:creationId xmlns:a16="http://schemas.microsoft.com/office/drawing/2014/main" id="{2ECF2236-BE71-4E5C-98E6-C41380351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000250"/>
            <a:ext cx="49815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Agent 推進</a:t>
            </a:r>
          </a:p>
        </p:txBody>
      </p:sp>
      <p:sp>
        <p:nvSpPr>
          <p:cNvPr id="11" name="text-842">
            <a:extLst xmlns:a="http://schemas.openxmlformats.org/drawingml/2006/main">
              <a:ext uri="{FF2B5EF4-FFF2-40B4-BE49-F238E27FC236}">
                <a16:creationId xmlns:a16="http://schemas.microsoft.com/office/drawing/2014/main" id="{8AFE2134-61D7-40B8-8467-4DE89C872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781300"/>
            <a:ext cx="49815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建立計畫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使用檔案與工具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修改、執行與檢查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回報成果與阻礙</a:t>
            </a:r>
          </a:p>
        </p:txBody>
      </p:sp>
      <p:sp>
        <p:nvSpPr>
          <p:cNvPr id="12" name="text-1430">
            <a:extLst xmlns:a="http://schemas.openxmlformats.org/drawingml/2006/main">
              <a:ext uri="{FF2B5EF4-FFF2-40B4-BE49-F238E27FC236}">
                <a16:creationId xmlns:a16="http://schemas.microsoft.com/office/drawing/2014/main" id="{F7AB11A1-2B95-4CE7-93AB-FE61BEAC6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e9f5ccac323348b9"/>
              </a:rPr>
              <a:t>開啟 Antigravity ↗</a:t>
            </a:r>
          </a:p>
        </p:txBody>
      </p:sp>
      <p:sp>
        <p:nvSpPr>
          <p:cNvPr id="13" name="shape-1465">
            <a:extLst xmlns:a="http://schemas.openxmlformats.org/drawingml/2006/main">
              <a:ext uri="{FF2B5EF4-FFF2-40B4-BE49-F238E27FC236}">
                <a16:creationId xmlns:a16="http://schemas.microsoft.com/office/drawing/2014/main" id="{C34B461F-33A9-4C60-A0ED-874CACF49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2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ef2241212ad482b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15" name="text-1466">
            <a:extLst xmlns:a="http://schemas.openxmlformats.org/drawingml/2006/main">
              <a:ext uri="{FF2B5EF4-FFF2-40B4-BE49-F238E27FC236}">
                <a16:creationId xmlns:a16="http://schemas.microsoft.com/office/drawing/2014/main" id="{BCBED3F8-ECE8-4B41-9D63-FCC69D4C5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</p:spTree>
    <p:extLst>
      <p:ext uri="{BB962C8B-B14F-4D97-AF65-F5344CB8AC3E}">
        <p14:creationId xmlns:p14="http://schemas.microsoft.com/office/powerpoint/2010/main" val="1327228354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text-843">
            <a:extLst xmlns:a="http://schemas.openxmlformats.org/drawingml/2006/main">
              <a:ext uri="{FF2B5EF4-FFF2-40B4-BE49-F238E27FC236}">
                <a16:creationId xmlns:a16="http://schemas.microsoft.com/office/drawing/2014/main" id="{BB47A8F8-70BE-4919-BB8E-588FE8C44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WORKSPACE ORIENTATION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A742AB80-076E-4A3D-8C8D-259D549BF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進入工作區，先看四個地方</a:t>
            </a:r>
          </a:p>
        </p:txBody>
      </p:sp>
      <p:cxnSp>
        <p:nvCxnSpPr>
          <p:cNvPr id="28" name="shape-844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845">
            <a:extLst xmlns:a="http://schemas.openxmlformats.org/drawingml/2006/main">
              <a:ext uri="{FF2B5EF4-FFF2-40B4-BE49-F238E27FC236}">
                <a16:creationId xmlns:a16="http://schemas.microsoft.com/office/drawing/2014/main" id="{8A93C929-E463-4241-9BCF-63ADCB5A8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0579AB7B-1604-4632-BE5D-52FF65DC2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12</a:t>
            </a:r>
          </a:p>
        </p:txBody>
      </p:sp>
      <p:sp>
        <p:nvSpPr>
          <p:cNvPr id="6" name="shape-846">
            <a:extLst xmlns:a="http://schemas.openxmlformats.org/drawingml/2006/main">
              <a:ext uri="{FF2B5EF4-FFF2-40B4-BE49-F238E27FC236}">
                <a16:creationId xmlns:a16="http://schemas.microsoft.com/office/drawing/2014/main" id="{0C7F589C-0676-4594-9B74-23E8E8BCB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7" name="text-847">
            <a:extLst xmlns:a="http://schemas.openxmlformats.org/drawingml/2006/main">
              <a:ext uri="{FF2B5EF4-FFF2-40B4-BE49-F238E27FC236}">
                <a16:creationId xmlns:a16="http://schemas.microsoft.com/office/drawing/2014/main" id="{6D67C475-A6C0-43A6-A966-6D6073E42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8" name="text-848">
            <a:extLst xmlns:a="http://schemas.openxmlformats.org/drawingml/2006/main">
              <a:ext uri="{FF2B5EF4-FFF2-40B4-BE49-F238E27FC236}">
                <a16:creationId xmlns:a16="http://schemas.microsoft.com/office/drawing/2014/main" id="{4647D8D3-1AD7-4E29-8FDF-3E68F7403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檔案</a:t>
            </a:r>
          </a:p>
        </p:txBody>
      </p:sp>
      <p:sp>
        <p:nvSpPr>
          <p:cNvPr id="9" name="text-849">
            <a:extLst xmlns:a="http://schemas.openxmlformats.org/drawingml/2006/main">
              <a:ext uri="{FF2B5EF4-FFF2-40B4-BE49-F238E27FC236}">
                <a16:creationId xmlns:a16="http://schemas.microsoft.com/office/drawing/2014/main" id="{40F04FFF-9682-41CE-B932-649CCA0BB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Agent 能看到哪些素材？是否把敏感檔案放錯位置？</a:t>
            </a:r>
          </a:p>
        </p:txBody>
      </p:sp>
      <p:sp>
        <p:nvSpPr>
          <p:cNvPr id="10" name="shape-850">
            <a:extLst xmlns:a="http://schemas.openxmlformats.org/drawingml/2006/main">
              <a:ext uri="{FF2B5EF4-FFF2-40B4-BE49-F238E27FC236}">
                <a16:creationId xmlns:a16="http://schemas.microsoft.com/office/drawing/2014/main" id="{E8B70ABB-1844-42CD-928F-772668D3C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1" name="text-851">
            <a:extLst xmlns:a="http://schemas.openxmlformats.org/drawingml/2006/main">
              <a:ext uri="{FF2B5EF4-FFF2-40B4-BE49-F238E27FC236}">
                <a16:creationId xmlns:a16="http://schemas.microsoft.com/office/drawing/2014/main" id="{329ABB1C-AD8B-4F37-BA1F-7B6DB7E9D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2" name="text-852">
            <a:extLst xmlns:a="http://schemas.openxmlformats.org/drawingml/2006/main">
              <a:ext uri="{FF2B5EF4-FFF2-40B4-BE49-F238E27FC236}">
                <a16:creationId xmlns:a16="http://schemas.microsoft.com/office/drawing/2014/main" id="{159768DC-A039-4598-BA8D-37FD18104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任務</a:t>
            </a:r>
          </a:p>
        </p:txBody>
      </p:sp>
      <p:sp>
        <p:nvSpPr>
          <p:cNvPr id="13" name="text-853">
            <a:extLst xmlns:a="http://schemas.openxmlformats.org/drawingml/2006/main">
              <a:ext uri="{FF2B5EF4-FFF2-40B4-BE49-F238E27FC236}">
                <a16:creationId xmlns:a16="http://schemas.microsoft.com/office/drawing/2014/main" id="{7AA44CE3-8506-4B5A-9A53-FCA11457C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目標是否單一、具體，且能在本工作區完成？</a:t>
            </a:r>
          </a:p>
        </p:txBody>
      </p:sp>
      <p:sp>
        <p:nvSpPr>
          <p:cNvPr id="14" name="shape-854">
            <a:extLst xmlns:a="http://schemas.openxmlformats.org/drawingml/2006/main">
              <a:ext uri="{FF2B5EF4-FFF2-40B4-BE49-F238E27FC236}">
                <a16:creationId xmlns:a16="http://schemas.microsoft.com/office/drawing/2014/main" id="{968EDBB0-4CE4-4ABF-9978-1B68982A7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5" name="text-855">
            <a:extLst xmlns:a="http://schemas.openxmlformats.org/drawingml/2006/main">
              <a:ext uri="{FF2B5EF4-FFF2-40B4-BE49-F238E27FC236}">
                <a16:creationId xmlns:a16="http://schemas.microsoft.com/office/drawing/2014/main" id="{7200FD56-99E8-44E4-8B1E-09EC4FE83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-856">
            <a:extLst xmlns:a="http://schemas.openxmlformats.org/drawingml/2006/main">
              <a:ext uri="{FF2B5EF4-FFF2-40B4-BE49-F238E27FC236}">
                <a16:creationId xmlns:a16="http://schemas.microsoft.com/office/drawing/2014/main" id="{F7D49E4C-9786-4C7E-A37B-03FAE1E8B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計畫</a:t>
            </a:r>
          </a:p>
        </p:txBody>
      </p:sp>
      <p:sp>
        <p:nvSpPr>
          <p:cNvPr id="17" name="text-857">
            <a:extLst xmlns:a="http://schemas.openxmlformats.org/drawingml/2006/main">
              <a:ext uri="{FF2B5EF4-FFF2-40B4-BE49-F238E27FC236}">
                <a16:creationId xmlns:a16="http://schemas.microsoft.com/office/drawing/2014/main" id="{491CD967-D803-4141-B001-A8FB5E351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步驟是否合理？哪一步需要授權或外部資訊？</a:t>
            </a:r>
          </a:p>
        </p:txBody>
      </p:sp>
      <p:sp>
        <p:nvSpPr>
          <p:cNvPr id="18" name="shape-858">
            <a:extLst xmlns:a="http://schemas.openxmlformats.org/drawingml/2006/main">
              <a:ext uri="{FF2B5EF4-FFF2-40B4-BE49-F238E27FC236}">
                <a16:creationId xmlns:a16="http://schemas.microsoft.com/office/drawing/2014/main" id="{76350093-0B8E-4294-8911-712620867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9" name="text-859">
            <a:extLst xmlns:a="http://schemas.openxmlformats.org/drawingml/2006/main">
              <a:ext uri="{FF2B5EF4-FFF2-40B4-BE49-F238E27FC236}">
                <a16:creationId xmlns:a16="http://schemas.microsoft.com/office/drawing/2014/main" id="{68AF3221-BD02-41D4-B1FD-7977667CE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20" name="text-860">
            <a:extLst xmlns:a="http://schemas.openxmlformats.org/drawingml/2006/main">
              <a:ext uri="{FF2B5EF4-FFF2-40B4-BE49-F238E27FC236}">
                <a16:creationId xmlns:a16="http://schemas.microsoft.com/office/drawing/2014/main" id="{302422A6-8007-49EC-A1CB-77FDFA18C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結果</a:t>
            </a:r>
          </a:p>
        </p:txBody>
      </p:sp>
      <p:sp>
        <p:nvSpPr>
          <p:cNvPr id="21" name="text-861">
            <a:extLst xmlns:a="http://schemas.openxmlformats.org/drawingml/2006/main">
              <a:ext uri="{FF2B5EF4-FFF2-40B4-BE49-F238E27FC236}">
                <a16:creationId xmlns:a16="http://schemas.microsoft.com/office/drawing/2014/main" id="{2BD9343B-9B3D-4517-BEBC-57C5EC657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有哪些變更、測試、畫面與仍未確認的項目？</a:t>
            </a:r>
          </a:p>
        </p:txBody>
      </p:sp>
      <p:sp>
        <p:nvSpPr>
          <p:cNvPr id="22" name="text-1431">
            <a:extLst xmlns:a="http://schemas.openxmlformats.org/drawingml/2006/main">
              <a:ext uri="{FF2B5EF4-FFF2-40B4-BE49-F238E27FC236}">
                <a16:creationId xmlns:a16="http://schemas.microsoft.com/office/drawing/2014/main" id="{832CBB8C-FEA2-4B22-83EA-0B5FDF534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4e9aa5ad43344781"/>
              </a:rPr>
              <a:t>開啟 Antigravity ↗</a:t>
            </a:r>
          </a:p>
        </p:txBody>
      </p:sp>
      <p:sp>
        <p:nvSpPr>
          <p:cNvPr id="23" name="shape-1467">
            <a:extLst xmlns:a="http://schemas.openxmlformats.org/drawingml/2006/main">
              <a:ext uri="{FF2B5EF4-FFF2-40B4-BE49-F238E27FC236}">
                <a16:creationId xmlns:a16="http://schemas.microsoft.com/office/drawing/2014/main" id="{79350E7A-CD82-4378-B1DF-4146ECB63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4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7a84bf770264b51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25" name="text-1468">
            <a:extLst xmlns:a="http://schemas.openxmlformats.org/drawingml/2006/main">
              <a:ext uri="{FF2B5EF4-FFF2-40B4-BE49-F238E27FC236}">
                <a16:creationId xmlns:a16="http://schemas.microsoft.com/office/drawing/2014/main" id="{2C248C2D-44A1-426D-AD7E-1F1653082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</p:spTree>
    <p:extLst>
      <p:ext uri="{BB962C8B-B14F-4D97-AF65-F5344CB8AC3E}">
        <p14:creationId xmlns:p14="http://schemas.microsoft.com/office/powerpoint/2010/main" val="1487032555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text-862">
            <a:extLst xmlns:a="http://schemas.openxmlformats.org/drawingml/2006/main">
              <a:ext uri="{FF2B5EF4-FFF2-40B4-BE49-F238E27FC236}">
                <a16:creationId xmlns:a16="http://schemas.microsoft.com/office/drawing/2014/main" id="{E830540A-A4E6-4D64-A73F-37DCE4BA1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TASK BRIEF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44E77DFD-A692-46BF-AC45-528D3E39A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第一個 Agent 任務：四句話就能清楚</a:t>
            </a:r>
          </a:p>
        </p:txBody>
      </p:sp>
      <p:cxnSp>
        <p:nvCxnSpPr>
          <p:cNvPr id="28" name="shape-863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864">
            <a:extLst xmlns:a="http://schemas.openxmlformats.org/drawingml/2006/main">
              <a:ext uri="{FF2B5EF4-FFF2-40B4-BE49-F238E27FC236}">
                <a16:creationId xmlns:a16="http://schemas.microsoft.com/office/drawing/2014/main" id="{94FD268B-2DDF-45EA-B529-26978BFBA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7EA83C75-5068-4649-B3B6-487870D0D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13</a:t>
            </a:r>
          </a:p>
        </p:txBody>
      </p:sp>
      <p:sp>
        <p:nvSpPr>
          <p:cNvPr id="6" name="shape-865">
            <a:extLst xmlns:a="http://schemas.openxmlformats.org/drawingml/2006/main">
              <a:ext uri="{FF2B5EF4-FFF2-40B4-BE49-F238E27FC236}">
                <a16:creationId xmlns:a16="http://schemas.microsoft.com/office/drawing/2014/main" id="{B1D15866-7F69-40B2-861C-78F2A0311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7" name="text-866">
            <a:extLst xmlns:a="http://schemas.openxmlformats.org/drawingml/2006/main">
              <a:ext uri="{FF2B5EF4-FFF2-40B4-BE49-F238E27FC236}">
                <a16:creationId xmlns:a16="http://schemas.microsoft.com/office/drawing/2014/main" id="{1DA2756E-1219-4F1C-8AA1-94E5B02B6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8" name="text-867">
            <a:extLst xmlns:a="http://schemas.openxmlformats.org/drawingml/2006/main">
              <a:ext uri="{FF2B5EF4-FFF2-40B4-BE49-F238E27FC236}">
                <a16:creationId xmlns:a16="http://schemas.microsoft.com/office/drawing/2014/main" id="{024167B0-AED8-4E5E-A663-D443119BF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目標</a:t>
            </a:r>
          </a:p>
        </p:txBody>
      </p:sp>
      <p:sp>
        <p:nvSpPr>
          <p:cNvPr id="9" name="text-868">
            <a:extLst xmlns:a="http://schemas.openxmlformats.org/drawingml/2006/main">
              <a:ext uri="{FF2B5EF4-FFF2-40B4-BE49-F238E27FC236}">
                <a16:creationId xmlns:a16="http://schemas.microsoft.com/office/drawing/2014/main" id="{91EA7C86-1145-4E2C-BCF9-5231888F4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把上午 Canvas 原型改善成可在手機使用的教學活動。</a:t>
            </a:r>
          </a:p>
        </p:txBody>
      </p:sp>
      <p:sp>
        <p:nvSpPr>
          <p:cNvPr id="10" name="shape-869">
            <a:extLst xmlns:a="http://schemas.openxmlformats.org/drawingml/2006/main">
              <a:ext uri="{FF2B5EF4-FFF2-40B4-BE49-F238E27FC236}">
                <a16:creationId xmlns:a16="http://schemas.microsoft.com/office/drawing/2014/main" id="{BECABF4A-C050-42D3-B197-FF06EC42C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1" name="text-870">
            <a:extLst xmlns:a="http://schemas.openxmlformats.org/drawingml/2006/main">
              <a:ext uri="{FF2B5EF4-FFF2-40B4-BE49-F238E27FC236}">
                <a16:creationId xmlns:a16="http://schemas.microsoft.com/office/drawing/2014/main" id="{00852E1D-EE7D-4E68-8CBF-6238B9600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2" name="text-871">
            <a:extLst xmlns:a="http://schemas.openxmlformats.org/drawingml/2006/main">
              <a:ext uri="{FF2B5EF4-FFF2-40B4-BE49-F238E27FC236}">
                <a16:creationId xmlns:a16="http://schemas.microsoft.com/office/drawing/2014/main" id="{1239D651-54B3-491E-9273-8CF2028D4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素材</a:t>
            </a:r>
          </a:p>
        </p:txBody>
      </p:sp>
      <p:sp>
        <p:nvSpPr>
          <p:cNvPr id="13" name="text-872">
            <a:extLst xmlns:a="http://schemas.openxmlformats.org/drawingml/2006/main">
              <a:ext uri="{FF2B5EF4-FFF2-40B4-BE49-F238E27FC236}">
                <a16:creationId xmlns:a16="http://schemas.microsoft.com/office/drawing/2014/main" id="{05CB086F-95C2-4580-8F5A-02893C957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使用指定資料夾、截圖、課程文字與現有程式碼。</a:t>
            </a:r>
          </a:p>
        </p:txBody>
      </p:sp>
      <p:sp>
        <p:nvSpPr>
          <p:cNvPr id="14" name="shape-873">
            <a:extLst xmlns:a="http://schemas.openxmlformats.org/drawingml/2006/main">
              <a:ext uri="{FF2B5EF4-FFF2-40B4-BE49-F238E27FC236}">
                <a16:creationId xmlns:a16="http://schemas.microsoft.com/office/drawing/2014/main" id="{D3764C34-2C67-43ED-9E0D-09F09995D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5" name="text-874">
            <a:extLst xmlns:a="http://schemas.openxmlformats.org/drawingml/2006/main">
              <a:ext uri="{FF2B5EF4-FFF2-40B4-BE49-F238E27FC236}">
                <a16:creationId xmlns:a16="http://schemas.microsoft.com/office/drawing/2014/main" id="{D59600AD-463C-4E10-845A-DA7A1447D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-875">
            <a:extLst xmlns:a="http://schemas.openxmlformats.org/drawingml/2006/main">
              <a:ext uri="{FF2B5EF4-FFF2-40B4-BE49-F238E27FC236}">
                <a16:creationId xmlns:a16="http://schemas.microsoft.com/office/drawing/2014/main" id="{99AAED04-A3C9-4D2B-9392-3B6C302FD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限制</a:t>
            </a:r>
          </a:p>
        </p:txBody>
      </p:sp>
      <p:sp>
        <p:nvSpPr>
          <p:cNvPr id="17" name="text-876">
            <a:extLst xmlns:a="http://schemas.openxmlformats.org/drawingml/2006/main">
              <a:ext uri="{FF2B5EF4-FFF2-40B4-BE49-F238E27FC236}">
                <a16:creationId xmlns:a16="http://schemas.microsoft.com/office/drawing/2014/main" id="{118C334F-90B0-4B03-ACC8-E34A270A8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不改核心內容、不放個資、不新增付費服務、不直接公開。</a:t>
            </a:r>
          </a:p>
        </p:txBody>
      </p:sp>
      <p:sp>
        <p:nvSpPr>
          <p:cNvPr id="18" name="shape-877">
            <a:extLst xmlns:a="http://schemas.openxmlformats.org/drawingml/2006/main">
              <a:ext uri="{FF2B5EF4-FFF2-40B4-BE49-F238E27FC236}">
                <a16:creationId xmlns:a16="http://schemas.microsoft.com/office/drawing/2014/main" id="{88870995-0C7E-4F8A-A051-5608419B5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9" name="text-878">
            <a:extLst xmlns:a="http://schemas.openxmlformats.org/drawingml/2006/main">
              <a:ext uri="{FF2B5EF4-FFF2-40B4-BE49-F238E27FC236}">
                <a16:creationId xmlns:a16="http://schemas.microsoft.com/office/drawing/2014/main" id="{2FA057D8-2CD5-4547-B19F-D316B6A92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20" name="text-879">
            <a:extLst xmlns:a="http://schemas.openxmlformats.org/drawingml/2006/main">
              <a:ext uri="{FF2B5EF4-FFF2-40B4-BE49-F238E27FC236}">
                <a16:creationId xmlns:a16="http://schemas.microsoft.com/office/drawing/2014/main" id="{4650D8B4-3F3E-4945-AEE6-89840DCB0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驗收</a:t>
            </a:r>
          </a:p>
        </p:txBody>
      </p:sp>
      <p:sp>
        <p:nvSpPr>
          <p:cNvPr id="21" name="text-880">
            <a:extLst xmlns:a="http://schemas.openxmlformats.org/drawingml/2006/main">
              <a:ext uri="{FF2B5EF4-FFF2-40B4-BE49-F238E27FC236}">
                <a16:creationId xmlns:a16="http://schemas.microsoft.com/office/drawing/2014/main" id="{4D73D4CD-E02F-46DA-AD64-D67D83A72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完成桌機與手機測試，提供修改摘要與畫面證據。</a:t>
            </a:r>
          </a:p>
        </p:txBody>
      </p:sp>
      <p:sp>
        <p:nvSpPr>
          <p:cNvPr id="22" name="text-1432">
            <a:extLst xmlns:a="http://schemas.openxmlformats.org/drawingml/2006/main">
              <a:ext uri="{FF2B5EF4-FFF2-40B4-BE49-F238E27FC236}">
                <a16:creationId xmlns:a16="http://schemas.microsoft.com/office/drawing/2014/main" id="{F0B43AC7-DEC2-400A-8AA9-B55208CA2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aa363e825b3840a6"/>
              </a:rPr>
              <a:t>開啟 Antigravity ↗</a:t>
            </a:r>
          </a:p>
        </p:txBody>
      </p:sp>
      <p:sp>
        <p:nvSpPr>
          <p:cNvPr id="23" name="shape-1469">
            <a:extLst xmlns:a="http://schemas.openxmlformats.org/drawingml/2006/main">
              <a:ext uri="{FF2B5EF4-FFF2-40B4-BE49-F238E27FC236}">
                <a16:creationId xmlns:a16="http://schemas.microsoft.com/office/drawing/2014/main" id="{2BCB87AE-EC01-4FA8-BF8E-CABF443C5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4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1e883b2d0304bb6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25" name="text-1470">
            <a:extLst xmlns:a="http://schemas.openxmlformats.org/drawingml/2006/main">
              <a:ext uri="{FF2B5EF4-FFF2-40B4-BE49-F238E27FC236}">
                <a16:creationId xmlns:a16="http://schemas.microsoft.com/office/drawing/2014/main" id="{387A0990-7760-4478-885D-D2E76061E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</p:spTree>
    <p:extLst>
      <p:ext uri="{BB962C8B-B14F-4D97-AF65-F5344CB8AC3E}">
        <p14:creationId xmlns:p14="http://schemas.microsoft.com/office/powerpoint/2010/main" val="383866626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text-881">
            <a:extLst xmlns:a="http://schemas.openxmlformats.org/drawingml/2006/main">
              <a:ext uri="{FF2B5EF4-FFF2-40B4-BE49-F238E27FC236}">
                <a16:creationId xmlns:a16="http://schemas.microsoft.com/office/drawing/2014/main" id="{635860BF-E841-4B15-B40D-E6F070BCC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LIVE DEMO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BAFCFA8A-41CD-44FB-A770-7AECE03FB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示範：請 Agent 改作品，但保留控制權</a:t>
            </a:r>
          </a:p>
        </p:txBody>
      </p:sp>
      <p:cxnSp>
        <p:nvCxnSpPr>
          <p:cNvPr id="32" name="shape-882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883">
            <a:extLst xmlns:a="http://schemas.openxmlformats.org/drawingml/2006/main">
              <a:ext uri="{FF2B5EF4-FFF2-40B4-BE49-F238E27FC236}">
                <a16:creationId xmlns:a16="http://schemas.microsoft.com/office/drawing/2014/main" id="{428913EA-CB35-44C4-BEB0-22DFC17DB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FB64C451-BF7D-4486-B4B5-71A8BEC75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14</a:t>
            </a:r>
          </a:p>
        </p:txBody>
      </p:sp>
      <p:sp>
        <p:nvSpPr>
          <p:cNvPr id="6" name="text-884">
            <a:extLst xmlns:a="http://schemas.openxmlformats.org/drawingml/2006/main">
              <a:ext uri="{FF2B5EF4-FFF2-40B4-BE49-F238E27FC236}">
                <a16:creationId xmlns:a16="http://schemas.microsoft.com/office/drawing/2014/main" id="{6043BEA0-4CE8-41C7-BB1D-AE4881EDB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8478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7" name="text-885">
            <a:extLst xmlns:a="http://schemas.openxmlformats.org/drawingml/2006/main">
              <a:ext uri="{FF2B5EF4-FFF2-40B4-BE49-F238E27FC236}">
                <a16:creationId xmlns:a16="http://schemas.microsoft.com/office/drawing/2014/main" id="{CEAA97FE-DC49-48C5-9DBB-352756D99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098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先檢查</a:t>
            </a:r>
          </a:p>
        </p:txBody>
      </p:sp>
      <p:sp>
        <p:nvSpPr>
          <p:cNvPr id="8" name="text-886">
            <a:extLst xmlns:a="http://schemas.openxmlformats.org/drawingml/2006/main">
              <a:ext uri="{FF2B5EF4-FFF2-40B4-BE49-F238E27FC236}">
                <a16:creationId xmlns:a16="http://schemas.microsoft.com/office/drawing/2014/main" id="{0811ADE1-F940-4173-9C6D-6926AC6DC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76600"/>
            <a:ext cx="20955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說明結構與問題</a:t>
            </a:r>
          </a:p>
        </p:txBody>
      </p:sp>
      <p:sp>
        <p:nvSpPr>
          <p:cNvPr id="9" name="text-887">
            <a:extLst xmlns:a="http://schemas.openxmlformats.org/drawingml/2006/main">
              <a:ext uri="{FF2B5EF4-FFF2-40B4-BE49-F238E27FC236}">
                <a16:creationId xmlns:a16="http://schemas.microsoft.com/office/drawing/2014/main" id="{49A9F7BD-D3D4-496A-844B-12EE960D9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1885950"/>
            <a:ext cx="228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602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00" b="1">
                <a:solidFill>
                  <a:srgbClr val="2A4761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1">
                <a:solidFill>
                  <a:srgbClr val="2A4761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0" name="text-888">
            <a:extLst xmlns:a="http://schemas.openxmlformats.org/drawingml/2006/main">
              <a:ext uri="{FF2B5EF4-FFF2-40B4-BE49-F238E27FC236}">
                <a16:creationId xmlns:a16="http://schemas.microsoft.com/office/drawing/2014/main" id="{109E55D1-0127-411F-B2D2-50AC8D0B2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18478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1" name="text-889">
            <a:extLst xmlns:a="http://schemas.openxmlformats.org/drawingml/2006/main">
              <a:ext uri="{FF2B5EF4-FFF2-40B4-BE49-F238E27FC236}">
                <a16:creationId xmlns:a16="http://schemas.microsoft.com/office/drawing/2014/main" id="{A7F2290D-EBA6-4A3B-9C8F-3677DF1FF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26098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提計畫</a:t>
            </a:r>
          </a:p>
        </p:txBody>
      </p:sp>
      <p:sp>
        <p:nvSpPr>
          <p:cNvPr id="12" name="text-890">
            <a:extLst xmlns:a="http://schemas.openxmlformats.org/drawingml/2006/main">
              <a:ext uri="{FF2B5EF4-FFF2-40B4-BE49-F238E27FC236}">
                <a16:creationId xmlns:a16="http://schemas.microsoft.com/office/drawing/2014/main" id="{06645E3A-9315-4D4E-A156-BBCA2E867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3276600"/>
            <a:ext cx="20955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列修改與不修改</a:t>
            </a:r>
          </a:p>
        </p:txBody>
      </p:sp>
      <p:sp>
        <p:nvSpPr>
          <p:cNvPr id="13" name="text-891">
            <a:extLst xmlns:a="http://schemas.openxmlformats.org/drawingml/2006/main">
              <a:ext uri="{FF2B5EF4-FFF2-40B4-BE49-F238E27FC236}">
                <a16:creationId xmlns:a16="http://schemas.microsoft.com/office/drawing/2014/main" id="{88FBB618-56BC-46C6-8A9E-C5E38EB30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1885950"/>
            <a:ext cx="228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602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00" b="1">
                <a:solidFill>
                  <a:srgbClr val="2A4761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1">
                <a:solidFill>
                  <a:srgbClr val="2A4761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4" name="text-892">
            <a:extLst xmlns:a="http://schemas.openxmlformats.org/drawingml/2006/main">
              <a:ext uri="{FF2B5EF4-FFF2-40B4-BE49-F238E27FC236}">
                <a16:creationId xmlns:a16="http://schemas.microsoft.com/office/drawing/2014/main" id="{D73AB372-6C61-4D71-9E6B-8483AB64A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18478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15" name="text-893">
            <a:extLst xmlns:a="http://schemas.openxmlformats.org/drawingml/2006/main">
              <a:ext uri="{FF2B5EF4-FFF2-40B4-BE49-F238E27FC236}">
                <a16:creationId xmlns:a16="http://schemas.microsoft.com/office/drawing/2014/main" id="{9E7EE81E-6A7C-40F0-B5AF-B32B658C9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6098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實作</a:t>
            </a:r>
          </a:p>
        </p:txBody>
      </p:sp>
      <p:sp>
        <p:nvSpPr>
          <p:cNvPr id="16" name="text-894">
            <a:extLst xmlns:a="http://schemas.openxmlformats.org/drawingml/2006/main">
              <a:ext uri="{FF2B5EF4-FFF2-40B4-BE49-F238E27FC236}">
                <a16:creationId xmlns:a16="http://schemas.microsoft.com/office/drawing/2014/main" id="{1383CDD0-3E86-4AB7-9B9F-C3FA03AB1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3276600"/>
            <a:ext cx="20955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只改同意範圍</a:t>
            </a:r>
          </a:p>
        </p:txBody>
      </p:sp>
      <p:sp>
        <p:nvSpPr>
          <p:cNvPr id="17" name="text-895">
            <a:extLst xmlns:a="http://schemas.openxmlformats.org/drawingml/2006/main">
              <a:ext uri="{FF2B5EF4-FFF2-40B4-BE49-F238E27FC236}">
                <a16:creationId xmlns:a16="http://schemas.microsoft.com/office/drawing/2014/main" id="{1EFFA009-2323-4F7C-B141-7B3BC15ED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1885950"/>
            <a:ext cx="228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602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00" b="1">
                <a:solidFill>
                  <a:srgbClr val="2A4761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1">
                <a:solidFill>
                  <a:srgbClr val="2A4761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8" name="text-896">
            <a:extLst xmlns:a="http://schemas.openxmlformats.org/drawingml/2006/main">
              <a:ext uri="{FF2B5EF4-FFF2-40B4-BE49-F238E27FC236}">
                <a16:creationId xmlns:a16="http://schemas.microsoft.com/office/drawing/2014/main" id="{921BE907-9E35-459C-BFA4-5A0BF4E8C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18478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19" name="text-897">
            <a:extLst xmlns:a="http://schemas.openxmlformats.org/drawingml/2006/main">
              <a:ext uri="{FF2B5EF4-FFF2-40B4-BE49-F238E27FC236}">
                <a16:creationId xmlns:a16="http://schemas.microsoft.com/office/drawing/2014/main" id="{EE277749-9AA2-4A4A-848A-4AFB8A881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26098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測試</a:t>
            </a:r>
          </a:p>
        </p:txBody>
      </p:sp>
      <p:sp>
        <p:nvSpPr>
          <p:cNvPr id="20" name="text-898">
            <a:extLst xmlns:a="http://schemas.openxmlformats.org/drawingml/2006/main">
              <a:ext uri="{FF2B5EF4-FFF2-40B4-BE49-F238E27FC236}">
                <a16:creationId xmlns:a16="http://schemas.microsoft.com/office/drawing/2014/main" id="{9C6E7580-7077-409F-AE00-D79A817C6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3276600"/>
            <a:ext cx="20955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桌機與手機流程</a:t>
            </a:r>
          </a:p>
        </p:txBody>
      </p:sp>
      <p:sp>
        <p:nvSpPr>
          <p:cNvPr id="21" name="text-899">
            <a:extLst xmlns:a="http://schemas.openxmlformats.org/drawingml/2006/main">
              <a:ext uri="{FF2B5EF4-FFF2-40B4-BE49-F238E27FC236}">
                <a16:creationId xmlns:a16="http://schemas.microsoft.com/office/drawing/2014/main" id="{8C0B0DBC-D57C-4F2C-A869-5C80F6868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1885950"/>
            <a:ext cx="228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602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00" b="1">
                <a:solidFill>
                  <a:srgbClr val="2A4761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1">
                <a:solidFill>
                  <a:srgbClr val="2A4761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22" name="text-900">
            <a:extLst xmlns:a="http://schemas.openxmlformats.org/drawingml/2006/main">
              <a:ext uri="{FF2B5EF4-FFF2-40B4-BE49-F238E27FC236}">
                <a16:creationId xmlns:a16="http://schemas.microsoft.com/office/drawing/2014/main" id="{219CE5B0-AD31-4C9E-8054-AF95E119C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18478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5</a:t>
            </a:r>
          </a:p>
        </p:txBody>
      </p:sp>
      <p:sp>
        <p:nvSpPr>
          <p:cNvPr id="23" name="text-901">
            <a:extLst xmlns:a="http://schemas.openxmlformats.org/drawingml/2006/main">
              <a:ext uri="{FF2B5EF4-FFF2-40B4-BE49-F238E27FC236}">
                <a16:creationId xmlns:a16="http://schemas.microsoft.com/office/drawing/2014/main" id="{3B97FECF-6424-4B27-87FD-CCB7B2FA7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26098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交付</a:t>
            </a:r>
          </a:p>
        </p:txBody>
      </p:sp>
      <p:sp>
        <p:nvSpPr>
          <p:cNvPr id="24" name="text-902">
            <a:extLst xmlns:a="http://schemas.openxmlformats.org/drawingml/2006/main">
              <a:ext uri="{FF2B5EF4-FFF2-40B4-BE49-F238E27FC236}">
                <a16:creationId xmlns:a16="http://schemas.microsoft.com/office/drawing/2014/main" id="{B879BC87-2CC1-4ACF-9C32-C9446CC4B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3276600"/>
            <a:ext cx="20955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差異、證據、限制</a:t>
            </a:r>
          </a:p>
        </p:txBody>
      </p:sp>
      <p:sp>
        <p:nvSpPr>
          <p:cNvPr id="25" name="text-903">
            <a:extLst xmlns:a="http://schemas.openxmlformats.org/drawingml/2006/main">
              <a:ext uri="{FF2B5EF4-FFF2-40B4-BE49-F238E27FC236}">
                <a16:creationId xmlns:a16="http://schemas.microsoft.com/office/drawing/2014/main" id="{46971D10-D302-467E-8945-459EF2996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5314950"/>
            <a:ext cx="563880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152400" tIns="57150" rIns="1524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每一步都留下可檢查的成果</a:t>
            </a:r>
          </a:p>
        </p:txBody>
      </p:sp>
      <p:sp>
        <p:nvSpPr>
          <p:cNvPr id="26" name="text-1433">
            <a:extLst xmlns:a="http://schemas.openxmlformats.org/drawingml/2006/main">
              <a:ext uri="{FF2B5EF4-FFF2-40B4-BE49-F238E27FC236}">
                <a16:creationId xmlns:a16="http://schemas.microsoft.com/office/drawing/2014/main" id="{3A4D2671-8767-4780-A9A6-163B845E3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d329d963853945cc"/>
              </a:rPr>
              <a:t>開啟 Antigravity ↗</a:t>
            </a:r>
          </a:p>
        </p:txBody>
      </p:sp>
      <p:sp>
        <p:nvSpPr>
          <p:cNvPr id="27" name="shape-1471">
            <a:extLst xmlns:a="http://schemas.openxmlformats.org/drawingml/2006/main">
              <a:ext uri="{FF2B5EF4-FFF2-40B4-BE49-F238E27FC236}">
                <a16:creationId xmlns:a16="http://schemas.microsoft.com/office/drawing/2014/main" id="{FE35DCDF-322C-48B0-A450-D90D8C356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5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ca087be18d7434e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29" name="text-1472">
            <a:extLst xmlns:a="http://schemas.openxmlformats.org/drawingml/2006/main">
              <a:ext uri="{FF2B5EF4-FFF2-40B4-BE49-F238E27FC236}">
                <a16:creationId xmlns:a16="http://schemas.microsoft.com/office/drawing/2014/main" id="{893D1C2E-368F-4A81-8E29-DE4375872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</p:spTree>
    <p:extLst>
      <p:ext uri="{BB962C8B-B14F-4D97-AF65-F5344CB8AC3E}">
        <p14:creationId xmlns:p14="http://schemas.microsoft.com/office/powerpoint/2010/main" val="1946266995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text-904">
            <a:extLst xmlns:a="http://schemas.openxmlformats.org/drawingml/2006/main">
              <a:ext uri="{FF2B5EF4-FFF2-40B4-BE49-F238E27FC236}">
                <a16:creationId xmlns:a16="http://schemas.microsoft.com/office/drawing/2014/main" id="{8516D3DF-1332-4AAA-9329-F88B1B28A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EVIDENCE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21967A5E-3253-43A3-B075-1A69C5A7D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Agent 的完成證據：四樣少一樣就要追問</a:t>
            </a:r>
          </a:p>
        </p:txBody>
      </p:sp>
      <p:cxnSp>
        <p:nvCxnSpPr>
          <p:cNvPr id="28" name="shape-905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906">
            <a:extLst xmlns:a="http://schemas.openxmlformats.org/drawingml/2006/main">
              <a:ext uri="{FF2B5EF4-FFF2-40B4-BE49-F238E27FC236}">
                <a16:creationId xmlns:a16="http://schemas.microsoft.com/office/drawing/2014/main" id="{BBAFF721-AF72-4E50-842A-55965BE80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C278D8B4-26E7-44A5-B351-A0B8BA912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15</a:t>
            </a:r>
          </a:p>
        </p:txBody>
      </p:sp>
      <p:sp>
        <p:nvSpPr>
          <p:cNvPr id="6" name="shape-907">
            <a:extLst xmlns:a="http://schemas.openxmlformats.org/drawingml/2006/main">
              <a:ext uri="{FF2B5EF4-FFF2-40B4-BE49-F238E27FC236}">
                <a16:creationId xmlns:a16="http://schemas.microsoft.com/office/drawing/2014/main" id="{F31ED816-A0B0-48C2-B0D8-C7DD2A37D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7" name="text-908">
            <a:extLst xmlns:a="http://schemas.openxmlformats.org/drawingml/2006/main">
              <a:ext uri="{FF2B5EF4-FFF2-40B4-BE49-F238E27FC236}">
                <a16:creationId xmlns:a16="http://schemas.microsoft.com/office/drawing/2014/main" id="{110B9728-7975-4067-887C-7D6F3ECA3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8" name="text-909">
            <a:extLst xmlns:a="http://schemas.openxmlformats.org/drawingml/2006/main">
              <a:ext uri="{FF2B5EF4-FFF2-40B4-BE49-F238E27FC236}">
                <a16:creationId xmlns:a16="http://schemas.microsoft.com/office/drawing/2014/main" id="{251A8910-A618-4EBE-9D66-14707D2E6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變更摘要</a:t>
            </a:r>
          </a:p>
        </p:txBody>
      </p:sp>
      <p:sp>
        <p:nvSpPr>
          <p:cNvPr id="9" name="text-910">
            <a:extLst xmlns:a="http://schemas.openxmlformats.org/drawingml/2006/main">
              <a:ext uri="{FF2B5EF4-FFF2-40B4-BE49-F238E27FC236}">
                <a16:creationId xmlns:a16="http://schemas.microsoft.com/office/drawing/2014/main" id="{C3A17A3A-655A-41C2-AA27-FEF1DC8F9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改了哪些檔案、為什麼改、沒有改什麼。</a:t>
            </a:r>
          </a:p>
        </p:txBody>
      </p:sp>
      <p:sp>
        <p:nvSpPr>
          <p:cNvPr id="10" name="shape-911">
            <a:extLst xmlns:a="http://schemas.openxmlformats.org/drawingml/2006/main">
              <a:ext uri="{FF2B5EF4-FFF2-40B4-BE49-F238E27FC236}">
                <a16:creationId xmlns:a16="http://schemas.microsoft.com/office/drawing/2014/main" id="{2C2C0698-9F83-4A98-9CC5-937DF478B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1" name="text-912">
            <a:extLst xmlns:a="http://schemas.openxmlformats.org/drawingml/2006/main">
              <a:ext uri="{FF2B5EF4-FFF2-40B4-BE49-F238E27FC236}">
                <a16:creationId xmlns:a16="http://schemas.microsoft.com/office/drawing/2014/main" id="{DB79E50B-52E7-4061-91F7-CC7BCFC9C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2" name="text-913">
            <a:extLst xmlns:a="http://schemas.openxmlformats.org/drawingml/2006/main">
              <a:ext uri="{FF2B5EF4-FFF2-40B4-BE49-F238E27FC236}">
                <a16:creationId xmlns:a16="http://schemas.microsoft.com/office/drawing/2014/main" id="{1D8F9F71-25D8-42A4-AF47-D6E685D22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測試結果</a:t>
            </a:r>
          </a:p>
        </p:txBody>
      </p:sp>
      <p:sp>
        <p:nvSpPr>
          <p:cNvPr id="13" name="text-914">
            <a:extLst xmlns:a="http://schemas.openxmlformats.org/drawingml/2006/main">
              <a:ext uri="{FF2B5EF4-FFF2-40B4-BE49-F238E27FC236}">
                <a16:creationId xmlns:a16="http://schemas.microsoft.com/office/drawing/2014/main" id="{D4F22805-AF10-428F-83EA-A2FDFFA87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實際執行哪些檢查，結果是通過、失敗或未執行。</a:t>
            </a:r>
          </a:p>
        </p:txBody>
      </p:sp>
      <p:sp>
        <p:nvSpPr>
          <p:cNvPr id="14" name="shape-915">
            <a:extLst xmlns:a="http://schemas.openxmlformats.org/drawingml/2006/main">
              <a:ext uri="{FF2B5EF4-FFF2-40B4-BE49-F238E27FC236}">
                <a16:creationId xmlns:a16="http://schemas.microsoft.com/office/drawing/2014/main" id="{709C448A-AC57-43D3-8B50-F03FD6B60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5" name="text-916">
            <a:extLst xmlns:a="http://schemas.openxmlformats.org/drawingml/2006/main">
              <a:ext uri="{FF2B5EF4-FFF2-40B4-BE49-F238E27FC236}">
                <a16:creationId xmlns:a16="http://schemas.microsoft.com/office/drawing/2014/main" id="{42E8784F-991F-4139-8886-5C2660C37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-917">
            <a:extLst xmlns:a="http://schemas.openxmlformats.org/drawingml/2006/main">
              <a:ext uri="{FF2B5EF4-FFF2-40B4-BE49-F238E27FC236}">
                <a16:creationId xmlns:a16="http://schemas.microsoft.com/office/drawing/2014/main" id="{8F73E667-4360-4834-8036-1F4356ED8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畫面證據</a:t>
            </a:r>
          </a:p>
        </p:txBody>
      </p:sp>
      <p:sp>
        <p:nvSpPr>
          <p:cNvPr id="17" name="text-918">
            <a:extLst xmlns:a="http://schemas.openxmlformats.org/drawingml/2006/main">
              <a:ext uri="{FF2B5EF4-FFF2-40B4-BE49-F238E27FC236}">
                <a16:creationId xmlns:a16="http://schemas.microsoft.com/office/drawing/2014/main" id="{579BCE2D-D5A7-4576-B617-3928AE685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用實際截圖或預覽驗證，不只描述應該長什麼樣。</a:t>
            </a:r>
          </a:p>
        </p:txBody>
      </p:sp>
      <p:sp>
        <p:nvSpPr>
          <p:cNvPr id="18" name="shape-919">
            <a:extLst xmlns:a="http://schemas.openxmlformats.org/drawingml/2006/main">
              <a:ext uri="{FF2B5EF4-FFF2-40B4-BE49-F238E27FC236}">
                <a16:creationId xmlns:a16="http://schemas.microsoft.com/office/drawing/2014/main" id="{BB6FB74A-8BFB-496F-BD6E-2FDA2D040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9" name="text-920">
            <a:extLst xmlns:a="http://schemas.openxmlformats.org/drawingml/2006/main">
              <a:ext uri="{FF2B5EF4-FFF2-40B4-BE49-F238E27FC236}">
                <a16:creationId xmlns:a16="http://schemas.microsoft.com/office/drawing/2014/main" id="{79DD8D31-0265-4026-B746-6917240DC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20" name="text-921">
            <a:extLst xmlns:a="http://schemas.openxmlformats.org/drawingml/2006/main">
              <a:ext uri="{FF2B5EF4-FFF2-40B4-BE49-F238E27FC236}">
                <a16:creationId xmlns:a16="http://schemas.microsoft.com/office/drawing/2014/main" id="{95499F88-67AE-4369-B53D-6A7A01BA9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已知限制</a:t>
            </a:r>
          </a:p>
        </p:txBody>
      </p:sp>
      <p:sp>
        <p:nvSpPr>
          <p:cNvPr id="21" name="text-922">
            <a:extLst xmlns:a="http://schemas.openxmlformats.org/drawingml/2006/main">
              <a:ext uri="{FF2B5EF4-FFF2-40B4-BE49-F238E27FC236}">
                <a16:creationId xmlns:a16="http://schemas.microsoft.com/office/drawing/2014/main" id="{2571EBD1-4655-41C8-8755-A80A1F458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哪些仍未確認、需要帳號、需要人工判斷或下一輪處理。</a:t>
            </a:r>
          </a:p>
        </p:txBody>
      </p:sp>
      <p:sp>
        <p:nvSpPr>
          <p:cNvPr id="22" name="text-1434">
            <a:extLst xmlns:a="http://schemas.openxmlformats.org/drawingml/2006/main">
              <a:ext uri="{FF2B5EF4-FFF2-40B4-BE49-F238E27FC236}">
                <a16:creationId xmlns:a16="http://schemas.microsoft.com/office/drawing/2014/main" id="{935E8FFA-30E6-4811-B30C-051364753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046b20bea0e44593"/>
              </a:rPr>
              <a:t>開啟 Antigravity ↗</a:t>
            </a:r>
          </a:p>
        </p:txBody>
      </p:sp>
      <p:sp>
        <p:nvSpPr>
          <p:cNvPr id="23" name="shape-1473">
            <a:extLst xmlns:a="http://schemas.openxmlformats.org/drawingml/2006/main">
              <a:ext uri="{FF2B5EF4-FFF2-40B4-BE49-F238E27FC236}">
                <a16:creationId xmlns:a16="http://schemas.microsoft.com/office/drawing/2014/main" id="{ACA46C28-7E6B-4409-BF2C-F5022EB93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4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6cab770b220489b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25" name="text-1474">
            <a:extLst xmlns:a="http://schemas.openxmlformats.org/drawingml/2006/main">
              <a:ext uri="{FF2B5EF4-FFF2-40B4-BE49-F238E27FC236}">
                <a16:creationId xmlns:a16="http://schemas.microsoft.com/office/drawing/2014/main" id="{F666B26C-6674-46BB-8480-DF13CE664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</p:spTree>
    <p:extLst>
      <p:ext uri="{BB962C8B-B14F-4D97-AF65-F5344CB8AC3E}">
        <p14:creationId xmlns:p14="http://schemas.microsoft.com/office/powerpoint/2010/main" val="2127150135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923">
            <a:extLst xmlns:a="http://schemas.openxmlformats.org/drawingml/2006/main">
              <a:ext uri="{FF2B5EF4-FFF2-40B4-BE49-F238E27FC236}">
                <a16:creationId xmlns:a16="http://schemas.microsoft.com/office/drawing/2014/main" id="{7AF570BE-C725-4D8E-A010-801439E30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HANDS-ON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726E4216-1C00-477F-AAE3-024D5A9D9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實作 A｜Antigravity 完成一個小而完整的任務</a:t>
            </a:r>
          </a:p>
        </p:txBody>
      </p:sp>
      <p:cxnSp>
        <p:nvCxnSpPr>
          <p:cNvPr id="25" name="shape-924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925">
            <a:extLst xmlns:a="http://schemas.openxmlformats.org/drawingml/2006/main">
              <a:ext uri="{FF2B5EF4-FFF2-40B4-BE49-F238E27FC236}">
                <a16:creationId xmlns:a16="http://schemas.microsoft.com/office/drawing/2014/main" id="{26CFDB14-F1C1-40EC-BB34-AB8559788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015765FC-53A0-4CC9-92E4-852C7CBA7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16</a:t>
            </a:r>
          </a:p>
        </p:txBody>
      </p:sp>
      <p:sp>
        <p:nvSpPr>
          <p:cNvPr id="6" name="text-926">
            <a:extLst xmlns:a="http://schemas.openxmlformats.org/drawingml/2006/main">
              <a:ext uri="{FF2B5EF4-FFF2-40B4-BE49-F238E27FC236}">
                <a16:creationId xmlns:a16="http://schemas.microsoft.com/office/drawing/2014/main" id="{CF086608-2D18-4296-AF77-7B0265764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09750"/>
            <a:ext cx="2000250" cy="20002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18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分鐘</a:t>
            </a:r>
          </a:p>
        </p:txBody>
      </p:sp>
      <p:sp>
        <p:nvSpPr>
          <p:cNvPr id="7" name="text-927">
            <a:extLst xmlns:a="http://schemas.openxmlformats.org/drawingml/2006/main">
              <a:ext uri="{FF2B5EF4-FFF2-40B4-BE49-F238E27FC236}">
                <a16:creationId xmlns:a16="http://schemas.microsoft.com/office/drawing/2014/main" id="{57720B19-C62B-4BDA-BB07-7A6F66333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1733550"/>
            <a:ext cx="3143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操作步驟</a:t>
            </a:r>
          </a:p>
        </p:txBody>
      </p:sp>
      <p:sp>
        <p:nvSpPr>
          <p:cNvPr id="8" name="text-928">
            <a:extLst xmlns:a="http://schemas.openxmlformats.org/drawingml/2006/main">
              <a:ext uri="{FF2B5EF4-FFF2-40B4-BE49-F238E27FC236}">
                <a16:creationId xmlns:a16="http://schemas.microsoft.com/office/drawing/2014/main" id="{CD896857-6F6E-4AA9-AC7B-46503FB66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24003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929">
            <a:extLst xmlns:a="http://schemas.openxmlformats.org/drawingml/2006/main">
              <a:ext uri="{FF2B5EF4-FFF2-40B4-BE49-F238E27FC236}">
                <a16:creationId xmlns:a16="http://schemas.microsoft.com/office/drawing/2014/main" id="{EDB80BE3-448B-4B41-B7B4-E96F5538F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24003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交付四句任務簡報</a:t>
            </a:r>
          </a:p>
        </p:txBody>
      </p:sp>
      <p:sp>
        <p:nvSpPr>
          <p:cNvPr id="10" name="text-930">
            <a:extLst xmlns:a="http://schemas.openxmlformats.org/drawingml/2006/main">
              <a:ext uri="{FF2B5EF4-FFF2-40B4-BE49-F238E27FC236}">
                <a16:creationId xmlns:a16="http://schemas.microsoft.com/office/drawing/2014/main" id="{1BF0811E-2B69-4C08-901F-1BA1D9929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1051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1" name="text-931">
            <a:extLst xmlns:a="http://schemas.openxmlformats.org/drawingml/2006/main">
              <a:ext uri="{FF2B5EF4-FFF2-40B4-BE49-F238E27FC236}">
                <a16:creationId xmlns:a16="http://schemas.microsoft.com/office/drawing/2014/main" id="{B4EE6FFA-72B8-424B-B19D-F884BFA6A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1051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先請 Agent 檢查並提出計畫</a:t>
            </a:r>
          </a:p>
        </p:txBody>
      </p:sp>
      <p:sp>
        <p:nvSpPr>
          <p:cNvPr id="12" name="text-932">
            <a:extLst xmlns:a="http://schemas.openxmlformats.org/drawingml/2006/main">
              <a:ext uri="{FF2B5EF4-FFF2-40B4-BE49-F238E27FC236}">
                <a16:creationId xmlns:a16="http://schemas.microsoft.com/office/drawing/2014/main" id="{B0192444-5ACB-48EE-BDF0-2D1079685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8100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13" name="text-933">
            <a:extLst xmlns:a="http://schemas.openxmlformats.org/drawingml/2006/main">
              <a:ext uri="{FF2B5EF4-FFF2-40B4-BE49-F238E27FC236}">
                <a16:creationId xmlns:a16="http://schemas.microsoft.com/office/drawing/2014/main" id="{B4870A6A-40E6-489C-A9E9-1530ED376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8100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確認範圍後執行</a:t>
            </a:r>
          </a:p>
        </p:txBody>
      </p:sp>
      <p:sp>
        <p:nvSpPr>
          <p:cNvPr id="14" name="text-934">
            <a:extLst xmlns:a="http://schemas.openxmlformats.org/drawingml/2006/main">
              <a:ext uri="{FF2B5EF4-FFF2-40B4-BE49-F238E27FC236}">
                <a16:creationId xmlns:a16="http://schemas.microsoft.com/office/drawing/2014/main" id="{51205470-3042-4E6E-B7AC-FDB678700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45148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15" name="text-935">
            <a:extLst xmlns:a="http://schemas.openxmlformats.org/drawingml/2006/main">
              <a:ext uri="{FF2B5EF4-FFF2-40B4-BE49-F238E27FC236}">
                <a16:creationId xmlns:a16="http://schemas.microsoft.com/office/drawing/2014/main" id="{444F9980-E557-4365-BBB1-EA114EC9C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45148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取得變更、測試與限制</a:t>
            </a:r>
          </a:p>
        </p:txBody>
      </p:sp>
      <p:sp>
        <p:nvSpPr>
          <p:cNvPr id="16" name="shape-936">
            <a:extLst xmlns:a="http://schemas.openxmlformats.org/drawingml/2006/main">
              <a:ext uri="{FF2B5EF4-FFF2-40B4-BE49-F238E27FC236}">
                <a16:creationId xmlns:a16="http://schemas.microsoft.com/office/drawing/2014/main" id="{28325DAC-A725-46F3-9415-94D4875ED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790700"/>
            <a:ext cx="2362200" cy="390525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7" name="text-937">
            <a:extLst xmlns:a="http://schemas.openxmlformats.org/drawingml/2006/main">
              <a:ext uri="{FF2B5EF4-FFF2-40B4-BE49-F238E27FC236}">
                <a16:creationId xmlns:a16="http://schemas.microsoft.com/office/drawing/2014/main" id="{23671702-A67F-4CFB-80AC-3F0CC475D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057400"/>
            <a:ext cx="18669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FF806D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FF806D"/>
                </a:solidFill>
                <a:latin typeface="Noto Sans TC"/>
                <a:ea typeface="Noto Sans TC"/>
                <a:cs typeface="Noto Sans TC"/>
              </a:rPr>
              <a:t>完成條件</a:t>
            </a:r>
          </a:p>
        </p:txBody>
      </p:sp>
      <p:sp>
        <p:nvSpPr>
          <p:cNvPr id="18" name="text-938">
            <a:extLst xmlns:a="http://schemas.openxmlformats.org/drawingml/2006/main">
              <a:ext uri="{FF2B5EF4-FFF2-40B4-BE49-F238E27FC236}">
                <a16:creationId xmlns:a16="http://schemas.microsoft.com/office/drawing/2014/main" id="{46F307C8-E22A-40DD-B4D8-E5FB08A09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705100"/>
            <a:ext cx="186690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✓ 任務單一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✓ 有實際產物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✓ 有至少一項驗證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✓ 沒有未授權發布</a:t>
            </a:r>
          </a:p>
        </p:txBody>
      </p:sp>
      <p:sp>
        <p:nvSpPr>
          <p:cNvPr id="19" name="text-1435">
            <a:extLst xmlns:a="http://schemas.openxmlformats.org/drawingml/2006/main">
              <a:ext uri="{FF2B5EF4-FFF2-40B4-BE49-F238E27FC236}">
                <a16:creationId xmlns:a16="http://schemas.microsoft.com/office/drawing/2014/main" id="{EB36C113-B103-47E6-A8A9-D20EE5D63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bc977430d9424216"/>
              </a:rPr>
              <a:t>開啟 Antigravity ↗</a:t>
            </a:r>
          </a:p>
        </p:txBody>
      </p:sp>
      <p:sp>
        <p:nvSpPr>
          <p:cNvPr id="20" name="shape-1475">
            <a:extLst xmlns:a="http://schemas.openxmlformats.org/drawingml/2006/main">
              <a:ext uri="{FF2B5EF4-FFF2-40B4-BE49-F238E27FC236}">
                <a16:creationId xmlns:a16="http://schemas.microsoft.com/office/drawing/2014/main" id="{E2D5F1B6-103E-4E13-9775-63BD964F0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4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1b578ff31ec4acb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22" name="text-1476">
            <a:extLst xmlns:a="http://schemas.openxmlformats.org/drawingml/2006/main">
              <a:ext uri="{FF2B5EF4-FFF2-40B4-BE49-F238E27FC236}">
                <a16:creationId xmlns:a16="http://schemas.microsoft.com/office/drawing/2014/main" id="{104B0875-89ED-456F-86CF-6913958DA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</p:spTree>
    <p:extLst>
      <p:ext uri="{BB962C8B-B14F-4D97-AF65-F5344CB8AC3E}">
        <p14:creationId xmlns:p14="http://schemas.microsoft.com/office/powerpoint/2010/main" val="1920808176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939">
            <a:extLst xmlns:a="http://schemas.openxmlformats.org/drawingml/2006/main">
              <a:ext uri="{FF2B5EF4-FFF2-40B4-BE49-F238E27FC236}">
                <a16:creationId xmlns:a16="http://schemas.microsoft.com/office/drawing/2014/main" id="{CF17B57E-3F7C-4DEA-BA89-F940487D9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2000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4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84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2" name="text-940">
            <a:extLst xmlns:a="http://schemas.openxmlformats.org/drawingml/2006/main">
              <a:ext uri="{FF2B5EF4-FFF2-40B4-BE49-F238E27FC236}">
                <a16:creationId xmlns:a16="http://schemas.microsoft.com/office/drawing/2014/main" id="{04FC4F2D-C1EA-43FB-A2A3-7044FF725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343150"/>
            <a:ext cx="10668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40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40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  <p:sp>
        <p:nvSpPr>
          <p:cNvPr id="3" name="text-941">
            <a:extLst xmlns:a="http://schemas.openxmlformats.org/drawingml/2006/main">
              <a:ext uri="{FF2B5EF4-FFF2-40B4-BE49-F238E27FC236}">
                <a16:creationId xmlns:a16="http://schemas.microsoft.com/office/drawing/2014/main" id="{A673BC79-2F54-4E13-80E5-99F3AB5DE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95700"/>
            <a:ext cx="84772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讓 Agent 在你的工作區讀取脈絡、建立或修改檔案、執行檢查，並交付可追查的成果。</a:t>
            </a:r>
          </a:p>
        </p:txBody>
      </p:sp>
      <p:sp>
        <p:nvSpPr>
          <p:cNvPr id="4" name="shape-942">
            <a:extLst xmlns:a="http://schemas.openxmlformats.org/drawingml/2006/main">
              <a:ext uri="{FF2B5EF4-FFF2-40B4-BE49-F238E27FC236}">
                <a16:creationId xmlns:a16="http://schemas.microsoft.com/office/drawing/2014/main" id="{5600BEBA-C255-4354-848D-B6267EB5D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3810000"/>
            <a:ext cx="1524000" cy="1524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text-943">
            <a:extLst xmlns:a="http://schemas.openxmlformats.org/drawingml/2006/main">
              <a:ext uri="{FF2B5EF4-FFF2-40B4-BE49-F238E27FC236}">
                <a16:creationId xmlns:a16="http://schemas.microsoft.com/office/drawing/2014/main" id="{D8AE180A-FC2E-43E3-968B-0B743BD5E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4114800"/>
            <a:ext cx="1143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動手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做</a:t>
            </a:r>
          </a:p>
        </p:txBody>
      </p:sp>
      <p:cxnSp>
        <p:nvCxnSpPr>
          <p:cNvPr id="18" name="shape-944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7" name="text-945">
            <a:extLst xmlns:a="http://schemas.openxmlformats.org/drawingml/2006/main">
              <a:ext uri="{FF2B5EF4-FFF2-40B4-BE49-F238E27FC236}">
                <a16:creationId xmlns:a16="http://schemas.microsoft.com/office/drawing/2014/main" id="{44DA1B6E-3439-48EA-916C-CF0B580B9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8" name="page-number">
            <a:extLst xmlns:a="http://schemas.openxmlformats.org/drawingml/2006/main">
              <a:ext uri="{FF2B5EF4-FFF2-40B4-BE49-F238E27FC236}">
                <a16:creationId xmlns:a16="http://schemas.microsoft.com/office/drawing/2014/main" id="{C7C77EF9-0342-42DC-89A6-34ABEC171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17</a:t>
            </a:r>
          </a:p>
        </p:txBody>
      </p:sp>
      <p:sp>
        <p:nvSpPr>
          <p:cNvPr id="9" name="text-1436">
            <a:extLst xmlns:a="http://schemas.openxmlformats.org/drawingml/2006/main">
              <a:ext uri="{FF2B5EF4-FFF2-40B4-BE49-F238E27FC236}">
                <a16:creationId xmlns:a16="http://schemas.microsoft.com/office/drawing/2014/main" id="{898EBE5E-A419-43FD-ABD9-B1B60789F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81c5fe609bf646d2"/>
              </a:rPr>
              <a:t>開啟 Codex ↗</a:t>
            </a:r>
          </a:p>
        </p:txBody>
      </p:sp>
      <p:sp>
        <p:nvSpPr>
          <p:cNvPr id="10" name="shape-1477">
            <a:extLst xmlns:a="http://schemas.openxmlformats.org/drawingml/2006/main">
              <a:ext uri="{FF2B5EF4-FFF2-40B4-BE49-F238E27FC236}">
                <a16:creationId xmlns:a16="http://schemas.microsoft.com/office/drawing/2014/main" id="{E2519420-87DE-401E-9F5F-D4546C132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afb85f9ebc04c6c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12" name="text-1478">
            <a:extLst xmlns:a="http://schemas.openxmlformats.org/drawingml/2006/main">
              <a:ext uri="{FF2B5EF4-FFF2-40B4-BE49-F238E27FC236}">
                <a16:creationId xmlns:a16="http://schemas.microsoft.com/office/drawing/2014/main" id="{9D67A31F-E817-493A-9EC1-A22DE396B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</p:spTree>
    <p:extLst>
      <p:ext uri="{BB962C8B-B14F-4D97-AF65-F5344CB8AC3E}">
        <p14:creationId xmlns:p14="http://schemas.microsoft.com/office/powerpoint/2010/main" val="180739084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text-946">
            <a:extLst xmlns:a="http://schemas.openxmlformats.org/drawingml/2006/main">
              <a:ext uri="{FF2B5EF4-FFF2-40B4-BE49-F238E27FC236}">
                <a16:creationId xmlns:a16="http://schemas.microsoft.com/office/drawing/2014/main" id="{DEDD4CA2-E5C9-457C-A859-B66367AB8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WORKFLOW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C3A9AA51-A9EB-4C24-86E0-0A8030558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Codex 實作工作流：先定位，再修改</a:t>
            </a:r>
          </a:p>
        </p:txBody>
      </p:sp>
      <p:cxnSp>
        <p:nvCxnSpPr>
          <p:cNvPr id="32" name="shape-947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948">
            <a:extLst xmlns:a="http://schemas.openxmlformats.org/drawingml/2006/main">
              <a:ext uri="{FF2B5EF4-FFF2-40B4-BE49-F238E27FC236}">
                <a16:creationId xmlns:a16="http://schemas.microsoft.com/office/drawing/2014/main" id="{937D6754-2ABB-4715-AC68-E509F7A3E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CEA4D851-0757-47D8-BB8F-304EB2E8F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18</a:t>
            </a:r>
          </a:p>
        </p:txBody>
      </p:sp>
      <p:sp>
        <p:nvSpPr>
          <p:cNvPr id="6" name="text-949">
            <a:extLst xmlns:a="http://schemas.openxmlformats.org/drawingml/2006/main">
              <a:ext uri="{FF2B5EF4-FFF2-40B4-BE49-F238E27FC236}">
                <a16:creationId xmlns:a16="http://schemas.microsoft.com/office/drawing/2014/main" id="{C3FD8CC2-9BCC-4E78-8A43-30DC962DF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8478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7" name="text-950">
            <a:extLst xmlns:a="http://schemas.openxmlformats.org/drawingml/2006/main">
              <a:ext uri="{FF2B5EF4-FFF2-40B4-BE49-F238E27FC236}">
                <a16:creationId xmlns:a16="http://schemas.microsoft.com/office/drawing/2014/main" id="{71DDBDD7-004D-4943-A83F-C8041F2DC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098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開啟工作區</a:t>
            </a:r>
          </a:p>
        </p:txBody>
      </p:sp>
      <p:sp>
        <p:nvSpPr>
          <p:cNvPr id="8" name="text-951">
            <a:extLst xmlns:a="http://schemas.openxmlformats.org/drawingml/2006/main">
              <a:ext uri="{FF2B5EF4-FFF2-40B4-BE49-F238E27FC236}">
                <a16:creationId xmlns:a16="http://schemas.microsoft.com/office/drawing/2014/main" id="{D271DB82-1837-431E-9FA4-59656FEF4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76600"/>
            <a:ext cx="20955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把素材放在清楚資料夾</a:t>
            </a:r>
          </a:p>
        </p:txBody>
      </p:sp>
      <p:sp>
        <p:nvSpPr>
          <p:cNvPr id="9" name="text-952">
            <a:extLst xmlns:a="http://schemas.openxmlformats.org/drawingml/2006/main">
              <a:ext uri="{FF2B5EF4-FFF2-40B4-BE49-F238E27FC236}">
                <a16:creationId xmlns:a16="http://schemas.microsoft.com/office/drawing/2014/main" id="{DD332F18-BAB6-4537-AB57-51CDBC076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1885950"/>
            <a:ext cx="228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602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00" b="1">
                <a:solidFill>
                  <a:srgbClr val="2A4761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1">
                <a:solidFill>
                  <a:srgbClr val="2A4761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0" name="text-953">
            <a:extLst xmlns:a="http://schemas.openxmlformats.org/drawingml/2006/main">
              <a:ext uri="{FF2B5EF4-FFF2-40B4-BE49-F238E27FC236}">
                <a16:creationId xmlns:a16="http://schemas.microsoft.com/office/drawing/2014/main" id="{96C768C8-2507-4E58-8348-A9AF56562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18478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1" name="text-954">
            <a:extLst xmlns:a="http://schemas.openxmlformats.org/drawingml/2006/main">
              <a:ext uri="{FF2B5EF4-FFF2-40B4-BE49-F238E27FC236}">
                <a16:creationId xmlns:a16="http://schemas.microsoft.com/office/drawing/2014/main" id="{DC307183-22FA-49D7-B3A2-03CD31863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26098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描述任務</a:t>
            </a:r>
          </a:p>
        </p:txBody>
      </p:sp>
      <p:sp>
        <p:nvSpPr>
          <p:cNvPr id="12" name="text-955">
            <a:extLst xmlns:a="http://schemas.openxmlformats.org/drawingml/2006/main">
              <a:ext uri="{FF2B5EF4-FFF2-40B4-BE49-F238E27FC236}">
                <a16:creationId xmlns:a16="http://schemas.microsoft.com/office/drawing/2014/main" id="{7BD13FEE-FCD6-4A23-BFAF-8A9CB4E96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3276600"/>
            <a:ext cx="20955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目標、限制、驗收</a:t>
            </a:r>
          </a:p>
        </p:txBody>
      </p:sp>
      <p:sp>
        <p:nvSpPr>
          <p:cNvPr id="13" name="text-956">
            <a:extLst xmlns:a="http://schemas.openxmlformats.org/drawingml/2006/main">
              <a:ext uri="{FF2B5EF4-FFF2-40B4-BE49-F238E27FC236}">
                <a16:creationId xmlns:a16="http://schemas.microsoft.com/office/drawing/2014/main" id="{D7769250-3B3B-429A-AF24-FCEA86DF7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1885950"/>
            <a:ext cx="228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602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00" b="1">
                <a:solidFill>
                  <a:srgbClr val="2A4761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1">
                <a:solidFill>
                  <a:srgbClr val="2A4761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4" name="text-957">
            <a:extLst xmlns:a="http://schemas.openxmlformats.org/drawingml/2006/main">
              <a:ext uri="{FF2B5EF4-FFF2-40B4-BE49-F238E27FC236}">
                <a16:creationId xmlns:a16="http://schemas.microsoft.com/office/drawing/2014/main" id="{A82B8477-E39F-4E6E-90E5-954947BC8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18478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15" name="text-958">
            <a:extLst xmlns:a="http://schemas.openxmlformats.org/drawingml/2006/main">
              <a:ext uri="{FF2B5EF4-FFF2-40B4-BE49-F238E27FC236}">
                <a16:creationId xmlns:a16="http://schemas.microsoft.com/office/drawing/2014/main" id="{69F26CA0-1226-4D07-AE64-2EA161374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6098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觀察進度</a:t>
            </a:r>
          </a:p>
        </p:txBody>
      </p:sp>
      <p:sp>
        <p:nvSpPr>
          <p:cNvPr id="16" name="text-959">
            <a:extLst xmlns:a="http://schemas.openxmlformats.org/drawingml/2006/main">
              <a:ext uri="{FF2B5EF4-FFF2-40B4-BE49-F238E27FC236}">
                <a16:creationId xmlns:a16="http://schemas.microsoft.com/office/drawing/2014/main" id="{D9E20C15-A972-4541-9676-27EA75EDF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3276600"/>
            <a:ext cx="20955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計畫、讀檔、工具使用</a:t>
            </a:r>
          </a:p>
        </p:txBody>
      </p:sp>
      <p:sp>
        <p:nvSpPr>
          <p:cNvPr id="17" name="text-960">
            <a:extLst xmlns:a="http://schemas.openxmlformats.org/drawingml/2006/main">
              <a:ext uri="{FF2B5EF4-FFF2-40B4-BE49-F238E27FC236}">
                <a16:creationId xmlns:a16="http://schemas.microsoft.com/office/drawing/2014/main" id="{739DE379-4862-41AF-8E78-60058DF27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1885950"/>
            <a:ext cx="228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602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00" b="1">
                <a:solidFill>
                  <a:srgbClr val="2A4761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1">
                <a:solidFill>
                  <a:srgbClr val="2A4761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8" name="text-961">
            <a:extLst xmlns:a="http://schemas.openxmlformats.org/drawingml/2006/main">
              <a:ext uri="{FF2B5EF4-FFF2-40B4-BE49-F238E27FC236}">
                <a16:creationId xmlns:a16="http://schemas.microsoft.com/office/drawing/2014/main" id="{525B5855-5CED-4D97-A68E-782C86C11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18478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19" name="text-962">
            <a:extLst xmlns:a="http://schemas.openxmlformats.org/drawingml/2006/main">
              <a:ext uri="{FF2B5EF4-FFF2-40B4-BE49-F238E27FC236}">
                <a16:creationId xmlns:a16="http://schemas.microsoft.com/office/drawing/2014/main" id="{85485CCC-D25E-44D1-9BA8-E31B0433C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26098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檢查成果</a:t>
            </a:r>
          </a:p>
        </p:txBody>
      </p:sp>
      <p:sp>
        <p:nvSpPr>
          <p:cNvPr id="20" name="text-963">
            <a:extLst xmlns:a="http://schemas.openxmlformats.org/drawingml/2006/main">
              <a:ext uri="{FF2B5EF4-FFF2-40B4-BE49-F238E27FC236}">
                <a16:creationId xmlns:a16="http://schemas.microsoft.com/office/drawing/2014/main" id="{355C0303-87FB-4581-8043-419555C7B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3276600"/>
            <a:ext cx="20955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檔案、測試、畫面、差異</a:t>
            </a:r>
          </a:p>
        </p:txBody>
      </p:sp>
      <p:sp>
        <p:nvSpPr>
          <p:cNvPr id="21" name="text-964">
            <a:extLst xmlns:a="http://schemas.openxmlformats.org/drawingml/2006/main">
              <a:ext uri="{FF2B5EF4-FFF2-40B4-BE49-F238E27FC236}">
                <a16:creationId xmlns:a16="http://schemas.microsoft.com/office/drawing/2014/main" id="{B9F0D265-715C-455B-A5DD-9F47EF35A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1885950"/>
            <a:ext cx="228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602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00" b="1">
                <a:solidFill>
                  <a:srgbClr val="2A4761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1">
                <a:solidFill>
                  <a:srgbClr val="2A4761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22" name="text-965">
            <a:extLst xmlns:a="http://schemas.openxmlformats.org/drawingml/2006/main">
              <a:ext uri="{FF2B5EF4-FFF2-40B4-BE49-F238E27FC236}">
                <a16:creationId xmlns:a16="http://schemas.microsoft.com/office/drawing/2014/main" id="{A0D070C1-1DC6-4FE0-8655-43E0F9F73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18478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5</a:t>
            </a:r>
          </a:p>
        </p:txBody>
      </p:sp>
      <p:sp>
        <p:nvSpPr>
          <p:cNvPr id="23" name="text-966">
            <a:extLst xmlns:a="http://schemas.openxmlformats.org/drawingml/2006/main">
              <a:ext uri="{FF2B5EF4-FFF2-40B4-BE49-F238E27FC236}">
                <a16:creationId xmlns:a16="http://schemas.microsoft.com/office/drawing/2014/main" id="{4F5AF4DB-DE61-4662-8079-6DB376875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26098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決定下一步</a:t>
            </a:r>
          </a:p>
        </p:txBody>
      </p:sp>
      <p:sp>
        <p:nvSpPr>
          <p:cNvPr id="24" name="text-967">
            <a:extLst xmlns:a="http://schemas.openxmlformats.org/drawingml/2006/main">
              <a:ext uri="{FF2B5EF4-FFF2-40B4-BE49-F238E27FC236}">
                <a16:creationId xmlns:a16="http://schemas.microsoft.com/office/drawing/2014/main" id="{3905AFD8-D3B2-4EDC-AB3F-084E1E706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3276600"/>
            <a:ext cx="20955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接受、修正或停止</a:t>
            </a:r>
          </a:p>
        </p:txBody>
      </p:sp>
      <p:sp>
        <p:nvSpPr>
          <p:cNvPr id="25" name="text-968">
            <a:extLst xmlns:a="http://schemas.openxmlformats.org/drawingml/2006/main">
              <a:ext uri="{FF2B5EF4-FFF2-40B4-BE49-F238E27FC236}">
                <a16:creationId xmlns:a16="http://schemas.microsoft.com/office/drawing/2014/main" id="{84BBE6EA-2DA2-486E-9799-937D9F693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5314950"/>
            <a:ext cx="563880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152400" tIns="57150" rIns="1524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每一步都留下可檢查的成果</a:t>
            </a:r>
          </a:p>
        </p:txBody>
      </p:sp>
      <p:sp>
        <p:nvSpPr>
          <p:cNvPr id="26" name="text-1437">
            <a:extLst xmlns:a="http://schemas.openxmlformats.org/drawingml/2006/main">
              <a:ext uri="{FF2B5EF4-FFF2-40B4-BE49-F238E27FC236}">
                <a16:creationId xmlns:a16="http://schemas.microsoft.com/office/drawing/2014/main" id="{0805FFF1-266F-48FB-BC2B-B9C21A911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81c381534bd140f5"/>
              </a:rPr>
              <a:t>開啟 Codex ↗</a:t>
            </a:r>
          </a:p>
        </p:txBody>
      </p:sp>
      <p:sp>
        <p:nvSpPr>
          <p:cNvPr id="27" name="shape-1479">
            <a:extLst xmlns:a="http://schemas.openxmlformats.org/drawingml/2006/main">
              <a:ext uri="{FF2B5EF4-FFF2-40B4-BE49-F238E27FC236}">
                <a16:creationId xmlns:a16="http://schemas.microsoft.com/office/drawing/2014/main" id="{8B3C4593-1669-4400-9668-2FFE26531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5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0d86325a70f440f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29" name="text-1480">
            <a:extLst xmlns:a="http://schemas.openxmlformats.org/drawingml/2006/main">
              <a:ext uri="{FF2B5EF4-FFF2-40B4-BE49-F238E27FC236}">
                <a16:creationId xmlns:a16="http://schemas.microsoft.com/office/drawing/2014/main" id="{926B946F-BD61-47CC-BBF8-4DD993D31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</p:spTree>
    <p:extLst>
      <p:ext uri="{BB962C8B-B14F-4D97-AF65-F5344CB8AC3E}">
        <p14:creationId xmlns:p14="http://schemas.microsoft.com/office/powerpoint/2010/main" val="556053938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text-969">
            <a:extLst xmlns:a="http://schemas.openxmlformats.org/drawingml/2006/main">
              <a:ext uri="{FF2B5EF4-FFF2-40B4-BE49-F238E27FC236}">
                <a16:creationId xmlns:a16="http://schemas.microsoft.com/office/drawing/2014/main" id="{1E5D189B-B9B9-479E-B2C0-2EB4F4158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AGENT SKILL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B799FD79-786F-448C-A6C0-ACBF7C5C6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同一任務在 Codex 中這樣下達</a:t>
            </a:r>
          </a:p>
        </p:txBody>
      </p:sp>
      <p:cxnSp>
        <p:nvCxnSpPr>
          <p:cNvPr id="19" name="shape-970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971">
            <a:extLst xmlns:a="http://schemas.openxmlformats.org/drawingml/2006/main">
              <a:ext uri="{FF2B5EF4-FFF2-40B4-BE49-F238E27FC236}">
                <a16:creationId xmlns:a16="http://schemas.microsoft.com/office/drawing/2014/main" id="{983E91A7-D399-4AA2-B31A-88291FFF2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1C7A87E3-8FE8-48F6-A918-C448077EA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19</a:t>
            </a:r>
          </a:p>
        </p:txBody>
      </p:sp>
      <p:sp>
        <p:nvSpPr>
          <p:cNvPr id="6" name="text-972">
            <a:extLst xmlns:a="http://schemas.openxmlformats.org/drawingml/2006/main">
              <a:ext uri="{FF2B5EF4-FFF2-40B4-BE49-F238E27FC236}">
                <a16:creationId xmlns:a16="http://schemas.microsoft.com/office/drawing/2014/main" id="{B253C442-B753-4950-BE1A-307F321CF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6858000" cy="4324350"/>
          </a:xfrm>
          <a:prstGeom xmlns:a="http://schemas.openxmlformats.org/drawingml/2006/main" prst="roundRect">
            <a:avLst>
              <a:gd name="adj" fmla="val 3524"/>
            </a:avLst>
          </a:prstGeom>
          <a:solidFill xmlns:a="http://schemas.openxmlformats.org/drawingml/2006/main">
            <a:srgbClr val="050B12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247650" tIns="247650" rIns="247650" bIns="2476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目標：改善這個課程互動網站的手機操作體驗。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範圍：只處理目前工作區中的 HTML、CSS、JS。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限制：不更動教學內容、不新增外部服務、不發布。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請先：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1. 檢查結構與手機畫面。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2. 說明最重要的 3 個問題與修正計畫。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3. 實作後跑可行的檢查。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4. 回報修改檔案、驗證證據與未確認項目。</a:t>
            </a:r>
          </a:p>
        </p:txBody>
      </p:sp>
      <p:sp>
        <p:nvSpPr>
          <p:cNvPr id="7" name="text-973">
            <a:extLst xmlns:a="http://schemas.openxmlformats.org/drawingml/2006/main">
              <a:ext uri="{FF2B5EF4-FFF2-40B4-BE49-F238E27FC236}">
                <a16:creationId xmlns:a16="http://schemas.microsoft.com/office/drawing/2014/main" id="{C19CAA3D-81F2-4B16-BBFB-9D25D4BDC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1752600"/>
            <a:ext cx="3543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明確邊界</a:t>
            </a:r>
          </a:p>
        </p:txBody>
      </p:sp>
      <p:sp>
        <p:nvSpPr>
          <p:cNvPr id="8" name="text-974">
            <a:extLst xmlns:a="http://schemas.openxmlformats.org/drawingml/2006/main">
              <a:ext uri="{FF2B5EF4-FFF2-40B4-BE49-F238E27FC236}">
                <a16:creationId xmlns:a16="http://schemas.microsoft.com/office/drawing/2014/main" id="{A650C183-BBF3-4257-9D0B-263DA6C82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2190750"/>
            <a:ext cx="35433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檔案與動作的範圍要具體。</a:t>
            </a:r>
          </a:p>
        </p:txBody>
      </p:sp>
      <p:sp>
        <p:nvSpPr>
          <p:cNvPr id="9" name="text-975">
            <a:extLst xmlns:a="http://schemas.openxmlformats.org/drawingml/2006/main">
              <a:ext uri="{FF2B5EF4-FFF2-40B4-BE49-F238E27FC236}">
                <a16:creationId xmlns:a16="http://schemas.microsoft.com/office/drawing/2014/main" id="{89321BA6-6E84-4EAC-8818-DFE9C667B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3105150"/>
            <a:ext cx="3543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2CD2C7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2CD2C7"/>
                </a:solidFill>
                <a:latin typeface="Noto Sans TC"/>
                <a:ea typeface="Noto Sans TC"/>
                <a:cs typeface="Noto Sans TC"/>
              </a:rPr>
              <a:t>先檢查</a:t>
            </a:r>
          </a:p>
        </p:txBody>
      </p:sp>
      <p:sp>
        <p:nvSpPr>
          <p:cNvPr id="10" name="text-976">
            <a:extLst xmlns:a="http://schemas.openxmlformats.org/drawingml/2006/main">
              <a:ext uri="{FF2B5EF4-FFF2-40B4-BE49-F238E27FC236}">
                <a16:creationId xmlns:a16="http://schemas.microsoft.com/office/drawing/2014/main" id="{FE24261E-951B-4C8A-A05F-8B20D8807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3543300"/>
            <a:ext cx="35433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讓 Agent 先讀環境，避免憑空重寫。</a:t>
            </a:r>
          </a:p>
        </p:txBody>
      </p:sp>
      <p:sp>
        <p:nvSpPr>
          <p:cNvPr id="11" name="text-977">
            <a:extLst xmlns:a="http://schemas.openxmlformats.org/drawingml/2006/main">
              <a:ext uri="{FF2B5EF4-FFF2-40B4-BE49-F238E27FC236}">
                <a16:creationId xmlns:a16="http://schemas.microsoft.com/office/drawing/2014/main" id="{7054A56C-F1BD-4128-A610-7DBCC3102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4457700"/>
            <a:ext cx="3543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FF806D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FF806D"/>
                </a:solidFill>
                <a:latin typeface="Noto Sans TC"/>
                <a:ea typeface="Noto Sans TC"/>
                <a:cs typeface="Noto Sans TC"/>
              </a:rPr>
              <a:t>驗收可見</a:t>
            </a:r>
          </a:p>
        </p:txBody>
      </p:sp>
      <p:sp>
        <p:nvSpPr>
          <p:cNvPr id="12" name="text-978">
            <a:extLst xmlns:a="http://schemas.openxmlformats.org/drawingml/2006/main">
              <a:ext uri="{FF2B5EF4-FFF2-40B4-BE49-F238E27FC236}">
                <a16:creationId xmlns:a16="http://schemas.microsoft.com/office/drawing/2014/main" id="{92383D44-29F0-4462-ACB4-8C8F6A3BC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4895850"/>
            <a:ext cx="35433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要求證據與未確認項目。</a:t>
            </a:r>
          </a:p>
        </p:txBody>
      </p:sp>
      <p:sp>
        <p:nvSpPr>
          <p:cNvPr id="13" name="text-1438">
            <a:extLst xmlns:a="http://schemas.openxmlformats.org/drawingml/2006/main">
              <a:ext uri="{FF2B5EF4-FFF2-40B4-BE49-F238E27FC236}">
                <a16:creationId xmlns:a16="http://schemas.microsoft.com/office/drawing/2014/main" id="{1E8378A0-5E4A-493D-9A03-34FCDF402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705bf46b93054ad5"/>
              </a:rPr>
              <a:t>開啟 Codex ↗</a:t>
            </a:r>
          </a:p>
        </p:txBody>
      </p:sp>
      <p:sp>
        <p:nvSpPr>
          <p:cNvPr id="14" name="shape-1481">
            <a:extLst xmlns:a="http://schemas.openxmlformats.org/drawingml/2006/main">
              <a:ext uri="{FF2B5EF4-FFF2-40B4-BE49-F238E27FC236}">
                <a16:creationId xmlns:a16="http://schemas.microsoft.com/office/drawing/2014/main" id="{912C12E0-F24E-49DB-9043-644CB0403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3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839dad57fb54c2d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16" name="text-1482">
            <a:extLst xmlns:a="http://schemas.openxmlformats.org/drawingml/2006/main">
              <a:ext uri="{FF2B5EF4-FFF2-40B4-BE49-F238E27FC236}">
                <a16:creationId xmlns:a16="http://schemas.microsoft.com/office/drawing/2014/main" id="{68335A87-6AA2-4C3C-8825-613EFC9D2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</p:spTree>
    <p:extLst>
      <p:ext uri="{BB962C8B-B14F-4D97-AF65-F5344CB8AC3E}">
        <p14:creationId xmlns:p14="http://schemas.microsoft.com/office/powerpoint/2010/main" val="2136860840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" name="text-979">
            <a:extLst xmlns:a="http://schemas.openxmlformats.org/drawingml/2006/main">
              <a:ext uri="{FF2B5EF4-FFF2-40B4-BE49-F238E27FC236}">
                <a16:creationId xmlns:a16="http://schemas.microsoft.com/office/drawing/2014/main" id="{98DC15CE-3CE2-45D1-B209-01FC153E4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TASK DESIGN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21F11156-569B-4AA9-B772-2A0C5DDB3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好任務簡報的六個欄位</a:t>
            </a:r>
          </a:p>
        </p:txBody>
      </p:sp>
      <p:cxnSp>
        <p:nvCxnSpPr>
          <p:cNvPr id="36" name="shape-980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981">
            <a:extLst xmlns:a="http://schemas.openxmlformats.org/drawingml/2006/main">
              <a:ext uri="{FF2B5EF4-FFF2-40B4-BE49-F238E27FC236}">
                <a16:creationId xmlns:a16="http://schemas.microsoft.com/office/drawing/2014/main" id="{7FF7DB31-531D-4D3B-9612-03CF26AD4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215C83FF-B196-4EE8-B075-B22C4299D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20</a:t>
            </a:r>
          </a:p>
        </p:txBody>
      </p:sp>
      <p:sp>
        <p:nvSpPr>
          <p:cNvPr id="6" name="shape-982">
            <a:extLst xmlns:a="http://schemas.openxmlformats.org/drawingml/2006/main">
              <a:ext uri="{FF2B5EF4-FFF2-40B4-BE49-F238E27FC236}">
                <a16:creationId xmlns:a16="http://schemas.microsoft.com/office/drawing/2014/main" id="{985705F4-A2E3-48E8-B95E-74CAF57E0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1685925" cy="4305300"/>
          </a:xfrm>
          <a:prstGeom xmlns:a="http://schemas.openxmlformats.org/drawingml/2006/main" prst="roundRect">
            <a:avLst>
              <a:gd name="adj" fmla="val 904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7" name="text-983">
            <a:extLst xmlns:a="http://schemas.openxmlformats.org/drawingml/2006/main">
              <a:ext uri="{FF2B5EF4-FFF2-40B4-BE49-F238E27FC236}">
                <a16:creationId xmlns:a16="http://schemas.microsoft.com/office/drawing/2014/main" id="{E225AF58-F3D0-434B-B680-228A9251A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8" name="text-984">
            <a:extLst xmlns:a="http://schemas.openxmlformats.org/drawingml/2006/main">
              <a:ext uri="{FF2B5EF4-FFF2-40B4-BE49-F238E27FC236}">
                <a16:creationId xmlns:a16="http://schemas.microsoft.com/office/drawing/2014/main" id="{1BE611CF-DB01-4911-B957-48B5FD1F5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1266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Why</a:t>
            </a:r>
          </a:p>
        </p:txBody>
      </p:sp>
      <p:sp>
        <p:nvSpPr>
          <p:cNvPr id="9" name="text-985">
            <a:extLst xmlns:a="http://schemas.openxmlformats.org/drawingml/2006/main">
              <a:ext uri="{FF2B5EF4-FFF2-40B4-BE49-F238E27FC236}">
                <a16:creationId xmlns:a16="http://schemas.microsoft.com/office/drawing/2014/main" id="{A255D50F-134E-4EFC-93AC-FFDDC49C7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1266825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教學問題與使用者價值</a:t>
            </a:r>
          </a:p>
        </p:txBody>
      </p:sp>
      <p:sp>
        <p:nvSpPr>
          <p:cNvPr id="10" name="shape-986">
            <a:extLst xmlns:a="http://schemas.openxmlformats.org/drawingml/2006/main">
              <a:ext uri="{FF2B5EF4-FFF2-40B4-BE49-F238E27FC236}">
                <a16:creationId xmlns:a16="http://schemas.microsoft.com/office/drawing/2014/main" id="{3B5DD4AA-EDB4-48F6-9E8B-2E9BE357A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1676400"/>
            <a:ext cx="1685925" cy="4305300"/>
          </a:xfrm>
          <a:prstGeom xmlns:a="http://schemas.openxmlformats.org/drawingml/2006/main" prst="roundRect">
            <a:avLst>
              <a:gd name="adj" fmla="val 904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1" name="text-987">
            <a:extLst xmlns:a="http://schemas.openxmlformats.org/drawingml/2006/main">
              <a:ext uri="{FF2B5EF4-FFF2-40B4-BE49-F238E27FC236}">
                <a16:creationId xmlns:a16="http://schemas.microsoft.com/office/drawing/2014/main" id="{5060D903-62BC-4849-A47B-460B97392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2" name="text-988">
            <a:extLst xmlns:a="http://schemas.openxmlformats.org/drawingml/2006/main">
              <a:ext uri="{FF2B5EF4-FFF2-40B4-BE49-F238E27FC236}">
                <a16:creationId xmlns:a16="http://schemas.microsoft.com/office/drawing/2014/main" id="{3E63BEF2-6670-4A4C-97B9-2C98E95D2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2457450"/>
            <a:ext cx="1266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What</a:t>
            </a:r>
          </a:p>
        </p:txBody>
      </p:sp>
      <p:sp>
        <p:nvSpPr>
          <p:cNvPr id="13" name="text-989">
            <a:extLst xmlns:a="http://schemas.openxmlformats.org/drawingml/2006/main">
              <a:ext uri="{FF2B5EF4-FFF2-40B4-BE49-F238E27FC236}">
                <a16:creationId xmlns:a16="http://schemas.microsoft.com/office/drawing/2014/main" id="{5FE48A28-3E34-4768-8183-A251A58B1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3028950"/>
            <a:ext cx="1266825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要完成的具體成果</a:t>
            </a:r>
          </a:p>
        </p:txBody>
      </p:sp>
      <p:sp>
        <p:nvSpPr>
          <p:cNvPr id="14" name="shape-990">
            <a:extLst xmlns:a="http://schemas.openxmlformats.org/drawingml/2006/main">
              <a:ext uri="{FF2B5EF4-FFF2-40B4-BE49-F238E27FC236}">
                <a16:creationId xmlns:a16="http://schemas.microsoft.com/office/drawing/2014/main" id="{B15D69F7-91C8-4F63-9B25-AA54D9736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1676400"/>
            <a:ext cx="1685925" cy="4305300"/>
          </a:xfrm>
          <a:prstGeom xmlns:a="http://schemas.openxmlformats.org/drawingml/2006/main" prst="roundRect">
            <a:avLst>
              <a:gd name="adj" fmla="val 904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5" name="text-991">
            <a:extLst xmlns:a="http://schemas.openxmlformats.org/drawingml/2006/main">
              <a:ext uri="{FF2B5EF4-FFF2-40B4-BE49-F238E27FC236}">
                <a16:creationId xmlns:a16="http://schemas.microsoft.com/office/drawing/2014/main" id="{F827D9C0-5507-470A-B78E-36020C707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16" name="text-992">
            <a:extLst xmlns:a="http://schemas.openxmlformats.org/drawingml/2006/main">
              <a:ext uri="{FF2B5EF4-FFF2-40B4-BE49-F238E27FC236}">
                <a16:creationId xmlns:a16="http://schemas.microsoft.com/office/drawing/2014/main" id="{67AA3042-8EDC-4DF4-9C61-B76706391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457450"/>
            <a:ext cx="1266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Where</a:t>
            </a:r>
          </a:p>
        </p:txBody>
      </p:sp>
      <p:sp>
        <p:nvSpPr>
          <p:cNvPr id="17" name="text-993">
            <a:extLst xmlns:a="http://schemas.openxmlformats.org/drawingml/2006/main">
              <a:ext uri="{FF2B5EF4-FFF2-40B4-BE49-F238E27FC236}">
                <a16:creationId xmlns:a16="http://schemas.microsoft.com/office/drawing/2014/main" id="{9268668C-0EC2-4A61-A135-F7992E11E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028950"/>
            <a:ext cx="1266825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工作區、檔案與資料來源</a:t>
            </a:r>
          </a:p>
        </p:txBody>
      </p:sp>
      <p:sp>
        <p:nvSpPr>
          <p:cNvPr id="18" name="shape-994">
            <a:extLst xmlns:a="http://schemas.openxmlformats.org/drawingml/2006/main">
              <a:ext uri="{FF2B5EF4-FFF2-40B4-BE49-F238E27FC236}">
                <a16:creationId xmlns:a16="http://schemas.microsoft.com/office/drawing/2014/main" id="{BBAB2B33-48E5-4F73-B50D-01AE460CF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1685925" cy="4305300"/>
          </a:xfrm>
          <a:prstGeom xmlns:a="http://schemas.openxmlformats.org/drawingml/2006/main" prst="roundRect">
            <a:avLst>
              <a:gd name="adj" fmla="val 904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9" name="text-995">
            <a:extLst xmlns:a="http://schemas.openxmlformats.org/drawingml/2006/main">
              <a:ext uri="{FF2B5EF4-FFF2-40B4-BE49-F238E27FC236}">
                <a16:creationId xmlns:a16="http://schemas.microsoft.com/office/drawing/2014/main" id="{BA5B784C-AD3F-43B0-A8A9-D29B7AA01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20" name="text-996">
            <a:extLst xmlns:a="http://schemas.openxmlformats.org/drawingml/2006/main">
              <a:ext uri="{FF2B5EF4-FFF2-40B4-BE49-F238E27FC236}">
                <a16:creationId xmlns:a16="http://schemas.microsoft.com/office/drawing/2014/main" id="{33D9F279-9DC1-4372-92F7-D4A3A7D70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1266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Limits</a:t>
            </a:r>
          </a:p>
        </p:txBody>
      </p:sp>
      <p:sp>
        <p:nvSpPr>
          <p:cNvPr id="21" name="text-997">
            <a:extLst xmlns:a="http://schemas.openxmlformats.org/drawingml/2006/main">
              <a:ext uri="{FF2B5EF4-FFF2-40B4-BE49-F238E27FC236}">
                <a16:creationId xmlns:a16="http://schemas.microsoft.com/office/drawing/2014/main" id="{74AA91F7-2154-40E3-87E8-6D7CFA755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1266825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不可改、不可公開、不可猜測</a:t>
            </a:r>
          </a:p>
        </p:txBody>
      </p:sp>
      <p:sp>
        <p:nvSpPr>
          <p:cNvPr id="22" name="shape-998">
            <a:extLst xmlns:a="http://schemas.openxmlformats.org/drawingml/2006/main">
              <a:ext uri="{FF2B5EF4-FFF2-40B4-BE49-F238E27FC236}">
                <a16:creationId xmlns:a16="http://schemas.microsoft.com/office/drawing/2014/main" id="{0366D8AA-A1EB-4731-8DD5-FA1578ACC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676400"/>
            <a:ext cx="1685925" cy="4305300"/>
          </a:xfrm>
          <a:prstGeom xmlns:a="http://schemas.openxmlformats.org/drawingml/2006/main" prst="roundRect">
            <a:avLst>
              <a:gd name="adj" fmla="val 904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23" name="text-999">
            <a:extLst xmlns:a="http://schemas.openxmlformats.org/drawingml/2006/main">
              <a:ext uri="{FF2B5EF4-FFF2-40B4-BE49-F238E27FC236}">
                <a16:creationId xmlns:a16="http://schemas.microsoft.com/office/drawing/2014/main" id="{5B466295-506A-407F-9976-92E60157D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5</a:t>
            </a:r>
          </a:p>
        </p:txBody>
      </p:sp>
      <p:sp>
        <p:nvSpPr>
          <p:cNvPr id="24" name="text-1000">
            <a:extLst xmlns:a="http://schemas.openxmlformats.org/drawingml/2006/main">
              <a:ext uri="{FF2B5EF4-FFF2-40B4-BE49-F238E27FC236}">
                <a16:creationId xmlns:a16="http://schemas.microsoft.com/office/drawing/2014/main" id="{991705B7-EDF7-4898-B423-6D321F834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457450"/>
            <a:ext cx="1266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Checks</a:t>
            </a:r>
          </a:p>
        </p:txBody>
      </p:sp>
      <p:sp>
        <p:nvSpPr>
          <p:cNvPr id="25" name="text-1001">
            <a:extLst xmlns:a="http://schemas.openxmlformats.org/drawingml/2006/main">
              <a:ext uri="{FF2B5EF4-FFF2-40B4-BE49-F238E27FC236}">
                <a16:creationId xmlns:a16="http://schemas.microsoft.com/office/drawing/2014/main" id="{AFED3206-73ED-46CF-846F-3F27D32AF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028950"/>
            <a:ext cx="1266825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測試、畫面與內容檢核</a:t>
            </a:r>
          </a:p>
        </p:txBody>
      </p:sp>
      <p:sp>
        <p:nvSpPr>
          <p:cNvPr id="26" name="shape-1002">
            <a:extLst xmlns:a="http://schemas.openxmlformats.org/drawingml/2006/main">
              <a:ext uri="{FF2B5EF4-FFF2-40B4-BE49-F238E27FC236}">
                <a16:creationId xmlns:a16="http://schemas.microsoft.com/office/drawing/2014/main" id="{BF31A35E-FFB1-4635-9C82-CE1F746BB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1725" y="1676400"/>
            <a:ext cx="1685925" cy="4305300"/>
          </a:xfrm>
          <a:prstGeom xmlns:a="http://schemas.openxmlformats.org/drawingml/2006/main" prst="roundRect">
            <a:avLst>
              <a:gd name="adj" fmla="val 904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27" name="text-1003">
            <a:extLst xmlns:a="http://schemas.openxmlformats.org/drawingml/2006/main">
              <a:ext uri="{FF2B5EF4-FFF2-40B4-BE49-F238E27FC236}">
                <a16:creationId xmlns:a16="http://schemas.microsoft.com/office/drawing/2014/main" id="{68458A1B-BF95-4206-BB8C-11ADC5740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0127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6</a:t>
            </a:r>
          </a:p>
        </p:txBody>
      </p:sp>
      <p:sp>
        <p:nvSpPr>
          <p:cNvPr id="28" name="text-1004">
            <a:extLst xmlns:a="http://schemas.openxmlformats.org/drawingml/2006/main">
              <a:ext uri="{FF2B5EF4-FFF2-40B4-BE49-F238E27FC236}">
                <a16:creationId xmlns:a16="http://schemas.microsoft.com/office/drawing/2014/main" id="{ABAD94A0-15F3-4050-A9FE-B420DE6CE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01275" y="2457450"/>
            <a:ext cx="1266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Handoff</a:t>
            </a:r>
          </a:p>
        </p:txBody>
      </p:sp>
      <p:sp>
        <p:nvSpPr>
          <p:cNvPr id="29" name="text-1005">
            <a:extLst xmlns:a="http://schemas.openxmlformats.org/drawingml/2006/main">
              <a:ext uri="{FF2B5EF4-FFF2-40B4-BE49-F238E27FC236}">
                <a16:creationId xmlns:a16="http://schemas.microsoft.com/office/drawing/2014/main" id="{E86591F7-6606-4A9F-AACF-F3B1F012F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01275" y="3028950"/>
            <a:ext cx="1266825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成果、差異、限制、下一步</a:t>
            </a:r>
          </a:p>
        </p:txBody>
      </p:sp>
      <p:sp>
        <p:nvSpPr>
          <p:cNvPr id="30" name="text-1439">
            <a:extLst xmlns:a="http://schemas.openxmlformats.org/drawingml/2006/main">
              <a:ext uri="{FF2B5EF4-FFF2-40B4-BE49-F238E27FC236}">
                <a16:creationId xmlns:a16="http://schemas.microsoft.com/office/drawing/2014/main" id="{1F5CD586-3CD3-4965-B0E0-C674A75DC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f6ef7b00a5574768"/>
              </a:rPr>
              <a:t>開啟 Codex ↗</a:t>
            </a:r>
          </a:p>
        </p:txBody>
      </p:sp>
      <p:sp>
        <p:nvSpPr>
          <p:cNvPr id="31" name="shape-1483">
            <a:extLst xmlns:a="http://schemas.openxmlformats.org/drawingml/2006/main">
              <a:ext uri="{FF2B5EF4-FFF2-40B4-BE49-F238E27FC236}">
                <a16:creationId xmlns:a16="http://schemas.microsoft.com/office/drawing/2014/main" id="{23F3B681-61C1-4D24-A438-AA8F3BDCE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6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27c3d8eb8bb499d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33" name="text-1484">
            <a:extLst xmlns:a="http://schemas.openxmlformats.org/drawingml/2006/main">
              <a:ext uri="{FF2B5EF4-FFF2-40B4-BE49-F238E27FC236}">
                <a16:creationId xmlns:a16="http://schemas.microsoft.com/office/drawing/2014/main" id="{FC00DE9C-29CA-4DA9-A1DD-76C4E5F1F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</p:spTree>
    <p:extLst>
      <p:ext uri="{BB962C8B-B14F-4D97-AF65-F5344CB8AC3E}">
        <p14:creationId xmlns:p14="http://schemas.microsoft.com/office/powerpoint/2010/main" val="311899289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1006">
            <a:extLst xmlns:a="http://schemas.openxmlformats.org/drawingml/2006/main">
              <a:ext uri="{FF2B5EF4-FFF2-40B4-BE49-F238E27FC236}">
                <a16:creationId xmlns:a16="http://schemas.microsoft.com/office/drawing/2014/main" id="{5CFEB432-C306-4784-87D7-286E1205A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HANDS-ON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E55D9E69-F1A2-4624-B76F-D96F929FF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實作 B｜Codex 完成同一任務</a:t>
            </a:r>
          </a:p>
        </p:txBody>
      </p:sp>
      <p:cxnSp>
        <p:nvCxnSpPr>
          <p:cNvPr id="25" name="shape-1007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008">
            <a:extLst xmlns:a="http://schemas.openxmlformats.org/drawingml/2006/main">
              <a:ext uri="{FF2B5EF4-FFF2-40B4-BE49-F238E27FC236}">
                <a16:creationId xmlns:a16="http://schemas.microsoft.com/office/drawing/2014/main" id="{52F9DC5A-A015-4531-9C0D-791DE1A80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E4DC4F43-AE58-4CFC-96D0-5051EF3DB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21</a:t>
            </a:r>
          </a:p>
        </p:txBody>
      </p:sp>
      <p:sp>
        <p:nvSpPr>
          <p:cNvPr id="6" name="text-1009">
            <a:extLst xmlns:a="http://schemas.openxmlformats.org/drawingml/2006/main">
              <a:ext uri="{FF2B5EF4-FFF2-40B4-BE49-F238E27FC236}">
                <a16:creationId xmlns:a16="http://schemas.microsoft.com/office/drawing/2014/main" id="{7D05FBC5-04A3-4D17-9E93-A26AED372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09750"/>
            <a:ext cx="2000250" cy="20002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18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分鐘</a:t>
            </a:r>
          </a:p>
        </p:txBody>
      </p:sp>
      <p:sp>
        <p:nvSpPr>
          <p:cNvPr id="7" name="text-1010">
            <a:extLst xmlns:a="http://schemas.openxmlformats.org/drawingml/2006/main">
              <a:ext uri="{FF2B5EF4-FFF2-40B4-BE49-F238E27FC236}">
                <a16:creationId xmlns:a16="http://schemas.microsoft.com/office/drawing/2014/main" id="{DB39E875-7F7F-4500-B32F-948B73FE4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1733550"/>
            <a:ext cx="3143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操作步驟</a:t>
            </a:r>
          </a:p>
        </p:txBody>
      </p:sp>
      <p:sp>
        <p:nvSpPr>
          <p:cNvPr id="8" name="text-1011">
            <a:extLst xmlns:a="http://schemas.openxmlformats.org/drawingml/2006/main">
              <a:ext uri="{FF2B5EF4-FFF2-40B4-BE49-F238E27FC236}">
                <a16:creationId xmlns:a16="http://schemas.microsoft.com/office/drawing/2014/main" id="{45D2A781-8696-424C-83DB-8F6872A6D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24003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1012">
            <a:extLst xmlns:a="http://schemas.openxmlformats.org/drawingml/2006/main">
              <a:ext uri="{FF2B5EF4-FFF2-40B4-BE49-F238E27FC236}">
                <a16:creationId xmlns:a16="http://schemas.microsoft.com/office/drawing/2014/main" id="{0444BE2F-EEF9-4790-ACA2-D4FAFF14D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24003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開啟上午成果的工作區</a:t>
            </a:r>
          </a:p>
        </p:txBody>
      </p:sp>
      <p:sp>
        <p:nvSpPr>
          <p:cNvPr id="10" name="text-1013">
            <a:extLst xmlns:a="http://schemas.openxmlformats.org/drawingml/2006/main">
              <a:ext uri="{FF2B5EF4-FFF2-40B4-BE49-F238E27FC236}">
                <a16:creationId xmlns:a16="http://schemas.microsoft.com/office/drawing/2014/main" id="{3D23FE0B-3257-4027-A120-11A53F94C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1051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1" name="text-1014">
            <a:extLst xmlns:a="http://schemas.openxmlformats.org/drawingml/2006/main">
              <a:ext uri="{FF2B5EF4-FFF2-40B4-BE49-F238E27FC236}">
                <a16:creationId xmlns:a16="http://schemas.microsoft.com/office/drawing/2014/main" id="{0B90BAD4-3E57-4CD0-84FA-B84CB123D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1051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貼上六欄任務簡報</a:t>
            </a:r>
          </a:p>
        </p:txBody>
      </p:sp>
      <p:sp>
        <p:nvSpPr>
          <p:cNvPr id="12" name="text-1015">
            <a:extLst xmlns:a="http://schemas.openxmlformats.org/drawingml/2006/main">
              <a:ext uri="{FF2B5EF4-FFF2-40B4-BE49-F238E27FC236}">
                <a16:creationId xmlns:a16="http://schemas.microsoft.com/office/drawing/2014/main" id="{AC40EBD2-9EA4-492C-980F-C246C1533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8100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13" name="text-1016">
            <a:extLst xmlns:a="http://schemas.openxmlformats.org/drawingml/2006/main">
              <a:ext uri="{FF2B5EF4-FFF2-40B4-BE49-F238E27FC236}">
                <a16:creationId xmlns:a16="http://schemas.microsoft.com/office/drawing/2014/main" id="{C559B253-2F08-4872-AC82-B7132E675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8100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觀察 Agent 讀檔、規劃與執行</a:t>
            </a:r>
          </a:p>
        </p:txBody>
      </p:sp>
      <p:sp>
        <p:nvSpPr>
          <p:cNvPr id="14" name="text-1017">
            <a:extLst xmlns:a="http://schemas.openxmlformats.org/drawingml/2006/main">
              <a:ext uri="{FF2B5EF4-FFF2-40B4-BE49-F238E27FC236}">
                <a16:creationId xmlns:a16="http://schemas.microsoft.com/office/drawing/2014/main" id="{61279C4E-F3F5-42FB-9C04-4544E86B7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45148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15" name="text-1018">
            <a:extLst xmlns:a="http://schemas.openxmlformats.org/drawingml/2006/main">
              <a:ext uri="{FF2B5EF4-FFF2-40B4-BE49-F238E27FC236}">
                <a16:creationId xmlns:a16="http://schemas.microsoft.com/office/drawing/2014/main" id="{81134837-7B7B-4EAF-98D1-5609E4ED5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45148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比較 Antigravity 與 Codex 的證據</a:t>
            </a:r>
          </a:p>
        </p:txBody>
      </p:sp>
      <p:sp>
        <p:nvSpPr>
          <p:cNvPr id="16" name="shape-1019">
            <a:extLst xmlns:a="http://schemas.openxmlformats.org/drawingml/2006/main">
              <a:ext uri="{FF2B5EF4-FFF2-40B4-BE49-F238E27FC236}">
                <a16:creationId xmlns:a16="http://schemas.microsoft.com/office/drawing/2014/main" id="{08D8FE5D-D456-4832-90F9-9617051CE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790700"/>
            <a:ext cx="2362200" cy="390525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7" name="text-1020">
            <a:extLst xmlns:a="http://schemas.openxmlformats.org/drawingml/2006/main">
              <a:ext uri="{FF2B5EF4-FFF2-40B4-BE49-F238E27FC236}">
                <a16:creationId xmlns:a16="http://schemas.microsoft.com/office/drawing/2014/main" id="{EEE6D97D-3C0B-4499-8851-641CA71B1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057400"/>
            <a:ext cx="18669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FF806D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FF806D"/>
                </a:solidFill>
                <a:latin typeface="Noto Sans TC"/>
                <a:ea typeface="Noto Sans TC"/>
                <a:cs typeface="Noto Sans TC"/>
              </a:rPr>
              <a:t>完成條件</a:t>
            </a:r>
          </a:p>
        </p:txBody>
      </p:sp>
      <p:sp>
        <p:nvSpPr>
          <p:cNvPr id="18" name="text-1021">
            <a:extLst xmlns:a="http://schemas.openxmlformats.org/drawingml/2006/main">
              <a:ext uri="{FF2B5EF4-FFF2-40B4-BE49-F238E27FC236}">
                <a16:creationId xmlns:a16="http://schemas.microsoft.com/office/drawing/2014/main" id="{8CD5FC09-E949-49A9-B9EA-1D20BD69E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705100"/>
            <a:ext cx="186690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✓ 有檔案變更或分析產物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✓ 有實際檢查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✓ 能說明差異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✓ 保留人工決定</a:t>
            </a:r>
          </a:p>
        </p:txBody>
      </p:sp>
      <p:sp>
        <p:nvSpPr>
          <p:cNvPr id="19" name="text-1440">
            <a:extLst xmlns:a="http://schemas.openxmlformats.org/drawingml/2006/main">
              <a:ext uri="{FF2B5EF4-FFF2-40B4-BE49-F238E27FC236}">
                <a16:creationId xmlns:a16="http://schemas.microsoft.com/office/drawing/2014/main" id="{B7B4B0C2-41AC-4AE3-A051-FA783ACF5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4a8987de40a1455d"/>
              </a:rPr>
              <a:t>開啟 Codex ↗</a:t>
            </a:r>
          </a:p>
        </p:txBody>
      </p:sp>
      <p:sp>
        <p:nvSpPr>
          <p:cNvPr id="20" name="shape-1485">
            <a:extLst xmlns:a="http://schemas.openxmlformats.org/drawingml/2006/main">
              <a:ext uri="{FF2B5EF4-FFF2-40B4-BE49-F238E27FC236}">
                <a16:creationId xmlns:a16="http://schemas.microsoft.com/office/drawing/2014/main" id="{C2481C6D-6690-44BF-A77A-84F2C03DB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4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d2ea45f398340c0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22" name="text-1486">
            <a:extLst xmlns:a="http://schemas.openxmlformats.org/drawingml/2006/main">
              <a:ext uri="{FF2B5EF4-FFF2-40B4-BE49-F238E27FC236}">
                <a16:creationId xmlns:a16="http://schemas.microsoft.com/office/drawing/2014/main" id="{03C3E4A8-3D83-4FA6-B57E-B580C2A2B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</p:spTree>
    <p:extLst>
      <p:ext uri="{BB962C8B-B14F-4D97-AF65-F5344CB8AC3E}">
        <p14:creationId xmlns:p14="http://schemas.microsoft.com/office/powerpoint/2010/main" val="1159604817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text-1022">
            <a:extLst xmlns:a="http://schemas.openxmlformats.org/drawingml/2006/main">
              <a:ext uri="{FF2B5EF4-FFF2-40B4-BE49-F238E27FC236}">
                <a16:creationId xmlns:a16="http://schemas.microsoft.com/office/drawing/2014/main" id="{F2B99211-2C20-4072-880C-A3920CBB4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CHOOSING THE TOOL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ACB26CA6-3BEB-479E-9803-BB1409FDB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Antigravity 或 Codex？用工作條件選</a:t>
            </a:r>
          </a:p>
        </p:txBody>
      </p:sp>
      <p:cxnSp>
        <p:nvCxnSpPr>
          <p:cNvPr id="26" name="shape-1023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024">
            <a:extLst xmlns:a="http://schemas.openxmlformats.org/drawingml/2006/main">
              <a:ext uri="{FF2B5EF4-FFF2-40B4-BE49-F238E27FC236}">
                <a16:creationId xmlns:a16="http://schemas.microsoft.com/office/drawing/2014/main" id="{FF1E0F85-AD3E-4B1E-97C5-38F7AE0A5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F3A8D91D-6B42-4D54-B932-473126D70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22</a:t>
            </a:r>
          </a:p>
        </p:txBody>
      </p:sp>
      <p:sp>
        <p:nvSpPr>
          <p:cNvPr id="6" name="shape-1025">
            <a:extLst xmlns:a="http://schemas.openxmlformats.org/drawingml/2006/main">
              <a:ext uri="{FF2B5EF4-FFF2-40B4-BE49-F238E27FC236}">
                <a16:creationId xmlns:a16="http://schemas.microsoft.com/office/drawing/2014/main" id="{DB7D354F-AED2-4694-93D3-33FD1A524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53625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7" name="shape-1026">
            <a:extLst xmlns:a="http://schemas.openxmlformats.org/drawingml/2006/main">
              <a:ext uri="{FF2B5EF4-FFF2-40B4-BE49-F238E27FC236}">
                <a16:creationId xmlns:a16="http://schemas.microsoft.com/office/drawing/2014/main" id="{8CE4AE37-4AFD-468C-B59B-A66DFC9B7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1676400"/>
            <a:ext cx="55911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8" name="text-1027">
            <a:extLst xmlns:a="http://schemas.openxmlformats.org/drawingml/2006/main">
              <a:ext uri="{FF2B5EF4-FFF2-40B4-BE49-F238E27FC236}">
                <a16:creationId xmlns:a16="http://schemas.microsoft.com/office/drawing/2014/main" id="{045F7BD4-E04E-4B87-9B0E-5275EB522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00250"/>
            <a:ext cx="47910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  <p:sp>
        <p:nvSpPr>
          <p:cNvPr id="9" name="text-1028">
            <a:extLst xmlns:a="http://schemas.openxmlformats.org/drawingml/2006/main">
              <a:ext uri="{FF2B5EF4-FFF2-40B4-BE49-F238E27FC236}">
                <a16:creationId xmlns:a16="http://schemas.microsoft.com/office/drawing/2014/main" id="{457CCEE8-83D6-4B87-87C9-783F7D450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81300"/>
            <a:ext cx="47910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Google 生態與 Agent 工作區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適合 Google 訂閱者的實作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Skill 可封裝專業流程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依帳號與管理政策使用</a:t>
            </a:r>
          </a:p>
        </p:txBody>
      </p:sp>
      <p:sp>
        <p:nvSpPr>
          <p:cNvPr id="10" name="text-1029">
            <a:extLst xmlns:a="http://schemas.openxmlformats.org/drawingml/2006/main">
              <a:ext uri="{FF2B5EF4-FFF2-40B4-BE49-F238E27FC236}">
                <a16:creationId xmlns:a16="http://schemas.microsoft.com/office/drawing/2014/main" id="{E85D0C9B-7D4A-4F06-864B-603EECB52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000250"/>
            <a:ext cx="49815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  <p:sp>
        <p:nvSpPr>
          <p:cNvPr id="11" name="text-1030">
            <a:extLst xmlns:a="http://schemas.openxmlformats.org/drawingml/2006/main">
              <a:ext uri="{FF2B5EF4-FFF2-40B4-BE49-F238E27FC236}">
                <a16:creationId xmlns:a16="http://schemas.microsoft.com/office/drawing/2014/main" id="{555BE170-0FAE-476E-8A0E-2EF360F34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781300"/>
            <a:ext cx="49815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ChatGPT／Codex 工作環境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善於處理檔案、專案與驗證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Skill 可重複套用工作流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依方案與權限使用</a:t>
            </a:r>
          </a:p>
        </p:txBody>
      </p:sp>
      <p:sp>
        <p:nvSpPr>
          <p:cNvPr id="12" name="text-1031">
            <a:extLst xmlns:a="http://schemas.openxmlformats.org/drawingml/2006/main">
              <a:ext uri="{FF2B5EF4-FFF2-40B4-BE49-F238E27FC236}">
                <a16:creationId xmlns:a16="http://schemas.microsoft.com/office/drawing/2014/main" id="{28327D4B-1FD9-4FDA-8060-DAF96CB15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876800"/>
            <a:ext cx="209550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Google 生態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工作區與 Agent 協作</a:t>
            </a:r>
          </a:p>
        </p:txBody>
      </p:sp>
      <p:sp>
        <p:nvSpPr>
          <p:cNvPr id="13" name="text-1032">
            <a:extLst xmlns:a="http://schemas.openxmlformats.org/drawingml/2006/main">
              <a:ext uri="{FF2B5EF4-FFF2-40B4-BE49-F238E27FC236}">
                <a16:creationId xmlns:a16="http://schemas.microsoft.com/office/drawing/2014/main" id="{FBFF3E72-BC09-40CF-B02C-70DBB85F6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4876800"/>
            <a:ext cx="266700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依帳號、資料、任務、權限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選最可驗證的路徑</a:t>
            </a:r>
          </a:p>
        </p:txBody>
      </p:sp>
      <p:sp>
        <p:nvSpPr>
          <p:cNvPr id="14" name="text-1033">
            <a:extLst xmlns:a="http://schemas.openxmlformats.org/drawingml/2006/main">
              <a:ext uri="{FF2B5EF4-FFF2-40B4-BE49-F238E27FC236}">
                <a16:creationId xmlns:a16="http://schemas.microsoft.com/office/drawing/2014/main" id="{85EA0242-6C02-456F-AB5C-2937C67C0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4876800"/>
            <a:ext cx="209550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2A1B22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ChatGPT／Codex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檔案、專案與測試</a:t>
            </a:r>
          </a:p>
        </p:txBody>
      </p:sp>
      <p:cxnSp>
        <p:nvCxnSpPr>
          <p:cNvPr id="38" name=""/>
          <p:cNvCxnSpPr>
            <a:stCxn xmlns:a="http://schemas.openxmlformats.org/drawingml/2006/main" id="13" idx="1"/>
            <a:endCxn xmlns:a="http://schemas.openxmlformats.org/drawingml/2006/main" id="12" idx="3"/>
          </p:cNvCxnSpPr>
          <p:nvPr/>
        </p:nvCxnSpPr>
        <p:spPr>
          <a:xfrm xmlns:a="http://schemas.openxmlformats.org/drawingml/2006/main" flipH="1">
            <a:off x="2971800" y="5181600"/>
            <a:ext cx="17907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5A7FF"/>
            </a:solidFill>
            <a:prstDash val="solid"/>
            <a:tailEnd type="arrow" w="sm" len="sm"/>
          </a:ln>
        </p:spPr>
      </p:cxnSp>
      <p:cxnSp>
        <p:nvCxnSpPr>
          <p:cNvPr id="39" name=""/>
          <p:cNvCxnSpPr>
            <a:stCxn xmlns:a="http://schemas.openxmlformats.org/drawingml/2006/main" id="13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7429500" y="5181600"/>
            <a:ext cx="17907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FF806D"/>
            </a:solidFill>
            <a:prstDash val="solid"/>
            <a:tailEnd type="arrow" w="sm" len="sm"/>
          </a:ln>
        </p:spPr>
      </p:cxnSp>
      <p:sp>
        <p:nvSpPr>
          <p:cNvPr id="17" name="text-1034">
            <a:extLst xmlns:a="http://schemas.openxmlformats.org/drawingml/2006/main">
              <a:ext uri="{FF2B5EF4-FFF2-40B4-BE49-F238E27FC236}">
                <a16:creationId xmlns:a16="http://schemas.microsoft.com/office/drawing/2014/main" id="{87CFBB28-F913-4650-AF89-705018F62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5619750"/>
            <a:ext cx="590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選條件，不選品牌；同一驗收規準才能比較</a:t>
            </a:r>
          </a:p>
        </p:txBody>
      </p:sp>
      <p:sp>
        <p:nvSpPr>
          <p:cNvPr id="18" name="text-1441">
            <a:extLst xmlns:a="http://schemas.openxmlformats.org/drawingml/2006/main">
              <a:ext uri="{FF2B5EF4-FFF2-40B4-BE49-F238E27FC236}">
                <a16:creationId xmlns:a16="http://schemas.microsoft.com/office/drawing/2014/main" id="{275036E8-8F66-4B5D-8ACF-2D8827E44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b5ff5b7e65864e1c"/>
              </a:rPr>
              <a:t>Antigravity ↗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7ef1a6fd2c0d4442"/>
              </a:rPr>
              <a:t>Codex ↗</a:t>
            </a:r>
          </a:p>
        </p:txBody>
      </p:sp>
      <p:sp>
        <p:nvSpPr>
          <p:cNvPr id="19" name="shape-1487">
            <a:extLst xmlns:a="http://schemas.openxmlformats.org/drawingml/2006/main">
              <a:ext uri="{FF2B5EF4-FFF2-40B4-BE49-F238E27FC236}">
                <a16:creationId xmlns:a16="http://schemas.microsoft.com/office/drawing/2014/main" id="{86DC0AF2-24B2-48A6-8171-68EF94D89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4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2b8f4a2a4f74c3c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1" name="text-1488">
            <a:extLst xmlns:a="http://schemas.openxmlformats.org/drawingml/2006/main">
              <a:ext uri="{FF2B5EF4-FFF2-40B4-BE49-F238E27FC236}">
                <a16:creationId xmlns:a16="http://schemas.microsoft.com/office/drawing/2014/main" id="{1E079844-04F2-4E95-8583-12D00357F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  <p:pic>
        <p:nvPicPr>
          <p:cNvPr id="4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afd5932fb5b4ce9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3" name="text-1489">
            <a:extLst xmlns:a="http://schemas.openxmlformats.org/drawingml/2006/main">
              <a:ext uri="{FF2B5EF4-FFF2-40B4-BE49-F238E27FC236}">
                <a16:creationId xmlns:a16="http://schemas.microsoft.com/office/drawing/2014/main" id="{EBCA4164-FE54-43EB-B3EC-0F8FCE15B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</p:spTree>
    <p:extLst>
      <p:ext uri="{BB962C8B-B14F-4D97-AF65-F5344CB8AC3E}">
        <p14:creationId xmlns:p14="http://schemas.microsoft.com/office/powerpoint/2010/main" val="1498509596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text-1035">
            <a:extLst xmlns:a="http://schemas.openxmlformats.org/drawingml/2006/main">
              <a:ext uri="{FF2B5EF4-FFF2-40B4-BE49-F238E27FC236}">
                <a16:creationId xmlns:a16="http://schemas.microsoft.com/office/drawing/2014/main" id="{A8EF118E-CE50-438E-A105-93902057A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2000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4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84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2" name="text-1036">
            <a:extLst xmlns:a="http://schemas.openxmlformats.org/drawingml/2006/main">
              <a:ext uri="{FF2B5EF4-FFF2-40B4-BE49-F238E27FC236}">
                <a16:creationId xmlns:a16="http://schemas.microsoft.com/office/drawing/2014/main" id="{0370F78A-F508-40B4-967D-47C63E7B5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343150"/>
            <a:ext cx="10668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40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40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Agent Skills</a:t>
            </a:r>
          </a:p>
        </p:txBody>
      </p:sp>
      <p:sp>
        <p:nvSpPr>
          <p:cNvPr id="3" name="text-1037">
            <a:extLst xmlns:a="http://schemas.openxmlformats.org/drawingml/2006/main">
              <a:ext uri="{FF2B5EF4-FFF2-40B4-BE49-F238E27FC236}">
                <a16:creationId xmlns:a16="http://schemas.microsoft.com/office/drawing/2014/main" id="{80F2672C-8A5D-4168-9C24-147307DFD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95700"/>
            <a:ext cx="84772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把反覆使用的提示詞、規則、範例與檢查方式，封裝成 Agent 需要時才載入的專業工作包。</a:t>
            </a:r>
          </a:p>
        </p:txBody>
      </p:sp>
      <p:sp>
        <p:nvSpPr>
          <p:cNvPr id="4" name="shape-1038">
            <a:extLst xmlns:a="http://schemas.openxmlformats.org/drawingml/2006/main">
              <a:ext uri="{FF2B5EF4-FFF2-40B4-BE49-F238E27FC236}">
                <a16:creationId xmlns:a16="http://schemas.microsoft.com/office/drawing/2014/main" id="{0386FED0-3E28-4049-B158-8A86DB0E0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3810000"/>
            <a:ext cx="1524000" cy="1524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text-1039">
            <a:extLst xmlns:a="http://schemas.openxmlformats.org/drawingml/2006/main">
              <a:ext uri="{FF2B5EF4-FFF2-40B4-BE49-F238E27FC236}">
                <a16:creationId xmlns:a16="http://schemas.microsoft.com/office/drawing/2014/main" id="{9A5FFA52-65FF-478D-8080-1D9E76283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4114800"/>
            <a:ext cx="1143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動手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做</a:t>
            </a:r>
          </a:p>
        </p:txBody>
      </p:sp>
      <p:cxnSp>
        <p:nvCxnSpPr>
          <p:cNvPr id="20" name="shape-1040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7" name="text-1041">
            <a:extLst xmlns:a="http://schemas.openxmlformats.org/drawingml/2006/main">
              <a:ext uri="{FF2B5EF4-FFF2-40B4-BE49-F238E27FC236}">
                <a16:creationId xmlns:a16="http://schemas.microsoft.com/office/drawing/2014/main" id="{B91C8EF2-6CC2-4808-B033-E1B09C199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8" name="page-number">
            <a:extLst xmlns:a="http://schemas.openxmlformats.org/drawingml/2006/main">
              <a:ext uri="{FF2B5EF4-FFF2-40B4-BE49-F238E27FC236}">
                <a16:creationId xmlns:a16="http://schemas.microsoft.com/office/drawing/2014/main" id="{9F06E812-A34B-419D-97E3-59E317B7F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23</a:t>
            </a:r>
          </a:p>
        </p:txBody>
      </p:sp>
      <p:sp>
        <p:nvSpPr>
          <p:cNvPr id="9" name="text-1442">
            <a:extLst xmlns:a="http://schemas.openxmlformats.org/drawingml/2006/main">
              <a:ext uri="{FF2B5EF4-FFF2-40B4-BE49-F238E27FC236}">
                <a16:creationId xmlns:a16="http://schemas.microsoft.com/office/drawing/2014/main" id="{B9C3CFF5-0A90-460B-9ED0-9948C96C6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229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e975141fa4f7470f"/>
              </a:rPr>
              <a:t>Antigravity Skills ↗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a545c0205a18495a"/>
              </a:rPr>
              <a:t>Codex Skills ↗</a:t>
            </a:r>
          </a:p>
        </p:txBody>
      </p:sp>
      <p:sp>
        <p:nvSpPr>
          <p:cNvPr id="10" name="shape-1490">
            <a:extLst xmlns:a="http://schemas.openxmlformats.org/drawingml/2006/main">
              <a:ext uri="{FF2B5EF4-FFF2-40B4-BE49-F238E27FC236}">
                <a16:creationId xmlns:a16="http://schemas.microsoft.com/office/drawing/2014/main" id="{CB4A3FB4-C63B-4029-B8E7-031F34BA8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f66e9f4ba3d440c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12" name="text-1491">
            <a:extLst xmlns:a="http://schemas.openxmlformats.org/drawingml/2006/main">
              <a:ext uri="{FF2B5EF4-FFF2-40B4-BE49-F238E27FC236}">
                <a16:creationId xmlns:a16="http://schemas.microsoft.com/office/drawing/2014/main" id="{6FBFC626-DAA7-40F5-8329-720829459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Antigravity </a:t>
            </a:r>
          </a:p>
        </p:txBody>
      </p:sp>
      <p:pic>
        <p:nvPicPr>
          <p:cNvPr id="2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26bee4bde71426b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14" name="text-1492">
            <a:extLst xmlns:a="http://schemas.openxmlformats.org/drawingml/2006/main">
              <a:ext uri="{FF2B5EF4-FFF2-40B4-BE49-F238E27FC236}">
                <a16:creationId xmlns:a16="http://schemas.microsoft.com/office/drawing/2014/main" id="{1A9F90CA-E34C-4E7D-A10A-CA7D18997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Codex Skills</a:t>
            </a:r>
          </a:p>
        </p:txBody>
      </p:sp>
    </p:spTree>
    <p:extLst>
      <p:ext uri="{BB962C8B-B14F-4D97-AF65-F5344CB8AC3E}">
        <p14:creationId xmlns:p14="http://schemas.microsoft.com/office/powerpoint/2010/main" val="1341702310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text-1042">
            <a:extLst xmlns:a="http://schemas.openxmlformats.org/drawingml/2006/main">
              <a:ext uri="{FF2B5EF4-FFF2-40B4-BE49-F238E27FC236}">
                <a16:creationId xmlns:a16="http://schemas.microsoft.com/office/drawing/2014/main" id="{9306E867-E34D-402D-A0A6-1545B64D2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REUSE WITHOUT CONTEXT BLOAT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F9CCAFDC-0DCF-4E8F-86D6-0A27657A5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為什麼需要 Skill？</a:t>
            </a:r>
          </a:p>
        </p:txBody>
      </p:sp>
      <p:cxnSp>
        <p:nvCxnSpPr>
          <p:cNvPr id="20" name="shape-1043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044">
            <a:extLst xmlns:a="http://schemas.openxmlformats.org/drawingml/2006/main">
              <a:ext uri="{FF2B5EF4-FFF2-40B4-BE49-F238E27FC236}">
                <a16:creationId xmlns:a16="http://schemas.microsoft.com/office/drawing/2014/main" id="{A0B9914F-043B-4A5F-975F-F06954740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050FAB47-0805-4B42-A8FF-F20FDC55F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24</a:t>
            </a:r>
          </a:p>
        </p:txBody>
      </p:sp>
      <p:sp>
        <p:nvSpPr>
          <p:cNvPr id="6" name="shape-1045">
            <a:extLst xmlns:a="http://schemas.openxmlformats.org/drawingml/2006/main">
              <a:ext uri="{FF2B5EF4-FFF2-40B4-BE49-F238E27FC236}">
                <a16:creationId xmlns:a16="http://schemas.microsoft.com/office/drawing/2014/main" id="{21722278-F2DF-4067-B56D-9C4CC28CD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53625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7" name="shape-1046">
            <a:extLst xmlns:a="http://schemas.openxmlformats.org/drawingml/2006/main">
              <a:ext uri="{FF2B5EF4-FFF2-40B4-BE49-F238E27FC236}">
                <a16:creationId xmlns:a16="http://schemas.microsoft.com/office/drawing/2014/main" id="{A9E2E08A-E440-4B2A-8879-1A7B7D896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1676400"/>
            <a:ext cx="55911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8" name="text-1047">
            <a:extLst xmlns:a="http://schemas.openxmlformats.org/drawingml/2006/main">
              <a:ext uri="{FF2B5EF4-FFF2-40B4-BE49-F238E27FC236}">
                <a16:creationId xmlns:a16="http://schemas.microsoft.com/office/drawing/2014/main" id="{2CC8C9DC-36FC-42EA-97AA-A18643634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00250"/>
            <a:ext cx="47910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每次貼長提示詞</a:t>
            </a:r>
          </a:p>
        </p:txBody>
      </p:sp>
      <p:sp>
        <p:nvSpPr>
          <p:cNvPr id="9" name="text-1048">
            <a:extLst xmlns:a="http://schemas.openxmlformats.org/drawingml/2006/main">
              <a:ext uri="{FF2B5EF4-FFF2-40B4-BE49-F238E27FC236}">
                <a16:creationId xmlns:a16="http://schemas.microsoft.com/office/drawing/2014/main" id="{B51B85AF-F67D-4AB7-A1A9-335F4FAAA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81300"/>
            <a:ext cx="47910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容易漏貼規則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版本散落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範例與腳本混在對話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上下文被無關內容塞滿</a:t>
            </a:r>
          </a:p>
        </p:txBody>
      </p:sp>
      <p:sp>
        <p:nvSpPr>
          <p:cNvPr id="10" name="text-1049">
            <a:extLst xmlns:a="http://schemas.openxmlformats.org/drawingml/2006/main">
              <a:ext uri="{FF2B5EF4-FFF2-40B4-BE49-F238E27FC236}">
                <a16:creationId xmlns:a16="http://schemas.microsoft.com/office/drawing/2014/main" id="{35174309-1838-494D-AAE0-20E13344C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000250"/>
            <a:ext cx="49815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按需載入 Skill</a:t>
            </a:r>
          </a:p>
        </p:txBody>
      </p:sp>
      <p:sp>
        <p:nvSpPr>
          <p:cNvPr id="11" name="text-1050">
            <a:extLst xmlns:a="http://schemas.openxmlformats.org/drawingml/2006/main">
              <a:ext uri="{FF2B5EF4-FFF2-40B4-BE49-F238E27FC236}">
                <a16:creationId xmlns:a16="http://schemas.microsoft.com/office/drawing/2014/main" id="{A04FEA5F-5D38-4550-89B4-380A71A1B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781300"/>
            <a:ext cx="49815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先用名稱與描述判斷是否適用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需要時才讀完整流程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可附 references、scripts、assets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可測試、版控與共同維護</a:t>
            </a:r>
          </a:p>
        </p:txBody>
      </p:sp>
      <p:sp>
        <p:nvSpPr>
          <p:cNvPr id="12" name="text-1443">
            <a:extLst xmlns:a="http://schemas.openxmlformats.org/drawingml/2006/main">
              <a:ext uri="{FF2B5EF4-FFF2-40B4-BE49-F238E27FC236}">
                <a16:creationId xmlns:a16="http://schemas.microsoft.com/office/drawing/2014/main" id="{CF2EBCD5-B2A3-4ED8-BD35-85F524314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229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461f401dfa564dcd"/>
              </a:rPr>
              <a:t>Antigravity Skills ↗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d39bf8116fcf43ab"/>
              </a:rPr>
              <a:t>Codex Skills ↗</a:t>
            </a:r>
          </a:p>
        </p:txBody>
      </p:sp>
      <p:sp>
        <p:nvSpPr>
          <p:cNvPr id="13" name="shape-1493">
            <a:extLst xmlns:a="http://schemas.openxmlformats.org/drawingml/2006/main">
              <a:ext uri="{FF2B5EF4-FFF2-40B4-BE49-F238E27FC236}">
                <a16:creationId xmlns:a16="http://schemas.microsoft.com/office/drawing/2014/main" id="{B8741BCB-3F1C-44A2-A4DF-4D813F591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3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70729ecdc8f42f0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15" name="text-1494">
            <a:extLst xmlns:a="http://schemas.openxmlformats.org/drawingml/2006/main">
              <a:ext uri="{FF2B5EF4-FFF2-40B4-BE49-F238E27FC236}">
                <a16:creationId xmlns:a16="http://schemas.microsoft.com/office/drawing/2014/main" id="{1FB35985-25EE-4E27-BD24-9F16A3370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Antigravity </a:t>
            </a:r>
          </a:p>
        </p:txBody>
      </p:sp>
      <p:pic>
        <p:nvPicPr>
          <p:cNvPr id="3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b5b2a1a82e340b3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17" name="text-1495">
            <a:extLst xmlns:a="http://schemas.openxmlformats.org/drawingml/2006/main">
              <a:ext uri="{FF2B5EF4-FFF2-40B4-BE49-F238E27FC236}">
                <a16:creationId xmlns:a16="http://schemas.microsoft.com/office/drawing/2014/main" id="{2CA5BA13-029A-4BF6-A772-8114F643D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Codex Skills</a:t>
            </a:r>
          </a:p>
        </p:txBody>
      </p:sp>
    </p:spTree>
    <p:extLst>
      <p:ext uri="{BB962C8B-B14F-4D97-AF65-F5344CB8AC3E}">
        <p14:creationId xmlns:p14="http://schemas.microsoft.com/office/powerpoint/2010/main" val="821341260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1051">
            <a:extLst xmlns:a="http://schemas.openxmlformats.org/drawingml/2006/main">
              <a:ext uri="{FF2B5EF4-FFF2-40B4-BE49-F238E27FC236}">
                <a16:creationId xmlns:a16="http://schemas.microsoft.com/office/drawing/2014/main" id="{9B943178-57E1-4DE7-A516-4905984A0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51 PROMPTS · 9 DOMAINS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03338D4A-23DD-4B2D-A6F5-FC604CE1D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從提示詞快捷面板開始發想</a:t>
            </a:r>
          </a:p>
        </p:txBody>
      </p:sp>
      <p:cxnSp>
        <p:nvCxnSpPr>
          <p:cNvPr id="15" name="shape-1052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053">
            <a:extLst xmlns:a="http://schemas.openxmlformats.org/drawingml/2006/main">
              <a:ext uri="{FF2B5EF4-FFF2-40B4-BE49-F238E27FC236}">
                <a16:creationId xmlns:a16="http://schemas.microsoft.com/office/drawing/2014/main" id="{0DD80190-BDEE-4FB0-B867-17606805C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40AFC988-07FF-455A-95CA-1D6CF4C74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25</a:t>
            </a:r>
          </a:p>
        </p:txBody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8399bfa67834ce6"/>
          <a:srcRect xmlns:a="http://schemas.openxmlformats.org/drawingml/2006/main" l="1389" t="0" r="1389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14350" y="1600200"/>
            <a:ext cx="6934200" cy="4457700"/>
          </a:xfrm>
          <a:prstGeom xmlns:a="http://schemas.openxmlformats.org/drawingml/2006/main" prst="roundRect">
            <a:avLst>
              <a:gd name="adj" fmla="val 3419"/>
            </a:avLst>
          </a:prstGeom>
        </p:spPr>
      </p:pic>
      <p:sp>
        <p:nvSpPr>
          <p:cNvPr id="7" name="text-1054">
            <a:extLst xmlns:a="http://schemas.openxmlformats.org/drawingml/2006/main">
              <a:ext uri="{FF2B5EF4-FFF2-40B4-BE49-F238E27FC236}">
                <a16:creationId xmlns:a16="http://schemas.microsoft.com/office/drawing/2014/main" id="{65B68CF1-5C8D-48A7-9415-A02773E97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1752600"/>
            <a:ext cx="3714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9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阿凱老師的提示詞快捷面板</a:t>
            </a:r>
          </a:p>
        </p:txBody>
      </p:sp>
      <p:sp>
        <p:nvSpPr>
          <p:cNvPr id="8" name="text-1055">
            <a:extLst xmlns:a="http://schemas.openxmlformats.org/drawingml/2006/main">
              <a:ext uri="{FF2B5EF4-FFF2-40B4-BE49-F238E27FC236}">
                <a16:creationId xmlns:a16="http://schemas.microsoft.com/office/drawing/2014/main" id="{D2D4871A-47F5-4655-887B-73D9DEF4A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2724150"/>
            <a:ext cx="3714750" cy="2781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• 部署上線：Pages、Firebase、版本確認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4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• 網站設計：單檔網站、RWD、Google Sites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4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• 影音字幕：SRT、章節、短影片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4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• 圖像簡報、內容寫作、功能整合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4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• 技能文件、開發流程與常用片段</a:t>
            </a:r>
          </a:p>
        </p:txBody>
      </p:sp>
      <p:sp>
        <p:nvSpPr>
          <p:cNvPr id="9" name="text-1451">
            <a:extLst xmlns:a="http://schemas.openxmlformats.org/drawingml/2006/main">
              <a:ext uri="{FF2B5EF4-FFF2-40B4-BE49-F238E27FC236}">
                <a16:creationId xmlns:a16="http://schemas.microsoft.com/office/drawing/2014/main" id="{B965D816-3616-4C53-9444-59DBA298C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48e03112e0764011"/>
              </a:rPr>
              <a:t>開啟提示詞面板 ↗</a:t>
            </a:r>
          </a:p>
        </p:txBody>
      </p:sp>
      <p:sp>
        <p:nvSpPr>
          <p:cNvPr id="10" name="shape-1517">
            <a:extLst xmlns:a="http://schemas.openxmlformats.org/drawingml/2006/main">
              <a:ext uri="{FF2B5EF4-FFF2-40B4-BE49-F238E27FC236}">
                <a16:creationId xmlns:a16="http://schemas.microsoft.com/office/drawing/2014/main" id="{6920BD0B-965C-4E28-952D-6BF508EC0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97880044449470c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12" name="text-1518">
            <a:extLst xmlns:a="http://schemas.openxmlformats.org/drawingml/2006/main">
              <a:ext uri="{FF2B5EF4-FFF2-40B4-BE49-F238E27FC236}">
                <a16:creationId xmlns:a16="http://schemas.microsoft.com/office/drawing/2014/main" id="{86A28EF0-02A2-4F12-A8AD-429F1CEB2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提示詞面板</a:t>
            </a:r>
          </a:p>
        </p:txBody>
      </p:sp>
    </p:spTree>
    <p:extLst>
      <p:ext uri="{BB962C8B-B14F-4D97-AF65-F5344CB8AC3E}">
        <p14:creationId xmlns:p14="http://schemas.microsoft.com/office/powerpoint/2010/main" val="116628979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text-1056">
            <a:extLst xmlns:a="http://schemas.openxmlformats.org/drawingml/2006/main">
              <a:ext uri="{FF2B5EF4-FFF2-40B4-BE49-F238E27FC236}">
                <a16:creationId xmlns:a16="http://schemas.microsoft.com/office/drawing/2014/main" id="{A0B3DE9B-2CA9-4269-94F9-E9D2C9DBA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PROMPT → SKILL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D2C50104-0379-4CE6-A64C-46D526694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四問判斷：這個提示詞值得升級成 Skill 嗎？</a:t>
            </a:r>
          </a:p>
        </p:txBody>
      </p:sp>
      <p:cxnSp>
        <p:nvCxnSpPr>
          <p:cNvPr id="30" name="shape-1057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058">
            <a:extLst xmlns:a="http://schemas.openxmlformats.org/drawingml/2006/main">
              <a:ext uri="{FF2B5EF4-FFF2-40B4-BE49-F238E27FC236}">
                <a16:creationId xmlns:a16="http://schemas.microsoft.com/office/drawing/2014/main" id="{00EA9FBE-28B2-46E5-B35A-1BDE397E0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DECA32AD-B35A-4414-AF6F-4A6426695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26</a:t>
            </a:r>
          </a:p>
        </p:txBody>
      </p:sp>
      <p:sp>
        <p:nvSpPr>
          <p:cNvPr id="6" name="shape-1059">
            <a:extLst xmlns:a="http://schemas.openxmlformats.org/drawingml/2006/main">
              <a:ext uri="{FF2B5EF4-FFF2-40B4-BE49-F238E27FC236}">
                <a16:creationId xmlns:a16="http://schemas.microsoft.com/office/drawing/2014/main" id="{51CAFC20-C3D6-4ECA-9622-6B21D16FF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7" name="text-1060">
            <a:extLst xmlns:a="http://schemas.openxmlformats.org/drawingml/2006/main">
              <a:ext uri="{FF2B5EF4-FFF2-40B4-BE49-F238E27FC236}">
                <a16:creationId xmlns:a16="http://schemas.microsoft.com/office/drawing/2014/main" id="{44C98B1E-EB12-4F2C-AAB2-AC8B80BCE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R</a:t>
            </a:r>
          </a:p>
        </p:txBody>
      </p:sp>
      <p:sp>
        <p:nvSpPr>
          <p:cNvPr id="8" name="text-1061">
            <a:extLst xmlns:a="http://schemas.openxmlformats.org/drawingml/2006/main">
              <a:ext uri="{FF2B5EF4-FFF2-40B4-BE49-F238E27FC236}">
                <a16:creationId xmlns:a16="http://schemas.microsoft.com/office/drawing/2014/main" id="{50E39EC4-04DE-44CE-95D8-536408734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會重複嗎？</a:t>
            </a:r>
          </a:p>
        </p:txBody>
      </p:sp>
      <p:sp>
        <p:nvSpPr>
          <p:cNvPr id="9" name="text-1062">
            <a:extLst xmlns:a="http://schemas.openxmlformats.org/drawingml/2006/main">
              <a:ext uri="{FF2B5EF4-FFF2-40B4-BE49-F238E27FC236}">
                <a16:creationId xmlns:a16="http://schemas.microsoft.com/office/drawing/2014/main" id="{FE32D8C0-1D66-4D88-80DD-1D516C87E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一學期或一個團隊會反覆遇到，不是一次性要求。</a:t>
            </a:r>
          </a:p>
        </p:txBody>
      </p:sp>
      <p:sp>
        <p:nvSpPr>
          <p:cNvPr id="10" name="shape-1063">
            <a:extLst xmlns:a="http://schemas.openxmlformats.org/drawingml/2006/main">
              <a:ext uri="{FF2B5EF4-FFF2-40B4-BE49-F238E27FC236}">
                <a16:creationId xmlns:a16="http://schemas.microsoft.com/office/drawing/2014/main" id="{C66D5A3A-BCD7-4A6B-A02D-14EB19267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1" name="text-1064">
            <a:extLst xmlns:a="http://schemas.openxmlformats.org/drawingml/2006/main">
              <a:ext uri="{FF2B5EF4-FFF2-40B4-BE49-F238E27FC236}">
                <a16:creationId xmlns:a16="http://schemas.microsoft.com/office/drawing/2014/main" id="{31AA358A-176A-4448-8774-E2ED02142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CD2C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S</a:t>
            </a:r>
          </a:p>
        </p:txBody>
      </p:sp>
      <p:sp>
        <p:nvSpPr>
          <p:cNvPr id="12" name="text-1065">
            <a:extLst xmlns:a="http://schemas.openxmlformats.org/drawingml/2006/main">
              <a:ext uri="{FF2B5EF4-FFF2-40B4-BE49-F238E27FC236}">
                <a16:creationId xmlns:a16="http://schemas.microsoft.com/office/drawing/2014/main" id="{E1F82C9C-B1B5-4814-AA46-D8AE82945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流程穩定嗎？</a:t>
            </a:r>
          </a:p>
        </p:txBody>
      </p:sp>
      <p:sp>
        <p:nvSpPr>
          <p:cNvPr id="13" name="text-1066">
            <a:extLst xmlns:a="http://schemas.openxmlformats.org/drawingml/2006/main">
              <a:ext uri="{FF2B5EF4-FFF2-40B4-BE49-F238E27FC236}">
                <a16:creationId xmlns:a16="http://schemas.microsoft.com/office/drawing/2014/main" id="{1094665B-BDB3-4F4F-AEAE-6B9036DC3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大部分步驟、限制與輸出欄位可固定。</a:t>
            </a:r>
          </a:p>
        </p:txBody>
      </p:sp>
      <p:sp>
        <p:nvSpPr>
          <p:cNvPr id="14" name="shape-1067">
            <a:extLst xmlns:a="http://schemas.openxmlformats.org/drawingml/2006/main">
              <a:ext uri="{FF2B5EF4-FFF2-40B4-BE49-F238E27FC236}">
                <a16:creationId xmlns:a16="http://schemas.microsoft.com/office/drawing/2014/main" id="{C3F5B8EB-4039-4DBA-AC62-CE7A11B4C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5" name="text-1068">
            <a:extLst xmlns:a="http://schemas.openxmlformats.org/drawingml/2006/main">
              <a:ext uri="{FF2B5EF4-FFF2-40B4-BE49-F238E27FC236}">
                <a16:creationId xmlns:a16="http://schemas.microsoft.com/office/drawing/2014/main" id="{9E3F01E6-912A-433B-BBB2-5A75FCD72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806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V</a:t>
            </a:r>
          </a:p>
        </p:txBody>
      </p:sp>
      <p:sp>
        <p:nvSpPr>
          <p:cNvPr id="16" name="text-1069">
            <a:extLst xmlns:a="http://schemas.openxmlformats.org/drawingml/2006/main">
              <a:ext uri="{FF2B5EF4-FFF2-40B4-BE49-F238E27FC236}">
                <a16:creationId xmlns:a16="http://schemas.microsoft.com/office/drawing/2014/main" id="{FE76DD70-4E5D-4B16-A616-B98BA9B3B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能驗證嗎？</a:t>
            </a:r>
          </a:p>
        </p:txBody>
      </p:sp>
      <p:sp>
        <p:nvSpPr>
          <p:cNvPr id="17" name="text-1070">
            <a:extLst xmlns:a="http://schemas.openxmlformats.org/drawingml/2006/main">
              <a:ext uri="{FF2B5EF4-FFF2-40B4-BE49-F238E27FC236}">
                <a16:creationId xmlns:a16="http://schemas.microsoft.com/office/drawing/2014/main" id="{4C9E8FC2-2E23-4670-98FD-EC8F04375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有可檢查的完成條件，而非只憑喜好。</a:t>
            </a:r>
          </a:p>
        </p:txBody>
      </p:sp>
      <p:sp>
        <p:nvSpPr>
          <p:cNvPr id="18" name="shape-1071">
            <a:extLst xmlns:a="http://schemas.openxmlformats.org/drawingml/2006/main">
              <a:ext uri="{FF2B5EF4-FFF2-40B4-BE49-F238E27FC236}">
                <a16:creationId xmlns:a16="http://schemas.microsoft.com/office/drawing/2014/main" id="{15A705A7-A953-4504-A7DA-DD4425E36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9" name="text-1072">
            <a:extLst xmlns:a="http://schemas.openxmlformats.org/drawingml/2006/main">
              <a:ext uri="{FF2B5EF4-FFF2-40B4-BE49-F238E27FC236}">
                <a16:creationId xmlns:a16="http://schemas.microsoft.com/office/drawing/2014/main" id="{B38CAE8E-4675-43FA-80B8-70D04FCB5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A78BF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M</a:t>
            </a:r>
          </a:p>
        </p:txBody>
      </p:sp>
      <p:sp>
        <p:nvSpPr>
          <p:cNvPr id="20" name="text-1073">
            <a:extLst xmlns:a="http://schemas.openxmlformats.org/drawingml/2006/main">
              <a:ext uri="{FF2B5EF4-FFF2-40B4-BE49-F238E27FC236}">
                <a16:creationId xmlns:a16="http://schemas.microsoft.com/office/drawing/2014/main" id="{4A48DF96-44D4-4CA2-BF00-3063CED21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能維護嗎？</a:t>
            </a:r>
          </a:p>
        </p:txBody>
      </p:sp>
      <p:sp>
        <p:nvSpPr>
          <p:cNvPr id="21" name="text-1074">
            <a:extLst xmlns:a="http://schemas.openxmlformats.org/drawingml/2006/main">
              <a:ext uri="{FF2B5EF4-FFF2-40B4-BE49-F238E27FC236}">
                <a16:creationId xmlns:a16="http://schemas.microsoft.com/office/drawing/2014/main" id="{A77A31B1-A2B5-42FE-A1B8-35FD7F0EB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範例、規則與腳本可以更新、版控與交接。</a:t>
            </a:r>
          </a:p>
        </p:txBody>
      </p:sp>
      <p:sp>
        <p:nvSpPr>
          <p:cNvPr id="22" name="text-1444">
            <a:extLst xmlns:a="http://schemas.openxmlformats.org/drawingml/2006/main">
              <a:ext uri="{FF2B5EF4-FFF2-40B4-BE49-F238E27FC236}">
                <a16:creationId xmlns:a16="http://schemas.microsoft.com/office/drawing/2014/main" id="{6C374461-D6CC-4268-A1C2-60DC75E07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229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d68104ea7a324634"/>
              </a:rPr>
              <a:t>Antigravity Skills ↗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66b7c7ccdd504b80"/>
              </a:rPr>
              <a:t>Codex Skills ↗</a:t>
            </a:r>
          </a:p>
        </p:txBody>
      </p:sp>
      <p:sp>
        <p:nvSpPr>
          <p:cNvPr id="23" name="shape-1496">
            <a:extLst xmlns:a="http://schemas.openxmlformats.org/drawingml/2006/main">
              <a:ext uri="{FF2B5EF4-FFF2-40B4-BE49-F238E27FC236}">
                <a16:creationId xmlns:a16="http://schemas.microsoft.com/office/drawing/2014/main" id="{50E59AF4-670A-482F-A3AD-A2114F2B7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5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2680cbc9c9e465a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5" name="text-1497">
            <a:extLst xmlns:a="http://schemas.openxmlformats.org/drawingml/2006/main">
              <a:ext uri="{FF2B5EF4-FFF2-40B4-BE49-F238E27FC236}">
                <a16:creationId xmlns:a16="http://schemas.microsoft.com/office/drawing/2014/main" id="{B0603944-D339-48D5-9278-9C324D7E9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Antigravity </a:t>
            </a:r>
          </a:p>
        </p:txBody>
      </p:sp>
      <p:pic>
        <p:nvPicPr>
          <p:cNvPr id="5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676e0998d4f4890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7" name="text-1498">
            <a:extLst xmlns:a="http://schemas.openxmlformats.org/drawingml/2006/main">
              <a:ext uri="{FF2B5EF4-FFF2-40B4-BE49-F238E27FC236}">
                <a16:creationId xmlns:a16="http://schemas.microsoft.com/office/drawing/2014/main" id="{1EC4D5A1-A7F0-4260-B841-C390F9939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Codex Skills</a:t>
            </a:r>
          </a:p>
        </p:txBody>
      </p:sp>
    </p:spTree>
    <p:extLst>
      <p:ext uri="{BB962C8B-B14F-4D97-AF65-F5344CB8AC3E}">
        <p14:creationId xmlns:p14="http://schemas.microsoft.com/office/powerpoint/2010/main" val="196316795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text-1075">
            <a:extLst xmlns:a="http://schemas.openxmlformats.org/drawingml/2006/main">
              <a:ext uri="{FF2B5EF4-FFF2-40B4-BE49-F238E27FC236}">
                <a16:creationId xmlns:a16="http://schemas.microsoft.com/office/drawing/2014/main" id="{2CB1AD96-A572-4511-8EEC-363EBEEE1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CREATIVE STARTERS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FFE6232F-0DB8-4EE9-BFDD-F634E4130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六個真實提示詞，如何升級成 Skill</a:t>
            </a:r>
          </a:p>
        </p:txBody>
      </p:sp>
      <p:cxnSp>
        <p:nvCxnSpPr>
          <p:cNvPr id="38" name="shape-1076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077">
            <a:extLst xmlns:a="http://schemas.openxmlformats.org/drawingml/2006/main">
              <a:ext uri="{FF2B5EF4-FFF2-40B4-BE49-F238E27FC236}">
                <a16:creationId xmlns:a16="http://schemas.microsoft.com/office/drawing/2014/main" id="{551EC8B8-AFFA-4AC9-B84D-373480562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81B571D4-C836-4067-9223-875EBC666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27</a:t>
            </a:r>
          </a:p>
        </p:txBody>
      </p:sp>
      <p:sp>
        <p:nvSpPr>
          <p:cNvPr id="6" name="shape-1078">
            <a:extLst xmlns:a="http://schemas.openxmlformats.org/drawingml/2006/main">
              <a:ext uri="{FF2B5EF4-FFF2-40B4-BE49-F238E27FC236}">
                <a16:creationId xmlns:a16="http://schemas.microsoft.com/office/drawing/2014/main" id="{DD4807EB-BCF2-41C5-9AD1-B99550FFE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1685925" cy="4305300"/>
          </a:xfrm>
          <a:prstGeom xmlns:a="http://schemas.openxmlformats.org/drawingml/2006/main" prst="roundRect">
            <a:avLst>
              <a:gd name="adj" fmla="val 904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7" name="text-1079">
            <a:extLst xmlns:a="http://schemas.openxmlformats.org/drawingml/2006/main">
              <a:ext uri="{FF2B5EF4-FFF2-40B4-BE49-F238E27FC236}">
                <a16:creationId xmlns:a16="http://schemas.microsoft.com/office/drawing/2014/main" id="{33091CE5-74E0-4E28-B2C1-EAD2017B4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WEB</a:t>
            </a:r>
          </a:p>
        </p:txBody>
      </p:sp>
      <p:sp>
        <p:nvSpPr>
          <p:cNvPr id="8" name="text-1080">
            <a:extLst xmlns:a="http://schemas.openxmlformats.org/drawingml/2006/main">
              <a:ext uri="{FF2B5EF4-FFF2-40B4-BE49-F238E27FC236}">
                <a16:creationId xmlns:a16="http://schemas.microsoft.com/office/drawing/2014/main" id="{0CA53ED9-7488-42AD-B16F-9108336C0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1266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/onepage</a:t>
            </a:r>
          </a:p>
        </p:txBody>
      </p:sp>
      <p:sp>
        <p:nvSpPr>
          <p:cNvPr id="9" name="text-1081">
            <a:extLst xmlns:a="http://schemas.openxmlformats.org/drawingml/2006/main">
              <a:ext uri="{FF2B5EF4-FFF2-40B4-BE49-F238E27FC236}">
                <a16:creationId xmlns:a16="http://schemas.microsoft.com/office/drawing/2014/main" id="{C0466050-6AFB-4706-B44F-D409CAE4F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1266825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單檔互動網站 → 課程資源頁產製＋RWD＋連結檢查。</a:t>
            </a:r>
          </a:p>
        </p:txBody>
      </p:sp>
      <p:sp>
        <p:nvSpPr>
          <p:cNvPr id="10" name="shape-1082">
            <a:extLst xmlns:a="http://schemas.openxmlformats.org/drawingml/2006/main">
              <a:ext uri="{FF2B5EF4-FFF2-40B4-BE49-F238E27FC236}">
                <a16:creationId xmlns:a16="http://schemas.microsoft.com/office/drawing/2014/main" id="{0BFEF372-1B39-4A8C-B426-18AF234BD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1676400"/>
            <a:ext cx="1685925" cy="4305300"/>
          </a:xfrm>
          <a:prstGeom xmlns:a="http://schemas.openxmlformats.org/drawingml/2006/main" prst="roundRect">
            <a:avLst>
              <a:gd name="adj" fmla="val 904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1" name="text-1083">
            <a:extLst xmlns:a="http://schemas.openxmlformats.org/drawingml/2006/main">
              <a:ext uri="{FF2B5EF4-FFF2-40B4-BE49-F238E27FC236}">
                <a16:creationId xmlns:a16="http://schemas.microsoft.com/office/drawing/2014/main" id="{179A9E73-4B92-4059-BE39-102EAECEF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CD2C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PPT</a:t>
            </a:r>
          </a:p>
        </p:txBody>
      </p:sp>
      <p:sp>
        <p:nvSpPr>
          <p:cNvPr id="12" name="text-1084">
            <a:extLst xmlns:a="http://schemas.openxmlformats.org/drawingml/2006/main">
              <a:ext uri="{FF2B5EF4-FFF2-40B4-BE49-F238E27FC236}">
                <a16:creationId xmlns:a16="http://schemas.microsoft.com/office/drawing/2014/main" id="{D4F5ABDB-1BF1-4313-834E-2AD53195A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2457450"/>
            <a:ext cx="1266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/ppt</a:t>
            </a:r>
          </a:p>
        </p:txBody>
      </p:sp>
      <p:sp>
        <p:nvSpPr>
          <p:cNvPr id="13" name="text-1085">
            <a:extLst xmlns:a="http://schemas.openxmlformats.org/drawingml/2006/main">
              <a:ext uri="{FF2B5EF4-FFF2-40B4-BE49-F238E27FC236}">
                <a16:creationId xmlns:a16="http://schemas.microsoft.com/office/drawing/2014/main" id="{A89E8C33-8B47-4113-AA6C-8A182D82A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3028950"/>
            <a:ext cx="1266825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溫馨簡報 → 來源整理＋頁面結構＋逐頁渲染檢核。</a:t>
            </a:r>
          </a:p>
        </p:txBody>
      </p:sp>
      <p:sp>
        <p:nvSpPr>
          <p:cNvPr id="14" name="shape-1086">
            <a:extLst xmlns:a="http://schemas.openxmlformats.org/drawingml/2006/main">
              <a:ext uri="{FF2B5EF4-FFF2-40B4-BE49-F238E27FC236}">
                <a16:creationId xmlns:a16="http://schemas.microsoft.com/office/drawing/2014/main" id="{F86384EC-F932-4E9C-A0B3-9B3A170FE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1676400"/>
            <a:ext cx="1685925" cy="4305300"/>
          </a:xfrm>
          <a:prstGeom xmlns:a="http://schemas.openxmlformats.org/drawingml/2006/main" prst="roundRect">
            <a:avLst>
              <a:gd name="adj" fmla="val 904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5" name="text-1087">
            <a:extLst xmlns:a="http://schemas.openxmlformats.org/drawingml/2006/main">
              <a:ext uri="{FF2B5EF4-FFF2-40B4-BE49-F238E27FC236}">
                <a16:creationId xmlns:a16="http://schemas.microsoft.com/office/drawing/2014/main" id="{3EE3FF2F-B2A9-44D9-BAE7-48ECF8B3D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806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SRT</a:t>
            </a:r>
          </a:p>
        </p:txBody>
      </p:sp>
      <p:sp>
        <p:nvSpPr>
          <p:cNvPr id="16" name="text-1088">
            <a:extLst xmlns:a="http://schemas.openxmlformats.org/drawingml/2006/main">
              <a:ext uri="{FF2B5EF4-FFF2-40B4-BE49-F238E27FC236}">
                <a16:creationId xmlns:a16="http://schemas.microsoft.com/office/drawing/2014/main" id="{E8EC17E1-EBCA-4346-8486-06E5ED0C5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457450"/>
            <a:ext cx="1266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/srt</a:t>
            </a:r>
          </a:p>
        </p:txBody>
      </p:sp>
      <p:sp>
        <p:nvSpPr>
          <p:cNvPr id="17" name="text-1089">
            <a:extLst xmlns:a="http://schemas.openxmlformats.org/drawingml/2006/main">
              <a:ext uri="{FF2B5EF4-FFF2-40B4-BE49-F238E27FC236}">
                <a16:creationId xmlns:a16="http://schemas.microsoft.com/office/drawing/2014/main" id="{BA944D08-CC5B-4319-AEC5-9591CDAF9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028950"/>
            <a:ext cx="1266825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SRT 字幕 → 語音轉錄＋專名校正＋空白切斷＋格式測試。</a:t>
            </a:r>
          </a:p>
        </p:txBody>
      </p:sp>
      <p:sp>
        <p:nvSpPr>
          <p:cNvPr id="18" name="shape-1090">
            <a:extLst xmlns:a="http://schemas.openxmlformats.org/drawingml/2006/main">
              <a:ext uri="{FF2B5EF4-FFF2-40B4-BE49-F238E27FC236}">
                <a16:creationId xmlns:a16="http://schemas.microsoft.com/office/drawing/2014/main" id="{04EE39C1-8036-491D-AE16-DB982AE53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1685925" cy="4305300"/>
          </a:xfrm>
          <a:prstGeom xmlns:a="http://schemas.openxmlformats.org/drawingml/2006/main" prst="roundRect">
            <a:avLst>
              <a:gd name="adj" fmla="val 904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9" name="text-1091">
            <a:extLst xmlns:a="http://schemas.openxmlformats.org/drawingml/2006/main">
              <a:ext uri="{FF2B5EF4-FFF2-40B4-BE49-F238E27FC236}">
                <a16:creationId xmlns:a16="http://schemas.microsoft.com/office/drawing/2014/main" id="{A509883A-0275-4146-96D9-EBAEBCBA7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A78BF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QA</a:t>
            </a:r>
          </a:p>
        </p:txBody>
      </p:sp>
      <p:sp>
        <p:nvSpPr>
          <p:cNvPr id="20" name="text-1092">
            <a:extLst xmlns:a="http://schemas.openxmlformats.org/drawingml/2006/main">
              <a:ext uri="{FF2B5EF4-FFF2-40B4-BE49-F238E27FC236}">
                <a16:creationId xmlns:a16="http://schemas.microsoft.com/office/drawing/2014/main" id="{1D0D3B3C-E6EE-4090-98CF-59CBA807F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1266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/audit</a:t>
            </a:r>
          </a:p>
        </p:txBody>
      </p:sp>
      <p:sp>
        <p:nvSpPr>
          <p:cNvPr id="21" name="text-1093">
            <a:extLst xmlns:a="http://schemas.openxmlformats.org/drawingml/2006/main">
              <a:ext uri="{FF2B5EF4-FFF2-40B4-BE49-F238E27FC236}">
                <a16:creationId xmlns:a16="http://schemas.microsoft.com/office/drawing/2014/main" id="{13FF3870-5611-4BCA-8268-4B4CA0E0A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1266825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資料夾總檢 → 唯讀盤點＋風險分類＋移植建議＋交接文件。</a:t>
            </a:r>
          </a:p>
        </p:txBody>
      </p:sp>
      <p:sp>
        <p:nvSpPr>
          <p:cNvPr id="22" name="shape-1094">
            <a:extLst xmlns:a="http://schemas.openxmlformats.org/drawingml/2006/main">
              <a:ext uri="{FF2B5EF4-FFF2-40B4-BE49-F238E27FC236}">
                <a16:creationId xmlns:a16="http://schemas.microsoft.com/office/drawing/2014/main" id="{7B65F246-700C-4389-BBBF-B28A70E16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676400"/>
            <a:ext cx="1685925" cy="4305300"/>
          </a:xfrm>
          <a:prstGeom xmlns:a="http://schemas.openxmlformats.org/drawingml/2006/main" prst="roundRect">
            <a:avLst>
              <a:gd name="adj" fmla="val 904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23" name="text-1095">
            <a:extLst xmlns:a="http://schemas.openxmlformats.org/drawingml/2006/main">
              <a:ext uri="{FF2B5EF4-FFF2-40B4-BE49-F238E27FC236}">
                <a16:creationId xmlns:a16="http://schemas.microsoft.com/office/drawing/2014/main" id="{04BE51A9-2CB1-4BEB-9918-6D4ECA7C7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5C451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DEP</a:t>
            </a:r>
          </a:p>
        </p:txBody>
      </p:sp>
      <p:sp>
        <p:nvSpPr>
          <p:cNvPr id="24" name="text-1096">
            <a:extLst xmlns:a="http://schemas.openxmlformats.org/drawingml/2006/main">
              <a:ext uri="{FF2B5EF4-FFF2-40B4-BE49-F238E27FC236}">
                <a16:creationId xmlns:a16="http://schemas.microsoft.com/office/drawing/2014/main" id="{55C30C61-77DF-47CC-BD85-0A2C0EAC1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457450"/>
            <a:ext cx="1266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/pages</a:t>
            </a:r>
          </a:p>
        </p:txBody>
      </p:sp>
      <p:sp>
        <p:nvSpPr>
          <p:cNvPr id="25" name="text-1097">
            <a:extLst xmlns:a="http://schemas.openxmlformats.org/drawingml/2006/main">
              <a:ext uri="{FF2B5EF4-FFF2-40B4-BE49-F238E27FC236}">
                <a16:creationId xmlns:a16="http://schemas.microsoft.com/office/drawing/2014/main" id="{E421E11D-F3BD-4126-83EA-0C1EF6D28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028950"/>
            <a:ext cx="1266825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GitHub Pages → 建置設定＋部署＋公開網址驗證。</a:t>
            </a:r>
          </a:p>
        </p:txBody>
      </p:sp>
      <p:sp>
        <p:nvSpPr>
          <p:cNvPr id="26" name="shape-1098">
            <a:extLst xmlns:a="http://schemas.openxmlformats.org/drawingml/2006/main">
              <a:ext uri="{FF2B5EF4-FFF2-40B4-BE49-F238E27FC236}">
                <a16:creationId xmlns:a16="http://schemas.microsoft.com/office/drawing/2014/main" id="{3F69E1CF-0321-44B5-9CCB-810339EB7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1725" y="1676400"/>
            <a:ext cx="1685925" cy="4305300"/>
          </a:xfrm>
          <a:prstGeom xmlns:a="http://schemas.openxmlformats.org/drawingml/2006/main" prst="roundRect">
            <a:avLst>
              <a:gd name="adj" fmla="val 904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27" name="text-1099">
            <a:extLst xmlns:a="http://schemas.openxmlformats.org/drawingml/2006/main">
              <a:ext uri="{FF2B5EF4-FFF2-40B4-BE49-F238E27FC236}">
                <a16:creationId xmlns:a16="http://schemas.microsoft.com/office/drawing/2014/main" id="{3027178C-D2F7-432F-9D11-8E2D12895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0127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37D48B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META</a:t>
            </a:r>
          </a:p>
        </p:txBody>
      </p:sp>
      <p:sp>
        <p:nvSpPr>
          <p:cNvPr id="28" name="text-1100">
            <a:extLst xmlns:a="http://schemas.openxmlformats.org/drawingml/2006/main">
              <a:ext uri="{FF2B5EF4-FFF2-40B4-BE49-F238E27FC236}">
                <a16:creationId xmlns:a16="http://schemas.microsoft.com/office/drawing/2014/main" id="{4C76A7C6-1BB0-4F21-9A20-AB9212A2B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01275" y="2457450"/>
            <a:ext cx="1266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/skill</a:t>
            </a:r>
          </a:p>
        </p:txBody>
      </p:sp>
      <p:sp>
        <p:nvSpPr>
          <p:cNvPr id="29" name="text-1101">
            <a:extLst xmlns:a="http://schemas.openxmlformats.org/drawingml/2006/main">
              <a:ext uri="{FF2B5EF4-FFF2-40B4-BE49-F238E27FC236}">
                <a16:creationId xmlns:a16="http://schemas.microsoft.com/office/drawing/2014/main" id="{A5CB2746-864A-48A2-AA62-655E95C15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01275" y="3028950"/>
            <a:ext cx="1266825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成功案例 → 根因、步驟、觸發條件與回歸測試的知識保存。</a:t>
            </a:r>
          </a:p>
        </p:txBody>
      </p:sp>
      <p:sp>
        <p:nvSpPr>
          <p:cNvPr id="30" name="text-1445">
            <a:extLst xmlns:a="http://schemas.openxmlformats.org/drawingml/2006/main">
              <a:ext uri="{FF2B5EF4-FFF2-40B4-BE49-F238E27FC236}">
                <a16:creationId xmlns:a16="http://schemas.microsoft.com/office/drawing/2014/main" id="{0D53ABE4-C24E-4966-8670-6658E3175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229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6927d517acac4205"/>
              </a:rPr>
              <a:t>Antigravity Skills ↗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d4dc9d58aaa44575"/>
              </a:rPr>
              <a:t>Codex Skills ↗</a:t>
            </a:r>
          </a:p>
        </p:txBody>
      </p:sp>
      <p:sp>
        <p:nvSpPr>
          <p:cNvPr id="31" name="shape-1499">
            <a:extLst xmlns:a="http://schemas.openxmlformats.org/drawingml/2006/main">
              <a:ext uri="{FF2B5EF4-FFF2-40B4-BE49-F238E27FC236}">
                <a16:creationId xmlns:a16="http://schemas.microsoft.com/office/drawing/2014/main" id="{F5352787-6D5F-40E2-BA63-0FCF84404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6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bea4251c57d4da0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33" name="text-1500">
            <a:extLst xmlns:a="http://schemas.openxmlformats.org/drawingml/2006/main">
              <a:ext uri="{FF2B5EF4-FFF2-40B4-BE49-F238E27FC236}">
                <a16:creationId xmlns:a16="http://schemas.microsoft.com/office/drawing/2014/main" id="{9FCB98FC-46AE-4073-839B-66CD6FEFE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Antigravity </a:t>
            </a:r>
          </a:p>
        </p:txBody>
      </p:sp>
      <p:pic>
        <p:nvPicPr>
          <p:cNvPr id="6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cfb5340b13c4e68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35" name="text-1501">
            <a:extLst xmlns:a="http://schemas.openxmlformats.org/drawingml/2006/main">
              <a:ext uri="{FF2B5EF4-FFF2-40B4-BE49-F238E27FC236}">
                <a16:creationId xmlns:a16="http://schemas.microsoft.com/office/drawing/2014/main" id="{B5FF73D5-A7B4-4BC5-8B47-407E9E29A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Codex Skills</a:t>
            </a:r>
          </a:p>
        </p:txBody>
      </p:sp>
    </p:spTree>
    <p:extLst>
      <p:ext uri="{BB962C8B-B14F-4D97-AF65-F5344CB8AC3E}">
        <p14:creationId xmlns:p14="http://schemas.microsoft.com/office/powerpoint/2010/main" val="466035756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text-1102">
            <a:extLst xmlns:a="http://schemas.openxmlformats.org/drawingml/2006/main">
              <a:ext uri="{FF2B5EF4-FFF2-40B4-BE49-F238E27FC236}">
                <a16:creationId xmlns:a16="http://schemas.microsoft.com/office/drawing/2014/main" id="{3F7D199C-2BBE-45BD-82A6-A525EB61F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FOLDER ANATOMY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9E989F26-6AAD-4532-B91C-C479CED46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Skill 資料夾：主文保持短，細節分層放</a:t>
            </a:r>
          </a:p>
        </p:txBody>
      </p:sp>
      <p:cxnSp>
        <p:nvCxnSpPr>
          <p:cNvPr id="30" name="shape-1103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104">
            <a:extLst xmlns:a="http://schemas.openxmlformats.org/drawingml/2006/main">
              <a:ext uri="{FF2B5EF4-FFF2-40B4-BE49-F238E27FC236}">
                <a16:creationId xmlns:a16="http://schemas.microsoft.com/office/drawing/2014/main" id="{1561BDC8-FC8A-4762-9C88-0D2AC6AE9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ADBE9AD8-EBD8-4287-A7B5-369069173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28</a:t>
            </a:r>
          </a:p>
        </p:txBody>
      </p:sp>
      <p:sp>
        <p:nvSpPr>
          <p:cNvPr id="6" name="text-1105">
            <a:extLst xmlns:a="http://schemas.openxmlformats.org/drawingml/2006/main">
              <a:ext uri="{FF2B5EF4-FFF2-40B4-BE49-F238E27FC236}">
                <a16:creationId xmlns:a16="http://schemas.microsoft.com/office/drawing/2014/main" id="{A69B7B0F-3BC7-4707-8BD2-B3BD493BA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8478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7" name="text-1106">
            <a:extLst xmlns:a="http://schemas.openxmlformats.org/drawingml/2006/main">
              <a:ext uri="{FF2B5EF4-FFF2-40B4-BE49-F238E27FC236}">
                <a16:creationId xmlns:a16="http://schemas.microsoft.com/office/drawing/2014/main" id="{B46391BE-91FB-4787-95F3-8F5457897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098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SKILL.md</a:t>
            </a:r>
          </a:p>
        </p:txBody>
      </p:sp>
      <p:sp>
        <p:nvSpPr>
          <p:cNvPr id="8" name="text-1107">
            <a:extLst xmlns:a="http://schemas.openxmlformats.org/drawingml/2006/main">
              <a:ext uri="{FF2B5EF4-FFF2-40B4-BE49-F238E27FC236}">
                <a16:creationId xmlns:a16="http://schemas.microsoft.com/office/drawing/2014/main" id="{A0DDD1E3-90B1-4E0A-B74E-78463CED4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76600"/>
            <a:ext cx="2662238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名稱、描述、核心流程</a:t>
            </a:r>
          </a:p>
        </p:txBody>
      </p:sp>
      <p:sp>
        <p:nvSpPr>
          <p:cNvPr id="9" name="text-1108">
            <a:extLst xmlns:a="http://schemas.openxmlformats.org/drawingml/2006/main">
              <a:ext uri="{FF2B5EF4-FFF2-40B4-BE49-F238E27FC236}">
                <a16:creationId xmlns:a16="http://schemas.microsoft.com/office/drawing/2014/main" id="{042F0C25-271B-4091-87CC-309866E57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7538" y="1885950"/>
            <a:ext cx="228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602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00" b="1">
                <a:solidFill>
                  <a:srgbClr val="2A4761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1">
                <a:solidFill>
                  <a:srgbClr val="2A4761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0" name="text-1109">
            <a:extLst xmlns:a="http://schemas.openxmlformats.org/drawingml/2006/main">
              <a:ext uri="{FF2B5EF4-FFF2-40B4-BE49-F238E27FC236}">
                <a16:creationId xmlns:a16="http://schemas.microsoft.com/office/drawing/2014/main" id="{C186CE61-5AF5-4A07-BD0E-401DEAFD5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038" y="18478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1" name="text-1110">
            <a:extLst xmlns:a="http://schemas.openxmlformats.org/drawingml/2006/main">
              <a:ext uri="{FF2B5EF4-FFF2-40B4-BE49-F238E27FC236}">
                <a16:creationId xmlns:a16="http://schemas.microsoft.com/office/drawing/2014/main" id="{28E9FFC2-3417-4184-B6A6-7A40EC690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038" y="26098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references/</a:t>
            </a:r>
          </a:p>
        </p:txBody>
      </p:sp>
      <p:sp>
        <p:nvSpPr>
          <p:cNvPr id="12" name="text-1111">
            <a:extLst xmlns:a="http://schemas.openxmlformats.org/drawingml/2006/main">
              <a:ext uri="{FF2B5EF4-FFF2-40B4-BE49-F238E27FC236}">
                <a16:creationId xmlns:a16="http://schemas.microsoft.com/office/drawing/2014/main" id="{282D0B60-9D99-4986-BA79-0BC6770CD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038" y="3276600"/>
            <a:ext cx="2662238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規範、知識、長篇範例</a:t>
            </a:r>
          </a:p>
        </p:txBody>
      </p:sp>
      <p:sp>
        <p:nvSpPr>
          <p:cNvPr id="13" name="text-1112">
            <a:extLst xmlns:a="http://schemas.openxmlformats.org/drawingml/2006/main">
              <a:ext uri="{FF2B5EF4-FFF2-40B4-BE49-F238E27FC236}">
                <a16:creationId xmlns:a16="http://schemas.microsoft.com/office/drawing/2014/main" id="{F4DCD1E5-CE62-4E42-A55F-62805270D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1225" y="1885950"/>
            <a:ext cx="228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602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00" b="1">
                <a:solidFill>
                  <a:srgbClr val="2A4761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1">
                <a:solidFill>
                  <a:srgbClr val="2A4761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4" name="text-1113">
            <a:extLst xmlns:a="http://schemas.openxmlformats.org/drawingml/2006/main">
              <a:ext uri="{FF2B5EF4-FFF2-40B4-BE49-F238E27FC236}">
                <a16:creationId xmlns:a16="http://schemas.microsoft.com/office/drawing/2014/main" id="{D5593D12-3529-46A6-8124-C254DEF2D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18478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15" name="text-1114">
            <a:extLst xmlns:a="http://schemas.openxmlformats.org/drawingml/2006/main">
              <a:ext uri="{FF2B5EF4-FFF2-40B4-BE49-F238E27FC236}">
                <a16:creationId xmlns:a16="http://schemas.microsoft.com/office/drawing/2014/main" id="{0CC2692E-5DE8-421F-9B4A-51AE1F603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6098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scripts/</a:t>
            </a:r>
          </a:p>
        </p:txBody>
      </p:sp>
      <p:sp>
        <p:nvSpPr>
          <p:cNvPr id="16" name="text-1115">
            <a:extLst xmlns:a="http://schemas.openxmlformats.org/drawingml/2006/main">
              <a:ext uri="{FF2B5EF4-FFF2-40B4-BE49-F238E27FC236}">
                <a16:creationId xmlns:a16="http://schemas.microsoft.com/office/drawing/2014/main" id="{9F14D9A8-E7BC-4705-900B-443FCC82A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3276600"/>
            <a:ext cx="2662238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可重複執行的檢查與轉換</a:t>
            </a:r>
          </a:p>
        </p:txBody>
      </p:sp>
      <p:sp>
        <p:nvSpPr>
          <p:cNvPr id="17" name="text-1116">
            <a:extLst xmlns:a="http://schemas.openxmlformats.org/drawingml/2006/main">
              <a:ext uri="{FF2B5EF4-FFF2-40B4-BE49-F238E27FC236}">
                <a16:creationId xmlns:a16="http://schemas.microsoft.com/office/drawing/2014/main" id="{59C807FD-29FE-44B4-ABC0-6B3AECB09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4913" y="1885950"/>
            <a:ext cx="228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602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00" b="1">
                <a:solidFill>
                  <a:srgbClr val="2A4761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1">
                <a:solidFill>
                  <a:srgbClr val="2A4761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8" name="text-1117">
            <a:extLst xmlns:a="http://schemas.openxmlformats.org/drawingml/2006/main">
              <a:ext uri="{FF2B5EF4-FFF2-40B4-BE49-F238E27FC236}">
                <a16:creationId xmlns:a16="http://schemas.microsoft.com/office/drawing/2014/main" id="{54EFAEF8-35CC-4E52-9401-CC2E57C82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413" y="18478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19" name="text-1118">
            <a:extLst xmlns:a="http://schemas.openxmlformats.org/drawingml/2006/main">
              <a:ext uri="{FF2B5EF4-FFF2-40B4-BE49-F238E27FC236}">
                <a16:creationId xmlns:a16="http://schemas.microsoft.com/office/drawing/2014/main" id="{3D1FB1A5-878B-4B32-A870-3C33B9B2A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413" y="26098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assets/</a:t>
            </a:r>
          </a:p>
        </p:txBody>
      </p:sp>
      <p:sp>
        <p:nvSpPr>
          <p:cNvPr id="20" name="text-1119">
            <a:extLst xmlns:a="http://schemas.openxmlformats.org/drawingml/2006/main">
              <a:ext uri="{FF2B5EF4-FFF2-40B4-BE49-F238E27FC236}">
                <a16:creationId xmlns:a16="http://schemas.microsoft.com/office/drawing/2014/main" id="{AB31BB5A-F2F8-4D9F-A4D4-827710B3E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413" y="3276600"/>
            <a:ext cx="2662238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範本、圖片、輸出骨架</a:t>
            </a:r>
          </a:p>
        </p:txBody>
      </p:sp>
      <p:sp>
        <p:nvSpPr>
          <p:cNvPr id="21" name="text-1120">
            <a:extLst xmlns:a="http://schemas.openxmlformats.org/drawingml/2006/main">
              <a:ext uri="{FF2B5EF4-FFF2-40B4-BE49-F238E27FC236}">
                <a16:creationId xmlns:a16="http://schemas.microsoft.com/office/drawing/2014/main" id="{B062F793-07CD-4541-8102-E9B2B9952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5314950"/>
            <a:ext cx="563880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152400" tIns="57150" rIns="1524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每一步都留下可檢查的成果</a:t>
            </a:r>
          </a:p>
        </p:txBody>
      </p:sp>
      <p:sp>
        <p:nvSpPr>
          <p:cNvPr id="22" name="text-1446">
            <a:extLst xmlns:a="http://schemas.openxmlformats.org/drawingml/2006/main">
              <a:ext uri="{FF2B5EF4-FFF2-40B4-BE49-F238E27FC236}">
                <a16:creationId xmlns:a16="http://schemas.microsoft.com/office/drawing/2014/main" id="{CA4BD52C-6997-4DB8-83AC-28AF9D684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229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f83b86a56faa429a"/>
              </a:rPr>
              <a:t>Antigravity Skills ↗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e6aebf8459bd47e9"/>
              </a:rPr>
              <a:t>Codex Skills ↗</a:t>
            </a:r>
          </a:p>
        </p:txBody>
      </p:sp>
      <p:sp>
        <p:nvSpPr>
          <p:cNvPr id="23" name="shape-1502">
            <a:extLst xmlns:a="http://schemas.openxmlformats.org/drawingml/2006/main">
              <a:ext uri="{FF2B5EF4-FFF2-40B4-BE49-F238E27FC236}">
                <a16:creationId xmlns:a16="http://schemas.microsoft.com/office/drawing/2014/main" id="{00F37F96-07D1-4CA2-8EA3-BD8D06DD4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5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1e4dbcf12c147b9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5" name="text-1503">
            <a:extLst xmlns:a="http://schemas.openxmlformats.org/drawingml/2006/main">
              <a:ext uri="{FF2B5EF4-FFF2-40B4-BE49-F238E27FC236}">
                <a16:creationId xmlns:a16="http://schemas.microsoft.com/office/drawing/2014/main" id="{5A46EE06-96CA-45F7-9D1C-AC3A470CB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Antigravity </a:t>
            </a:r>
          </a:p>
        </p:txBody>
      </p:sp>
      <p:pic>
        <p:nvPicPr>
          <p:cNvPr id="5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bb851cf40524525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7" name="text-1504">
            <a:extLst xmlns:a="http://schemas.openxmlformats.org/drawingml/2006/main">
              <a:ext uri="{FF2B5EF4-FFF2-40B4-BE49-F238E27FC236}">
                <a16:creationId xmlns:a16="http://schemas.microsoft.com/office/drawing/2014/main" id="{B2079C4B-2162-4426-89EB-E5C4B1C47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Codex Skills</a:t>
            </a:r>
          </a:p>
        </p:txBody>
      </p:sp>
    </p:spTree>
    <p:extLst>
      <p:ext uri="{BB962C8B-B14F-4D97-AF65-F5344CB8AC3E}">
        <p14:creationId xmlns:p14="http://schemas.microsoft.com/office/powerpoint/2010/main" val="1602259359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text-1121">
            <a:extLst xmlns:a="http://schemas.openxmlformats.org/drawingml/2006/main">
              <a:ext uri="{FF2B5EF4-FFF2-40B4-BE49-F238E27FC236}">
                <a16:creationId xmlns:a16="http://schemas.microsoft.com/office/drawing/2014/main" id="{A12AD6DB-DA01-4E48-A7E4-92170BE33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AGENT SKILL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18E93109-B94F-40A8-9C3D-942BA2BD9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跨平台 SKILL.md：最小而清楚</a:t>
            </a:r>
          </a:p>
        </p:txBody>
      </p:sp>
      <p:cxnSp>
        <p:nvCxnSpPr>
          <p:cNvPr id="21" name="shape-1122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123">
            <a:extLst xmlns:a="http://schemas.openxmlformats.org/drawingml/2006/main">
              <a:ext uri="{FF2B5EF4-FFF2-40B4-BE49-F238E27FC236}">
                <a16:creationId xmlns:a16="http://schemas.microsoft.com/office/drawing/2014/main" id="{C9B85951-8BEB-437E-9893-6FFFC22B4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DADD267D-6258-4EE8-BFF1-E6FA75A11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29</a:t>
            </a:r>
          </a:p>
        </p:txBody>
      </p:sp>
      <p:sp>
        <p:nvSpPr>
          <p:cNvPr id="6" name="text-1124">
            <a:extLst xmlns:a="http://schemas.openxmlformats.org/drawingml/2006/main">
              <a:ext uri="{FF2B5EF4-FFF2-40B4-BE49-F238E27FC236}">
                <a16:creationId xmlns:a16="http://schemas.microsoft.com/office/drawing/2014/main" id="{FE8C8565-B348-453E-9642-505AC3569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6858000" cy="4324350"/>
          </a:xfrm>
          <a:prstGeom xmlns:a="http://schemas.openxmlformats.org/drawingml/2006/main" prst="roundRect">
            <a:avLst>
              <a:gd name="adj" fmla="val 3524"/>
            </a:avLst>
          </a:prstGeom>
          <a:solidFill xmlns:a="http://schemas.openxmlformats.org/drawingml/2006/main">
            <a:srgbClr val="050B12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247650" tIns="247650" rIns="247650" bIns="2476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---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name: course-site-quality-check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description: 檢查課程網站的手機版、無障礙、連結與部署狀態；當使用者要求網站上線前總檢時使用。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---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# 課程網站上線前總檢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1. 先唯讀檢查現況，不直接發布。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2. 依序檢查手機版、鍵盤操作、連結與隱私。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3. 對每項標示：通過／失敗／未確認。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4. 只有在使用者明確授權後才部署。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5. 交付檢查表、證據與下一步。</a:t>
            </a:r>
          </a:p>
        </p:txBody>
      </p:sp>
      <p:sp>
        <p:nvSpPr>
          <p:cNvPr id="7" name="text-1125">
            <a:extLst xmlns:a="http://schemas.openxmlformats.org/drawingml/2006/main">
              <a:ext uri="{FF2B5EF4-FFF2-40B4-BE49-F238E27FC236}">
                <a16:creationId xmlns:a16="http://schemas.microsoft.com/office/drawing/2014/main" id="{7F1E0491-4624-42AA-A74C-501688404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1752600"/>
            <a:ext cx="3543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Frontmatter</a:t>
            </a:r>
          </a:p>
        </p:txBody>
      </p:sp>
      <p:sp>
        <p:nvSpPr>
          <p:cNvPr id="8" name="text-1126">
            <a:extLst xmlns:a="http://schemas.openxmlformats.org/drawingml/2006/main">
              <a:ext uri="{FF2B5EF4-FFF2-40B4-BE49-F238E27FC236}">
                <a16:creationId xmlns:a16="http://schemas.microsoft.com/office/drawing/2014/main" id="{912E5A90-7649-45FD-A581-63C903BB7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2190750"/>
            <a:ext cx="35433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為跨 Antigravity 與 Codex 使用，只保留 name、description。</a:t>
            </a:r>
          </a:p>
        </p:txBody>
      </p:sp>
      <p:sp>
        <p:nvSpPr>
          <p:cNvPr id="9" name="text-1127">
            <a:extLst xmlns:a="http://schemas.openxmlformats.org/drawingml/2006/main">
              <a:ext uri="{FF2B5EF4-FFF2-40B4-BE49-F238E27FC236}">
                <a16:creationId xmlns:a16="http://schemas.microsoft.com/office/drawing/2014/main" id="{9BF083FB-4ECD-44E2-AB9F-EFE9A677B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3105150"/>
            <a:ext cx="3543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2CD2C7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2CD2C7"/>
                </a:solidFill>
                <a:latin typeface="Noto Sans TC"/>
                <a:ea typeface="Noto Sans TC"/>
                <a:cs typeface="Noto Sans TC"/>
              </a:rPr>
              <a:t>描述要能觸發</a:t>
            </a:r>
          </a:p>
        </p:txBody>
      </p:sp>
      <p:sp>
        <p:nvSpPr>
          <p:cNvPr id="10" name="text-1128">
            <a:extLst xmlns:a="http://schemas.openxmlformats.org/drawingml/2006/main">
              <a:ext uri="{FF2B5EF4-FFF2-40B4-BE49-F238E27FC236}">
                <a16:creationId xmlns:a16="http://schemas.microsoft.com/office/drawing/2014/main" id="{2CA6FBC8-F856-4EFB-B36C-D2478E639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3543300"/>
            <a:ext cx="35433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寫清楚何時使用，以及它解決什麼工作。</a:t>
            </a:r>
          </a:p>
        </p:txBody>
      </p:sp>
      <p:sp>
        <p:nvSpPr>
          <p:cNvPr id="11" name="text-1129">
            <a:extLst xmlns:a="http://schemas.openxmlformats.org/drawingml/2006/main">
              <a:ext uri="{FF2B5EF4-FFF2-40B4-BE49-F238E27FC236}">
                <a16:creationId xmlns:a16="http://schemas.microsoft.com/office/drawing/2014/main" id="{ACCA36BB-A82A-43CE-AC54-60769DC44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4457700"/>
            <a:ext cx="3543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FF806D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FF806D"/>
                </a:solidFill>
                <a:latin typeface="Noto Sans TC"/>
                <a:ea typeface="Noto Sans TC"/>
                <a:cs typeface="Noto Sans TC"/>
              </a:rPr>
              <a:t>流程要能驗收</a:t>
            </a:r>
          </a:p>
        </p:txBody>
      </p:sp>
      <p:sp>
        <p:nvSpPr>
          <p:cNvPr id="12" name="text-1130">
            <a:extLst xmlns:a="http://schemas.openxmlformats.org/drawingml/2006/main">
              <a:ext uri="{FF2B5EF4-FFF2-40B4-BE49-F238E27FC236}">
                <a16:creationId xmlns:a16="http://schemas.microsoft.com/office/drawing/2014/main" id="{B20DCFD4-C000-435E-86B0-73B85B188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4895850"/>
            <a:ext cx="35433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步驟、狀態與授權邊界都可檢查。</a:t>
            </a:r>
          </a:p>
        </p:txBody>
      </p:sp>
      <p:sp>
        <p:nvSpPr>
          <p:cNvPr id="13" name="text-1447">
            <a:extLst xmlns:a="http://schemas.openxmlformats.org/drawingml/2006/main">
              <a:ext uri="{FF2B5EF4-FFF2-40B4-BE49-F238E27FC236}">
                <a16:creationId xmlns:a16="http://schemas.microsoft.com/office/drawing/2014/main" id="{C1ADE0F7-2E40-4C37-8830-D03B246E0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229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b50d5d5c51e04af1"/>
              </a:rPr>
              <a:t>Antigravity Skills ↗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cbdb217a9d6f46fc"/>
              </a:rPr>
              <a:t>Codex Skills ↗</a:t>
            </a:r>
          </a:p>
        </p:txBody>
      </p:sp>
      <p:sp>
        <p:nvSpPr>
          <p:cNvPr id="14" name="shape-1505">
            <a:extLst xmlns:a="http://schemas.openxmlformats.org/drawingml/2006/main">
              <a:ext uri="{FF2B5EF4-FFF2-40B4-BE49-F238E27FC236}">
                <a16:creationId xmlns:a16="http://schemas.microsoft.com/office/drawing/2014/main" id="{22D35A08-6B83-419D-9215-D214D9359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3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c50051baf0d43c4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16" name="text-1506">
            <a:extLst xmlns:a="http://schemas.openxmlformats.org/drawingml/2006/main">
              <a:ext uri="{FF2B5EF4-FFF2-40B4-BE49-F238E27FC236}">
                <a16:creationId xmlns:a16="http://schemas.microsoft.com/office/drawing/2014/main" id="{6A330E90-76C3-4249-9187-0845FC2D2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Antigravity </a:t>
            </a:r>
          </a:p>
        </p:txBody>
      </p:sp>
      <p:pic>
        <p:nvPicPr>
          <p:cNvPr id="3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52b6d393ca941d4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18" name="text-1507">
            <a:extLst xmlns:a="http://schemas.openxmlformats.org/drawingml/2006/main">
              <a:ext uri="{FF2B5EF4-FFF2-40B4-BE49-F238E27FC236}">
                <a16:creationId xmlns:a16="http://schemas.microsoft.com/office/drawing/2014/main" id="{DCFBF7BA-5E4F-47BF-82FB-5B1113056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Codex Skills</a:t>
            </a:r>
          </a:p>
        </p:txBody>
      </p:sp>
    </p:spTree>
    <p:extLst>
      <p:ext uri="{BB962C8B-B14F-4D97-AF65-F5344CB8AC3E}">
        <p14:creationId xmlns:p14="http://schemas.microsoft.com/office/powerpoint/2010/main" val="1070319094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text-1131">
            <a:extLst xmlns:a="http://schemas.openxmlformats.org/drawingml/2006/main">
              <a:ext uri="{FF2B5EF4-FFF2-40B4-BE49-F238E27FC236}">
                <a16:creationId xmlns:a16="http://schemas.microsoft.com/office/drawing/2014/main" id="{79C0F83A-261A-4F27-BAD6-F709C61C8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PROGRESSIVE DISCLOSURE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66647988-CA77-4F19-82B7-2B0488A93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漸進式揭露：Agent 需要時才讀細節</a:t>
            </a:r>
          </a:p>
        </p:txBody>
      </p:sp>
      <p:cxnSp>
        <p:nvCxnSpPr>
          <p:cNvPr id="34" name="shape-1132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133">
            <a:extLst xmlns:a="http://schemas.openxmlformats.org/drawingml/2006/main">
              <a:ext uri="{FF2B5EF4-FFF2-40B4-BE49-F238E27FC236}">
                <a16:creationId xmlns:a16="http://schemas.microsoft.com/office/drawing/2014/main" id="{A367982E-F4EC-4153-88BD-D0E964A6A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40EB0CD7-6E38-4F08-83B2-1EF7FCA11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30</a:t>
            </a:r>
          </a:p>
        </p:txBody>
      </p:sp>
      <p:sp>
        <p:nvSpPr>
          <p:cNvPr id="6" name="shape-1134">
            <a:extLst xmlns:a="http://schemas.openxmlformats.org/drawingml/2006/main">
              <a:ext uri="{FF2B5EF4-FFF2-40B4-BE49-F238E27FC236}">
                <a16:creationId xmlns:a16="http://schemas.microsoft.com/office/drawing/2014/main" id="{96F9D861-2CC0-4DE1-B2BD-FBF94725F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3581400" cy="430530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7" name="text-1135">
            <a:extLst xmlns:a="http://schemas.openxmlformats.org/drawingml/2006/main">
              <a:ext uri="{FF2B5EF4-FFF2-40B4-BE49-F238E27FC236}">
                <a16:creationId xmlns:a16="http://schemas.microsoft.com/office/drawing/2014/main" id="{D6AC48C2-C9D6-4137-BC5C-06AD5F15F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8" name="text-1136">
            <a:extLst xmlns:a="http://schemas.openxmlformats.org/drawingml/2006/main">
              <a:ext uri="{FF2B5EF4-FFF2-40B4-BE49-F238E27FC236}">
                <a16:creationId xmlns:a16="http://schemas.microsoft.com/office/drawing/2014/main" id="{93048EED-7EDD-4C9F-AF59-59B9F6F1F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3162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第一層：描述</a:t>
            </a:r>
          </a:p>
        </p:txBody>
      </p:sp>
      <p:sp>
        <p:nvSpPr>
          <p:cNvPr id="9" name="text-1137">
            <a:extLst xmlns:a="http://schemas.openxmlformats.org/drawingml/2006/main">
              <a:ext uri="{FF2B5EF4-FFF2-40B4-BE49-F238E27FC236}">
                <a16:creationId xmlns:a16="http://schemas.microsoft.com/office/drawing/2014/main" id="{B5832FDB-7201-480E-9486-5AD74C692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3162300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Agent 先看名稱與 description，判斷是否適用。</a:t>
            </a:r>
          </a:p>
        </p:txBody>
      </p:sp>
      <p:sp>
        <p:nvSpPr>
          <p:cNvPr id="10" name="shape-1138">
            <a:extLst xmlns:a="http://schemas.openxmlformats.org/drawingml/2006/main">
              <a:ext uri="{FF2B5EF4-FFF2-40B4-BE49-F238E27FC236}">
                <a16:creationId xmlns:a16="http://schemas.microsoft.com/office/drawing/2014/main" id="{E06B45D6-9651-46DE-9CAD-45BB73966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1676400"/>
            <a:ext cx="3581400" cy="430530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1" name="text-1139">
            <a:extLst xmlns:a="http://schemas.openxmlformats.org/drawingml/2006/main">
              <a:ext uri="{FF2B5EF4-FFF2-40B4-BE49-F238E27FC236}">
                <a16:creationId xmlns:a16="http://schemas.microsoft.com/office/drawing/2014/main" id="{EE3C21FD-BBBD-48FD-B3FB-C7911E89E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CD2C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2" name="text-1140">
            <a:extLst xmlns:a="http://schemas.openxmlformats.org/drawingml/2006/main">
              <a:ext uri="{FF2B5EF4-FFF2-40B4-BE49-F238E27FC236}">
                <a16:creationId xmlns:a16="http://schemas.microsoft.com/office/drawing/2014/main" id="{1753C033-4686-4536-8E7B-61FA7178F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457450"/>
            <a:ext cx="3162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第二層：主流程</a:t>
            </a:r>
          </a:p>
        </p:txBody>
      </p:sp>
      <p:sp>
        <p:nvSpPr>
          <p:cNvPr id="13" name="text-1141">
            <a:extLst xmlns:a="http://schemas.openxmlformats.org/drawingml/2006/main">
              <a:ext uri="{FF2B5EF4-FFF2-40B4-BE49-F238E27FC236}">
                <a16:creationId xmlns:a16="http://schemas.microsoft.com/office/drawing/2014/main" id="{0F7EF00C-4567-4CF7-9DD2-DC8216980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028950"/>
            <a:ext cx="3162300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觸發後讀 SKILL.md，取得核心步驟與規則。</a:t>
            </a:r>
          </a:p>
        </p:txBody>
      </p:sp>
      <p:sp>
        <p:nvSpPr>
          <p:cNvPr id="14" name="shape-1142">
            <a:extLst xmlns:a="http://schemas.openxmlformats.org/drawingml/2006/main">
              <a:ext uri="{FF2B5EF4-FFF2-40B4-BE49-F238E27FC236}">
                <a16:creationId xmlns:a16="http://schemas.microsoft.com/office/drawing/2014/main" id="{12A7FE9A-4433-4BE7-940D-767325C2F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676400"/>
            <a:ext cx="3581400" cy="430530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5" name="text-1143">
            <a:extLst xmlns:a="http://schemas.openxmlformats.org/drawingml/2006/main">
              <a:ext uri="{FF2B5EF4-FFF2-40B4-BE49-F238E27FC236}">
                <a16:creationId xmlns:a16="http://schemas.microsoft.com/office/drawing/2014/main" id="{0F773B5E-05B8-46A4-B74E-23A4C4340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806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-1144">
            <a:extLst xmlns:a="http://schemas.openxmlformats.org/drawingml/2006/main">
              <a:ext uri="{FF2B5EF4-FFF2-40B4-BE49-F238E27FC236}">
                <a16:creationId xmlns:a16="http://schemas.microsoft.com/office/drawing/2014/main" id="{FEF45478-6ABB-42BF-9176-AB25647F3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457450"/>
            <a:ext cx="3162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第三層：附件</a:t>
            </a:r>
          </a:p>
        </p:txBody>
      </p:sp>
      <p:sp>
        <p:nvSpPr>
          <p:cNvPr id="17" name="text-1145">
            <a:extLst xmlns:a="http://schemas.openxmlformats.org/drawingml/2006/main">
              <a:ext uri="{FF2B5EF4-FFF2-40B4-BE49-F238E27FC236}">
                <a16:creationId xmlns:a16="http://schemas.microsoft.com/office/drawing/2014/main" id="{B9D522C1-C14D-49C6-B748-875467637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028950"/>
            <a:ext cx="3162300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任務需要時才讀 references、執行 scripts、取用 assets。</a:t>
            </a:r>
          </a:p>
        </p:txBody>
      </p:sp>
      <p:sp>
        <p:nvSpPr>
          <p:cNvPr id="18" name="text-1146">
            <a:extLst xmlns:a="http://schemas.openxmlformats.org/drawingml/2006/main">
              <a:ext uri="{FF2B5EF4-FFF2-40B4-BE49-F238E27FC236}">
                <a16:creationId xmlns:a16="http://schemas.microsoft.com/office/drawing/2014/main" id="{00025715-99F0-4DB5-88BF-33679C44F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933950"/>
            <a:ext cx="17145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描述</a:t>
            </a:r>
          </a:p>
        </p:txBody>
      </p:sp>
      <p:sp>
        <p:nvSpPr>
          <p:cNvPr id="19" name="text-1147">
            <a:extLst xmlns:a="http://schemas.openxmlformats.org/drawingml/2006/main">
              <a:ext uri="{FF2B5EF4-FFF2-40B4-BE49-F238E27FC236}">
                <a16:creationId xmlns:a16="http://schemas.microsoft.com/office/drawing/2014/main" id="{293A0C67-3F29-42C5-8C3C-D83F3EF2B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4933950"/>
            <a:ext cx="17145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SKILL.md</a:t>
            </a:r>
          </a:p>
        </p:txBody>
      </p:sp>
      <p:sp>
        <p:nvSpPr>
          <p:cNvPr id="20" name="text-1148">
            <a:extLst xmlns:a="http://schemas.openxmlformats.org/drawingml/2006/main">
              <a:ext uri="{FF2B5EF4-FFF2-40B4-BE49-F238E27FC236}">
                <a16:creationId xmlns:a16="http://schemas.microsoft.com/office/drawing/2014/main" id="{9B1BCDF7-FA25-4721-9887-360A7FE1C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933950"/>
            <a:ext cx="17145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附件</a:t>
            </a:r>
          </a:p>
        </p:txBody>
      </p:sp>
      <p:sp>
        <p:nvSpPr>
          <p:cNvPr id="21" name="text-1149">
            <a:extLst xmlns:a="http://schemas.openxmlformats.org/drawingml/2006/main">
              <a:ext uri="{FF2B5EF4-FFF2-40B4-BE49-F238E27FC236}">
                <a16:creationId xmlns:a16="http://schemas.microsoft.com/office/drawing/2014/main" id="{FBFCDB53-195E-4EC9-9561-F9CF0BF59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4933950"/>
            <a:ext cx="17145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2A1B22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FF806D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F806D"/>
                </a:solidFill>
                <a:latin typeface="Noto Sans TC"/>
                <a:ea typeface="Noto Sans TC"/>
                <a:cs typeface="Noto Sans TC"/>
              </a:rPr>
              <a:t>可驗證成果</a:t>
            </a:r>
          </a:p>
        </p:txBody>
      </p:sp>
      <p:cxnSp>
        <p:nvCxnSpPr>
          <p:cNvPr id="53" name=""/>
          <p:cNvCxnSpPr>
            <a:stCxn xmlns:a="http://schemas.openxmlformats.org/drawingml/2006/main" id="18" idx="3"/>
            <a:endCxn xmlns:a="http://schemas.openxmlformats.org/drawingml/2006/main" id="19" idx="1"/>
          </p:cNvCxnSpPr>
          <p:nvPr/>
        </p:nvCxnSpPr>
        <p:spPr>
          <a:xfrm xmlns:a="http://schemas.openxmlformats.org/drawingml/2006/main">
            <a:off x="2628900" y="5181600"/>
            <a:ext cx="9525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5A7FF"/>
            </a:solidFill>
            <a:prstDash val="solid"/>
            <a:tailEnd type="arrow" w="sm" len="sm"/>
          </a:ln>
        </p:spPr>
      </p:cxnSp>
      <p:cxnSp>
        <p:nvCxnSpPr>
          <p:cNvPr id="54" name=""/>
          <p:cNvCxnSpPr>
            <a:stCxn xmlns:a="http://schemas.openxmlformats.org/drawingml/2006/main" id="19" idx="3"/>
            <a:endCxn xmlns:a="http://schemas.openxmlformats.org/drawingml/2006/main" id="20" idx="1"/>
          </p:cNvCxnSpPr>
          <p:nvPr/>
        </p:nvCxnSpPr>
        <p:spPr>
          <a:xfrm xmlns:a="http://schemas.openxmlformats.org/drawingml/2006/main">
            <a:off x="5295900" y="5181600"/>
            <a:ext cx="9525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5A7FF"/>
            </a:solidFill>
            <a:prstDash val="solid"/>
            <a:tailEnd type="arrow" w="sm" len="sm"/>
          </a:ln>
        </p:spPr>
      </p:cxnSp>
      <p:cxnSp>
        <p:nvCxnSpPr>
          <p:cNvPr id="55" name=""/>
          <p:cNvCxnSpPr>
            <a:stCxn xmlns:a="http://schemas.openxmlformats.org/drawingml/2006/main" id="20" idx="3"/>
            <a:endCxn xmlns:a="http://schemas.openxmlformats.org/drawingml/2006/main" id="21" idx="1"/>
          </p:cNvCxnSpPr>
          <p:nvPr/>
        </p:nvCxnSpPr>
        <p:spPr>
          <a:xfrm xmlns:a="http://schemas.openxmlformats.org/drawingml/2006/main">
            <a:off x="7962900" y="5181600"/>
            <a:ext cx="9525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FF806D"/>
            </a:solidFill>
            <a:prstDash val="solid"/>
            <a:tailEnd type="arrow" w="sm" len="sm"/>
          </a:ln>
        </p:spPr>
      </p:cxnSp>
      <p:sp>
        <p:nvSpPr>
          <p:cNvPr id="25" name="text-1150">
            <a:extLst xmlns:a="http://schemas.openxmlformats.org/drawingml/2006/main">
              <a:ext uri="{FF2B5EF4-FFF2-40B4-BE49-F238E27FC236}">
                <a16:creationId xmlns:a16="http://schemas.microsoft.com/office/drawing/2014/main" id="{EA0CB27E-4287-4229-A911-C2F0A63C7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5619750"/>
            <a:ext cx="5600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按需載入，不把整個知識庫一次塞進主文</a:t>
            </a:r>
          </a:p>
        </p:txBody>
      </p:sp>
      <p:sp>
        <p:nvSpPr>
          <p:cNvPr id="26" name="text-1448">
            <a:extLst xmlns:a="http://schemas.openxmlformats.org/drawingml/2006/main">
              <a:ext uri="{FF2B5EF4-FFF2-40B4-BE49-F238E27FC236}">
                <a16:creationId xmlns:a16="http://schemas.microsoft.com/office/drawing/2014/main" id="{598E8C03-B906-423A-86CC-CFB90BF1B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229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d2936841fe154fa1"/>
              </a:rPr>
              <a:t>Antigravity Skills ↗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0e2ffb1886cc4fe0"/>
              </a:rPr>
              <a:t>Codex Skills ↗</a:t>
            </a:r>
          </a:p>
        </p:txBody>
      </p:sp>
      <p:sp>
        <p:nvSpPr>
          <p:cNvPr id="27" name="shape-1508">
            <a:extLst xmlns:a="http://schemas.openxmlformats.org/drawingml/2006/main">
              <a:ext uri="{FF2B5EF4-FFF2-40B4-BE49-F238E27FC236}">
                <a16:creationId xmlns:a16="http://schemas.microsoft.com/office/drawing/2014/main" id="{37E0185A-A1C4-4524-8DC6-948533D37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5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d7fac6e036d4093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9" name="text-1509">
            <a:extLst xmlns:a="http://schemas.openxmlformats.org/drawingml/2006/main">
              <a:ext uri="{FF2B5EF4-FFF2-40B4-BE49-F238E27FC236}">
                <a16:creationId xmlns:a16="http://schemas.microsoft.com/office/drawing/2014/main" id="{35189F6B-953A-4827-B172-2FAB87682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Antigravity </a:t>
            </a:r>
          </a:p>
        </p:txBody>
      </p:sp>
      <p:pic>
        <p:nvPicPr>
          <p:cNvPr id="6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b5e3b9ba6504f63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31" name="text-1510">
            <a:extLst xmlns:a="http://schemas.openxmlformats.org/drawingml/2006/main">
              <a:ext uri="{FF2B5EF4-FFF2-40B4-BE49-F238E27FC236}">
                <a16:creationId xmlns:a16="http://schemas.microsoft.com/office/drawing/2014/main" id="{83E94281-E86B-481A-B156-3F5276EE6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Codex Skills</a:t>
            </a:r>
          </a:p>
        </p:txBody>
      </p:sp>
    </p:spTree>
    <p:extLst>
      <p:ext uri="{BB962C8B-B14F-4D97-AF65-F5344CB8AC3E}">
        <p14:creationId xmlns:p14="http://schemas.microsoft.com/office/powerpoint/2010/main" val="194901463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text-1151">
            <a:extLst xmlns:a="http://schemas.openxmlformats.org/drawingml/2006/main">
              <a:ext uri="{FF2B5EF4-FFF2-40B4-BE49-F238E27FC236}">
                <a16:creationId xmlns:a16="http://schemas.microsoft.com/office/drawing/2014/main" id="{6F5CD108-6DEF-4E04-8CB5-06A0C21FB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HANDS-ON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2509680E-C955-4307-8613-F3184666B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實作 C｜把一筆提示詞升級成教育 Skill</a:t>
            </a:r>
          </a:p>
        </p:txBody>
      </p:sp>
      <p:cxnSp>
        <p:nvCxnSpPr>
          <p:cNvPr id="27" name="shape-1152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153">
            <a:extLst xmlns:a="http://schemas.openxmlformats.org/drawingml/2006/main">
              <a:ext uri="{FF2B5EF4-FFF2-40B4-BE49-F238E27FC236}">
                <a16:creationId xmlns:a16="http://schemas.microsoft.com/office/drawing/2014/main" id="{65FDF1FB-0F75-4276-9F66-F846B1584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790E0325-2900-49BE-905C-93B55D001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31</a:t>
            </a:r>
          </a:p>
        </p:txBody>
      </p:sp>
      <p:sp>
        <p:nvSpPr>
          <p:cNvPr id="6" name="text-1154">
            <a:extLst xmlns:a="http://schemas.openxmlformats.org/drawingml/2006/main">
              <a:ext uri="{FF2B5EF4-FFF2-40B4-BE49-F238E27FC236}">
                <a16:creationId xmlns:a16="http://schemas.microsoft.com/office/drawing/2014/main" id="{0C943C60-73C1-40F4-880F-8E489B6BE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09750"/>
            <a:ext cx="2000250" cy="20002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28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分鐘</a:t>
            </a:r>
          </a:p>
        </p:txBody>
      </p:sp>
      <p:sp>
        <p:nvSpPr>
          <p:cNvPr id="7" name="text-1155">
            <a:extLst xmlns:a="http://schemas.openxmlformats.org/drawingml/2006/main">
              <a:ext uri="{FF2B5EF4-FFF2-40B4-BE49-F238E27FC236}">
                <a16:creationId xmlns:a16="http://schemas.microsoft.com/office/drawing/2014/main" id="{28E55F9F-5368-42BE-8594-CB9438041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1733550"/>
            <a:ext cx="3143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操作步驟</a:t>
            </a:r>
          </a:p>
        </p:txBody>
      </p:sp>
      <p:sp>
        <p:nvSpPr>
          <p:cNvPr id="8" name="text-1156">
            <a:extLst xmlns:a="http://schemas.openxmlformats.org/drawingml/2006/main">
              <a:ext uri="{FF2B5EF4-FFF2-40B4-BE49-F238E27FC236}">
                <a16:creationId xmlns:a16="http://schemas.microsoft.com/office/drawing/2014/main" id="{C5D1D475-492F-4964-B127-FE4A3D68E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24003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1157">
            <a:extLst xmlns:a="http://schemas.openxmlformats.org/drawingml/2006/main">
              <a:ext uri="{FF2B5EF4-FFF2-40B4-BE49-F238E27FC236}">
                <a16:creationId xmlns:a16="http://schemas.microsoft.com/office/drawing/2014/main" id="{A6D62A91-C618-471B-B413-EE13A4BFA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24003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從快捷面板選一個高頻提示詞</a:t>
            </a:r>
          </a:p>
        </p:txBody>
      </p:sp>
      <p:sp>
        <p:nvSpPr>
          <p:cNvPr id="10" name="text-1158">
            <a:extLst xmlns:a="http://schemas.openxmlformats.org/drawingml/2006/main">
              <a:ext uri="{FF2B5EF4-FFF2-40B4-BE49-F238E27FC236}">
                <a16:creationId xmlns:a16="http://schemas.microsoft.com/office/drawing/2014/main" id="{B0C91048-5C5E-4CE5-8267-DF240EBB3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1051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1" name="text-1159">
            <a:extLst xmlns:a="http://schemas.openxmlformats.org/drawingml/2006/main">
              <a:ext uri="{FF2B5EF4-FFF2-40B4-BE49-F238E27FC236}">
                <a16:creationId xmlns:a16="http://schemas.microsoft.com/office/drawing/2014/main" id="{079146EF-48CB-4F0C-816E-77A50FB29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1051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補齊輸入、步驟、限制與驗收</a:t>
            </a:r>
          </a:p>
        </p:txBody>
      </p:sp>
      <p:sp>
        <p:nvSpPr>
          <p:cNvPr id="12" name="text-1160">
            <a:extLst xmlns:a="http://schemas.openxmlformats.org/drawingml/2006/main">
              <a:ext uri="{FF2B5EF4-FFF2-40B4-BE49-F238E27FC236}">
                <a16:creationId xmlns:a16="http://schemas.microsoft.com/office/drawing/2014/main" id="{C11158D8-191E-4AB6-A73C-24EFA6A03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8100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13" name="text-1161">
            <a:extLst xmlns:a="http://schemas.openxmlformats.org/drawingml/2006/main">
              <a:ext uri="{FF2B5EF4-FFF2-40B4-BE49-F238E27FC236}">
                <a16:creationId xmlns:a16="http://schemas.microsoft.com/office/drawing/2014/main" id="{CFEC910F-884F-4C0F-8461-7D79BCB37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8100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建立資料夾與 SKILL.md</a:t>
            </a:r>
          </a:p>
        </p:txBody>
      </p:sp>
      <p:sp>
        <p:nvSpPr>
          <p:cNvPr id="14" name="text-1162">
            <a:extLst xmlns:a="http://schemas.openxmlformats.org/drawingml/2006/main">
              <a:ext uri="{FF2B5EF4-FFF2-40B4-BE49-F238E27FC236}">
                <a16:creationId xmlns:a16="http://schemas.microsoft.com/office/drawing/2014/main" id="{EC680C42-0A11-4711-985A-FFFE9EC35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45148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15" name="text-1163">
            <a:extLst xmlns:a="http://schemas.openxmlformats.org/drawingml/2006/main">
              <a:ext uri="{FF2B5EF4-FFF2-40B4-BE49-F238E27FC236}">
                <a16:creationId xmlns:a16="http://schemas.microsoft.com/office/drawing/2014/main" id="{B858FD5D-FF80-44A3-8974-89D7F2139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45148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在 Agent 中用自然語句觸發並修正</a:t>
            </a:r>
          </a:p>
        </p:txBody>
      </p:sp>
      <p:sp>
        <p:nvSpPr>
          <p:cNvPr id="16" name="shape-1164">
            <a:extLst xmlns:a="http://schemas.openxmlformats.org/drawingml/2006/main">
              <a:ext uri="{FF2B5EF4-FFF2-40B4-BE49-F238E27FC236}">
                <a16:creationId xmlns:a16="http://schemas.microsoft.com/office/drawing/2014/main" id="{2914FD0E-E3AA-4657-9126-CF07D4F5B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790700"/>
            <a:ext cx="2362200" cy="390525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7" name="text-1165">
            <a:extLst xmlns:a="http://schemas.openxmlformats.org/drawingml/2006/main">
              <a:ext uri="{FF2B5EF4-FFF2-40B4-BE49-F238E27FC236}">
                <a16:creationId xmlns:a16="http://schemas.microsoft.com/office/drawing/2014/main" id="{199290FA-E97B-4B1D-9ADA-BF8A1C04D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057400"/>
            <a:ext cx="18669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FF806D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FF806D"/>
                </a:solidFill>
                <a:latin typeface="Noto Sans TC"/>
                <a:ea typeface="Noto Sans TC"/>
                <a:cs typeface="Noto Sans TC"/>
              </a:rPr>
              <a:t>完成條件</a:t>
            </a:r>
          </a:p>
        </p:txBody>
      </p:sp>
      <p:sp>
        <p:nvSpPr>
          <p:cNvPr id="18" name="text-1166">
            <a:extLst xmlns:a="http://schemas.openxmlformats.org/drawingml/2006/main">
              <a:ext uri="{FF2B5EF4-FFF2-40B4-BE49-F238E27FC236}">
                <a16:creationId xmlns:a16="http://schemas.microsoft.com/office/drawing/2014/main" id="{095C3949-2B4B-4B3D-A3E0-E33D30C55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705100"/>
            <a:ext cx="186690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✓ 名稱與描述清楚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✓ 流程可重複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✓ 有至少一項驗收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✓ 需要授權的動作會停</a:t>
            </a:r>
          </a:p>
        </p:txBody>
      </p:sp>
      <p:sp>
        <p:nvSpPr>
          <p:cNvPr id="19" name="text-1449">
            <a:extLst xmlns:a="http://schemas.openxmlformats.org/drawingml/2006/main">
              <a:ext uri="{FF2B5EF4-FFF2-40B4-BE49-F238E27FC236}">
                <a16:creationId xmlns:a16="http://schemas.microsoft.com/office/drawing/2014/main" id="{8C2ED4D1-504C-4E74-B986-957268821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229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d8df767f794848dd"/>
              </a:rPr>
              <a:t>Antigravity Skills ↗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eede4a6a3cf54c86"/>
              </a:rPr>
              <a:t>Codex Skills ↗</a:t>
            </a:r>
          </a:p>
        </p:txBody>
      </p:sp>
      <p:sp>
        <p:nvSpPr>
          <p:cNvPr id="20" name="shape-1511">
            <a:extLst xmlns:a="http://schemas.openxmlformats.org/drawingml/2006/main">
              <a:ext uri="{FF2B5EF4-FFF2-40B4-BE49-F238E27FC236}">
                <a16:creationId xmlns:a16="http://schemas.microsoft.com/office/drawing/2014/main" id="{7CA9D0C6-DA79-411C-A553-EB36533C7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4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dae73e59a22411f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2" name="text-1512">
            <a:extLst xmlns:a="http://schemas.openxmlformats.org/drawingml/2006/main">
              <a:ext uri="{FF2B5EF4-FFF2-40B4-BE49-F238E27FC236}">
                <a16:creationId xmlns:a16="http://schemas.microsoft.com/office/drawing/2014/main" id="{AC3F167C-029A-4E8C-B8FE-A1AD84CA0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Antigravity </a:t>
            </a:r>
          </a:p>
        </p:txBody>
      </p:sp>
      <p:pic>
        <p:nvPicPr>
          <p:cNvPr id="4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218c7cd431040ba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4" name="text-1513">
            <a:extLst xmlns:a="http://schemas.openxmlformats.org/drawingml/2006/main">
              <a:ext uri="{FF2B5EF4-FFF2-40B4-BE49-F238E27FC236}">
                <a16:creationId xmlns:a16="http://schemas.microsoft.com/office/drawing/2014/main" id="{9AC76F9F-E535-444F-899B-A7207A193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Codex Skills</a:t>
            </a:r>
          </a:p>
        </p:txBody>
      </p:sp>
    </p:spTree>
    <p:extLst>
      <p:ext uri="{BB962C8B-B14F-4D97-AF65-F5344CB8AC3E}">
        <p14:creationId xmlns:p14="http://schemas.microsoft.com/office/powerpoint/2010/main" val="924120326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text-1167">
            <a:extLst xmlns:a="http://schemas.openxmlformats.org/drawingml/2006/main">
              <a:ext uri="{FF2B5EF4-FFF2-40B4-BE49-F238E27FC236}">
                <a16:creationId xmlns:a16="http://schemas.microsoft.com/office/drawing/2014/main" id="{704A40EB-98DD-40FA-99B7-86B379F6C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CROSS-AGENT TEST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E4D80047-87E8-40FD-A4C5-5F2818519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同一個 Skill，做兩輪交叉測試</a:t>
            </a:r>
          </a:p>
        </p:txBody>
      </p:sp>
      <p:cxnSp>
        <p:nvCxnSpPr>
          <p:cNvPr id="30" name="shape-1168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169">
            <a:extLst xmlns:a="http://schemas.openxmlformats.org/drawingml/2006/main">
              <a:ext uri="{FF2B5EF4-FFF2-40B4-BE49-F238E27FC236}">
                <a16:creationId xmlns:a16="http://schemas.microsoft.com/office/drawing/2014/main" id="{B5EEF98E-52AA-4280-BD9F-76048DFEF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73941377-C50A-4B39-AD84-D923C79E5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32</a:t>
            </a:r>
          </a:p>
        </p:txBody>
      </p:sp>
      <p:sp>
        <p:nvSpPr>
          <p:cNvPr id="6" name="shape-1170">
            <a:extLst xmlns:a="http://schemas.openxmlformats.org/drawingml/2006/main">
              <a:ext uri="{FF2B5EF4-FFF2-40B4-BE49-F238E27FC236}">
                <a16:creationId xmlns:a16="http://schemas.microsoft.com/office/drawing/2014/main" id="{E0B2845E-D503-4A61-99B4-6A3EA2FE8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7" name="text-1171">
            <a:extLst xmlns:a="http://schemas.openxmlformats.org/drawingml/2006/main">
              <a:ext uri="{FF2B5EF4-FFF2-40B4-BE49-F238E27FC236}">
                <a16:creationId xmlns:a16="http://schemas.microsoft.com/office/drawing/2014/main" id="{7C69B260-8661-4F1F-BF70-EC1EB29B9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8" name="text-1172">
            <a:extLst xmlns:a="http://schemas.openxmlformats.org/drawingml/2006/main">
              <a:ext uri="{FF2B5EF4-FFF2-40B4-BE49-F238E27FC236}">
                <a16:creationId xmlns:a16="http://schemas.microsoft.com/office/drawing/2014/main" id="{4CE4001E-573A-4119-B4B0-16492A975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觸發</a:t>
            </a:r>
          </a:p>
        </p:txBody>
      </p:sp>
      <p:sp>
        <p:nvSpPr>
          <p:cNvPr id="9" name="text-1173">
            <a:extLst xmlns:a="http://schemas.openxmlformats.org/drawingml/2006/main">
              <a:ext uri="{FF2B5EF4-FFF2-40B4-BE49-F238E27FC236}">
                <a16:creationId xmlns:a16="http://schemas.microsoft.com/office/drawing/2014/main" id="{AB6A46B4-5EE8-47D2-A134-2620F22C1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Antigravity 與 Codex 是否都能從 description 判斷何時使用？</a:t>
            </a:r>
          </a:p>
        </p:txBody>
      </p:sp>
      <p:sp>
        <p:nvSpPr>
          <p:cNvPr id="10" name="shape-1174">
            <a:extLst xmlns:a="http://schemas.openxmlformats.org/drawingml/2006/main">
              <a:ext uri="{FF2B5EF4-FFF2-40B4-BE49-F238E27FC236}">
                <a16:creationId xmlns:a16="http://schemas.microsoft.com/office/drawing/2014/main" id="{34B31878-5E95-4DAB-9BC9-30992970A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1" name="text-1175">
            <a:extLst xmlns:a="http://schemas.openxmlformats.org/drawingml/2006/main">
              <a:ext uri="{FF2B5EF4-FFF2-40B4-BE49-F238E27FC236}">
                <a16:creationId xmlns:a16="http://schemas.microsoft.com/office/drawing/2014/main" id="{32A8B966-9E40-46FC-9530-7C39FBB4B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2" name="text-1176">
            <a:extLst xmlns:a="http://schemas.openxmlformats.org/drawingml/2006/main">
              <a:ext uri="{FF2B5EF4-FFF2-40B4-BE49-F238E27FC236}">
                <a16:creationId xmlns:a16="http://schemas.microsoft.com/office/drawing/2014/main" id="{C175CC95-A07E-434C-86B5-DB297F325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步驟</a:t>
            </a:r>
          </a:p>
        </p:txBody>
      </p:sp>
      <p:sp>
        <p:nvSpPr>
          <p:cNvPr id="13" name="text-1177">
            <a:extLst xmlns:a="http://schemas.openxmlformats.org/drawingml/2006/main">
              <a:ext uri="{FF2B5EF4-FFF2-40B4-BE49-F238E27FC236}">
                <a16:creationId xmlns:a16="http://schemas.microsoft.com/office/drawing/2014/main" id="{4DAB6D53-9BD9-451A-91FC-F914B4D1F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是否按相同順序處理，或清楚說明環境差異？</a:t>
            </a:r>
          </a:p>
        </p:txBody>
      </p:sp>
      <p:sp>
        <p:nvSpPr>
          <p:cNvPr id="14" name="shape-1178">
            <a:extLst xmlns:a="http://schemas.openxmlformats.org/drawingml/2006/main">
              <a:ext uri="{FF2B5EF4-FFF2-40B4-BE49-F238E27FC236}">
                <a16:creationId xmlns:a16="http://schemas.microsoft.com/office/drawing/2014/main" id="{4167FCFB-B219-41B1-820C-CD4B4CA6F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5" name="text-1179">
            <a:extLst xmlns:a="http://schemas.openxmlformats.org/drawingml/2006/main">
              <a:ext uri="{FF2B5EF4-FFF2-40B4-BE49-F238E27FC236}">
                <a16:creationId xmlns:a16="http://schemas.microsoft.com/office/drawing/2014/main" id="{CD6F40C9-429E-4939-9D95-4BD635EE1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-1180">
            <a:extLst xmlns:a="http://schemas.openxmlformats.org/drawingml/2006/main">
              <a:ext uri="{FF2B5EF4-FFF2-40B4-BE49-F238E27FC236}">
                <a16:creationId xmlns:a16="http://schemas.microsoft.com/office/drawing/2014/main" id="{1AC049A4-F024-473E-A71A-9D11261AF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護欄</a:t>
            </a:r>
          </a:p>
        </p:txBody>
      </p:sp>
      <p:sp>
        <p:nvSpPr>
          <p:cNvPr id="17" name="text-1181">
            <a:extLst xmlns:a="http://schemas.openxmlformats.org/drawingml/2006/main">
              <a:ext uri="{FF2B5EF4-FFF2-40B4-BE49-F238E27FC236}">
                <a16:creationId xmlns:a16="http://schemas.microsoft.com/office/drawing/2014/main" id="{BDD5137F-E302-400B-988F-FD21554CE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是否都在發布、刪除、寄送或改權限前停下？</a:t>
            </a:r>
          </a:p>
        </p:txBody>
      </p:sp>
      <p:sp>
        <p:nvSpPr>
          <p:cNvPr id="18" name="shape-1182">
            <a:extLst xmlns:a="http://schemas.openxmlformats.org/drawingml/2006/main">
              <a:ext uri="{FF2B5EF4-FFF2-40B4-BE49-F238E27FC236}">
                <a16:creationId xmlns:a16="http://schemas.microsoft.com/office/drawing/2014/main" id="{AEFBE5ED-DC41-49C7-875A-0D1B27DAB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9" name="text-1183">
            <a:extLst xmlns:a="http://schemas.openxmlformats.org/drawingml/2006/main">
              <a:ext uri="{FF2B5EF4-FFF2-40B4-BE49-F238E27FC236}">
                <a16:creationId xmlns:a16="http://schemas.microsoft.com/office/drawing/2014/main" id="{7015609E-D2CE-46CD-A410-164A68802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20" name="text-1184">
            <a:extLst xmlns:a="http://schemas.openxmlformats.org/drawingml/2006/main">
              <a:ext uri="{FF2B5EF4-FFF2-40B4-BE49-F238E27FC236}">
                <a16:creationId xmlns:a16="http://schemas.microsoft.com/office/drawing/2014/main" id="{441C0228-A453-41E5-8754-B2F578706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證據</a:t>
            </a:r>
          </a:p>
        </p:txBody>
      </p:sp>
      <p:sp>
        <p:nvSpPr>
          <p:cNvPr id="21" name="text-1185">
            <a:extLst xmlns:a="http://schemas.openxmlformats.org/drawingml/2006/main">
              <a:ext uri="{FF2B5EF4-FFF2-40B4-BE49-F238E27FC236}">
                <a16:creationId xmlns:a16="http://schemas.microsoft.com/office/drawing/2014/main" id="{D8FE10B0-E0C0-40C7-BC2F-086E1683E8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是否都回報通過、失敗與未確認，而非只說完成？</a:t>
            </a:r>
          </a:p>
        </p:txBody>
      </p:sp>
      <p:sp>
        <p:nvSpPr>
          <p:cNvPr id="22" name="text-1450">
            <a:extLst xmlns:a="http://schemas.openxmlformats.org/drawingml/2006/main">
              <a:ext uri="{FF2B5EF4-FFF2-40B4-BE49-F238E27FC236}">
                <a16:creationId xmlns:a16="http://schemas.microsoft.com/office/drawing/2014/main" id="{E0C9E894-3A85-4A5E-9FD5-D140B5478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229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6abae85d8d34413b"/>
              </a:rPr>
              <a:t>Antigravity Skills ↗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db6f7e8fe0894220"/>
              </a:rPr>
              <a:t>Codex Skills ↗</a:t>
            </a:r>
          </a:p>
        </p:txBody>
      </p:sp>
      <p:sp>
        <p:nvSpPr>
          <p:cNvPr id="23" name="shape-1514">
            <a:extLst xmlns:a="http://schemas.openxmlformats.org/drawingml/2006/main">
              <a:ext uri="{FF2B5EF4-FFF2-40B4-BE49-F238E27FC236}">
                <a16:creationId xmlns:a16="http://schemas.microsoft.com/office/drawing/2014/main" id="{A06F4D30-636C-4A49-91E4-90B92DC49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5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39190692bc14c28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5" name="text-1515">
            <a:extLst xmlns:a="http://schemas.openxmlformats.org/drawingml/2006/main">
              <a:ext uri="{FF2B5EF4-FFF2-40B4-BE49-F238E27FC236}">
                <a16:creationId xmlns:a16="http://schemas.microsoft.com/office/drawing/2014/main" id="{0CB059A9-64A6-4FA9-A45B-811B30440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Antigravity </a:t>
            </a:r>
          </a:p>
        </p:txBody>
      </p:sp>
      <p:pic>
        <p:nvPicPr>
          <p:cNvPr id="5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d38dd5b9a0548d2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7" name="text-1516">
            <a:extLst xmlns:a="http://schemas.openxmlformats.org/drawingml/2006/main">
              <a:ext uri="{FF2B5EF4-FFF2-40B4-BE49-F238E27FC236}">
                <a16:creationId xmlns:a16="http://schemas.microsoft.com/office/drawing/2014/main" id="{DEB040AF-F51D-491A-AFCF-D4CCF6FFD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Codex Skills</a:t>
            </a:r>
          </a:p>
        </p:txBody>
      </p:sp>
    </p:spTree>
    <p:extLst>
      <p:ext uri="{BB962C8B-B14F-4D97-AF65-F5344CB8AC3E}">
        <p14:creationId xmlns:p14="http://schemas.microsoft.com/office/powerpoint/2010/main" val="1642205370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text-1186">
            <a:extLst xmlns:a="http://schemas.openxmlformats.org/drawingml/2006/main">
              <a:ext uri="{FF2B5EF4-FFF2-40B4-BE49-F238E27FC236}">
                <a16:creationId xmlns:a16="http://schemas.microsoft.com/office/drawing/2014/main" id="{BC5A4212-0704-4C90-B06D-A20C42FCE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2000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4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84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2" name="text-1187">
            <a:extLst xmlns:a="http://schemas.openxmlformats.org/drawingml/2006/main">
              <a:ext uri="{FF2B5EF4-FFF2-40B4-BE49-F238E27FC236}">
                <a16:creationId xmlns:a16="http://schemas.microsoft.com/office/drawing/2014/main" id="{C82DD6DD-D6BB-4568-9A41-4B2DFA4F1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343150"/>
            <a:ext cx="10668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40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40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AI 分析學生資料</a:t>
            </a:r>
          </a:p>
        </p:txBody>
      </p:sp>
      <p:sp>
        <p:nvSpPr>
          <p:cNvPr id="3" name="text-1188">
            <a:extLst xmlns:a="http://schemas.openxmlformats.org/drawingml/2006/main">
              <a:ext uri="{FF2B5EF4-FFF2-40B4-BE49-F238E27FC236}">
                <a16:creationId xmlns:a16="http://schemas.microsoft.com/office/drawing/2014/main" id="{012A5262-6C6E-4E12-8532-56888623E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95700"/>
            <a:ext cx="84772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把選擇題統計與簡答題編碼分流處理，再用人工複核與一致性檢查，把 AI 變成研究助理而不是黑箱評分者。</a:t>
            </a:r>
          </a:p>
        </p:txBody>
      </p:sp>
      <p:sp>
        <p:nvSpPr>
          <p:cNvPr id="4" name="shape-1189">
            <a:extLst xmlns:a="http://schemas.openxmlformats.org/drawingml/2006/main">
              <a:ext uri="{FF2B5EF4-FFF2-40B4-BE49-F238E27FC236}">
                <a16:creationId xmlns:a16="http://schemas.microsoft.com/office/drawing/2014/main" id="{7359781B-8E77-48E9-A3B5-C666E0625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3810000"/>
            <a:ext cx="1524000" cy="1524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text-1190">
            <a:extLst xmlns:a="http://schemas.openxmlformats.org/drawingml/2006/main">
              <a:ext uri="{FF2B5EF4-FFF2-40B4-BE49-F238E27FC236}">
                <a16:creationId xmlns:a16="http://schemas.microsoft.com/office/drawing/2014/main" id="{0E2ADB28-AFD8-42C0-9BD1-39F3F920F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4114800"/>
            <a:ext cx="1143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動手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做</a:t>
            </a:r>
          </a:p>
        </p:txBody>
      </p:sp>
      <p:cxnSp>
        <p:nvCxnSpPr>
          <p:cNvPr id="20" name="shape-1191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7" name="text-1192">
            <a:extLst xmlns:a="http://schemas.openxmlformats.org/drawingml/2006/main">
              <a:ext uri="{FF2B5EF4-FFF2-40B4-BE49-F238E27FC236}">
                <a16:creationId xmlns:a16="http://schemas.microsoft.com/office/drawing/2014/main" id="{6E749FBC-E856-476F-BC24-6CA5FB79A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8" name="page-number">
            <a:extLst xmlns:a="http://schemas.openxmlformats.org/drawingml/2006/main">
              <a:ext uri="{FF2B5EF4-FFF2-40B4-BE49-F238E27FC236}">
                <a16:creationId xmlns:a16="http://schemas.microsoft.com/office/drawing/2014/main" id="{24AFE18C-79A4-45AC-B94E-3FA25DB20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33</a:t>
            </a:r>
          </a:p>
        </p:txBody>
      </p:sp>
      <p:sp>
        <p:nvSpPr>
          <p:cNvPr id="9" name="text-1452">
            <a:extLst xmlns:a="http://schemas.openxmlformats.org/drawingml/2006/main">
              <a:ext uri="{FF2B5EF4-FFF2-40B4-BE49-F238E27FC236}">
                <a16:creationId xmlns:a16="http://schemas.microsoft.com/office/drawing/2014/main" id="{771117A3-8AAC-479F-94C0-99CB01D05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d1fd6e13328348f2"/>
              </a:rPr>
              <a:t>Antigravity ↗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b5b9b5a2b7274e0c"/>
              </a:rPr>
              <a:t>Codex ↗</a:t>
            </a:r>
          </a:p>
        </p:txBody>
      </p:sp>
      <p:sp>
        <p:nvSpPr>
          <p:cNvPr id="10" name="shape-1519">
            <a:extLst xmlns:a="http://schemas.openxmlformats.org/drawingml/2006/main">
              <a:ext uri="{FF2B5EF4-FFF2-40B4-BE49-F238E27FC236}">
                <a16:creationId xmlns:a16="http://schemas.microsoft.com/office/drawing/2014/main" id="{040244B8-9B2B-4906-9FC4-271EB4691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f34ab4d07174955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12" name="text-1520">
            <a:extLst xmlns:a="http://schemas.openxmlformats.org/drawingml/2006/main">
              <a:ext uri="{FF2B5EF4-FFF2-40B4-BE49-F238E27FC236}">
                <a16:creationId xmlns:a16="http://schemas.microsoft.com/office/drawing/2014/main" id="{65034C04-1779-4D00-9336-6A9AF961A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  <p:pic>
        <p:nvPicPr>
          <p:cNvPr id="2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03df7f7066c4968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14" name="text-1521">
            <a:extLst xmlns:a="http://schemas.openxmlformats.org/drawingml/2006/main">
              <a:ext uri="{FF2B5EF4-FFF2-40B4-BE49-F238E27FC236}">
                <a16:creationId xmlns:a16="http://schemas.microsoft.com/office/drawing/2014/main" id="{5EC8FA13-EC4C-4C3F-96A6-C20CD947D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</p:spTree>
    <p:extLst>
      <p:ext uri="{BB962C8B-B14F-4D97-AF65-F5344CB8AC3E}">
        <p14:creationId xmlns:p14="http://schemas.microsoft.com/office/powerpoint/2010/main" val="1305471541"/>
      </p:ext>
    </p:extLst>
  </p:cSld>
</p:sld>
</file>

<file path=ppt/slides/slide34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text-1193">
            <a:extLst xmlns:a="http://schemas.openxmlformats.org/drawingml/2006/main">
              <a:ext uri="{FF2B5EF4-FFF2-40B4-BE49-F238E27FC236}">
                <a16:creationId xmlns:a16="http://schemas.microsoft.com/office/drawing/2014/main" id="{1EB1731C-56F4-4FE3-B680-1567AE531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TWO DATA LANES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F90BB690-26E3-470B-808A-4615719A3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先分流：選擇題算表現，簡答題讀理解證據</a:t>
            </a:r>
          </a:p>
        </p:txBody>
      </p:sp>
      <p:cxnSp>
        <p:nvCxnSpPr>
          <p:cNvPr id="31" name="shape-1194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195">
            <a:extLst xmlns:a="http://schemas.openxmlformats.org/drawingml/2006/main">
              <a:ext uri="{FF2B5EF4-FFF2-40B4-BE49-F238E27FC236}">
                <a16:creationId xmlns:a16="http://schemas.microsoft.com/office/drawing/2014/main" id="{76808830-D42D-47C8-9874-1FE26EAA9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871A8FB3-5CA1-456D-A1F5-52588E4ED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34</a:t>
            </a:r>
          </a:p>
        </p:txBody>
      </p:sp>
      <p:sp>
        <p:nvSpPr>
          <p:cNvPr id="6" name="shape-1196">
            <a:extLst xmlns:a="http://schemas.openxmlformats.org/drawingml/2006/main">
              <a:ext uri="{FF2B5EF4-FFF2-40B4-BE49-F238E27FC236}">
                <a16:creationId xmlns:a16="http://schemas.microsoft.com/office/drawing/2014/main" id="{A8399BEF-743F-45A0-91F0-8989625F1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53625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7" name="shape-1197">
            <a:extLst xmlns:a="http://schemas.openxmlformats.org/drawingml/2006/main">
              <a:ext uri="{FF2B5EF4-FFF2-40B4-BE49-F238E27FC236}">
                <a16:creationId xmlns:a16="http://schemas.microsoft.com/office/drawing/2014/main" id="{8A6FA603-9176-4F49-9609-D4752851E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1676400"/>
            <a:ext cx="55911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8" name="text-1198">
            <a:extLst xmlns:a="http://schemas.openxmlformats.org/drawingml/2006/main">
              <a:ext uri="{FF2B5EF4-FFF2-40B4-BE49-F238E27FC236}">
                <a16:creationId xmlns:a16="http://schemas.microsoft.com/office/drawing/2014/main" id="{4681B882-98F5-4CE9-9FFD-FF95EB6C7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00250"/>
            <a:ext cx="47910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選擇題／結構化資料</a:t>
            </a:r>
          </a:p>
        </p:txBody>
      </p:sp>
      <p:sp>
        <p:nvSpPr>
          <p:cNvPr id="9" name="text-1199">
            <a:extLst xmlns:a="http://schemas.openxmlformats.org/drawingml/2006/main">
              <a:ext uri="{FF2B5EF4-FFF2-40B4-BE49-F238E27FC236}">
                <a16:creationId xmlns:a16="http://schemas.microsoft.com/office/drawing/2014/main" id="{7498CF75-D3DC-4702-BB1F-98BABABB4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81300"/>
            <a:ext cx="47910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答案鍵比對與缺漏檢查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全班、分組與題目答對率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干擾選項分布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異常值與資料品質標記</a:t>
            </a:r>
          </a:p>
        </p:txBody>
      </p:sp>
      <p:sp>
        <p:nvSpPr>
          <p:cNvPr id="10" name="text-1200">
            <a:extLst xmlns:a="http://schemas.openxmlformats.org/drawingml/2006/main">
              <a:ext uri="{FF2B5EF4-FFF2-40B4-BE49-F238E27FC236}">
                <a16:creationId xmlns:a16="http://schemas.microsoft.com/office/drawing/2014/main" id="{AF9DE3C3-FEE4-4A33-ACC5-B7F9E9895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000250"/>
            <a:ext cx="49815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簡答題／文字資料</a:t>
            </a:r>
          </a:p>
        </p:txBody>
      </p:sp>
      <p:sp>
        <p:nvSpPr>
          <p:cNvPr id="11" name="text-1201">
            <a:extLst xmlns:a="http://schemas.openxmlformats.org/drawingml/2006/main">
              <a:ext uri="{FF2B5EF4-FFF2-40B4-BE49-F238E27FC236}">
                <a16:creationId xmlns:a16="http://schemas.microsoft.com/office/drawing/2014/main" id="{34951796-62EE-45EB-8CD3-9CC1E0893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781300"/>
            <a:ext cx="49815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先定義逐題編碼規準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保留支持編碼的文字證據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AI 初編＋信心與待複核旗標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人工獨立抽查與處理歧異</a:t>
            </a:r>
          </a:p>
        </p:txBody>
      </p:sp>
      <p:sp>
        <p:nvSpPr>
          <p:cNvPr id="12" name="text-1202">
            <a:extLst xmlns:a="http://schemas.openxmlformats.org/drawingml/2006/main">
              <a:ext uri="{FF2B5EF4-FFF2-40B4-BE49-F238E27FC236}">
                <a16:creationId xmlns:a16="http://schemas.microsoft.com/office/drawing/2014/main" id="{AF37ED11-4B4E-4DB8-9A0B-609C857D8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857750"/>
            <a:ext cx="12573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答案鍵</a:t>
            </a:r>
          </a:p>
        </p:txBody>
      </p:sp>
      <p:sp>
        <p:nvSpPr>
          <p:cNvPr id="13" name="text-1203">
            <a:extLst xmlns:a="http://schemas.openxmlformats.org/drawingml/2006/main">
              <a:ext uri="{FF2B5EF4-FFF2-40B4-BE49-F238E27FC236}">
                <a16:creationId xmlns:a16="http://schemas.microsoft.com/office/drawing/2014/main" id="{4B6DBF82-3F4E-46D0-BC37-3C33155B9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4857750"/>
            <a:ext cx="12573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統計</a:t>
            </a:r>
          </a:p>
        </p:txBody>
      </p:sp>
      <p:sp>
        <p:nvSpPr>
          <p:cNvPr id="14" name="text-1204">
            <a:extLst xmlns:a="http://schemas.openxmlformats.org/drawingml/2006/main">
              <a:ext uri="{FF2B5EF4-FFF2-40B4-BE49-F238E27FC236}">
                <a16:creationId xmlns:a16="http://schemas.microsoft.com/office/drawing/2014/main" id="{C22FBFCC-6B1F-4D64-829B-8C3593AC3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4857750"/>
            <a:ext cx="12573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群體趨勢</a:t>
            </a:r>
          </a:p>
        </p:txBody>
      </p:sp>
      <p:cxnSp>
        <p:nvCxnSpPr>
          <p:cNvPr id="43" name=""/>
          <p:cNvCxnSpPr>
            <a:stCxn xmlns:a="http://schemas.openxmlformats.org/drawingml/2006/main" id="12" idx="3"/>
            <a:endCxn xmlns:a="http://schemas.openxmlformats.org/drawingml/2006/main" id="13" idx="1"/>
          </p:cNvCxnSpPr>
          <p:nvPr/>
        </p:nvCxnSpPr>
        <p:spPr>
          <a:xfrm xmlns:a="http://schemas.openxmlformats.org/drawingml/2006/main">
            <a:off x="2038350" y="5105400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5A7FF"/>
            </a:solidFill>
            <a:prstDash val="solid"/>
            <a:tailEnd type="arrow" w="sm" len="sm"/>
          </a:ln>
        </p:spPr>
      </p:cxnSp>
      <p:cxnSp>
        <p:nvCxnSpPr>
          <p:cNvPr id="44" name=""/>
          <p:cNvCxnSpPr>
            <a:stCxn xmlns:a="http://schemas.openxmlformats.org/drawingml/2006/main" id="13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3562350" y="5105400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5A7FF"/>
            </a:solidFill>
            <a:prstDash val="solid"/>
            <a:tailEnd type="arrow" w="sm" len="sm"/>
          </a:ln>
        </p:spPr>
      </p:cxnSp>
      <p:sp>
        <p:nvSpPr>
          <p:cNvPr id="17" name="text-1205">
            <a:extLst xmlns:a="http://schemas.openxmlformats.org/drawingml/2006/main">
              <a:ext uri="{FF2B5EF4-FFF2-40B4-BE49-F238E27FC236}">
                <a16:creationId xmlns:a16="http://schemas.microsoft.com/office/drawing/2014/main" id="{EE3CCA73-4A6E-487B-87D4-222AAEC58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857750"/>
            <a:ext cx="12573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編碼規準</a:t>
            </a:r>
          </a:p>
        </p:txBody>
      </p:sp>
      <p:sp>
        <p:nvSpPr>
          <p:cNvPr id="18" name="text-1206">
            <a:extLst xmlns:a="http://schemas.openxmlformats.org/drawingml/2006/main">
              <a:ext uri="{FF2B5EF4-FFF2-40B4-BE49-F238E27FC236}">
                <a16:creationId xmlns:a16="http://schemas.microsoft.com/office/drawing/2014/main" id="{85B83095-9DEF-4FB8-9FA3-866E48FA2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4857750"/>
            <a:ext cx="12573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2A1B22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AI 初編</a:t>
            </a:r>
          </a:p>
        </p:txBody>
      </p:sp>
      <p:sp>
        <p:nvSpPr>
          <p:cNvPr id="19" name="text-1207">
            <a:extLst xmlns:a="http://schemas.openxmlformats.org/drawingml/2006/main">
              <a:ext uri="{FF2B5EF4-FFF2-40B4-BE49-F238E27FC236}">
                <a16:creationId xmlns:a16="http://schemas.microsoft.com/office/drawing/2014/main" id="{6B09F5F8-90F3-46AC-A519-54BAF337E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4857750"/>
            <a:ext cx="12573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FF806D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F806D"/>
                </a:solidFill>
                <a:latin typeface="Noto Sans TC"/>
                <a:ea typeface="Noto Sans TC"/>
                <a:cs typeface="Noto Sans TC"/>
              </a:rPr>
              <a:t>人工複核</a:t>
            </a:r>
          </a:p>
        </p:txBody>
      </p:sp>
      <p:cxnSp>
        <p:nvCxnSpPr>
          <p:cNvPr id="48" name=""/>
          <p:cNvCxnSpPr>
            <a:stCxn xmlns:a="http://schemas.openxmlformats.org/drawingml/2006/main" id="17" idx="3"/>
            <a:endCxn xmlns:a="http://schemas.openxmlformats.org/drawingml/2006/main" id="18" idx="1"/>
          </p:cNvCxnSpPr>
          <p:nvPr/>
        </p:nvCxnSpPr>
        <p:spPr>
          <a:xfrm xmlns:a="http://schemas.openxmlformats.org/drawingml/2006/main">
            <a:off x="7677150" y="5105400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CD2C7"/>
            </a:solidFill>
            <a:prstDash val="solid"/>
            <a:tailEnd type="arrow" w="sm" len="sm"/>
          </a:ln>
        </p:spPr>
      </p:cxnSp>
      <p:cxnSp>
        <p:nvCxnSpPr>
          <p:cNvPr id="49" name=""/>
          <p:cNvCxnSpPr>
            <a:stCxn xmlns:a="http://schemas.openxmlformats.org/drawingml/2006/main" id="18" idx="3"/>
            <a:endCxn xmlns:a="http://schemas.openxmlformats.org/drawingml/2006/main" id="19" idx="1"/>
          </p:cNvCxnSpPr>
          <p:nvPr/>
        </p:nvCxnSpPr>
        <p:spPr>
          <a:xfrm xmlns:a="http://schemas.openxmlformats.org/drawingml/2006/main">
            <a:off x="9201150" y="5105400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FF806D"/>
            </a:solidFill>
            <a:prstDash val="solid"/>
            <a:tailEnd type="arrow" w="sm" len="sm"/>
          </a:ln>
        </p:spPr>
      </p:cxnSp>
      <p:sp>
        <p:nvSpPr>
          <p:cNvPr id="22" name="text-1208">
            <a:extLst xmlns:a="http://schemas.openxmlformats.org/drawingml/2006/main">
              <a:ext uri="{FF2B5EF4-FFF2-40B4-BE49-F238E27FC236}">
                <a16:creationId xmlns:a16="http://schemas.microsoft.com/office/drawing/2014/main" id="{90F8EA0C-1C63-4A1E-AEC9-3A880A2B3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562600"/>
            <a:ext cx="914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兩條資料流，最後在報告層匯合；不要用同一套規則硬套</a:t>
            </a:r>
          </a:p>
        </p:txBody>
      </p:sp>
      <p:sp>
        <p:nvSpPr>
          <p:cNvPr id="23" name="text-1453">
            <a:extLst xmlns:a="http://schemas.openxmlformats.org/drawingml/2006/main">
              <a:ext uri="{FF2B5EF4-FFF2-40B4-BE49-F238E27FC236}">
                <a16:creationId xmlns:a16="http://schemas.microsoft.com/office/drawing/2014/main" id="{20386407-B4C7-4548-9007-4E481F48E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c0ef9e889b6149cd"/>
              </a:rPr>
              <a:t>Antigravity ↗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0519021e03064521"/>
              </a:rPr>
              <a:t>Codex ↗</a:t>
            </a:r>
          </a:p>
        </p:txBody>
      </p:sp>
      <p:sp>
        <p:nvSpPr>
          <p:cNvPr id="24" name="shape-1522">
            <a:extLst xmlns:a="http://schemas.openxmlformats.org/drawingml/2006/main">
              <a:ext uri="{FF2B5EF4-FFF2-40B4-BE49-F238E27FC236}">
                <a16:creationId xmlns:a16="http://schemas.microsoft.com/office/drawing/2014/main" id="{6AFF2B59-03B0-461F-A5FB-C7EFDA235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5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286f16bd48a4858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6" name="text-1523">
            <a:extLst xmlns:a="http://schemas.openxmlformats.org/drawingml/2006/main">
              <a:ext uri="{FF2B5EF4-FFF2-40B4-BE49-F238E27FC236}">
                <a16:creationId xmlns:a16="http://schemas.microsoft.com/office/drawing/2014/main" id="{C95FF958-3A43-4F18-9137-92718DE4C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  <p:pic>
        <p:nvPicPr>
          <p:cNvPr id="5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5606b618856495c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8" name="text-1524">
            <a:extLst xmlns:a="http://schemas.openxmlformats.org/drawingml/2006/main">
              <a:ext uri="{FF2B5EF4-FFF2-40B4-BE49-F238E27FC236}">
                <a16:creationId xmlns:a16="http://schemas.microsoft.com/office/drawing/2014/main" id="{8BACDDBD-E7FF-48BA-8A35-50B771A65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</p:spTree>
    <p:extLst>
      <p:ext uri="{BB962C8B-B14F-4D97-AF65-F5344CB8AC3E}">
        <p14:creationId xmlns:p14="http://schemas.microsoft.com/office/powerpoint/2010/main" val="170015052"/>
      </p:ext>
    </p:extLst>
  </p:cSld>
</p:sld>
</file>

<file path=ppt/slides/slide35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0" name="text-1209">
            <a:extLst xmlns:a="http://schemas.openxmlformats.org/drawingml/2006/main">
              <a:ext uri="{FF2B5EF4-FFF2-40B4-BE49-F238E27FC236}">
                <a16:creationId xmlns:a16="http://schemas.microsoft.com/office/drawing/2014/main" id="{8F73F00D-011F-4CDB-A97B-C8429E762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EVIDENCE PIPELINE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8A64F983-9731-4FBB-BDB3-0D8E2CE7B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七步研究流程：從原始資料到可追查報告</a:t>
            </a:r>
          </a:p>
        </p:txBody>
      </p:sp>
      <p:cxnSp>
        <p:nvCxnSpPr>
          <p:cNvPr id="42" name="shape-1210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211">
            <a:extLst xmlns:a="http://schemas.openxmlformats.org/drawingml/2006/main">
              <a:ext uri="{FF2B5EF4-FFF2-40B4-BE49-F238E27FC236}">
                <a16:creationId xmlns:a16="http://schemas.microsoft.com/office/drawing/2014/main" id="{2BFD58B8-6217-4CC7-AAB6-6F8B1CB2E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F8EB3085-81A0-45A4-8FAC-86BE88E6A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35</a:t>
            </a:r>
          </a:p>
        </p:txBody>
      </p:sp>
      <p:sp>
        <p:nvSpPr>
          <p:cNvPr id="6" name="text-1212">
            <a:extLst xmlns:a="http://schemas.openxmlformats.org/drawingml/2006/main">
              <a:ext uri="{FF2B5EF4-FFF2-40B4-BE49-F238E27FC236}">
                <a16:creationId xmlns:a16="http://schemas.microsoft.com/office/drawing/2014/main" id="{4247F173-C013-4AD3-88BE-7C45A8765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8478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7" name="text-1213">
            <a:extLst xmlns:a="http://schemas.openxmlformats.org/drawingml/2006/main">
              <a:ext uri="{FF2B5EF4-FFF2-40B4-BE49-F238E27FC236}">
                <a16:creationId xmlns:a16="http://schemas.microsoft.com/office/drawing/2014/main" id="{75045658-9FF1-4823-B6CD-89947ECAF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09850"/>
            <a:ext cx="1447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去識別</a:t>
            </a:r>
          </a:p>
        </p:txBody>
      </p:sp>
      <p:sp>
        <p:nvSpPr>
          <p:cNvPr id="8" name="text-1214">
            <a:extLst xmlns:a="http://schemas.openxmlformats.org/drawingml/2006/main">
              <a:ext uri="{FF2B5EF4-FFF2-40B4-BE49-F238E27FC236}">
                <a16:creationId xmlns:a16="http://schemas.microsoft.com/office/drawing/2014/main" id="{02A04868-CCFA-40CB-B780-842DFABBB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76600"/>
            <a:ext cx="14478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移除姓名與直接識別欄位</a:t>
            </a:r>
          </a:p>
        </p:txBody>
      </p:sp>
      <p:sp>
        <p:nvSpPr>
          <p:cNvPr id="9" name="text-1215">
            <a:extLst xmlns:a="http://schemas.openxmlformats.org/drawingml/2006/main">
              <a:ext uri="{FF2B5EF4-FFF2-40B4-BE49-F238E27FC236}">
                <a16:creationId xmlns:a16="http://schemas.microsoft.com/office/drawing/2014/main" id="{DBF6E06D-8560-4A83-AA58-5C626A77B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1885950"/>
            <a:ext cx="228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602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00" b="1">
                <a:solidFill>
                  <a:srgbClr val="2A4761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1">
                <a:solidFill>
                  <a:srgbClr val="2A4761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0" name="text-1216">
            <a:extLst xmlns:a="http://schemas.openxmlformats.org/drawingml/2006/main">
              <a:ext uri="{FF2B5EF4-FFF2-40B4-BE49-F238E27FC236}">
                <a16:creationId xmlns:a16="http://schemas.microsoft.com/office/drawing/2014/main" id="{D4A1EA71-5CB5-47B3-A00E-97A8B6354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18478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1" name="text-1217">
            <a:extLst xmlns:a="http://schemas.openxmlformats.org/drawingml/2006/main">
              <a:ext uri="{FF2B5EF4-FFF2-40B4-BE49-F238E27FC236}">
                <a16:creationId xmlns:a16="http://schemas.microsoft.com/office/drawing/2014/main" id="{083D2C5C-4DAF-41A2-9841-230FA08FD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2609850"/>
            <a:ext cx="1447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資料字典</a:t>
            </a:r>
          </a:p>
        </p:txBody>
      </p:sp>
      <p:sp>
        <p:nvSpPr>
          <p:cNvPr id="12" name="text-1218">
            <a:extLst xmlns:a="http://schemas.openxmlformats.org/drawingml/2006/main">
              <a:ext uri="{FF2B5EF4-FFF2-40B4-BE49-F238E27FC236}">
                <a16:creationId xmlns:a16="http://schemas.microsoft.com/office/drawing/2014/main" id="{B1829A7C-68EE-4EDA-BB28-70E617DE7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3276600"/>
            <a:ext cx="14478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欄位、答案鍵、缺失值</a:t>
            </a:r>
          </a:p>
        </p:txBody>
      </p:sp>
      <p:sp>
        <p:nvSpPr>
          <p:cNvPr id="13" name="text-1219">
            <a:extLst xmlns:a="http://schemas.openxmlformats.org/drawingml/2006/main">
              <a:ext uri="{FF2B5EF4-FFF2-40B4-BE49-F238E27FC236}">
                <a16:creationId xmlns:a16="http://schemas.microsoft.com/office/drawing/2014/main" id="{01DB0FD0-57A1-4CCB-AE87-8711ED13B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1885950"/>
            <a:ext cx="228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602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00" b="1">
                <a:solidFill>
                  <a:srgbClr val="2A4761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1">
                <a:solidFill>
                  <a:srgbClr val="2A4761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4" name="text-1220">
            <a:extLst xmlns:a="http://schemas.openxmlformats.org/drawingml/2006/main">
              <a:ext uri="{FF2B5EF4-FFF2-40B4-BE49-F238E27FC236}">
                <a16:creationId xmlns:a16="http://schemas.microsoft.com/office/drawing/2014/main" id="{35E0BDC1-0EB3-4AD5-B0E7-CB2B26005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18478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15" name="text-1221">
            <a:extLst xmlns:a="http://schemas.openxmlformats.org/drawingml/2006/main">
              <a:ext uri="{FF2B5EF4-FFF2-40B4-BE49-F238E27FC236}">
                <a16:creationId xmlns:a16="http://schemas.microsoft.com/office/drawing/2014/main" id="{B268F197-8533-4D75-89EB-5F4739B65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2609850"/>
            <a:ext cx="1447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品質檢查</a:t>
            </a:r>
          </a:p>
        </p:txBody>
      </p:sp>
      <p:sp>
        <p:nvSpPr>
          <p:cNvPr id="16" name="text-1222">
            <a:extLst xmlns:a="http://schemas.openxmlformats.org/drawingml/2006/main">
              <a:ext uri="{FF2B5EF4-FFF2-40B4-BE49-F238E27FC236}">
                <a16:creationId xmlns:a16="http://schemas.microsoft.com/office/drawing/2014/main" id="{7CA4EB96-F20C-49B7-A2BA-B6E69C908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276600"/>
            <a:ext cx="14478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重複、空白、非法值</a:t>
            </a:r>
          </a:p>
        </p:txBody>
      </p:sp>
      <p:sp>
        <p:nvSpPr>
          <p:cNvPr id="17" name="text-1223">
            <a:extLst xmlns:a="http://schemas.openxmlformats.org/drawingml/2006/main">
              <a:ext uri="{FF2B5EF4-FFF2-40B4-BE49-F238E27FC236}">
                <a16:creationId xmlns:a16="http://schemas.microsoft.com/office/drawing/2014/main" id="{0B21108D-2EC0-404D-89F6-2C713699A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1885950"/>
            <a:ext cx="228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602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00" b="1">
                <a:solidFill>
                  <a:srgbClr val="2A4761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1">
                <a:solidFill>
                  <a:srgbClr val="2A4761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8" name="text-1224">
            <a:extLst xmlns:a="http://schemas.openxmlformats.org/drawingml/2006/main">
              <a:ext uri="{FF2B5EF4-FFF2-40B4-BE49-F238E27FC236}">
                <a16:creationId xmlns:a16="http://schemas.microsoft.com/office/drawing/2014/main" id="{4BDCF563-A2F0-492E-B073-2A2E47378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18478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19" name="text-1225">
            <a:extLst xmlns:a="http://schemas.openxmlformats.org/drawingml/2006/main">
              <a:ext uri="{FF2B5EF4-FFF2-40B4-BE49-F238E27FC236}">
                <a16:creationId xmlns:a16="http://schemas.microsoft.com/office/drawing/2014/main" id="{007C16BF-C0C3-4465-97AC-843FD78E4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2609850"/>
            <a:ext cx="1447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選擇題</a:t>
            </a:r>
          </a:p>
        </p:txBody>
      </p:sp>
      <p:sp>
        <p:nvSpPr>
          <p:cNvPr id="20" name="text-1226">
            <a:extLst xmlns:a="http://schemas.openxmlformats.org/drawingml/2006/main">
              <a:ext uri="{FF2B5EF4-FFF2-40B4-BE49-F238E27FC236}">
                <a16:creationId xmlns:a16="http://schemas.microsoft.com/office/drawing/2014/main" id="{C4B62E87-036E-4FAB-B502-3A7597F35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3276600"/>
            <a:ext cx="14478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答對率與選項分布</a:t>
            </a:r>
          </a:p>
        </p:txBody>
      </p:sp>
      <p:sp>
        <p:nvSpPr>
          <p:cNvPr id="21" name="text-1227">
            <a:extLst xmlns:a="http://schemas.openxmlformats.org/drawingml/2006/main">
              <a:ext uri="{FF2B5EF4-FFF2-40B4-BE49-F238E27FC236}">
                <a16:creationId xmlns:a16="http://schemas.microsoft.com/office/drawing/2014/main" id="{7D766C6E-14F1-471B-97E3-6518F55DE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1885950"/>
            <a:ext cx="228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602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00" b="1">
                <a:solidFill>
                  <a:srgbClr val="2A4761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1">
                <a:solidFill>
                  <a:srgbClr val="2A4761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22" name="text-1228">
            <a:extLst xmlns:a="http://schemas.openxmlformats.org/drawingml/2006/main">
              <a:ext uri="{FF2B5EF4-FFF2-40B4-BE49-F238E27FC236}">
                <a16:creationId xmlns:a16="http://schemas.microsoft.com/office/drawing/2014/main" id="{8233C7B7-E762-4FD1-B58F-23F03CC14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18478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5</a:t>
            </a:r>
          </a:p>
        </p:txBody>
      </p:sp>
      <p:sp>
        <p:nvSpPr>
          <p:cNvPr id="23" name="text-1229">
            <a:extLst xmlns:a="http://schemas.openxmlformats.org/drawingml/2006/main">
              <a:ext uri="{FF2B5EF4-FFF2-40B4-BE49-F238E27FC236}">
                <a16:creationId xmlns:a16="http://schemas.microsoft.com/office/drawing/2014/main" id="{468B12AF-1701-44A1-A148-2FBC9B7B9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2609850"/>
            <a:ext cx="1447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簡答初編</a:t>
            </a:r>
          </a:p>
        </p:txBody>
      </p:sp>
      <p:sp>
        <p:nvSpPr>
          <p:cNvPr id="24" name="text-1230">
            <a:extLst xmlns:a="http://schemas.openxmlformats.org/drawingml/2006/main">
              <a:ext uri="{FF2B5EF4-FFF2-40B4-BE49-F238E27FC236}">
                <a16:creationId xmlns:a16="http://schemas.microsoft.com/office/drawing/2014/main" id="{66DF4299-7A41-4500-84CB-8EF6DD8F6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3276600"/>
            <a:ext cx="14478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依規準＋文字證據</a:t>
            </a:r>
          </a:p>
        </p:txBody>
      </p:sp>
      <p:sp>
        <p:nvSpPr>
          <p:cNvPr id="25" name="text-1231">
            <a:extLst xmlns:a="http://schemas.openxmlformats.org/drawingml/2006/main">
              <a:ext uri="{FF2B5EF4-FFF2-40B4-BE49-F238E27FC236}">
                <a16:creationId xmlns:a16="http://schemas.microsoft.com/office/drawing/2014/main" id="{CA46E821-2294-4FA5-BABE-3306EBD47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1885950"/>
            <a:ext cx="228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602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00" b="1">
                <a:solidFill>
                  <a:srgbClr val="2A4761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1">
                <a:solidFill>
                  <a:srgbClr val="2A4761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26" name="text-1232">
            <a:extLst xmlns:a="http://schemas.openxmlformats.org/drawingml/2006/main">
              <a:ext uri="{FF2B5EF4-FFF2-40B4-BE49-F238E27FC236}">
                <a16:creationId xmlns:a16="http://schemas.microsoft.com/office/drawing/2014/main" id="{6658F267-E8A6-4FDD-93ED-EBA5E5AB2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18478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6</a:t>
            </a:r>
          </a:p>
        </p:txBody>
      </p:sp>
      <p:sp>
        <p:nvSpPr>
          <p:cNvPr id="27" name="text-1233">
            <a:extLst xmlns:a="http://schemas.openxmlformats.org/drawingml/2006/main">
              <a:ext uri="{FF2B5EF4-FFF2-40B4-BE49-F238E27FC236}">
                <a16:creationId xmlns:a16="http://schemas.microsoft.com/office/drawing/2014/main" id="{849FADEF-56AE-4D3B-AD5F-2AB129634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2609850"/>
            <a:ext cx="1447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人工複核</a:t>
            </a:r>
          </a:p>
        </p:txBody>
      </p:sp>
      <p:sp>
        <p:nvSpPr>
          <p:cNvPr id="28" name="text-1234">
            <a:extLst xmlns:a="http://schemas.openxmlformats.org/drawingml/2006/main">
              <a:ext uri="{FF2B5EF4-FFF2-40B4-BE49-F238E27FC236}">
                <a16:creationId xmlns:a16="http://schemas.microsoft.com/office/drawing/2014/main" id="{784A002F-5B56-446F-9F80-E6F3F52F0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3276600"/>
            <a:ext cx="14478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盲評抽查與歧異討論</a:t>
            </a:r>
          </a:p>
        </p:txBody>
      </p:sp>
      <p:sp>
        <p:nvSpPr>
          <p:cNvPr id="29" name="text-1235">
            <a:extLst xmlns:a="http://schemas.openxmlformats.org/drawingml/2006/main">
              <a:ext uri="{FF2B5EF4-FFF2-40B4-BE49-F238E27FC236}">
                <a16:creationId xmlns:a16="http://schemas.microsoft.com/office/drawing/2014/main" id="{CAC216CC-69F4-4D1A-83D3-5596443A3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9350" y="1885950"/>
            <a:ext cx="228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602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00" b="1">
                <a:solidFill>
                  <a:srgbClr val="2A4761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1">
                <a:solidFill>
                  <a:srgbClr val="2A4761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30" name="text-1236">
            <a:extLst xmlns:a="http://schemas.openxmlformats.org/drawingml/2006/main">
              <a:ext uri="{FF2B5EF4-FFF2-40B4-BE49-F238E27FC236}">
                <a16:creationId xmlns:a16="http://schemas.microsoft.com/office/drawing/2014/main" id="{B3B5ACF7-822E-4924-AA15-6AADFB2E2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18478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7</a:t>
            </a:r>
          </a:p>
        </p:txBody>
      </p:sp>
      <p:sp>
        <p:nvSpPr>
          <p:cNvPr id="31" name="text-1237">
            <a:extLst xmlns:a="http://schemas.openxmlformats.org/drawingml/2006/main">
              <a:ext uri="{FF2B5EF4-FFF2-40B4-BE49-F238E27FC236}">
                <a16:creationId xmlns:a16="http://schemas.microsoft.com/office/drawing/2014/main" id="{FC570991-179B-445C-989A-BD70A8009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2609850"/>
            <a:ext cx="1447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彙整報告</a:t>
            </a:r>
          </a:p>
        </p:txBody>
      </p:sp>
      <p:sp>
        <p:nvSpPr>
          <p:cNvPr id="32" name="text-1238">
            <a:extLst xmlns:a="http://schemas.openxmlformats.org/drawingml/2006/main">
              <a:ext uri="{FF2B5EF4-FFF2-40B4-BE49-F238E27FC236}">
                <a16:creationId xmlns:a16="http://schemas.microsoft.com/office/drawing/2014/main" id="{7CBF7ACA-5E7F-4D6F-926E-BBB141D44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3276600"/>
            <a:ext cx="14478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群體趨勢、限制、未確認</a:t>
            </a:r>
          </a:p>
        </p:txBody>
      </p:sp>
      <p:sp>
        <p:nvSpPr>
          <p:cNvPr id="33" name="text-1239">
            <a:extLst xmlns:a="http://schemas.openxmlformats.org/drawingml/2006/main">
              <a:ext uri="{FF2B5EF4-FFF2-40B4-BE49-F238E27FC236}">
                <a16:creationId xmlns:a16="http://schemas.microsoft.com/office/drawing/2014/main" id="{F67ACD08-92F3-4273-B375-2F7E56D20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5314950"/>
            <a:ext cx="563880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152400" tIns="57150" rIns="1524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每一步都留下可檢查的成果</a:t>
            </a:r>
          </a:p>
        </p:txBody>
      </p:sp>
      <p:sp>
        <p:nvSpPr>
          <p:cNvPr id="34" name="text-1454">
            <a:extLst xmlns:a="http://schemas.openxmlformats.org/drawingml/2006/main">
              <a:ext uri="{FF2B5EF4-FFF2-40B4-BE49-F238E27FC236}">
                <a16:creationId xmlns:a16="http://schemas.microsoft.com/office/drawing/2014/main" id="{0273CA4A-159F-42F2-81BD-05FEF3322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0127b1ea82a14b1f"/>
              </a:rPr>
              <a:t>Antigravity ↗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6a84f90659674d15"/>
              </a:rPr>
              <a:t>Codex ↗</a:t>
            </a:r>
          </a:p>
        </p:txBody>
      </p:sp>
      <p:sp>
        <p:nvSpPr>
          <p:cNvPr id="35" name="shape-1525">
            <a:extLst xmlns:a="http://schemas.openxmlformats.org/drawingml/2006/main">
              <a:ext uri="{FF2B5EF4-FFF2-40B4-BE49-F238E27FC236}">
                <a16:creationId xmlns:a16="http://schemas.microsoft.com/office/drawing/2014/main" id="{3699FBD0-7868-432C-9689-DC3D6FC55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7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6a1b6612a664d6a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37" name="text-1526">
            <a:extLst xmlns:a="http://schemas.openxmlformats.org/drawingml/2006/main">
              <a:ext uri="{FF2B5EF4-FFF2-40B4-BE49-F238E27FC236}">
                <a16:creationId xmlns:a16="http://schemas.microsoft.com/office/drawing/2014/main" id="{9639D566-D114-4598-8599-EE11E2542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  <p:pic>
        <p:nvPicPr>
          <p:cNvPr id="7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52bc12740fd4cee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39" name="text-1527">
            <a:extLst xmlns:a="http://schemas.openxmlformats.org/drawingml/2006/main">
              <a:ext uri="{FF2B5EF4-FFF2-40B4-BE49-F238E27FC236}">
                <a16:creationId xmlns:a16="http://schemas.microsoft.com/office/drawing/2014/main" id="{B679E115-3899-46CB-AD24-1AB246C31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</p:spTree>
    <p:extLst>
      <p:ext uri="{BB962C8B-B14F-4D97-AF65-F5344CB8AC3E}">
        <p14:creationId xmlns:p14="http://schemas.microsoft.com/office/powerpoint/2010/main" val="1099416844"/>
      </p:ext>
    </p:extLst>
  </p:cSld>
</p:sld>
</file>

<file path=ppt/slides/slide36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text-1240">
            <a:extLst xmlns:a="http://schemas.openxmlformats.org/drawingml/2006/main">
              <a:ext uri="{FF2B5EF4-FFF2-40B4-BE49-F238E27FC236}">
                <a16:creationId xmlns:a16="http://schemas.microsoft.com/office/drawing/2014/main" id="{9C157062-08FF-46B4-856C-5F40F1CB6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HUMAN-SCORED · AI PARALLEL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311E7315-E980-4F7B-85AA-ED7B74C54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AI 初編不等於正式評分：PIRLS 2026 給我們的訊號</a:t>
            </a:r>
          </a:p>
        </p:txBody>
      </p:sp>
      <p:cxnSp>
        <p:nvCxnSpPr>
          <p:cNvPr id="30" name="shape-1241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242">
            <a:extLst xmlns:a="http://schemas.openxmlformats.org/drawingml/2006/main">
              <a:ext uri="{FF2B5EF4-FFF2-40B4-BE49-F238E27FC236}">
                <a16:creationId xmlns:a16="http://schemas.microsoft.com/office/drawing/2014/main" id="{D4306EC8-27C3-44BF-A5F3-70C861746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1E679F49-6289-4F25-A9ED-E4181A988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36</a:t>
            </a:r>
          </a:p>
        </p:txBody>
      </p:sp>
      <p:sp>
        <p:nvSpPr>
          <p:cNvPr id="6" name="shape-1243">
            <a:extLst xmlns:a="http://schemas.openxmlformats.org/drawingml/2006/main">
              <a:ext uri="{FF2B5EF4-FFF2-40B4-BE49-F238E27FC236}">
                <a16:creationId xmlns:a16="http://schemas.microsoft.com/office/drawing/2014/main" id="{9C869363-3D0F-40B7-92CA-8DB2266DF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7" name="text-1244">
            <a:extLst xmlns:a="http://schemas.openxmlformats.org/drawingml/2006/main">
              <a:ext uri="{FF2B5EF4-FFF2-40B4-BE49-F238E27FC236}">
                <a16:creationId xmlns:a16="http://schemas.microsoft.com/office/drawing/2014/main" id="{F8B9B18D-AE8B-4FFD-8CE6-D9793622F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H</a:t>
            </a:r>
          </a:p>
        </p:txBody>
      </p:sp>
      <p:sp>
        <p:nvSpPr>
          <p:cNvPr id="8" name="text-1245">
            <a:extLst xmlns:a="http://schemas.openxmlformats.org/drawingml/2006/main">
              <a:ext uri="{FF2B5EF4-FFF2-40B4-BE49-F238E27FC236}">
                <a16:creationId xmlns:a16="http://schemas.microsoft.com/office/drawing/2014/main" id="{C76A6A19-3EE8-4A2F-B6A7-C922B7DE7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人工仍是主流程</a:t>
            </a:r>
          </a:p>
        </p:txBody>
      </p:sp>
      <p:sp>
        <p:nvSpPr>
          <p:cNvPr id="9" name="text-1246">
            <a:extLst xmlns:a="http://schemas.openxmlformats.org/drawingml/2006/main">
              <a:ext uri="{FF2B5EF4-FFF2-40B4-BE49-F238E27FC236}">
                <a16:creationId xmlns:a16="http://schemas.microsoft.com/office/drawing/2014/main" id="{9B4FDBF0-BD58-4515-AE11-9B551BB9C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PIRLS 2026 的 constructed-response 項目規劃由各國人工評分。</a:t>
            </a:r>
          </a:p>
        </p:txBody>
      </p:sp>
      <p:sp>
        <p:nvSpPr>
          <p:cNvPr id="10" name="shape-1247">
            <a:extLst xmlns:a="http://schemas.openxmlformats.org/drawingml/2006/main">
              <a:ext uri="{FF2B5EF4-FFF2-40B4-BE49-F238E27FC236}">
                <a16:creationId xmlns:a16="http://schemas.microsoft.com/office/drawing/2014/main" id="{11EE9FBC-DADE-4A73-881F-9DD62A552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1" name="text-1248">
            <a:extLst xmlns:a="http://schemas.openxmlformats.org/drawingml/2006/main">
              <a:ext uri="{FF2B5EF4-FFF2-40B4-BE49-F238E27FC236}">
                <a16:creationId xmlns:a16="http://schemas.microsoft.com/office/drawing/2014/main" id="{E58C1F5F-3811-45DA-8C35-59938C9D5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CD2C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AI</a:t>
            </a:r>
          </a:p>
        </p:txBody>
      </p:sp>
      <p:sp>
        <p:nvSpPr>
          <p:cNvPr id="12" name="text-1249">
            <a:extLst xmlns:a="http://schemas.openxmlformats.org/drawingml/2006/main">
              <a:ext uri="{FF2B5EF4-FFF2-40B4-BE49-F238E27FC236}">
                <a16:creationId xmlns:a16="http://schemas.microsoft.com/office/drawing/2014/main" id="{FC99C249-E050-4E5D-B27F-E91A1789A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AI 平行研究</a:t>
            </a:r>
          </a:p>
        </p:txBody>
      </p:sp>
      <p:sp>
        <p:nvSpPr>
          <p:cNvPr id="13" name="text-1250">
            <a:extLst xmlns:a="http://schemas.openxmlformats.org/drawingml/2006/main">
              <a:ext uri="{FF2B5EF4-FFF2-40B4-BE49-F238E27FC236}">
                <a16:creationId xmlns:a16="http://schemas.microsoft.com/office/drawing/2014/main" id="{929EADDF-BE43-4F5D-8112-68C209A6A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其中 40% 題目規劃同步以 LLM／NLP 方法進行平行評分研究。</a:t>
            </a:r>
          </a:p>
        </p:txBody>
      </p:sp>
      <p:sp>
        <p:nvSpPr>
          <p:cNvPr id="14" name="shape-1251">
            <a:extLst xmlns:a="http://schemas.openxmlformats.org/drawingml/2006/main">
              <a:ext uri="{FF2B5EF4-FFF2-40B4-BE49-F238E27FC236}">
                <a16:creationId xmlns:a16="http://schemas.microsoft.com/office/drawing/2014/main" id="{B0340072-0318-460F-9D1E-151C04A7A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5" name="text-1252">
            <a:extLst xmlns:a="http://schemas.openxmlformats.org/drawingml/2006/main">
              <a:ext uri="{FF2B5EF4-FFF2-40B4-BE49-F238E27FC236}">
                <a16:creationId xmlns:a16="http://schemas.microsoft.com/office/drawing/2014/main" id="{EA669A56-9CD5-494B-BFDC-BC2DC8F3B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806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Q</a:t>
            </a:r>
          </a:p>
        </p:txBody>
      </p:sp>
      <p:sp>
        <p:nvSpPr>
          <p:cNvPr id="16" name="text-1253">
            <a:extLst xmlns:a="http://schemas.openxmlformats.org/drawingml/2006/main">
              <a:ext uri="{FF2B5EF4-FFF2-40B4-BE49-F238E27FC236}">
                <a16:creationId xmlns:a16="http://schemas.microsoft.com/office/drawing/2014/main" id="{FA4DA890-E452-440D-92A0-4046BB243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不是只看準確率</a:t>
            </a:r>
          </a:p>
        </p:txBody>
      </p:sp>
      <p:sp>
        <p:nvSpPr>
          <p:cNvPr id="17" name="text-1254">
            <a:extLst xmlns:a="http://schemas.openxmlformats.org/drawingml/2006/main">
              <a:ext uri="{FF2B5EF4-FFF2-40B4-BE49-F238E27FC236}">
                <a16:creationId xmlns:a16="http://schemas.microsoft.com/office/drawing/2014/main" id="{D2B93EAF-D6BA-4622-B679-38D63A778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還要關注資料隱私、安全、跨國與跨語言一致性。</a:t>
            </a:r>
          </a:p>
        </p:txBody>
      </p:sp>
      <p:sp>
        <p:nvSpPr>
          <p:cNvPr id="18" name="shape-1255">
            <a:extLst xmlns:a="http://schemas.openxmlformats.org/drawingml/2006/main">
              <a:ext uri="{FF2B5EF4-FFF2-40B4-BE49-F238E27FC236}">
                <a16:creationId xmlns:a16="http://schemas.microsoft.com/office/drawing/2014/main" id="{38E1E77E-9ECE-4579-BD59-599391636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9" name="text-1256">
            <a:extLst xmlns:a="http://schemas.openxmlformats.org/drawingml/2006/main">
              <a:ext uri="{FF2B5EF4-FFF2-40B4-BE49-F238E27FC236}">
                <a16:creationId xmlns:a16="http://schemas.microsoft.com/office/drawing/2014/main" id="{2D6BBC49-7A20-4C53-A190-9F7F55B24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A78BF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I</a:t>
            </a:r>
          </a:p>
        </p:txBody>
      </p:sp>
      <p:sp>
        <p:nvSpPr>
          <p:cNvPr id="20" name="text-1257">
            <a:extLst xmlns:a="http://schemas.openxmlformats.org/drawingml/2006/main">
              <a:ext uri="{FF2B5EF4-FFF2-40B4-BE49-F238E27FC236}">
                <a16:creationId xmlns:a16="http://schemas.microsoft.com/office/drawing/2014/main" id="{09D1121A-3C5E-4968-8071-00449D212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逐題評估</a:t>
            </a:r>
          </a:p>
        </p:txBody>
      </p:sp>
      <p:sp>
        <p:nvSpPr>
          <p:cNvPr id="21" name="text-1258">
            <a:extLst xmlns:a="http://schemas.openxmlformats.org/drawingml/2006/main">
              <a:ext uri="{FF2B5EF4-FFF2-40B4-BE49-F238E27FC236}">
                <a16:creationId xmlns:a16="http://schemas.microsoft.com/office/drawing/2014/main" id="{E0E5F31D-9FC0-4FF0-BBB8-5823F8873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自動評分效果會依題目、語言與回答型態而變，需逐題驗證。</a:t>
            </a:r>
          </a:p>
        </p:txBody>
      </p:sp>
      <p:sp>
        <p:nvSpPr>
          <p:cNvPr id="22" name="text-1455">
            <a:extLst xmlns:a="http://schemas.openxmlformats.org/drawingml/2006/main">
              <a:ext uri="{FF2B5EF4-FFF2-40B4-BE49-F238E27FC236}">
                <a16:creationId xmlns:a16="http://schemas.microsoft.com/office/drawing/2014/main" id="{B1A81F0C-D719-4813-B3E5-93BA37C2E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7fa7932818534b92"/>
              </a:rPr>
              <a:t>Antigravity ↗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a635f91d98884933"/>
              </a:rPr>
              <a:t>Codex ↗</a:t>
            </a:r>
          </a:p>
        </p:txBody>
      </p:sp>
      <p:sp>
        <p:nvSpPr>
          <p:cNvPr id="23" name="shape-1528">
            <a:extLst xmlns:a="http://schemas.openxmlformats.org/drawingml/2006/main">
              <a:ext uri="{FF2B5EF4-FFF2-40B4-BE49-F238E27FC236}">
                <a16:creationId xmlns:a16="http://schemas.microsoft.com/office/drawing/2014/main" id="{2A5EC1C6-1DAE-4826-91FD-4357D6849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5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27b83edcbd64b8e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5" name="text-1529">
            <a:extLst xmlns:a="http://schemas.openxmlformats.org/drawingml/2006/main">
              <a:ext uri="{FF2B5EF4-FFF2-40B4-BE49-F238E27FC236}">
                <a16:creationId xmlns:a16="http://schemas.microsoft.com/office/drawing/2014/main" id="{96B140FF-1C6A-4F32-B988-ECC69A056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  <p:pic>
        <p:nvPicPr>
          <p:cNvPr id="5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a6e9da2866247a6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7" name="text-1530">
            <a:extLst xmlns:a="http://schemas.openxmlformats.org/drawingml/2006/main">
              <a:ext uri="{FF2B5EF4-FFF2-40B4-BE49-F238E27FC236}">
                <a16:creationId xmlns:a16="http://schemas.microsoft.com/office/drawing/2014/main" id="{2E8017C8-DE6B-41A1-8186-D9A226170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</p:spTree>
    <p:extLst>
      <p:ext uri="{BB962C8B-B14F-4D97-AF65-F5344CB8AC3E}">
        <p14:creationId xmlns:p14="http://schemas.microsoft.com/office/powerpoint/2010/main" val="829317621"/>
      </p:ext>
    </p:extLst>
  </p:cSld>
</p:sld>
</file>

<file path=ppt/slides/slide37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text-1259">
            <a:extLst xmlns:a="http://schemas.openxmlformats.org/drawingml/2006/main">
              <a:ext uri="{FF2B5EF4-FFF2-40B4-BE49-F238E27FC236}">
                <a16:creationId xmlns:a16="http://schemas.microsoft.com/office/drawing/2014/main" id="{5424ED8B-DCB5-4391-923E-E2C759309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DATA &amp; CODING QUALITY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42FDBEC7-0083-4C27-8C68-391FAA3C5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報告前的四項品質檢核</a:t>
            </a:r>
          </a:p>
        </p:txBody>
      </p:sp>
      <p:cxnSp>
        <p:nvCxnSpPr>
          <p:cNvPr id="38" name="shape-1260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261">
            <a:extLst xmlns:a="http://schemas.openxmlformats.org/drawingml/2006/main">
              <a:ext uri="{FF2B5EF4-FFF2-40B4-BE49-F238E27FC236}">
                <a16:creationId xmlns:a16="http://schemas.microsoft.com/office/drawing/2014/main" id="{F861EDA4-BE90-452A-AAE5-0B4E0697D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0FD91F5F-4371-42C2-BBF7-869BEC83A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37</a:t>
            </a:r>
          </a:p>
        </p:txBody>
      </p:sp>
      <p:sp>
        <p:nvSpPr>
          <p:cNvPr id="6" name="shape-1262">
            <a:extLst xmlns:a="http://schemas.openxmlformats.org/drawingml/2006/main">
              <a:ext uri="{FF2B5EF4-FFF2-40B4-BE49-F238E27FC236}">
                <a16:creationId xmlns:a16="http://schemas.microsoft.com/office/drawing/2014/main" id="{6AFB068E-FD23-4D6E-BC6F-9FC3209A8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7" name="text-1263">
            <a:extLst xmlns:a="http://schemas.openxmlformats.org/drawingml/2006/main">
              <a:ext uri="{FF2B5EF4-FFF2-40B4-BE49-F238E27FC236}">
                <a16:creationId xmlns:a16="http://schemas.microsoft.com/office/drawing/2014/main" id="{5C0A54DB-1E82-4D2A-B743-ACE8FE824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8" name="text-1264">
            <a:extLst xmlns:a="http://schemas.openxmlformats.org/drawingml/2006/main">
              <a:ext uri="{FF2B5EF4-FFF2-40B4-BE49-F238E27FC236}">
                <a16:creationId xmlns:a16="http://schemas.microsoft.com/office/drawing/2014/main" id="{7438CB15-4FBB-4E2E-B48F-9310400A2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資料完整性</a:t>
            </a:r>
          </a:p>
        </p:txBody>
      </p:sp>
      <p:sp>
        <p:nvSpPr>
          <p:cNvPr id="9" name="text-1265">
            <a:extLst xmlns:a="http://schemas.openxmlformats.org/drawingml/2006/main">
              <a:ext uri="{FF2B5EF4-FFF2-40B4-BE49-F238E27FC236}">
                <a16:creationId xmlns:a16="http://schemas.microsoft.com/office/drawing/2014/main" id="{B2690CDE-C59C-4AC7-9CE7-AC05F01F5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列出缺漏、重複、非法選項與無法解析的文字，不要自動補答案。</a:t>
            </a:r>
          </a:p>
        </p:txBody>
      </p:sp>
      <p:sp>
        <p:nvSpPr>
          <p:cNvPr id="10" name="shape-1266">
            <a:extLst xmlns:a="http://schemas.openxmlformats.org/drawingml/2006/main">
              <a:ext uri="{FF2B5EF4-FFF2-40B4-BE49-F238E27FC236}">
                <a16:creationId xmlns:a16="http://schemas.microsoft.com/office/drawing/2014/main" id="{13DF78EB-94EF-45CF-9EB0-F9DCCEEB5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1" name="text-1267">
            <a:extLst xmlns:a="http://schemas.openxmlformats.org/drawingml/2006/main">
              <a:ext uri="{FF2B5EF4-FFF2-40B4-BE49-F238E27FC236}">
                <a16:creationId xmlns:a16="http://schemas.microsoft.com/office/drawing/2014/main" id="{4349B81F-3898-403F-B111-B3178D077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2" name="text-1268">
            <a:extLst xmlns:a="http://schemas.openxmlformats.org/drawingml/2006/main">
              <a:ext uri="{FF2B5EF4-FFF2-40B4-BE49-F238E27FC236}">
                <a16:creationId xmlns:a16="http://schemas.microsoft.com/office/drawing/2014/main" id="{9E830396-1C38-4BD0-B2BD-DA89AF07E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逐題可追查</a:t>
            </a:r>
          </a:p>
        </p:txBody>
      </p:sp>
      <p:sp>
        <p:nvSpPr>
          <p:cNvPr id="13" name="text-1269">
            <a:extLst xmlns:a="http://schemas.openxmlformats.org/drawingml/2006/main">
              <a:ext uri="{FF2B5EF4-FFF2-40B4-BE49-F238E27FC236}">
                <a16:creationId xmlns:a16="http://schemas.microsoft.com/office/drawing/2014/main" id="{E74BFEB9-F1C3-49FC-AC38-56AE68FF4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每個簡答編碼都保留 evidence excerpt 與 rationale。</a:t>
            </a:r>
          </a:p>
        </p:txBody>
      </p:sp>
      <p:sp>
        <p:nvSpPr>
          <p:cNvPr id="14" name="shape-1270">
            <a:extLst xmlns:a="http://schemas.openxmlformats.org/drawingml/2006/main">
              <a:ext uri="{FF2B5EF4-FFF2-40B4-BE49-F238E27FC236}">
                <a16:creationId xmlns:a16="http://schemas.microsoft.com/office/drawing/2014/main" id="{1EA577B0-A954-4702-93FC-FC457E798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5" name="text-1271">
            <a:extLst xmlns:a="http://schemas.openxmlformats.org/drawingml/2006/main">
              <a:ext uri="{FF2B5EF4-FFF2-40B4-BE49-F238E27FC236}">
                <a16:creationId xmlns:a16="http://schemas.microsoft.com/office/drawing/2014/main" id="{9DE13B47-3C15-4C9C-9A5D-80DA33F2F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-1272">
            <a:extLst xmlns:a="http://schemas.openxmlformats.org/drawingml/2006/main">
              <a:ext uri="{FF2B5EF4-FFF2-40B4-BE49-F238E27FC236}">
                <a16:creationId xmlns:a16="http://schemas.microsoft.com/office/drawing/2014/main" id="{14E4330C-F3BD-4974-A7BF-95A359D50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一致性</a:t>
            </a:r>
          </a:p>
        </p:txBody>
      </p:sp>
      <p:sp>
        <p:nvSpPr>
          <p:cNvPr id="17" name="text-1273">
            <a:extLst xmlns:a="http://schemas.openxmlformats.org/drawingml/2006/main">
              <a:ext uri="{FF2B5EF4-FFF2-40B4-BE49-F238E27FC236}">
                <a16:creationId xmlns:a16="http://schemas.microsoft.com/office/drawing/2014/main" id="{099F5A72-51E7-486F-967D-BF8373E47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比較 AI 與人工代碼，集中檢視不一致、低信心與邊界案例。</a:t>
            </a:r>
          </a:p>
        </p:txBody>
      </p:sp>
      <p:sp>
        <p:nvSpPr>
          <p:cNvPr id="18" name="shape-1274">
            <a:extLst xmlns:a="http://schemas.openxmlformats.org/drawingml/2006/main">
              <a:ext uri="{FF2B5EF4-FFF2-40B4-BE49-F238E27FC236}">
                <a16:creationId xmlns:a16="http://schemas.microsoft.com/office/drawing/2014/main" id="{C0269686-FEC9-4BD7-8B84-E3C76438A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9" name="text-1275">
            <a:extLst xmlns:a="http://schemas.openxmlformats.org/drawingml/2006/main">
              <a:ext uri="{FF2B5EF4-FFF2-40B4-BE49-F238E27FC236}">
                <a16:creationId xmlns:a16="http://schemas.microsoft.com/office/drawing/2014/main" id="{55CC5449-0B9F-4078-8026-BFCE2FCA0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20" name="text-1276">
            <a:extLst xmlns:a="http://schemas.openxmlformats.org/drawingml/2006/main">
              <a:ext uri="{FF2B5EF4-FFF2-40B4-BE49-F238E27FC236}">
                <a16:creationId xmlns:a16="http://schemas.microsoft.com/office/drawing/2014/main" id="{E3BBD414-089B-452D-877A-B5BB47013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報告邊界</a:t>
            </a:r>
          </a:p>
        </p:txBody>
      </p:sp>
      <p:sp>
        <p:nvSpPr>
          <p:cNvPr id="21" name="text-1277">
            <a:extLst xmlns:a="http://schemas.openxmlformats.org/drawingml/2006/main">
              <a:ext uri="{FF2B5EF4-FFF2-40B4-BE49-F238E27FC236}">
                <a16:creationId xmlns:a16="http://schemas.microsoft.com/office/drawing/2014/main" id="{2260B182-BBE2-4A03-8561-C9DEF5560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以群體趨勢協助教學診斷，不用未驗證的 AI 分數做高風險個人決策。</a:t>
            </a:r>
          </a:p>
        </p:txBody>
      </p:sp>
      <p:sp>
        <p:nvSpPr>
          <p:cNvPr id="22" name="text-1278">
            <a:extLst xmlns:a="http://schemas.openxmlformats.org/drawingml/2006/main">
              <a:ext uri="{FF2B5EF4-FFF2-40B4-BE49-F238E27FC236}">
                <a16:creationId xmlns:a16="http://schemas.microsoft.com/office/drawing/2014/main" id="{7672AF46-91B4-4CAE-BBB3-E7899BF5B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953000"/>
            <a:ext cx="20955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✓ 資料完整</a:t>
            </a:r>
          </a:p>
        </p:txBody>
      </p:sp>
      <p:sp>
        <p:nvSpPr>
          <p:cNvPr id="23" name="text-1279">
            <a:extLst xmlns:a="http://schemas.openxmlformats.org/drawingml/2006/main">
              <a:ext uri="{FF2B5EF4-FFF2-40B4-BE49-F238E27FC236}">
                <a16:creationId xmlns:a16="http://schemas.microsoft.com/office/drawing/2014/main" id="{421E2AF3-3BD5-4046-90E9-3B6E61C39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4953000"/>
            <a:ext cx="20955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✓ 證據可追查</a:t>
            </a:r>
          </a:p>
        </p:txBody>
      </p:sp>
      <p:sp>
        <p:nvSpPr>
          <p:cNvPr id="24" name="text-1280">
            <a:extLst xmlns:a="http://schemas.openxmlformats.org/drawingml/2006/main">
              <a:ext uri="{FF2B5EF4-FFF2-40B4-BE49-F238E27FC236}">
                <a16:creationId xmlns:a16="http://schemas.microsoft.com/office/drawing/2014/main" id="{153D3C1C-403B-4420-BCC9-C77B69029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953000"/>
            <a:ext cx="20955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✓ AI／人一致性</a:t>
            </a:r>
          </a:p>
        </p:txBody>
      </p:sp>
      <p:sp>
        <p:nvSpPr>
          <p:cNvPr id="25" name="text-1281">
            <a:extLst xmlns:a="http://schemas.openxmlformats.org/drawingml/2006/main">
              <a:ext uri="{FF2B5EF4-FFF2-40B4-BE49-F238E27FC236}">
                <a16:creationId xmlns:a16="http://schemas.microsoft.com/office/drawing/2014/main" id="{4575B12E-F112-4190-817E-2FFB3BADD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4953000"/>
            <a:ext cx="20955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2A1B22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FF806D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F806D"/>
                </a:solidFill>
                <a:latin typeface="Noto Sans TC"/>
                <a:ea typeface="Noto Sans TC"/>
                <a:cs typeface="Noto Sans TC"/>
              </a:rPr>
              <a:t>✓ 報告有邊界</a:t>
            </a:r>
          </a:p>
        </p:txBody>
      </p:sp>
      <p:cxnSp>
        <p:nvCxnSpPr>
          <p:cNvPr id="61" name=""/>
          <p:cNvCxnSpPr>
            <a:stCxn xmlns:a="http://schemas.openxmlformats.org/drawingml/2006/main" id="22" idx="3"/>
            <a:endCxn xmlns:a="http://schemas.openxmlformats.org/drawingml/2006/main" id="23" idx="1"/>
          </p:cNvCxnSpPr>
          <p:nvPr/>
        </p:nvCxnSpPr>
        <p:spPr>
          <a:xfrm xmlns:a="http://schemas.openxmlformats.org/drawingml/2006/main">
            <a:off x="2895600" y="5229225"/>
            <a:ext cx="6286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5A7FF"/>
            </a:solidFill>
            <a:prstDash val="solid"/>
            <a:tailEnd type="arrow" w="sm" len="sm"/>
          </a:ln>
        </p:spPr>
      </p:cxnSp>
      <p:cxnSp>
        <p:nvCxnSpPr>
          <p:cNvPr id="62" name=""/>
          <p:cNvCxnSpPr>
            <a:stCxn xmlns:a="http://schemas.openxmlformats.org/drawingml/2006/main" id="23" idx="3"/>
            <a:endCxn xmlns:a="http://schemas.openxmlformats.org/drawingml/2006/main" id="24" idx="1"/>
          </p:cNvCxnSpPr>
          <p:nvPr/>
        </p:nvCxnSpPr>
        <p:spPr>
          <a:xfrm xmlns:a="http://schemas.openxmlformats.org/drawingml/2006/main">
            <a:off x="5619750" y="5229225"/>
            <a:ext cx="6286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5A7FF"/>
            </a:solidFill>
            <a:prstDash val="solid"/>
            <a:tailEnd type="arrow" w="sm" len="sm"/>
          </a:ln>
        </p:spPr>
      </p:cxnSp>
      <p:cxnSp>
        <p:nvCxnSpPr>
          <p:cNvPr id="63" name=""/>
          <p:cNvCxnSpPr>
            <a:stCxn xmlns:a="http://schemas.openxmlformats.org/drawingml/2006/main" id="24" idx="3"/>
            <a:endCxn xmlns:a="http://schemas.openxmlformats.org/drawingml/2006/main" id="25" idx="1"/>
          </p:cNvCxnSpPr>
          <p:nvPr/>
        </p:nvCxnSpPr>
        <p:spPr>
          <a:xfrm xmlns:a="http://schemas.openxmlformats.org/drawingml/2006/main">
            <a:off x="8343900" y="5229225"/>
            <a:ext cx="6286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FF806D"/>
            </a:solidFill>
            <a:prstDash val="solid"/>
            <a:tailEnd type="arrow" w="sm" len="sm"/>
          </a:ln>
        </p:spPr>
      </p:cxnSp>
      <p:sp>
        <p:nvSpPr>
          <p:cNvPr id="29" name="text-1282">
            <a:extLst xmlns:a="http://schemas.openxmlformats.org/drawingml/2006/main">
              <a:ext uri="{FF2B5EF4-FFF2-40B4-BE49-F238E27FC236}">
                <a16:creationId xmlns:a16="http://schemas.microsoft.com/office/drawing/2014/main" id="{265CE1CF-DD9A-4459-9D56-9C6F2A1D9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5657850"/>
            <a:ext cx="6400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四道閘門都通過，才進入研究報告；否則標示未確認</a:t>
            </a:r>
          </a:p>
        </p:txBody>
      </p:sp>
      <p:sp>
        <p:nvSpPr>
          <p:cNvPr id="30" name="text-1456">
            <a:extLst xmlns:a="http://schemas.openxmlformats.org/drawingml/2006/main">
              <a:ext uri="{FF2B5EF4-FFF2-40B4-BE49-F238E27FC236}">
                <a16:creationId xmlns:a16="http://schemas.microsoft.com/office/drawing/2014/main" id="{C371F98D-DF49-4116-84DD-BAE9B3A73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85b3d3df184f4dda"/>
              </a:rPr>
              <a:t>Antigravity ↗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d4ccdafe2cdd4011"/>
              </a:rPr>
              <a:t>Codex ↗</a:t>
            </a:r>
          </a:p>
        </p:txBody>
      </p:sp>
      <p:sp>
        <p:nvSpPr>
          <p:cNvPr id="31" name="shape-1531">
            <a:extLst xmlns:a="http://schemas.openxmlformats.org/drawingml/2006/main">
              <a:ext uri="{FF2B5EF4-FFF2-40B4-BE49-F238E27FC236}">
                <a16:creationId xmlns:a16="http://schemas.microsoft.com/office/drawing/2014/main" id="{8EF86E45-E345-408E-9427-9EB997E4C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6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b6e197aebb54032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33" name="text-1532">
            <a:extLst xmlns:a="http://schemas.openxmlformats.org/drawingml/2006/main">
              <a:ext uri="{FF2B5EF4-FFF2-40B4-BE49-F238E27FC236}">
                <a16:creationId xmlns:a16="http://schemas.microsoft.com/office/drawing/2014/main" id="{2E29344C-C59B-48BE-AA65-8A78E1681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  <p:pic>
        <p:nvPicPr>
          <p:cNvPr id="6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9034998b3d54438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35" name="text-1533">
            <a:extLst xmlns:a="http://schemas.openxmlformats.org/drawingml/2006/main">
              <a:ext uri="{FF2B5EF4-FFF2-40B4-BE49-F238E27FC236}">
                <a16:creationId xmlns:a16="http://schemas.microsoft.com/office/drawing/2014/main" id="{740F5FAF-E559-4784-8E39-FC81415FD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</p:spTree>
    <p:extLst>
      <p:ext uri="{BB962C8B-B14F-4D97-AF65-F5344CB8AC3E}">
        <p14:creationId xmlns:p14="http://schemas.microsoft.com/office/powerpoint/2010/main" val="1863294270"/>
      </p:ext>
    </p:extLst>
  </p:cSld>
</p:sld>
</file>

<file path=ppt/slides/slide38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text-1283">
            <a:extLst xmlns:a="http://schemas.openxmlformats.org/drawingml/2006/main">
              <a:ext uri="{FF2B5EF4-FFF2-40B4-BE49-F238E27FC236}">
                <a16:creationId xmlns:a16="http://schemas.microsoft.com/office/drawing/2014/main" id="{19F3ABB4-34A4-4E55-B17D-4D83855EB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HANDS-ON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2CC428DE-6F8A-48C7-86E7-DFC2B89E9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實作 D｜PIRLS 風格合成資料分析</a:t>
            </a:r>
          </a:p>
        </p:txBody>
      </p:sp>
      <p:cxnSp>
        <p:nvCxnSpPr>
          <p:cNvPr id="27" name="shape-1284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285">
            <a:extLst xmlns:a="http://schemas.openxmlformats.org/drawingml/2006/main">
              <a:ext uri="{FF2B5EF4-FFF2-40B4-BE49-F238E27FC236}">
                <a16:creationId xmlns:a16="http://schemas.microsoft.com/office/drawing/2014/main" id="{2E783B36-BCAD-4CF8-A6B6-E928D37D4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CBFCBAB7-F025-4F2C-8773-B06BA741C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38</a:t>
            </a:r>
          </a:p>
        </p:txBody>
      </p:sp>
      <p:sp>
        <p:nvSpPr>
          <p:cNvPr id="6" name="text-1286">
            <a:extLst xmlns:a="http://schemas.openxmlformats.org/drawingml/2006/main">
              <a:ext uri="{FF2B5EF4-FFF2-40B4-BE49-F238E27FC236}">
                <a16:creationId xmlns:a16="http://schemas.microsoft.com/office/drawing/2014/main" id="{2F9C3113-9018-4973-ADCD-C03BF6349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09750"/>
            <a:ext cx="2000250" cy="20002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20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分鐘</a:t>
            </a:r>
          </a:p>
        </p:txBody>
      </p:sp>
      <p:sp>
        <p:nvSpPr>
          <p:cNvPr id="7" name="text-1287">
            <a:extLst xmlns:a="http://schemas.openxmlformats.org/drawingml/2006/main">
              <a:ext uri="{FF2B5EF4-FFF2-40B4-BE49-F238E27FC236}">
                <a16:creationId xmlns:a16="http://schemas.microsoft.com/office/drawing/2014/main" id="{B3A39714-8509-4F7B-B3A5-014E671BB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1733550"/>
            <a:ext cx="3143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操作步驟</a:t>
            </a:r>
          </a:p>
        </p:txBody>
      </p:sp>
      <p:sp>
        <p:nvSpPr>
          <p:cNvPr id="8" name="text-1288">
            <a:extLst xmlns:a="http://schemas.openxmlformats.org/drawingml/2006/main">
              <a:ext uri="{FF2B5EF4-FFF2-40B4-BE49-F238E27FC236}">
                <a16:creationId xmlns:a16="http://schemas.microsoft.com/office/drawing/2014/main" id="{12ED53A3-DFBB-4A76-B272-CEB156FDF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24003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1289">
            <a:extLst xmlns:a="http://schemas.openxmlformats.org/drawingml/2006/main">
              <a:ext uri="{FF2B5EF4-FFF2-40B4-BE49-F238E27FC236}">
                <a16:creationId xmlns:a16="http://schemas.microsoft.com/office/drawing/2014/main" id="{3A73328C-46A3-497A-A853-21876CB1E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24003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載入 CSV、答案鍵與簡答題編碼規準</a:t>
            </a:r>
          </a:p>
        </p:txBody>
      </p:sp>
      <p:sp>
        <p:nvSpPr>
          <p:cNvPr id="10" name="text-1290">
            <a:extLst xmlns:a="http://schemas.openxmlformats.org/drawingml/2006/main">
              <a:ext uri="{FF2B5EF4-FFF2-40B4-BE49-F238E27FC236}">
                <a16:creationId xmlns:a16="http://schemas.microsoft.com/office/drawing/2014/main" id="{0BD36D37-BCD7-48E1-9934-6ECAF85C1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1051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1" name="text-1291">
            <a:extLst xmlns:a="http://schemas.openxmlformats.org/drawingml/2006/main">
              <a:ext uri="{FF2B5EF4-FFF2-40B4-BE49-F238E27FC236}">
                <a16:creationId xmlns:a16="http://schemas.microsoft.com/office/drawing/2014/main" id="{B97365F9-D417-4649-A4AE-5CD1F2A3A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1051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先做缺漏與非法值檢查</a:t>
            </a:r>
          </a:p>
        </p:txBody>
      </p:sp>
      <p:sp>
        <p:nvSpPr>
          <p:cNvPr id="12" name="text-1292">
            <a:extLst xmlns:a="http://schemas.openxmlformats.org/drawingml/2006/main">
              <a:ext uri="{FF2B5EF4-FFF2-40B4-BE49-F238E27FC236}">
                <a16:creationId xmlns:a16="http://schemas.microsoft.com/office/drawing/2014/main" id="{C2BF72AE-FB69-454B-A7B0-7E9C6E7A8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8100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13" name="text-1293">
            <a:extLst xmlns:a="http://schemas.openxmlformats.org/drawingml/2006/main">
              <a:ext uri="{FF2B5EF4-FFF2-40B4-BE49-F238E27FC236}">
                <a16:creationId xmlns:a16="http://schemas.microsoft.com/office/drawing/2014/main" id="{136A6E8D-DEEF-4D4F-B18F-267F29B84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8100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計算選擇題答對率與選項分布</a:t>
            </a:r>
          </a:p>
        </p:txBody>
      </p:sp>
      <p:sp>
        <p:nvSpPr>
          <p:cNvPr id="14" name="text-1294">
            <a:extLst xmlns:a="http://schemas.openxmlformats.org/drawingml/2006/main">
              <a:ext uri="{FF2B5EF4-FFF2-40B4-BE49-F238E27FC236}">
                <a16:creationId xmlns:a16="http://schemas.microsoft.com/office/drawing/2014/main" id="{796D75FB-8033-4559-A0A2-4C79C1B51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45148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15" name="text-1295">
            <a:extLst xmlns:a="http://schemas.openxmlformats.org/drawingml/2006/main">
              <a:ext uri="{FF2B5EF4-FFF2-40B4-BE49-F238E27FC236}">
                <a16:creationId xmlns:a16="http://schemas.microsoft.com/office/drawing/2014/main" id="{EC7D38AB-E0F1-477C-B4C1-BB62A71D8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45148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讓 AI 初編簡答並與講師參考編碼比較</a:t>
            </a:r>
          </a:p>
        </p:txBody>
      </p:sp>
      <p:sp>
        <p:nvSpPr>
          <p:cNvPr id="16" name="shape-1296">
            <a:extLst xmlns:a="http://schemas.openxmlformats.org/drawingml/2006/main">
              <a:ext uri="{FF2B5EF4-FFF2-40B4-BE49-F238E27FC236}">
                <a16:creationId xmlns:a16="http://schemas.microsoft.com/office/drawing/2014/main" id="{584C384A-0C53-4219-A3C6-D46B254E1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790700"/>
            <a:ext cx="2362200" cy="390525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7" name="text-1297">
            <a:extLst xmlns:a="http://schemas.openxmlformats.org/drawingml/2006/main">
              <a:ext uri="{FF2B5EF4-FFF2-40B4-BE49-F238E27FC236}">
                <a16:creationId xmlns:a16="http://schemas.microsoft.com/office/drawing/2014/main" id="{37F20302-39F4-47F8-8EE8-4789114F1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057400"/>
            <a:ext cx="18669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FF806D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FF806D"/>
                </a:solidFill>
                <a:latin typeface="Noto Sans TC"/>
                <a:ea typeface="Noto Sans TC"/>
                <a:cs typeface="Noto Sans TC"/>
              </a:rPr>
              <a:t>完成條件</a:t>
            </a:r>
          </a:p>
        </p:txBody>
      </p:sp>
      <p:sp>
        <p:nvSpPr>
          <p:cNvPr id="18" name="text-1298">
            <a:extLst xmlns:a="http://schemas.openxmlformats.org/drawingml/2006/main">
              <a:ext uri="{FF2B5EF4-FFF2-40B4-BE49-F238E27FC236}">
                <a16:creationId xmlns:a16="http://schemas.microsoft.com/office/drawing/2014/main" id="{6714318A-84D2-4454-B7AD-3BF7FD23A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705100"/>
            <a:ext cx="186690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✓ 不含真實個資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✓ 選擇題與簡答題分流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✓ 列出所有不一致案例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✓ 報告標示限制與未確認</a:t>
            </a:r>
          </a:p>
        </p:txBody>
      </p:sp>
      <p:sp>
        <p:nvSpPr>
          <p:cNvPr id="19" name="text-1457">
            <a:extLst xmlns:a="http://schemas.openxmlformats.org/drawingml/2006/main">
              <a:ext uri="{FF2B5EF4-FFF2-40B4-BE49-F238E27FC236}">
                <a16:creationId xmlns:a16="http://schemas.microsoft.com/office/drawing/2014/main" id="{6869D803-EC93-45E0-8012-46746FCBB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bf0e671e1cff47b9"/>
              </a:rPr>
              <a:t>Antigravity ↗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686b80ca13e344e8"/>
              </a:rPr>
              <a:t>Codex ↗</a:t>
            </a:r>
          </a:p>
        </p:txBody>
      </p:sp>
      <p:sp>
        <p:nvSpPr>
          <p:cNvPr id="20" name="shape-1534">
            <a:extLst xmlns:a="http://schemas.openxmlformats.org/drawingml/2006/main">
              <a:ext uri="{FF2B5EF4-FFF2-40B4-BE49-F238E27FC236}">
                <a16:creationId xmlns:a16="http://schemas.microsoft.com/office/drawing/2014/main" id="{065B55DF-EAEE-4FF5-B4D1-A5B8892A4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4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0fe60eb971648a6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2" name="text-1535">
            <a:extLst xmlns:a="http://schemas.openxmlformats.org/drawingml/2006/main">
              <a:ext uri="{FF2B5EF4-FFF2-40B4-BE49-F238E27FC236}">
                <a16:creationId xmlns:a16="http://schemas.microsoft.com/office/drawing/2014/main" id="{7A0C5A6E-8A65-4497-BE21-694570625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  <p:pic>
        <p:nvPicPr>
          <p:cNvPr id="4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754cab251c94a99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4" name="text-1536">
            <a:extLst xmlns:a="http://schemas.openxmlformats.org/drawingml/2006/main">
              <a:ext uri="{FF2B5EF4-FFF2-40B4-BE49-F238E27FC236}">
                <a16:creationId xmlns:a16="http://schemas.microsoft.com/office/drawing/2014/main" id="{82F9D3CD-741E-43B4-A65C-BC508EA38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</p:spTree>
    <p:extLst>
      <p:ext uri="{BB962C8B-B14F-4D97-AF65-F5344CB8AC3E}">
        <p14:creationId xmlns:p14="http://schemas.microsoft.com/office/powerpoint/2010/main" val="938246610"/>
      </p:ext>
    </p:extLst>
  </p:cSld>
</p:sld>
</file>

<file path=ppt/slides/slide39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text-1299">
            <a:extLst xmlns:a="http://schemas.openxmlformats.org/drawingml/2006/main">
              <a:ext uri="{FF2B5EF4-FFF2-40B4-BE49-F238E27FC236}">
                <a16:creationId xmlns:a16="http://schemas.microsoft.com/office/drawing/2014/main" id="{B19C1342-8AF4-4A36-B368-3761FE8ED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ADVANCED USE CASES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6E400F9B-FD66-4C9D-8C39-183CE8095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大學教學的 Agent Skills 應用地圖</a:t>
            </a:r>
          </a:p>
        </p:txBody>
      </p:sp>
      <p:cxnSp>
        <p:nvCxnSpPr>
          <p:cNvPr id="38" name="shape-1300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301">
            <a:extLst xmlns:a="http://schemas.openxmlformats.org/drawingml/2006/main">
              <a:ext uri="{FF2B5EF4-FFF2-40B4-BE49-F238E27FC236}">
                <a16:creationId xmlns:a16="http://schemas.microsoft.com/office/drawing/2014/main" id="{DCB847ED-27A3-4AD8-93EB-15BCD318C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1ACF5DCC-968D-49D5-8812-2FE84F31D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39</a:t>
            </a:r>
          </a:p>
        </p:txBody>
      </p:sp>
      <p:sp>
        <p:nvSpPr>
          <p:cNvPr id="6" name="shape-1302">
            <a:extLst xmlns:a="http://schemas.openxmlformats.org/drawingml/2006/main">
              <a:ext uri="{FF2B5EF4-FFF2-40B4-BE49-F238E27FC236}">
                <a16:creationId xmlns:a16="http://schemas.microsoft.com/office/drawing/2014/main" id="{AD01A26A-AB5A-4F63-9A3A-06342932B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1685925" cy="4305300"/>
          </a:xfrm>
          <a:prstGeom xmlns:a="http://schemas.openxmlformats.org/drawingml/2006/main" prst="roundRect">
            <a:avLst>
              <a:gd name="adj" fmla="val 904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7" name="text-1303">
            <a:extLst xmlns:a="http://schemas.openxmlformats.org/drawingml/2006/main">
              <a:ext uri="{FF2B5EF4-FFF2-40B4-BE49-F238E27FC236}">
                <a16:creationId xmlns:a16="http://schemas.microsoft.com/office/drawing/2014/main" id="{08BD1556-4FA4-4EBE-AE6F-5DFA914F3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8" name="text-1304">
            <a:extLst xmlns:a="http://schemas.openxmlformats.org/drawingml/2006/main">
              <a:ext uri="{FF2B5EF4-FFF2-40B4-BE49-F238E27FC236}">
                <a16:creationId xmlns:a16="http://schemas.microsoft.com/office/drawing/2014/main" id="{178CC501-28FA-451E-850B-3700DEB8F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1266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課程設計</a:t>
            </a:r>
          </a:p>
        </p:txBody>
      </p:sp>
      <p:sp>
        <p:nvSpPr>
          <p:cNvPr id="9" name="text-1305">
            <a:extLst xmlns:a="http://schemas.openxmlformats.org/drawingml/2006/main">
              <a:ext uri="{FF2B5EF4-FFF2-40B4-BE49-F238E27FC236}">
                <a16:creationId xmlns:a16="http://schemas.microsoft.com/office/drawing/2014/main" id="{C9FC85F5-ABFA-4ACB-8752-F6E0A8DE8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1266825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課綱一致性、學習目標與評量對齊、週次負荷檢核。</a:t>
            </a:r>
          </a:p>
        </p:txBody>
      </p:sp>
      <p:sp>
        <p:nvSpPr>
          <p:cNvPr id="10" name="shape-1306">
            <a:extLst xmlns:a="http://schemas.openxmlformats.org/drawingml/2006/main">
              <a:ext uri="{FF2B5EF4-FFF2-40B4-BE49-F238E27FC236}">
                <a16:creationId xmlns:a16="http://schemas.microsoft.com/office/drawing/2014/main" id="{5736663F-3C08-40FD-B512-C9CCBDC5E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1676400"/>
            <a:ext cx="1685925" cy="4305300"/>
          </a:xfrm>
          <a:prstGeom xmlns:a="http://schemas.openxmlformats.org/drawingml/2006/main" prst="roundRect">
            <a:avLst>
              <a:gd name="adj" fmla="val 904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1" name="text-1307">
            <a:extLst xmlns:a="http://schemas.openxmlformats.org/drawingml/2006/main">
              <a:ext uri="{FF2B5EF4-FFF2-40B4-BE49-F238E27FC236}">
                <a16:creationId xmlns:a16="http://schemas.microsoft.com/office/drawing/2014/main" id="{7E2E42BC-D645-443B-87CD-DDFDA6648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2" name="text-1308">
            <a:extLst xmlns:a="http://schemas.openxmlformats.org/drawingml/2006/main">
              <a:ext uri="{FF2B5EF4-FFF2-40B4-BE49-F238E27FC236}">
                <a16:creationId xmlns:a16="http://schemas.microsoft.com/office/drawing/2014/main" id="{888254DB-EE0D-449D-8DC1-98BDFB1F4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2457450"/>
            <a:ext cx="1266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研究與閱讀</a:t>
            </a:r>
          </a:p>
        </p:txBody>
      </p:sp>
      <p:sp>
        <p:nvSpPr>
          <p:cNvPr id="13" name="text-1309">
            <a:extLst xmlns:a="http://schemas.openxmlformats.org/drawingml/2006/main">
              <a:ext uri="{FF2B5EF4-FFF2-40B4-BE49-F238E27FC236}">
                <a16:creationId xmlns:a16="http://schemas.microsoft.com/office/drawing/2014/main" id="{F66DD36B-700B-499A-8791-76EA7B5C2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3028950"/>
            <a:ext cx="1266825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文獻整理、觀點矩陣、研究限制與引用追查。</a:t>
            </a:r>
          </a:p>
        </p:txBody>
      </p:sp>
      <p:sp>
        <p:nvSpPr>
          <p:cNvPr id="14" name="shape-1310">
            <a:extLst xmlns:a="http://schemas.openxmlformats.org/drawingml/2006/main">
              <a:ext uri="{FF2B5EF4-FFF2-40B4-BE49-F238E27FC236}">
                <a16:creationId xmlns:a16="http://schemas.microsoft.com/office/drawing/2014/main" id="{DB7669AA-7AB5-4947-BCAC-DBCB9F76E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1676400"/>
            <a:ext cx="1685925" cy="4305300"/>
          </a:xfrm>
          <a:prstGeom xmlns:a="http://schemas.openxmlformats.org/drawingml/2006/main" prst="roundRect">
            <a:avLst>
              <a:gd name="adj" fmla="val 904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5" name="text-1311">
            <a:extLst xmlns:a="http://schemas.openxmlformats.org/drawingml/2006/main">
              <a:ext uri="{FF2B5EF4-FFF2-40B4-BE49-F238E27FC236}">
                <a16:creationId xmlns:a16="http://schemas.microsoft.com/office/drawing/2014/main" id="{1CCEB5A7-45FC-4F21-8073-371FDEB42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-1312">
            <a:extLst xmlns:a="http://schemas.openxmlformats.org/drawingml/2006/main">
              <a:ext uri="{FF2B5EF4-FFF2-40B4-BE49-F238E27FC236}">
                <a16:creationId xmlns:a16="http://schemas.microsoft.com/office/drawing/2014/main" id="{7DF2681C-9D71-4C63-B554-4E11608AC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457450"/>
            <a:ext cx="1266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教材製作</a:t>
            </a:r>
          </a:p>
        </p:txBody>
      </p:sp>
      <p:sp>
        <p:nvSpPr>
          <p:cNvPr id="17" name="text-1313">
            <a:extLst xmlns:a="http://schemas.openxmlformats.org/drawingml/2006/main">
              <a:ext uri="{FF2B5EF4-FFF2-40B4-BE49-F238E27FC236}">
                <a16:creationId xmlns:a16="http://schemas.microsoft.com/office/drawing/2014/main" id="{48EBF601-DC9B-4BCA-8227-EF3652562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028950"/>
            <a:ext cx="1266825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簡報、互動網站、圖表、字幕與多格式轉換。</a:t>
            </a:r>
          </a:p>
        </p:txBody>
      </p:sp>
      <p:sp>
        <p:nvSpPr>
          <p:cNvPr id="18" name="shape-1314">
            <a:extLst xmlns:a="http://schemas.openxmlformats.org/drawingml/2006/main">
              <a:ext uri="{FF2B5EF4-FFF2-40B4-BE49-F238E27FC236}">
                <a16:creationId xmlns:a16="http://schemas.microsoft.com/office/drawing/2014/main" id="{290E72EE-0567-421C-ACAF-44964F54B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1685925" cy="4305300"/>
          </a:xfrm>
          <a:prstGeom xmlns:a="http://schemas.openxmlformats.org/drawingml/2006/main" prst="roundRect">
            <a:avLst>
              <a:gd name="adj" fmla="val 904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9" name="text-1315">
            <a:extLst xmlns:a="http://schemas.openxmlformats.org/drawingml/2006/main">
              <a:ext uri="{FF2B5EF4-FFF2-40B4-BE49-F238E27FC236}">
                <a16:creationId xmlns:a16="http://schemas.microsoft.com/office/drawing/2014/main" id="{7FEA8DD1-EE5A-4279-A200-4523E4F83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20" name="text-1316">
            <a:extLst xmlns:a="http://schemas.openxmlformats.org/drawingml/2006/main">
              <a:ext uri="{FF2B5EF4-FFF2-40B4-BE49-F238E27FC236}">
                <a16:creationId xmlns:a16="http://schemas.microsoft.com/office/drawing/2014/main" id="{6090443B-1A40-47B9-A823-9AFE5CB6B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1266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學習支持</a:t>
            </a:r>
          </a:p>
        </p:txBody>
      </p:sp>
      <p:sp>
        <p:nvSpPr>
          <p:cNvPr id="21" name="text-1317">
            <a:extLst xmlns:a="http://schemas.openxmlformats.org/drawingml/2006/main">
              <a:ext uri="{FF2B5EF4-FFF2-40B4-BE49-F238E27FC236}">
                <a16:creationId xmlns:a16="http://schemas.microsoft.com/office/drawing/2014/main" id="{4F2481EB-39A1-40B0-88AB-90C6B15D5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1266825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形成性回饋、差異化支架、常見迷思與練習生成。</a:t>
            </a:r>
          </a:p>
        </p:txBody>
      </p:sp>
      <p:sp>
        <p:nvSpPr>
          <p:cNvPr id="22" name="shape-1318">
            <a:extLst xmlns:a="http://schemas.openxmlformats.org/drawingml/2006/main">
              <a:ext uri="{FF2B5EF4-FFF2-40B4-BE49-F238E27FC236}">
                <a16:creationId xmlns:a16="http://schemas.microsoft.com/office/drawing/2014/main" id="{54C0FCD9-E3A0-4CCB-B878-049B47879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676400"/>
            <a:ext cx="1685925" cy="4305300"/>
          </a:xfrm>
          <a:prstGeom xmlns:a="http://schemas.openxmlformats.org/drawingml/2006/main" prst="roundRect">
            <a:avLst>
              <a:gd name="adj" fmla="val 904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23" name="text-1319">
            <a:extLst xmlns:a="http://schemas.openxmlformats.org/drawingml/2006/main">
              <a:ext uri="{FF2B5EF4-FFF2-40B4-BE49-F238E27FC236}">
                <a16:creationId xmlns:a16="http://schemas.microsoft.com/office/drawing/2014/main" id="{C7856649-79F1-4E11-A992-78276AA67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05</a:t>
            </a:r>
          </a:p>
        </p:txBody>
      </p:sp>
      <p:sp>
        <p:nvSpPr>
          <p:cNvPr id="24" name="text-1320">
            <a:extLst xmlns:a="http://schemas.openxmlformats.org/drawingml/2006/main">
              <a:ext uri="{FF2B5EF4-FFF2-40B4-BE49-F238E27FC236}">
                <a16:creationId xmlns:a16="http://schemas.microsoft.com/office/drawing/2014/main" id="{88ADFFE2-DB7E-4B81-8623-D001AB9EC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457450"/>
            <a:ext cx="1266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品質保證</a:t>
            </a:r>
          </a:p>
        </p:txBody>
      </p:sp>
      <p:sp>
        <p:nvSpPr>
          <p:cNvPr id="25" name="text-1321">
            <a:extLst xmlns:a="http://schemas.openxmlformats.org/drawingml/2006/main">
              <a:ext uri="{FF2B5EF4-FFF2-40B4-BE49-F238E27FC236}">
                <a16:creationId xmlns:a16="http://schemas.microsoft.com/office/drawing/2014/main" id="{C1171F4A-DCEF-441A-AD4F-BA2BF85F7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028950"/>
            <a:ext cx="1266825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RWD、無障礙、連結、內容依據與版本檢查。</a:t>
            </a:r>
          </a:p>
        </p:txBody>
      </p:sp>
      <p:sp>
        <p:nvSpPr>
          <p:cNvPr id="26" name="shape-1322">
            <a:extLst xmlns:a="http://schemas.openxmlformats.org/drawingml/2006/main">
              <a:ext uri="{FF2B5EF4-FFF2-40B4-BE49-F238E27FC236}">
                <a16:creationId xmlns:a16="http://schemas.microsoft.com/office/drawing/2014/main" id="{1EB2D2F0-4156-458B-8562-B99E5ED99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1725" y="1676400"/>
            <a:ext cx="1685925" cy="4305300"/>
          </a:xfrm>
          <a:prstGeom xmlns:a="http://schemas.openxmlformats.org/drawingml/2006/main" prst="roundRect">
            <a:avLst>
              <a:gd name="adj" fmla="val 904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27" name="text-1323">
            <a:extLst xmlns:a="http://schemas.openxmlformats.org/drawingml/2006/main">
              <a:ext uri="{FF2B5EF4-FFF2-40B4-BE49-F238E27FC236}">
                <a16:creationId xmlns:a16="http://schemas.microsoft.com/office/drawing/2014/main" id="{82D06B6C-F4C7-451C-AB9E-32C306246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0127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06</a:t>
            </a:r>
          </a:p>
        </p:txBody>
      </p:sp>
      <p:sp>
        <p:nvSpPr>
          <p:cNvPr id="28" name="text-1324">
            <a:extLst xmlns:a="http://schemas.openxmlformats.org/drawingml/2006/main">
              <a:ext uri="{FF2B5EF4-FFF2-40B4-BE49-F238E27FC236}">
                <a16:creationId xmlns:a16="http://schemas.microsoft.com/office/drawing/2014/main" id="{1217FCC3-40E7-47F4-9DF3-8F7DA433C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01275" y="2457450"/>
            <a:ext cx="12668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部署交付</a:t>
            </a:r>
          </a:p>
        </p:txBody>
      </p:sp>
      <p:sp>
        <p:nvSpPr>
          <p:cNvPr id="29" name="text-1325">
            <a:extLst xmlns:a="http://schemas.openxmlformats.org/drawingml/2006/main">
              <a:ext uri="{FF2B5EF4-FFF2-40B4-BE49-F238E27FC236}">
                <a16:creationId xmlns:a16="http://schemas.microsoft.com/office/drawing/2014/main" id="{BED2BC9A-D843-4F86-88C2-5A124B395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01275" y="3028950"/>
            <a:ext cx="1266825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Sites、Pages、文件、測試證據與團隊交接。</a:t>
            </a:r>
          </a:p>
        </p:txBody>
      </p:sp>
      <p:sp>
        <p:nvSpPr>
          <p:cNvPr id="30" name="text-1458">
            <a:extLst xmlns:a="http://schemas.openxmlformats.org/drawingml/2006/main">
              <a:ext uri="{FF2B5EF4-FFF2-40B4-BE49-F238E27FC236}">
                <a16:creationId xmlns:a16="http://schemas.microsoft.com/office/drawing/2014/main" id="{B5806ADE-54D2-4301-BC76-3508BB895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f6b9f46cd53f4544"/>
              </a:rPr>
              <a:t>Antigravity ↗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5a022f1a0e4b4f73"/>
              </a:rPr>
              <a:t>Codex ↗</a:t>
            </a:r>
          </a:p>
        </p:txBody>
      </p:sp>
      <p:sp>
        <p:nvSpPr>
          <p:cNvPr id="31" name="shape-1537">
            <a:extLst xmlns:a="http://schemas.openxmlformats.org/drawingml/2006/main">
              <a:ext uri="{FF2B5EF4-FFF2-40B4-BE49-F238E27FC236}">
                <a16:creationId xmlns:a16="http://schemas.microsoft.com/office/drawing/2014/main" id="{CA2F47E0-C21A-45DC-BD34-AA12B50E9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6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0faa4eb9e864177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33" name="text-1538">
            <a:extLst xmlns:a="http://schemas.openxmlformats.org/drawingml/2006/main">
              <a:ext uri="{FF2B5EF4-FFF2-40B4-BE49-F238E27FC236}">
                <a16:creationId xmlns:a16="http://schemas.microsoft.com/office/drawing/2014/main" id="{BA7B4982-70FF-4523-977F-58E5EE6A7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  <p:pic>
        <p:nvPicPr>
          <p:cNvPr id="6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27393f332954e2d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35" name="text-1539">
            <a:extLst xmlns:a="http://schemas.openxmlformats.org/drawingml/2006/main">
              <a:ext uri="{FF2B5EF4-FFF2-40B4-BE49-F238E27FC236}">
                <a16:creationId xmlns:a16="http://schemas.microsoft.com/office/drawing/2014/main" id="{F0EBF6EA-1D1F-4C30-9AC5-A15D5EE29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</p:spTree>
    <p:extLst>
      <p:ext uri="{BB962C8B-B14F-4D97-AF65-F5344CB8AC3E}">
        <p14:creationId xmlns:p14="http://schemas.microsoft.com/office/powerpoint/2010/main" val="1560876811"/>
      </p:ext>
    </p:extLst>
  </p:cSld>
</p:sld>
</file>

<file path=ppt/slides/slide40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text-1326">
            <a:extLst xmlns:a="http://schemas.openxmlformats.org/drawingml/2006/main">
              <a:ext uri="{FF2B5EF4-FFF2-40B4-BE49-F238E27FC236}">
                <a16:creationId xmlns:a16="http://schemas.microsoft.com/office/drawing/2014/main" id="{4F68A88A-4F70-42B6-83DD-D64FBB8C4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GUARDRAILS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32DF7757-BED2-4874-9DDC-D160A2230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教育現場安全護欄：先寫進 Skill，再交給 Agent</a:t>
            </a:r>
          </a:p>
        </p:txBody>
      </p:sp>
      <p:cxnSp>
        <p:nvCxnSpPr>
          <p:cNvPr id="30" name="shape-1327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328">
            <a:extLst xmlns:a="http://schemas.openxmlformats.org/drawingml/2006/main">
              <a:ext uri="{FF2B5EF4-FFF2-40B4-BE49-F238E27FC236}">
                <a16:creationId xmlns:a16="http://schemas.microsoft.com/office/drawing/2014/main" id="{0D1339D5-221A-437A-9DEC-3E27FB908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3D88BF33-5C2D-450C-9BBD-4C159872B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40</a:t>
            </a:r>
          </a:p>
        </p:txBody>
      </p:sp>
      <p:sp>
        <p:nvSpPr>
          <p:cNvPr id="6" name="shape-1329">
            <a:extLst xmlns:a="http://schemas.openxmlformats.org/drawingml/2006/main">
              <a:ext uri="{FF2B5EF4-FFF2-40B4-BE49-F238E27FC236}">
                <a16:creationId xmlns:a16="http://schemas.microsoft.com/office/drawing/2014/main" id="{9F712B62-1031-442E-9160-0F94B7097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7" name="text-1330">
            <a:extLst xmlns:a="http://schemas.openxmlformats.org/drawingml/2006/main">
              <a:ext uri="{FF2B5EF4-FFF2-40B4-BE49-F238E27FC236}">
                <a16:creationId xmlns:a16="http://schemas.microsoft.com/office/drawing/2014/main" id="{9234822E-57EB-495E-832A-D61E60014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8" name="text-1331">
            <a:extLst xmlns:a="http://schemas.openxmlformats.org/drawingml/2006/main">
              <a:ext uri="{FF2B5EF4-FFF2-40B4-BE49-F238E27FC236}">
                <a16:creationId xmlns:a16="http://schemas.microsoft.com/office/drawing/2014/main" id="{C7708ADA-56B9-46D3-AF83-496B12B30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個資最小化</a:t>
            </a:r>
          </a:p>
        </p:txBody>
      </p:sp>
      <p:sp>
        <p:nvSpPr>
          <p:cNvPr id="9" name="text-1332">
            <a:extLst xmlns:a="http://schemas.openxmlformats.org/drawingml/2006/main">
              <a:ext uri="{FF2B5EF4-FFF2-40B4-BE49-F238E27FC236}">
                <a16:creationId xmlns:a16="http://schemas.microsoft.com/office/drawing/2014/main" id="{F239C892-6889-4B8D-8E3C-4A6A69446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先匿名化；不把學生姓名、成績、信箱與研究資料放入公開工作區。</a:t>
            </a:r>
          </a:p>
        </p:txBody>
      </p:sp>
      <p:sp>
        <p:nvSpPr>
          <p:cNvPr id="10" name="shape-1333">
            <a:extLst xmlns:a="http://schemas.openxmlformats.org/drawingml/2006/main">
              <a:ext uri="{FF2B5EF4-FFF2-40B4-BE49-F238E27FC236}">
                <a16:creationId xmlns:a16="http://schemas.microsoft.com/office/drawing/2014/main" id="{24917312-CE92-4DEE-A72D-A4C5D8179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1" name="text-1334">
            <a:extLst xmlns:a="http://schemas.openxmlformats.org/drawingml/2006/main">
              <a:ext uri="{FF2B5EF4-FFF2-40B4-BE49-F238E27FC236}">
                <a16:creationId xmlns:a16="http://schemas.microsoft.com/office/drawing/2014/main" id="{3C1F1395-2862-4A2D-934B-B4D080253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2" name="text-1335">
            <a:extLst xmlns:a="http://schemas.openxmlformats.org/drawingml/2006/main">
              <a:ext uri="{FF2B5EF4-FFF2-40B4-BE49-F238E27FC236}">
                <a16:creationId xmlns:a16="http://schemas.microsoft.com/office/drawing/2014/main" id="{4DF76AFC-A306-4565-8B45-99E34230F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來源與版權</a:t>
            </a:r>
          </a:p>
        </p:txBody>
      </p:sp>
      <p:sp>
        <p:nvSpPr>
          <p:cNvPr id="13" name="text-1336">
            <a:extLst xmlns:a="http://schemas.openxmlformats.org/drawingml/2006/main">
              <a:ext uri="{FF2B5EF4-FFF2-40B4-BE49-F238E27FC236}">
                <a16:creationId xmlns:a16="http://schemas.microsoft.com/office/drawing/2014/main" id="{D2902540-0F78-4274-BD01-96F1EC5FB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保留引用、授權與來源邊界；生成不等於可任意公開。</a:t>
            </a:r>
          </a:p>
        </p:txBody>
      </p:sp>
      <p:sp>
        <p:nvSpPr>
          <p:cNvPr id="14" name="shape-1337">
            <a:extLst xmlns:a="http://schemas.openxmlformats.org/drawingml/2006/main">
              <a:ext uri="{FF2B5EF4-FFF2-40B4-BE49-F238E27FC236}">
                <a16:creationId xmlns:a16="http://schemas.microsoft.com/office/drawing/2014/main" id="{F7EA9309-0DC9-40F1-809B-258C6FADD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5" name="text-1338">
            <a:extLst xmlns:a="http://schemas.openxmlformats.org/drawingml/2006/main">
              <a:ext uri="{FF2B5EF4-FFF2-40B4-BE49-F238E27FC236}">
                <a16:creationId xmlns:a16="http://schemas.microsoft.com/office/drawing/2014/main" id="{4087773E-D2A1-4F3E-A60C-FED01844F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-1339">
            <a:extLst xmlns:a="http://schemas.openxmlformats.org/drawingml/2006/main">
              <a:ext uri="{FF2B5EF4-FFF2-40B4-BE49-F238E27FC236}">
                <a16:creationId xmlns:a16="http://schemas.microsoft.com/office/drawing/2014/main" id="{2C26DADB-7116-4540-A9B2-13EAEA981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人工決策</a:t>
            </a:r>
          </a:p>
        </p:txBody>
      </p:sp>
      <p:sp>
        <p:nvSpPr>
          <p:cNvPr id="17" name="text-1340">
            <a:extLst xmlns:a="http://schemas.openxmlformats.org/drawingml/2006/main">
              <a:ext uri="{FF2B5EF4-FFF2-40B4-BE49-F238E27FC236}">
                <a16:creationId xmlns:a16="http://schemas.microsoft.com/office/drawing/2014/main" id="{E231F732-E937-4926-AC62-5AE33F0D0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評分、倫理、輔導與正式行政決定，由人負責並保留紀錄。</a:t>
            </a:r>
          </a:p>
        </p:txBody>
      </p:sp>
      <p:sp>
        <p:nvSpPr>
          <p:cNvPr id="18" name="shape-1341">
            <a:extLst xmlns:a="http://schemas.openxmlformats.org/drawingml/2006/main">
              <a:ext uri="{FF2B5EF4-FFF2-40B4-BE49-F238E27FC236}">
                <a16:creationId xmlns:a16="http://schemas.microsoft.com/office/drawing/2014/main" id="{A0408EF3-B00A-4C8B-81D7-232F1DA42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9" name="text-1342">
            <a:extLst xmlns:a="http://schemas.openxmlformats.org/drawingml/2006/main">
              <a:ext uri="{FF2B5EF4-FFF2-40B4-BE49-F238E27FC236}">
                <a16:creationId xmlns:a16="http://schemas.microsoft.com/office/drawing/2014/main" id="{30D671DF-FF64-4211-AD34-7C01B7F6E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20" name="text-1343">
            <a:extLst xmlns:a="http://schemas.openxmlformats.org/drawingml/2006/main">
              <a:ext uri="{FF2B5EF4-FFF2-40B4-BE49-F238E27FC236}">
                <a16:creationId xmlns:a16="http://schemas.microsoft.com/office/drawing/2014/main" id="{B5E2F23F-C18A-4F63-B194-EA87FE656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可逆優先</a:t>
            </a:r>
          </a:p>
        </p:txBody>
      </p:sp>
      <p:sp>
        <p:nvSpPr>
          <p:cNvPr id="21" name="text-1344">
            <a:extLst xmlns:a="http://schemas.openxmlformats.org/drawingml/2006/main">
              <a:ext uri="{FF2B5EF4-FFF2-40B4-BE49-F238E27FC236}">
                <a16:creationId xmlns:a16="http://schemas.microsoft.com/office/drawing/2014/main" id="{2F1B022A-403B-4997-AC6B-55F76B543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先分析、預覽、備份；發布、刪除與改權限需要明確確認。</a:t>
            </a:r>
          </a:p>
        </p:txBody>
      </p:sp>
      <p:sp>
        <p:nvSpPr>
          <p:cNvPr id="22" name="text-1459">
            <a:extLst xmlns:a="http://schemas.openxmlformats.org/drawingml/2006/main">
              <a:ext uri="{FF2B5EF4-FFF2-40B4-BE49-F238E27FC236}">
                <a16:creationId xmlns:a16="http://schemas.microsoft.com/office/drawing/2014/main" id="{5A6748C0-221F-4ACC-8C7A-8359B1AE9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2211a12de1fe4aba"/>
              </a:rPr>
              <a:t>Antigravity ↗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007aa4bfdd5246d8"/>
              </a:rPr>
              <a:t>Codex ↗</a:t>
            </a:r>
          </a:p>
        </p:txBody>
      </p:sp>
      <p:sp>
        <p:nvSpPr>
          <p:cNvPr id="23" name="shape-1540">
            <a:extLst xmlns:a="http://schemas.openxmlformats.org/drawingml/2006/main">
              <a:ext uri="{FF2B5EF4-FFF2-40B4-BE49-F238E27FC236}">
                <a16:creationId xmlns:a16="http://schemas.microsoft.com/office/drawing/2014/main" id="{8C58451D-8912-4065-806F-A09078301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5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a22ee48b2c24f6f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5" name="text-1541">
            <a:extLst xmlns:a="http://schemas.openxmlformats.org/drawingml/2006/main">
              <a:ext uri="{FF2B5EF4-FFF2-40B4-BE49-F238E27FC236}">
                <a16:creationId xmlns:a16="http://schemas.microsoft.com/office/drawing/2014/main" id="{06AA823A-F439-43C8-95A5-103FDE6D6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  <p:pic>
        <p:nvPicPr>
          <p:cNvPr id="5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494faa2b6a141fe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7" name="text-1542">
            <a:extLst xmlns:a="http://schemas.openxmlformats.org/drawingml/2006/main">
              <a:ext uri="{FF2B5EF4-FFF2-40B4-BE49-F238E27FC236}">
                <a16:creationId xmlns:a16="http://schemas.microsoft.com/office/drawing/2014/main" id="{88C4A8EB-0A9A-4A5A-9432-F4AD812CC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</p:spTree>
    <p:extLst>
      <p:ext uri="{BB962C8B-B14F-4D97-AF65-F5344CB8AC3E}">
        <p14:creationId xmlns:p14="http://schemas.microsoft.com/office/powerpoint/2010/main" val="1004370849"/>
      </p:ext>
    </p:extLst>
  </p:cSld>
</p:sld>
</file>

<file path=ppt/slides/slide41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text-1345">
            <a:extLst xmlns:a="http://schemas.openxmlformats.org/drawingml/2006/main">
              <a:ext uri="{FF2B5EF4-FFF2-40B4-BE49-F238E27FC236}">
                <a16:creationId xmlns:a16="http://schemas.microsoft.com/office/drawing/2014/main" id="{FECFAE5F-49C9-44D4-9AA0-3181E16B8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HANDS-ON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045AA3CB-7E92-42B5-A3A5-62DA14642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整合挑戰｜讓 Agent 完成可驗證的教學成果</a:t>
            </a:r>
          </a:p>
        </p:txBody>
      </p:sp>
      <p:cxnSp>
        <p:nvCxnSpPr>
          <p:cNvPr id="27" name="shape-1346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347">
            <a:extLst xmlns:a="http://schemas.openxmlformats.org/drawingml/2006/main">
              <a:ext uri="{FF2B5EF4-FFF2-40B4-BE49-F238E27FC236}">
                <a16:creationId xmlns:a16="http://schemas.microsoft.com/office/drawing/2014/main" id="{3DD4A57D-4E8C-4504-8A4C-E404C4354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73D23557-364B-40C5-8A88-A604FE305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41</a:t>
            </a:r>
          </a:p>
        </p:txBody>
      </p:sp>
      <p:sp>
        <p:nvSpPr>
          <p:cNvPr id="6" name="text-1348">
            <a:extLst xmlns:a="http://schemas.openxmlformats.org/drawingml/2006/main">
              <a:ext uri="{FF2B5EF4-FFF2-40B4-BE49-F238E27FC236}">
                <a16:creationId xmlns:a16="http://schemas.microsoft.com/office/drawing/2014/main" id="{533A4A95-1FE3-4E2D-878E-2BB843A59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09750"/>
            <a:ext cx="2000250" cy="20002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15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分鐘</a:t>
            </a:r>
          </a:p>
        </p:txBody>
      </p:sp>
      <p:sp>
        <p:nvSpPr>
          <p:cNvPr id="7" name="text-1349">
            <a:extLst xmlns:a="http://schemas.openxmlformats.org/drawingml/2006/main">
              <a:ext uri="{FF2B5EF4-FFF2-40B4-BE49-F238E27FC236}">
                <a16:creationId xmlns:a16="http://schemas.microsoft.com/office/drawing/2014/main" id="{EE0CDAC9-A9BF-4CE6-8D49-1E4368B6F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1733550"/>
            <a:ext cx="3143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操作步驟</a:t>
            </a:r>
          </a:p>
        </p:txBody>
      </p:sp>
      <p:sp>
        <p:nvSpPr>
          <p:cNvPr id="8" name="text-1350">
            <a:extLst xmlns:a="http://schemas.openxmlformats.org/drawingml/2006/main">
              <a:ext uri="{FF2B5EF4-FFF2-40B4-BE49-F238E27FC236}">
                <a16:creationId xmlns:a16="http://schemas.microsoft.com/office/drawing/2014/main" id="{E3DEA79A-E07C-4E41-BBDD-2E73C1CA9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24003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1351">
            <a:extLst xmlns:a="http://schemas.openxmlformats.org/drawingml/2006/main">
              <a:ext uri="{FF2B5EF4-FFF2-40B4-BE49-F238E27FC236}">
                <a16:creationId xmlns:a16="http://schemas.microsoft.com/office/drawing/2014/main" id="{ABF06598-2815-4A57-AA79-BCED81992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24003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啟用剛完成的 Skill</a:t>
            </a:r>
          </a:p>
        </p:txBody>
      </p:sp>
      <p:sp>
        <p:nvSpPr>
          <p:cNvPr id="10" name="text-1352">
            <a:extLst xmlns:a="http://schemas.openxmlformats.org/drawingml/2006/main">
              <a:ext uri="{FF2B5EF4-FFF2-40B4-BE49-F238E27FC236}">
                <a16:creationId xmlns:a16="http://schemas.microsoft.com/office/drawing/2014/main" id="{43BD5C26-66EF-401E-A318-2DF9FBB24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1051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1" name="text-1353">
            <a:extLst xmlns:a="http://schemas.openxmlformats.org/drawingml/2006/main">
              <a:ext uri="{FF2B5EF4-FFF2-40B4-BE49-F238E27FC236}">
                <a16:creationId xmlns:a16="http://schemas.microsoft.com/office/drawing/2014/main" id="{D3295A78-41EF-4E1C-8780-1245AB561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1051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對上午作品或合成資料提出一項真實任務</a:t>
            </a:r>
          </a:p>
        </p:txBody>
      </p:sp>
      <p:sp>
        <p:nvSpPr>
          <p:cNvPr id="12" name="text-1354">
            <a:extLst xmlns:a="http://schemas.openxmlformats.org/drawingml/2006/main">
              <a:ext uri="{FF2B5EF4-FFF2-40B4-BE49-F238E27FC236}">
                <a16:creationId xmlns:a16="http://schemas.microsoft.com/office/drawing/2014/main" id="{1424168A-C74A-40C1-8460-1AD1B67B1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8100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13" name="text-1355">
            <a:extLst xmlns:a="http://schemas.openxmlformats.org/drawingml/2006/main">
              <a:ext uri="{FF2B5EF4-FFF2-40B4-BE49-F238E27FC236}">
                <a16:creationId xmlns:a16="http://schemas.microsoft.com/office/drawing/2014/main" id="{17D6B9B6-6575-4EFE-AA02-F4E027B70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8100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要求 Agent 實作並驗證</a:t>
            </a:r>
          </a:p>
        </p:txBody>
      </p:sp>
      <p:sp>
        <p:nvSpPr>
          <p:cNvPr id="14" name="text-1356">
            <a:extLst xmlns:a="http://schemas.openxmlformats.org/drawingml/2006/main">
              <a:ext uri="{FF2B5EF4-FFF2-40B4-BE49-F238E27FC236}">
                <a16:creationId xmlns:a16="http://schemas.microsoft.com/office/drawing/2014/main" id="{11B0CE03-2544-4833-8E26-8A95F5CF7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45148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C1E30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15" name="text-1357">
            <a:extLst xmlns:a="http://schemas.openxmlformats.org/drawingml/2006/main">
              <a:ext uri="{FF2B5EF4-FFF2-40B4-BE49-F238E27FC236}">
                <a16:creationId xmlns:a16="http://schemas.microsoft.com/office/drawing/2014/main" id="{30C60751-4C45-4CF0-9B17-EBC48749A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45148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準備 90 秒成果與證據</a:t>
            </a:r>
          </a:p>
        </p:txBody>
      </p:sp>
      <p:sp>
        <p:nvSpPr>
          <p:cNvPr id="16" name="shape-1358">
            <a:extLst xmlns:a="http://schemas.openxmlformats.org/drawingml/2006/main">
              <a:ext uri="{FF2B5EF4-FFF2-40B4-BE49-F238E27FC236}">
                <a16:creationId xmlns:a16="http://schemas.microsoft.com/office/drawing/2014/main" id="{A81B2A02-9B8F-4150-8A3A-7D1586E28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790700"/>
            <a:ext cx="2362200" cy="390525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7" name="text-1359">
            <a:extLst xmlns:a="http://schemas.openxmlformats.org/drawingml/2006/main">
              <a:ext uri="{FF2B5EF4-FFF2-40B4-BE49-F238E27FC236}">
                <a16:creationId xmlns:a16="http://schemas.microsoft.com/office/drawing/2014/main" id="{51AEF27F-BE22-4691-B5E1-796C3A669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057400"/>
            <a:ext cx="18669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FF806D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FF806D"/>
                </a:solidFill>
                <a:latin typeface="Noto Sans TC"/>
                <a:ea typeface="Noto Sans TC"/>
                <a:cs typeface="Noto Sans TC"/>
              </a:rPr>
              <a:t>完成條件</a:t>
            </a:r>
          </a:p>
        </p:txBody>
      </p:sp>
      <p:sp>
        <p:nvSpPr>
          <p:cNvPr id="18" name="text-1360">
            <a:extLst xmlns:a="http://schemas.openxmlformats.org/drawingml/2006/main">
              <a:ext uri="{FF2B5EF4-FFF2-40B4-BE49-F238E27FC236}">
                <a16:creationId xmlns:a16="http://schemas.microsoft.com/office/drawing/2014/main" id="{E6D6EA12-30F2-4011-B49D-AA7744CD8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705100"/>
            <a:ext cx="186690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✓ Skill 有被正確觸發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✓ 成果可開啟或可檢查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✓ 至少一個驗證證據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✓ 說明一項人工決定</a:t>
            </a:r>
          </a:p>
        </p:txBody>
      </p:sp>
      <p:sp>
        <p:nvSpPr>
          <p:cNvPr id="19" name="text-1460">
            <a:extLst xmlns:a="http://schemas.openxmlformats.org/drawingml/2006/main">
              <a:ext uri="{FF2B5EF4-FFF2-40B4-BE49-F238E27FC236}">
                <a16:creationId xmlns:a16="http://schemas.microsoft.com/office/drawing/2014/main" id="{30925189-1912-444C-95A5-948CD3032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b3abe119cd3a4c1f"/>
              </a:rPr>
              <a:t>Antigravity ↗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b17b710aa21542a8"/>
              </a:rPr>
              <a:t>Codex ↗</a:t>
            </a:r>
          </a:p>
        </p:txBody>
      </p:sp>
      <p:sp>
        <p:nvSpPr>
          <p:cNvPr id="20" name="shape-1543">
            <a:extLst xmlns:a="http://schemas.openxmlformats.org/drawingml/2006/main">
              <a:ext uri="{FF2B5EF4-FFF2-40B4-BE49-F238E27FC236}">
                <a16:creationId xmlns:a16="http://schemas.microsoft.com/office/drawing/2014/main" id="{06EF0267-BBB3-4146-B6AE-FFA1E7BA3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4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9746f59627a43db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2" name="text-1544">
            <a:extLst xmlns:a="http://schemas.openxmlformats.org/drawingml/2006/main">
              <a:ext uri="{FF2B5EF4-FFF2-40B4-BE49-F238E27FC236}">
                <a16:creationId xmlns:a16="http://schemas.microsoft.com/office/drawing/2014/main" id="{7970DC8E-F1FA-4EA7-8F5C-1905FA76C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  <p:pic>
        <p:nvPicPr>
          <p:cNvPr id="4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03933d1d16e4654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4" name="text-1545">
            <a:extLst xmlns:a="http://schemas.openxmlformats.org/drawingml/2006/main">
              <a:ext uri="{FF2B5EF4-FFF2-40B4-BE49-F238E27FC236}">
                <a16:creationId xmlns:a16="http://schemas.microsoft.com/office/drawing/2014/main" id="{88A0B6B3-664A-4282-8AAF-CF0C47E03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</p:spTree>
    <p:extLst>
      <p:ext uri="{BB962C8B-B14F-4D97-AF65-F5344CB8AC3E}">
        <p14:creationId xmlns:p14="http://schemas.microsoft.com/office/powerpoint/2010/main" val="1472445537"/>
      </p:ext>
    </p:extLst>
  </p:cSld>
</p:sld>
</file>

<file path=ppt/slides/slide42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text-1361">
            <a:extLst xmlns:a="http://schemas.openxmlformats.org/drawingml/2006/main">
              <a:ext uri="{FF2B5EF4-FFF2-40B4-BE49-F238E27FC236}">
                <a16:creationId xmlns:a16="http://schemas.microsoft.com/office/drawing/2014/main" id="{49FCA36B-D787-4E30-8E78-D5F9FAC97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PEER REVIEW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2EF45DA9-473A-4A1D-AF8D-A1D134F2A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同儕回饋只看四件事</a:t>
            </a:r>
          </a:p>
        </p:txBody>
      </p:sp>
      <p:cxnSp>
        <p:nvCxnSpPr>
          <p:cNvPr id="30" name="shape-1362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363">
            <a:extLst xmlns:a="http://schemas.openxmlformats.org/drawingml/2006/main">
              <a:ext uri="{FF2B5EF4-FFF2-40B4-BE49-F238E27FC236}">
                <a16:creationId xmlns:a16="http://schemas.microsoft.com/office/drawing/2014/main" id="{A03655A7-D7E5-4727-98C9-E7E989852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4A3036E6-E090-4253-B452-46BE52764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42</a:t>
            </a:r>
          </a:p>
        </p:txBody>
      </p:sp>
      <p:sp>
        <p:nvSpPr>
          <p:cNvPr id="6" name="shape-1364">
            <a:extLst xmlns:a="http://schemas.openxmlformats.org/drawingml/2006/main">
              <a:ext uri="{FF2B5EF4-FFF2-40B4-BE49-F238E27FC236}">
                <a16:creationId xmlns:a16="http://schemas.microsoft.com/office/drawing/2014/main" id="{2E910FC4-D162-4CAC-AAEF-3A8FA61F4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7" name="text-1365">
            <a:extLst xmlns:a="http://schemas.openxmlformats.org/drawingml/2006/main">
              <a:ext uri="{FF2B5EF4-FFF2-40B4-BE49-F238E27FC236}">
                <a16:creationId xmlns:a16="http://schemas.microsoft.com/office/drawing/2014/main" id="{07217751-3B23-42C7-9088-3A71FEBEC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8" name="text-1366">
            <a:extLst xmlns:a="http://schemas.openxmlformats.org/drawingml/2006/main">
              <a:ext uri="{FF2B5EF4-FFF2-40B4-BE49-F238E27FC236}">
                <a16:creationId xmlns:a16="http://schemas.microsoft.com/office/drawing/2014/main" id="{7072D740-5BFB-429F-85C0-326892FEF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價值</a:t>
            </a:r>
          </a:p>
        </p:txBody>
      </p:sp>
      <p:sp>
        <p:nvSpPr>
          <p:cNvPr id="9" name="text-1367">
            <a:extLst xmlns:a="http://schemas.openxmlformats.org/drawingml/2006/main">
              <a:ext uri="{FF2B5EF4-FFF2-40B4-BE49-F238E27FC236}">
                <a16:creationId xmlns:a16="http://schemas.microsoft.com/office/drawing/2014/main" id="{02A80C62-7E3D-45E1-AF43-A0B1E5545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這個 Agent 任務是否解決真實教學問題？</a:t>
            </a:r>
          </a:p>
        </p:txBody>
      </p:sp>
      <p:sp>
        <p:nvSpPr>
          <p:cNvPr id="10" name="shape-1368">
            <a:extLst xmlns:a="http://schemas.openxmlformats.org/drawingml/2006/main">
              <a:ext uri="{FF2B5EF4-FFF2-40B4-BE49-F238E27FC236}">
                <a16:creationId xmlns:a16="http://schemas.microsoft.com/office/drawing/2014/main" id="{D57542B2-3A72-488E-B348-5DABADDF4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1" name="text-1369">
            <a:extLst xmlns:a="http://schemas.openxmlformats.org/drawingml/2006/main">
              <a:ext uri="{FF2B5EF4-FFF2-40B4-BE49-F238E27FC236}">
                <a16:creationId xmlns:a16="http://schemas.microsoft.com/office/drawing/2014/main" id="{19FF27A5-5B6A-4948-B18B-C44476173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2" name="text-1370">
            <a:extLst xmlns:a="http://schemas.openxmlformats.org/drawingml/2006/main">
              <a:ext uri="{FF2B5EF4-FFF2-40B4-BE49-F238E27FC236}">
                <a16:creationId xmlns:a16="http://schemas.microsoft.com/office/drawing/2014/main" id="{D592BB96-5B8A-46CD-AEC9-C4872C0DB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清楚</a:t>
            </a:r>
          </a:p>
        </p:txBody>
      </p:sp>
      <p:sp>
        <p:nvSpPr>
          <p:cNvPr id="13" name="text-1371">
            <a:extLst xmlns:a="http://schemas.openxmlformats.org/drawingml/2006/main">
              <a:ext uri="{FF2B5EF4-FFF2-40B4-BE49-F238E27FC236}">
                <a16:creationId xmlns:a16="http://schemas.microsoft.com/office/drawing/2014/main" id="{8AD15BD0-E00F-40AA-8E6A-4579CCE74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陌生人是否能理解 Skill 的觸發時機與流程？</a:t>
            </a:r>
          </a:p>
        </p:txBody>
      </p:sp>
      <p:sp>
        <p:nvSpPr>
          <p:cNvPr id="14" name="shape-1372">
            <a:extLst xmlns:a="http://schemas.openxmlformats.org/drawingml/2006/main">
              <a:ext uri="{FF2B5EF4-FFF2-40B4-BE49-F238E27FC236}">
                <a16:creationId xmlns:a16="http://schemas.microsoft.com/office/drawing/2014/main" id="{99F32B0A-A3DB-4420-8E72-0670F1B6B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5" name="text-1373">
            <a:extLst xmlns:a="http://schemas.openxmlformats.org/drawingml/2006/main">
              <a:ext uri="{FF2B5EF4-FFF2-40B4-BE49-F238E27FC236}">
                <a16:creationId xmlns:a16="http://schemas.microsoft.com/office/drawing/2014/main" id="{F92A6E71-5127-4C37-B3A4-5419CE56D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-1374">
            <a:extLst xmlns:a="http://schemas.openxmlformats.org/drawingml/2006/main">
              <a:ext uri="{FF2B5EF4-FFF2-40B4-BE49-F238E27FC236}">
                <a16:creationId xmlns:a16="http://schemas.microsoft.com/office/drawing/2014/main" id="{CDBE5E0C-4A65-48C2-A7CA-523C6B947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證據</a:t>
            </a:r>
          </a:p>
        </p:txBody>
      </p:sp>
      <p:sp>
        <p:nvSpPr>
          <p:cNvPr id="17" name="text-1375">
            <a:extLst xmlns:a="http://schemas.openxmlformats.org/drawingml/2006/main">
              <a:ext uri="{FF2B5EF4-FFF2-40B4-BE49-F238E27FC236}">
                <a16:creationId xmlns:a16="http://schemas.microsoft.com/office/drawing/2014/main" id="{2AA95924-FA65-4AE9-853D-5CB94B00B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完成宣告是否有檔案、測試、畫面或引用支持？</a:t>
            </a:r>
          </a:p>
        </p:txBody>
      </p:sp>
      <p:sp>
        <p:nvSpPr>
          <p:cNvPr id="18" name="shape-1376">
            <a:extLst xmlns:a="http://schemas.openxmlformats.org/drawingml/2006/main">
              <a:ext uri="{FF2B5EF4-FFF2-40B4-BE49-F238E27FC236}">
                <a16:creationId xmlns:a16="http://schemas.microsoft.com/office/drawing/2014/main" id="{BADFAB24-8622-402A-AC09-60EBF10DC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9" name="text-1377">
            <a:extLst xmlns:a="http://schemas.openxmlformats.org/drawingml/2006/main">
              <a:ext uri="{FF2B5EF4-FFF2-40B4-BE49-F238E27FC236}">
                <a16:creationId xmlns:a16="http://schemas.microsoft.com/office/drawing/2014/main" id="{AC51A92D-AA20-4F19-A1CA-29204AB54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20" name="text-1378">
            <a:extLst xmlns:a="http://schemas.openxmlformats.org/drawingml/2006/main">
              <a:ext uri="{FF2B5EF4-FFF2-40B4-BE49-F238E27FC236}">
                <a16:creationId xmlns:a16="http://schemas.microsoft.com/office/drawing/2014/main" id="{FEC19252-AF94-4D61-8E81-C80E93D6D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邊界</a:t>
            </a:r>
          </a:p>
        </p:txBody>
      </p:sp>
      <p:sp>
        <p:nvSpPr>
          <p:cNvPr id="21" name="text-1379">
            <a:extLst xmlns:a="http://schemas.openxmlformats.org/drawingml/2006/main">
              <a:ext uri="{FF2B5EF4-FFF2-40B4-BE49-F238E27FC236}">
                <a16:creationId xmlns:a16="http://schemas.microsoft.com/office/drawing/2014/main" id="{AFAC88AD-919B-461B-88D0-88382DDBC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是否知道哪些動作需確認、哪些結果仍未確認？</a:t>
            </a:r>
          </a:p>
        </p:txBody>
      </p:sp>
      <p:sp>
        <p:nvSpPr>
          <p:cNvPr id="22" name="text-1461">
            <a:extLst xmlns:a="http://schemas.openxmlformats.org/drawingml/2006/main">
              <a:ext uri="{FF2B5EF4-FFF2-40B4-BE49-F238E27FC236}">
                <a16:creationId xmlns:a16="http://schemas.microsoft.com/office/drawing/2014/main" id="{3F1CC75E-BD7D-474D-8BF0-F2FD4C6BE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5af210cbb0e64412"/>
              </a:rPr>
              <a:t>Antigravity ↗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908bbb782da54f63"/>
              </a:rPr>
              <a:t>Codex ↗</a:t>
            </a:r>
          </a:p>
        </p:txBody>
      </p:sp>
      <p:sp>
        <p:nvSpPr>
          <p:cNvPr id="23" name="shape-1546">
            <a:extLst xmlns:a="http://schemas.openxmlformats.org/drawingml/2006/main">
              <a:ext uri="{FF2B5EF4-FFF2-40B4-BE49-F238E27FC236}">
                <a16:creationId xmlns:a16="http://schemas.microsoft.com/office/drawing/2014/main" id="{6CFD1348-4DB7-4824-86EF-617F18898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5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dc92591129f421b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5" name="text-1547">
            <a:extLst xmlns:a="http://schemas.openxmlformats.org/drawingml/2006/main">
              <a:ext uri="{FF2B5EF4-FFF2-40B4-BE49-F238E27FC236}">
                <a16:creationId xmlns:a16="http://schemas.microsoft.com/office/drawing/2014/main" id="{195099BE-E860-4265-BADB-019C360CA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  <p:pic>
        <p:nvPicPr>
          <p:cNvPr id="5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42d6e0ce3264da2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7" name="text-1548">
            <a:extLst xmlns:a="http://schemas.openxmlformats.org/drawingml/2006/main">
              <a:ext uri="{FF2B5EF4-FFF2-40B4-BE49-F238E27FC236}">
                <a16:creationId xmlns:a16="http://schemas.microsoft.com/office/drawing/2014/main" id="{86E4E90D-30E7-436D-A441-6EED4F1B0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</p:spTree>
    <p:extLst>
      <p:ext uri="{BB962C8B-B14F-4D97-AF65-F5344CB8AC3E}">
        <p14:creationId xmlns:p14="http://schemas.microsoft.com/office/powerpoint/2010/main" val="1168550738"/>
      </p:ext>
    </p:extLst>
  </p:cSld>
</p:sld>
</file>

<file path=ppt/slides/slide43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text-1380">
            <a:extLst xmlns:a="http://schemas.openxmlformats.org/drawingml/2006/main">
              <a:ext uri="{FF2B5EF4-FFF2-40B4-BE49-F238E27FC236}">
                <a16:creationId xmlns:a16="http://schemas.microsoft.com/office/drawing/2014/main" id="{B9F3ABF3-F032-4F6F-ACEF-2BA93509D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NEXT 30 DAYS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AD00A9B4-52F3-4FD7-9BB0-F32CCAF65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30 天導入計畫：小步驗證，留下可重用資產</a:t>
            </a:r>
          </a:p>
        </p:txBody>
      </p:sp>
      <p:cxnSp>
        <p:nvCxnSpPr>
          <p:cNvPr id="35" name="shape-1381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382">
            <a:extLst xmlns:a="http://schemas.openxmlformats.org/drawingml/2006/main">
              <a:ext uri="{FF2B5EF4-FFF2-40B4-BE49-F238E27FC236}">
                <a16:creationId xmlns:a16="http://schemas.microsoft.com/office/drawing/2014/main" id="{291CBA33-E765-4289-B76F-226C53FEC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A95A970C-6955-4A9E-B401-FC8438DAC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43</a:t>
            </a:r>
          </a:p>
        </p:txBody>
      </p:sp>
      <p:cxnSp>
        <p:nvCxnSpPr>
          <p:cNvPr id="38" name="shape-1383"/>
          <p:cNvCxnSpPr/>
          <p:nvPr/>
        </p:nvCxnSpPr>
        <p:spPr>
          <a:xfrm xmlns:a="http://schemas.openxmlformats.org/drawingml/2006/main">
            <a:off x="876300" y="3143250"/>
            <a:ext cx="10401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7" name="shape-1384">
            <a:extLst xmlns:a="http://schemas.openxmlformats.org/drawingml/2006/main">
              <a:ext uri="{FF2B5EF4-FFF2-40B4-BE49-F238E27FC236}">
                <a16:creationId xmlns:a16="http://schemas.microsoft.com/office/drawing/2014/main" id="{6B1A3321-563F-421D-8137-59BE03493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1385">
            <a:extLst xmlns:a="http://schemas.openxmlformats.org/drawingml/2006/main">
              <a:ext uri="{FF2B5EF4-FFF2-40B4-BE49-F238E27FC236}">
                <a16:creationId xmlns:a16="http://schemas.microsoft.com/office/drawing/2014/main" id="{ED514941-CD5F-4652-AD16-D1B93EA54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第 1 週</a:t>
            </a:r>
          </a:p>
        </p:txBody>
      </p:sp>
      <p:sp>
        <p:nvSpPr>
          <p:cNvPr id="9" name="text-1386">
            <a:extLst xmlns:a="http://schemas.openxmlformats.org/drawingml/2006/main">
              <a:ext uri="{FF2B5EF4-FFF2-40B4-BE49-F238E27FC236}">
                <a16:creationId xmlns:a16="http://schemas.microsoft.com/office/drawing/2014/main" id="{B5E7834F-99E9-4547-8A54-2CF78D0DE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38100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選任務</a:t>
            </a:r>
          </a:p>
        </p:txBody>
      </p:sp>
      <p:sp>
        <p:nvSpPr>
          <p:cNvPr id="10" name="text-1387">
            <a:extLst xmlns:a="http://schemas.openxmlformats.org/drawingml/2006/main">
              <a:ext uri="{FF2B5EF4-FFF2-40B4-BE49-F238E27FC236}">
                <a16:creationId xmlns:a16="http://schemas.microsoft.com/office/drawing/2014/main" id="{8A330C11-CDAB-4098-9DA3-461C2848F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38100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高頻、耗時、可驗證</a:t>
            </a:r>
          </a:p>
        </p:txBody>
      </p:sp>
      <p:sp>
        <p:nvSpPr>
          <p:cNvPr id="11" name="shape-1388">
            <a:extLst xmlns:a="http://schemas.openxmlformats.org/drawingml/2006/main">
              <a:ext uri="{FF2B5EF4-FFF2-40B4-BE49-F238E27FC236}">
                <a16:creationId xmlns:a16="http://schemas.microsoft.com/office/drawing/2014/main" id="{E6154BC3-3FF2-43CB-80BF-CC1576234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3275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text-1389">
            <a:extLst xmlns:a="http://schemas.openxmlformats.org/drawingml/2006/main">
              <a:ext uri="{FF2B5EF4-FFF2-40B4-BE49-F238E27FC236}">
                <a16:creationId xmlns:a16="http://schemas.microsoft.com/office/drawing/2014/main" id="{9B315056-04BD-41E0-8449-9E353EC81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90825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第 2 週</a:t>
            </a:r>
          </a:p>
        </p:txBody>
      </p:sp>
      <p:sp>
        <p:nvSpPr>
          <p:cNvPr id="13" name="text-1390">
            <a:extLst xmlns:a="http://schemas.openxmlformats.org/drawingml/2006/main">
              <a:ext uri="{FF2B5EF4-FFF2-40B4-BE49-F238E27FC236}">
                <a16:creationId xmlns:a16="http://schemas.microsoft.com/office/drawing/2014/main" id="{11F50543-BC30-449E-BA4A-6DAE0A8FA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2225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試流程</a:t>
            </a:r>
          </a:p>
        </p:txBody>
      </p:sp>
      <p:sp>
        <p:nvSpPr>
          <p:cNvPr id="14" name="text-1391">
            <a:extLst xmlns:a="http://schemas.openxmlformats.org/drawingml/2006/main">
              <a:ext uri="{FF2B5EF4-FFF2-40B4-BE49-F238E27FC236}">
                <a16:creationId xmlns:a16="http://schemas.microsoft.com/office/drawing/2014/main" id="{22981839-0BC3-4FE2-ABFC-D43C47D5D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2225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自己跑 3 次</a:t>
            </a:r>
          </a:p>
        </p:txBody>
      </p:sp>
      <p:sp>
        <p:nvSpPr>
          <p:cNvPr id="15" name="shape-1392">
            <a:extLst xmlns:a="http://schemas.openxmlformats.org/drawingml/2006/main">
              <a:ext uri="{FF2B5EF4-FFF2-40B4-BE49-F238E27FC236}">
                <a16:creationId xmlns:a16="http://schemas.microsoft.com/office/drawing/2014/main" id="{C3F34219-AA1F-41F2-9C9E-D1739F440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text-1393">
            <a:extLst xmlns:a="http://schemas.openxmlformats.org/drawingml/2006/main">
              <a:ext uri="{FF2B5EF4-FFF2-40B4-BE49-F238E27FC236}">
                <a16:creationId xmlns:a16="http://schemas.microsoft.com/office/drawing/2014/main" id="{52C13E76-CD4C-4BA5-8DF3-7C3A50FF1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第 3 週</a:t>
            </a:r>
          </a:p>
        </p:txBody>
      </p:sp>
      <p:sp>
        <p:nvSpPr>
          <p:cNvPr id="17" name="text-1394">
            <a:extLst xmlns:a="http://schemas.openxmlformats.org/drawingml/2006/main">
              <a:ext uri="{FF2B5EF4-FFF2-40B4-BE49-F238E27FC236}">
                <a16:creationId xmlns:a16="http://schemas.microsoft.com/office/drawing/2014/main" id="{371B69BB-EFCA-4540-8518-81CE2792C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給同儕</a:t>
            </a:r>
          </a:p>
        </p:txBody>
      </p:sp>
      <p:sp>
        <p:nvSpPr>
          <p:cNvPr id="18" name="text-1395">
            <a:extLst xmlns:a="http://schemas.openxmlformats.org/drawingml/2006/main">
              <a:ext uri="{FF2B5EF4-FFF2-40B4-BE49-F238E27FC236}">
                <a16:creationId xmlns:a16="http://schemas.microsoft.com/office/drawing/2014/main" id="{8DA1B839-B5A7-4858-86D6-52CB80694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找 1 人盲測</a:t>
            </a:r>
          </a:p>
        </p:txBody>
      </p:sp>
      <p:sp>
        <p:nvSpPr>
          <p:cNvPr id="19" name="shape-1396">
            <a:extLst xmlns:a="http://schemas.openxmlformats.org/drawingml/2006/main">
              <a:ext uri="{FF2B5EF4-FFF2-40B4-BE49-F238E27FC236}">
                <a16:creationId xmlns:a16="http://schemas.microsoft.com/office/drawing/2014/main" id="{8551A98F-9290-4812-8CB6-E2C709A4A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5A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text-1397">
            <a:extLst xmlns:a="http://schemas.openxmlformats.org/drawingml/2006/main">
              <a:ext uri="{FF2B5EF4-FFF2-40B4-BE49-F238E27FC236}">
                <a16:creationId xmlns:a16="http://schemas.microsoft.com/office/drawing/2014/main" id="{7555868B-31D8-47DB-BFEF-3CE6C0639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1475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第 4 週</a:t>
            </a:r>
          </a:p>
        </p:txBody>
      </p:sp>
      <p:sp>
        <p:nvSpPr>
          <p:cNvPr id="21" name="text-1398">
            <a:extLst xmlns:a="http://schemas.openxmlformats.org/drawingml/2006/main">
              <a:ext uri="{FF2B5EF4-FFF2-40B4-BE49-F238E27FC236}">
                <a16:creationId xmlns:a16="http://schemas.microsoft.com/office/drawing/2014/main" id="{420955FC-9DF7-469C-833B-50DDED6FD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修 Skill</a:t>
            </a:r>
          </a:p>
        </p:txBody>
      </p:sp>
      <p:sp>
        <p:nvSpPr>
          <p:cNvPr id="22" name="text-1399">
            <a:extLst xmlns:a="http://schemas.openxmlformats.org/drawingml/2006/main">
              <a:ext uri="{FF2B5EF4-FFF2-40B4-BE49-F238E27FC236}">
                <a16:creationId xmlns:a16="http://schemas.microsoft.com/office/drawing/2014/main" id="{D93CB143-5283-4BE7-9F01-D7BDC6C49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補規則與範例</a:t>
            </a:r>
          </a:p>
        </p:txBody>
      </p:sp>
      <p:sp>
        <p:nvSpPr>
          <p:cNvPr id="23" name="shape-1400">
            <a:extLst xmlns:a="http://schemas.openxmlformats.org/drawingml/2006/main">
              <a:ext uri="{FF2B5EF4-FFF2-40B4-BE49-F238E27FC236}">
                <a16:creationId xmlns:a16="http://schemas.microsoft.com/office/drawing/2014/main" id="{0C00DBA1-2392-46A6-BCF7-C9397EE28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80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text-1401">
            <a:extLst xmlns:a="http://schemas.openxmlformats.org/drawingml/2006/main">
              <a:ext uri="{FF2B5EF4-FFF2-40B4-BE49-F238E27FC236}">
                <a16:creationId xmlns:a16="http://schemas.microsoft.com/office/drawing/2014/main" id="{80481CF7-71D4-436B-98AC-7DE9FC0C4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91800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第 30 天</a:t>
            </a:r>
          </a:p>
        </p:txBody>
      </p:sp>
      <p:sp>
        <p:nvSpPr>
          <p:cNvPr id="25" name="text-1402">
            <a:extLst xmlns:a="http://schemas.openxmlformats.org/drawingml/2006/main">
              <a:ext uri="{FF2B5EF4-FFF2-40B4-BE49-F238E27FC236}">
                <a16:creationId xmlns:a16="http://schemas.microsoft.com/office/drawing/2014/main" id="{265195E7-EE95-4476-B88F-B52F4936F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決定</a:t>
            </a:r>
          </a:p>
        </p:txBody>
      </p:sp>
      <p:sp>
        <p:nvSpPr>
          <p:cNvPr id="26" name="text-1403">
            <a:extLst xmlns:a="http://schemas.openxmlformats.org/drawingml/2006/main">
              <a:ext uri="{FF2B5EF4-FFF2-40B4-BE49-F238E27FC236}">
                <a16:creationId xmlns:a16="http://schemas.microsoft.com/office/drawing/2014/main" id="{1D719181-47EF-46FA-B9A2-1579A66C7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採用、修改或淘汰</a:t>
            </a:r>
          </a:p>
        </p:txBody>
      </p:sp>
      <p:sp>
        <p:nvSpPr>
          <p:cNvPr id="27" name="text-1462">
            <a:extLst xmlns:a="http://schemas.openxmlformats.org/drawingml/2006/main">
              <a:ext uri="{FF2B5EF4-FFF2-40B4-BE49-F238E27FC236}">
                <a16:creationId xmlns:a16="http://schemas.microsoft.com/office/drawing/2014/main" id="{B5F52FDD-9E47-4C21-9721-420E843FE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19dad7b58bdc4284"/>
              </a:rPr>
              <a:t>Antigravity ↗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55A7FF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eeea2c83fb18402c"/>
              </a:rPr>
              <a:t>Codex ↗</a:t>
            </a:r>
          </a:p>
        </p:txBody>
      </p:sp>
      <p:sp>
        <p:nvSpPr>
          <p:cNvPr id="28" name="shape-1549">
            <a:extLst xmlns:a="http://schemas.openxmlformats.org/drawingml/2006/main">
              <a:ext uri="{FF2B5EF4-FFF2-40B4-BE49-F238E27FC236}">
                <a16:creationId xmlns:a16="http://schemas.microsoft.com/office/drawing/2014/main" id="{44FCD161-B459-4F53-99C4-3DEA0C4BC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pic>
        <p:nvPicPr>
          <p:cNvPr id="6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ffd4a0eafb04e92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30" name="text-1550">
            <a:extLst xmlns:a="http://schemas.openxmlformats.org/drawingml/2006/main">
              <a:ext uri="{FF2B5EF4-FFF2-40B4-BE49-F238E27FC236}">
                <a16:creationId xmlns:a16="http://schemas.microsoft.com/office/drawing/2014/main" id="{9C912D4C-F8BC-4F1B-9DB3-37B31CA40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  <p:pic>
        <p:nvPicPr>
          <p:cNvPr id="6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b7a293e1ad34a4c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32" name="text-1551">
            <a:extLst xmlns:a="http://schemas.openxmlformats.org/drawingml/2006/main">
              <a:ext uri="{FF2B5EF4-FFF2-40B4-BE49-F238E27FC236}">
                <a16:creationId xmlns:a16="http://schemas.microsoft.com/office/drawing/2014/main" id="{BD3879A4-C75F-43AA-8246-3B3F0B42D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Codex</a:t>
            </a:r>
          </a:p>
        </p:txBody>
      </p:sp>
    </p:spTree>
    <p:extLst>
      <p:ext uri="{BB962C8B-B14F-4D97-AF65-F5344CB8AC3E}">
        <p14:creationId xmlns:p14="http://schemas.microsoft.com/office/powerpoint/2010/main" val="1783559919"/>
      </p:ext>
    </p:extLst>
  </p:cSld>
</p:sld>
</file>

<file path=ppt/slides/slide44.xml><?xml version="1.0" encoding="utf-8"?>
<p:sld xmlns:p="http://schemas.openxmlformats.org/presentationml/2006/main">
  <p:cSld>
    <p:bg>
      <p:bgPr>
        <a:solidFill xmlns:a="http://schemas.openxmlformats.org/drawingml/2006/main">
          <a:srgbClr val="0713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text-1404">
            <a:extLst xmlns:a="http://schemas.openxmlformats.org/drawingml/2006/main">
              <a:ext uri="{FF2B5EF4-FFF2-40B4-BE49-F238E27FC236}">
                <a16:creationId xmlns:a16="http://schemas.microsoft.com/office/drawing/2014/main" id="{DA6C1286-EF87-4C90-B8F5-A132C1D30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55A7FF"/>
                </a:solidFill>
                <a:latin typeface="Noto Sans TC"/>
                <a:ea typeface="Noto Sans TC"/>
                <a:cs typeface="Noto Sans TC"/>
              </a:rPr>
              <a:t>BOOKMARKS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CA2D5444-783D-42AD-86BD-F0C3FA3D5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下午資源書籤</a:t>
            </a:r>
          </a:p>
        </p:txBody>
      </p:sp>
      <p:cxnSp>
        <p:nvCxnSpPr>
          <p:cNvPr id="37" name="shape-1405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A4761"/>
            </a:solidFill>
            <a:prstDash val="solid"/>
          </a:ln>
        </p:spPr>
      </p:cxnSp>
      <p:sp>
        <p:nvSpPr>
          <p:cNvPr id="4" name="text-1406">
            <a:extLst xmlns:a="http://schemas.openxmlformats.org/drawingml/2006/main">
              <a:ext uri="{FF2B5EF4-FFF2-40B4-BE49-F238E27FC236}">
                <a16:creationId xmlns:a16="http://schemas.microsoft.com/office/drawing/2014/main" id="{49D6CA04-9965-4CFE-A162-F8A3735E3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下午場｜打造會做事的 AI 教學與研究夥伴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DB6A2BAF-D577-4CDC-9C61-07A16BFDF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AFC1D2"/>
                </a:solidFill>
                <a:latin typeface="Noto Sans TC"/>
                <a:ea typeface="Noto Sans TC"/>
                <a:cs typeface="Noto Sans TC"/>
              </a:rPr>
              <a:t>44</a:t>
            </a:r>
          </a:p>
        </p:txBody>
      </p:sp>
      <p:sp>
        <p:nvSpPr>
          <p:cNvPr id="6" name="shape-1407">
            <a:extLst xmlns:a="http://schemas.openxmlformats.org/drawingml/2006/main">
              <a:ext uri="{FF2B5EF4-FFF2-40B4-BE49-F238E27FC236}">
                <a16:creationId xmlns:a16="http://schemas.microsoft.com/office/drawing/2014/main" id="{9852DC67-058B-463E-B74A-A97169EDC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581150"/>
            <a:ext cx="53149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7" name="text-1408">
            <a:extLst xmlns:a="http://schemas.openxmlformats.org/drawingml/2006/main">
              <a:ext uri="{FF2B5EF4-FFF2-40B4-BE49-F238E27FC236}">
                <a16:creationId xmlns:a16="http://schemas.microsoft.com/office/drawing/2014/main" id="{25F679AB-2FEB-479B-9685-4DE8034C9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764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研習資源導航（同資料夾）</a:t>
            </a:r>
          </a:p>
        </p:txBody>
      </p:sp>
      <p:sp>
        <p:nvSpPr>
          <p:cNvPr id="8" name="text-1409">
            <a:extLst xmlns:a="http://schemas.openxmlformats.org/drawingml/2006/main">
              <a:ext uri="{FF2B5EF4-FFF2-40B4-BE49-F238E27FC236}">
                <a16:creationId xmlns:a16="http://schemas.microsoft.com/office/drawing/2014/main" id="{125132D7-5C03-4FA0-856F-1CB6E7104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9812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55A7FF"/>
                </a:solidFill>
                <a:latin typeface="Cascadia Mono"/>
                <a:ea typeface="Cascadia Mono"/>
                <a:cs typeface="Cascadia Mono"/>
              </a:defRPr>
            </a:pPr>
            <a:r>
              <a:rPr sz="825" b="0">
                <a:solidFill>
                  <a:srgbClr val="55A7FF"/>
                </a:solidFill>
                <a:latin typeface="Cascadia Mono"/>
                <a:ea typeface="Cascadia Mono"/>
                <a:cs typeface="Cascadia Mono"/>
                <a:hlinkClick xmlns:r="http://schemas.openxmlformats.org/officeDocument/2006/relationships" r:id="Re6fecdfee16347ce"/>
              </a:rPr>
              <a:t>../START_HERE_研習資源導航.html</a:t>
            </a:r>
          </a:p>
        </p:txBody>
      </p:sp>
      <p:pic>
        <p:nvPicPr>
          <p:cNvPr id="4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f6457862dc04c7a"/>
          <a:stretch xmlns:a="http://schemas.openxmlformats.org/drawingml/2006/main"/>
        </p:blipFill>
        <p:spPr>
          <a:xfrm xmlns:a="http://schemas.openxmlformats.org/drawingml/2006/main">
            <a:off x="4953000" y="1609725"/>
            <a:ext cx="685800" cy="685800"/>
          </a:xfrm>
          <a:prstGeom xmlns:a="http://schemas.openxmlformats.org/drawingml/2006/main" prst="roundRect">
            <a:avLst>
              <a:gd name="adj" fmla="val 11111"/>
            </a:avLst>
          </a:prstGeom>
        </p:spPr>
      </p:pic>
      <p:sp>
        <p:nvSpPr>
          <p:cNvPr id="10" name="shape-1410">
            <a:extLst xmlns:a="http://schemas.openxmlformats.org/drawingml/2006/main">
              <a:ext uri="{FF2B5EF4-FFF2-40B4-BE49-F238E27FC236}">
                <a16:creationId xmlns:a16="http://schemas.microsoft.com/office/drawing/2014/main" id="{0003208E-CB9A-4368-A65E-3DB5A561F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57450"/>
            <a:ext cx="53149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1" name="text-1411">
            <a:extLst xmlns:a="http://schemas.openxmlformats.org/drawingml/2006/main">
              <a:ext uri="{FF2B5EF4-FFF2-40B4-BE49-F238E27FC236}">
                <a16:creationId xmlns:a16="http://schemas.microsoft.com/office/drawing/2014/main" id="{DA3AADB0-6341-47E0-B29D-178B36306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5527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開啟 Google Antigravity</a:t>
            </a:r>
          </a:p>
        </p:txBody>
      </p:sp>
      <p:sp>
        <p:nvSpPr>
          <p:cNvPr id="12" name="text-1412">
            <a:extLst xmlns:a="http://schemas.openxmlformats.org/drawingml/2006/main">
              <a:ext uri="{FF2B5EF4-FFF2-40B4-BE49-F238E27FC236}">
                <a16:creationId xmlns:a16="http://schemas.microsoft.com/office/drawing/2014/main" id="{D81FD090-63FC-4BC8-9E77-95101ECAB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8575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55A7FF"/>
                </a:solidFill>
                <a:latin typeface="Cascadia Mono"/>
                <a:ea typeface="Cascadia Mono"/>
                <a:cs typeface="Cascadia Mono"/>
              </a:defRPr>
            </a:pPr>
            <a:r>
              <a:rPr sz="825" b="0">
                <a:solidFill>
                  <a:srgbClr val="55A7FF"/>
                </a:solidFill>
                <a:latin typeface="Cascadia Mono"/>
                <a:ea typeface="Cascadia Mono"/>
                <a:cs typeface="Cascadia Mono"/>
                <a:hlinkClick xmlns:r="http://schemas.openxmlformats.org/officeDocument/2006/relationships" r:id="R115c036b3981492f"/>
              </a:rPr>
              <a:t>https://antigravity.google/</a:t>
            </a:r>
          </a:p>
        </p:txBody>
      </p:sp>
      <p:pic>
        <p:nvPicPr>
          <p:cNvPr id="4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b7f5eb0736a44ad"/>
          <a:stretch xmlns:a="http://schemas.openxmlformats.org/drawingml/2006/main"/>
        </p:blipFill>
        <p:spPr>
          <a:xfrm xmlns:a="http://schemas.openxmlformats.org/drawingml/2006/main">
            <a:off x="4953000" y="2486025"/>
            <a:ext cx="685800" cy="685800"/>
          </a:xfrm>
          <a:prstGeom xmlns:a="http://schemas.openxmlformats.org/drawingml/2006/main" prst="roundRect">
            <a:avLst>
              <a:gd name="adj" fmla="val 11111"/>
            </a:avLst>
          </a:prstGeom>
        </p:spPr>
      </p:pic>
      <p:sp>
        <p:nvSpPr>
          <p:cNvPr id="14" name="shape-1413">
            <a:extLst xmlns:a="http://schemas.openxmlformats.org/drawingml/2006/main">
              <a:ext uri="{FF2B5EF4-FFF2-40B4-BE49-F238E27FC236}">
                <a16:creationId xmlns:a16="http://schemas.microsoft.com/office/drawing/2014/main" id="{1FF7FE2F-4C8A-419B-903F-221687DCC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333750"/>
            <a:ext cx="53149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5" name="text-1414">
            <a:extLst xmlns:a="http://schemas.openxmlformats.org/drawingml/2006/main">
              <a:ext uri="{FF2B5EF4-FFF2-40B4-BE49-F238E27FC236}">
                <a16:creationId xmlns:a16="http://schemas.microsoft.com/office/drawing/2014/main" id="{63F0D433-30AB-4C26-912A-73BF278FC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4290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開啟 Codex</a:t>
            </a:r>
          </a:p>
        </p:txBody>
      </p:sp>
      <p:sp>
        <p:nvSpPr>
          <p:cNvPr id="16" name="text-1415">
            <a:extLst xmlns:a="http://schemas.openxmlformats.org/drawingml/2006/main">
              <a:ext uri="{FF2B5EF4-FFF2-40B4-BE49-F238E27FC236}">
                <a16:creationId xmlns:a16="http://schemas.microsoft.com/office/drawing/2014/main" id="{99842805-8F4A-4600-8193-0B308E523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7338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55A7FF"/>
                </a:solidFill>
                <a:latin typeface="Cascadia Mono"/>
                <a:ea typeface="Cascadia Mono"/>
                <a:cs typeface="Cascadia Mono"/>
              </a:defRPr>
            </a:pPr>
            <a:r>
              <a:rPr sz="825" b="0">
                <a:solidFill>
                  <a:srgbClr val="55A7FF"/>
                </a:solidFill>
                <a:latin typeface="Cascadia Mono"/>
                <a:ea typeface="Cascadia Mono"/>
                <a:cs typeface="Cascadia Mono"/>
                <a:hlinkClick xmlns:r="http://schemas.openxmlformats.org/officeDocument/2006/relationships" r:id="R499ef4411e3e4f4f"/>
              </a:rPr>
              <a:t>https://chatgpt.com/codex/</a:t>
            </a:r>
          </a:p>
        </p:txBody>
      </p:sp>
      <p:pic>
        <p:nvPicPr>
          <p:cNvPr id="5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ce0acae13454419"/>
          <a:stretch xmlns:a="http://schemas.openxmlformats.org/drawingml/2006/main"/>
        </p:blipFill>
        <p:spPr>
          <a:xfrm xmlns:a="http://schemas.openxmlformats.org/drawingml/2006/main">
            <a:off x="4953000" y="3362325"/>
            <a:ext cx="685800" cy="685800"/>
          </a:xfrm>
          <a:prstGeom xmlns:a="http://schemas.openxmlformats.org/drawingml/2006/main" prst="roundRect">
            <a:avLst>
              <a:gd name="adj" fmla="val 11111"/>
            </a:avLst>
          </a:prstGeom>
        </p:spPr>
      </p:pic>
      <p:sp>
        <p:nvSpPr>
          <p:cNvPr id="18" name="shape-1416">
            <a:extLst xmlns:a="http://schemas.openxmlformats.org/drawingml/2006/main">
              <a:ext uri="{FF2B5EF4-FFF2-40B4-BE49-F238E27FC236}">
                <a16:creationId xmlns:a16="http://schemas.microsoft.com/office/drawing/2014/main" id="{DA95660F-EEDB-442D-B464-355CF95CD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10050"/>
            <a:ext cx="53149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19" name="text-1417">
            <a:extLst xmlns:a="http://schemas.openxmlformats.org/drawingml/2006/main">
              <a:ext uri="{FF2B5EF4-FFF2-40B4-BE49-F238E27FC236}">
                <a16:creationId xmlns:a16="http://schemas.microsoft.com/office/drawing/2014/main" id="{12D04487-5BB6-4064-A561-727F38C2D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3053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Agent Skills 官方教學</a:t>
            </a:r>
          </a:p>
        </p:txBody>
      </p:sp>
      <p:sp>
        <p:nvSpPr>
          <p:cNvPr id="20" name="text-1418">
            <a:extLst xmlns:a="http://schemas.openxmlformats.org/drawingml/2006/main">
              <a:ext uri="{FF2B5EF4-FFF2-40B4-BE49-F238E27FC236}">
                <a16:creationId xmlns:a16="http://schemas.microsoft.com/office/drawing/2014/main" id="{B2547AE2-2035-44FD-9A08-F8BC3941C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6101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661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55A7FF"/>
                </a:solidFill>
                <a:latin typeface="Cascadia Mono"/>
                <a:ea typeface="Cascadia Mono"/>
                <a:cs typeface="Cascadia Mono"/>
              </a:defRPr>
            </a:pPr>
            <a:r>
              <a:rPr sz="825" b="0">
                <a:solidFill>
                  <a:srgbClr val="55A7FF"/>
                </a:solidFill>
                <a:latin typeface="Cascadia Mono"/>
                <a:ea typeface="Cascadia Mono"/>
                <a:cs typeface="Cascadia Mono"/>
                <a:hlinkClick xmlns:r="http://schemas.openxmlformats.org/officeDocument/2006/relationships" r:id="Rb0b53fc7c5d74f4d"/>
              </a:rPr>
              <a:t>https://codelabs.developers.google.com/getting-started-with-antigravity-skills</a:t>
            </a:r>
          </a:p>
        </p:txBody>
      </p:sp>
      <p:pic>
        <p:nvPicPr>
          <p:cNvPr id="5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05cfba767fa4106"/>
          <a:stretch xmlns:a="http://schemas.openxmlformats.org/drawingml/2006/main"/>
        </p:blipFill>
        <p:spPr>
          <a:xfrm xmlns:a="http://schemas.openxmlformats.org/drawingml/2006/main">
            <a:off x="4953000" y="4238625"/>
            <a:ext cx="685800" cy="685800"/>
          </a:xfrm>
          <a:prstGeom xmlns:a="http://schemas.openxmlformats.org/drawingml/2006/main" prst="roundRect">
            <a:avLst>
              <a:gd name="adj" fmla="val 11111"/>
            </a:avLst>
          </a:prstGeom>
        </p:spPr>
      </p:pic>
      <p:sp>
        <p:nvSpPr>
          <p:cNvPr id="22" name="shape-1419">
            <a:extLst xmlns:a="http://schemas.openxmlformats.org/drawingml/2006/main">
              <a:ext uri="{FF2B5EF4-FFF2-40B4-BE49-F238E27FC236}">
                <a16:creationId xmlns:a16="http://schemas.microsoft.com/office/drawing/2014/main" id="{F2B5270F-A53E-411C-88F9-FC8181E89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1581150"/>
            <a:ext cx="53149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23" name="text-1420">
            <a:extLst xmlns:a="http://schemas.openxmlformats.org/drawingml/2006/main">
              <a:ext uri="{FF2B5EF4-FFF2-40B4-BE49-F238E27FC236}">
                <a16:creationId xmlns:a16="http://schemas.microsoft.com/office/drawing/2014/main" id="{15FBF907-B9DC-4298-BD4F-AB7DB727A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6764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提示詞快捷面板（同資料夾）</a:t>
            </a:r>
          </a:p>
        </p:txBody>
      </p:sp>
      <p:sp>
        <p:nvSpPr>
          <p:cNvPr id="24" name="text-1421">
            <a:extLst xmlns:a="http://schemas.openxmlformats.org/drawingml/2006/main">
              <a:ext uri="{FF2B5EF4-FFF2-40B4-BE49-F238E27FC236}">
                <a16:creationId xmlns:a16="http://schemas.microsoft.com/office/drawing/2014/main" id="{1117DFB4-63CA-431B-9111-7E8035D56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9812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55A7FF"/>
                </a:solidFill>
                <a:latin typeface="Cascadia Mono"/>
                <a:ea typeface="Cascadia Mono"/>
                <a:cs typeface="Cascadia Mono"/>
              </a:defRPr>
            </a:pPr>
            <a:r>
              <a:rPr sz="825" b="0">
                <a:solidFill>
                  <a:srgbClr val="55A7FF"/>
                </a:solidFill>
                <a:latin typeface="Cascadia Mono"/>
                <a:ea typeface="Cascadia Mono"/>
                <a:cs typeface="Cascadia Mono"/>
                <a:hlinkClick xmlns:r="http://schemas.openxmlformats.org/officeDocument/2006/relationships" r:id="R66791a8ba1ff499b"/>
              </a:rPr>
              <a:t>../04_實作工具/提示詞快捷面板_研習用.html</a:t>
            </a:r>
          </a:p>
        </p:txBody>
      </p:sp>
      <p:pic>
        <p:nvPicPr>
          <p:cNvPr id="5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db6a0f98eb74d12"/>
          <a:stretch xmlns:a="http://schemas.openxmlformats.org/drawingml/2006/main"/>
        </p:blipFill>
        <p:spPr>
          <a:xfrm xmlns:a="http://schemas.openxmlformats.org/drawingml/2006/main">
            <a:off x="10553700" y="1609725"/>
            <a:ext cx="685800" cy="685800"/>
          </a:xfrm>
          <a:prstGeom xmlns:a="http://schemas.openxmlformats.org/drawingml/2006/main" prst="roundRect">
            <a:avLst>
              <a:gd name="adj" fmla="val 11111"/>
            </a:avLst>
          </a:prstGeom>
        </p:spPr>
      </p:pic>
      <p:sp>
        <p:nvSpPr>
          <p:cNvPr id="26" name="shape-1422">
            <a:extLst xmlns:a="http://schemas.openxmlformats.org/drawingml/2006/main">
              <a:ext uri="{FF2B5EF4-FFF2-40B4-BE49-F238E27FC236}">
                <a16:creationId xmlns:a16="http://schemas.microsoft.com/office/drawing/2014/main" id="{3CF2E3CE-D046-4E33-BF9C-953ED741F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457450"/>
            <a:ext cx="53149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27" name="text-1423">
            <a:extLst xmlns:a="http://schemas.openxmlformats.org/drawingml/2006/main">
              <a:ext uri="{FF2B5EF4-FFF2-40B4-BE49-F238E27FC236}">
                <a16:creationId xmlns:a16="http://schemas.microsoft.com/office/drawing/2014/main" id="{DA6607DF-4FDD-40EC-9339-9D8C0BF88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5527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教育科技創新專區</a:t>
            </a:r>
          </a:p>
        </p:txBody>
      </p:sp>
      <p:sp>
        <p:nvSpPr>
          <p:cNvPr id="28" name="text-1424">
            <a:extLst xmlns:a="http://schemas.openxmlformats.org/drawingml/2006/main">
              <a:ext uri="{FF2B5EF4-FFF2-40B4-BE49-F238E27FC236}">
                <a16:creationId xmlns:a16="http://schemas.microsoft.com/office/drawing/2014/main" id="{DD9E24DD-0C84-4ACE-B28A-1F192E262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8575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55A7FF"/>
                </a:solidFill>
                <a:latin typeface="Cascadia Mono"/>
                <a:ea typeface="Cascadia Mono"/>
                <a:cs typeface="Cascadia Mono"/>
              </a:defRPr>
            </a:pPr>
            <a:r>
              <a:rPr sz="825" b="0">
                <a:solidFill>
                  <a:srgbClr val="55A7FF"/>
                </a:solidFill>
                <a:latin typeface="Cascadia Mono"/>
                <a:ea typeface="Cascadia Mono"/>
                <a:cs typeface="Cascadia Mono"/>
                <a:hlinkClick xmlns:r="http://schemas.openxmlformats.org/officeDocument/2006/relationships" r:id="R03e6112ca730468c"/>
              </a:rPr>
              <a:t>https://cagoooo.github.io/Akai/</a:t>
            </a:r>
          </a:p>
        </p:txBody>
      </p:sp>
      <p:pic>
        <p:nvPicPr>
          <p:cNvPr id="6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c38ef762b384aae"/>
          <a:stretch xmlns:a="http://schemas.openxmlformats.org/drawingml/2006/main"/>
        </p:blipFill>
        <p:spPr>
          <a:xfrm xmlns:a="http://schemas.openxmlformats.org/drawingml/2006/main">
            <a:off x="10553700" y="2486025"/>
            <a:ext cx="685800" cy="685800"/>
          </a:xfrm>
          <a:prstGeom xmlns:a="http://schemas.openxmlformats.org/drawingml/2006/main" prst="roundRect">
            <a:avLst>
              <a:gd name="adj" fmla="val 11111"/>
            </a:avLst>
          </a:prstGeom>
        </p:spPr>
      </p:pic>
      <p:sp>
        <p:nvSpPr>
          <p:cNvPr id="30" name="shape-1425">
            <a:extLst xmlns:a="http://schemas.openxmlformats.org/drawingml/2006/main">
              <a:ext uri="{FF2B5EF4-FFF2-40B4-BE49-F238E27FC236}">
                <a16:creationId xmlns:a16="http://schemas.microsoft.com/office/drawing/2014/main" id="{E537CAC0-F3A9-40C5-873C-0FEB084A8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3333750"/>
            <a:ext cx="53149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102438"/>
          </a:solidFill>
          <a:ln xmlns:a="http://schemas.openxmlformats.org/drawingml/2006/main" w="9525">
            <a:solidFill>
              <a:srgbClr val="2A4761"/>
            </a:solidFill>
            <a:prstDash val="solid"/>
          </a:ln>
        </p:spPr>
      </p:sp>
      <p:sp>
        <p:nvSpPr>
          <p:cNvPr id="31" name="text-1426">
            <a:extLst xmlns:a="http://schemas.openxmlformats.org/drawingml/2006/main">
              <a:ext uri="{FF2B5EF4-FFF2-40B4-BE49-F238E27FC236}">
                <a16:creationId xmlns:a16="http://schemas.microsoft.com/office/drawing/2014/main" id="{70BD3EAB-4C08-475D-AABE-3A9D48383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4290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PIRLS 2026 評分規劃</a:t>
            </a:r>
          </a:p>
        </p:txBody>
      </p:sp>
      <p:sp>
        <p:nvSpPr>
          <p:cNvPr id="32" name="text-1427">
            <a:extLst xmlns:a="http://schemas.openxmlformats.org/drawingml/2006/main">
              <a:ext uri="{FF2B5EF4-FFF2-40B4-BE49-F238E27FC236}">
                <a16:creationId xmlns:a16="http://schemas.microsoft.com/office/drawing/2014/main" id="{9E582143-8D6F-41B8-BC35-F2D555AC4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7338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6932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55A7FF"/>
                </a:solidFill>
                <a:latin typeface="Cascadia Mono"/>
                <a:ea typeface="Cascadia Mono"/>
                <a:cs typeface="Cascadia Mono"/>
              </a:defRPr>
            </a:pPr>
            <a:r>
              <a:rPr sz="825" b="0">
                <a:solidFill>
                  <a:srgbClr val="55A7FF"/>
                </a:solidFill>
                <a:latin typeface="Cascadia Mono"/>
                <a:ea typeface="Cascadia Mono"/>
                <a:cs typeface="Cascadia Mono"/>
                <a:hlinkClick xmlns:r="http://schemas.openxmlformats.org/officeDocument/2006/relationships" r:id="Ra9451940d0fa4c5c"/>
              </a:rPr>
              <a:t>https://www.iea.nl/sites/default/files/2025-10/GA66_PIRLS%202026.pdf</a:t>
            </a:r>
          </a:p>
        </p:txBody>
      </p:sp>
      <p:pic>
        <p:nvPicPr>
          <p:cNvPr id="6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7a6dfdd7a624fe8"/>
          <a:stretch xmlns:a="http://schemas.openxmlformats.org/drawingml/2006/main"/>
        </p:blipFill>
        <p:spPr>
          <a:xfrm xmlns:a="http://schemas.openxmlformats.org/drawingml/2006/main">
            <a:off x="10553700" y="3362325"/>
            <a:ext cx="685800" cy="685800"/>
          </a:xfrm>
          <a:prstGeom xmlns:a="http://schemas.openxmlformats.org/drawingml/2006/main" prst="roundRect">
            <a:avLst>
              <a:gd name="adj" fmla="val 11111"/>
            </a:avLst>
          </a:prstGeom>
        </p:spPr>
      </p:pic>
      <p:sp>
        <p:nvSpPr>
          <p:cNvPr id="34" name="text-1428">
            <a:extLst xmlns:a="http://schemas.openxmlformats.org/drawingml/2006/main">
              <a:ext uri="{FF2B5EF4-FFF2-40B4-BE49-F238E27FC236}">
                <a16:creationId xmlns:a16="http://schemas.microsoft.com/office/drawing/2014/main" id="{8834B164-2698-4826-8667-795EB4892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543550"/>
            <a:ext cx="111633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2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defRPr>
            </a:pPr>
            <a:r>
              <a:rPr sz="2250" b="1">
                <a:solidFill>
                  <a:srgbClr val="F7FAFC"/>
                </a:solidFill>
                <a:latin typeface="Noto Sans TC"/>
                <a:ea typeface="Noto Sans TC"/>
                <a:cs typeface="Noto Sans TC"/>
              </a:rPr>
              <a:t>好的教學與研究 Agent 不只會做事；它會在正確邊界內做事，並留下你能檢查的證據。</a:t>
            </a:r>
          </a:p>
        </p:txBody>
      </p:sp>
    </p:spTree>
    <p:extLst>
      <p:ext uri="{BB962C8B-B14F-4D97-AF65-F5344CB8AC3E}">
        <p14:creationId xmlns:p14="http://schemas.microsoft.com/office/powerpoint/2010/main" val="1639863707"/>
      </p:ext>
    </p:extLst>
  </p:cSld>
</p:sld>
</file>

<file path=ppt/theme/theme1.xml><?xml version="1.0" encoding="utf-8"?>
<a:theme xmlns:a="http://schemas.openxmlformats.org/drawingml/2006/main" name="ChatGPT">
  <a:themeElements>
    <a:clrScheme name="NCU Afternoon">
      <a:dk1>
        <a:srgbClr val="000000"/>
      </a:dk1>
      <a:lt1>
        <a:srgbClr val="FFFFFF"/>
      </a:lt1>
      <a:dk2>
        <a:srgbClr val="07131F"/>
      </a:dk2>
      <a:lt2>
        <a:srgbClr val="0C1E30"/>
      </a:lt2>
      <a:accent1>
        <a:srgbClr val="55A7FF"/>
      </a:accent1>
      <a:accent2>
        <a:srgbClr val="FF806D"/>
      </a:accent2>
      <a:accent3>
        <a:srgbClr val="2CD2C7"/>
      </a:accent3>
      <a:accent4>
        <a:srgbClr val="A78BFA"/>
      </a:accent4>
      <a:accent5>
        <a:srgbClr val="F5C451"/>
      </a:accent5>
      <a:accent6>
        <a:srgbClr val="37D48B"/>
      </a:accent6>
      <a:hlink>
        <a:srgbClr val="55A7FF"/>
      </a:hlink>
      <a:folHlink>
        <a:srgbClr val="A78BFA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NCU Afternoon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2026-08-13T00:43:59.7840000Z</dcterms:created>
  <dcterms:modified xsi:type="dcterms:W3CDTF">2026-08-13T00:43:59.7840000Z</dcterms:modified>
</coreProperties>
</file>
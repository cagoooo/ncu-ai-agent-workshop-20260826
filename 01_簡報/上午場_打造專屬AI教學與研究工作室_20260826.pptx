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984496673484060" /><Relationship Type="http://schemas.openxmlformats.org/officeDocument/2006/relationships/extended-properties" Target="/docProps/app.xml" Id="R2dd53f0d24114604" /><Relationship Type="http://schemas.openxmlformats.org/officeDocument/2006/relationships/officeDocument" Target="/ppt/presentation.xml" Id="Rcffbfbee247c425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b4c2abea18243af"/>
  </p:sldMasterIdLst>
  <p:notesMasterIdLst>
    <p:notesMasterId xmlns:r="http://schemas.openxmlformats.org/officeDocument/2006/relationships" r:id="Rd8f47de1569f4910"/>
  </p:notesMasterIdLst>
  <p:sldIdLst>
    <p:sldId xmlns:r="http://schemas.openxmlformats.org/officeDocument/2006/relationships" id="256" r:id="R70a413f0cddb47d7"/>
    <p:sldId xmlns:r="http://schemas.openxmlformats.org/officeDocument/2006/relationships" id="257" r:id="R9f44e72f0ffb4c80"/>
    <p:sldId xmlns:r="http://schemas.openxmlformats.org/officeDocument/2006/relationships" id="258" r:id="Rad958bdd9d7145f7"/>
    <p:sldId xmlns:r="http://schemas.openxmlformats.org/officeDocument/2006/relationships" id="259" r:id="Ra14cfc4679da429c"/>
    <p:sldId xmlns:r="http://schemas.openxmlformats.org/officeDocument/2006/relationships" id="260" r:id="Rb241da4109e64c8b"/>
    <p:sldId xmlns:r="http://schemas.openxmlformats.org/officeDocument/2006/relationships" id="261" r:id="Rf31aca5f5fa14088"/>
    <p:sldId xmlns:r="http://schemas.openxmlformats.org/officeDocument/2006/relationships" id="262" r:id="R9062e1b7d3794fdd"/>
    <p:sldId xmlns:r="http://schemas.openxmlformats.org/officeDocument/2006/relationships" id="263" r:id="Rbb4616ee4fb94240"/>
    <p:sldId xmlns:r="http://schemas.openxmlformats.org/officeDocument/2006/relationships" id="264" r:id="Re8bc567c45cc460b"/>
    <p:sldId xmlns:r="http://schemas.openxmlformats.org/officeDocument/2006/relationships" id="265" r:id="R06974456ebf642a7"/>
    <p:sldId xmlns:r="http://schemas.openxmlformats.org/officeDocument/2006/relationships" id="266" r:id="Rd389074d9d9d4d9b"/>
    <p:sldId xmlns:r="http://schemas.openxmlformats.org/officeDocument/2006/relationships" id="267" r:id="Rfabf8324aaea41cc"/>
    <p:sldId xmlns:r="http://schemas.openxmlformats.org/officeDocument/2006/relationships" id="268" r:id="Rfde468c7af884ec2"/>
    <p:sldId xmlns:r="http://schemas.openxmlformats.org/officeDocument/2006/relationships" id="269" r:id="R5eb22eaf43a14131"/>
    <p:sldId xmlns:r="http://schemas.openxmlformats.org/officeDocument/2006/relationships" id="270" r:id="R0a0da4e31c304ed1"/>
    <p:sldId xmlns:r="http://schemas.openxmlformats.org/officeDocument/2006/relationships" id="271" r:id="R69615f1f40fc4ff3"/>
    <p:sldId xmlns:r="http://schemas.openxmlformats.org/officeDocument/2006/relationships" id="272" r:id="R204e0b75abf2418e"/>
    <p:sldId xmlns:r="http://schemas.openxmlformats.org/officeDocument/2006/relationships" id="273" r:id="Re1df87b262fa4da8"/>
    <p:sldId xmlns:r="http://schemas.openxmlformats.org/officeDocument/2006/relationships" id="274" r:id="R52c8b879d9c544bd"/>
    <p:sldId xmlns:r="http://schemas.openxmlformats.org/officeDocument/2006/relationships" id="275" r:id="R87bf493f3cb54f07"/>
    <p:sldId xmlns:r="http://schemas.openxmlformats.org/officeDocument/2006/relationships" id="276" r:id="R4b209f4a0c9d42c9"/>
    <p:sldId xmlns:r="http://schemas.openxmlformats.org/officeDocument/2006/relationships" id="277" r:id="R392fc652db064e72"/>
    <p:sldId xmlns:r="http://schemas.openxmlformats.org/officeDocument/2006/relationships" id="278" r:id="R880bce8c713e4a91"/>
    <p:sldId xmlns:r="http://schemas.openxmlformats.org/officeDocument/2006/relationships" id="279" r:id="R24d45d17a19c4c74"/>
    <p:sldId xmlns:r="http://schemas.openxmlformats.org/officeDocument/2006/relationships" id="280" r:id="Rb632a2c44fce42cd"/>
    <p:sldId xmlns:r="http://schemas.openxmlformats.org/officeDocument/2006/relationships" id="281" r:id="R61c46d30f6794ef4"/>
    <p:sldId xmlns:r="http://schemas.openxmlformats.org/officeDocument/2006/relationships" id="282" r:id="Ra40b96392e304256"/>
    <p:sldId xmlns:r="http://schemas.openxmlformats.org/officeDocument/2006/relationships" id="283" r:id="R3de9731963d44d66"/>
    <p:sldId xmlns:r="http://schemas.openxmlformats.org/officeDocument/2006/relationships" id="284" r:id="R2945cfc87d9743e9"/>
    <p:sldId xmlns:r="http://schemas.openxmlformats.org/officeDocument/2006/relationships" id="285" r:id="Rc92b9bb0f7144772"/>
    <p:sldId xmlns:r="http://schemas.openxmlformats.org/officeDocument/2006/relationships" id="286" r:id="R322efb62abd44589"/>
    <p:sldId xmlns:r="http://schemas.openxmlformats.org/officeDocument/2006/relationships" id="287" r:id="Rf677a7438b0e40dd"/>
    <p:sldId xmlns:r="http://schemas.openxmlformats.org/officeDocument/2006/relationships" id="288" r:id="R8fdcd3fac22c4a9e"/>
    <p:sldId xmlns:r="http://schemas.openxmlformats.org/officeDocument/2006/relationships" id="289" r:id="R669782e87be34134"/>
    <p:sldId xmlns:r="http://schemas.openxmlformats.org/officeDocument/2006/relationships" id="290" r:id="R6d599f2a87c745d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ffb2111ae014abb" /><Relationship Type="http://schemas.openxmlformats.org/officeDocument/2006/relationships/slideMaster" Target="/ppt/slideMasters/slideMaster1.xml" Id="R2b4c2abea18243af" /><Relationship Type="http://schemas.openxmlformats.org/officeDocument/2006/relationships/notesMaster" Target="/ppt/notesMasters/notesMaster1.xml" Id="Rd8f47de1569f4910" /><Relationship Type="http://schemas.openxmlformats.org/officeDocument/2006/relationships/presProps" Target="/ppt/presProps.xml" Id="R986cf8d884a64bca" /><Relationship Type="http://schemas.openxmlformats.org/officeDocument/2006/relationships/tableStyles" Target="/ppt/tableStyles.xml" Id="R67dc57955eb841e3" /><Relationship Type="http://schemas.openxmlformats.org/officeDocument/2006/relationships/slide" Target="/ppt/slides/slide1.xml" Id="R70a413f0cddb47d7" /><Relationship Type="http://schemas.openxmlformats.org/officeDocument/2006/relationships/slide" Target="/ppt/slides/slide2.xml" Id="R9f44e72f0ffb4c80" /><Relationship Type="http://schemas.openxmlformats.org/officeDocument/2006/relationships/slide" Target="/ppt/slides/slide3.xml" Id="Rad958bdd9d7145f7" /><Relationship Type="http://schemas.openxmlformats.org/officeDocument/2006/relationships/slide" Target="/ppt/slides/slide4.xml" Id="Ra14cfc4679da429c" /><Relationship Type="http://schemas.openxmlformats.org/officeDocument/2006/relationships/slide" Target="/ppt/slides/slide5.xml" Id="Rb241da4109e64c8b" /><Relationship Type="http://schemas.openxmlformats.org/officeDocument/2006/relationships/slide" Target="/ppt/slides/slide6.xml" Id="Rf31aca5f5fa14088" /><Relationship Type="http://schemas.openxmlformats.org/officeDocument/2006/relationships/slide" Target="/ppt/slides/slide7.xml" Id="R9062e1b7d3794fdd" /><Relationship Type="http://schemas.openxmlformats.org/officeDocument/2006/relationships/slide" Target="/ppt/slides/slide8.xml" Id="Rbb4616ee4fb94240" /><Relationship Type="http://schemas.openxmlformats.org/officeDocument/2006/relationships/slide" Target="/ppt/slides/slide9.xml" Id="Re8bc567c45cc460b" /><Relationship Type="http://schemas.openxmlformats.org/officeDocument/2006/relationships/slide" Target="/ppt/slides/slide10.xml" Id="R06974456ebf642a7" /><Relationship Type="http://schemas.openxmlformats.org/officeDocument/2006/relationships/slide" Target="/ppt/slides/slide11.xml" Id="Rd389074d9d9d4d9b" /><Relationship Type="http://schemas.openxmlformats.org/officeDocument/2006/relationships/slide" Target="/ppt/slides/slide12.xml" Id="Rfabf8324aaea41cc" /><Relationship Type="http://schemas.openxmlformats.org/officeDocument/2006/relationships/slide" Target="/ppt/slides/slide13.xml" Id="Rfde468c7af884ec2" /><Relationship Type="http://schemas.openxmlformats.org/officeDocument/2006/relationships/slide" Target="/ppt/slides/slide14.xml" Id="R5eb22eaf43a14131" /><Relationship Type="http://schemas.openxmlformats.org/officeDocument/2006/relationships/slide" Target="/ppt/slides/slide15.xml" Id="R0a0da4e31c304ed1" /><Relationship Type="http://schemas.openxmlformats.org/officeDocument/2006/relationships/slide" Target="/ppt/slides/slide16.xml" Id="R69615f1f40fc4ff3" /><Relationship Type="http://schemas.openxmlformats.org/officeDocument/2006/relationships/slide" Target="/ppt/slides/slide17.xml" Id="R204e0b75abf2418e" /><Relationship Type="http://schemas.openxmlformats.org/officeDocument/2006/relationships/slide" Target="/ppt/slides/slide18.xml" Id="Re1df87b262fa4da8" /><Relationship Type="http://schemas.openxmlformats.org/officeDocument/2006/relationships/slide" Target="/ppt/slides/slide19.xml" Id="R52c8b879d9c544bd" /><Relationship Type="http://schemas.openxmlformats.org/officeDocument/2006/relationships/slide" Target="/ppt/slides/slide20.xml" Id="R87bf493f3cb54f07" /><Relationship Type="http://schemas.openxmlformats.org/officeDocument/2006/relationships/slide" Target="/ppt/slides/slide21.xml" Id="R4b209f4a0c9d42c9" /><Relationship Type="http://schemas.openxmlformats.org/officeDocument/2006/relationships/slide" Target="/ppt/slides/slide22.xml" Id="R392fc652db064e72" /><Relationship Type="http://schemas.openxmlformats.org/officeDocument/2006/relationships/slide" Target="/ppt/slides/slide23.xml" Id="R880bce8c713e4a91" /><Relationship Type="http://schemas.openxmlformats.org/officeDocument/2006/relationships/slide" Target="/ppt/slides/slide24.xml" Id="R24d45d17a19c4c74" /><Relationship Type="http://schemas.openxmlformats.org/officeDocument/2006/relationships/slide" Target="/ppt/slides/slide25.xml" Id="Rb632a2c44fce42cd" /><Relationship Type="http://schemas.openxmlformats.org/officeDocument/2006/relationships/slide" Target="/ppt/slides/slide26.xml" Id="R61c46d30f6794ef4" /><Relationship Type="http://schemas.openxmlformats.org/officeDocument/2006/relationships/slide" Target="/ppt/slides/slide27.xml" Id="Ra40b96392e304256" /><Relationship Type="http://schemas.openxmlformats.org/officeDocument/2006/relationships/slide" Target="/ppt/slides/slide28.xml" Id="R3de9731963d44d66" /><Relationship Type="http://schemas.openxmlformats.org/officeDocument/2006/relationships/slide" Target="/ppt/slides/slide29.xml" Id="R2945cfc87d9743e9" /><Relationship Type="http://schemas.openxmlformats.org/officeDocument/2006/relationships/slide" Target="/ppt/slides/slide30.xml" Id="Rc92b9bb0f7144772" /><Relationship Type="http://schemas.openxmlformats.org/officeDocument/2006/relationships/slide" Target="/ppt/slides/slide31.xml" Id="R322efb62abd44589" /><Relationship Type="http://schemas.openxmlformats.org/officeDocument/2006/relationships/slide" Target="/ppt/slides/slide32.xml" Id="Rf677a7438b0e40dd" /><Relationship Type="http://schemas.openxmlformats.org/officeDocument/2006/relationships/slide" Target="/ppt/slides/slide33.xml" Id="R8fdcd3fac22c4a9e" /><Relationship Type="http://schemas.openxmlformats.org/officeDocument/2006/relationships/slide" Target="/ppt/slides/slide34.xml" Id="R669782e87be34134" /><Relationship Type="http://schemas.openxmlformats.org/officeDocument/2006/relationships/slide" Target="/ppt/slides/slide35.xml" Id="R6d599f2a87c745d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1105d28a3eb48d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d9c46b8122641d9" /><Relationship Type="http://schemas.openxmlformats.org/officeDocument/2006/relationships/notesMaster" Target="/ppt/notesMasters/notesMaster1.xml" Id="R97a62ee6866a401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ba8d0ef97954569" /><Relationship Type="http://schemas.openxmlformats.org/officeDocument/2006/relationships/notesMaster" Target="/ppt/notesMasters/notesMaster1.xml" Id="Rc55ec1202e0f4ef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9c853dd76d84019" /><Relationship Type="http://schemas.openxmlformats.org/officeDocument/2006/relationships/notesMaster" Target="/ppt/notesMasters/notesMaster1.xml" Id="R8b2997bfbfb242a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85b7ff834424419" /><Relationship Type="http://schemas.openxmlformats.org/officeDocument/2006/relationships/notesMaster" Target="/ppt/notesMasters/notesMaster1.xml" Id="R2f124f4f9f5641a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348a63768504ca2" /><Relationship Type="http://schemas.openxmlformats.org/officeDocument/2006/relationships/notesMaster" Target="/ppt/notesMasters/notesMaster1.xml" Id="R19e0431399f7484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f3525bffbdf4347" /><Relationship Type="http://schemas.openxmlformats.org/officeDocument/2006/relationships/notesMaster" Target="/ppt/notesMasters/notesMaster1.xml" Id="R1f012702ae58421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4f8767cb4d04de1" /><Relationship Type="http://schemas.openxmlformats.org/officeDocument/2006/relationships/notesMaster" Target="/ppt/notesMasters/notesMaster1.xml" Id="Rf6b358483c3640c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8acafae06f3472f" /><Relationship Type="http://schemas.openxmlformats.org/officeDocument/2006/relationships/notesMaster" Target="/ppt/notesMasters/notesMaster1.xml" Id="R7979c6f89d254d0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f9620e39c34480b" /><Relationship Type="http://schemas.openxmlformats.org/officeDocument/2006/relationships/notesMaster" Target="/ppt/notesMasters/notesMaster1.xml" Id="Rfc3da175728e4fa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3fd57ea63684b33" /><Relationship Type="http://schemas.openxmlformats.org/officeDocument/2006/relationships/notesMaster" Target="/ppt/notesMasters/notesMaster1.xml" Id="R1590ed93dd1a404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959d87082854bc0" /><Relationship Type="http://schemas.openxmlformats.org/officeDocument/2006/relationships/notesMaster" Target="/ppt/notesMasters/notesMaster1.xml" Id="R68ea7510f56a4e1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3b6e19558fe4bcd" /><Relationship Type="http://schemas.openxmlformats.org/officeDocument/2006/relationships/notesMaster" Target="/ppt/notesMasters/notesMaster1.xml" Id="R9490dca602c744a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6c4f8bd61974734" /><Relationship Type="http://schemas.openxmlformats.org/officeDocument/2006/relationships/notesMaster" Target="/ppt/notesMasters/notesMaster1.xml" Id="R0fd6b3eb9957402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3bc808a476147c2" /><Relationship Type="http://schemas.openxmlformats.org/officeDocument/2006/relationships/notesMaster" Target="/ppt/notesMasters/notesMaster1.xml" Id="R2cc1696c3f3040a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db3499bb3ed43f2" /><Relationship Type="http://schemas.openxmlformats.org/officeDocument/2006/relationships/notesMaster" Target="/ppt/notesMasters/notesMaster1.xml" Id="Rf046face848044d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590e6d9f031452c" /><Relationship Type="http://schemas.openxmlformats.org/officeDocument/2006/relationships/notesMaster" Target="/ppt/notesMasters/notesMaster1.xml" Id="R9e5b25ac6547409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69879158f9246a4" /><Relationship Type="http://schemas.openxmlformats.org/officeDocument/2006/relationships/notesMaster" Target="/ppt/notesMasters/notesMaster1.xml" Id="Rf9972e32d603410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6b1d6d652e84fc7" /><Relationship Type="http://schemas.openxmlformats.org/officeDocument/2006/relationships/notesMaster" Target="/ppt/notesMasters/notesMaster1.xml" Id="Ra1c002acc9774d9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50ee3e11d274f3f" /><Relationship Type="http://schemas.openxmlformats.org/officeDocument/2006/relationships/notesMaster" Target="/ppt/notesMasters/notesMaster1.xml" Id="R277f33373701406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111dfbb230e40c6" /><Relationship Type="http://schemas.openxmlformats.org/officeDocument/2006/relationships/notesMaster" Target="/ppt/notesMasters/notesMaster1.xml" Id="Rad04df8079814b9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41440dd463d45eb" /><Relationship Type="http://schemas.openxmlformats.org/officeDocument/2006/relationships/notesMaster" Target="/ppt/notesMasters/notesMaster1.xml" Id="R2700905f1ccd4d0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03b0caaa9af4109" /><Relationship Type="http://schemas.openxmlformats.org/officeDocument/2006/relationships/notesMaster" Target="/ppt/notesMasters/notesMaster1.xml" Id="Rec054a1f73e64b5d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58b4efeea1940e1" /><Relationship Type="http://schemas.openxmlformats.org/officeDocument/2006/relationships/notesMaster" Target="/ppt/notesMasters/notesMaster1.xml" Id="R6ba5bbde62a94a4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9e094cb4de04bb7" /><Relationship Type="http://schemas.openxmlformats.org/officeDocument/2006/relationships/notesMaster" Target="/ppt/notesMasters/notesMaster1.xml" Id="R7e7b51b2f9f74906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bea2c1a0004d4d5d" /><Relationship Type="http://schemas.openxmlformats.org/officeDocument/2006/relationships/notesMaster" Target="/ppt/notesMasters/notesMaster1.xml" Id="Ra01ee5ed83bb44c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5d887b2b80e94315" /><Relationship Type="http://schemas.openxmlformats.org/officeDocument/2006/relationships/notesMaster" Target="/ppt/notesMasters/notesMaster1.xml" Id="R4f005cc2ceca442b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2c54cdf8cdf4b9b" /><Relationship Type="http://schemas.openxmlformats.org/officeDocument/2006/relationships/notesMaster" Target="/ppt/notesMasters/notesMaster1.xml" Id="Rba2cddaa83ab4e32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6d3579856fb348ad" /><Relationship Type="http://schemas.openxmlformats.org/officeDocument/2006/relationships/notesMaster" Target="/ppt/notesMasters/notesMaster1.xml" Id="Rde0f349af32a4f43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5c628babf2644c2e" /><Relationship Type="http://schemas.openxmlformats.org/officeDocument/2006/relationships/notesMaster" Target="/ppt/notesMasters/notesMaster1.xml" Id="R6ef1f14d68404d54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d7b4693b30924a85" /><Relationship Type="http://schemas.openxmlformats.org/officeDocument/2006/relationships/notesMaster" Target="/ppt/notesMasters/notesMaster1.xml" Id="R5cf25d3d989646f7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bb3748cd92474e11" /><Relationship Type="http://schemas.openxmlformats.org/officeDocument/2006/relationships/notesMaster" Target="/ppt/notesMasters/notesMaster1.xml" Id="Re64bd8d2ebd549ee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6b6e4c108d4b4b0d" /><Relationship Type="http://schemas.openxmlformats.org/officeDocument/2006/relationships/notesMaster" Target="/ppt/notesMasters/notesMaster1.xml" Id="R27c6ce4c865c4a5f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ab21a361a92e428c" /><Relationship Type="http://schemas.openxmlformats.org/officeDocument/2006/relationships/notesMaster" Target="/ppt/notesMasters/notesMaster1.xml" Id="Ra8275c7e475c450c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c6dc3ab6a73c451e" /><Relationship Type="http://schemas.openxmlformats.org/officeDocument/2006/relationships/notesMaster" Target="/ppt/notesMasters/notesMaster1.xml" Id="R4afba9bb03b54b4e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4d8ba9a95f944482" /><Relationship Type="http://schemas.openxmlformats.org/officeDocument/2006/relationships/notesMaster" Target="/ppt/notesMasters/notesMaster1.xml" Id="Ra261b361852f4d8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開場先說明：今天的重點不是把所有按鈕看過一遍，而是每位參與者都完成可帶回課堂的成果。邀請大家先選定一門課程或一個教學問題。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提醒：本簡報已全面採用現行名稱「Gemini Notebook」。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用一張圖建立全日心智模型。上午先完成 AI 教學與研究工作室，下午再把同一作品或資料分析任務交給 Agent 擴充、驗證與交付。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簡要說明時間節奏。實作時採 6 位教授三組雙人共作；若某帳號沒有 Gemini 權限，擔任測試者與教學觀察員仍可完整參與。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請參與者把這四項成果當作今日 checklist。每一段結束會回來勾選一次。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六位教授建議分三組。不要讓帳號差異變成旁觀：測試者的工作是檢查引用、指令邊界、手機畫面與實際教學價值。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請每組選一題，寫成一句：『我希望哪一群學生，在什麼情境下，完成什麼改變？』後續所有工具都服務這一句。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現場不要逐一介紹 123 個工具。請依參與者選定的教學問題，搜尋 1–2 個最接近的案例，分析它的使用者、輸入、輸出與互動方式。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三個案例分別對應語文創作、教學設計與互動網站。現場可由三組各選一張，先讀卡片介紹，再用測試者視角操作成品。本次資料依據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https://cagoooo.github.io/Akai/tool/91/</a:t>
            </a:r>
          </a:p>
          <a:p xmlns:a="http://schemas.openxmlformats.org/drawingml/2006/main">
            <a:r>
              <a:t>- https://cagoooo.github.io/PhotoPoet/</a:t>
            </a:r>
          </a:p>
          <a:p xmlns:a="http://schemas.openxmlformats.org/drawingml/2006/main">
            <a:r>
              <a:t>- https://cagoooo.github.io/Akai/tool/58/</a:t>
            </a:r>
          </a:p>
          <a:p xmlns:a="http://schemas.openxmlformats.org/drawingml/2006/main">
            <a:r>
              <a:t>- https://cagoooo.github.io/prepare/</a:t>
            </a:r>
          </a:p>
          <a:p xmlns:a="http://schemas.openxmlformats.org/drawingml/2006/main">
            <a:r>
              <a:t>- https://cagoooo.github.io/Akai/tool/11/</a:t>
            </a:r>
          </a:p>
          <a:p xmlns:a="http://schemas.openxmlformats.org/drawingml/2006/main">
            <a:r>
              <a:t>- https://cagoooo.github.io/Akailao/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三個案例分別用於形成性回饋、Google Sites 與 GitHub Pages 部署比較。提醒參與者同時觀察內容架構、權限、維護方式與手機操作。本次資料依據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https://cagoooo.github.io/Akai/tool/3/</a:t>
            </a:r>
          </a:p>
          <a:p xmlns:a="http://schemas.openxmlformats.org/drawingml/2006/main">
            <a:r>
              <a:t>- https://cagoooo.github.io/vote/</a:t>
            </a:r>
          </a:p>
          <a:p xmlns:a="http://schemas.openxmlformats.org/drawingml/2006/main">
            <a:r>
              <a:t>- https://cagoooo.github.io/Akai/tool/24/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- https://cagoooo.github.io/Akai/tool/81/</a:t>
            </a:r>
          </a:p>
          <a:p xmlns:a="http://schemas.openxmlformats.org/drawingml/2006/main">
            <a:r>
              <a:t>- https://cagoooo.github.io/it-cockpit/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強調工具選擇不是競賽。Notebook 負責來源，Gem 負責穩定行為，Canvas 負責可操作介面，部署平台負責觸及使用者。這條產線同時適用於教學設計與研究整理。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章節轉場。請參與者準備三份與自己課程最相關的資料。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示範同一個問題在一般聊天與來源型筆記本的差異。重點不是『一定正確』，而是『更容易追查與修正』。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要求每組先用少量高品質來源建立第一版。來源太多會讓提問與檢核難度提高，熟悉後再擴增。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示範時刻意問一個來源中沒有答案的問題，讓大家看見系統的邊界。再改寫問題，使它更具體。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https://support.google.com/gemininotebook/answer/16206563?hl=zh-Hant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逐組巡視，優先協助來源格式與權限。提醒參與者不要上傳含學生個資、未授權教材或敏感研究資料。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現場請每組依序跑三層提問，感受『問題層級』如何改變輸出。若回答無法回到來源，先修問題，不急著追求華麗文字。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請參與者只選一個成品完成，不要同時生成全部。完成後用『內容依據、學生可用、教師可改』三項快速評估。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讓每組口頭報告一個『回答得好』與一個『來源不足』的例子。這一步建立查證習慣。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轉場：Notebook 管來源，Gem 管行為。兩者可以搭配，但不要混為同一功能。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用同一份學生作業或教案，分別在一般對話與 Gem 中測試。比較輸出的穩定度與是否遵守格式。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請大家先寫四格，再貼進 Gem。Google 官方建議的四個思考面向是角色、任務、背景資訊與格式。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可以直接用此範例建立 Gem，再把『課程與研究設計教練』換成自己的專業角色。提醒右側預覽不等於已儲存，完成後要按儲存。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巡視時不要只看正常結果。請測：未提供學生程度、要求捏造引用、要求直接替學生完成作業。觀察 Gem 是否遵守邊界。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如果四項只符合一項，先保留成提示詞，不急著做 Gem。可重複與可維護，才是專屬助理的價值。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轉場：現在把前面整理好的內容與教學方法，變成學生能操作的作品。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https://support.google.com/gemini/answer/16047321?hl=en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請參與者把 Notebook 產出的教學內容放入公式，但不要一次塞入所有需求。先完成最小可用版本，再迭代。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Canvas 可建立或編輯文件、應用、簡報與程式；程式作品可檢查程式碼、主控台與近期變更。示範時故意製造一個小問題，再用主控台追查。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https://support.google.com/gemini/answer/16047321?hl=en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建議題型：概念分類器、案例決策樹、課程閱讀導覽、形成性自評。避免一開始就做登入、資料庫或複雜多人功能。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安排同儕交換裝置測試。任何含真實學生或研究資料的作品，今天只做本機或私人分享版本。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讓參與者依維護者與作品型態選擇。若今天只是分享 Canvas 連結，也算完成；EZPage 是降低第一次部署門檻的第三方入口，不是 GitHub 官方工具。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https://support.google.com/sites/answer/6372878?hl=zh-Hant</a:t>
            </a:r>
          </a:p>
          <a:p xmlns:a="http://schemas.openxmlformats.org/drawingml/2006/main">
            <a:r>
              <a:t>- https://docs.github.com/en/pages/quickstart</a:t>
            </a:r>
          </a:p>
          <a:p xmlns:a="http://schemas.openxmlformats.org/drawingml/2006/main">
            <a:r>
              <a:t>- https://gg90052.github.io/ezpage/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官方流程是建立、加入內容、預覽並發布。現場請優先完成一頁式課程入口：目標、使用說明、作品連結、回饋入口。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https://support.google.com/sites/answer/6372878?hl=zh-Hant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示範最簡單的 Deploy from a branch。提醒發布可能需要數分鐘；完成不是看到綠勾，而是實際打開公開網址走完主要流程。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https://docs.github.com/en/pages/quickstart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EZPage 是第三方圖形化入口，不是 GitHub 官方工具。先確認 ZIP 根目錄有 index.html；不要上傳學生個資、研究原始資料或未授權素材。登入授權前檢查權限範圍與儲存庫可見性；部署後仍要打開公開網址驗證。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https://gg90052.github.io/ezpage/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 90 秒，其他人只回饋兩句：『最有教學價值的是……』『下一版我建議……』。把技術評論留到午後 Agent 升級。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請參與者先把資源頁加入書籤，再用手機拍下最後一句。若現場時間不足，部署與 Skill 擴寫可依此清單回家續作。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START_HERE_研習資源導航.html</a:t>
            </a:r>
          </a:p>
          <a:p xmlns:a="http://schemas.openxmlformats.org/drawingml/2006/main">
            <a:r>
              <a:t>- https://notebook.google.com/</a:t>
            </a:r>
          </a:p>
          <a:p xmlns:a="http://schemas.openxmlformats.org/drawingml/2006/main">
            <a:r>
              <a:t>- https://gemini.google.com/gems/create</a:t>
            </a:r>
          </a:p>
          <a:p xmlns:a="http://schemas.openxmlformats.org/drawingml/2006/main">
            <a:r>
              <a:t>- https://gemini.google.com/app</a:t>
            </a:r>
          </a:p>
          <a:p xmlns:a="http://schemas.openxmlformats.org/drawingml/2006/main">
            <a:r>
              <a:t>- https://sites.google.com/new</a:t>
            </a:r>
          </a:p>
          <a:p xmlns:a="http://schemas.openxmlformats.org/drawingml/2006/main">
            <a:r>
              <a:t>- https://pages.github.com/</a:t>
            </a:r>
          </a:p>
          <a:p xmlns:a="http://schemas.openxmlformats.org/drawingml/2006/main">
            <a:r>
              <a:t>- https://gg90052.github.io/ezpage/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79469c70374a3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55984cee30d47ad" /><Relationship Type="http://schemas.openxmlformats.org/officeDocument/2006/relationships/slideLayout" Target="/ppt/slideLayouts/slideLayout1.xml" Id="Refd70c5d58ba457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fd70c5d58ba457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04cd9a60594fb6" /><Relationship Type="http://schemas.openxmlformats.org/officeDocument/2006/relationships/image" Target="/ppt/media/image.png" Id="R552b6f9a8c5b48de" /><Relationship Type="http://schemas.openxmlformats.org/officeDocument/2006/relationships/notesSlide" Target="/ppt/notesSlides/notesSlide1.xml" Id="Rb8ea01f68fb949c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e38296e70d44a5" /><Relationship Type="http://schemas.openxmlformats.org/officeDocument/2006/relationships/notesSlide" Target="/ppt/notesSlides/notesSlide2.xml" Id="R5b62cf664dba4dc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66a42649f84c72" /><Relationship Type="http://schemas.openxmlformats.org/officeDocument/2006/relationships/notesSlide" Target="/ppt/notesSlides/notesSlide3.xml" Id="R58a8073287044dd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a0aec74cc34fbe" /><Relationship Type="http://schemas.openxmlformats.org/officeDocument/2006/relationships/notesSlide" Target="/ppt/notesSlides/notesSlide4.xml" Id="Ra69fbba7d9134fa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3dd5582cf64a4b" /><Relationship Type="http://schemas.openxmlformats.org/officeDocument/2006/relationships/notesSlide" Target="/ppt/notesSlides/notesSlide5.xml" Id="R3a67e2fc3f7b41d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4143434b4f4795" /><Relationship Type="http://schemas.openxmlformats.org/officeDocument/2006/relationships/notesSlide" Target="/ppt/notesSlides/notesSlide6.xml" Id="R9887d1add60e450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aefe2752134fb9" /><Relationship Type="http://schemas.openxmlformats.org/officeDocument/2006/relationships/image" Target="/ppt/media/image2.png" Id="R9f7c2c6a75eb4cfa" /><Relationship Type="http://schemas.openxmlformats.org/officeDocument/2006/relationships/hyperlink" Target="https://cagoooo.github.io/Akai/" TargetMode="External" Id="Rfb3050cd2bb24e96" /><Relationship Type="http://schemas.openxmlformats.org/officeDocument/2006/relationships/notesSlide" Target="/ppt/notesSlides/notesSlide7.xml" Id="Rddf6d33b0e61436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6397feb35b417b" /><Relationship Type="http://schemas.openxmlformats.org/officeDocument/2006/relationships/hyperlink" Target="https://cagoooo.github.io/Akai/tool/91/" TargetMode="External" Id="R4cda605f64174bd1" /><Relationship Type="http://schemas.openxmlformats.org/officeDocument/2006/relationships/hyperlink" Target="https://cagoooo.github.io/PhotoPoet/" TargetMode="External" Id="R75c9249976114ebc" /><Relationship Type="http://schemas.openxmlformats.org/officeDocument/2006/relationships/hyperlink" Target="https://cagoooo.github.io/Akai/tool/58/" TargetMode="External" Id="Re10c6f61478e43e5" /><Relationship Type="http://schemas.openxmlformats.org/officeDocument/2006/relationships/hyperlink" Target="https://cagoooo.github.io/prepare/" TargetMode="External" Id="R1e951f64adbd4a39" /><Relationship Type="http://schemas.openxmlformats.org/officeDocument/2006/relationships/hyperlink" Target="https://cagoooo.github.io/Akai/tool/11/" TargetMode="External" Id="R3bc4e435cb034489" /><Relationship Type="http://schemas.openxmlformats.org/officeDocument/2006/relationships/hyperlink" Target="https://cagoooo.github.io/Akailao/" TargetMode="External" Id="R224e12188c154a4d" /><Relationship Type="http://schemas.openxmlformats.org/officeDocument/2006/relationships/notesSlide" Target="/ppt/notesSlides/notesSlide8.xml" Id="R838150d7a00b45e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feef0b437b43a5" /><Relationship Type="http://schemas.openxmlformats.org/officeDocument/2006/relationships/hyperlink" Target="https://cagoooo.github.io/Akai/tool/3/" TargetMode="External" Id="R281c93f408c04125" /><Relationship Type="http://schemas.openxmlformats.org/officeDocument/2006/relationships/hyperlink" Target="https://cagoooo.github.io/vote/" TargetMode="External" Id="R57ee97d9bf514680" /><Relationship Type="http://schemas.openxmlformats.org/officeDocument/2006/relationships/hyperlink" Target="https://cagoooo.github.io/Akai/tool/24/" TargetMode="External" Id="R86edd6a1d71e40f1" /><Relationship Type="http://schemas.openxmlformats.org/officeDocument/2006/relationships/hyperlink" Target="https://sites.google.com/mail2.smes.tyc.edu.tw/114teacher/" TargetMode="External" Id="Rc9e7a8162c004308" /><Relationship Type="http://schemas.openxmlformats.org/officeDocument/2006/relationships/hyperlink" Target="https://cagoooo.github.io/Akai/tool/81/" TargetMode="External" Id="Rafaa18b896d04407" /><Relationship Type="http://schemas.openxmlformats.org/officeDocument/2006/relationships/hyperlink" Target="https://cagoooo.github.io/it-cockpit/" TargetMode="External" Id="Rf454c55684c941de" /><Relationship Type="http://schemas.openxmlformats.org/officeDocument/2006/relationships/notesSlide" Target="/ppt/notesSlides/notesSlide9.xml" Id="R1e647ca88f61424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3ed8ce0bb249d0" /><Relationship Type="http://schemas.openxmlformats.org/officeDocument/2006/relationships/notesSlide" Target="/ppt/notesSlides/notesSlide10.xml" Id="Rf0b383ade1064ac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9b5ac085a84e24" /><Relationship Type="http://schemas.openxmlformats.org/officeDocument/2006/relationships/hyperlink" Target="https://notebook.google.com/" TargetMode="External" Id="R9e6149a198d44e72" /><Relationship Type="http://schemas.openxmlformats.org/officeDocument/2006/relationships/notesSlide" Target="/ppt/notesSlides/notesSlide11.xml" Id="R0f018e9ef29840c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b4e3c791bd4920" /><Relationship Type="http://schemas.openxmlformats.org/officeDocument/2006/relationships/hyperlink" Target="https://notebook.google.com/" TargetMode="External" Id="Rc0fd24b173244f81" /><Relationship Type="http://schemas.openxmlformats.org/officeDocument/2006/relationships/notesSlide" Target="/ppt/notesSlides/notesSlide12.xml" Id="Re60c34c8685f47e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3a7e0109034616" /><Relationship Type="http://schemas.openxmlformats.org/officeDocument/2006/relationships/hyperlink" Target="https://notebook.google.com/" TargetMode="External" Id="Rc2bef466696944d2" /><Relationship Type="http://schemas.openxmlformats.org/officeDocument/2006/relationships/notesSlide" Target="/ppt/notesSlides/notesSlide13.xml" Id="R89cd59102f0c4fd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fd9df508ad4c12" /><Relationship Type="http://schemas.openxmlformats.org/officeDocument/2006/relationships/hyperlink" Target="https://notebook.google.com/" TargetMode="External" Id="Racb4dd7735d04ac8" /><Relationship Type="http://schemas.openxmlformats.org/officeDocument/2006/relationships/notesSlide" Target="/ppt/notesSlides/notesSlide14.xml" Id="R576cced46c57483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a906a9d5c94733" /><Relationship Type="http://schemas.openxmlformats.org/officeDocument/2006/relationships/hyperlink" Target="https://notebook.google.com/" TargetMode="External" Id="R178e1e07075b44ea" /><Relationship Type="http://schemas.openxmlformats.org/officeDocument/2006/relationships/notesSlide" Target="/ppt/notesSlides/notesSlide15.xml" Id="R3e7c399c2e3e498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b59ef7478b45f9" /><Relationship Type="http://schemas.openxmlformats.org/officeDocument/2006/relationships/hyperlink" Target="https://notebook.google.com/" TargetMode="External" Id="Rbd332b61bd5c40e0" /><Relationship Type="http://schemas.openxmlformats.org/officeDocument/2006/relationships/notesSlide" Target="/ppt/notesSlides/notesSlide16.xml" Id="R59088c9f76d04e0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6e5685786345b5" /><Relationship Type="http://schemas.openxmlformats.org/officeDocument/2006/relationships/hyperlink" Target="https://notebook.google.com/" TargetMode="External" Id="R4fab443cc95c46c4" /><Relationship Type="http://schemas.openxmlformats.org/officeDocument/2006/relationships/notesSlide" Target="/ppt/notesSlides/notesSlide17.xml" Id="R481d82003ddd48a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c5f381b10c477b" /><Relationship Type="http://schemas.openxmlformats.org/officeDocument/2006/relationships/hyperlink" Target="https://notebook.google.com/" TargetMode="External" Id="R338b0f8cb54142be" /><Relationship Type="http://schemas.openxmlformats.org/officeDocument/2006/relationships/notesSlide" Target="/ppt/notesSlides/notesSlide18.xml" Id="Rf770fff5d1084e4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71692140054029" /><Relationship Type="http://schemas.openxmlformats.org/officeDocument/2006/relationships/hyperlink" Target="https://gemini.google.com/gems/create" TargetMode="External" Id="Rbe925690a1684470" /><Relationship Type="http://schemas.openxmlformats.org/officeDocument/2006/relationships/notesSlide" Target="/ppt/notesSlides/notesSlide19.xml" Id="R3bac9e293f52401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7658620bdc437a" /><Relationship Type="http://schemas.openxmlformats.org/officeDocument/2006/relationships/hyperlink" Target="https://gemini.google.com/gems/create" TargetMode="External" Id="Rfeac0931178a4d24" /><Relationship Type="http://schemas.openxmlformats.org/officeDocument/2006/relationships/notesSlide" Target="/ppt/notesSlides/notesSlide20.xml" Id="R4449e00486e646d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a93703d80b4164" /><Relationship Type="http://schemas.openxmlformats.org/officeDocument/2006/relationships/hyperlink" Target="https://gemini.google.com/gems/create" TargetMode="External" Id="R297a2484da5f4d62" /><Relationship Type="http://schemas.openxmlformats.org/officeDocument/2006/relationships/notesSlide" Target="/ppt/notesSlides/notesSlide21.xml" Id="R0f44f0458216437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88533b78274673" /><Relationship Type="http://schemas.openxmlformats.org/officeDocument/2006/relationships/hyperlink" Target="https://gemini.google.com/gems/create" TargetMode="External" Id="R561fc98e254b44f0" /><Relationship Type="http://schemas.openxmlformats.org/officeDocument/2006/relationships/notesSlide" Target="/ppt/notesSlides/notesSlide22.xml" Id="Ra8e00c3e4d0a4ed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c835199a5a4d62" /><Relationship Type="http://schemas.openxmlformats.org/officeDocument/2006/relationships/hyperlink" Target="https://gemini.google.com/gems/create" TargetMode="External" Id="R4112773cb9f94481" /><Relationship Type="http://schemas.openxmlformats.org/officeDocument/2006/relationships/notesSlide" Target="/ppt/notesSlides/notesSlide23.xml" Id="Rb257540dd6db4a0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cd461cf298497a" /><Relationship Type="http://schemas.openxmlformats.org/officeDocument/2006/relationships/hyperlink" Target="https://gemini.google.com/gems/create" TargetMode="External" Id="Ra15a09efd2574f57" /><Relationship Type="http://schemas.openxmlformats.org/officeDocument/2006/relationships/notesSlide" Target="/ppt/notesSlides/notesSlide24.xml" Id="Reb53ecacf6784c1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2aea43143c4d78" /><Relationship Type="http://schemas.openxmlformats.org/officeDocument/2006/relationships/hyperlink" Target="https://gemini.google.com/app" TargetMode="External" Id="Rc715ab9599bb43a8" /><Relationship Type="http://schemas.openxmlformats.org/officeDocument/2006/relationships/notesSlide" Target="/ppt/notesSlides/notesSlide25.xml" Id="R757114e893b04c58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1b360991334946" /><Relationship Type="http://schemas.openxmlformats.org/officeDocument/2006/relationships/hyperlink" Target="https://gemini.google.com/app" TargetMode="External" Id="R93b9c3ee7e954431" /><Relationship Type="http://schemas.openxmlformats.org/officeDocument/2006/relationships/notesSlide" Target="/ppt/notesSlides/notesSlide26.xml" Id="R4cc8774cef064122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27e30621a44e86" /><Relationship Type="http://schemas.openxmlformats.org/officeDocument/2006/relationships/hyperlink" Target="https://gemini.google.com/app" TargetMode="External" Id="R8b8053f4e0514de0" /><Relationship Type="http://schemas.openxmlformats.org/officeDocument/2006/relationships/notesSlide" Target="/ppt/notesSlides/notesSlide27.xml" Id="R8937631017454747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64e2d81d8547fd" /><Relationship Type="http://schemas.openxmlformats.org/officeDocument/2006/relationships/hyperlink" Target="https://gemini.google.com/app" TargetMode="External" Id="Rc09281f4f51749db" /><Relationship Type="http://schemas.openxmlformats.org/officeDocument/2006/relationships/notesSlide" Target="/ppt/notesSlides/notesSlide28.xml" Id="R571f3ff4f1d24030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415d928d41418f" /><Relationship Type="http://schemas.openxmlformats.org/officeDocument/2006/relationships/hyperlink" Target="https://gemini.google.com/app" TargetMode="External" Id="R23793b4403964a55" /><Relationship Type="http://schemas.openxmlformats.org/officeDocument/2006/relationships/notesSlide" Target="/ppt/notesSlides/notesSlide29.xml" Id="Ra679af1d314849da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57ed26079b4809" /><Relationship Type="http://schemas.openxmlformats.org/officeDocument/2006/relationships/hyperlink" Target="https://sites.google.com/new" TargetMode="External" Id="Refcd6c5022ad4888" /><Relationship Type="http://schemas.openxmlformats.org/officeDocument/2006/relationships/hyperlink" Target="https://pages.github.com/" TargetMode="External" Id="R59aff34ceaab40bf" /><Relationship Type="http://schemas.openxmlformats.org/officeDocument/2006/relationships/hyperlink" Target="https://gg90052.github.io/ezpage/" TargetMode="External" Id="Rb53f9cf73b8d416f" /><Relationship Type="http://schemas.openxmlformats.org/officeDocument/2006/relationships/notesSlide" Target="/ppt/notesSlides/notesSlide30.xml" Id="Rf1dadeb45aa84872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a1aaf0b62c4451" /><Relationship Type="http://schemas.openxmlformats.org/officeDocument/2006/relationships/hyperlink" Target="https://sites.google.com/new" TargetMode="External" Id="Ra9d28b4764b847e0" /><Relationship Type="http://schemas.openxmlformats.org/officeDocument/2006/relationships/notesSlide" Target="/ppt/notesSlides/notesSlide31.xml" Id="R52c850466fc04b5e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7e9315f09c453f" /><Relationship Type="http://schemas.openxmlformats.org/officeDocument/2006/relationships/hyperlink" Target="https://pages.github.com/" TargetMode="External" Id="R8693a0958c7945ae" /><Relationship Type="http://schemas.openxmlformats.org/officeDocument/2006/relationships/notesSlide" Target="/ppt/notesSlides/notesSlide32.xml" Id="R610bf5fdd54a4843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01d657fe0a44d5" /><Relationship Type="http://schemas.openxmlformats.org/officeDocument/2006/relationships/hyperlink" Target="https://gg90052.github.io/ezpage/" TargetMode="External" Id="Rca71038227f248cf" /><Relationship Type="http://schemas.openxmlformats.org/officeDocument/2006/relationships/notesSlide" Target="/ppt/notesSlides/notesSlide33.xml" Id="R6a89749a770f4015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f31d6327094c8d" /><Relationship Type="http://schemas.openxmlformats.org/officeDocument/2006/relationships/hyperlink" Target="https://sites.google.com/new" TargetMode="External" Id="R7af902cc50db42a4" /><Relationship Type="http://schemas.openxmlformats.org/officeDocument/2006/relationships/hyperlink" Target="https://pages.github.com/" TargetMode="External" Id="R583aba4d9d794d1c" /><Relationship Type="http://schemas.openxmlformats.org/officeDocument/2006/relationships/hyperlink" Target="https://gg90052.github.io/ezpage/" TargetMode="External" Id="R26b1946fcda2401f" /><Relationship Type="http://schemas.openxmlformats.org/officeDocument/2006/relationships/notesSlide" Target="/ppt/notesSlides/notesSlide34.xml" Id="R792457796fbe4c65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96897ab5e84d1c" /><Relationship Type="http://schemas.openxmlformats.org/officeDocument/2006/relationships/hyperlink" Target="START_HERE_&#30740;&#32722;&#36039;&#28304;&#23566;&#33322;.html" TargetMode="External" Id="R0c8e443a69ed4333" /><Relationship Type="http://schemas.openxmlformats.org/officeDocument/2006/relationships/hyperlink" Target="https://notebook.google.com/" TargetMode="External" Id="Re93defd0cf684780" /><Relationship Type="http://schemas.openxmlformats.org/officeDocument/2006/relationships/hyperlink" Target="https://gemini.google.com/gems/create" TargetMode="External" Id="Rd0493611cbda4a63" /><Relationship Type="http://schemas.openxmlformats.org/officeDocument/2006/relationships/hyperlink" Target="https://gemini.google.com/app" TargetMode="External" Id="R2d81b6dd893e44e4" /><Relationship Type="http://schemas.openxmlformats.org/officeDocument/2006/relationships/hyperlink" Target="https://sites.google.com/new" TargetMode="External" Id="R53fd2646feb94c1f" /><Relationship Type="http://schemas.openxmlformats.org/officeDocument/2006/relationships/hyperlink" Target="https://pages.github.com/" TargetMode="External" Id="R83e03a7a109e47cf" /><Relationship Type="http://schemas.openxmlformats.org/officeDocument/2006/relationships/hyperlink" Target="https://gg90052.github.io/ezpage/" TargetMode="External" Id="Rd616e0407fd643fa" /><Relationship Type="http://schemas.openxmlformats.org/officeDocument/2006/relationships/notesSlide" Target="/ppt/notesSlides/notesSlide35.xml" Id="R788debc3582546e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2b6f9a8c5b48de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hape-1">
            <a:extLst xmlns:a="http://schemas.openxmlformats.org/drawingml/2006/main">
              <a:ext uri="{FF2B5EF4-FFF2-40B4-BE49-F238E27FC236}">
                <a16:creationId xmlns:a16="http://schemas.microsoft.com/office/drawing/2014/main" id="{B3E791BD-EEC5-415A-84A0-2441E70E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286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94BA1BB4-A24C-44C7-8DD1-DDC7BBF59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43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國立中央大學｜2026.08.26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8FEFF3BB-648B-4F43-BFDE-85683BD01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0125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上午場｜09:00–12:00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0B4744AE-020E-4C77-B34F-BB4BDABB1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04950"/>
            <a:ext cx="529590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打造專屬 AI 教學與研究工作室：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Notebook、Gem、Canvas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與網站部署實作</a:t>
            </a:r>
          </a:p>
        </p:txBody>
      </p:sp>
      <p:sp>
        <p:nvSpPr>
          <p:cNvPr id="6" name="shape-5">
            <a:extLst xmlns:a="http://schemas.openxmlformats.org/drawingml/2006/main">
              <a:ext uri="{FF2B5EF4-FFF2-40B4-BE49-F238E27FC236}">
                <a16:creationId xmlns:a16="http://schemas.microsoft.com/office/drawing/2014/main" id="{6D80069B-E744-431A-AD78-2ED888B64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05300"/>
            <a:ext cx="723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93CE3985-D7F3-4FF4-BD35-4A80CB5F9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29150"/>
            <a:ext cx="52197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 AI 教學與研究助理到 AI Agent：大學教師的生成式 AI 實作工作坊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A2882C5D-7197-4970-93BA-17A1CD972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864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黃凱揚（阿凱老師）｜桃園市龍潭區石門國小資訊組長｜教學年資第 11 年</a:t>
            </a:r>
          </a:p>
        </p:txBody>
      </p:sp>
    </p:spTree>
    <p:extLst>
      <p:ext uri="{BB962C8B-B14F-4D97-AF65-F5344CB8AC3E}">
        <p14:creationId xmlns:p14="http://schemas.microsoft.com/office/powerpoint/2010/main" val="89050206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8">
            <a:extLst xmlns:a="http://schemas.openxmlformats.org/drawingml/2006/main">
              <a:ext uri="{FF2B5EF4-FFF2-40B4-BE49-F238E27FC236}">
                <a16:creationId xmlns:a16="http://schemas.microsoft.com/office/drawing/2014/main" id="{5217808C-F4F9-4C93-B74B-4A4C13C12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FROM ASSISTANT TO AGENT</a:t>
            </a:r>
          </a:p>
        </p:txBody>
      </p:sp>
      <p:sp>
        <p:nvSpPr>
          <p:cNvPr id="2" name="text-9">
            <a:extLst xmlns:a="http://schemas.openxmlformats.org/drawingml/2006/main">
              <a:ext uri="{FF2B5EF4-FFF2-40B4-BE49-F238E27FC236}">
                <a16:creationId xmlns:a16="http://schemas.microsoft.com/office/drawing/2014/main" id="{CA9B615B-C766-4291-A905-2654D9149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今天的學習弧線</a:t>
            </a:r>
          </a:p>
        </p:txBody>
      </p:sp>
      <p:cxnSp>
        <p:nvCxnSpPr>
          <p:cNvPr id="24" name="shape-1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1">
            <a:extLst xmlns:a="http://schemas.openxmlformats.org/drawingml/2006/main">
              <a:ext uri="{FF2B5EF4-FFF2-40B4-BE49-F238E27FC236}">
                <a16:creationId xmlns:a16="http://schemas.microsoft.com/office/drawing/2014/main" id="{C5B21FB6-B4EF-45E2-AE92-3C2BF1E4B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FAD79D9-B765-4868-9B9D-F6D3FEF51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6" name="text-12">
            <a:extLst xmlns:a="http://schemas.openxmlformats.org/drawingml/2006/main">
              <a:ext uri="{FF2B5EF4-FFF2-40B4-BE49-F238E27FC236}">
                <a16:creationId xmlns:a16="http://schemas.microsoft.com/office/drawing/2014/main" id="{5F9FA972-C5BA-44CA-A3D3-829581F4B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7" name="text-13">
            <a:extLst xmlns:a="http://schemas.openxmlformats.org/drawingml/2006/main">
              <a:ext uri="{FF2B5EF4-FFF2-40B4-BE49-F238E27FC236}">
                <a16:creationId xmlns:a16="http://schemas.microsoft.com/office/drawing/2014/main" id="{1AFE0123-56C3-4DEC-8C05-0D7CB9B94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有根據</a:t>
            </a:r>
          </a:p>
        </p:txBody>
      </p:sp>
      <p:sp>
        <p:nvSpPr>
          <p:cNvPr id="8" name="text-14">
            <a:extLst xmlns:a="http://schemas.openxmlformats.org/drawingml/2006/main">
              <a:ext uri="{FF2B5EF4-FFF2-40B4-BE49-F238E27FC236}">
                <a16:creationId xmlns:a16="http://schemas.microsoft.com/office/drawing/2014/main" id="{AB02942D-07D9-45BC-843B-D73C631C3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Gemini Notebook 整理可信來源</a:t>
            </a:r>
          </a:p>
        </p:txBody>
      </p:sp>
      <p:sp>
        <p:nvSpPr>
          <p:cNvPr id="9" name="text-15">
            <a:extLst xmlns:a="http://schemas.openxmlformats.org/drawingml/2006/main">
              <a:ext uri="{FF2B5EF4-FFF2-40B4-BE49-F238E27FC236}">
                <a16:creationId xmlns:a16="http://schemas.microsoft.com/office/drawing/2014/main" id="{7104E7EA-3EFC-40EB-BE51-A134E1880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7538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0" name="text-16">
            <a:extLst xmlns:a="http://schemas.openxmlformats.org/drawingml/2006/main">
              <a:ext uri="{FF2B5EF4-FFF2-40B4-BE49-F238E27FC236}">
                <a16:creationId xmlns:a16="http://schemas.microsoft.com/office/drawing/2014/main" id="{1737ECFD-4AB6-4F22-A22E-D27723527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7">
            <a:extLst xmlns:a="http://schemas.openxmlformats.org/drawingml/2006/main">
              <a:ext uri="{FF2B5EF4-FFF2-40B4-BE49-F238E27FC236}">
                <a16:creationId xmlns:a16="http://schemas.microsoft.com/office/drawing/2014/main" id="{B19C2A84-128C-427F-95E1-086531425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有角色</a:t>
            </a:r>
          </a:p>
        </p:txBody>
      </p:sp>
      <p:sp>
        <p:nvSpPr>
          <p:cNvPr id="12" name="text-18">
            <a:extLst xmlns:a="http://schemas.openxmlformats.org/drawingml/2006/main">
              <a:ext uri="{FF2B5EF4-FFF2-40B4-BE49-F238E27FC236}">
                <a16:creationId xmlns:a16="http://schemas.microsoft.com/office/drawing/2014/main" id="{60AB4431-66E3-4BFF-AFC5-9CCF349C2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Gem 固定教學方法與回覆格式</a:t>
            </a:r>
          </a:p>
        </p:txBody>
      </p:sp>
      <p:sp>
        <p:nvSpPr>
          <p:cNvPr id="13" name="text-19">
            <a:extLst xmlns:a="http://schemas.openxmlformats.org/drawingml/2006/main">
              <a:ext uri="{FF2B5EF4-FFF2-40B4-BE49-F238E27FC236}">
                <a16:creationId xmlns:a16="http://schemas.microsoft.com/office/drawing/2014/main" id="{0FA55A77-7770-4BA5-98CC-F5BF4F329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4" name="text-20">
            <a:extLst xmlns:a="http://schemas.openxmlformats.org/drawingml/2006/main">
              <a:ext uri="{FF2B5EF4-FFF2-40B4-BE49-F238E27FC236}">
                <a16:creationId xmlns:a16="http://schemas.microsoft.com/office/drawing/2014/main" id="{0636AAD2-2EFF-411E-ADEF-A406DD208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5" name="text-21">
            <a:extLst xmlns:a="http://schemas.openxmlformats.org/drawingml/2006/main">
              <a:ext uri="{FF2B5EF4-FFF2-40B4-BE49-F238E27FC236}">
                <a16:creationId xmlns:a16="http://schemas.microsoft.com/office/drawing/2014/main" id="{CC36C2B8-4174-436B-8B23-37C3BFB8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有作品</a:t>
            </a:r>
          </a:p>
        </p:txBody>
      </p:sp>
      <p:sp>
        <p:nvSpPr>
          <p:cNvPr id="16" name="text-22">
            <a:extLst xmlns:a="http://schemas.openxmlformats.org/drawingml/2006/main">
              <a:ext uri="{FF2B5EF4-FFF2-40B4-BE49-F238E27FC236}">
                <a16:creationId xmlns:a16="http://schemas.microsoft.com/office/drawing/2014/main" id="{00265606-5E62-49CA-A440-E4C850744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Canvas 做出互動教學原型</a:t>
            </a:r>
          </a:p>
        </p:txBody>
      </p:sp>
      <p:sp>
        <p:nvSpPr>
          <p:cNvPr id="17" name="text-23">
            <a:extLst xmlns:a="http://schemas.openxmlformats.org/drawingml/2006/main">
              <a:ext uri="{FF2B5EF4-FFF2-40B4-BE49-F238E27FC236}">
                <a16:creationId xmlns:a16="http://schemas.microsoft.com/office/drawing/2014/main" id="{DE0ACDAF-A950-4C18-9BB5-9C2AD3A28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4913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text-24">
            <a:extLst xmlns:a="http://schemas.openxmlformats.org/drawingml/2006/main">
              <a:ext uri="{FF2B5EF4-FFF2-40B4-BE49-F238E27FC236}">
                <a16:creationId xmlns:a16="http://schemas.microsoft.com/office/drawing/2014/main" id="{948D5E11-B8E5-4AE7-88BB-D7206DC5E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9" name="text-25">
            <a:extLst xmlns:a="http://schemas.openxmlformats.org/drawingml/2006/main">
              <a:ext uri="{FF2B5EF4-FFF2-40B4-BE49-F238E27FC236}">
                <a16:creationId xmlns:a16="http://schemas.microsoft.com/office/drawing/2014/main" id="{EBD6801F-0CEF-453E-B452-CC6B1BA58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能分享</a:t>
            </a:r>
          </a:p>
        </p:txBody>
      </p:sp>
      <p:sp>
        <p:nvSpPr>
          <p:cNvPr id="20" name="text-26">
            <a:extLst xmlns:a="http://schemas.openxmlformats.org/drawingml/2006/main">
              <a:ext uri="{FF2B5EF4-FFF2-40B4-BE49-F238E27FC236}">
                <a16:creationId xmlns:a16="http://schemas.microsoft.com/office/drawing/2014/main" id="{EF46AFC0-427C-423E-8DBE-BA665C688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Sites 或 Pages 發布成果</a:t>
            </a:r>
          </a:p>
        </p:txBody>
      </p:sp>
      <p:sp>
        <p:nvSpPr>
          <p:cNvPr id="21" name="text-27">
            <a:extLst xmlns:a="http://schemas.openxmlformats.org/drawingml/2006/main">
              <a:ext uri="{FF2B5EF4-FFF2-40B4-BE49-F238E27FC236}">
                <a16:creationId xmlns:a16="http://schemas.microsoft.com/office/drawing/2014/main" id="{457DF9DA-C3AF-4D37-B142-B865F7FDA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154431866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">
            <a:extLst xmlns:a="http://schemas.openxmlformats.org/drawingml/2006/main">
              <a:ext uri="{FF2B5EF4-FFF2-40B4-BE49-F238E27FC236}">
                <a16:creationId xmlns:a16="http://schemas.microsoft.com/office/drawing/2014/main" id="{37DACB4D-91AC-4BB9-A6C5-0A4E9CE5C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RUN OF SHOW</a:t>
            </a:r>
          </a:p>
        </p:txBody>
      </p:sp>
      <p:sp>
        <p:nvSpPr>
          <p:cNvPr id="2" name="text-29">
            <a:extLst xmlns:a="http://schemas.openxmlformats.org/drawingml/2006/main">
              <a:ext uri="{FF2B5EF4-FFF2-40B4-BE49-F238E27FC236}">
                <a16:creationId xmlns:a16="http://schemas.microsoft.com/office/drawing/2014/main" id="{46E3BE6A-233D-4CDF-B0CB-CE9192041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 180 分鐘：每一段都有作品</a:t>
            </a:r>
          </a:p>
        </p:txBody>
      </p:sp>
      <p:cxnSp>
        <p:nvCxnSpPr>
          <p:cNvPr id="33" name="shape-3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1">
            <a:extLst xmlns:a="http://schemas.openxmlformats.org/drawingml/2006/main">
              <a:ext uri="{FF2B5EF4-FFF2-40B4-BE49-F238E27FC236}">
                <a16:creationId xmlns:a16="http://schemas.microsoft.com/office/drawing/2014/main" id="{C74E81E7-55C1-4941-85D2-398629555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D254822-1049-4776-822F-B4E0BE985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cxnSp>
        <p:nvCxnSpPr>
          <p:cNvPr id="36" name="shape-32"/>
          <p:cNvCxnSpPr/>
          <p:nvPr/>
        </p:nvCxnSpPr>
        <p:spPr>
          <a:xfrm xmlns:a="http://schemas.openxmlformats.org/drawingml/2006/main">
            <a:off x="876300" y="3143250"/>
            <a:ext cx="10401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shape-33">
            <a:extLst xmlns:a="http://schemas.openxmlformats.org/drawingml/2006/main">
              <a:ext uri="{FF2B5EF4-FFF2-40B4-BE49-F238E27FC236}">
                <a16:creationId xmlns:a16="http://schemas.microsoft.com/office/drawing/2014/main" id="{F6ECD39F-5A7F-4A5B-99B4-0CCD71858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34">
            <a:extLst xmlns:a="http://schemas.openxmlformats.org/drawingml/2006/main">
              <a:ext uri="{FF2B5EF4-FFF2-40B4-BE49-F238E27FC236}">
                <a16:creationId xmlns:a16="http://schemas.microsoft.com/office/drawing/2014/main" id="{56143F17-078C-4174-ACAC-70FCF4F9A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00–15</a:t>
            </a:r>
          </a:p>
        </p:txBody>
      </p:sp>
      <p:sp>
        <p:nvSpPr>
          <p:cNvPr id="9" name="text-35">
            <a:extLst xmlns:a="http://schemas.openxmlformats.org/drawingml/2006/main">
              <a:ext uri="{FF2B5EF4-FFF2-40B4-BE49-F238E27FC236}">
                <a16:creationId xmlns:a16="http://schemas.microsoft.com/office/drawing/2014/main" id="{38A8AA10-BB63-49A1-A55C-38566B176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定題</a:t>
            </a:r>
          </a:p>
        </p:txBody>
      </p:sp>
      <p:sp>
        <p:nvSpPr>
          <p:cNvPr id="10" name="text-36">
            <a:extLst xmlns:a="http://schemas.openxmlformats.org/drawingml/2006/main">
              <a:ext uri="{FF2B5EF4-FFF2-40B4-BE49-F238E27FC236}">
                <a16:creationId xmlns:a16="http://schemas.microsoft.com/office/drawing/2014/main" id="{FBCB4AE2-2F1C-4A73-AA44-0896F5927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選一門課／一個問題</a:t>
            </a:r>
          </a:p>
        </p:txBody>
      </p:sp>
      <p:sp>
        <p:nvSpPr>
          <p:cNvPr id="11" name="shape-37">
            <a:extLst xmlns:a="http://schemas.openxmlformats.org/drawingml/2006/main">
              <a:ext uri="{FF2B5EF4-FFF2-40B4-BE49-F238E27FC236}">
                <a16:creationId xmlns:a16="http://schemas.microsoft.com/office/drawing/2014/main" id="{622A071D-7307-42CC-ABF7-9545FC998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21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38">
            <a:extLst xmlns:a="http://schemas.openxmlformats.org/drawingml/2006/main">
              <a:ext uri="{FF2B5EF4-FFF2-40B4-BE49-F238E27FC236}">
                <a16:creationId xmlns:a16="http://schemas.microsoft.com/office/drawing/2014/main" id="{A399F724-DE5A-441C-A5B8-506626053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076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15–55</a:t>
            </a:r>
          </a:p>
        </p:txBody>
      </p:sp>
      <p:sp>
        <p:nvSpPr>
          <p:cNvPr id="13" name="text-39">
            <a:extLst xmlns:a="http://schemas.openxmlformats.org/drawingml/2006/main">
              <a:ext uri="{FF2B5EF4-FFF2-40B4-BE49-F238E27FC236}">
                <a16:creationId xmlns:a16="http://schemas.microsoft.com/office/drawing/2014/main" id="{EF2CA106-EED5-459B-BE5D-BDC7C5EF8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216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sp>
        <p:nvSpPr>
          <p:cNvPr id="14" name="text-40">
            <a:extLst xmlns:a="http://schemas.openxmlformats.org/drawingml/2006/main">
              <a:ext uri="{FF2B5EF4-FFF2-40B4-BE49-F238E27FC236}">
                <a16:creationId xmlns:a16="http://schemas.microsoft.com/office/drawing/2014/main" id="{474633E1-C867-4A29-AD23-096FCBA16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216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來源與引用</a:t>
            </a:r>
          </a:p>
        </p:txBody>
      </p:sp>
      <p:sp>
        <p:nvSpPr>
          <p:cNvPr id="15" name="shape-41">
            <a:extLst xmlns:a="http://schemas.openxmlformats.org/drawingml/2006/main">
              <a:ext uri="{FF2B5EF4-FFF2-40B4-BE49-F238E27FC236}">
                <a16:creationId xmlns:a16="http://schemas.microsoft.com/office/drawing/2014/main" id="{ADF6B354-7E2B-41CD-A2CC-8E956FC4C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347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2">
            <a:extLst xmlns:a="http://schemas.openxmlformats.org/drawingml/2006/main">
              <a:ext uri="{FF2B5EF4-FFF2-40B4-BE49-F238E27FC236}">
                <a16:creationId xmlns:a16="http://schemas.microsoft.com/office/drawing/2014/main" id="{A09F6563-1914-4875-9C94-722245B10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102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55–80</a:t>
            </a:r>
          </a:p>
        </p:txBody>
      </p:sp>
      <p:sp>
        <p:nvSpPr>
          <p:cNvPr id="17" name="text-43">
            <a:extLst xmlns:a="http://schemas.openxmlformats.org/drawingml/2006/main">
              <a:ext uri="{FF2B5EF4-FFF2-40B4-BE49-F238E27FC236}">
                <a16:creationId xmlns:a16="http://schemas.microsoft.com/office/drawing/2014/main" id="{FDBB696D-F7D3-40D7-BD9D-C6FA3EF77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242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18" name="text-44">
            <a:extLst xmlns:a="http://schemas.openxmlformats.org/drawingml/2006/main">
              <a:ext uri="{FF2B5EF4-FFF2-40B4-BE49-F238E27FC236}">
                <a16:creationId xmlns:a16="http://schemas.microsoft.com/office/drawing/2014/main" id="{DA527931-E808-4558-B3A7-43B36BFFB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242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專屬助理</a:t>
            </a:r>
          </a:p>
        </p:txBody>
      </p:sp>
      <p:sp>
        <p:nvSpPr>
          <p:cNvPr id="19" name="shape-45">
            <a:extLst xmlns:a="http://schemas.openxmlformats.org/drawingml/2006/main">
              <a:ext uri="{FF2B5EF4-FFF2-40B4-BE49-F238E27FC236}">
                <a16:creationId xmlns:a16="http://schemas.microsoft.com/office/drawing/2014/main" id="{569F44A0-D493-4113-A4D1-475386E2A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373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46">
            <a:extLst xmlns:a="http://schemas.openxmlformats.org/drawingml/2006/main">
              <a:ext uri="{FF2B5EF4-FFF2-40B4-BE49-F238E27FC236}">
                <a16:creationId xmlns:a16="http://schemas.microsoft.com/office/drawing/2014/main" id="{B5BB9445-6235-4748-AA71-7DCC5F279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128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80–90</a:t>
            </a:r>
          </a:p>
        </p:txBody>
      </p:sp>
      <p:sp>
        <p:nvSpPr>
          <p:cNvPr id="21" name="text-47">
            <a:extLst xmlns:a="http://schemas.openxmlformats.org/drawingml/2006/main">
              <a:ext uri="{FF2B5EF4-FFF2-40B4-BE49-F238E27FC236}">
                <a16:creationId xmlns:a16="http://schemas.microsoft.com/office/drawing/2014/main" id="{D71A6B2A-7B8A-468F-9E06-A309EF4C4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268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休息</a:t>
            </a:r>
          </a:p>
        </p:txBody>
      </p:sp>
      <p:sp>
        <p:nvSpPr>
          <p:cNvPr id="22" name="text-48">
            <a:extLst xmlns:a="http://schemas.openxmlformats.org/drawingml/2006/main">
              <a:ext uri="{FF2B5EF4-FFF2-40B4-BE49-F238E27FC236}">
                <a16:creationId xmlns:a16="http://schemas.microsoft.com/office/drawing/2014/main" id="{9E0895F1-D122-4CA0-945E-6E48ECF8B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268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帳號與檔案整理</a:t>
            </a:r>
          </a:p>
        </p:txBody>
      </p:sp>
      <p:sp>
        <p:nvSpPr>
          <p:cNvPr id="23" name="shape-49">
            <a:extLst xmlns:a="http://schemas.openxmlformats.org/drawingml/2006/main">
              <a:ext uri="{FF2B5EF4-FFF2-40B4-BE49-F238E27FC236}">
                <a16:creationId xmlns:a16="http://schemas.microsoft.com/office/drawing/2014/main" id="{AD8DDCBA-8973-4BCA-ABE1-CB8E6FB28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399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50">
            <a:extLst xmlns:a="http://schemas.openxmlformats.org/drawingml/2006/main">
              <a:ext uri="{FF2B5EF4-FFF2-40B4-BE49-F238E27FC236}">
                <a16:creationId xmlns:a16="http://schemas.microsoft.com/office/drawing/2014/main" id="{6A45D209-C833-49CE-AE64-DD8A68D05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154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90–135</a:t>
            </a:r>
          </a:p>
        </p:txBody>
      </p:sp>
      <p:sp>
        <p:nvSpPr>
          <p:cNvPr id="25" name="text-51">
            <a:extLst xmlns:a="http://schemas.openxmlformats.org/drawingml/2006/main">
              <a:ext uri="{FF2B5EF4-FFF2-40B4-BE49-F238E27FC236}">
                <a16:creationId xmlns:a16="http://schemas.microsoft.com/office/drawing/2014/main" id="{BC76A41B-0F89-4A43-8B0D-FE5B9077B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294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sp>
        <p:nvSpPr>
          <p:cNvPr id="26" name="text-52">
            <a:extLst xmlns:a="http://schemas.openxmlformats.org/drawingml/2006/main">
              <a:ext uri="{FF2B5EF4-FFF2-40B4-BE49-F238E27FC236}">
                <a16:creationId xmlns:a16="http://schemas.microsoft.com/office/drawing/2014/main" id="{A0C67B6A-F8DC-4F33-A567-1D7D4FCB8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294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互動原型</a:t>
            </a:r>
          </a:p>
        </p:txBody>
      </p:sp>
      <p:sp>
        <p:nvSpPr>
          <p:cNvPr id="27" name="shape-53">
            <a:extLst xmlns:a="http://schemas.openxmlformats.org/drawingml/2006/main">
              <a:ext uri="{FF2B5EF4-FFF2-40B4-BE49-F238E27FC236}">
                <a16:creationId xmlns:a16="http://schemas.microsoft.com/office/drawing/2014/main" id="{E47C71F4-3999-494F-A33F-524A5AD32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ext-54">
            <a:extLst xmlns:a="http://schemas.openxmlformats.org/drawingml/2006/main">
              <a:ext uri="{FF2B5EF4-FFF2-40B4-BE49-F238E27FC236}">
                <a16:creationId xmlns:a16="http://schemas.microsoft.com/office/drawing/2014/main" id="{14AA5787-F562-41B0-8753-5671827E6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135–180</a:t>
            </a:r>
          </a:p>
        </p:txBody>
      </p:sp>
      <p:sp>
        <p:nvSpPr>
          <p:cNvPr id="29" name="text-55">
            <a:extLst xmlns:a="http://schemas.openxmlformats.org/drawingml/2006/main">
              <a:ext uri="{FF2B5EF4-FFF2-40B4-BE49-F238E27FC236}">
                <a16:creationId xmlns:a16="http://schemas.microsoft.com/office/drawing/2014/main" id="{C4C56A40-E5C4-4B72-B735-DC4D0508D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部署分享</a:t>
            </a:r>
          </a:p>
        </p:txBody>
      </p:sp>
      <p:sp>
        <p:nvSpPr>
          <p:cNvPr id="30" name="text-56">
            <a:extLst xmlns:a="http://schemas.openxmlformats.org/drawingml/2006/main">
              <a:ext uri="{FF2B5EF4-FFF2-40B4-BE49-F238E27FC236}">
                <a16:creationId xmlns:a16="http://schemas.microsoft.com/office/drawing/2014/main" id="{B744D2A3-6259-4E40-B63E-0AD4234FE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公開與回饋</a:t>
            </a:r>
          </a:p>
        </p:txBody>
      </p:sp>
    </p:spTree>
    <p:extLst>
      <p:ext uri="{BB962C8B-B14F-4D97-AF65-F5344CB8AC3E}">
        <p14:creationId xmlns:p14="http://schemas.microsoft.com/office/powerpoint/2010/main" val="117519471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57">
            <a:extLst xmlns:a="http://schemas.openxmlformats.org/drawingml/2006/main">
              <a:ext uri="{FF2B5EF4-FFF2-40B4-BE49-F238E27FC236}">
                <a16:creationId xmlns:a16="http://schemas.microsoft.com/office/drawing/2014/main" id="{3E8C801F-ECE1-46E0-9730-EF653C427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LEARNING OUTCOMES</a:t>
            </a:r>
          </a:p>
        </p:txBody>
      </p:sp>
      <p:sp>
        <p:nvSpPr>
          <p:cNvPr id="2" name="text-58">
            <a:extLst xmlns:a="http://schemas.openxmlformats.org/drawingml/2006/main">
              <a:ext uri="{FF2B5EF4-FFF2-40B4-BE49-F238E27FC236}">
                <a16:creationId xmlns:a16="http://schemas.microsoft.com/office/drawing/2014/main" id="{2BB9B8EF-1C1A-483D-AD4C-CACF601E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今天離開教室前，你會有四項成果</a:t>
            </a:r>
          </a:p>
        </p:txBody>
      </p:sp>
      <p:cxnSp>
        <p:nvCxnSpPr>
          <p:cNvPr id="24" name="shape-5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0">
            <a:extLst xmlns:a="http://schemas.openxmlformats.org/drawingml/2006/main">
              <a:ext uri="{FF2B5EF4-FFF2-40B4-BE49-F238E27FC236}">
                <a16:creationId xmlns:a16="http://schemas.microsoft.com/office/drawing/2014/main" id="{43662569-A87A-4013-B007-5D0336E0A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906B538-12F6-4CC5-9225-742E768D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6" name="shape-61">
            <a:extLst xmlns:a="http://schemas.openxmlformats.org/drawingml/2006/main">
              <a:ext uri="{FF2B5EF4-FFF2-40B4-BE49-F238E27FC236}">
                <a16:creationId xmlns:a16="http://schemas.microsoft.com/office/drawing/2014/main" id="{AF95141A-A07D-4E4D-972D-FE666FF27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62">
            <a:extLst xmlns:a="http://schemas.openxmlformats.org/drawingml/2006/main">
              <a:ext uri="{FF2B5EF4-FFF2-40B4-BE49-F238E27FC236}">
                <a16:creationId xmlns:a16="http://schemas.microsoft.com/office/drawing/2014/main" id="{61B8F0E7-D280-4D22-8B8E-BB0A8ED12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63">
            <a:extLst xmlns:a="http://schemas.openxmlformats.org/drawingml/2006/main">
              <a:ext uri="{FF2B5EF4-FFF2-40B4-BE49-F238E27FC236}">
                <a16:creationId xmlns:a16="http://schemas.microsoft.com/office/drawing/2014/main" id="{AF24D203-174F-4835-92EF-5986C924C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9" name="text-64">
            <a:extLst xmlns:a="http://schemas.openxmlformats.org/drawingml/2006/main">
              <a:ext uri="{FF2B5EF4-FFF2-40B4-BE49-F238E27FC236}">
                <a16:creationId xmlns:a16="http://schemas.microsoft.com/office/drawing/2014/main" id="{7AEC8680-2FAD-4B3B-B13C-4997C8E42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 3 份教學或研究來源、3 個有引用的問題、1 個可用輸出。</a:t>
            </a:r>
          </a:p>
        </p:txBody>
      </p:sp>
      <p:sp>
        <p:nvSpPr>
          <p:cNvPr id="10" name="shape-65">
            <a:extLst xmlns:a="http://schemas.openxmlformats.org/drawingml/2006/main">
              <a:ext uri="{FF2B5EF4-FFF2-40B4-BE49-F238E27FC236}">
                <a16:creationId xmlns:a16="http://schemas.microsoft.com/office/drawing/2014/main" id="{A728067A-B6B5-4C90-AA78-71F407C1D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66">
            <a:extLst xmlns:a="http://schemas.openxmlformats.org/drawingml/2006/main">
              <a:ext uri="{FF2B5EF4-FFF2-40B4-BE49-F238E27FC236}">
                <a16:creationId xmlns:a16="http://schemas.microsoft.com/office/drawing/2014/main" id="{46015541-99C4-44A1-B7FD-FE92DFEB6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67">
            <a:extLst xmlns:a="http://schemas.openxmlformats.org/drawingml/2006/main">
              <a:ext uri="{FF2B5EF4-FFF2-40B4-BE49-F238E27FC236}">
                <a16:creationId xmlns:a16="http://schemas.microsoft.com/office/drawing/2014/main" id="{67C64E4E-C083-4AB6-A560-29E26E8B4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專屬 Gem</a:t>
            </a:r>
          </a:p>
        </p:txBody>
      </p:sp>
      <p:sp>
        <p:nvSpPr>
          <p:cNvPr id="13" name="text-68">
            <a:extLst xmlns:a="http://schemas.openxmlformats.org/drawingml/2006/main">
              <a:ext uri="{FF2B5EF4-FFF2-40B4-BE49-F238E27FC236}">
                <a16:creationId xmlns:a16="http://schemas.microsoft.com/office/drawing/2014/main" id="{7ADDFF29-5A9B-4456-B897-A399E88BB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明確角色、任務、背景與格式，並完成反例測試。</a:t>
            </a:r>
          </a:p>
        </p:txBody>
      </p:sp>
      <p:sp>
        <p:nvSpPr>
          <p:cNvPr id="14" name="shape-69">
            <a:extLst xmlns:a="http://schemas.openxmlformats.org/drawingml/2006/main">
              <a:ext uri="{FF2B5EF4-FFF2-40B4-BE49-F238E27FC236}">
                <a16:creationId xmlns:a16="http://schemas.microsoft.com/office/drawing/2014/main" id="{395412FA-D4F0-4318-8E96-E274EDDBC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70">
            <a:extLst xmlns:a="http://schemas.openxmlformats.org/drawingml/2006/main">
              <a:ext uri="{FF2B5EF4-FFF2-40B4-BE49-F238E27FC236}">
                <a16:creationId xmlns:a16="http://schemas.microsoft.com/office/drawing/2014/main" id="{27B5E8FB-8D99-4312-A421-21B5E8F10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71">
            <a:extLst xmlns:a="http://schemas.openxmlformats.org/drawingml/2006/main">
              <a:ext uri="{FF2B5EF4-FFF2-40B4-BE49-F238E27FC236}">
                <a16:creationId xmlns:a16="http://schemas.microsoft.com/office/drawing/2014/main" id="{7631EB31-D7B8-4AF3-BE9D-1A5088E43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原型</a:t>
            </a:r>
          </a:p>
        </p:txBody>
      </p:sp>
      <p:sp>
        <p:nvSpPr>
          <p:cNvPr id="17" name="text-72">
            <a:extLst xmlns:a="http://schemas.openxmlformats.org/drawingml/2006/main">
              <a:ext uri="{FF2B5EF4-FFF2-40B4-BE49-F238E27FC236}">
                <a16:creationId xmlns:a16="http://schemas.microsoft.com/office/drawing/2014/main" id="{CC022103-DF0F-46A7-8AB4-79A3201CA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一個可操作的課程活動、評量或學習支架。</a:t>
            </a:r>
          </a:p>
        </p:txBody>
      </p:sp>
      <p:sp>
        <p:nvSpPr>
          <p:cNvPr id="18" name="shape-73">
            <a:extLst xmlns:a="http://schemas.openxmlformats.org/drawingml/2006/main">
              <a:ext uri="{FF2B5EF4-FFF2-40B4-BE49-F238E27FC236}">
                <a16:creationId xmlns:a16="http://schemas.microsoft.com/office/drawing/2014/main" id="{69C5DD55-59D1-4E0B-90BF-0CAD98BF9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74">
            <a:extLst xmlns:a="http://schemas.openxmlformats.org/drawingml/2006/main">
              <a:ext uri="{FF2B5EF4-FFF2-40B4-BE49-F238E27FC236}">
                <a16:creationId xmlns:a16="http://schemas.microsoft.com/office/drawing/2014/main" id="{8A944DAA-C51E-40E6-A65C-C9AD89BD7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75">
            <a:extLst xmlns:a="http://schemas.openxmlformats.org/drawingml/2006/main">
              <a:ext uri="{FF2B5EF4-FFF2-40B4-BE49-F238E27FC236}">
                <a16:creationId xmlns:a16="http://schemas.microsoft.com/office/drawing/2014/main" id="{4FCF2464-512A-462B-BD91-E7CF4BBDB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分享方式</a:t>
            </a:r>
          </a:p>
        </p:txBody>
      </p:sp>
      <p:sp>
        <p:nvSpPr>
          <p:cNvPr id="21" name="text-76">
            <a:extLst xmlns:a="http://schemas.openxmlformats.org/drawingml/2006/main">
              <a:ext uri="{FF2B5EF4-FFF2-40B4-BE49-F238E27FC236}">
                <a16:creationId xmlns:a16="http://schemas.microsoft.com/office/drawing/2014/main" id="{EE5B0C9E-2456-45D0-B3B3-E774F484A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完成分享連結、Google Sites 嵌入，或 GitHub Pages 部署計畫。</a:t>
            </a:r>
          </a:p>
        </p:txBody>
      </p:sp>
    </p:spTree>
    <p:extLst>
      <p:ext uri="{BB962C8B-B14F-4D97-AF65-F5344CB8AC3E}">
        <p14:creationId xmlns:p14="http://schemas.microsoft.com/office/powerpoint/2010/main" val="43222938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77">
            <a:extLst xmlns:a="http://schemas.openxmlformats.org/drawingml/2006/main">
              <a:ext uri="{FF2B5EF4-FFF2-40B4-BE49-F238E27FC236}">
                <a16:creationId xmlns:a16="http://schemas.microsoft.com/office/drawing/2014/main" id="{B31F17EF-B11A-4965-BFF0-7AD7671E5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ACCESS &amp; PAIRING</a:t>
            </a:r>
          </a:p>
        </p:txBody>
      </p:sp>
      <p:sp>
        <p:nvSpPr>
          <p:cNvPr id="2" name="text-78">
            <a:extLst xmlns:a="http://schemas.openxmlformats.org/drawingml/2006/main">
              <a:ext uri="{FF2B5EF4-FFF2-40B4-BE49-F238E27FC236}">
                <a16:creationId xmlns:a16="http://schemas.microsoft.com/office/drawing/2014/main" id="{3137516F-253C-4F7B-A3A4-DF247E74A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共作規則：沒有相同帳號，也能一起完成</a:t>
            </a:r>
          </a:p>
        </p:txBody>
      </p:sp>
      <p:cxnSp>
        <p:nvCxnSpPr>
          <p:cNvPr id="20" name="shape-7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80">
            <a:extLst xmlns:a="http://schemas.openxmlformats.org/drawingml/2006/main">
              <a:ext uri="{FF2B5EF4-FFF2-40B4-BE49-F238E27FC236}">
                <a16:creationId xmlns:a16="http://schemas.microsoft.com/office/drawing/2014/main" id="{3684951E-7175-4E67-9AE9-962E07AD5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940BEE4-D0AE-4BDD-B7ED-4AC2ECEF2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6" name="shape-81">
            <a:extLst xmlns:a="http://schemas.openxmlformats.org/drawingml/2006/main">
              <a:ext uri="{FF2B5EF4-FFF2-40B4-BE49-F238E27FC236}">
                <a16:creationId xmlns:a16="http://schemas.microsoft.com/office/drawing/2014/main" id="{EBF7D58E-AC58-4250-80CF-E5D77AB03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82">
            <a:extLst xmlns:a="http://schemas.openxmlformats.org/drawingml/2006/main">
              <a:ext uri="{FF2B5EF4-FFF2-40B4-BE49-F238E27FC236}">
                <a16:creationId xmlns:a16="http://schemas.microsoft.com/office/drawing/2014/main" id="{5C942B03-503B-436D-9503-96005058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83">
            <a:extLst xmlns:a="http://schemas.openxmlformats.org/drawingml/2006/main">
              <a:ext uri="{FF2B5EF4-FFF2-40B4-BE49-F238E27FC236}">
                <a16:creationId xmlns:a16="http://schemas.microsoft.com/office/drawing/2014/main" id="{747D74E6-17F4-40B3-A34A-4615DFE85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主操作手</a:t>
            </a:r>
          </a:p>
        </p:txBody>
      </p:sp>
      <p:sp>
        <p:nvSpPr>
          <p:cNvPr id="9" name="text-84">
            <a:extLst xmlns:a="http://schemas.openxmlformats.org/drawingml/2006/main">
              <a:ext uri="{FF2B5EF4-FFF2-40B4-BE49-F238E27FC236}">
                <a16:creationId xmlns:a16="http://schemas.microsoft.com/office/drawing/2014/main" id="{7931A2FB-6F48-4E7E-B043-48C8F04E2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登入有權限的工具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負責建立、儲存與分享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口述每一步決策</a:t>
            </a:r>
          </a:p>
        </p:txBody>
      </p:sp>
      <p:sp>
        <p:nvSpPr>
          <p:cNvPr id="10" name="text-85">
            <a:extLst xmlns:a="http://schemas.openxmlformats.org/drawingml/2006/main">
              <a:ext uri="{FF2B5EF4-FFF2-40B4-BE49-F238E27FC236}">
                <a16:creationId xmlns:a16="http://schemas.microsoft.com/office/drawing/2014/main" id="{26C1C905-D43B-4B3E-9B00-3E30A12B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測試與教學觀察員</a:t>
            </a:r>
          </a:p>
        </p:txBody>
      </p:sp>
      <p:sp>
        <p:nvSpPr>
          <p:cNvPr id="11" name="text-86">
            <a:extLst xmlns:a="http://schemas.openxmlformats.org/drawingml/2006/main">
              <a:ext uri="{FF2B5EF4-FFF2-40B4-BE49-F238E27FC236}">
                <a16:creationId xmlns:a16="http://schemas.microsoft.com/office/drawing/2014/main" id="{CD3E6355-A834-4408-ACBC-8042B4D33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扮演學生或同儕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提出反例與追問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記錄可教、可用、需改善之處</a:t>
            </a:r>
          </a:p>
        </p:txBody>
      </p:sp>
      <p:sp>
        <p:nvSpPr>
          <p:cNvPr id="12" name="text-87">
            <a:extLst xmlns:a="http://schemas.openxmlformats.org/drawingml/2006/main">
              <a:ext uri="{FF2B5EF4-FFF2-40B4-BE49-F238E27FC236}">
                <a16:creationId xmlns:a16="http://schemas.microsoft.com/office/drawing/2014/main" id="{0DEF0D76-2904-440B-A64A-437A4CC0A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33950"/>
            <a:ext cx="15621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主操作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登入與建立</a:t>
            </a:r>
          </a:p>
        </p:txBody>
      </p:sp>
      <p:sp>
        <p:nvSpPr>
          <p:cNvPr id="13" name="text-88">
            <a:extLst xmlns:a="http://schemas.openxmlformats.org/drawingml/2006/main">
              <a:ext uri="{FF2B5EF4-FFF2-40B4-BE49-F238E27FC236}">
                <a16:creationId xmlns:a16="http://schemas.microsoft.com/office/drawing/2014/main" id="{02A7AA8B-A32B-4579-973A-CA08700B9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93395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共同工作區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成果與檢核</a:t>
            </a:r>
          </a:p>
        </p:txBody>
      </p:sp>
      <p:sp>
        <p:nvSpPr>
          <p:cNvPr id="14" name="text-89">
            <a:extLst xmlns:a="http://schemas.openxmlformats.org/drawingml/2006/main">
              <a:ext uri="{FF2B5EF4-FFF2-40B4-BE49-F238E27FC236}">
                <a16:creationId xmlns:a16="http://schemas.microsoft.com/office/drawing/2014/main" id="{C30F230B-52CE-49BA-ACC4-06C89058B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933950"/>
            <a:ext cx="15621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觀察員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測試與提問</a:t>
            </a:r>
          </a:p>
        </p:txBody>
      </p:sp>
      <p:cxnSp>
        <p:nvCxnSpPr>
          <p:cNvPr id="32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438400" y="5210175"/>
            <a:ext cx="2876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33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991350" y="5210175"/>
            <a:ext cx="2705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17" name="text-90">
            <a:extLst xmlns:a="http://schemas.openxmlformats.org/drawingml/2006/main">
              <a:ext uri="{FF2B5EF4-FFF2-40B4-BE49-F238E27FC236}">
                <a16:creationId xmlns:a16="http://schemas.microsoft.com/office/drawing/2014/main" id="{BA2728B6-252A-4F9F-BF17-94FFFB684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619750"/>
            <a:ext cx="704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一人操作、一人驗證；成果放在同一個工作區</a:t>
            </a:r>
          </a:p>
        </p:txBody>
      </p:sp>
    </p:spTree>
    <p:extLst>
      <p:ext uri="{BB962C8B-B14F-4D97-AF65-F5344CB8AC3E}">
        <p14:creationId xmlns:p14="http://schemas.microsoft.com/office/powerpoint/2010/main" val="138377781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91">
            <a:extLst xmlns:a="http://schemas.openxmlformats.org/drawingml/2006/main">
              <a:ext uri="{FF2B5EF4-FFF2-40B4-BE49-F238E27FC236}">
                <a16:creationId xmlns:a16="http://schemas.microsoft.com/office/drawing/2014/main" id="{29BCA199-A32F-46E2-B7CF-0A16843FB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START WITH A PROBLEM</a:t>
            </a:r>
          </a:p>
        </p:txBody>
      </p:sp>
      <p:sp>
        <p:nvSpPr>
          <p:cNvPr id="2" name="text-92">
            <a:extLst xmlns:a="http://schemas.openxmlformats.org/drawingml/2006/main">
              <a:ext uri="{FF2B5EF4-FFF2-40B4-BE49-F238E27FC236}">
                <a16:creationId xmlns:a16="http://schemas.microsoft.com/office/drawing/2014/main" id="{573E5670-B2EF-43D7-AB3D-A2E244557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先選一個真實教學或研究問題</a:t>
            </a:r>
          </a:p>
        </p:txBody>
      </p:sp>
      <p:cxnSp>
        <p:nvCxnSpPr>
          <p:cNvPr id="24" name="shape-9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94">
            <a:extLst xmlns:a="http://schemas.openxmlformats.org/drawingml/2006/main">
              <a:ext uri="{FF2B5EF4-FFF2-40B4-BE49-F238E27FC236}">
                <a16:creationId xmlns:a16="http://schemas.microsoft.com/office/drawing/2014/main" id="{44ACAD4D-9502-429F-9194-887816F62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1A03E0D-FBAE-4020-A623-9B180505D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6" name="shape-95">
            <a:extLst xmlns:a="http://schemas.openxmlformats.org/drawingml/2006/main">
              <a:ext uri="{FF2B5EF4-FFF2-40B4-BE49-F238E27FC236}">
                <a16:creationId xmlns:a16="http://schemas.microsoft.com/office/drawing/2014/main" id="{E9CC0FA1-DCBB-46FE-ABF7-6FBF94512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96">
            <a:extLst xmlns:a="http://schemas.openxmlformats.org/drawingml/2006/main">
              <a:ext uri="{FF2B5EF4-FFF2-40B4-BE49-F238E27FC236}">
                <a16:creationId xmlns:a16="http://schemas.microsoft.com/office/drawing/2014/main" id="{450269F4-C9B4-447E-A2B7-5D1EB9DDE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</a:t>
            </a:r>
          </a:p>
        </p:txBody>
      </p:sp>
      <p:sp>
        <p:nvSpPr>
          <p:cNvPr id="8" name="text-97">
            <a:extLst xmlns:a="http://schemas.openxmlformats.org/drawingml/2006/main">
              <a:ext uri="{FF2B5EF4-FFF2-40B4-BE49-F238E27FC236}">
                <a16:creationId xmlns:a16="http://schemas.microsoft.com/office/drawing/2014/main" id="{D4987049-69C1-47B0-9BE0-CCEB90465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內容太多</a:t>
            </a:r>
          </a:p>
        </p:txBody>
      </p:sp>
      <p:sp>
        <p:nvSpPr>
          <p:cNvPr id="9" name="text-98">
            <a:extLst xmlns:a="http://schemas.openxmlformats.org/drawingml/2006/main">
              <a:ext uri="{FF2B5EF4-FFF2-40B4-BE49-F238E27FC236}">
                <a16:creationId xmlns:a16="http://schemas.microsoft.com/office/drawing/2014/main" id="{769E1B31-0E67-45ED-B55B-88D5794B3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學生抓不到核心概念，研究者也難快速梳理多份來源。</a:t>
            </a:r>
          </a:p>
        </p:txBody>
      </p:sp>
      <p:sp>
        <p:nvSpPr>
          <p:cNvPr id="10" name="shape-99">
            <a:extLst xmlns:a="http://schemas.openxmlformats.org/drawingml/2006/main">
              <a:ext uri="{FF2B5EF4-FFF2-40B4-BE49-F238E27FC236}">
                <a16:creationId xmlns:a16="http://schemas.microsoft.com/office/drawing/2014/main" id="{0F0F7D8F-40C2-4E86-AB28-0D5FF286A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100">
            <a:extLst xmlns:a="http://schemas.openxmlformats.org/drawingml/2006/main">
              <a:ext uri="{FF2B5EF4-FFF2-40B4-BE49-F238E27FC236}">
                <a16:creationId xmlns:a16="http://schemas.microsoft.com/office/drawing/2014/main" id="{81E46AAE-758A-48FD-8488-1F99D5FAE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B</a:t>
            </a:r>
          </a:p>
        </p:txBody>
      </p:sp>
      <p:sp>
        <p:nvSpPr>
          <p:cNvPr id="12" name="text-101">
            <a:extLst xmlns:a="http://schemas.openxmlformats.org/drawingml/2006/main">
              <a:ext uri="{FF2B5EF4-FFF2-40B4-BE49-F238E27FC236}">
                <a16:creationId xmlns:a16="http://schemas.microsoft.com/office/drawing/2014/main" id="{34481F91-6A1A-4304-B6E1-88861C542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資料難分析</a:t>
            </a:r>
          </a:p>
        </p:txBody>
      </p:sp>
      <p:sp>
        <p:nvSpPr>
          <p:cNvPr id="13" name="text-102">
            <a:extLst xmlns:a="http://schemas.openxmlformats.org/drawingml/2006/main">
              <a:ext uri="{FF2B5EF4-FFF2-40B4-BE49-F238E27FC236}">
                <a16:creationId xmlns:a16="http://schemas.microsoft.com/office/drawing/2014/main" id="{08EFEFB4-14DE-438E-BFA4-9318ADE31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大量選擇題與簡答題需要整理、編碼、比對與人工複核。</a:t>
            </a:r>
          </a:p>
        </p:txBody>
      </p:sp>
      <p:sp>
        <p:nvSpPr>
          <p:cNvPr id="14" name="shape-103">
            <a:extLst xmlns:a="http://schemas.openxmlformats.org/drawingml/2006/main">
              <a:ext uri="{FF2B5EF4-FFF2-40B4-BE49-F238E27FC236}">
                <a16:creationId xmlns:a16="http://schemas.microsoft.com/office/drawing/2014/main" id="{5339CDC5-8C5D-40D3-8920-198D21F62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104">
            <a:extLst xmlns:a="http://schemas.openxmlformats.org/drawingml/2006/main">
              <a:ext uri="{FF2B5EF4-FFF2-40B4-BE49-F238E27FC236}">
                <a16:creationId xmlns:a16="http://schemas.microsoft.com/office/drawing/2014/main" id="{E78BB6FD-474C-4C52-9D6E-B0B6FE53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C</a:t>
            </a:r>
          </a:p>
        </p:txBody>
      </p:sp>
      <p:sp>
        <p:nvSpPr>
          <p:cNvPr id="16" name="text-105">
            <a:extLst xmlns:a="http://schemas.openxmlformats.org/drawingml/2006/main">
              <a:ext uri="{FF2B5EF4-FFF2-40B4-BE49-F238E27FC236}">
                <a16:creationId xmlns:a16="http://schemas.microsoft.com/office/drawing/2014/main" id="{39589201-4786-4369-A7A4-7F919EBEB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活動太平</a:t>
            </a:r>
          </a:p>
        </p:txBody>
      </p:sp>
      <p:sp>
        <p:nvSpPr>
          <p:cNvPr id="17" name="text-106">
            <a:extLst xmlns:a="http://schemas.openxmlformats.org/drawingml/2006/main">
              <a:ext uri="{FF2B5EF4-FFF2-40B4-BE49-F238E27FC236}">
                <a16:creationId xmlns:a16="http://schemas.microsoft.com/office/drawing/2014/main" id="{2A057739-C335-46E2-9DA8-E7AAD0FC3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希望把講述內容轉成可操作、可探索的互動任務。</a:t>
            </a:r>
          </a:p>
        </p:txBody>
      </p:sp>
      <p:sp>
        <p:nvSpPr>
          <p:cNvPr id="18" name="shape-107">
            <a:extLst xmlns:a="http://schemas.openxmlformats.org/drawingml/2006/main">
              <a:ext uri="{FF2B5EF4-FFF2-40B4-BE49-F238E27FC236}">
                <a16:creationId xmlns:a16="http://schemas.microsoft.com/office/drawing/2014/main" id="{A8681D53-7923-4D66-93F9-C37817CBE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108">
            <a:extLst xmlns:a="http://schemas.openxmlformats.org/drawingml/2006/main">
              <a:ext uri="{FF2B5EF4-FFF2-40B4-BE49-F238E27FC236}">
                <a16:creationId xmlns:a16="http://schemas.microsoft.com/office/drawing/2014/main" id="{6F7F33A9-BB3F-4456-860B-02957DB0A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</a:t>
            </a:r>
          </a:p>
        </p:txBody>
      </p:sp>
      <p:sp>
        <p:nvSpPr>
          <p:cNvPr id="20" name="text-109">
            <a:extLst xmlns:a="http://schemas.openxmlformats.org/drawingml/2006/main">
              <a:ext uri="{FF2B5EF4-FFF2-40B4-BE49-F238E27FC236}">
                <a16:creationId xmlns:a16="http://schemas.microsoft.com/office/drawing/2014/main" id="{AE489C6A-628C-42FB-9950-06A158B80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研究難累積</a:t>
            </a:r>
          </a:p>
        </p:txBody>
      </p:sp>
      <p:sp>
        <p:nvSpPr>
          <p:cNvPr id="21" name="text-110">
            <a:extLst xmlns:a="http://schemas.openxmlformats.org/drawingml/2006/main">
              <a:ext uri="{FF2B5EF4-FFF2-40B4-BE49-F238E27FC236}">
                <a16:creationId xmlns:a16="http://schemas.microsoft.com/office/drawing/2014/main" id="{84A30942-A4D9-4B93-9D27-5C14F6DF3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想把文獻、資料、方法與成果整理成可持續更新的工作區。</a:t>
            </a:r>
          </a:p>
        </p:txBody>
      </p:sp>
    </p:spTree>
    <p:extLst>
      <p:ext uri="{BB962C8B-B14F-4D97-AF65-F5344CB8AC3E}">
        <p14:creationId xmlns:p14="http://schemas.microsoft.com/office/powerpoint/2010/main" val="113982875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111">
            <a:extLst xmlns:a="http://schemas.openxmlformats.org/drawingml/2006/main">
              <a:ext uri="{FF2B5EF4-FFF2-40B4-BE49-F238E27FC236}">
                <a16:creationId xmlns:a16="http://schemas.microsoft.com/office/drawing/2014/main" id="{8C44ED9D-31CC-47CF-B886-93B7936F7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REAL EXAMPLES</a:t>
            </a:r>
          </a:p>
        </p:txBody>
      </p:sp>
      <p:sp>
        <p:nvSpPr>
          <p:cNvPr id="2" name="text-112">
            <a:extLst xmlns:a="http://schemas.openxmlformats.org/drawingml/2006/main">
              <a:ext uri="{FF2B5EF4-FFF2-40B4-BE49-F238E27FC236}">
                <a16:creationId xmlns:a16="http://schemas.microsoft.com/office/drawing/2014/main" id="{14138C65-2200-44AA-A9C2-700669294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123 個案例，不是作品櫃：是教學與研究需求資料庫</a:t>
            </a:r>
          </a:p>
        </p:txBody>
      </p:sp>
      <p:cxnSp>
        <p:nvCxnSpPr>
          <p:cNvPr id="12" name="shape-11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14">
            <a:extLst xmlns:a="http://schemas.openxmlformats.org/drawingml/2006/main">
              <a:ext uri="{FF2B5EF4-FFF2-40B4-BE49-F238E27FC236}">
                <a16:creationId xmlns:a16="http://schemas.microsoft.com/office/drawing/2014/main" id="{04453741-A435-479E-B60E-907DC1763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C1275FE-C1B9-45D2-8CD5-A68380008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07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7c2c6a75eb4cfa"/>
          <a:srcRect xmlns:a="http://schemas.openxmlformats.org/drawingml/2006/main" l="1389" t="0" r="138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600200"/>
            <a:ext cx="6934200" cy="4457700"/>
          </a:xfrm>
          <a:prstGeom xmlns:a="http://schemas.openxmlformats.org/drawingml/2006/main" prst="roundRect">
            <a:avLst>
              <a:gd name="adj" fmla="val 3419"/>
            </a:avLst>
          </a:prstGeom>
        </p:spPr>
      </p:pic>
      <p:sp>
        <p:nvSpPr>
          <p:cNvPr id="7" name="text-115">
            <a:extLst xmlns:a="http://schemas.openxmlformats.org/drawingml/2006/main">
              <a:ext uri="{FF2B5EF4-FFF2-40B4-BE49-F238E27FC236}">
                <a16:creationId xmlns:a16="http://schemas.microsoft.com/office/drawing/2014/main" id="{D553C4F4-250C-4BFD-B21F-91C3D27AA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75260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阿凱老師的教育科技創新專區</a:t>
            </a:r>
          </a:p>
        </p:txBody>
      </p:sp>
      <p:sp>
        <p:nvSpPr>
          <p:cNvPr id="8" name="text-116">
            <a:extLst xmlns:a="http://schemas.openxmlformats.org/drawingml/2006/main">
              <a:ext uri="{FF2B5EF4-FFF2-40B4-BE49-F238E27FC236}">
                <a16:creationId xmlns:a16="http://schemas.microsoft.com/office/drawing/2014/main" id="{404E90A9-E64D-4CBF-98E2-303EEC341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24150"/>
            <a:ext cx="37147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123 個老師做的免費工具卡片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從課堂互動、評語優化到行政自動化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每張卡片與部落格都可作為提示詞、介面與部署案例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網址：cagoooo.github.io/Akai/</a:t>
            </a:r>
          </a:p>
        </p:txBody>
      </p:sp>
      <p:sp>
        <p:nvSpPr>
          <p:cNvPr id="9" name="text-600">
            <a:extLst xmlns:a="http://schemas.openxmlformats.org/drawingml/2006/main">
              <a:ext uri="{FF2B5EF4-FFF2-40B4-BE49-F238E27FC236}">
                <a16:creationId xmlns:a16="http://schemas.microsoft.com/office/drawing/2014/main" id="{FF594086-0150-4663-B675-CD2B9FCA0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b3050cd2bb24e96"/>
              </a:rPr>
              <a:t>開啟教育科技創新專區 ↗</a:t>
            </a:r>
          </a:p>
        </p:txBody>
      </p:sp>
    </p:spTree>
    <p:extLst>
      <p:ext uri="{BB962C8B-B14F-4D97-AF65-F5344CB8AC3E}">
        <p14:creationId xmlns:p14="http://schemas.microsoft.com/office/powerpoint/2010/main" val="11325905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17">
            <a:extLst xmlns:a="http://schemas.openxmlformats.org/drawingml/2006/main">
              <a:ext uri="{FF2B5EF4-FFF2-40B4-BE49-F238E27FC236}">
                <a16:creationId xmlns:a16="http://schemas.microsoft.com/office/drawing/2014/main" id="{5BD2946A-97CB-47CF-8C15-BE7C6CBC4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text-118">
            <a:extLst xmlns:a="http://schemas.openxmlformats.org/drawingml/2006/main">
              <a:ext uri="{FF2B5EF4-FFF2-40B4-BE49-F238E27FC236}">
                <a16:creationId xmlns:a16="http://schemas.microsoft.com/office/drawing/2014/main" id="{06F915A9-69DF-48E6-8BB8-2CD192F9A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阿凱老師實戰案例導航｜語文、設計、互動</a:t>
            </a:r>
          </a:p>
        </p:txBody>
      </p:sp>
      <p:cxnSp>
        <p:nvCxnSpPr>
          <p:cNvPr id="27" name="shape-11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20">
            <a:extLst xmlns:a="http://schemas.openxmlformats.org/drawingml/2006/main">
              <a:ext uri="{FF2B5EF4-FFF2-40B4-BE49-F238E27FC236}">
                <a16:creationId xmlns:a16="http://schemas.microsoft.com/office/drawing/2014/main" id="{0517F76A-4752-41E9-BDBF-4FD373D61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86B53EF-A3F3-43AC-9692-3795CD5C6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08</a:t>
            </a:r>
          </a:p>
        </p:txBody>
      </p:sp>
      <p:sp>
        <p:nvSpPr>
          <p:cNvPr id="6" name="text-121">
            <a:extLst xmlns:a="http://schemas.openxmlformats.org/drawingml/2006/main">
              <a:ext uri="{FF2B5EF4-FFF2-40B4-BE49-F238E27FC236}">
                <a16:creationId xmlns:a16="http://schemas.microsoft.com/office/drawing/2014/main" id="{0BEA184C-D49A-464C-BF18-168EC03D7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先讀工具卡片理解設計脈絡，再直接開啟應用觀察輸入、輸出與操作流程。</a:t>
            </a:r>
          </a:p>
        </p:txBody>
      </p:sp>
      <p:sp>
        <p:nvSpPr>
          <p:cNvPr id="7" name="shape-122">
            <a:extLst xmlns:a="http://schemas.openxmlformats.org/drawingml/2006/main">
              <a:ext uri="{FF2B5EF4-FFF2-40B4-BE49-F238E27FC236}">
                <a16:creationId xmlns:a16="http://schemas.microsoft.com/office/drawing/2014/main" id="{992DC735-A144-4ACB-A998-544BD62FB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123">
            <a:extLst xmlns:a="http://schemas.openxmlformats.org/drawingml/2006/main">
              <a:ext uri="{FF2B5EF4-FFF2-40B4-BE49-F238E27FC236}">
                <a16:creationId xmlns:a16="http://schemas.microsoft.com/office/drawing/2014/main" id="{8DEF5308-43E8-4D87-AA3F-5FDFAA39E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#91 · 語文創作</a:t>
            </a:r>
          </a:p>
        </p:txBody>
      </p:sp>
      <p:sp>
        <p:nvSpPr>
          <p:cNvPr id="9" name="text-124">
            <a:extLst xmlns:a="http://schemas.openxmlformats.org/drawingml/2006/main">
              <a:ext uri="{FF2B5EF4-FFF2-40B4-BE49-F238E27FC236}">
                <a16:creationId xmlns:a16="http://schemas.microsoft.com/office/drawing/2014/main" id="{6D02EFD6-52D1-4E3D-80F1-694C0F98C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✨ 點亮詩意 Pro ✨早安長輩圖</a:t>
            </a:r>
          </a:p>
        </p:txBody>
      </p:sp>
      <p:sp>
        <p:nvSpPr>
          <p:cNvPr id="10" name="text-125">
            <a:extLst xmlns:a="http://schemas.openxmlformats.org/drawingml/2006/main">
              <a:ext uri="{FF2B5EF4-FFF2-40B4-BE49-F238E27FC236}">
                <a16:creationId xmlns:a16="http://schemas.microsoft.com/office/drawing/2014/main" id="{7B3CA20E-0395-475C-A06D-5A85944EC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上傳照片產出繁體詩詞與圖文作品，適合看圖寫詩、意境討論與數位創作。</a:t>
            </a:r>
          </a:p>
        </p:txBody>
      </p:sp>
      <p:sp>
        <p:nvSpPr>
          <p:cNvPr id="11" name="text-126">
            <a:extLst xmlns:a="http://schemas.openxmlformats.org/drawingml/2006/main">
              <a:ext uri="{FF2B5EF4-FFF2-40B4-BE49-F238E27FC236}">
                <a16:creationId xmlns:a16="http://schemas.microsoft.com/office/drawing/2014/main" id="{52701B84-1FDE-4D61-BD4A-9BDDB22B2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317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cda605f64174bd1"/>
              </a:rPr>
              <a:t>工具卡片介紹 ↗</a:t>
            </a:r>
          </a:p>
        </p:txBody>
      </p:sp>
      <p:sp>
        <p:nvSpPr>
          <p:cNvPr id="12" name="text-127">
            <a:extLst xmlns:a="http://schemas.openxmlformats.org/drawingml/2006/main">
              <a:ext uri="{FF2B5EF4-FFF2-40B4-BE49-F238E27FC236}">
                <a16:creationId xmlns:a16="http://schemas.microsoft.com/office/drawing/2014/main" id="{CA0F298E-2E2B-4985-9FAF-47BA442AC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317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5c9249976114ebc"/>
              </a:rPr>
              <a:t>直接開啟應用 ↗</a:t>
            </a:r>
          </a:p>
        </p:txBody>
      </p:sp>
      <p:sp>
        <p:nvSpPr>
          <p:cNvPr id="13" name="shape-128">
            <a:extLst xmlns:a="http://schemas.openxmlformats.org/drawingml/2006/main">
              <a:ext uri="{FF2B5EF4-FFF2-40B4-BE49-F238E27FC236}">
                <a16:creationId xmlns:a16="http://schemas.microsoft.com/office/drawing/2014/main" id="{4B406B04-C5FF-4F65-AA46-9787D7F37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4" name="text-129">
            <a:extLst xmlns:a="http://schemas.openxmlformats.org/drawingml/2006/main">
              <a:ext uri="{FF2B5EF4-FFF2-40B4-BE49-F238E27FC236}">
                <a16:creationId xmlns:a16="http://schemas.microsoft.com/office/drawing/2014/main" id="{BF7D40D5-E018-439E-A753-FEEA1CF95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#58 · 教學設計</a:t>
            </a:r>
          </a:p>
        </p:txBody>
      </p:sp>
      <p:sp>
        <p:nvSpPr>
          <p:cNvPr id="15" name="text-130">
            <a:extLst xmlns:a="http://schemas.openxmlformats.org/drawingml/2006/main">
              <a:ext uri="{FF2B5EF4-FFF2-40B4-BE49-F238E27FC236}">
                <a16:creationId xmlns:a16="http://schemas.microsoft.com/office/drawing/2014/main" id="{0170DE06-936E-4A82-854E-BAAFA6022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教師數位備課教案小幫手</a:t>
            </a:r>
          </a:p>
        </p:txBody>
      </p:sp>
      <p:sp>
        <p:nvSpPr>
          <p:cNvPr id="16" name="text-131">
            <a:extLst xmlns:a="http://schemas.openxmlformats.org/drawingml/2006/main">
              <a:ext uri="{FF2B5EF4-FFF2-40B4-BE49-F238E27FC236}">
                <a16:creationId xmlns:a16="http://schemas.microsoft.com/office/drawing/2014/main" id="{B6BFCF43-C3CA-4675-96CD-0673AE5E4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AI 產出教案與活動設計，示範從教學需求走到可使用的成果。</a:t>
            </a:r>
          </a:p>
        </p:txBody>
      </p:sp>
      <p:sp>
        <p:nvSpPr>
          <p:cNvPr id="17" name="text-132">
            <a:extLst xmlns:a="http://schemas.openxmlformats.org/drawingml/2006/main">
              <a:ext uri="{FF2B5EF4-FFF2-40B4-BE49-F238E27FC236}">
                <a16:creationId xmlns:a16="http://schemas.microsoft.com/office/drawing/2014/main" id="{0C61B7EA-C854-4E7C-9E04-3258F006F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317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10c6f61478e43e5"/>
              </a:rPr>
              <a:t>工具卡片介紹 ↗</a:t>
            </a:r>
          </a:p>
        </p:txBody>
      </p:sp>
      <p:sp>
        <p:nvSpPr>
          <p:cNvPr id="18" name="text-133">
            <a:extLst xmlns:a="http://schemas.openxmlformats.org/drawingml/2006/main">
              <a:ext uri="{FF2B5EF4-FFF2-40B4-BE49-F238E27FC236}">
                <a16:creationId xmlns:a16="http://schemas.microsoft.com/office/drawing/2014/main" id="{551023E6-BE3B-42D7-A190-64A30E720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317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e951f64adbd4a39"/>
              </a:rPr>
              <a:t>直接開啟應用 ↗</a:t>
            </a:r>
          </a:p>
        </p:txBody>
      </p:sp>
      <p:sp>
        <p:nvSpPr>
          <p:cNvPr id="19" name="shape-134">
            <a:extLst xmlns:a="http://schemas.openxmlformats.org/drawingml/2006/main">
              <a:ext uri="{FF2B5EF4-FFF2-40B4-BE49-F238E27FC236}">
                <a16:creationId xmlns:a16="http://schemas.microsoft.com/office/drawing/2014/main" id="{564DC6A4-5718-458C-8EDB-6A7C3A57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0" name="text-135">
            <a:extLst xmlns:a="http://schemas.openxmlformats.org/drawingml/2006/main">
              <a:ext uri="{FF2B5EF4-FFF2-40B4-BE49-F238E27FC236}">
                <a16:creationId xmlns:a16="http://schemas.microsoft.com/office/drawing/2014/main" id="{C46D05F7-922C-4C4E-8CD5-009E06474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#11 · 互動網站</a:t>
            </a:r>
          </a:p>
        </p:txBody>
      </p:sp>
      <p:sp>
        <p:nvSpPr>
          <p:cNvPr id="21" name="text-136">
            <a:extLst xmlns:a="http://schemas.openxmlformats.org/drawingml/2006/main">
              <a:ext uri="{FF2B5EF4-FFF2-40B4-BE49-F238E27FC236}">
                <a16:creationId xmlns:a16="http://schemas.microsoft.com/office/drawing/2014/main" id="{598707DC-1F49-45B7-B74F-842589603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剛好學：課堂互動 so easy</a:t>
            </a:r>
          </a:p>
        </p:txBody>
      </p:sp>
      <p:sp>
        <p:nvSpPr>
          <p:cNvPr id="22" name="text-137">
            <a:extLst xmlns:a="http://schemas.openxmlformats.org/drawingml/2006/main">
              <a:ext uri="{FF2B5EF4-FFF2-40B4-BE49-F238E27FC236}">
                <a16:creationId xmlns:a16="http://schemas.microsoft.com/office/drawing/2014/main" id="{6BBEDD40-C7EF-4CEB-A6B4-C6BE6EFB5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13 種互動模式涵蓋投票、閱讀測驗、文字雲、繪圖題與作品牆。</a:t>
            </a:r>
          </a:p>
        </p:txBody>
      </p:sp>
      <p:sp>
        <p:nvSpPr>
          <p:cNvPr id="23" name="text-138">
            <a:extLst xmlns:a="http://schemas.openxmlformats.org/drawingml/2006/main">
              <a:ext uri="{FF2B5EF4-FFF2-40B4-BE49-F238E27FC236}">
                <a16:creationId xmlns:a16="http://schemas.microsoft.com/office/drawing/2014/main" id="{49426A49-21DA-4158-995D-2EC26939E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317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bc4e435cb034489"/>
              </a:rPr>
              <a:t>工具卡片介紹 ↗</a:t>
            </a:r>
          </a:p>
        </p:txBody>
      </p:sp>
      <p:sp>
        <p:nvSpPr>
          <p:cNvPr id="24" name="text-139">
            <a:extLst xmlns:a="http://schemas.openxmlformats.org/drawingml/2006/main">
              <a:ext uri="{FF2B5EF4-FFF2-40B4-BE49-F238E27FC236}">
                <a16:creationId xmlns:a16="http://schemas.microsoft.com/office/drawing/2014/main" id="{B1258F1A-50E6-4D9E-9859-237740B6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317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24e12188c154a4d"/>
              </a:rPr>
              <a:t>直接開啟應用 ↗</a:t>
            </a:r>
          </a:p>
        </p:txBody>
      </p:sp>
    </p:spTree>
    <p:extLst>
      <p:ext uri="{BB962C8B-B14F-4D97-AF65-F5344CB8AC3E}">
        <p14:creationId xmlns:p14="http://schemas.microsoft.com/office/powerpoint/2010/main" val="159762129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40">
            <a:extLst xmlns:a="http://schemas.openxmlformats.org/drawingml/2006/main">
              <a:ext uri="{FF2B5EF4-FFF2-40B4-BE49-F238E27FC236}">
                <a16:creationId xmlns:a16="http://schemas.microsoft.com/office/drawing/2014/main" id="{F21E02EA-E306-4AC2-A81C-FFBCD45DE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text-141">
            <a:extLst xmlns:a="http://schemas.openxmlformats.org/drawingml/2006/main">
              <a:ext uri="{FF2B5EF4-FFF2-40B4-BE49-F238E27FC236}">
                <a16:creationId xmlns:a16="http://schemas.microsoft.com/office/drawing/2014/main" id="{B7413429-E974-45B7-9361-90F88F4B8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阿凱老師實戰案例導航｜評量與部署</a:t>
            </a:r>
          </a:p>
        </p:txBody>
      </p:sp>
      <p:cxnSp>
        <p:nvCxnSpPr>
          <p:cNvPr id="27" name="shape-14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43">
            <a:extLst xmlns:a="http://schemas.openxmlformats.org/drawingml/2006/main">
              <a:ext uri="{FF2B5EF4-FFF2-40B4-BE49-F238E27FC236}">
                <a16:creationId xmlns:a16="http://schemas.microsoft.com/office/drawing/2014/main" id="{76991F4D-0CA9-496E-BFE6-80324221D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4CAA9FC-FB7F-4A7C-BBB8-43873E6FA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09</a:t>
            </a:r>
          </a:p>
        </p:txBody>
      </p:sp>
      <p:sp>
        <p:nvSpPr>
          <p:cNvPr id="6" name="text-144">
            <a:extLst xmlns:a="http://schemas.openxmlformats.org/drawingml/2006/main">
              <a:ext uri="{FF2B5EF4-FFF2-40B4-BE49-F238E27FC236}">
                <a16:creationId xmlns:a16="http://schemas.microsoft.com/office/drawing/2014/main" id="{7E9CF212-A28D-41D1-A8B2-851493847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比較同一個教學構想如何透過即時回饋、Google Sites 與 GitHub Pages 落地。</a:t>
            </a:r>
          </a:p>
        </p:txBody>
      </p:sp>
      <p:sp>
        <p:nvSpPr>
          <p:cNvPr id="7" name="shape-145">
            <a:extLst xmlns:a="http://schemas.openxmlformats.org/drawingml/2006/main">
              <a:ext uri="{FF2B5EF4-FFF2-40B4-BE49-F238E27FC236}">
                <a16:creationId xmlns:a16="http://schemas.microsoft.com/office/drawing/2014/main" id="{1F35D880-C6DE-4F47-9EAE-09637E322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146">
            <a:extLst xmlns:a="http://schemas.openxmlformats.org/drawingml/2006/main">
              <a:ext uri="{FF2B5EF4-FFF2-40B4-BE49-F238E27FC236}">
                <a16:creationId xmlns:a16="http://schemas.microsoft.com/office/drawing/2014/main" id="{424D4C60-B627-4749-BCD3-CC2BF787C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#3 · 形成性評量</a:t>
            </a:r>
          </a:p>
        </p:txBody>
      </p:sp>
      <p:sp>
        <p:nvSpPr>
          <p:cNvPr id="9" name="text-147">
            <a:extLst xmlns:a="http://schemas.openxmlformats.org/drawingml/2006/main">
              <a:ext uri="{FF2B5EF4-FFF2-40B4-BE49-F238E27FC236}">
                <a16:creationId xmlns:a16="http://schemas.microsoft.com/office/drawing/2014/main" id="{792FE112-4044-441E-87AF-B1725330A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學生即時投票系統</a:t>
            </a:r>
          </a:p>
        </p:txBody>
      </p:sp>
      <p:sp>
        <p:nvSpPr>
          <p:cNvPr id="10" name="text-148">
            <a:extLst xmlns:a="http://schemas.openxmlformats.org/drawingml/2006/main">
              <a:ext uri="{FF2B5EF4-FFF2-40B4-BE49-F238E27FC236}">
                <a16:creationId xmlns:a16="http://schemas.microsoft.com/office/drawing/2014/main" id="{BE5F9E5B-4DC8-4F00-B345-C785E70B6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掃 QR Code 即時作答；連投影片上的題目也能快速轉成互動活動。</a:t>
            </a:r>
          </a:p>
        </p:txBody>
      </p:sp>
      <p:sp>
        <p:nvSpPr>
          <p:cNvPr id="11" name="text-149">
            <a:extLst xmlns:a="http://schemas.openxmlformats.org/drawingml/2006/main">
              <a:ext uri="{FF2B5EF4-FFF2-40B4-BE49-F238E27FC236}">
                <a16:creationId xmlns:a16="http://schemas.microsoft.com/office/drawing/2014/main" id="{94B86C4D-F7ED-418F-A4FE-EE6EBEE8B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317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81c93f408c04125"/>
              </a:rPr>
              <a:t>工具卡片介紹 ↗</a:t>
            </a:r>
          </a:p>
        </p:txBody>
      </p:sp>
      <p:sp>
        <p:nvSpPr>
          <p:cNvPr id="12" name="text-150">
            <a:extLst xmlns:a="http://schemas.openxmlformats.org/drawingml/2006/main">
              <a:ext uri="{FF2B5EF4-FFF2-40B4-BE49-F238E27FC236}">
                <a16:creationId xmlns:a16="http://schemas.microsoft.com/office/drawing/2014/main" id="{A9586241-A05D-4991-8895-BF977FA89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317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7ee97d9bf514680"/>
              </a:rPr>
              <a:t>直接開啟應用 ↗</a:t>
            </a:r>
          </a:p>
        </p:txBody>
      </p:sp>
      <p:sp>
        <p:nvSpPr>
          <p:cNvPr id="13" name="shape-151">
            <a:extLst xmlns:a="http://schemas.openxmlformats.org/drawingml/2006/main">
              <a:ext uri="{FF2B5EF4-FFF2-40B4-BE49-F238E27FC236}">
                <a16:creationId xmlns:a16="http://schemas.microsoft.com/office/drawing/2014/main" id="{5AFFB9DD-61F2-4AD4-9628-528B3C12F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4" name="text-152">
            <a:extLst xmlns:a="http://schemas.openxmlformats.org/drawingml/2006/main">
              <a:ext uri="{FF2B5EF4-FFF2-40B4-BE49-F238E27FC236}">
                <a16:creationId xmlns:a16="http://schemas.microsoft.com/office/drawing/2014/main" id="{C044E343-1D47-45BC-ACFD-BF42A6A2C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#24 · Google Sites</a:t>
            </a:r>
          </a:p>
        </p:txBody>
      </p:sp>
      <p:sp>
        <p:nvSpPr>
          <p:cNvPr id="15" name="text-153">
            <a:extLst xmlns:a="http://schemas.openxmlformats.org/drawingml/2006/main">
              <a:ext uri="{FF2B5EF4-FFF2-40B4-BE49-F238E27FC236}">
                <a16:creationId xmlns:a16="http://schemas.microsoft.com/office/drawing/2014/main" id="{878123A0-7503-49BC-BA79-86A49F576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教師午會記錄報告站</a:t>
            </a:r>
          </a:p>
        </p:txBody>
      </p:sp>
      <p:sp>
        <p:nvSpPr>
          <p:cNvPr id="16" name="text-154">
            <a:extLst xmlns:a="http://schemas.openxmlformats.org/drawingml/2006/main">
              <a:ext uri="{FF2B5EF4-FFF2-40B4-BE49-F238E27FC236}">
                <a16:creationId xmlns:a16="http://schemas.microsoft.com/office/drawing/2014/main" id="{ACA26306-9D68-4D9C-A306-3B92E8D9B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以 Google Sites 承載會議紀錄與互動式報告，示範嵌入與分享。</a:t>
            </a:r>
          </a:p>
        </p:txBody>
      </p:sp>
      <p:sp>
        <p:nvSpPr>
          <p:cNvPr id="17" name="text-155">
            <a:extLst xmlns:a="http://schemas.openxmlformats.org/drawingml/2006/main">
              <a:ext uri="{FF2B5EF4-FFF2-40B4-BE49-F238E27FC236}">
                <a16:creationId xmlns:a16="http://schemas.microsoft.com/office/drawing/2014/main" id="{C099B09D-CEBE-4372-8446-03FD26C48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317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6edd6a1d71e40f1"/>
              </a:rPr>
              <a:t>工具卡片介紹 ↗</a:t>
            </a:r>
          </a:p>
        </p:txBody>
      </p:sp>
      <p:sp>
        <p:nvSpPr>
          <p:cNvPr id="18" name="text-156">
            <a:extLst xmlns:a="http://schemas.openxmlformats.org/drawingml/2006/main">
              <a:ext uri="{FF2B5EF4-FFF2-40B4-BE49-F238E27FC236}">
                <a16:creationId xmlns:a16="http://schemas.microsoft.com/office/drawing/2014/main" id="{3A50573B-EC1B-4903-A917-F0C1ECF22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317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9e7a8162c004308"/>
              </a:rPr>
              <a:t>直接開啟應用 ↗</a:t>
            </a:r>
          </a:p>
        </p:txBody>
      </p:sp>
      <p:sp>
        <p:nvSpPr>
          <p:cNvPr id="19" name="shape-157">
            <a:extLst xmlns:a="http://schemas.openxmlformats.org/drawingml/2006/main">
              <a:ext uri="{FF2B5EF4-FFF2-40B4-BE49-F238E27FC236}">
                <a16:creationId xmlns:a16="http://schemas.microsoft.com/office/drawing/2014/main" id="{FEDF3288-CD31-4243-B5C9-8E3734F59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0" name="text-158">
            <a:extLst xmlns:a="http://schemas.openxmlformats.org/drawingml/2006/main">
              <a:ext uri="{FF2B5EF4-FFF2-40B4-BE49-F238E27FC236}">
                <a16:creationId xmlns:a16="http://schemas.microsoft.com/office/drawing/2014/main" id="{3D05F980-3133-43F3-94EF-570E98B8A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#81 · GitHub Pages</a:t>
            </a:r>
          </a:p>
        </p:txBody>
      </p:sp>
      <p:sp>
        <p:nvSpPr>
          <p:cNvPr id="21" name="text-159">
            <a:extLst xmlns:a="http://schemas.openxmlformats.org/drawingml/2006/main">
              <a:ext uri="{FF2B5EF4-FFF2-40B4-BE49-F238E27FC236}">
                <a16:creationId xmlns:a16="http://schemas.microsoft.com/office/drawing/2014/main" id="{AFCFD257-E037-43B4-AD22-A6A6FB109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國小資訊科技教學駕駛艙</a:t>
            </a:r>
          </a:p>
        </p:txBody>
      </p:sp>
      <p:sp>
        <p:nvSpPr>
          <p:cNvPr id="22" name="text-160">
            <a:extLst xmlns:a="http://schemas.openxmlformats.org/drawingml/2006/main">
              <a:ext uri="{FF2B5EF4-FFF2-40B4-BE49-F238E27FC236}">
                <a16:creationId xmlns:a16="http://schemas.microsoft.com/office/drawing/2014/main" id="{6A23B1EE-D27C-48D7-A0D0-DFB63463C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整合全學期課程、影片、Canvas 關卡與評量入口的一站式教學網站。</a:t>
            </a:r>
          </a:p>
        </p:txBody>
      </p:sp>
      <p:sp>
        <p:nvSpPr>
          <p:cNvPr id="23" name="text-161">
            <a:extLst xmlns:a="http://schemas.openxmlformats.org/drawingml/2006/main">
              <a:ext uri="{FF2B5EF4-FFF2-40B4-BE49-F238E27FC236}">
                <a16:creationId xmlns:a16="http://schemas.microsoft.com/office/drawing/2014/main" id="{895E9C6E-A79B-4DB7-AEF0-831517388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317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faa18b896d04407"/>
              </a:rPr>
              <a:t>工具卡片介紹 ↗</a:t>
            </a:r>
          </a:p>
        </p:txBody>
      </p:sp>
      <p:sp>
        <p:nvSpPr>
          <p:cNvPr id="24" name="text-162">
            <a:extLst xmlns:a="http://schemas.openxmlformats.org/drawingml/2006/main">
              <a:ext uri="{FF2B5EF4-FFF2-40B4-BE49-F238E27FC236}">
                <a16:creationId xmlns:a16="http://schemas.microsoft.com/office/drawing/2014/main" id="{571FF186-724F-4808-ACA0-4FE16ABB9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317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454c55684c941de"/>
              </a:rPr>
              <a:t>直接開啟應用 ↗</a:t>
            </a:r>
          </a:p>
        </p:txBody>
      </p:sp>
    </p:spTree>
    <p:extLst>
      <p:ext uri="{BB962C8B-B14F-4D97-AF65-F5344CB8AC3E}">
        <p14:creationId xmlns:p14="http://schemas.microsoft.com/office/powerpoint/2010/main" val="173519423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163">
            <a:extLst xmlns:a="http://schemas.openxmlformats.org/drawingml/2006/main">
              <a:ext uri="{FF2B5EF4-FFF2-40B4-BE49-F238E27FC236}">
                <a16:creationId xmlns:a16="http://schemas.microsoft.com/office/drawing/2014/main" id="{62C09E07-E4FD-4213-BD6D-1EF6DCEF9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THE TEACHING STUDIO</a:t>
            </a:r>
          </a:p>
        </p:txBody>
      </p:sp>
      <p:sp>
        <p:nvSpPr>
          <p:cNvPr id="2" name="text-164">
            <a:extLst xmlns:a="http://schemas.openxmlformats.org/drawingml/2006/main">
              <a:ext uri="{FF2B5EF4-FFF2-40B4-BE49-F238E27FC236}">
                <a16:creationId xmlns:a16="http://schemas.microsoft.com/office/drawing/2014/main" id="{50970BA0-1B93-46E8-841F-5E8FE4BB9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一條完整產線，四個工具各司其職</a:t>
            </a:r>
          </a:p>
        </p:txBody>
      </p:sp>
      <p:cxnSp>
        <p:nvCxnSpPr>
          <p:cNvPr id="28" name="shape-16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66">
            <a:extLst xmlns:a="http://schemas.openxmlformats.org/drawingml/2006/main">
              <a:ext uri="{FF2B5EF4-FFF2-40B4-BE49-F238E27FC236}">
                <a16:creationId xmlns:a16="http://schemas.microsoft.com/office/drawing/2014/main" id="{44DF219F-176A-49DD-AD1A-0AC167FCF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7204267-CC4E-4767-9408-A883CF42A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10</a:t>
            </a:r>
          </a:p>
        </p:txBody>
      </p:sp>
      <p:sp>
        <p:nvSpPr>
          <p:cNvPr id="6" name="text-167">
            <a:extLst xmlns:a="http://schemas.openxmlformats.org/drawingml/2006/main">
              <a:ext uri="{FF2B5EF4-FFF2-40B4-BE49-F238E27FC236}">
                <a16:creationId xmlns:a16="http://schemas.microsoft.com/office/drawing/2014/main" id="{ACF29AC3-A65A-43ED-A2C2-81DA9C407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7" name="text-168">
            <a:extLst xmlns:a="http://schemas.openxmlformats.org/drawingml/2006/main">
              <a:ext uri="{FF2B5EF4-FFF2-40B4-BE49-F238E27FC236}">
                <a16:creationId xmlns:a16="http://schemas.microsoft.com/office/drawing/2014/main" id="{BFA8399C-55EA-4EB4-A9B0-B5717E5F5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</a:t>
            </a:r>
          </a:p>
        </p:txBody>
      </p:sp>
      <p:sp>
        <p:nvSpPr>
          <p:cNvPr id="8" name="text-169">
            <a:extLst xmlns:a="http://schemas.openxmlformats.org/drawingml/2006/main">
              <a:ext uri="{FF2B5EF4-FFF2-40B4-BE49-F238E27FC236}">
                <a16:creationId xmlns:a16="http://schemas.microsoft.com/office/drawing/2014/main" id="{9777C761-7E9C-47AD-AD09-81AF3BF7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課綱、論文、講義、網站</a:t>
            </a:r>
          </a:p>
        </p:txBody>
      </p:sp>
      <p:sp>
        <p:nvSpPr>
          <p:cNvPr id="9" name="text-170">
            <a:extLst xmlns:a="http://schemas.openxmlformats.org/drawingml/2006/main">
              <a:ext uri="{FF2B5EF4-FFF2-40B4-BE49-F238E27FC236}">
                <a16:creationId xmlns:a16="http://schemas.microsoft.com/office/drawing/2014/main" id="{D1C75865-7A70-48A9-A596-8C7D6652E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0" name="text-171">
            <a:extLst xmlns:a="http://schemas.openxmlformats.org/drawingml/2006/main">
              <a:ext uri="{FF2B5EF4-FFF2-40B4-BE49-F238E27FC236}">
                <a16:creationId xmlns:a16="http://schemas.microsoft.com/office/drawing/2014/main" id="{8D606231-D24D-420F-9C95-4FACB32FD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72">
            <a:extLst xmlns:a="http://schemas.openxmlformats.org/drawingml/2006/main">
              <a:ext uri="{FF2B5EF4-FFF2-40B4-BE49-F238E27FC236}">
                <a16:creationId xmlns:a16="http://schemas.microsoft.com/office/drawing/2014/main" id="{E137CFAE-64DD-4D4F-ADFD-B5CE423C8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sp>
        <p:nvSpPr>
          <p:cNvPr id="12" name="text-173">
            <a:extLst xmlns:a="http://schemas.openxmlformats.org/drawingml/2006/main">
              <a:ext uri="{FF2B5EF4-FFF2-40B4-BE49-F238E27FC236}">
                <a16:creationId xmlns:a16="http://schemas.microsoft.com/office/drawing/2014/main" id="{96521A21-AD2A-419C-A858-49C6E39DD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查證、整理、轉化</a:t>
            </a:r>
          </a:p>
        </p:txBody>
      </p:sp>
      <p:sp>
        <p:nvSpPr>
          <p:cNvPr id="13" name="text-174">
            <a:extLst xmlns:a="http://schemas.openxmlformats.org/drawingml/2006/main">
              <a:ext uri="{FF2B5EF4-FFF2-40B4-BE49-F238E27FC236}">
                <a16:creationId xmlns:a16="http://schemas.microsoft.com/office/drawing/2014/main" id="{3DA923F7-53C3-4735-B577-86FA34C74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4" name="text-175">
            <a:extLst xmlns:a="http://schemas.openxmlformats.org/drawingml/2006/main">
              <a:ext uri="{FF2B5EF4-FFF2-40B4-BE49-F238E27FC236}">
                <a16:creationId xmlns:a16="http://schemas.microsoft.com/office/drawing/2014/main" id="{932B41A1-59E9-42E0-9350-91B9BEDFA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5" name="text-176">
            <a:extLst xmlns:a="http://schemas.openxmlformats.org/drawingml/2006/main">
              <a:ext uri="{FF2B5EF4-FFF2-40B4-BE49-F238E27FC236}">
                <a16:creationId xmlns:a16="http://schemas.microsoft.com/office/drawing/2014/main" id="{8B1E1499-2D1F-4196-AC28-E0F3FE9CE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16" name="text-177">
            <a:extLst xmlns:a="http://schemas.openxmlformats.org/drawingml/2006/main">
              <a:ext uri="{FF2B5EF4-FFF2-40B4-BE49-F238E27FC236}">
                <a16:creationId xmlns:a16="http://schemas.microsoft.com/office/drawing/2014/main" id="{CB710076-EA85-46ED-AE80-131FAAAC6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固定角色與方法</a:t>
            </a:r>
          </a:p>
        </p:txBody>
      </p:sp>
      <p:sp>
        <p:nvSpPr>
          <p:cNvPr id="17" name="text-178">
            <a:extLst xmlns:a="http://schemas.openxmlformats.org/drawingml/2006/main">
              <a:ext uri="{FF2B5EF4-FFF2-40B4-BE49-F238E27FC236}">
                <a16:creationId xmlns:a16="http://schemas.microsoft.com/office/drawing/2014/main" id="{99E915E0-B228-4433-8324-ABA58B85B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text-179">
            <a:extLst xmlns:a="http://schemas.openxmlformats.org/drawingml/2006/main">
              <a:ext uri="{FF2B5EF4-FFF2-40B4-BE49-F238E27FC236}">
                <a16:creationId xmlns:a16="http://schemas.microsoft.com/office/drawing/2014/main" id="{DC48CD23-2ED9-4325-BF4B-D6FFF1011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9" name="text-180">
            <a:extLst xmlns:a="http://schemas.openxmlformats.org/drawingml/2006/main">
              <a:ext uri="{FF2B5EF4-FFF2-40B4-BE49-F238E27FC236}">
                <a16:creationId xmlns:a16="http://schemas.microsoft.com/office/drawing/2014/main" id="{9D8270E8-5A85-4977-BE78-D2F0CDB34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sp>
        <p:nvSpPr>
          <p:cNvPr id="20" name="text-181">
            <a:extLst xmlns:a="http://schemas.openxmlformats.org/drawingml/2006/main">
              <a:ext uri="{FF2B5EF4-FFF2-40B4-BE49-F238E27FC236}">
                <a16:creationId xmlns:a16="http://schemas.microsoft.com/office/drawing/2014/main" id="{56726C3B-2E09-45A5-A377-C0BC55AA7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做出互動作品</a:t>
            </a:r>
          </a:p>
        </p:txBody>
      </p:sp>
      <p:sp>
        <p:nvSpPr>
          <p:cNvPr id="21" name="text-182">
            <a:extLst xmlns:a="http://schemas.openxmlformats.org/drawingml/2006/main">
              <a:ext uri="{FF2B5EF4-FFF2-40B4-BE49-F238E27FC236}">
                <a16:creationId xmlns:a16="http://schemas.microsoft.com/office/drawing/2014/main" id="{E05FC624-2697-4B98-B1AF-20A4B9D64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2" name="text-183">
            <a:extLst xmlns:a="http://schemas.openxmlformats.org/drawingml/2006/main">
              <a:ext uri="{FF2B5EF4-FFF2-40B4-BE49-F238E27FC236}">
                <a16:creationId xmlns:a16="http://schemas.microsoft.com/office/drawing/2014/main" id="{C6DC19A0-935F-4E6D-AC1A-67DE12481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23" name="text-184">
            <a:extLst xmlns:a="http://schemas.openxmlformats.org/drawingml/2006/main">
              <a:ext uri="{FF2B5EF4-FFF2-40B4-BE49-F238E27FC236}">
                <a16:creationId xmlns:a16="http://schemas.microsoft.com/office/drawing/2014/main" id="{7E25ACDE-35AD-43BD-A1ED-F5CFA0F3D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</a:t>
            </a:r>
          </a:p>
        </p:txBody>
      </p:sp>
      <p:sp>
        <p:nvSpPr>
          <p:cNvPr id="24" name="text-185">
            <a:extLst xmlns:a="http://schemas.openxmlformats.org/drawingml/2006/main">
              <a:ext uri="{FF2B5EF4-FFF2-40B4-BE49-F238E27FC236}">
                <a16:creationId xmlns:a16="http://schemas.microsoft.com/office/drawing/2014/main" id="{B50FDBDF-6182-4D4A-B093-1A084CF77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分享、收集回饋</a:t>
            </a:r>
          </a:p>
        </p:txBody>
      </p:sp>
      <p:sp>
        <p:nvSpPr>
          <p:cNvPr id="25" name="text-186">
            <a:extLst xmlns:a="http://schemas.openxmlformats.org/drawingml/2006/main">
              <a:ext uri="{FF2B5EF4-FFF2-40B4-BE49-F238E27FC236}">
                <a16:creationId xmlns:a16="http://schemas.microsoft.com/office/drawing/2014/main" id="{C0C6AA96-760B-4B1C-A331-099D236F0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59679493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187">
            <a:extLst xmlns:a="http://schemas.openxmlformats.org/drawingml/2006/main">
              <a:ext uri="{FF2B5EF4-FFF2-40B4-BE49-F238E27FC236}">
                <a16:creationId xmlns:a16="http://schemas.microsoft.com/office/drawing/2014/main" id="{37F1227B-974C-49F9-8D29-4ABFAC5A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2" name="text-188">
            <a:extLst xmlns:a="http://schemas.openxmlformats.org/drawingml/2006/main">
              <a:ext uri="{FF2B5EF4-FFF2-40B4-BE49-F238E27FC236}">
                <a16:creationId xmlns:a16="http://schemas.microsoft.com/office/drawing/2014/main" id="{C711F2D9-35AA-4A32-84FF-52A928BEC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3" name="text-189">
            <a:extLst xmlns:a="http://schemas.openxmlformats.org/drawingml/2006/main">
              <a:ext uri="{FF2B5EF4-FFF2-40B4-BE49-F238E27FC236}">
                <a16:creationId xmlns:a16="http://schemas.microsoft.com/office/drawing/2014/main" id="{0EAB48D0-8932-4C58-B35C-3382063D2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 AI 的回答綁在你選定的來源上，讓文獻整理、觀點比較與教學轉化都有跡可循。</a:t>
            </a:r>
          </a:p>
        </p:txBody>
      </p:sp>
      <p:sp>
        <p:nvSpPr>
          <p:cNvPr id="4" name="shape-190">
            <a:extLst xmlns:a="http://schemas.openxmlformats.org/drawingml/2006/main">
              <a:ext uri="{FF2B5EF4-FFF2-40B4-BE49-F238E27FC236}">
                <a16:creationId xmlns:a16="http://schemas.microsoft.com/office/drawing/2014/main" id="{6DB7C108-AA35-4457-A44B-7887440D3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91">
            <a:extLst xmlns:a="http://schemas.openxmlformats.org/drawingml/2006/main">
              <a:ext uri="{FF2B5EF4-FFF2-40B4-BE49-F238E27FC236}">
                <a16:creationId xmlns:a16="http://schemas.microsoft.com/office/drawing/2014/main" id="{412E4459-9A9F-4FA7-A0C3-FBCF70D78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5" name="shape-19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193">
            <a:extLst xmlns:a="http://schemas.openxmlformats.org/drawingml/2006/main">
              <a:ext uri="{FF2B5EF4-FFF2-40B4-BE49-F238E27FC236}">
                <a16:creationId xmlns:a16="http://schemas.microsoft.com/office/drawing/2014/main" id="{35AABEE6-E25A-4C9E-8761-A770B0BFA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6B365C7-0E63-408F-BBD5-0B243BEEF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11</a:t>
            </a:r>
          </a:p>
        </p:txBody>
      </p:sp>
      <p:sp>
        <p:nvSpPr>
          <p:cNvPr id="9" name="text-601">
            <a:extLst xmlns:a="http://schemas.openxmlformats.org/drawingml/2006/main">
              <a:ext uri="{FF2B5EF4-FFF2-40B4-BE49-F238E27FC236}">
                <a16:creationId xmlns:a16="http://schemas.microsoft.com/office/drawing/2014/main" id="{2B20A116-4EB0-40B2-99EE-06F7B130B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e6149a198d44e72"/>
              </a:rPr>
              <a:t>開啟 Gemini Notebook ↗</a:t>
            </a:r>
          </a:p>
        </p:txBody>
      </p:sp>
    </p:spTree>
    <p:extLst>
      <p:ext uri="{BB962C8B-B14F-4D97-AF65-F5344CB8AC3E}">
        <p14:creationId xmlns:p14="http://schemas.microsoft.com/office/powerpoint/2010/main" val="203165349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194">
            <a:extLst xmlns:a="http://schemas.openxmlformats.org/drawingml/2006/main">
              <a:ext uri="{FF2B5EF4-FFF2-40B4-BE49-F238E27FC236}">
                <a16:creationId xmlns:a16="http://schemas.microsoft.com/office/drawing/2014/main" id="{A24F6341-BEEF-422D-94C4-FBEFE927D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SOURCE-GROUNDED WORKSPACE</a:t>
            </a:r>
          </a:p>
        </p:txBody>
      </p:sp>
      <p:sp>
        <p:nvSpPr>
          <p:cNvPr id="2" name="text-195">
            <a:extLst xmlns:a="http://schemas.openxmlformats.org/drawingml/2006/main">
              <a:ext uri="{FF2B5EF4-FFF2-40B4-BE49-F238E27FC236}">
                <a16:creationId xmlns:a16="http://schemas.microsoft.com/office/drawing/2014/main" id="{6B16DA8C-6007-4326-9068-D01293FBC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Notebook：先管理證據，再生成內容</a:t>
            </a:r>
          </a:p>
        </p:txBody>
      </p:sp>
      <p:cxnSp>
        <p:nvCxnSpPr>
          <p:cNvPr id="21" name="shape-19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97">
            <a:extLst xmlns:a="http://schemas.openxmlformats.org/drawingml/2006/main">
              <a:ext uri="{FF2B5EF4-FFF2-40B4-BE49-F238E27FC236}">
                <a16:creationId xmlns:a16="http://schemas.microsoft.com/office/drawing/2014/main" id="{D4B3D9B8-1F0A-449F-93BA-BC0DF7091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36819F1-0D07-495F-B1E5-D995EE726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12</a:t>
            </a:r>
          </a:p>
        </p:txBody>
      </p:sp>
      <p:sp>
        <p:nvSpPr>
          <p:cNvPr id="6" name="shape-198">
            <a:extLst xmlns:a="http://schemas.openxmlformats.org/drawingml/2006/main">
              <a:ext uri="{FF2B5EF4-FFF2-40B4-BE49-F238E27FC236}">
                <a16:creationId xmlns:a16="http://schemas.microsoft.com/office/drawing/2014/main" id="{08B8A361-CAE2-4A12-AC8C-C747CAE4A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199">
            <a:extLst xmlns:a="http://schemas.openxmlformats.org/drawingml/2006/main">
              <a:ext uri="{FF2B5EF4-FFF2-40B4-BE49-F238E27FC236}">
                <a16:creationId xmlns:a16="http://schemas.microsoft.com/office/drawing/2014/main" id="{A62D23AC-84E2-431F-B9FB-FD34A0DA7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200">
            <a:extLst xmlns:a="http://schemas.openxmlformats.org/drawingml/2006/main">
              <a:ext uri="{FF2B5EF4-FFF2-40B4-BE49-F238E27FC236}">
                <a16:creationId xmlns:a16="http://schemas.microsoft.com/office/drawing/2014/main" id="{0C095D39-14DD-41A3-B5C0-9EF5CA4D1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一般聊天</a:t>
            </a:r>
          </a:p>
        </p:txBody>
      </p:sp>
      <p:sp>
        <p:nvSpPr>
          <p:cNvPr id="9" name="text-201">
            <a:extLst xmlns:a="http://schemas.openxmlformats.org/drawingml/2006/main">
              <a:ext uri="{FF2B5EF4-FFF2-40B4-BE49-F238E27FC236}">
                <a16:creationId xmlns:a16="http://schemas.microsoft.com/office/drawing/2014/main" id="{A735824C-B1C7-48B1-9C06-C58C3561A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問題先出現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來源可能來自模型既有知識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需要自行追查依據</a:t>
            </a:r>
          </a:p>
        </p:txBody>
      </p:sp>
      <p:sp>
        <p:nvSpPr>
          <p:cNvPr id="10" name="text-202">
            <a:extLst xmlns:a="http://schemas.openxmlformats.org/drawingml/2006/main">
              <a:ext uri="{FF2B5EF4-FFF2-40B4-BE49-F238E27FC236}">
                <a16:creationId xmlns:a16="http://schemas.microsoft.com/office/drawing/2014/main" id="{52D50A8D-A93B-44F2-9DBA-463477667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11" name="text-203">
            <a:extLst xmlns:a="http://schemas.openxmlformats.org/drawingml/2006/main">
              <a:ext uri="{FF2B5EF4-FFF2-40B4-BE49-F238E27FC236}">
                <a16:creationId xmlns:a16="http://schemas.microsoft.com/office/drawing/2014/main" id="{83360AE2-DE68-4C9A-87C0-D060A4DB8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來源先進入筆記本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依使用者提供的來源回答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可回到引用位置檢查</a:t>
            </a:r>
          </a:p>
        </p:txBody>
      </p:sp>
      <p:sp>
        <p:nvSpPr>
          <p:cNvPr id="12" name="text-204">
            <a:extLst xmlns:a="http://schemas.openxmlformats.org/drawingml/2006/main">
              <a:ext uri="{FF2B5EF4-FFF2-40B4-BE49-F238E27FC236}">
                <a16:creationId xmlns:a16="http://schemas.microsoft.com/office/drawing/2014/main" id="{6444D6EA-BBA7-4292-8C31-BD2EF7D38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提問</a:t>
            </a:r>
          </a:p>
        </p:txBody>
      </p:sp>
      <p:sp>
        <p:nvSpPr>
          <p:cNvPr id="13" name="text-205">
            <a:extLst xmlns:a="http://schemas.openxmlformats.org/drawingml/2006/main">
              <a:ext uri="{FF2B5EF4-FFF2-40B4-BE49-F238E27FC236}">
                <a16:creationId xmlns:a16="http://schemas.microsoft.com/office/drawing/2014/main" id="{B7C3AB44-B7C4-4DE9-8007-A890275EC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引用</a:t>
            </a:r>
          </a:p>
        </p:txBody>
      </p:sp>
      <p:sp>
        <p:nvSpPr>
          <p:cNvPr id="14" name="text-206">
            <a:extLst xmlns:a="http://schemas.openxmlformats.org/drawingml/2006/main">
              <a:ext uri="{FF2B5EF4-FFF2-40B4-BE49-F238E27FC236}">
                <a16:creationId xmlns:a16="http://schemas.microsoft.com/office/drawing/2014/main" id="{6D6A6C00-393C-463D-8209-93969AD29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原文</a:t>
            </a:r>
          </a:p>
        </p:txBody>
      </p:sp>
      <p:cxnSp>
        <p:nvCxnSpPr>
          <p:cNvPr id="33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7524750" y="507682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34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124950" y="507682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AFA4"/>
            </a:solidFill>
            <a:prstDash val="solid"/>
            <a:tailEnd type="arrow" w="sm" len="sm"/>
          </a:ln>
        </p:spPr>
      </p:cxnSp>
      <p:sp>
        <p:nvSpPr>
          <p:cNvPr id="17" name="text-207">
            <a:extLst xmlns:a="http://schemas.openxmlformats.org/drawingml/2006/main">
              <a:ext uri="{FF2B5EF4-FFF2-40B4-BE49-F238E27FC236}">
                <a16:creationId xmlns:a16="http://schemas.microsoft.com/office/drawing/2014/main" id="{5761877D-72C1-43D5-838B-BFCA79B74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5435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可追查鏈：回答 → 引用位置 → 原始段落</a:t>
            </a:r>
          </a:p>
        </p:txBody>
      </p:sp>
      <p:sp>
        <p:nvSpPr>
          <p:cNvPr id="18" name="text-602">
            <a:extLst xmlns:a="http://schemas.openxmlformats.org/drawingml/2006/main">
              <a:ext uri="{FF2B5EF4-FFF2-40B4-BE49-F238E27FC236}">
                <a16:creationId xmlns:a16="http://schemas.microsoft.com/office/drawing/2014/main" id="{EA659B30-CA21-43F3-9DAA-175125A67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0fd24b173244f81"/>
              </a:rPr>
              <a:t>開啟 Gemini Notebook ↗</a:t>
            </a:r>
          </a:p>
        </p:txBody>
      </p:sp>
    </p:spTree>
    <p:extLst>
      <p:ext uri="{BB962C8B-B14F-4D97-AF65-F5344CB8AC3E}">
        <p14:creationId xmlns:p14="http://schemas.microsoft.com/office/powerpoint/2010/main" val="49667239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208">
            <a:extLst xmlns:a="http://schemas.openxmlformats.org/drawingml/2006/main">
              <a:ext uri="{FF2B5EF4-FFF2-40B4-BE49-F238E27FC236}">
                <a16:creationId xmlns:a16="http://schemas.microsoft.com/office/drawing/2014/main" id="{90222301-C814-47E8-947E-28D260768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SOURCE KIT</a:t>
            </a:r>
          </a:p>
        </p:txBody>
      </p:sp>
      <p:sp>
        <p:nvSpPr>
          <p:cNvPr id="2" name="text-209">
            <a:extLst xmlns:a="http://schemas.openxmlformats.org/drawingml/2006/main">
              <a:ext uri="{FF2B5EF4-FFF2-40B4-BE49-F238E27FC236}">
                <a16:creationId xmlns:a16="http://schemas.microsoft.com/office/drawing/2014/main" id="{616BA04E-0D3B-4ED5-B454-D92DE6199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來源包 3–2–1：小而精，先求可用</a:t>
            </a:r>
          </a:p>
        </p:txBody>
      </p:sp>
      <p:cxnSp>
        <p:nvCxnSpPr>
          <p:cNvPr id="21" name="shape-21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11">
            <a:extLst xmlns:a="http://schemas.openxmlformats.org/drawingml/2006/main">
              <a:ext uri="{FF2B5EF4-FFF2-40B4-BE49-F238E27FC236}">
                <a16:creationId xmlns:a16="http://schemas.microsoft.com/office/drawing/2014/main" id="{2CCD2DB2-899E-4BC9-B7D9-4F3E3EDF6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78A3C93-57E9-4601-A55B-2EBEB2633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shape-212">
            <a:extLst xmlns:a="http://schemas.openxmlformats.org/drawingml/2006/main">
              <a:ext uri="{FF2B5EF4-FFF2-40B4-BE49-F238E27FC236}">
                <a16:creationId xmlns:a16="http://schemas.microsoft.com/office/drawing/2014/main" id="{72EC4693-10ED-41B2-98A7-EBB902C19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213">
            <a:extLst xmlns:a="http://schemas.openxmlformats.org/drawingml/2006/main">
              <a:ext uri="{FF2B5EF4-FFF2-40B4-BE49-F238E27FC236}">
                <a16:creationId xmlns:a16="http://schemas.microsoft.com/office/drawing/2014/main" id="{BFDE262E-E24B-4507-8401-F29DE987E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8" name="text-214">
            <a:extLst xmlns:a="http://schemas.openxmlformats.org/drawingml/2006/main">
              <a:ext uri="{FF2B5EF4-FFF2-40B4-BE49-F238E27FC236}">
                <a16:creationId xmlns:a16="http://schemas.microsoft.com/office/drawing/2014/main" id="{D222A03C-D109-4902-8C17-29475064B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3 份核心來源</a:t>
            </a:r>
          </a:p>
        </p:txBody>
      </p:sp>
      <p:sp>
        <p:nvSpPr>
          <p:cNvPr id="9" name="text-215">
            <a:extLst xmlns:a="http://schemas.openxmlformats.org/drawingml/2006/main">
              <a:ext uri="{FF2B5EF4-FFF2-40B4-BE49-F238E27FC236}">
                <a16:creationId xmlns:a16="http://schemas.microsoft.com/office/drawing/2014/main" id="{C4DC604C-7C81-48C5-B4C9-7DF790BAB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課程大綱／授課講義／一篇可信研究或政策文件。</a:t>
            </a:r>
          </a:p>
        </p:txBody>
      </p:sp>
      <p:sp>
        <p:nvSpPr>
          <p:cNvPr id="10" name="shape-216">
            <a:extLst xmlns:a="http://schemas.openxmlformats.org/drawingml/2006/main">
              <a:ext uri="{FF2B5EF4-FFF2-40B4-BE49-F238E27FC236}">
                <a16:creationId xmlns:a16="http://schemas.microsoft.com/office/drawing/2014/main" id="{210CAE59-3C6C-4957-8073-FE48FD12F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217">
            <a:extLst xmlns:a="http://schemas.openxmlformats.org/drawingml/2006/main">
              <a:ext uri="{FF2B5EF4-FFF2-40B4-BE49-F238E27FC236}">
                <a16:creationId xmlns:a16="http://schemas.microsoft.com/office/drawing/2014/main" id="{86A5E347-E87F-4E93-80F1-303D12958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218">
            <a:extLst xmlns:a="http://schemas.openxmlformats.org/drawingml/2006/main">
              <a:ext uri="{FF2B5EF4-FFF2-40B4-BE49-F238E27FC236}">
                <a16:creationId xmlns:a16="http://schemas.microsoft.com/office/drawing/2014/main" id="{9FAB5F65-00CD-4977-A656-2FA57B284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2 種觀點</a:t>
            </a:r>
          </a:p>
        </p:txBody>
      </p:sp>
      <p:sp>
        <p:nvSpPr>
          <p:cNvPr id="13" name="text-219">
            <a:extLst xmlns:a="http://schemas.openxmlformats.org/drawingml/2006/main">
              <a:ext uri="{FF2B5EF4-FFF2-40B4-BE49-F238E27FC236}">
                <a16:creationId xmlns:a16="http://schemas.microsoft.com/office/drawing/2014/main" id="{402DEED8-A703-4979-AB99-969AF9D47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至少納入互補或相反觀點，避免只有單一聲音。</a:t>
            </a:r>
          </a:p>
        </p:txBody>
      </p:sp>
      <p:sp>
        <p:nvSpPr>
          <p:cNvPr id="14" name="shape-220">
            <a:extLst xmlns:a="http://schemas.openxmlformats.org/drawingml/2006/main">
              <a:ext uri="{FF2B5EF4-FFF2-40B4-BE49-F238E27FC236}">
                <a16:creationId xmlns:a16="http://schemas.microsoft.com/office/drawing/2014/main" id="{D35322D8-A7C8-4A51-8D76-75F6BBF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221">
            <a:extLst xmlns:a="http://schemas.openxmlformats.org/drawingml/2006/main">
              <a:ext uri="{FF2B5EF4-FFF2-40B4-BE49-F238E27FC236}">
                <a16:creationId xmlns:a16="http://schemas.microsoft.com/office/drawing/2014/main" id="{3AF37A87-DA8A-4444-8732-F348719D3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16" name="text-222">
            <a:extLst xmlns:a="http://schemas.openxmlformats.org/drawingml/2006/main">
              <a:ext uri="{FF2B5EF4-FFF2-40B4-BE49-F238E27FC236}">
                <a16:creationId xmlns:a16="http://schemas.microsoft.com/office/drawing/2014/main" id="{9EE9D37B-9304-4ADB-86E8-1047F96CC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1 個教學目的</a:t>
            </a:r>
          </a:p>
        </p:txBody>
      </p:sp>
      <p:sp>
        <p:nvSpPr>
          <p:cNvPr id="17" name="text-223">
            <a:extLst xmlns:a="http://schemas.openxmlformats.org/drawingml/2006/main">
              <a:ext uri="{FF2B5EF4-FFF2-40B4-BE49-F238E27FC236}">
                <a16:creationId xmlns:a16="http://schemas.microsoft.com/office/drawing/2014/main" id="{53C635E1-767B-419D-816B-E5F7431AE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明確指定要產出導讀、活動、評量或回饋。</a:t>
            </a:r>
          </a:p>
        </p:txBody>
      </p:sp>
      <p:sp>
        <p:nvSpPr>
          <p:cNvPr id="18" name="text-603">
            <a:extLst xmlns:a="http://schemas.openxmlformats.org/drawingml/2006/main">
              <a:ext uri="{FF2B5EF4-FFF2-40B4-BE49-F238E27FC236}">
                <a16:creationId xmlns:a16="http://schemas.microsoft.com/office/drawing/2014/main" id="{120DF7E1-98A5-463D-8711-75ACDC105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2bef466696944d2"/>
              </a:rPr>
              <a:t>開啟 Gemini Notebook ↗</a:t>
            </a:r>
          </a:p>
        </p:txBody>
      </p:sp>
    </p:spTree>
    <p:extLst>
      <p:ext uri="{BB962C8B-B14F-4D97-AF65-F5344CB8AC3E}">
        <p14:creationId xmlns:p14="http://schemas.microsoft.com/office/powerpoint/2010/main" val="122069154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24">
            <a:extLst xmlns:a="http://schemas.openxmlformats.org/drawingml/2006/main">
              <a:ext uri="{FF2B5EF4-FFF2-40B4-BE49-F238E27FC236}">
                <a16:creationId xmlns:a16="http://schemas.microsoft.com/office/drawing/2014/main" id="{2A388F8B-7EB3-4807-B253-B4D2DEDAC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LIVE DEMO</a:t>
            </a:r>
          </a:p>
        </p:txBody>
      </p:sp>
      <p:sp>
        <p:nvSpPr>
          <p:cNvPr id="2" name="text-225">
            <a:extLst xmlns:a="http://schemas.openxmlformats.org/drawingml/2006/main">
              <a:ext uri="{FF2B5EF4-FFF2-40B4-BE49-F238E27FC236}">
                <a16:creationId xmlns:a16="http://schemas.microsoft.com/office/drawing/2014/main" id="{829E9CF8-BD90-47D0-AD8E-2CA736D2E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示範：四步建立第一個筆記本</a:t>
            </a:r>
          </a:p>
        </p:txBody>
      </p:sp>
      <p:cxnSp>
        <p:nvCxnSpPr>
          <p:cNvPr id="25" name="shape-22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27">
            <a:extLst xmlns:a="http://schemas.openxmlformats.org/drawingml/2006/main">
              <a:ext uri="{FF2B5EF4-FFF2-40B4-BE49-F238E27FC236}">
                <a16:creationId xmlns:a16="http://schemas.microsoft.com/office/drawing/2014/main" id="{59693CD2-58C3-4977-9BF0-8F2BF09EF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551B304-B790-4ECA-9DA1-93DBAB1AA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14</a:t>
            </a:r>
          </a:p>
        </p:txBody>
      </p:sp>
      <p:sp>
        <p:nvSpPr>
          <p:cNvPr id="6" name="text-228">
            <a:extLst xmlns:a="http://schemas.openxmlformats.org/drawingml/2006/main">
              <a:ext uri="{FF2B5EF4-FFF2-40B4-BE49-F238E27FC236}">
                <a16:creationId xmlns:a16="http://schemas.microsoft.com/office/drawing/2014/main" id="{928BAF70-7772-4048-9C15-4C21E54E0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7" name="text-229">
            <a:extLst xmlns:a="http://schemas.openxmlformats.org/drawingml/2006/main">
              <a:ext uri="{FF2B5EF4-FFF2-40B4-BE49-F238E27FC236}">
                <a16:creationId xmlns:a16="http://schemas.microsoft.com/office/drawing/2014/main" id="{A837C27F-2467-4F3A-9F0A-789882809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</a:t>
            </a:r>
          </a:p>
        </p:txBody>
      </p:sp>
      <p:sp>
        <p:nvSpPr>
          <p:cNvPr id="8" name="text-230">
            <a:extLst xmlns:a="http://schemas.openxmlformats.org/drawingml/2006/main">
              <a:ext uri="{FF2B5EF4-FFF2-40B4-BE49-F238E27FC236}">
                <a16:creationId xmlns:a16="http://schemas.microsoft.com/office/drawing/2014/main" id="{DCC0A172-5314-40B9-AF5D-8883BECE1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以課程＋任務命名</a:t>
            </a:r>
          </a:p>
        </p:txBody>
      </p:sp>
      <p:sp>
        <p:nvSpPr>
          <p:cNvPr id="9" name="text-231">
            <a:extLst xmlns:a="http://schemas.openxmlformats.org/drawingml/2006/main">
              <a:ext uri="{FF2B5EF4-FFF2-40B4-BE49-F238E27FC236}">
                <a16:creationId xmlns:a16="http://schemas.microsoft.com/office/drawing/2014/main" id="{31947177-3A5B-4CEF-9792-0F7DA9287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7538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0" name="text-232">
            <a:extLst xmlns:a="http://schemas.openxmlformats.org/drawingml/2006/main">
              <a:ext uri="{FF2B5EF4-FFF2-40B4-BE49-F238E27FC236}">
                <a16:creationId xmlns:a16="http://schemas.microsoft.com/office/drawing/2014/main" id="{BAED746D-626D-43D4-8C0F-7E5FB6FFA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233">
            <a:extLst xmlns:a="http://schemas.openxmlformats.org/drawingml/2006/main">
              <a:ext uri="{FF2B5EF4-FFF2-40B4-BE49-F238E27FC236}">
                <a16:creationId xmlns:a16="http://schemas.microsoft.com/office/drawing/2014/main" id="{00F0AB8C-04DB-4271-9366-F9898FB66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加入</a:t>
            </a:r>
          </a:p>
        </p:txBody>
      </p:sp>
      <p:sp>
        <p:nvSpPr>
          <p:cNvPr id="12" name="text-234">
            <a:extLst xmlns:a="http://schemas.openxmlformats.org/drawingml/2006/main">
              <a:ext uri="{FF2B5EF4-FFF2-40B4-BE49-F238E27FC236}">
                <a16:creationId xmlns:a16="http://schemas.microsoft.com/office/drawing/2014/main" id="{1B8E9B5D-7E36-43BA-9DC6-7D103DA19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上傳檔案或貼入網址</a:t>
            </a:r>
          </a:p>
        </p:txBody>
      </p:sp>
      <p:sp>
        <p:nvSpPr>
          <p:cNvPr id="13" name="text-235">
            <a:extLst xmlns:a="http://schemas.openxmlformats.org/drawingml/2006/main">
              <a:ext uri="{FF2B5EF4-FFF2-40B4-BE49-F238E27FC236}">
                <a16:creationId xmlns:a16="http://schemas.microsoft.com/office/drawing/2014/main" id="{E2AA8990-6C07-474A-AE48-F17EE950D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4" name="text-236">
            <a:extLst xmlns:a="http://schemas.openxmlformats.org/drawingml/2006/main">
              <a:ext uri="{FF2B5EF4-FFF2-40B4-BE49-F238E27FC236}">
                <a16:creationId xmlns:a16="http://schemas.microsoft.com/office/drawing/2014/main" id="{34481BEE-38C3-4E3A-9EB5-2AE80C530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5" name="text-237">
            <a:extLst xmlns:a="http://schemas.openxmlformats.org/drawingml/2006/main">
              <a:ext uri="{FF2B5EF4-FFF2-40B4-BE49-F238E27FC236}">
                <a16:creationId xmlns:a16="http://schemas.microsoft.com/office/drawing/2014/main" id="{A67F30D6-232A-427C-BBE2-7D628775C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提問</a:t>
            </a:r>
          </a:p>
        </p:txBody>
      </p:sp>
      <p:sp>
        <p:nvSpPr>
          <p:cNvPr id="16" name="text-238">
            <a:extLst xmlns:a="http://schemas.openxmlformats.org/drawingml/2006/main">
              <a:ext uri="{FF2B5EF4-FFF2-40B4-BE49-F238E27FC236}">
                <a16:creationId xmlns:a16="http://schemas.microsoft.com/office/drawing/2014/main" id="{69F2C56F-B0C5-4938-AE91-8F8CC64B5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限定對象、目的與格式</a:t>
            </a:r>
          </a:p>
        </p:txBody>
      </p:sp>
      <p:sp>
        <p:nvSpPr>
          <p:cNvPr id="17" name="text-239">
            <a:extLst xmlns:a="http://schemas.openxmlformats.org/drawingml/2006/main">
              <a:ext uri="{FF2B5EF4-FFF2-40B4-BE49-F238E27FC236}">
                <a16:creationId xmlns:a16="http://schemas.microsoft.com/office/drawing/2014/main" id="{5040F2D7-21BB-46A3-96BD-2F65DAAF6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4913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text-240">
            <a:extLst xmlns:a="http://schemas.openxmlformats.org/drawingml/2006/main">
              <a:ext uri="{FF2B5EF4-FFF2-40B4-BE49-F238E27FC236}">
                <a16:creationId xmlns:a16="http://schemas.microsoft.com/office/drawing/2014/main" id="{73C75EDA-FADB-437B-82C2-16B157101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9" name="text-241">
            <a:extLst xmlns:a="http://schemas.openxmlformats.org/drawingml/2006/main">
              <a:ext uri="{FF2B5EF4-FFF2-40B4-BE49-F238E27FC236}">
                <a16:creationId xmlns:a16="http://schemas.microsoft.com/office/drawing/2014/main" id="{94F38DBA-4350-41BB-BE40-157CDF323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查證</a:t>
            </a:r>
          </a:p>
        </p:txBody>
      </p:sp>
      <p:sp>
        <p:nvSpPr>
          <p:cNvPr id="20" name="text-242">
            <a:extLst xmlns:a="http://schemas.openxmlformats.org/drawingml/2006/main">
              <a:ext uri="{FF2B5EF4-FFF2-40B4-BE49-F238E27FC236}">
                <a16:creationId xmlns:a16="http://schemas.microsoft.com/office/drawing/2014/main" id="{9CF8473D-4129-413E-B9B0-99CE20535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點引用回到原始段落</a:t>
            </a:r>
          </a:p>
        </p:txBody>
      </p:sp>
      <p:sp>
        <p:nvSpPr>
          <p:cNvPr id="21" name="text-243">
            <a:extLst xmlns:a="http://schemas.openxmlformats.org/drawingml/2006/main">
              <a:ext uri="{FF2B5EF4-FFF2-40B4-BE49-F238E27FC236}">
                <a16:creationId xmlns:a16="http://schemas.microsoft.com/office/drawing/2014/main" id="{D6394D8A-302C-4A95-992E-FC8E08823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22" name="text-604">
            <a:extLst xmlns:a="http://schemas.openxmlformats.org/drawingml/2006/main">
              <a:ext uri="{FF2B5EF4-FFF2-40B4-BE49-F238E27FC236}">
                <a16:creationId xmlns:a16="http://schemas.microsoft.com/office/drawing/2014/main" id="{DFF728E3-8368-485C-8D2D-5409F0289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cb4dd7735d04ac8"/>
              </a:rPr>
              <a:t>開啟 Gemini Notebook ↗</a:t>
            </a:r>
          </a:p>
        </p:txBody>
      </p:sp>
    </p:spTree>
    <p:extLst>
      <p:ext uri="{BB962C8B-B14F-4D97-AF65-F5344CB8AC3E}">
        <p14:creationId xmlns:p14="http://schemas.microsoft.com/office/powerpoint/2010/main" val="54853015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ext-244">
            <a:extLst xmlns:a="http://schemas.openxmlformats.org/drawingml/2006/main">
              <a:ext uri="{FF2B5EF4-FFF2-40B4-BE49-F238E27FC236}">
                <a16:creationId xmlns:a16="http://schemas.microsoft.com/office/drawing/2014/main" id="{29C2F0B1-6C5A-452F-B399-DDCB668B4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text-245">
            <a:extLst xmlns:a="http://schemas.openxmlformats.org/drawingml/2006/main">
              <a:ext uri="{FF2B5EF4-FFF2-40B4-BE49-F238E27FC236}">
                <a16:creationId xmlns:a16="http://schemas.microsoft.com/office/drawing/2014/main" id="{00629555-C57D-409E-B7BD-514E796DB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實作一｜建立課程 Gemini Notebook</a:t>
            </a:r>
          </a:p>
        </p:txBody>
      </p:sp>
      <p:cxnSp>
        <p:nvCxnSpPr>
          <p:cNvPr id="22" name="shape-24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47">
            <a:extLst xmlns:a="http://schemas.openxmlformats.org/drawingml/2006/main">
              <a:ext uri="{FF2B5EF4-FFF2-40B4-BE49-F238E27FC236}">
                <a16:creationId xmlns:a16="http://schemas.microsoft.com/office/drawing/2014/main" id="{E13CEA1B-64BF-4AFD-B242-AE487AE69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922FAAC-6F0D-49A2-A8CF-1F27E399F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15</a:t>
            </a:r>
          </a:p>
        </p:txBody>
      </p:sp>
      <p:sp>
        <p:nvSpPr>
          <p:cNvPr id="6" name="text-248">
            <a:extLst xmlns:a="http://schemas.openxmlformats.org/drawingml/2006/main">
              <a:ext uri="{FF2B5EF4-FFF2-40B4-BE49-F238E27FC236}">
                <a16:creationId xmlns:a16="http://schemas.microsoft.com/office/drawing/2014/main" id="{4DA98D55-C152-4D37-8C84-857BEFE6D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249">
            <a:extLst xmlns:a="http://schemas.openxmlformats.org/drawingml/2006/main">
              <a:ext uri="{FF2B5EF4-FFF2-40B4-BE49-F238E27FC236}">
                <a16:creationId xmlns:a16="http://schemas.microsoft.com/office/drawing/2014/main" id="{2295D97D-0A6C-4F90-B04E-0BAC25775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250">
            <a:extLst xmlns:a="http://schemas.openxmlformats.org/drawingml/2006/main">
              <a:ext uri="{FF2B5EF4-FFF2-40B4-BE49-F238E27FC236}">
                <a16:creationId xmlns:a16="http://schemas.microsoft.com/office/drawing/2014/main" id="{DBD168CA-B7AE-48B9-9CD9-6C7714423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251">
            <a:extLst xmlns:a="http://schemas.openxmlformats.org/drawingml/2006/main">
              <a:ext uri="{FF2B5EF4-FFF2-40B4-BE49-F238E27FC236}">
                <a16:creationId xmlns:a16="http://schemas.microsoft.com/office/drawing/2014/main" id="{9249D2D7-631A-40E6-982A-58445D614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建立以課程與任務命名的筆記本</a:t>
            </a:r>
          </a:p>
        </p:txBody>
      </p:sp>
      <p:sp>
        <p:nvSpPr>
          <p:cNvPr id="10" name="text-252">
            <a:extLst xmlns:a="http://schemas.openxmlformats.org/drawingml/2006/main">
              <a:ext uri="{FF2B5EF4-FFF2-40B4-BE49-F238E27FC236}">
                <a16:creationId xmlns:a16="http://schemas.microsoft.com/office/drawing/2014/main" id="{330494ED-BE68-4845-82E9-5B3FA2E01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253">
            <a:extLst xmlns:a="http://schemas.openxmlformats.org/drawingml/2006/main">
              <a:ext uri="{FF2B5EF4-FFF2-40B4-BE49-F238E27FC236}">
                <a16:creationId xmlns:a16="http://schemas.microsoft.com/office/drawing/2014/main" id="{C4EFDF22-F3F2-49D1-A842-38EB7055D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加入至少 3 份來源</a:t>
            </a:r>
          </a:p>
        </p:txBody>
      </p:sp>
      <p:sp>
        <p:nvSpPr>
          <p:cNvPr id="12" name="text-254">
            <a:extLst xmlns:a="http://schemas.openxmlformats.org/drawingml/2006/main">
              <a:ext uri="{FF2B5EF4-FFF2-40B4-BE49-F238E27FC236}">
                <a16:creationId xmlns:a16="http://schemas.microsoft.com/office/drawing/2014/main" id="{8981FC1D-F99D-4556-9B65-347CB9BA8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255">
            <a:extLst xmlns:a="http://schemas.openxmlformats.org/drawingml/2006/main">
              <a:ext uri="{FF2B5EF4-FFF2-40B4-BE49-F238E27FC236}">
                <a16:creationId xmlns:a16="http://schemas.microsoft.com/office/drawing/2014/main" id="{1061DE19-167E-461F-ACBD-D12A2B1FD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提出 1 個理解題與 1 個比較題</a:t>
            </a:r>
          </a:p>
        </p:txBody>
      </p:sp>
      <p:sp>
        <p:nvSpPr>
          <p:cNvPr id="14" name="text-256">
            <a:extLst xmlns:a="http://schemas.openxmlformats.org/drawingml/2006/main">
              <a:ext uri="{FF2B5EF4-FFF2-40B4-BE49-F238E27FC236}">
                <a16:creationId xmlns:a16="http://schemas.microsoft.com/office/drawing/2014/main" id="{8BEBB9D9-7332-42D9-A760-2E6C5CC93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257">
            <a:extLst xmlns:a="http://schemas.openxmlformats.org/drawingml/2006/main">
              <a:ext uri="{FF2B5EF4-FFF2-40B4-BE49-F238E27FC236}">
                <a16:creationId xmlns:a16="http://schemas.microsoft.com/office/drawing/2014/main" id="{23F0F239-1E86-4F84-A3CD-0CBB1F8C7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點開引用，核對原文</a:t>
            </a:r>
          </a:p>
        </p:txBody>
      </p:sp>
      <p:sp>
        <p:nvSpPr>
          <p:cNvPr id="16" name="shape-258">
            <a:extLst xmlns:a="http://schemas.openxmlformats.org/drawingml/2006/main">
              <a:ext uri="{FF2B5EF4-FFF2-40B4-BE49-F238E27FC236}">
                <a16:creationId xmlns:a16="http://schemas.microsoft.com/office/drawing/2014/main" id="{EEE6C14D-C3D4-4022-88B4-D4EE21F5B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259">
            <a:extLst xmlns:a="http://schemas.openxmlformats.org/drawingml/2006/main">
              <a:ext uri="{FF2B5EF4-FFF2-40B4-BE49-F238E27FC236}">
                <a16:creationId xmlns:a16="http://schemas.microsoft.com/office/drawing/2014/main" id="{99FAB438-3F94-44F3-B6C1-D5C0BC015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260">
            <a:extLst xmlns:a="http://schemas.openxmlformats.org/drawingml/2006/main">
              <a:ext uri="{FF2B5EF4-FFF2-40B4-BE49-F238E27FC236}">
                <a16:creationId xmlns:a16="http://schemas.microsoft.com/office/drawing/2014/main" id="{39F720F0-5260-4965-8A0A-EE7019BE1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筆記本名稱可辨識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來源至少 3 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至少 1 個引用正確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記下一個需修正的問題</a:t>
            </a:r>
          </a:p>
        </p:txBody>
      </p:sp>
      <p:sp>
        <p:nvSpPr>
          <p:cNvPr id="19" name="text-605">
            <a:extLst xmlns:a="http://schemas.openxmlformats.org/drawingml/2006/main">
              <a:ext uri="{FF2B5EF4-FFF2-40B4-BE49-F238E27FC236}">
                <a16:creationId xmlns:a16="http://schemas.microsoft.com/office/drawing/2014/main" id="{CEFE7A9A-7747-4A09-80D4-5B82C6432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78e1e07075b44ea"/>
              </a:rPr>
              <a:t>開啟 Gemini Notebook ↗</a:t>
            </a:r>
          </a:p>
        </p:txBody>
      </p:sp>
    </p:spTree>
    <p:extLst>
      <p:ext uri="{BB962C8B-B14F-4D97-AF65-F5344CB8AC3E}">
        <p14:creationId xmlns:p14="http://schemas.microsoft.com/office/powerpoint/2010/main" val="89023404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261">
            <a:extLst xmlns:a="http://schemas.openxmlformats.org/drawingml/2006/main">
              <a:ext uri="{FF2B5EF4-FFF2-40B4-BE49-F238E27FC236}">
                <a16:creationId xmlns:a16="http://schemas.microsoft.com/office/drawing/2014/main" id="{15857375-CAC5-433C-A71A-9174AF1C5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PROMPT LADDER</a:t>
            </a:r>
          </a:p>
        </p:txBody>
      </p:sp>
      <p:sp>
        <p:nvSpPr>
          <p:cNvPr id="2" name="text-262">
            <a:extLst xmlns:a="http://schemas.openxmlformats.org/drawingml/2006/main">
              <a:ext uri="{FF2B5EF4-FFF2-40B4-BE49-F238E27FC236}">
                <a16:creationId xmlns:a16="http://schemas.microsoft.com/office/drawing/2014/main" id="{6D7FC19E-C4B5-4979-BAA8-F2CE65D82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三層提問法：從讀懂到能教</a:t>
            </a:r>
          </a:p>
        </p:txBody>
      </p:sp>
      <p:cxnSp>
        <p:nvCxnSpPr>
          <p:cNvPr id="21" name="shape-26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64">
            <a:extLst xmlns:a="http://schemas.openxmlformats.org/drawingml/2006/main">
              <a:ext uri="{FF2B5EF4-FFF2-40B4-BE49-F238E27FC236}">
                <a16:creationId xmlns:a16="http://schemas.microsoft.com/office/drawing/2014/main" id="{065684D8-7133-452E-B2AB-2F415A118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6BDE46D-1F21-475D-9634-A13DFEA5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16</a:t>
            </a:r>
          </a:p>
        </p:txBody>
      </p:sp>
      <p:sp>
        <p:nvSpPr>
          <p:cNvPr id="6" name="shape-265">
            <a:extLst xmlns:a="http://schemas.openxmlformats.org/drawingml/2006/main">
              <a:ext uri="{FF2B5EF4-FFF2-40B4-BE49-F238E27FC236}">
                <a16:creationId xmlns:a16="http://schemas.microsoft.com/office/drawing/2014/main" id="{161F57F7-42AF-46B6-8E1F-3ECC19A59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266">
            <a:extLst xmlns:a="http://schemas.openxmlformats.org/drawingml/2006/main">
              <a:ext uri="{FF2B5EF4-FFF2-40B4-BE49-F238E27FC236}">
                <a16:creationId xmlns:a16="http://schemas.microsoft.com/office/drawing/2014/main" id="{D8EFC3FD-201F-4CFC-B532-8FDE9F787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267">
            <a:extLst xmlns:a="http://schemas.openxmlformats.org/drawingml/2006/main">
              <a:ext uri="{FF2B5EF4-FFF2-40B4-BE49-F238E27FC236}">
                <a16:creationId xmlns:a16="http://schemas.microsoft.com/office/drawing/2014/main" id="{549F4455-2E84-4945-B6DA-07ACE1FE6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理解</a:t>
            </a:r>
          </a:p>
        </p:txBody>
      </p:sp>
      <p:sp>
        <p:nvSpPr>
          <p:cNvPr id="9" name="text-268">
            <a:extLst xmlns:a="http://schemas.openxmlformats.org/drawingml/2006/main">
              <a:ext uri="{FF2B5EF4-FFF2-40B4-BE49-F238E27FC236}">
                <a16:creationId xmlns:a16="http://schemas.microsoft.com/office/drawing/2014/main" id="{171BE9A5-49BD-4853-B2D0-96C82E769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只依來源，用 150 字解釋核心概念；列出 3 個關鍵詞與引用。</a:t>
            </a:r>
          </a:p>
        </p:txBody>
      </p:sp>
      <p:sp>
        <p:nvSpPr>
          <p:cNvPr id="10" name="shape-269">
            <a:extLst xmlns:a="http://schemas.openxmlformats.org/drawingml/2006/main">
              <a:ext uri="{FF2B5EF4-FFF2-40B4-BE49-F238E27FC236}">
                <a16:creationId xmlns:a16="http://schemas.microsoft.com/office/drawing/2014/main" id="{5DDED398-8463-4BFD-8CA9-CDAAA50EB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270">
            <a:extLst xmlns:a="http://schemas.openxmlformats.org/drawingml/2006/main">
              <a:ext uri="{FF2B5EF4-FFF2-40B4-BE49-F238E27FC236}">
                <a16:creationId xmlns:a16="http://schemas.microsoft.com/office/drawing/2014/main" id="{E6DEF258-969F-464F-BD5E-AFF356875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271">
            <a:extLst xmlns:a="http://schemas.openxmlformats.org/drawingml/2006/main">
              <a:ext uri="{FF2B5EF4-FFF2-40B4-BE49-F238E27FC236}">
                <a16:creationId xmlns:a16="http://schemas.microsoft.com/office/drawing/2014/main" id="{E9E26F44-44F8-414E-A330-E660CF932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比較</a:t>
            </a:r>
          </a:p>
        </p:txBody>
      </p:sp>
      <p:sp>
        <p:nvSpPr>
          <p:cNvPr id="13" name="text-272">
            <a:extLst xmlns:a="http://schemas.openxmlformats.org/drawingml/2006/main">
              <a:ext uri="{FF2B5EF4-FFF2-40B4-BE49-F238E27FC236}">
                <a16:creationId xmlns:a16="http://schemas.microsoft.com/office/drawing/2014/main" id="{ED97485C-D770-4A03-9840-3BB777E80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比較來源 A、B 的主張、證據與限制；用表格呈現。</a:t>
            </a:r>
          </a:p>
        </p:txBody>
      </p:sp>
      <p:sp>
        <p:nvSpPr>
          <p:cNvPr id="14" name="shape-273">
            <a:extLst xmlns:a="http://schemas.openxmlformats.org/drawingml/2006/main">
              <a:ext uri="{FF2B5EF4-FFF2-40B4-BE49-F238E27FC236}">
                <a16:creationId xmlns:a16="http://schemas.microsoft.com/office/drawing/2014/main" id="{68D54F7A-34A0-4B8D-AF8D-CA840E0C3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274">
            <a:extLst xmlns:a="http://schemas.openxmlformats.org/drawingml/2006/main">
              <a:ext uri="{FF2B5EF4-FFF2-40B4-BE49-F238E27FC236}">
                <a16:creationId xmlns:a16="http://schemas.microsoft.com/office/drawing/2014/main" id="{3C8DCF05-FEF0-4697-87D3-84697F0AD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275">
            <a:extLst xmlns:a="http://schemas.openxmlformats.org/drawingml/2006/main">
              <a:ext uri="{FF2B5EF4-FFF2-40B4-BE49-F238E27FC236}">
                <a16:creationId xmlns:a16="http://schemas.microsoft.com/office/drawing/2014/main" id="{F7E7B331-7103-42B5-BFFA-D852157D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轉化</a:t>
            </a:r>
          </a:p>
        </p:txBody>
      </p:sp>
      <p:sp>
        <p:nvSpPr>
          <p:cNvPr id="17" name="text-276">
            <a:extLst xmlns:a="http://schemas.openxmlformats.org/drawingml/2006/main">
              <a:ext uri="{FF2B5EF4-FFF2-40B4-BE49-F238E27FC236}">
                <a16:creationId xmlns:a16="http://schemas.microsoft.com/office/drawing/2014/main" id="{1B0FF715-EC1B-4089-97A2-43A9822AD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依來源設計 20 分鐘活動；包含目標、步驟、提問與檢核。</a:t>
            </a:r>
          </a:p>
        </p:txBody>
      </p:sp>
      <p:sp>
        <p:nvSpPr>
          <p:cNvPr id="18" name="text-606">
            <a:extLst xmlns:a="http://schemas.openxmlformats.org/drawingml/2006/main">
              <a:ext uri="{FF2B5EF4-FFF2-40B4-BE49-F238E27FC236}">
                <a16:creationId xmlns:a16="http://schemas.microsoft.com/office/drawing/2014/main" id="{67A42ADA-5E44-4AA2-BA94-B6D8E6186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d332b61bd5c40e0"/>
              </a:rPr>
              <a:t>開啟 Gemini Notebook ↗</a:t>
            </a:r>
          </a:p>
        </p:txBody>
      </p:sp>
    </p:spTree>
    <p:extLst>
      <p:ext uri="{BB962C8B-B14F-4D97-AF65-F5344CB8AC3E}">
        <p14:creationId xmlns:p14="http://schemas.microsoft.com/office/powerpoint/2010/main" val="15184291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77">
            <a:extLst xmlns:a="http://schemas.openxmlformats.org/drawingml/2006/main">
              <a:ext uri="{FF2B5EF4-FFF2-40B4-BE49-F238E27FC236}">
                <a16:creationId xmlns:a16="http://schemas.microsoft.com/office/drawing/2014/main" id="{71B42668-720A-4568-A37C-B0DBD17F0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TEACHING OUTPUTS</a:t>
            </a:r>
          </a:p>
        </p:txBody>
      </p:sp>
      <p:sp>
        <p:nvSpPr>
          <p:cNvPr id="2" name="text-278">
            <a:extLst xmlns:a="http://schemas.openxmlformats.org/drawingml/2006/main">
              <a:ext uri="{FF2B5EF4-FFF2-40B4-BE49-F238E27FC236}">
                <a16:creationId xmlns:a16="http://schemas.microsoft.com/office/drawing/2014/main" id="{DEA1B3C0-92AE-477F-9DA5-190F34970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把來源轉成可直接使用的教學成品</a:t>
            </a:r>
          </a:p>
        </p:txBody>
      </p:sp>
      <p:cxnSp>
        <p:nvCxnSpPr>
          <p:cNvPr id="25" name="shape-27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80">
            <a:extLst xmlns:a="http://schemas.openxmlformats.org/drawingml/2006/main">
              <a:ext uri="{FF2B5EF4-FFF2-40B4-BE49-F238E27FC236}">
                <a16:creationId xmlns:a16="http://schemas.microsoft.com/office/drawing/2014/main" id="{22DE8272-A136-4F1C-A4FE-BA57878B0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477F649-305D-4023-9E8A-FC8335D30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17</a:t>
            </a:r>
          </a:p>
        </p:txBody>
      </p:sp>
      <p:sp>
        <p:nvSpPr>
          <p:cNvPr id="6" name="shape-281">
            <a:extLst xmlns:a="http://schemas.openxmlformats.org/drawingml/2006/main">
              <a:ext uri="{FF2B5EF4-FFF2-40B4-BE49-F238E27FC236}">
                <a16:creationId xmlns:a16="http://schemas.microsoft.com/office/drawing/2014/main" id="{E22B02B3-CB32-4AFD-AD9A-EFA4BB952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282">
            <a:extLst xmlns:a="http://schemas.openxmlformats.org/drawingml/2006/main">
              <a:ext uri="{FF2B5EF4-FFF2-40B4-BE49-F238E27FC236}">
                <a16:creationId xmlns:a16="http://schemas.microsoft.com/office/drawing/2014/main" id="{48AAF4C1-75DC-4762-A4BD-E3C78C6C9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283">
            <a:extLst xmlns:a="http://schemas.openxmlformats.org/drawingml/2006/main">
              <a:ext uri="{FF2B5EF4-FFF2-40B4-BE49-F238E27FC236}">
                <a16:creationId xmlns:a16="http://schemas.microsoft.com/office/drawing/2014/main" id="{02222A7C-92AE-4BB3-9689-A337FA268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課前</a:t>
            </a:r>
          </a:p>
        </p:txBody>
      </p:sp>
      <p:sp>
        <p:nvSpPr>
          <p:cNvPr id="9" name="text-284">
            <a:extLst xmlns:a="http://schemas.openxmlformats.org/drawingml/2006/main">
              <a:ext uri="{FF2B5EF4-FFF2-40B4-BE49-F238E27FC236}">
                <a16:creationId xmlns:a16="http://schemas.microsoft.com/office/drawing/2014/main" id="{DE110031-D448-4CE2-B27C-C2E7FBE1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導讀問題、概念地圖、術語表、預習任務。</a:t>
            </a:r>
          </a:p>
        </p:txBody>
      </p:sp>
      <p:sp>
        <p:nvSpPr>
          <p:cNvPr id="10" name="shape-285">
            <a:extLst xmlns:a="http://schemas.openxmlformats.org/drawingml/2006/main">
              <a:ext uri="{FF2B5EF4-FFF2-40B4-BE49-F238E27FC236}">
                <a16:creationId xmlns:a16="http://schemas.microsoft.com/office/drawing/2014/main" id="{D6A0651C-994A-4951-A33E-F75CC5808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286">
            <a:extLst xmlns:a="http://schemas.openxmlformats.org/drawingml/2006/main">
              <a:ext uri="{FF2B5EF4-FFF2-40B4-BE49-F238E27FC236}">
                <a16:creationId xmlns:a16="http://schemas.microsoft.com/office/drawing/2014/main" id="{C20AF6E3-BBA7-4BF9-9FD3-AC0088FBE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287">
            <a:extLst xmlns:a="http://schemas.openxmlformats.org/drawingml/2006/main">
              <a:ext uri="{FF2B5EF4-FFF2-40B4-BE49-F238E27FC236}">
                <a16:creationId xmlns:a16="http://schemas.microsoft.com/office/drawing/2014/main" id="{BE772D74-56AC-4D9F-8987-2596AEDD9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課中</a:t>
            </a:r>
          </a:p>
        </p:txBody>
      </p:sp>
      <p:sp>
        <p:nvSpPr>
          <p:cNvPr id="13" name="text-288">
            <a:extLst xmlns:a="http://schemas.openxmlformats.org/drawingml/2006/main">
              <a:ext uri="{FF2B5EF4-FFF2-40B4-BE49-F238E27FC236}">
                <a16:creationId xmlns:a16="http://schemas.microsoft.com/office/drawing/2014/main" id="{F23229A3-A9D7-41C9-B8BB-3CB5FCDAA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案例比較、討論角色卡、分組任務、即時測驗。</a:t>
            </a:r>
          </a:p>
        </p:txBody>
      </p:sp>
      <p:sp>
        <p:nvSpPr>
          <p:cNvPr id="14" name="shape-289">
            <a:extLst xmlns:a="http://schemas.openxmlformats.org/drawingml/2006/main">
              <a:ext uri="{FF2B5EF4-FFF2-40B4-BE49-F238E27FC236}">
                <a16:creationId xmlns:a16="http://schemas.microsoft.com/office/drawing/2014/main" id="{603CF092-C9D7-46A3-A288-DB5E2F17A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290">
            <a:extLst xmlns:a="http://schemas.openxmlformats.org/drawingml/2006/main">
              <a:ext uri="{FF2B5EF4-FFF2-40B4-BE49-F238E27FC236}">
                <a16:creationId xmlns:a16="http://schemas.microsoft.com/office/drawing/2014/main" id="{97C77CC2-19C5-4047-8C22-D4D392DD6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291">
            <a:extLst xmlns:a="http://schemas.openxmlformats.org/drawingml/2006/main">
              <a:ext uri="{FF2B5EF4-FFF2-40B4-BE49-F238E27FC236}">
                <a16:creationId xmlns:a16="http://schemas.microsoft.com/office/drawing/2014/main" id="{E42EA890-7E07-4F97-A61D-B5AA3A0C6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課後</a:t>
            </a:r>
          </a:p>
        </p:txBody>
      </p:sp>
      <p:sp>
        <p:nvSpPr>
          <p:cNvPr id="17" name="text-292">
            <a:extLst xmlns:a="http://schemas.openxmlformats.org/drawingml/2006/main">
              <a:ext uri="{FF2B5EF4-FFF2-40B4-BE49-F238E27FC236}">
                <a16:creationId xmlns:a16="http://schemas.microsoft.com/office/drawing/2014/main" id="{9BF1CB8F-228C-4BCA-AD17-51D1C96DF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學習指南、形成性回饋、反思題、延伸閱讀。</a:t>
            </a:r>
          </a:p>
        </p:txBody>
      </p:sp>
      <p:sp>
        <p:nvSpPr>
          <p:cNvPr id="18" name="shape-293">
            <a:extLst xmlns:a="http://schemas.openxmlformats.org/drawingml/2006/main">
              <a:ext uri="{FF2B5EF4-FFF2-40B4-BE49-F238E27FC236}">
                <a16:creationId xmlns:a16="http://schemas.microsoft.com/office/drawing/2014/main" id="{33C9C2E3-F20E-4DBB-8791-FBB6109CB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294">
            <a:extLst xmlns:a="http://schemas.openxmlformats.org/drawingml/2006/main">
              <a:ext uri="{FF2B5EF4-FFF2-40B4-BE49-F238E27FC236}">
                <a16:creationId xmlns:a16="http://schemas.microsoft.com/office/drawing/2014/main" id="{15BDA254-EBAA-4CE7-8373-9FAC6A349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295">
            <a:extLst xmlns:a="http://schemas.openxmlformats.org/drawingml/2006/main">
              <a:ext uri="{FF2B5EF4-FFF2-40B4-BE49-F238E27FC236}">
                <a16:creationId xmlns:a16="http://schemas.microsoft.com/office/drawing/2014/main" id="{32F6B4E9-6A03-4D13-BF1F-29F272E1B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研究／共備</a:t>
            </a:r>
          </a:p>
        </p:txBody>
      </p:sp>
      <p:sp>
        <p:nvSpPr>
          <p:cNvPr id="21" name="text-296">
            <a:extLst xmlns:a="http://schemas.openxmlformats.org/drawingml/2006/main">
              <a:ext uri="{FF2B5EF4-FFF2-40B4-BE49-F238E27FC236}">
                <a16:creationId xmlns:a16="http://schemas.microsoft.com/office/drawing/2014/main" id="{22BFAA11-0B73-4F20-9159-B3EC0AC9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文獻觀點矩陣、研究缺口、共同備課摘要。</a:t>
            </a:r>
          </a:p>
        </p:txBody>
      </p:sp>
      <p:sp>
        <p:nvSpPr>
          <p:cNvPr id="22" name="text-607">
            <a:extLst xmlns:a="http://schemas.openxmlformats.org/drawingml/2006/main">
              <a:ext uri="{FF2B5EF4-FFF2-40B4-BE49-F238E27FC236}">
                <a16:creationId xmlns:a16="http://schemas.microsoft.com/office/drawing/2014/main" id="{B813594A-DA85-41F0-A46A-ED9DC7F8D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fab443cc95c46c4"/>
              </a:rPr>
              <a:t>開啟 Gemini Notebook ↗</a:t>
            </a:r>
          </a:p>
        </p:txBody>
      </p:sp>
    </p:spTree>
    <p:extLst>
      <p:ext uri="{BB962C8B-B14F-4D97-AF65-F5344CB8AC3E}">
        <p14:creationId xmlns:p14="http://schemas.microsoft.com/office/powerpoint/2010/main" val="151177149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97">
            <a:extLst xmlns:a="http://schemas.openxmlformats.org/drawingml/2006/main">
              <a:ext uri="{FF2B5EF4-FFF2-40B4-BE49-F238E27FC236}">
                <a16:creationId xmlns:a16="http://schemas.microsoft.com/office/drawing/2014/main" id="{2636D978-B52D-4D91-B8FB-EC078856E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QUALITY GATE</a:t>
            </a:r>
          </a:p>
        </p:txBody>
      </p:sp>
      <p:sp>
        <p:nvSpPr>
          <p:cNvPr id="2" name="text-298">
            <a:extLst xmlns:a="http://schemas.openxmlformats.org/drawingml/2006/main">
              <a:ext uri="{FF2B5EF4-FFF2-40B4-BE49-F238E27FC236}">
                <a16:creationId xmlns:a16="http://schemas.microsoft.com/office/drawing/2014/main" id="{19740EC9-A5C6-45EA-AE86-799B9D4DF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Checkpoint｜Notebook 合格了嗎？</a:t>
            </a:r>
          </a:p>
        </p:txBody>
      </p:sp>
      <p:cxnSp>
        <p:nvCxnSpPr>
          <p:cNvPr id="25" name="shape-29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00">
            <a:extLst xmlns:a="http://schemas.openxmlformats.org/drawingml/2006/main">
              <a:ext uri="{FF2B5EF4-FFF2-40B4-BE49-F238E27FC236}">
                <a16:creationId xmlns:a16="http://schemas.microsoft.com/office/drawing/2014/main" id="{6F3136E4-749A-4C10-B18B-AA29C4A01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D4EB468-3A90-42FA-9337-63B716F7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18</a:t>
            </a:r>
          </a:p>
        </p:txBody>
      </p:sp>
      <p:sp>
        <p:nvSpPr>
          <p:cNvPr id="6" name="shape-301">
            <a:extLst xmlns:a="http://schemas.openxmlformats.org/drawingml/2006/main">
              <a:ext uri="{FF2B5EF4-FFF2-40B4-BE49-F238E27FC236}">
                <a16:creationId xmlns:a16="http://schemas.microsoft.com/office/drawing/2014/main" id="{97A54C12-929F-4984-85C4-15D52AD6A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302">
            <a:extLst xmlns:a="http://schemas.openxmlformats.org/drawingml/2006/main">
              <a:ext uri="{FF2B5EF4-FFF2-40B4-BE49-F238E27FC236}">
                <a16:creationId xmlns:a16="http://schemas.microsoft.com/office/drawing/2014/main" id="{6B8AF303-8953-4522-B3DC-2E63D9164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303">
            <a:extLst xmlns:a="http://schemas.openxmlformats.org/drawingml/2006/main">
              <a:ext uri="{FF2B5EF4-FFF2-40B4-BE49-F238E27FC236}">
                <a16:creationId xmlns:a16="http://schemas.microsoft.com/office/drawing/2014/main" id="{980EFBB0-CB2A-401A-939D-21482A2FB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</a:t>
            </a:r>
          </a:p>
        </p:txBody>
      </p:sp>
      <p:sp>
        <p:nvSpPr>
          <p:cNvPr id="9" name="text-304">
            <a:extLst xmlns:a="http://schemas.openxmlformats.org/drawingml/2006/main">
              <a:ext uri="{FF2B5EF4-FFF2-40B4-BE49-F238E27FC236}">
                <a16:creationId xmlns:a16="http://schemas.microsoft.com/office/drawing/2014/main" id="{4FC52293-EF7D-48C9-9A34-B66C635F7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資料可信、可授權使用，且與教學目的直接相關。</a:t>
            </a:r>
          </a:p>
        </p:txBody>
      </p:sp>
      <p:sp>
        <p:nvSpPr>
          <p:cNvPr id="10" name="shape-305">
            <a:extLst xmlns:a="http://schemas.openxmlformats.org/drawingml/2006/main">
              <a:ext uri="{FF2B5EF4-FFF2-40B4-BE49-F238E27FC236}">
                <a16:creationId xmlns:a16="http://schemas.microsoft.com/office/drawing/2014/main" id="{BDB19848-C26C-4BA8-A204-E7526D2C9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306">
            <a:extLst xmlns:a="http://schemas.openxmlformats.org/drawingml/2006/main">
              <a:ext uri="{FF2B5EF4-FFF2-40B4-BE49-F238E27FC236}">
                <a16:creationId xmlns:a16="http://schemas.microsoft.com/office/drawing/2014/main" id="{D9404D3D-2C26-4A76-871E-B4F946380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307">
            <a:extLst xmlns:a="http://schemas.openxmlformats.org/drawingml/2006/main">
              <a:ext uri="{FF2B5EF4-FFF2-40B4-BE49-F238E27FC236}">
                <a16:creationId xmlns:a16="http://schemas.microsoft.com/office/drawing/2014/main" id="{B56A65C6-7BD7-420D-B713-8CC8510EC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引用</a:t>
            </a:r>
          </a:p>
        </p:txBody>
      </p:sp>
      <p:sp>
        <p:nvSpPr>
          <p:cNvPr id="13" name="text-308">
            <a:extLst xmlns:a="http://schemas.openxmlformats.org/drawingml/2006/main">
              <a:ext uri="{FF2B5EF4-FFF2-40B4-BE49-F238E27FC236}">
                <a16:creationId xmlns:a16="http://schemas.microsoft.com/office/drawing/2014/main" id="{EBAC778C-C708-4631-859B-47B3B971F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至少抽查一個引用，原文確實支持回答。</a:t>
            </a:r>
          </a:p>
        </p:txBody>
      </p:sp>
      <p:sp>
        <p:nvSpPr>
          <p:cNvPr id="14" name="shape-309">
            <a:extLst xmlns:a="http://schemas.openxmlformats.org/drawingml/2006/main">
              <a:ext uri="{FF2B5EF4-FFF2-40B4-BE49-F238E27FC236}">
                <a16:creationId xmlns:a16="http://schemas.microsoft.com/office/drawing/2014/main" id="{FEA45712-49D5-44CA-8527-B307332B2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310">
            <a:extLst xmlns:a="http://schemas.openxmlformats.org/drawingml/2006/main">
              <a:ext uri="{FF2B5EF4-FFF2-40B4-BE49-F238E27FC236}">
                <a16:creationId xmlns:a16="http://schemas.microsoft.com/office/drawing/2014/main" id="{894F24E5-9ECF-4E80-8897-D2494867A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311">
            <a:extLst xmlns:a="http://schemas.openxmlformats.org/drawingml/2006/main">
              <a:ext uri="{FF2B5EF4-FFF2-40B4-BE49-F238E27FC236}">
                <a16:creationId xmlns:a16="http://schemas.microsoft.com/office/drawing/2014/main" id="{96E2C74E-1C4F-4BE2-950A-F23251538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邊界</a:t>
            </a:r>
          </a:p>
        </p:txBody>
      </p:sp>
      <p:sp>
        <p:nvSpPr>
          <p:cNvPr id="17" name="text-312">
            <a:extLst xmlns:a="http://schemas.openxmlformats.org/drawingml/2006/main">
              <a:ext uri="{FF2B5EF4-FFF2-40B4-BE49-F238E27FC236}">
                <a16:creationId xmlns:a16="http://schemas.microsoft.com/office/drawing/2014/main" id="{67D92108-4DF8-4A40-BA28-BC964DFE7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知道哪些問題來源回答不了，不把推測當事實。</a:t>
            </a:r>
          </a:p>
        </p:txBody>
      </p:sp>
      <p:sp>
        <p:nvSpPr>
          <p:cNvPr id="18" name="shape-313">
            <a:extLst xmlns:a="http://schemas.openxmlformats.org/drawingml/2006/main">
              <a:ext uri="{FF2B5EF4-FFF2-40B4-BE49-F238E27FC236}">
                <a16:creationId xmlns:a16="http://schemas.microsoft.com/office/drawing/2014/main" id="{90C6D10E-C435-4630-914D-1A4715227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314">
            <a:extLst xmlns:a="http://schemas.openxmlformats.org/drawingml/2006/main">
              <a:ext uri="{FF2B5EF4-FFF2-40B4-BE49-F238E27FC236}">
                <a16:creationId xmlns:a16="http://schemas.microsoft.com/office/drawing/2014/main" id="{954AA6DD-5FFD-46CF-93AF-22A79408D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315">
            <a:extLst xmlns:a="http://schemas.openxmlformats.org/drawingml/2006/main">
              <a:ext uri="{FF2B5EF4-FFF2-40B4-BE49-F238E27FC236}">
                <a16:creationId xmlns:a16="http://schemas.microsoft.com/office/drawing/2014/main" id="{E1BA1CBA-3B23-46A8-A917-35F56309E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產出</a:t>
            </a:r>
          </a:p>
        </p:txBody>
      </p:sp>
      <p:sp>
        <p:nvSpPr>
          <p:cNvPr id="21" name="text-316">
            <a:extLst xmlns:a="http://schemas.openxmlformats.org/drawingml/2006/main">
              <a:ext uri="{FF2B5EF4-FFF2-40B4-BE49-F238E27FC236}">
                <a16:creationId xmlns:a16="http://schemas.microsoft.com/office/drawing/2014/main" id="{F826F4C7-FFA5-4DE1-A49A-7C9419D1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結果已能進入下一步 Gem 或 Canvas。</a:t>
            </a:r>
          </a:p>
        </p:txBody>
      </p:sp>
      <p:sp>
        <p:nvSpPr>
          <p:cNvPr id="22" name="text-608">
            <a:extLst xmlns:a="http://schemas.openxmlformats.org/drawingml/2006/main">
              <a:ext uri="{FF2B5EF4-FFF2-40B4-BE49-F238E27FC236}">
                <a16:creationId xmlns:a16="http://schemas.microsoft.com/office/drawing/2014/main" id="{42C9AFE5-E43A-4243-8A38-AB07C6FCF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38b0f8cb54142be"/>
              </a:rPr>
              <a:t>開啟 Gemini Notebook ↗</a:t>
            </a:r>
          </a:p>
        </p:txBody>
      </p:sp>
    </p:spTree>
    <p:extLst>
      <p:ext uri="{BB962C8B-B14F-4D97-AF65-F5344CB8AC3E}">
        <p14:creationId xmlns:p14="http://schemas.microsoft.com/office/powerpoint/2010/main" val="96620898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317">
            <a:extLst xmlns:a="http://schemas.openxmlformats.org/drawingml/2006/main">
              <a:ext uri="{FF2B5EF4-FFF2-40B4-BE49-F238E27FC236}">
                <a16:creationId xmlns:a16="http://schemas.microsoft.com/office/drawing/2014/main" id="{A860AA91-C792-4B0F-84EC-8AEE760E1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2" name="text-318">
            <a:extLst xmlns:a="http://schemas.openxmlformats.org/drawingml/2006/main">
              <a:ext uri="{FF2B5EF4-FFF2-40B4-BE49-F238E27FC236}">
                <a16:creationId xmlns:a16="http://schemas.microsoft.com/office/drawing/2014/main" id="{65FBB0D9-8BC9-40F3-85AE-804D8A82F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3" name="text-319">
            <a:extLst xmlns:a="http://schemas.openxmlformats.org/drawingml/2006/main">
              <a:ext uri="{FF2B5EF4-FFF2-40B4-BE49-F238E27FC236}">
                <a16:creationId xmlns:a16="http://schemas.microsoft.com/office/drawing/2014/main" id="{D6091281-3E0A-45C1-A5DE-F1F3E7763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把一套教學角色、方法、語氣與輸出格式固定下來，成為可重複使用的專屬助理。</a:t>
            </a:r>
          </a:p>
        </p:txBody>
      </p:sp>
      <p:sp>
        <p:nvSpPr>
          <p:cNvPr id="4" name="shape-320">
            <a:extLst xmlns:a="http://schemas.openxmlformats.org/drawingml/2006/main">
              <a:ext uri="{FF2B5EF4-FFF2-40B4-BE49-F238E27FC236}">
                <a16:creationId xmlns:a16="http://schemas.microsoft.com/office/drawing/2014/main" id="{ACB3CFF0-375E-4B24-89CD-BCE8EA9A8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321">
            <a:extLst xmlns:a="http://schemas.openxmlformats.org/drawingml/2006/main">
              <a:ext uri="{FF2B5EF4-FFF2-40B4-BE49-F238E27FC236}">
                <a16:creationId xmlns:a16="http://schemas.microsoft.com/office/drawing/2014/main" id="{5E545709-047D-47E0-9CB7-30F854760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5" name="shape-32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323">
            <a:extLst xmlns:a="http://schemas.openxmlformats.org/drawingml/2006/main">
              <a:ext uri="{FF2B5EF4-FFF2-40B4-BE49-F238E27FC236}">
                <a16:creationId xmlns:a16="http://schemas.microsoft.com/office/drawing/2014/main" id="{4BB58988-A59F-45B4-8622-CE06F54CA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E9792A3-0CD6-4022-8316-B676F63BA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19</a:t>
            </a:r>
          </a:p>
        </p:txBody>
      </p:sp>
      <p:sp>
        <p:nvSpPr>
          <p:cNvPr id="9" name="text-609">
            <a:extLst xmlns:a="http://schemas.openxmlformats.org/drawingml/2006/main">
              <a:ext uri="{FF2B5EF4-FFF2-40B4-BE49-F238E27FC236}">
                <a16:creationId xmlns:a16="http://schemas.microsoft.com/office/drawing/2014/main" id="{84993C1F-6778-4C73-9857-573C0FD67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e925690a1684470"/>
              </a:rPr>
              <a:t>建立自訂 Gem ↗</a:t>
            </a:r>
          </a:p>
        </p:txBody>
      </p:sp>
    </p:spTree>
    <p:extLst>
      <p:ext uri="{BB962C8B-B14F-4D97-AF65-F5344CB8AC3E}">
        <p14:creationId xmlns:p14="http://schemas.microsoft.com/office/powerpoint/2010/main" val="212413599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324">
            <a:extLst xmlns:a="http://schemas.openxmlformats.org/drawingml/2006/main">
              <a:ext uri="{FF2B5EF4-FFF2-40B4-BE49-F238E27FC236}">
                <a16:creationId xmlns:a16="http://schemas.microsoft.com/office/drawing/2014/main" id="{C766789B-59F1-402C-9108-A0B060506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PERSISTENT ASSISTANT</a:t>
            </a:r>
          </a:p>
        </p:txBody>
      </p:sp>
      <p:sp>
        <p:nvSpPr>
          <p:cNvPr id="2" name="text-325">
            <a:extLst xmlns:a="http://schemas.openxmlformats.org/drawingml/2006/main">
              <a:ext uri="{FF2B5EF4-FFF2-40B4-BE49-F238E27FC236}">
                <a16:creationId xmlns:a16="http://schemas.microsoft.com/office/drawing/2014/main" id="{F7AC68BD-C40A-48AE-A1C6-6D8141F74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 不是更長的提示詞，而是可持續使用的工作設定</a:t>
            </a:r>
          </a:p>
        </p:txBody>
      </p:sp>
      <p:cxnSp>
        <p:nvCxnSpPr>
          <p:cNvPr id="15" name="shape-32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27">
            <a:extLst xmlns:a="http://schemas.openxmlformats.org/drawingml/2006/main">
              <a:ext uri="{FF2B5EF4-FFF2-40B4-BE49-F238E27FC236}">
                <a16:creationId xmlns:a16="http://schemas.microsoft.com/office/drawing/2014/main" id="{454C3DAF-F061-4768-9039-0CAB276FB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ABF0DD7-DB22-4366-AF3B-1155ADD5F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20</a:t>
            </a:r>
          </a:p>
        </p:txBody>
      </p:sp>
      <p:sp>
        <p:nvSpPr>
          <p:cNvPr id="6" name="shape-328">
            <a:extLst xmlns:a="http://schemas.openxmlformats.org/drawingml/2006/main">
              <a:ext uri="{FF2B5EF4-FFF2-40B4-BE49-F238E27FC236}">
                <a16:creationId xmlns:a16="http://schemas.microsoft.com/office/drawing/2014/main" id="{E9F9017A-D369-4091-BA49-7E20203DB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329">
            <a:extLst xmlns:a="http://schemas.openxmlformats.org/drawingml/2006/main">
              <a:ext uri="{FF2B5EF4-FFF2-40B4-BE49-F238E27FC236}">
                <a16:creationId xmlns:a16="http://schemas.microsoft.com/office/drawing/2014/main" id="{BCC5343C-7F31-4850-BE15-D6FB2F65E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330">
            <a:extLst xmlns:a="http://schemas.openxmlformats.org/drawingml/2006/main">
              <a:ext uri="{FF2B5EF4-FFF2-40B4-BE49-F238E27FC236}">
                <a16:creationId xmlns:a16="http://schemas.microsoft.com/office/drawing/2014/main" id="{EA7615F5-ED43-4D1B-B337-3CFD3512E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單次對話</a:t>
            </a:r>
          </a:p>
        </p:txBody>
      </p:sp>
      <p:sp>
        <p:nvSpPr>
          <p:cNvPr id="9" name="text-331">
            <a:extLst xmlns:a="http://schemas.openxmlformats.org/drawingml/2006/main">
              <a:ext uri="{FF2B5EF4-FFF2-40B4-BE49-F238E27FC236}">
                <a16:creationId xmlns:a16="http://schemas.microsoft.com/office/drawing/2014/main" id="{F36990E1-484C-4571-8F22-3D389AC2B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每次重新交代角色與格式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容易隨對話漂移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適合一次性探索</a:t>
            </a:r>
          </a:p>
        </p:txBody>
      </p:sp>
      <p:sp>
        <p:nvSpPr>
          <p:cNvPr id="10" name="text-332">
            <a:extLst xmlns:a="http://schemas.openxmlformats.org/drawingml/2006/main">
              <a:ext uri="{FF2B5EF4-FFF2-40B4-BE49-F238E27FC236}">
                <a16:creationId xmlns:a16="http://schemas.microsoft.com/office/drawing/2014/main" id="{C96F4531-70D2-4BAF-9EB2-E14EE32B7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專屬 Gem</a:t>
            </a:r>
          </a:p>
        </p:txBody>
      </p:sp>
      <p:sp>
        <p:nvSpPr>
          <p:cNvPr id="11" name="text-333">
            <a:extLst xmlns:a="http://schemas.openxmlformats.org/drawingml/2006/main">
              <a:ext uri="{FF2B5EF4-FFF2-40B4-BE49-F238E27FC236}">
                <a16:creationId xmlns:a16="http://schemas.microsoft.com/office/drawing/2014/main" id="{385B8FF9-8615-461B-B965-8E3617D06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保存名稱與指令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可加入背景檔案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適合重複的教學任務</a:t>
            </a:r>
          </a:p>
        </p:txBody>
      </p:sp>
      <p:sp>
        <p:nvSpPr>
          <p:cNvPr id="12" name="text-610">
            <a:extLst xmlns:a="http://schemas.openxmlformats.org/drawingml/2006/main">
              <a:ext uri="{FF2B5EF4-FFF2-40B4-BE49-F238E27FC236}">
                <a16:creationId xmlns:a16="http://schemas.microsoft.com/office/drawing/2014/main" id="{B7AFA6B2-B5BF-40AC-B7BB-05B38E34E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eac0931178a4d24"/>
              </a:rPr>
              <a:t>建立自訂 Gem ↗</a:t>
            </a:r>
          </a:p>
        </p:txBody>
      </p:sp>
    </p:spTree>
    <p:extLst>
      <p:ext uri="{BB962C8B-B14F-4D97-AF65-F5344CB8AC3E}">
        <p14:creationId xmlns:p14="http://schemas.microsoft.com/office/powerpoint/2010/main" val="156432286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334">
            <a:extLst xmlns:a="http://schemas.openxmlformats.org/drawingml/2006/main">
              <a:ext uri="{FF2B5EF4-FFF2-40B4-BE49-F238E27FC236}">
                <a16:creationId xmlns:a16="http://schemas.microsoft.com/office/drawing/2014/main" id="{DA08016C-7961-4C61-BBE5-C281F9DC3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INSTRUCTION CANVAS</a:t>
            </a:r>
          </a:p>
        </p:txBody>
      </p:sp>
      <p:sp>
        <p:nvSpPr>
          <p:cNvPr id="2" name="text-335">
            <a:extLst xmlns:a="http://schemas.openxmlformats.org/drawingml/2006/main">
              <a:ext uri="{FF2B5EF4-FFF2-40B4-BE49-F238E27FC236}">
                <a16:creationId xmlns:a16="http://schemas.microsoft.com/office/drawing/2014/main" id="{39EA8695-D50F-48E9-8EB5-50B192280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 指令四格：角色、任務、背景、格式</a:t>
            </a:r>
          </a:p>
        </p:txBody>
      </p:sp>
      <p:cxnSp>
        <p:nvCxnSpPr>
          <p:cNvPr id="25" name="shape-33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37">
            <a:extLst xmlns:a="http://schemas.openxmlformats.org/drawingml/2006/main">
              <a:ext uri="{FF2B5EF4-FFF2-40B4-BE49-F238E27FC236}">
                <a16:creationId xmlns:a16="http://schemas.microsoft.com/office/drawing/2014/main" id="{35766D29-90F6-4BD3-A93E-640354D02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26D513B-911F-4EDA-B9D9-A6FEB2DBF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21</a:t>
            </a:r>
          </a:p>
        </p:txBody>
      </p:sp>
      <p:sp>
        <p:nvSpPr>
          <p:cNvPr id="6" name="shape-338">
            <a:extLst xmlns:a="http://schemas.openxmlformats.org/drawingml/2006/main">
              <a:ext uri="{FF2B5EF4-FFF2-40B4-BE49-F238E27FC236}">
                <a16:creationId xmlns:a16="http://schemas.microsoft.com/office/drawing/2014/main" id="{0A596849-5B14-467E-BAFE-72FAC41E3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339">
            <a:extLst xmlns:a="http://schemas.openxmlformats.org/drawingml/2006/main">
              <a:ext uri="{FF2B5EF4-FFF2-40B4-BE49-F238E27FC236}">
                <a16:creationId xmlns:a16="http://schemas.microsoft.com/office/drawing/2014/main" id="{E891FF7E-8E98-4D10-AE99-E12BF4608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</a:t>
            </a:r>
          </a:p>
        </p:txBody>
      </p:sp>
      <p:sp>
        <p:nvSpPr>
          <p:cNvPr id="8" name="text-340">
            <a:extLst xmlns:a="http://schemas.openxmlformats.org/drawingml/2006/main">
              <a:ext uri="{FF2B5EF4-FFF2-40B4-BE49-F238E27FC236}">
                <a16:creationId xmlns:a16="http://schemas.microsoft.com/office/drawing/2014/main" id="{A6CDD2C7-9D38-45E7-9E13-8E36FC646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角色 Persona</a:t>
            </a:r>
          </a:p>
        </p:txBody>
      </p:sp>
      <p:sp>
        <p:nvSpPr>
          <p:cNvPr id="9" name="text-341">
            <a:extLst xmlns:a="http://schemas.openxmlformats.org/drawingml/2006/main">
              <a:ext uri="{FF2B5EF4-FFF2-40B4-BE49-F238E27FC236}">
                <a16:creationId xmlns:a16="http://schemas.microsoft.com/office/drawing/2014/main" id="{72C89822-854A-4A07-89D9-EDD4827DD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你是誰？面對哪一類教師或學生？專業邊界是什麼？</a:t>
            </a:r>
          </a:p>
        </p:txBody>
      </p:sp>
      <p:sp>
        <p:nvSpPr>
          <p:cNvPr id="10" name="shape-342">
            <a:extLst xmlns:a="http://schemas.openxmlformats.org/drawingml/2006/main">
              <a:ext uri="{FF2B5EF4-FFF2-40B4-BE49-F238E27FC236}">
                <a16:creationId xmlns:a16="http://schemas.microsoft.com/office/drawing/2014/main" id="{52B9CD24-7692-44C6-A596-D502F4702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343">
            <a:extLst xmlns:a="http://schemas.openxmlformats.org/drawingml/2006/main">
              <a:ext uri="{FF2B5EF4-FFF2-40B4-BE49-F238E27FC236}">
                <a16:creationId xmlns:a16="http://schemas.microsoft.com/office/drawing/2014/main" id="{BA6B15E3-6492-4A66-9D97-5D8E9EC4A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T</a:t>
            </a:r>
          </a:p>
        </p:txBody>
      </p:sp>
      <p:sp>
        <p:nvSpPr>
          <p:cNvPr id="12" name="text-344">
            <a:extLst xmlns:a="http://schemas.openxmlformats.org/drawingml/2006/main">
              <a:ext uri="{FF2B5EF4-FFF2-40B4-BE49-F238E27FC236}">
                <a16:creationId xmlns:a16="http://schemas.microsoft.com/office/drawing/2014/main" id="{6013949B-6EB9-4349-B73F-A61BB2DEC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任務 Task</a:t>
            </a:r>
          </a:p>
        </p:txBody>
      </p:sp>
      <p:sp>
        <p:nvSpPr>
          <p:cNvPr id="13" name="text-345">
            <a:extLst xmlns:a="http://schemas.openxmlformats.org/drawingml/2006/main">
              <a:ext uri="{FF2B5EF4-FFF2-40B4-BE49-F238E27FC236}">
                <a16:creationId xmlns:a16="http://schemas.microsoft.com/office/drawing/2014/main" id="{445745FD-ED11-4E0A-BE19-C586F866E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需要做哪些動作？先問什麼？什麼情況要停止？</a:t>
            </a:r>
          </a:p>
        </p:txBody>
      </p:sp>
      <p:sp>
        <p:nvSpPr>
          <p:cNvPr id="14" name="shape-346">
            <a:extLst xmlns:a="http://schemas.openxmlformats.org/drawingml/2006/main">
              <a:ext uri="{FF2B5EF4-FFF2-40B4-BE49-F238E27FC236}">
                <a16:creationId xmlns:a16="http://schemas.microsoft.com/office/drawing/2014/main" id="{1B86E7C8-4595-4BED-A746-6B4EC540D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347">
            <a:extLst xmlns:a="http://schemas.openxmlformats.org/drawingml/2006/main">
              <a:ext uri="{FF2B5EF4-FFF2-40B4-BE49-F238E27FC236}">
                <a16:creationId xmlns:a16="http://schemas.microsoft.com/office/drawing/2014/main" id="{2FCE0922-BCFC-4515-952D-E452617C3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C</a:t>
            </a:r>
          </a:p>
        </p:txBody>
      </p:sp>
      <p:sp>
        <p:nvSpPr>
          <p:cNvPr id="16" name="text-348">
            <a:extLst xmlns:a="http://schemas.openxmlformats.org/drawingml/2006/main">
              <a:ext uri="{FF2B5EF4-FFF2-40B4-BE49-F238E27FC236}">
                <a16:creationId xmlns:a16="http://schemas.microsoft.com/office/drawing/2014/main" id="{6EBF72B1-7F1C-4D45-8C61-90CB18ED6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背景 Context</a:t>
            </a:r>
          </a:p>
        </p:txBody>
      </p:sp>
      <p:sp>
        <p:nvSpPr>
          <p:cNvPr id="17" name="text-349">
            <a:extLst xmlns:a="http://schemas.openxmlformats.org/drawingml/2006/main">
              <a:ext uri="{FF2B5EF4-FFF2-40B4-BE49-F238E27FC236}">
                <a16:creationId xmlns:a16="http://schemas.microsoft.com/office/drawing/2014/main" id="{990DE98A-43A5-420B-86A4-A92CA6DA9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課程、學生、評量、時間與資料限制。</a:t>
            </a:r>
          </a:p>
        </p:txBody>
      </p:sp>
      <p:sp>
        <p:nvSpPr>
          <p:cNvPr id="18" name="shape-350">
            <a:extLst xmlns:a="http://schemas.openxmlformats.org/drawingml/2006/main">
              <a:ext uri="{FF2B5EF4-FFF2-40B4-BE49-F238E27FC236}">
                <a16:creationId xmlns:a16="http://schemas.microsoft.com/office/drawing/2014/main" id="{BF4CF19C-0028-4F92-BBA0-6B3580AF5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351">
            <a:extLst xmlns:a="http://schemas.openxmlformats.org/drawingml/2006/main">
              <a:ext uri="{FF2B5EF4-FFF2-40B4-BE49-F238E27FC236}">
                <a16:creationId xmlns:a16="http://schemas.microsoft.com/office/drawing/2014/main" id="{F7BD9766-D129-4947-A174-4782BA7A9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F</a:t>
            </a:r>
          </a:p>
        </p:txBody>
      </p:sp>
      <p:sp>
        <p:nvSpPr>
          <p:cNvPr id="20" name="text-352">
            <a:extLst xmlns:a="http://schemas.openxmlformats.org/drawingml/2006/main">
              <a:ext uri="{FF2B5EF4-FFF2-40B4-BE49-F238E27FC236}">
                <a16:creationId xmlns:a16="http://schemas.microsoft.com/office/drawing/2014/main" id="{6E5B3A58-C349-4C12-BBDF-E09AC9697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格式 Format</a:t>
            </a:r>
          </a:p>
        </p:txBody>
      </p:sp>
      <p:sp>
        <p:nvSpPr>
          <p:cNvPr id="21" name="text-353">
            <a:extLst xmlns:a="http://schemas.openxmlformats.org/drawingml/2006/main">
              <a:ext uri="{FF2B5EF4-FFF2-40B4-BE49-F238E27FC236}">
                <a16:creationId xmlns:a16="http://schemas.microsoft.com/office/drawing/2014/main" id="{8509AF89-706C-4568-80BA-D64043E1C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輸出欄位、長度、語氣、表格與檢核清單。</a:t>
            </a:r>
          </a:p>
        </p:txBody>
      </p:sp>
      <p:sp>
        <p:nvSpPr>
          <p:cNvPr id="22" name="text-611">
            <a:extLst xmlns:a="http://schemas.openxmlformats.org/drawingml/2006/main">
              <a:ext uri="{FF2B5EF4-FFF2-40B4-BE49-F238E27FC236}">
                <a16:creationId xmlns:a16="http://schemas.microsoft.com/office/drawing/2014/main" id="{151966FD-548C-4728-914A-32727043E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97a2484da5f4d62"/>
              </a:rPr>
              <a:t>建立自訂 Gem ↗</a:t>
            </a:r>
          </a:p>
        </p:txBody>
      </p:sp>
    </p:spTree>
    <p:extLst>
      <p:ext uri="{BB962C8B-B14F-4D97-AF65-F5344CB8AC3E}">
        <p14:creationId xmlns:p14="http://schemas.microsoft.com/office/powerpoint/2010/main" val="114383867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354">
            <a:extLst xmlns:a="http://schemas.openxmlformats.org/drawingml/2006/main">
              <a:ext uri="{FF2B5EF4-FFF2-40B4-BE49-F238E27FC236}">
                <a16:creationId xmlns:a16="http://schemas.microsoft.com/office/drawing/2014/main" id="{6D756E7D-B148-44AB-B52B-D433C20E8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text-355">
            <a:extLst xmlns:a="http://schemas.openxmlformats.org/drawingml/2006/main">
              <a:ext uri="{FF2B5EF4-FFF2-40B4-BE49-F238E27FC236}">
                <a16:creationId xmlns:a16="http://schemas.microsoft.com/office/drawing/2014/main" id="{2EE0015B-E629-434D-BC43-695F819F2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範例｜課程與研究設計教練 Gem</a:t>
            </a:r>
          </a:p>
        </p:txBody>
      </p:sp>
      <p:cxnSp>
        <p:nvCxnSpPr>
          <p:cNvPr id="16" name="shape-35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57">
            <a:extLst xmlns:a="http://schemas.openxmlformats.org/drawingml/2006/main">
              <a:ext uri="{FF2B5EF4-FFF2-40B4-BE49-F238E27FC236}">
                <a16:creationId xmlns:a16="http://schemas.microsoft.com/office/drawing/2014/main" id="{8406B65D-DD63-45D8-8C8F-E56D6D0B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AD04174-1F1E-46E2-A2F4-FA25D89D0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22</a:t>
            </a:r>
          </a:p>
        </p:txBody>
      </p:sp>
      <p:sp>
        <p:nvSpPr>
          <p:cNvPr id="6" name="text-358">
            <a:extLst xmlns:a="http://schemas.openxmlformats.org/drawingml/2006/main">
              <a:ext uri="{FF2B5EF4-FFF2-40B4-BE49-F238E27FC236}">
                <a16:creationId xmlns:a16="http://schemas.microsoft.com/office/drawing/2014/main" id="{FBF74A4E-E934-45CF-A8DC-19B2F313D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你是一位大學教學與研究設計教練。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任務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先詢問課程／研究目標、對象、資料與目前困難。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提出 3 個可實作方案，不替教師或研究者做最終決定。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每個方案列出流程、時間、證據與驗證方式。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背景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以上傳的課程或研究資料為優先；資料不足時明確指出。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格式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先給一頁摘要，再給可直接使用的工作表格，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最後列出風險與需要人工確認的事項。</a:t>
            </a:r>
          </a:p>
        </p:txBody>
      </p:sp>
      <p:sp>
        <p:nvSpPr>
          <p:cNvPr id="7" name="text-359">
            <a:extLst xmlns:a="http://schemas.openxmlformats.org/drawingml/2006/main">
              <a:ext uri="{FF2B5EF4-FFF2-40B4-BE49-F238E27FC236}">
                <a16:creationId xmlns:a16="http://schemas.microsoft.com/office/drawing/2014/main" id="{2D935868-421B-4AFE-9FC0-64F327932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先問再做</a:t>
            </a:r>
          </a:p>
        </p:txBody>
      </p:sp>
      <p:sp>
        <p:nvSpPr>
          <p:cNvPr id="8" name="text-360">
            <a:extLst xmlns:a="http://schemas.openxmlformats.org/drawingml/2006/main">
              <a:ext uri="{FF2B5EF4-FFF2-40B4-BE49-F238E27FC236}">
                <a16:creationId xmlns:a16="http://schemas.microsoft.com/office/drawing/2014/main" id="{BCB84ED0-F2F5-48AF-A80D-45E38F11A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避免資訊不足時直接產生看似完整的答案。</a:t>
            </a:r>
          </a:p>
        </p:txBody>
      </p:sp>
      <p:sp>
        <p:nvSpPr>
          <p:cNvPr id="9" name="text-361">
            <a:extLst xmlns:a="http://schemas.openxmlformats.org/drawingml/2006/main">
              <a:ext uri="{FF2B5EF4-FFF2-40B4-BE49-F238E27FC236}">
                <a16:creationId xmlns:a16="http://schemas.microsoft.com/office/drawing/2014/main" id="{97191969-D72D-4D4E-96CB-6CBCB2EEC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2AFA4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2AFA4"/>
                </a:solidFill>
                <a:latin typeface="Noto Sans TC"/>
                <a:ea typeface="Noto Sans TC"/>
                <a:cs typeface="Noto Sans TC"/>
              </a:rPr>
              <a:t>保留教師判斷</a:t>
            </a:r>
          </a:p>
        </p:txBody>
      </p:sp>
      <p:sp>
        <p:nvSpPr>
          <p:cNvPr id="10" name="text-362">
            <a:extLst xmlns:a="http://schemas.openxmlformats.org/drawingml/2006/main">
              <a:ext uri="{FF2B5EF4-FFF2-40B4-BE49-F238E27FC236}">
                <a16:creationId xmlns:a16="http://schemas.microsoft.com/office/drawing/2014/main" id="{0FFCD50C-A63A-4F65-81C3-249EF052A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提供選項與證據，不替教師作高風險決定。</a:t>
            </a:r>
          </a:p>
        </p:txBody>
      </p:sp>
      <p:sp>
        <p:nvSpPr>
          <p:cNvPr id="11" name="text-363">
            <a:extLst xmlns:a="http://schemas.openxmlformats.org/drawingml/2006/main">
              <a:ext uri="{FF2B5EF4-FFF2-40B4-BE49-F238E27FC236}">
                <a16:creationId xmlns:a16="http://schemas.microsoft.com/office/drawing/2014/main" id="{CE37B823-7F1C-4F71-BA3A-C6D789D33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固定交付格式</a:t>
            </a:r>
          </a:p>
        </p:txBody>
      </p:sp>
      <p:sp>
        <p:nvSpPr>
          <p:cNvPr id="12" name="text-364">
            <a:extLst xmlns:a="http://schemas.openxmlformats.org/drawingml/2006/main">
              <a:ext uri="{FF2B5EF4-FFF2-40B4-BE49-F238E27FC236}">
                <a16:creationId xmlns:a16="http://schemas.microsoft.com/office/drawing/2014/main" id="{558AD6C4-4834-4D96-82EC-33AFA1365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讓每次輸出都容易比較、修改與共備。</a:t>
            </a:r>
          </a:p>
        </p:txBody>
      </p:sp>
      <p:sp>
        <p:nvSpPr>
          <p:cNvPr id="13" name="text-612">
            <a:extLst xmlns:a="http://schemas.openxmlformats.org/drawingml/2006/main">
              <a:ext uri="{FF2B5EF4-FFF2-40B4-BE49-F238E27FC236}">
                <a16:creationId xmlns:a16="http://schemas.microsoft.com/office/drawing/2014/main" id="{4615BA76-4B93-4A3F-9221-5B5AA90AA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61fc98e254b44f0"/>
              </a:rPr>
              <a:t>建立自訂 Gem ↗</a:t>
            </a:r>
          </a:p>
        </p:txBody>
      </p:sp>
    </p:spTree>
    <p:extLst>
      <p:ext uri="{BB962C8B-B14F-4D97-AF65-F5344CB8AC3E}">
        <p14:creationId xmlns:p14="http://schemas.microsoft.com/office/powerpoint/2010/main" val="100196077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ext-365">
            <a:extLst xmlns:a="http://schemas.openxmlformats.org/drawingml/2006/main">
              <a:ext uri="{FF2B5EF4-FFF2-40B4-BE49-F238E27FC236}">
                <a16:creationId xmlns:a16="http://schemas.microsoft.com/office/drawing/2014/main" id="{3D350061-BB4B-4ABC-A912-0AB7765EA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text-366">
            <a:extLst xmlns:a="http://schemas.openxmlformats.org/drawingml/2006/main">
              <a:ext uri="{FF2B5EF4-FFF2-40B4-BE49-F238E27FC236}">
                <a16:creationId xmlns:a16="http://schemas.microsoft.com/office/drawing/2014/main" id="{8D5D6B00-A5FA-46E8-886B-ED65C88B7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實作二｜建立並壓力測試專屬 Gem</a:t>
            </a:r>
          </a:p>
        </p:txBody>
      </p:sp>
      <p:cxnSp>
        <p:nvCxnSpPr>
          <p:cNvPr id="22" name="shape-36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68">
            <a:extLst xmlns:a="http://schemas.openxmlformats.org/drawingml/2006/main">
              <a:ext uri="{FF2B5EF4-FFF2-40B4-BE49-F238E27FC236}">
                <a16:creationId xmlns:a16="http://schemas.microsoft.com/office/drawing/2014/main" id="{53A2FE2E-1C17-4D60-8434-A13414120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4C37445-8896-4210-8794-DE496F479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23</a:t>
            </a:r>
          </a:p>
        </p:txBody>
      </p:sp>
      <p:sp>
        <p:nvSpPr>
          <p:cNvPr id="6" name="text-369">
            <a:extLst xmlns:a="http://schemas.openxmlformats.org/drawingml/2006/main">
              <a:ext uri="{FF2B5EF4-FFF2-40B4-BE49-F238E27FC236}">
                <a16:creationId xmlns:a16="http://schemas.microsoft.com/office/drawing/2014/main" id="{BBCB2612-298C-4952-8C37-FA097EF1E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370">
            <a:extLst xmlns:a="http://schemas.openxmlformats.org/drawingml/2006/main">
              <a:ext uri="{FF2B5EF4-FFF2-40B4-BE49-F238E27FC236}">
                <a16:creationId xmlns:a16="http://schemas.microsoft.com/office/drawing/2014/main" id="{D4FB0C34-110E-4798-8A59-F717C4D92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371">
            <a:extLst xmlns:a="http://schemas.openxmlformats.org/drawingml/2006/main">
              <a:ext uri="{FF2B5EF4-FFF2-40B4-BE49-F238E27FC236}">
                <a16:creationId xmlns:a16="http://schemas.microsoft.com/office/drawing/2014/main" id="{8B07370F-7FA8-4741-8E3F-85210FFF0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372">
            <a:extLst xmlns:a="http://schemas.openxmlformats.org/drawingml/2006/main">
              <a:ext uri="{FF2B5EF4-FFF2-40B4-BE49-F238E27FC236}">
                <a16:creationId xmlns:a16="http://schemas.microsoft.com/office/drawing/2014/main" id="{B6435EE3-55A6-4F3A-BCA9-4D56B7CA4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用四格完成 Gem 指令</a:t>
            </a:r>
          </a:p>
        </p:txBody>
      </p:sp>
      <p:sp>
        <p:nvSpPr>
          <p:cNvPr id="10" name="text-373">
            <a:extLst xmlns:a="http://schemas.openxmlformats.org/drawingml/2006/main">
              <a:ext uri="{FF2B5EF4-FFF2-40B4-BE49-F238E27FC236}">
                <a16:creationId xmlns:a16="http://schemas.microsoft.com/office/drawing/2014/main" id="{EA14004B-9463-46F4-A841-90BEBC548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374">
            <a:extLst xmlns:a="http://schemas.openxmlformats.org/drawingml/2006/main">
              <a:ext uri="{FF2B5EF4-FFF2-40B4-BE49-F238E27FC236}">
                <a16:creationId xmlns:a16="http://schemas.microsoft.com/office/drawing/2014/main" id="{5F0D7F90-5A38-445A-B7F4-14B5E8F2A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加入必要的課程背景檔案</a:t>
            </a:r>
          </a:p>
        </p:txBody>
      </p:sp>
      <p:sp>
        <p:nvSpPr>
          <p:cNvPr id="12" name="text-375">
            <a:extLst xmlns:a="http://schemas.openxmlformats.org/drawingml/2006/main">
              <a:ext uri="{FF2B5EF4-FFF2-40B4-BE49-F238E27FC236}">
                <a16:creationId xmlns:a16="http://schemas.microsoft.com/office/drawing/2014/main" id="{0BDFD3BD-BA1E-4819-8EAC-17A709F0F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376">
            <a:extLst xmlns:a="http://schemas.openxmlformats.org/drawingml/2006/main">
              <a:ext uri="{FF2B5EF4-FFF2-40B4-BE49-F238E27FC236}">
                <a16:creationId xmlns:a16="http://schemas.microsoft.com/office/drawing/2014/main" id="{05C355C5-8157-4D1F-BEA6-46D9E4179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用正常案例測一次</a:t>
            </a:r>
          </a:p>
        </p:txBody>
      </p:sp>
      <p:sp>
        <p:nvSpPr>
          <p:cNvPr id="14" name="text-377">
            <a:extLst xmlns:a="http://schemas.openxmlformats.org/drawingml/2006/main">
              <a:ext uri="{FF2B5EF4-FFF2-40B4-BE49-F238E27FC236}">
                <a16:creationId xmlns:a16="http://schemas.microsoft.com/office/drawing/2014/main" id="{BDA9BC7A-89EC-4D23-9BF4-093C6C815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378">
            <a:extLst xmlns:a="http://schemas.openxmlformats.org/drawingml/2006/main">
              <a:ext uri="{FF2B5EF4-FFF2-40B4-BE49-F238E27FC236}">
                <a16:creationId xmlns:a16="http://schemas.microsoft.com/office/drawing/2014/main" id="{D79BA87E-5C13-4A1B-9578-4E145E5B4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用模糊或越界案例再測一次</a:t>
            </a:r>
          </a:p>
        </p:txBody>
      </p:sp>
      <p:sp>
        <p:nvSpPr>
          <p:cNvPr id="16" name="shape-379">
            <a:extLst xmlns:a="http://schemas.openxmlformats.org/drawingml/2006/main">
              <a:ext uri="{FF2B5EF4-FFF2-40B4-BE49-F238E27FC236}">
                <a16:creationId xmlns:a16="http://schemas.microsoft.com/office/drawing/2014/main" id="{E136E9A2-975C-4DBE-8BE6-DC9641197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380">
            <a:extLst xmlns:a="http://schemas.openxmlformats.org/drawingml/2006/main">
              <a:ext uri="{FF2B5EF4-FFF2-40B4-BE49-F238E27FC236}">
                <a16:creationId xmlns:a16="http://schemas.microsoft.com/office/drawing/2014/main" id="{AE2A74BC-FD85-4FCF-BC1B-DF8C68421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381">
            <a:extLst xmlns:a="http://schemas.openxmlformats.org/drawingml/2006/main">
              <a:ext uri="{FF2B5EF4-FFF2-40B4-BE49-F238E27FC236}">
                <a16:creationId xmlns:a16="http://schemas.microsoft.com/office/drawing/2014/main" id="{0FB7A8D5-ED73-4CDC-9E2D-7F32A20C0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名稱說明用途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輸出格式穩定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遇資料不足會追問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不捏造課程事實</a:t>
            </a:r>
          </a:p>
        </p:txBody>
      </p:sp>
      <p:sp>
        <p:nvSpPr>
          <p:cNvPr id="19" name="text-613">
            <a:extLst xmlns:a="http://schemas.openxmlformats.org/drawingml/2006/main">
              <a:ext uri="{FF2B5EF4-FFF2-40B4-BE49-F238E27FC236}">
                <a16:creationId xmlns:a16="http://schemas.microsoft.com/office/drawing/2014/main" id="{EF66CF00-440D-4E3B-947C-D33311511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112773cb9f94481"/>
              </a:rPr>
              <a:t>建立自訂 Gem ↗</a:t>
            </a:r>
          </a:p>
        </p:txBody>
      </p:sp>
    </p:spTree>
    <p:extLst>
      <p:ext uri="{BB962C8B-B14F-4D97-AF65-F5344CB8AC3E}">
        <p14:creationId xmlns:p14="http://schemas.microsoft.com/office/powerpoint/2010/main" val="149469959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382">
            <a:extLst xmlns:a="http://schemas.openxmlformats.org/drawingml/2006/main">
              <a:ext uri="{FF2B5EF4-FFF2-40B4-BE49-F238E27FC236}">
                <a16:creationId xmlns:a16="http://schemas.microsoft.com/office/drawing/2014/main" id="{6E9839C8-8A89-46A7-9B5B-844124C8C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QUALITY GATE</a:t>
            </a:r>
          </a:p>
        </p:txBody>
      </p:sp>
      <p:sp>
        <p:nvSpPr>
          <p:cNvPr id="2" name="text-383">
            <a:extLst xmlns:a="http://schemas.openxmlformats.org/drawingml/2006/main">
              <a:ext uri="{FF2B5EF4-FFF2-40B4-BE49-F238E27FC236}">
                <a16:creationId xmlns:a16="http://schemas.microsoft.com/office/drawing/2014/main" id="{1FD1782F-844B-4728-8DAF-2F16009E7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Checkpoint｜你的 Gem 值得留下來嗎？</a:t>
            </a:r>
          </a:p>
        </p:txBody>
      </p:sp>
      <p:cxnSp>
        <p:nvCxnSpPr>
          <p:cNvPr id="25" name="shape-38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85">
            <a:extLst xmlns:a="http://schemas.openxmlformats.org/drawingml/2006/main">
              <a:ext uri="{FF2B5EF4-FFF2-40B4-BE49-F238E27FC236}">
                <a16:creationId xmlns:a16="http://schemas.microsoft.com/office/drawing/2014/main" id="{5CB1E5B3-A525-4F08-A717-E1D7685FA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DA49F05-1DE1-43AE-AE9A-1CB89EC12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24</a:t>
            </a:r>
          </a:p>
        </p:txBody>
      </p:sp>
      <p:sp>
        <p:nvSpPr>
          <p:cNvPr id="6" name="shape-386">
            <a:extLst xmlns:a="http://schemas.openxmlformats.org/drawingml/2006/main">
              <a:ext uri="{FF2B5EF4-FFF2-40B4-BE49-F238E27FC236}">
                <a16:creationId xmlns:a16="http://schemas.microsoft.com/office/drawing/2014/main" id="{93E29614-4021-4018-BF62-4BFA401EE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387">
            <a:extLst xmlns:a="http://schemas.openxmlformats.org/drawingml/2006/main">
              <a:ext uri="{FF2B5EF4-FFF2-40B4-BE49-F238E27FC236}">
                <a16:creationId xmlns:a16="http://schemas.microsoft.com/office/drawing/2014/main" id="{01372422-D3FF-43AF-BBBC-12EA3CC40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388">
            <a:extLst xmlns:a="http://schemas.openxmlformats.org/drawingml/2006/main">
              <a:ext uri="{FF2B5EF4-FFF2-40B4-BE49-F238E27FC236}">
                <a16:creationId xmlns:a16="http://schemas.microsoft.com/office/drawing/2014/main" id="{A57A7532-4813-48A7-A255-E37E7A12F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重複</a:t>
            </a:r>
          </a:p>
        </p:txBody>
      </p:sp>
      <p:sp>
        <p:nvSpPr>
          <p:cNvPr id="9" name="text-389">
            <a:extLst xmlns:a="http://schemas.openxmlformats.org/drawingml/2006/main">
              <a:ext uri="{FF2B5EF4-FFF2-40B4-BE49-F238E27FC236}">
                <a16:creationId xmlns:a16="http://schemas.microsoft.com/office/drawing/2014/main" id="{5EDD9535-462F-4E69-86C8-530CB2627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這個任務一學期會出現多次，而不是只做一次。</a:t>
            </a:r>
          </a:p>
        </p:txBody>
      </p:sp>
      <p:sp>
        <p:nvSpPr>
          <p:cNvPr id="10" name="shape-390">
            <a:extLst xmlns:a="http://schemas.openxmlformats.org/drawingml/2006/main">
              <a:ext uri="{FF2B5EF4-FFF2-40B4-BE49-F238E27FC236}">
                <a16:creationId xmlns:a16="http://schemas.microsoft.com/office/drawing/2014/main" id="{8AD07454-3380-4EE0-9529-DC63205A3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391">
            <a:extLst xmlns:a="http://schemas.openxmlformats.org/drawingml/2006/main">
              <a:ext uri="{FF2B5EF4-FFF2-40B4-BE49-F238E27FC236}">
                <a16:creationId xmlns:a16="http://schemas.microsoft.com/office/drawing/2014/main" id="{87C79AD5-5F1E-414D-BF54-BF9755F53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392">
            <a:extLst xmlns:a="http://schemas.openxmlformats.org/drawingml/2006/main">
              <a:ext uri="{FF2B5EF4-FFF2-40B4-BE49-F238E27FC236}">
                <a16:creationId xmlns:a16="http://schemas.microsoft.com/office/drawing/2014/main" id="{FB076D98-CC63-4C7F-8ADC-2D2DB77F2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一致</a:t>
            </a:r>
          </a:p>
        </p:txBody>
      </p:sp>
      <p:sp>
        <p:nvSpPr>
          <p:cNvPr id="13" name="text-393">
            <a:extLst xmlns:a="http://schemas.openxmlformats.org/drawingml/2006/main">
              <a:ext uri="{FF2B5EF4-FFF2-40B4-BE49-F238E27FC236}">
                <a16:creationId xmlns:a16="http://schemas.microsoft.com/office/drawing/2014/main" id="{0291FA73-6F7C-46A1-AA92-6BDF94629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不同輸入仍遵守相同流程、語氣與輸出欄位。</a:t>
            </a:r>
          </a:p>
        </p:txBody>
      </p:sp>
      <p:sp>
        <p:nvSpPr>
          <p:cNvPr id="14" name="shape-394">
            <a:extLst xmlns:a="http://schemas.openxmlformats.org/drawingml/2006/main">
              <a:ext uri="{FF2B5EF4-FFF2-40B4-BE49-F238E27FC236}">
                <a16:creationId xmlns:a16="http://schemas.microsoft.com/office/drawing/2014/main" id="{620D57D0-17E8-48F3-8772-F49ECC013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395">
            <a:extLst xmlns:a="http://schemas.openxmlformats.org/drawingml/2006/main">
              <a:ext uri="{FF2B5EF4-FFF2-40B4-BE49-F238E27FC236}">
                <a16:creationId xmlns:a16="http://schemas.microsoft.com/office/drawing/2014/main" id="{9AAF83E8-33FE-4901-BA47-F24955CA1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396">
            <a:extLst xmlns:a="http://schemas.openxmlformats.org/drawingml/2006/main">
              <a:ext uri="{FF2B5EF4-FFF2-40B4-BE49-F238E27FC236}">
                <a16:creationId xmlns:a16="http://schemas.microsoft.com/office/drawing/2014/main" id="{3AA1E941-0DFC-4764-8321-9636F949C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可教</a:t>
            </a:r>
          </a:p>
        </p:txBody>
      </p:sp>
      <p:sp>
        <p:nvSpPr>
          <p:cNvPr id="17" name="text-397">
            <a:extLst xmlns:a="http://schemas.openxmlformats.org/drawingml/2006/main">
              <a:ext uri="{FF2B5EF4-FFF2-40B4-BE49-F238E27FC236}">
                <a16:creationId xmlns:a16="http://schemas.microsoft.com/office/drawing/2014/main" id="{EFE07525-2A0F-4A6B-B668-EC461E221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同事看得懂它的用途，也知道何時不該使用。</a:t>
            </a:r>
          </a:p>
        </p:txBody>
      </p:sp>
      <p:sp>
        <p:nvSpPr>
          <p:cNvPr id="18" name="shape-398">
            <a:extLst xmlns:a="http://schemas.openxmlformats.org/drawingml/2006/main">
              <a:ext uri="{FF2B5EF4-FFF2-40B4-BE49-F238E27FC236}">
                <a16:creationId xmlns:a16="http://schemas.microsoft.com/office/drawing/2014/main" id="{00EBC040-A344-4ACC-ADFD-E7A501983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399">
            <a:extLst xmlns:a="http://schemas.openxmlformats.org/drawingml/2006/main">
              <a:ext uri="{FF2B5EF4-FFF2-40B4-BE49-F238E27FC236}">
                <a16:creationId xmlns:a16="http://schemas.microsoft.com/office/drawing/2014/main" id="{A065A944-2E8D-47A5-81FE-268130E18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400">
            <a:extLst xmlns:a="http://schemas.openxmlformats.org/drawingml/2006/main">
              <a:ext uri="{FF2B5EF4-FFF2-40B4-BE49-F238E27FC236}">
                <a16:creationId xmlns:a16="http://schemas.microsoft.com/office/drawing/2014/main" id="{B41E7178-2907-4D19-9401-FB81FA2F1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可改</a:t>
            </a:r>
          </a:p>
        </p:txBody>
      </p:sp>
      <p:sp>
        <p:nvSpPr>
          <p:cNvPr id="21" name="text-401">
            <a:extLst xmlns:a="http://schemas.openxmlformats.org/drawingml/2006/main">
              <a:ext uri="{FF2B5EF4-FFF2-40B4-BE49-F238E27FC236}">
                <a16:creationId xmlns:a16="http://schemas.microsoft.com/office/drawing/2014/main" id="{B9782505-DBB3-40D9-B416-A1B0DFBE5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指令與背景檔案能隨課程迭代，不被鎖死。</a:t>
            </a:r>
          </a:p>
        </p:txBody>
      </p:sp>
      <p:sp>
        <p:nvSpPr>
          <p:cNvPr id="22" name="text-614">
            <a:extLst xmlns:a="http://schemas.openxmlformats.org/drawingml/2006/main">
              <a:ext uri="{FF2B5EF4-FFF2-40B4-BE49-F238E27FC236}">
                <a16:creationId xmlns:a16="http://schemas.microsoft.com/office/drawing/2014/main" id="{BABA2659-CCCF-4DD7-9B20-00B308AB4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15a09efd2574f57"/>
              </a:rPr>
              <a:t>建立自訂 Gem ↗</a:t>
            </a:r>
          </a:p>
        </p:txBody>
      </p:sp>
    </p:spTree>
    <p:extLst>
      <p:ext uri="{BB962C8B-B14F-4D97-AF65-F5344CB8AC3E}">
        <p14:creationId xmlns:p14="http://schemas.microsoft.com/office/powerpoint/2010/main" val="237297880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402">
            <a:extLst xmlns:a="http://schemas.openxmlformats.org/drawingml/2006/main">
              <a:ext uri="{FF2B5EF4-FFF2-40B4-BE49-F238E27FC236}">
                <a16:creationId xmlns:a16="http://schemas.microsoft.com/office/drawing/2014/main" id="{21A71ED7-A87D-4F0D-998C-11482B5EA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2" name="text-403">
            <a:extLst xmlns:a="http://schemas.openxmlformats.org/drawingml/2006/main">
              <a:ext uri="{FF2B5EF4-FFF2-40B4-BE49-F238E27FC236}">
                <a16:creationId xmlns:a16="http://schemas.microsoft.com/office/drawing/2014/main" id="{B4638A4B-744E-4F27-8B8A-29613524E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Canvas</a:t>
            </a:r>
          </a:p>
        </p:txBody>
      </p:sp>
      <p:sp>
        <p:nvSpPr>
          <p:cNvPr id="3" name="text-404">
            <a:extLst xmlns:a="http://schemas.openxmlformats.org/drawingml/2006/main">
              <a:ext uri="{FF2B5EF4-FFF2-40B4-BE49-F238E27FC236}">
                <a16:creationId xmlns:a16="http://schemas.microsoft.com/office/drawing/2014/main" id="{F2A43F5D-BDF6-4E43-97C6-63FC436C8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把文字想法變成可預覽、可修改、可分享的文件、程式與互動教學作品。</a:t>
            </a:r>
          </a:p>
        </p:txBody>
      </p:sp>
      <p:sp>
        <p:nvSpPr>
          <p:cNvPr id="4" name="shape-405">
            <a:extLst xmlns:a="http://schemas.openxmlformats.org/drawingml/2006/main">
              <a:ext uri="{FF2B5EF4-FFF2-40B4-BE49-F238E27FC236}">
                <a16:creationId xmlns:a16="http://schemas.microsoft.com/office/drawing/2014/main" id="{D194EB5C-F60F-456C-A5B4-BB269633C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406">
            <a:extLst xmlns:a="http://schemas.openxmlformats.org/drawingml/2006/main">
              <a:ext uri="{FF2B5EF4-FFF2-40B4-BE49-F238E27FC236}">
                <a16:creationId xmlns:a16="http://schemas.microsoft.com/office/drawing/2014/main" id="{532FD69B-A4E1-48E5-ABF6-4E991E35B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5" name="shape-40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408">
            <a:extLst xmlns:a="http://schemas.openxmlformats.org/drawingml/2006/main">
              <a:ext uri="{FF2B5EF4-FFF2-40B4-BE49-F238E27FC236}">
                <a16:creationId xmlns:a16="http://schemas.microsoft.com/office/drawing/2014/main" id="{A7422EC6-C996-4C70-99CD-FC96EC6C9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920269D-218F-42DE-A46F-5739E246F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25</a:t>
            </a:r>
          </a:p>
        </p:txBody>
      </p:sp>
      <p:sp>
        <p:nvSpPr>
          <p:cNvPr id="9" name="text-615">
            <a:extLst xmlns:a="http://schemas.openxmlformats.org/drawingml/2006/main">
              <a:ext uri="{FF2B5EF4-FFF2-40B4-BE49-F238E27FC236}">
                <a16:creationId xmlns:a16="http://schemas.microsoft.com/office/drawing/2014/main" id="{73EFC658-45E1-4AD5-9494-877A85577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715ab9599bb43a8"/>
              </a:rPr>
              <a:t>開啟 Gemini Canvas ↗</a:t>
            </a:r>
          </a:p>
        </p:txBody>
      </p:sp>
    </p:spTree>
    <p:extLst>
      <p:ext uri="{BB962C8B-B14F-4D97-AF65-F5344CB8AC3E}">
        <p14:creationId xmlns:p14="http://schemas.microsoft.com/office/powerpoint/2010/main" val="1598505744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409">
            <a:extLst xmlns:a="http://schemas.openxmlformats.org/drawingml/2006/main">
              <a:ext uri="{FF2B5EF4-FFF2-40B4-BE49-F238E27FC236}">
                <a16:creationId xmlns:a16="http://schemas.microsoft.com/office/drawing/2014/main" id="{9B34A4ED-95C0-40E2-9A78-D46A9CE26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CANVAS PROMPT</a:t>
            </a:r>
          </a:p>
        </p:txBody>
      </p:sp>
      <p:sp>
        <p:nvSpPr>
          <p:cNvPr id="2" name="text-410">
            <a:extLst xmlns:a="http://schemas.openxmlformats.org/drawingml/2006/main">
              <a:ext uri="{FF2B5EF4-FFF2-40B4-BE49-F238E27FC236}">
                <a16:creationId xmlns:a16="http://schemas.microsoft.com/office/drawing/2014/main" id="{E2C86B8F-4F78-49B9-89C5-BC2418AEA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互動教學網站提示詞公式</a:t>
            </a:r>
          </a:p>
        </p:txBody>
      </p:sp>
      <p:cxnSp>
        <p:nvCxnSpPr>
          <p:cNvPr id="25" name="shape-41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12">
            <a:extLst xmlns:a="http://schemas.openxmlformats.org/drawingml/2006/main">
              <a:ext uri="{FF2B5EF4-FFF2-40B4-BE49-F238E27FC236}">
                <a16:creationId xmlns:a16="http://schemas.microsoft.com/office/drawing/2014/main" id="{B0C99811-5611-4DB5-86B0-57B1F08A1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11AA0ED-8F3B-4D23-B312-E0E8FD7ED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26</a:t>
            </a:r>
          </a:p>
        </p:txBody>
      </p:sp>
      <p:sp>
        <p:nvSpPr>
          <p:cNvPr id="6" name="shape-413">
            <a:extLst xmlns:a="http://schemas.openxmlformats.org/drawingml/2006/main">
              <a:ext uri="{FF2B5EF4-FFF2-40B4-BE49-F238E27FC236}">
                <a16:creationId xmlns:a16="http://schemas.microsoft.com/office/drawing/2014/main" id="{05C6C206-6E3B-484A-843D-FEC9414E4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414">
            <a:extLst xmlns:a="http://schemas.openxmlformats.org/drawingml/2006/main">
              <a:ext uri="{FF2B5EF4-FFF2-40B4-BE49-F238E27FC236}">
                <a16:creationId xmlns:a16="http://schemas.microsoft.com/office/drawing/2014/main" id="{E2CAADEE-A854-40F0-B2C4-17F077BCA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415">
            <a:extLst xmlns:a="http://schemas.openxmlformats.org/drawingml/2006/main">
              <a:ext uri="{FF2B5EF4-FFF2-40B4-BE49-F238E27FC236}">
                <a16:creationId xmlns:a16="http://schemas.microsoft.com/office/drawing/2014/main" id="{3983A11D-7554-4553-A51D-ABC97413B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對象與情境</a:t>
            </a:r>
          </a:p>
        </p:txBody>
      </p:sp>
      <p:sp>
        <p:nvSpPr>
          <p:cNvPr id="9" name="text-416">
            <a:extLst xmlns:a="http://schemas.openxmlformats.org/drawingml/2006/main">
              <a:ext uri="{FF2B5EF4-FFF2-40B4-BE49-F238E27FC236}">
                <a16:creationId xmlns:a16="http://schemas.microsoft.com/office/drawing/2014/main" id="{2F842A70-FABE-4F46-B212-5EC6FF898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為哪一門課、哪一群學生、在哪個教學階段使用？</a:t>
            </a:r>
          </a:p>
        </p:txBody>
      </p:sp>
      <p:sp>
        <p:nvSpPr>
          <p:cNvPr id="10" name="shape-417">
            <a:extLst xmlns:a="http://schemas.openxmlformats.org/drawingml/2006/main">
              <a:ext uri="{FF2B5EF4-FFF2-40B4-BE49-F238E27FC236}">
                <a16:creationId xmlns:a16="http://schemas.microsoft.com/office/drawing/2014/main" id="{AA02FE8D-35B7-4BBD-97CD-27399E810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418">
            <a:extLst xmlns:a="http://schemas.openxmlformats.org/drawingml/2006/main">
              <a:ext uri="{FF2B5EF4-FFF2-40B4-BE49-F238E27FC236}">
                <a16:creationId xmlns:a16="http://schemas.microsoft.com/office/drawing/2014/main" id="{5857DC1B-5375-4388-A2B9-D652CC9F0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419">
            <a:extLst xmlns:a="http://schemas.openxmlformats.org/drawingml/2006/main">
              <a:ext uri="{FF2B5EF4-FFF2-40B4-BE49-F238E27FC236}">
                <a16:creationId xmlns:a16="http://schemas.microsoft.com/office/drawing/2014/main" id="{7016C233-F70A-4C8A-A664-23D4A6ED0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學習任務</a:t>
            </a:r>
          </a:p>
        </p:txBody>
      </p:sp>
      <p:sp>
        <p:nvSpPr>
          <p:cNvPr id="13" name="text-420">
            <a:extLst xmlns:a="http://schemas.openxmlformats.org/drawingml/2006/main">
              <a:ext uri="{FF2B5EF4-FFF2-40B4-BE49-F238E27FC236}">
                <a16:creationId xmlns:a16="http://schemas.microsoft.com/office/drawing/2014/main" id="{82E89AC4-2417-4FB2-BD25-C3F3F24FE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學生要比較、排序、模擬、練習或做決策？</a:t>
            </a:r>
          </a:p>
        </p:txBody>
      </p:sp>
      <p:sp>
        <p:nvSpPr>
          <p:cNvPr id="14" name="shape-421">
            <a:extLst xmlns:a="http://schemas.openxmlformats.org/drawingml/2006/main">
              <a:ext uri="{FF2B5EF4-FFF2-40B4-BE49-F238E27FC236}">
                <a16:creationId xmlns:a16="http://schemas.microsoft.com/office/drawing/2014/main" id="{C0D0E3F8-B9E8-414B-A35C-B06AB1DAC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422">
            <a:extLst xmlns:a="http://schemas.openxmlformats.org/drawingml/2006/main">
              <a:ext uri="{FF2B5EF4-FFF2-40B4-BE49-F238E27FC236}">
                <a16:creationId xmlns:a16="http://schemas.microsoft.com/office/drawing/2014/main" id="{C35B1864-F33B-425A-B4EF-30CE50A57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423">
            <a:extLst xmlns:a="http://schemas.openxmlformats.org/drawingml/2006/main">
              <a:ext uri="{FF2B5EF4-FFF2-40B4-BE49-F238E27FC236}">
                <a16:creationId xmlns:a16="http://schemas.microsoft.com/office/drawing/2014/main" id="{15251675-96DD-4796-B075-512E6328F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互動與回饋</a:t>
            </a:r>
          </a:p>
        </p:txBody>
      </p:sp>
      <p:sp>
        <p:nvSpPr>
          <p:cNvPr id="17" name="text-424">
            <a:extLst xmlns:a="http://schemas.openxmlformats.org/drawingml/2006/main">
              <a:ext uri="{FF2B5EF4-FFF2-40B4-BE49-F238E27FC236}">
                <a16:creationId xmlns:a16="http://schemas.microsoft.com/office/drawing/2014/main" id="{F85DD8FD-89E1-4418-97FD-657B39AFE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點擊後會發生什麼？如何看見正確、進步或提示？</a:t>
            </a:r>
          </a:p>
        </p:txBody>
      </p:sp>
      <p:sp>
        <p:nvSpPr>
          <p:cNvPr id="18" name="shape-425">
            <a:extLst xmlns:a="http://schemas.openxmlformats.org/drawingml/2006/main">
              <a:ext uri="{FF2B5EF4-FFF2-40B4-BE49-F238E27FC236}">
                <a16:creationId xmlns:a16="http://schemas.microsoft.com/office/drawing/2014/main" id="{9A8B86D0-3DB0-46B2-9C30-AC9B2DB3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426">
            <a:extLst xmlns:a="http://schemas.openxmlformats.org/drawingml/2006/main">
              <a:ext uri="{FF2B5EF4-FFF2-40B4-BE49-F238E27FC236}">
                <a16:creationId xmlns:a16="http://schemas.microsoft.com/office/drawing/2014/main" id="{43F2B8A5-E10B-4F61-BF00-E432ED80A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427">
            <a:extLst xmlns:a="http://schemas.openxmlformats.org/drawingml/2006/main">
              <a:ext uri="{FF2B5EF4-FFF2-40B4-BE49-F238E27FC236}">
                <a16:creationId xmlns:a16="http://schemas.microsoft.com/office/drawing/2014/main" id="{82414CC5-0443-4715-A813-020F8D2C3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限制與驗收</a:t>
            </a:r>
          </a:p>
        </p:txBody>
      </p:sp>
      <p:sp>
        <p:nvSpPr>
          <p:cNvPr id="21" name="text-428">
            <a:extLst xmlns:a="http://schemas.openxmlformats.org/drawingml/2006/main">
              <a:ext uri="{FF2B5EF4-FFF2-40B4-BE49-F238E27FC236}">
                <a16:creationId xmlns:a16="http://schemas.microsoft.com/office/drawing/2014/main" id="{DE17D2E8-D6E8-48A2-B637-0D9926B61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單檔、RWD、繁中、無個資、手機可用，並列測試清單。</a:t>
            </a:r>
          </a:p>
        </p:txBody>
      </p:sp>
      <p:sp>
        <p:nvSpPr>
          <p:cNvPr id="22" name="text-616">
            <a:extLst xmlns:a="http://schemas.openxmlformats.org/drawingml/2006/main">
              <a:ext uri="{FF2B5EF4-FFF2-40B4-BE49-F238E27FC236}">
                <a16:creationId xmlns:a16="http://schemas.microsoft.com/office/drawing/2014/main" id="{B3BEB073-CA54-4B4B-8999-0304C6C47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3b9c3ee7e954431"/>
              </a:rPr>
              <a:t>開啟 Gemini Canvas ↗</a:t>
            </a:r>
          </a:p>
        </p:txBody>
      </p:sp>
    </p:spTree>
    <p:extLst>
      <p:ext uri="{BB962C8B-B14F-4D97-AF65-F5344CB8AC3E}">
        <p14:creationId xmlns:p14="http://schemas.microsoft.com/office/powerpoint/2010/main" val="184175525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429">
            <a:extLst xmlns:a="http://schemas.openxmlformats.org/drawingml/2006/main">
              <a:ext uri="{FF2B5EF4-FFF2-40B4-BE49-F238E27FC236}">
                <a16:creationId xmlns:a16="http://schemas.microsoft.com/office/drawing/2014/main" id="{567FD5D1-7643-416E-9F42-D2D8C1E36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BUILD LOOP</a:t>
            </a:r>
          </a:p>
        </p:txBody>
      </p:sp>
      <p:sp>
        <p:nvSpPr>
          <p:cNvPr id="2" name="text-430">
            <a:extLst xmlns:a="http://schemas.openxmlformats.org/drawingml/2006/main">
              <a:ext uri="{FF2B5EF4-FFF2-40B4-BE49-F238E27FC236}">
                <a16:creationId xmlns:a16="http://schemas.microsoft.com/office/drawing/2014/main" id="{0A8F49B2-0CBD-415D-988F-C8B42EAB2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建置循環：不要停在第一次生成</a:t>
            </a:r>
          </a:p>
        </p:txBody>
      </p:sp>
      <p:cxnSp>
        <p:nvCxnSpPr>
          <p:cNvPr id="25" name="shape-43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32">
            <a:extLst xmlns:a="http://schemas.openxmlformats.org/drawingml/2006/main">
              <a:ext uri="{FF2B5EF4-FFF2-40B4-BE49-F238E27FC236}">
                <a16:creationId xmlns:a16="http://schemas.microsoft.com/office/drawing/2014/main" id="{073173F7-97CE-4A4A-B325-D2E745FD5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ED94A12-7E93-4A6B-A7F8-141EF1418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27</a:t>
            </a:r>
          </a:p>
        </p:txBody>
      </p:sp>
      <p:sp>
        <p:nvSpPr>
          <p:cNvPr id="6" name="text-433">
            <a:extLst xmlns:a="http://schemas.openxmlformats.org/drawingml/2006/main">
              <a:ext uri="{FF2B5EF4-FFF2-40B4-BE49-F238E27FC236}">
                <a16:creationId xmlns:a16="http://schemas.microsoft.com/office/drawing/2014/main" id="{343385A7-FE70-45D3-803E-9E9149745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7" name="text-434">
            <a:extLst xmlns:a="http://schemas.openxmlformats.org/drawingml/2006/main">
              <a:ext uri="{FF2B5EF4-FFF2-40B4-BE49-F238E27FC236}">
                <a16:creationId xmlns:a16="http://schemas.microsoft.com/office/drawing/2014/main" id="{CA1DAB9B-5F5D-4302-A69A-006505D46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生成</a:t>
            </a:r>
          </a:p>
        </p:txBody>
      </p:sp>
      <p:sp>
        <p:nvSpPr>
          <p:cNvPr id="8" name="text-435">
            <a:extLst xmlns:a="http://schemas.openxmlformats.org/drawingml/2006/main">
              <a:ext uri="{FF2B5EF4-FFF2-40B4-BE49-F238E27FC236}">
                <a16:creationId xmlns:a16="http://schemas.microsoft.com/office/drawing/2014/main" id="{64ADAE2E-053D-4196-8FB9-D15923FBE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先做最小可用版</a:t>
            </a:r>
          </a:p>
        </p:txBody>
      </p:sp>
      <p:sp>
        <p:nvSpPr>
          <p:cNvPr id="9" name="text-436">
            <a:extLst xmlns:a="http://schemas.openxmlformats.org/drawingml/2006/main">
              <a:ext uri="{FF2B5EF4-FFF2-40B4-BE49-F238E27FC236}">
                <a16:creationId xmlns:a16="http://schemas.microsoft.com/office/drawing/2014/main" id="{CA97347E-7F1C-4E56-96E9-175010647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7538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0" name="text-437">
            <a:extLst xmlns:a="http://schemas.openxmlformats.org/drawingml/2006/main">
              <a:ext uri="{FF2B5EF4-FFF2-40B4-BE49-F238E27FC236}">
                <a16:creationId xmlns:a16="http://schemas.microsoft.com/office/drawing/2014/main" id="{57FDD6EE-6E42-4250-82BE-52C6F50F2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438">
            <a:extLst xmlns:a="http://schemas.openxmlformats.org/drawingml/2006/main">
              <a:ext uri="{FF2B5EF4-FFF2-40B4-BE49-F238E27FC236}">
                <a16:creationId xmlns:a16="http://schemas.microsoft.com/office/drawing/2014/main" id="{E926CF8C-F574-4933-9A90-CDB01503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預覽</a:t>
            </a:r>
          </a:p>
        </p:txBody>
      </p:sp>
      <p:sp>
        <p:nvSpPr>
          <p:cNvPr id="12" name="text-439">
            <a:extLst xmlns:a="http://schemas.openxmlformats.org/drawingml/2006/main">
              <a:ext uri="{FF2B5EF4-FFF2-40B4-BE49-F238E27FC236}">
                <a16:creationId xmlns:a16="http://schemas.microsoft.com/office/drawing/2014/main" id="{643666A7-9164-403A-852E-0DEEF55A8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實際點完學生路徑</a:t>
            </a:r>
          </a:p>
        </p:txBody>
      </p:sp>
      <p:sp>
        <p:nvSpPr>
          <p:cNvPr id="13" name="text-440">
            <a:extLst xmlns:a="http://schemas.openxmlformats.org/drawingml/2006/main">
              <a:ext uri="{FF2B5EF4-FFF2-40B4-BE49-F238E27FC236}">
                <a16:creationId xmlns:a16="http://schemas.microsoft.com/office/drawing/2014/main" id="{167BB0CF-BC9F-41F6-8D34-47AC03DEA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4" name="text-441">
            <a:extLst xmlns:a="http://schemas.openxmlformats.org/drawingml/2006/main">
              <a:ext uri="{FF2B5EF4-FFF2-40B4-BE49-F238E27FC236}">
                <a16:creationId xmlns:a16="http://schemas.microsoft.com/office/drawing/2014/main" id="{AB9DD0BF-4C6B-4743-9CCF-996A14DC4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5" name="text-442">
            <a:extLst xmlns:a="http://schemas.openxmlformats.org/drawingml/2006/main">
              <a:ext uri="{FF2B5EF4-FFF2-40B4-BE49-F238E27FC236}">
                <a16:creationId xmlns:a16="http://schemas.microsoft.com/office/drawing/2014/main" id="{21C46447-D74B-491A-96B9-1C94D8F39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檢查</a:t>
            </a:r>
          </a:p>
        </p:txBody>
      </p:sp>
      <p:sp>
        <p:nvSpPr>
          <p:cNvPr id="16" name="text-443">
            <a:extLst xmlns:a="http://schemas.openxmlformats.org/drawingml/2006/main">
              <a:ext uri="{FF2B5EF4-FFF2-40B4-BE49-F238E27FC236}">
                <a16:creationId xmlns:a16="http://schemas.microsoft.com/office/drawing/2014/main" id="{3A4C8B33-120D-44F3-8586-4A8A6E579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看程式、錯誤與紀錄</a:t>
            </a:r>
          </a:p>
        </p:txBody>
      </p:sp>
      <p:sp>
        <p:nvSpPr>
          <p:cNvPr id="17" name="text-444">
            <a:extLst xmlns:a="http://schemas.openxmlformats.org/drawingml/2006/main">
              <a:ext uri="{FF2B5EF4-FFF2-40B4-BE49-F238E27FC236}">
                <a16:creationId xmlns:a16="http://schemas.microsoft.com/office/drawing/2014/main" id="{EBFE59D9-EC41-4735-B772-DC76C6D19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4913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text-445">
            <a:extLst xmlns:a="http://schemas.openxmlformats.org/drawingml/2006/main">
              <a:ext uri="{FF2B5EF4-FFF2-40B4-BE49-F238E27FC236}">
                <a16:creationId xmlns:a16="http://schemas.microsoft.com/office/drawing/2014/main" id="{EC9AF2A0-7282-4E5B-AB2A-1A805943A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9" name="text-446">
            <a:extLst xmlns:a="http://schemas.openxmlformats.org/drawingml/2006/main">
              <a:ext uri="{FF2B5EF4-FFF2-40B4-BE49-F238E27FC236}">
                <a16:creationId xmlns:a16="http://schemas.microsoft.com/office/drawing/2014/main" id="{048E1A07-D254-419D-8C9D-4C4E5D4DB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迭代</a:t>
            </a:r>
          </a:p>
        </p:txBody>
      </p:sp>
      <p:sp>
        <p:nvSpPr>
          <p:cNvPr id="20" name="text-447">
            <a:extLst xmlns:a="http://schemas.openxmlformats.org/drawingml/2006/main">
              <a:ext uri="{FF2B5EF4-FFF2-40B4-BE49-F238E27FC236}">
                <a16:creationId xmlns:a16="http://schemas.microsoft.com/office/drawing/2014/main" id="{553892CC-EF9A-4C9B-B6A8-9559F1A9F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一次只修一類問題</a:t>
            </a:r>
          </a:p>
        </p:txBody>
      </p:sp>
      <p:sp>
        <p:nvSpPr>
          <p:cNvPr id="21" name="text-448">
            <a:extLst xmlns:a="http://schemas.openxmlformats.org/drawingml/2006/main">
              <a:ext uri="{FF2B5EF4-FFF2-40B4-BE49-F238E27FC236}">
                <a16:creationId xmlns:a16="http://schemas.microsoft.com/office/drawing/2014/main" id="{1047C607-EA4A-4F21-A312-8ED07BB25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22" name="text-617">
            <a:extLst xmlns:a="http://schemas.openxmlformats.org/drawingml/2006/main">
              <a:ext uri="{FF2B5EF4-FFF2-40B4-BE49-F238E27FC236}">
                <a16:creationId xmlns:a16="http://schemas.microsoft.com/office/drawing/2014/main" id="{838F92CF-B794-4A3B-A414-17568562E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b8053f4e0514de0"/>
              </a:rPr>
              <a:t>開啟 Gemini Canvas ↗</a:t>
            </a:r>
          </a:p>
        </p:txBody>
      </p:sp>
    </p:spTree>
    <p:extLst>
      <p:ext uri="{BB962C8B-B14F-4D97-AF65-F5344CB8AC3E}">
        <p14:creationId xmlns:p14="http://schemas.microsoft.com/office/powerpoint/2010/main" val="681960755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ext-449">
            <a:extLst xmlns:a="http://schemas.openxmlformats.org/drawingml/2006/main">
              <a:ext uri="{FF2B5EF4-FFF2-40B4-BE49-F238E27FC236}">
                <a16:creationId xmlns:a16="http://schemas.microsoft.com/office/drawing/2014/main" id="{26CDD328-F6B8-4DB7-A8A5-2E9449266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text-450">
            <a:extLst xmlns:a="http://schemas.openxmlformats.org/drawingml/2006/main">
              <a:ext uri="{FF2B5EF4-FFF2-40B4-BE49-F238E27FC236}">
                <a16:creationId xmlns:a16="http://schemas.microsoft.com/office/drawing/2014/main" id="{2B20FAF1-BEB5-437E-BFFE-CDB940FE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實作三｜做出一個互動教學原型</a:t>
            </a:r>
          </a:p>
        </p:txBody>
      </p:sp>
      <p:cxnSp>
        <p:nvCxnSpPr>
          <p:cNvPr id="22" name="shape-45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52">
            <a:extLst xmlns:a="http://schemas.openxmlformats.org/drawingml/2006/main">
              <a:ext uri="{FF2B5EF4-FFF2-40B4-BE49-F238E27FC236}">
                <a16:creationId xmlns:a16="http://schemas.microsoft.com/office/drawing/2014/main" id="{240F0A6D-2653-41B2-9BA8-B931A3F19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738A1E8-426D-4A72-AC40-98D0CA73D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28</a:t>
            </a:r>
          </a:p>
        </p:txBody>
      </p:sp>
      <p:sp>
        <p:nvSpPr>
          <p:cNvPr id="6" name="text-453">
            <a:extLst xmlns:a="http://schemas.openxmlformats.org/drawingml/2006/main">
              <a:ext uri="{FF2B5EF4-FFF2-40B4-BE49-F238E27FC236}">
                <a16:creationId xmlns:a16="http://schemas.microsoft.com/office/drawing/2014/main" id="{49C543A1-7F7E-4550-8943-9F9EA71C1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454">
            <a:extLst xmlns:a="http://schemas.openxmlformats.org/drawingml/2006/main">
              <a:ext uri="{FF2B5EF4-FFF2-40B4-BE49-F238E27FC236}">
                <a16:creationId xmlns:a16="http://schemas.microsoft.com/office/drawing/2014/main" id="{EE1F7FCA-242E-45D9-8E45-B89FEE379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455">
            <a:extLst xmlns:a="http://schemas.openxmlformats.org/drawingml/2006/main">
              <a:ext uri="{FF2B5EF4-FFF2-40B4-BE49-F238E27FC236}">
                <a16:creationId xmlns:a16="http://schemas.microsoft.com/office/drawing/2014/main" id="{E5CF0AAB-CE40-432A-9C86-90C58FA3E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456">
            <a:extLst xmlns:a="http://schemas.openxmlformats.org/drawingml/2006/main">
              <a:ext uri="{FF2B5EF4-FFF2-40B4-BE49-F238E27FC236}">
                <a16:creationId xmlns:a16="http://schemas.microsoft.com/office/drawing/2014/main" id="{248B047C-CDE8-4FF6-8591-80AC1F9EC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貼入提示詞公式與核心內容</a:t>
            </a:r>
          </a:p>
        </p:txBody>
      </p:sp>
      <p:sp>
        <p:nvSpPr>
          <p:cNvPr id="10" name="text-457">
            <a:extLst xmlns:a="http://schemas.openxmlformats.org/drawingml/2006/main">
              <a:ext uri="{FF2B5EF4-FFF2-40B4-BE49-F238E27FC236}">
                <a16:creationId xmlns:a16="http://schemas.microsoft.com/office/drawing/2014/main" id="{DBA3F9F9-95ED-4AE9-AA4D-1AB53E6D0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458">
            <a:extLst xmlns:a="http://schemas.openxmlformats.org/drawingml/2006/main">
              <a:ext uri="{FF2B5EF4-FFF2-40B4-BE49-F238E27FC236}">
                <a16:creationId xmlns:a16="http://schemas.microsoft.com/office/drawing/2014/main" id="{70771BE9-A5B8-48DD-BD94-ADD0236E9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產生第一版並完整操作</a:t>
            </a:r>
          </a:p>
        </p:txBody>
      </p:sp>
      <p:sp>
        <p:nvSpPr>
          <p:cNvPr id="12" name="text-459">
            <a:extLst xmlns:a="http://schemas.openxmlformats.org/drawingml/2006/main">
              <a:ext uri="{FF2B5EF4-FFF2-40B4-BE49-F238E27FC236}">
                <a16:creationId xmlns:a16="http://schemas.microsoft.com/office/drawing/2014/main" id="{B1C2C522-049B-494A-B4C5-EEB186F9C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460">
            <a:extLst xmlns:a="http://schemas.openxmlformats.org/drawingml/2006/main">
              <a:ext uri="{FF2B5EF4-FFF2-40B4-BE49-F238E27FC236}">
                <a16:creationId xmlns:a16="http://schemas.microsoft.com/office/drawing/2014/main" id="{41C11B7E-F5BA-4343-BDC7-829B79CB8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請同組夥伴扮演學生測試</a:t>
            </a:r>
          </a:p>
        </p:txBody>
      </p:sp>
      <p:sp>
        <p:nvSpPr>
          <p:cNvPr id="14" name="text-461">
            <a:extLst xmlns:a="http://schemas.openxmlformats.org/drawingml/2006/main">
              <a:ext uri="{FF2B5EF4-FFF2-40B4-BE49-F238E27FC236}">
                <a16:creationId xmlns:a16="http://schemas.microsoft.com/office/drawing/2014/main" id="{8B2380FF-354B-4B03-AB6D-0CFD8A69F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462">
            <a:extLst xmlns:a="http://schemas.openxmlformats.org/drawingml/2006/main">
              <a:ext uri="{FF2B5EF4-FFF2-40B4-BE49-F238E27FC236}">
                <a16:creationId xmlns:a16="http://schemas.microsoft.com/office/drawing/2014/main" id="{BCEF8DD7-55D6-40C0-918D-AE3B9A81A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根據一項具體問題修改第二版</a:t>
            </a:r>
          </a:p>
        </p:txBody>
      </p:sp>
      <p:sp>
        <p:nvSpPr>
          <p:cNvPr id="16" name="shape-463">
            <a:extLst xmlns:a="http://schemas.openxmlformats.org/drawingml/2006/main">
              <a:ext uri="{FF2B5EF4-FFF2-40B4-BE49-F238E27FC236}">
                <a16:creationId xmlns:a16="http://schemas.microsoft.com/office/drawing/2014/main" id="{8EEC6143-A20A-468F-BA67-CC0D6B924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464">
            <a:extLst xmlns:a="http://schemas.openxmlformats.org/drawingml/2006/main">
              <a:ext uri="{FF2B5EF4-FFF2-40B4-BE49-F238E27FC236}">
                <a16:creationId xmlns:a16="http://schemas.microsoft.com/office/drawing/2014/main" id="{3F935B92-E85C-40A0-B67C-096729BAD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465">
            <a:extLst xmlns:a="http://schemas.openxmlformats.org/drawingml/2006/main">
              <a:ext uri="{FF2B5EF4-FFF2-40B4-BE49-F238E27FC236}">
                <a16:creationId xmlns:a16="http://schemas.microsoft.com/office/drawing/2014/main" id="{6EC768CB-8936-43A6-8629-C3A7C80DA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至少一個互動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有清楚回饋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手機寬度可操作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沒有學生個資</a:t>
            </a:r>
          </a:p>
        </p:txBody>
      </p:sp>
      <p:sp>
        <p:nvSpPr>
          <p:cNvPr id="19" name="text-618">
            <a:extLst xmlns:a="http://schemas.openxmlformats.org/drawingml/2006/main">
              <a:ext uri="{FF2B5EF4-FFF2-40B4-BE49-F238E27FC236}">
                <a16:creationId xmlns:a16="http://schemas.microsoft.com/office/drawing/2014/main" id="{9796C7D8-9D85-4703-91BA-8A40B31AA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09281f4f51749db"/>
              </a:rPr>
              <a:t>開啟 Gemini Canvas ↗</a:t>
            </a:r>
          </a:p>
        </p:txBody>
      </p:sp>
    </p:spTree>
    <p:extLst>
      <p:ext uri="{BB962C8B-B14F-4D97-AF65-F5344CB8AC3E}">
        <p14:creationId xmlns:p14="http://schemas.microsoft.com/office/powerpoint/2010/main" val="861243116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466">
            <a:extLst xmlns:a="http://schemas.openxmlformats.org/drawingml/2006/main">
              <a:ext uri="{FF2B5EF4-FFF2-40B4-BE49-F238E27FC236}">
                <a16:creationId xmlns:a16="http://schemas.microsoft.com/office/drawing/2014/main" id="{21E765DC-A7BB-46DD-A083-015C30CC8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PRE-PUBLISH CHECK</a:t>
            </a:r>
          </a:p>
        </p:txBody>
      </p:sp>
      <p:sp>
        <p:nvSpPr>
          <p:cNvPr id="2" name="text-467">
            <a:extLst xmlns:a="http://schemas.openxmlformats.org/drawingml/2006/main">
              <a:ext uri="{FF2B5EF4-FFF2-40B4-BE49-F238E27FC236}">
                <a16:creationId xmlns:a16="http://schemas.microsoft.com/office/drawing/2014/main" id="{FB23AC1F-C974-4EB5-BEF5-05CCFFEE1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上線前 4 道門：能用，不等於能公開</a:t>
            </a:r>
          </a:p>
        </p:txBody>
      </p:sp>
      <p:cxnSp>
        <p:nvCxnSpPr>
          <p:cNvPr id="25" name="shape-46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69">
            <a:extLst xmlns:a="http://schemas.openxmlformats.org/drawingml/2006/main">
              <a:ext uri="{FF2B5EF4-FFF2-40B4-BE49-F238E27FC236}">
                <a16:creationId xmlns:a16="http://schemas.microsoft.com/office/drawing/2014/main" id="{CEB4FA49-F3AA-4D4B-9D22-05075728E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6A2893D-EF81-4C87-B97A-EA319ADF0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29</a:t>
            </a:r>
          </a:p>
        </p:txBody>
      </p:sp>
      <p:sp>
        <p:nvSpPr>
          <p:cNvPr id="6" name="shape-470">
            <a:extLst xmlns:a="http://schemas.openxmlformats.org/drawingml/2006/main">
              <a:ext uri="{FF2B5EF4-FFF2-40B4-BE49-F238E27FC236}">
                <a16:creationId xmlns:a16="http://schemas.microsoft.com/office/drawing/2014/main" id="{F6C2DAC2-3ABD-44A4-8973-238100B69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471">
            <a:extLst xmlns:a="http://schemas.openxmlformats.org/drawingml/2006/main">
              <a:ext uri="{FF2B5EF4-FFF2-40B4-BE49-F238E27FC236}">
                <a16:creationId xmlns:a16="http://schemas.microsoft.com/office/drawing/2014/main" id="{982281E6-39FE-4EBF-B42F-0B061637D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472">
            <a:extLst xmlns:a="http://schemas.openxmlformats.org/drawingml/2006/main">
              <a:ext uri="{FF2B5EF4-FFF2-40B4-BE49-F238E27FC236}">
                <a16:creationId xmlns:a16="http://schemas.microsoft.com/office/drawing/2014/main" id="{D57C44D2-F0DD-4D6E-B1EA-2D4549442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隱私</a:t>
            </a:r>
          </a:p>
        </p:txBody>
      </p:sp>
      <p:sp>
        <p:nvSpPr>
          <p:cNvPr id="9" name="text-473">
            <a:extLst xmlns:a="http://schemas.openxmlformats.org/drawingml/2006/main">
              <a:ext uri="{FF2B5EF4-FFF2-40B4-BE49-F238E27FC236}">
                <a16:creationId xmlns:a16="http://schemas.microsoft.com/office/drawing/2014/main" id="{14A41856-9E27-4F36-B9A5-97F96F37E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移除學生姓名、信箱、成績、研究參與者與敏感檔案。</a:t>
            </a:r>
          </a:p>
        </p:txBody>
      </p:sp>
      <p:sp>
        <p:nvSpPr>
          <p:cNvPr id="10" name="shape-474">
            <a:extLst xmlns:a="http://schemas.openxmlformats.org/drawingml/2006/main">
              <a:ext uri="{FF2B5EF4-FFF2-40B4-BE49-F238E27FC236}">
                <a16:creationId xmlns:a16="http://schemas.microsoft.com/office/drawing/2014/main" id="{A87C018D-9603-4EBE-95FB-A300588D0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475">
            <a:extLst xmlns:a="http://schemas.openxmlformats.org/drawingml/2006/main">
              <a:ext uri="{FF2B5EF4-FFF2-40B4-BE49-F238E27FC236}">
                <a16:creationId xmlns:a16="http://schemas.microsoft.com/office/drawing/2014/main" id="{00B647A9-18FB-4565-AA83-85E73DC3C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476">
            <a:extLst xmlns:a="http://schemas.openxmlformats.org/drawingml/2006/main">
              <a:ext uri="{FF2B5EF4-FFF2-40B4-BE49-F238E27FC236}">
                <a16:creationId xmlns:a16="http://schemas.microsoft.com/office/drawing/2014/main" id="{C262D20C-A18C-4118-921E-F0362D621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版權</a:t>
            </a:r>
          </a:p>
        </p:txBody>
      </p:sp>
      <p:sp>
        <p:nvSpPr>
          <p:cNvPr id="13" name="text-477">
            <a:extLst xmlns:a="http://schemas.openxmlformats.org/drawingml/2006/main">
              <a:ext uri="{FF2B5EF4-FFF2-40B4-BE49-F238E27FC236}">
                <a16:creationId xmlns:a16="http://schemas.microsoft.com/office/drawing/2014/main" id="{34091F64-AD16-43F0-9A11-A4ED2616E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確認圖片、教材、論文與範例程式的授權與引用。</a:t>
            </a:r>
          </a:p>
        </p:txBody>
      </p:sp>
      <p:sp>
        <p:nvSpPr>
          <p:cNvPr id="14" name="shape-478">
            <a:extLst xmlns:a="http://schemas.openxmlformats.org/drawingml/2006/main">
              <a:ext uri="{FF2B5EF4-FFF2-40B4-BE49-F238E27FC236}">
                <a16:creationId xmlns:a16="http://schemas.microsoft.com/office/drawing/2014/main" id="{BF9FDA62-D8AE-4875-B726-6647C415A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479">
            <a:extLst xmlns:a="http://schemas.openxmlformats.org/drawingml/2006/main">
              <a:ext uri="{FF2B5EF4-FFF2-40B4-BE49-F238E27FC236}">
                <a16:creationId xmlns:a16="http://schemas.microsoft.com/office/drawing/2014/main" id="{EF1A255C-6BB7-48C6-B3E4-D108DB239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480">
            <a:extLst xmlns:a="http://schemas.openxmlformats.org/drawingml/2006/main">
              <a:ext uri="{FF2B5EF4-FFF2-40B4-BE49-F238E27FC236}">
                <a16:creationId xmlns:a16="http://schemas.microsoft.com/office/drawing/2014/main" id="{53230012-EF02-406F-8763-F17F11941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無障礙</a:t>
            </a:r>
          </a:p>
        </p:txBody>
      </p:sp>
      <p:sp>
        <p:nvSpPr>
          <p:cNvPr id="17" name="text-481">
            <a:extLst xmlns:a="http://schemas.openxmlformats.org/drawingml/2006/main">
              <a:ext uri="{FF2B5EF4-FFF2-40B4-BE49-F238E27FC236}">
                <a16:creationId xmlns:a16="http://schemas.microsoft.com/office/drawing/2014/main" id="{AA04C384-BBCD-42E8-9B8B-D27F77B65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文字可讀、對比足夠、鍵盤可操作、圖片有替代說明。</a:t>
            </a:r>
          </a:p>
        </p:txBody>
      </p:sp>
      <p:sp>
        <p:nvSpPr>
          <p:cNvPr id="18" name="shape-482">
            <a:extLst xmlns:a="http://schemas.openxmlformats.org/drawingml/2006/main">
              <a:ext uri="{FF2B5EF4-FFF2-40B4-BE49-F238E27FC236}">
                <a16:creationId xmlns:a16="http://schemas.microsoft.com/office/drawing/2014/main" id="{4260AC43-CFB8-42AB-81BE-740E7C2FA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483">
            <a:extLst xmlns:a="http://schemas.openxmlformats.org/drawingml/2006/main">
              <a:ext uri="{FF2B5EF4-FFF2-40B4-BE49-F238E27FC236}">
                <a16:creationId xmlns:a16="http://schemas.microsoft.com/office/drawing/2014/main" id="{3E6C77F3-ECD4-4E58-9629-46A68FE9E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484">
            <a:extLst xmlns:a="http://schemas.openxmlformats.org/drawingml/2006/main">
              <a:ext uri="{FF2B5EF4-FFF2-40B4-BE49-F238E27FC236}">
                <a16:creationId xmlns:a16="http://schemas.microsoft.com/office/drawing/2014/main" id="{290CD911-DE8D-4F51-A9BC-FD0CBE986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跨裝置</a:t>
            </a:r>
          </a:p>
        </p:txBody>
      </p:sp>
      <p:sp>
        <p:nvSpPr>
          <p:cNvPr id="21" name="text-485">
            <a:extLst xmlns:a="http://schemas.openxmlformats.org/drawingml/2006/main">
              <a:ext uri="{FF2B5EF4-FFF2-40B4-BE49-F238E27FC236}">
                <a16:creationId xmlns:a16="http://schemas.microsoft.com/office/drawing/2014/main" id="{94C63672-5992-4662-A04B-E8818306C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手機、平板、桌機都完成主要任務，不只看首頁。</a:t>
            </a:r>
          </a:p>
        </p:txBody>
      </p:sp>
      <p:sp>
        <p:nvSpPr>
          <p:cNvPr id="22" name="text-619">
            <a:extLst xmlns:a="http://schemas.openxmlformats.org/drawingml/2006/main">
              <a:ext uri="{FF2B5EF4-FFF2-40B4-BE49-F238E27FC236}">
                <a16:creationId xmlns:a16="http://schemas.microsoft.com/office/drawing/2014/main" id="{44D5E0E5-764A-4990-B27C-3DFB36F9E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3793b4403964a55"/>
              </a:rPr>
              <a:t>開啟 Gemini Canvas ↗</a:t>
            </a:r>
          </a:p>
        </p:txBody>
      </p:sp>
    </p:spTree>
    <p:extLst>
      <p:ext uri="{BB962C8B-B14F-4D97-AF65-F5344CB8AC3E}">
        <p14:creationId xmlns:p14="http://schemas.microsoft.com/office/powerpoint/2010/main" val="1978493915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486">
            <a:extLst xmlns:a="http://schemas.openxmlformats.org/drawingml/2006/main">
              <a:ext uri="{FF2B5EF4-FFF2-40B4-BE49-F238E27FC236}">
                <a16:creationId xmlns:a16="http://schemas.microsoft.com/office/drawing/2014/main" id="{A0BE9F1F-9967-4760-9B5D-4387D6FCC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GOOGLE SITES · GITHUB PAGES · EZPAGE</a:t>
            </a:r>
          </a:p>
        </p:txBody>
      </p:sp>
      <p:sp>
        <p:nvSpPr>
          <p:cNvPr id="2" name="text-487">
            <a:extLst xmlns:a="http://schemas.openxmlformats.org/drawingml/2006/main">
              <a:ext uri="{FF2B5EF4-FFF2-40B4-BE49-F238E27FC236}">
                <a16:creationId xmlns:a16="http://schemas.microsoft.com/office/drawing/2014/main" id="{365BBA64-9A05-4F96-B22C-1743F671E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部署選擇：先看目的，再看技術</a:t>
            </a:r>
          </a:p>
        </p:txBody>
      </p:sp>
      <p:cxnSp>
        <p:nvCxnSpPr>
          <p:cNvPr id="21" name="shape-48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89">
            <a:extLst xmlns:a="http://schemas.openxmlformats.org/drawingml/2006/main">
              <a:ext uri="{FF2B5EF4-FFF2-40B4-BE49-F238E27FC236}">
                <a16:creationId xmlns:a16="http://schemas.microsoft.com/office/drawing/2014/main" id="{93BE2CD8-2268-4D4B-A84E-F52D0E651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41D401E-C6DC-49B0-93E5-ACAA8DA67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30</a:t>
            </a:r>
          </a:p>
        </p:txBody>
      </p:sp>
      <p:sp>
        <p:nvSpPr>
          <p:cNvPr id="6" name="shape-490">
            <a:extLst xmlns:a="http://schemas.openxmlformats.org/drawingml/2006/main">
              <a:ext uri="{FF2B5EF4-FFF2-40B4-BE49-F238E27FC236}">
                <a16:creationId xmlns:a16="http://schemas.microsoft.com/office/drawing/2014/main" id="{CD3F7EA1-89E5-49AE-AE3F-0FD3C3BE5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491">
            <a:extLst xmlns:a="http://schemas.openxmlformats.org/drawingml/2006/main">
              <a:ext uri="{FF2B5EF4-FFF2-40B4-BE49-F238E27FC236}">
                <a16:creationId xmlns:a16="http://schemas.microsoft.com/office/drawing/2014/main" id="{8F3AE3A9-A7D2-4F67-9917-50B235D2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492">
            <a:extLst xmlns:a="http://schemas.openxmlformats.org/drawingml/2006/main">
              <a:ext uri="{FF2B5EF4-FFF2-40B4-BE49-F238E27FC236}">
                <a16:creationId xmlns:a16="http://schemas.microsoft.com/office/drawing/2014/main" id="{59F1405C-3E16-405C-B959-EA091852B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sp>
        <p:nvSpPr>
          <p:cNvPr id="9" name="text-493">
            <a:extLst xmlns:a="http://schemas.openxmlformats.org/drawingml/2006/main">
              <a:ext uri="{FF2B5EF4-FFF2-40B4-BE49-F238E27FC236}">
                <a16:creationId xmlns:a16="http://schemas.microsoft.com/office/drawing/2014/main" id="{C57E0E0A-E1CF-48DC-8F63-E4FE07D1C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適合快速整理課程入口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拖放編輯與多人協作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可嵌入 Google 檔案與網站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維護門檻較低</a:t>
            </a:r>
          </a:p>
        </p:txBody>
      </p:sp>
      <p:sp>
        <p:nvSpPr>
          <p:cNvPr id="10" name="text-494">
            <a:extLst xmlns:a="http://schemas.openxmlformats.org/drawingml/2006/main">
              <a:ext uri="{FF2B5EF4-FFF2-40B4-BE49-F238E27FC236}">
                <a16:creationId xmlns:a16="http://schemas.microsoft.com/office/drawing/2014/main" id="{DA5A475F-85BA-419E-9E73-15FD4168A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GitHub Pages／EZPage</a:t>
            </a:r>
          </a:p>
        </p:txBody>
      </p:sp>
      <p:sp>
        <p:nvSpPr>
          <p:cNvPr id="11" name="text-495">
            <a:extLst xmlns:a="http://schemas.openxmlformats.org/drawingml/2006/main">
              <a:ext uri="{FF2B5EF4-FFF2-40B4-BE49-F238E27FC236}">
                <a16:creationId xmlns:a16="http://schemas.microsoft.com/office/drawing/2014/main" id="{5AD6D9E8-E37E-4265-8EDA-FCA96F58A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原生流程保留版本與程式結構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 可直接上傳 ZIP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適合展示互動網站作品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仍要理解公開、授權與驗證</a:t>
            </a:r>
          </a:p>
        </p:txBody>
      </p:sp>
      <p:sp>
        <p:nvSpPr>
          <p:cNvPr id="12" name="text-496">
            <a:extLst xmlns:a="http://schemas.openxmlformats.org/drawingml/2006/main">
              <a:ext uri="{FF2B5EF4-FFF2-40B4-BE49-F238E27FC236}">
                <a16:creationId xmlns:a16="http://schemas.microsoft.com/office/drawing/2014/main" id="{CB803F63-4787-4020-A946-72E96D4E8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7680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協作、嵌入、低門檻</a:t>
            </a:r>
          </a:p>
        </p:txBody>
      </p:sp>
      <p:sp>
        <p:nvSpPr>
          <p:cNvPr id="13" name="text-497">
            <a:extLst xmlns:a="http://schemas.openxmlformats.org/drawingml/2006/main">
              <a:ext uri="{FF2B5EF4-FFF2-40B4-BE49-F238E27FC236}">
                <a16:creationId xmlns:a16="http://schemas.microsoft.com/office/drawing/2014/main" id="{2B3FB982-2135-4D6C-BF7B-62956A323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4876800"/>
            <a:ext cx="18097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先問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誰要維護？</a:t>
            </a:r>
          </a:p>
        </p:txBody>
      </p:sp>
      <p:sp>
        <p:nvSpPr>
          <p:cNvPr id="14" name="text-498">
            <a:extLst xmlns:a="http://schemas.openxmlformats.org/drawingml/2006/main">
              <a:ext uri="{FF2B5EF4-FFF2-40B4-BE49-F238E27FC236}">
                <a16:creationId xmlns:a16="http://schemas.microsoft.com/office/drawing/2014/main" id="{D6BA04E7-889E-4294-AD31-C947EB62F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87680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程式、版本、公開</a:t>
            </a:r>
          </a:p>
        </p:txBody>
      </p:sp>
      <p:cxnSp>
        <p:nvCxnSpPr>
          <p:cNvPr id="33" name=""/>
          <p:cNvCxnSpPr>
            <a:stCxn xmlns:a="http://schemas.openxmlformats.org/drawingml/2006/main" id="13" idx="1"/>
            <a:endCxn xmlns:a="http://schemas.openxmlformats.org/drawingml/2006/main" id="12" idx="3"/>
          </p:cNvCxnSpPr>
          <p:nvPr/>
        </p:nvCxnSpPr>
        <p:spPr>
          <a:xfrm xmlns:a="http://schemas.openxmlformats.org/drawingml/2006/main" flipH="1">
            <a:off x="3067050" y="5181600"/>
            <a:ext cx="20288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34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905625" y="5181600"/>
            <a:ext cx="22193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17" name="text-499">
            <a:extLst xmlns:a="http://schemas.openxmlformats.org/drawingml/2006/main">
              <a:ext uri="{FF2B5EF4-FFF2-40B4-BE49-F238E27FC236}">
                <a16:creationId xmlns:a16="http://schemas.microsoft.com/office/drawing/2014/main" id="{54894E86-0C21-486F-9EF2-E4EF11485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6197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選部署條件，不先選品牌</a:t>
            </a:r>
          </a:p>
        </p:txBody>
      </p:sp>
      <p:sp>
        <p:nvSpPr>
          <p:cNvPr id="18" name="text-620">
            <a:extLst xmlns:a="http://schemas.openxmlformats.org/drawingml/2006/main">
              <a:ext uri="{FF2B5EF4-FFF2-40B4-BE49-F238E27FC236}">
                <a16:creationId xmlns:a16="http://schemas.microsoft.com/office/drawing/2014/main" id="{5919218A-C381-4DFF-985B-6F252BFDD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fcd6c5022ad4888"/>
              </a:rPr>
              <a:t>Google Sites ↗</a:t>
            </a: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9aff34ceaab40bf"/>
              </a:rPr>
              <a:t>GitHub Pages ↗</a:t>
            </a: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53f9cf73b8d416f"/>
              </a:rPr>
              <a:t>EZPage ↗</a:t>
            </a:r>
          </a:p>
        </p:txBody>
      </p:sp>
    </p:spTree>
    <p:extLst>
      <p:ext uri="{BB962C8B-B14F-4D97-AF65-F5344CB8AC3E}">
        <p14:creationId xmlns:p14="http://schemas.microsoft.com/office/powerpoint/2010/main" val="531599281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500">
            <a:extLst xmlns:a="http://schemas.openxmlformats.org/drawingml/2006/main">
              <a:ext uri="{FF2B5EF4-FFF2-40B4-BE49-F238E27FC236}">
                <a16:creationId xmlns:a16="http://schemas.microsoft.com/office/drawing/2014/main" id="{1AFEB9EB-24FA-4F4E-B5E7-460E37FEF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A</a:t>
            </a:r>
          </a:p>
        </p:txBody>
      </p:sp>
      <p:sp>
        <p:nvSpPr>
          <p:cNvPr id="2" name="text-501">
            <a:extLst xmlns:a="http://schemas.openxmlformats.org/drawingml/2006/main">
              <a:ext uri="{FF2B5EF4-FFF2-40B4-BE49-F238E27FC236}">
                <a16:creationId xmlns:a16="http://schemas.microsoft.com/office/drawing/2014/main" id="{93E5E9FE-7473-465C-869D-D1BF69B17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Sites：最快建立課程作品入口</a:t>
            </a:r>
          </a:p>
        </p:txBody>
      </p:sp>
      <p:cxnSp>
        <p:nvCxnSpPr>
          <p:cNvPr id="25" name="shape-50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03">
            <a:extLst xmlns:a="http://schemas.openxmlformats.org/drawingml/2006/main">
              <a:ext uri="{FF2B5EF4-FFF2-40B4-BE49-F238E27FC236}">
                <a16:creationId xmlns:a16="http://schemas.microsoft.com/office/drawing/2014/main" id="{C1A03E7C-9D4B-4BDA-A168-C423B08CB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B5CDCE9-97EC-4E2E-A52C-241FDF043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31</a:t>
            </a:r>
          </a:p>
        </p:txBody>
      </p:sp>
      <p:sp>
        <p:nvSpPr>
          <p:cNvPr id="6" name="text-504">
            <a:extLst xmlns:a="http://schemas.openxmlformats.org/drawingml/2006/main">
              <a:ext uri="{FF2B5EF4-FFF2-40B4-BE49-F238E27FC236}">
                <a16:creationId xmlns:a16="http://schemas.microsoft.com/office/drawing/2014/main" id="{C922BAD6-9C22-4F55-8E3F-481BD611B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7" name="text-505">
            <a:extLst xmlns:a="http://schemas.openxmlformats.org/drawingml/2006/main">
              <a:ext uri="{FF2B5EF4-FFF2-40B4-BE49-F238E27FC236}">
                <a16:creationId xmlns:a16="http://schemas.microsoft.com/office/drawing/2014/main" id="{82C3C9F8-E2F3-46E1-ABA9-8C51BD80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建立網站</a:t>
            </a:r>
          </a:p>
        </p:txBody>
      </p:sp>
      <p:sp>
        <p:nvSpPr>
          <p:cNvPr id="8" name="text-506">
            <a:extLst xmlns:a="http://schemas.openxmlformats.org/drawingml/2006/main">
              <a:ext uri="{FF2B5EF4-FFF2-40B4-BE49-F238E27FC236}">
                <a16:creationId xmlns:a16="http://schemas.microsoft.com/office/drawing/2014/main" id="{8A166096-F2F9-4575-A598-5019E4619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選空白或範本</a:t>
            </a:r>
          </a:p>
        </p:txBody>
      </p:sp>
      <p:sp>
        <p:nvSpPr>
          <p:cNvPr id="9" name="text-507">
            <a:extLst xmlns:a="http://schemas.openxmlformats.org/drawingml/2006/main">
              <a:ext uri="{FF2B5EF4-FFF2-40B4-BE49-F238E27FC236}">
                <a16:creationId xmlns:a16="http://schemas.microsoft.com/office/drawing/2014/main" id="{902BEACE-5C50-4099-AD97-58BC646EE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7538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0" name="text-508">
            <a:extLst xmlns:a="http://schemas.openxmlformats.org/drawingml/2006/main">
              <a:ext uri="{FF2B5EF4-FFF2-40B4-BE49-F238E27FC236}">
                <a16:creationId xmlns:a16="http://schemas.microsoft.com/office/drawing/2014/main" id="{F5157FFD-C486-4DEB-B005-6B084148E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509">
            <a:extLst xmlns:a="http://schemas.openxmlformats.org/drawingml/2006/main">
              <a:ext uri="{FF2B5EF4-FFF2-40B4-BE49-F238E27FC236}">
                <a16:creationId xmlns:a16="http://schemas.microsoft.com/office/drawing/2014/main" id="{7285332B-F28D-4BA1-8F28-C7A614CDE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加入內容</a:t>
            </a:r>
          </a:p>
        </p:txBody>
      </p:sp>
      <p:sp>
        <p:nvSpPr>
          <p:cNvPr id="12" name="text-510">
            <a:extLst xmlns:a="http://schemas.openxmlformats.org/drawingml/2006/main">
              <a:ext uri="{FF2B5EF4-FFF2-40B4-BE49-F238E27FC236}">
                <a16:creationId xmlns:a16="http://schemas.microsoft.com/office/drawing/2014/main" id="{2C22B788-3706-4740-809D-C45F917A6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文字、圖片、檔案、嵌入</a:t>
            </a:r>
          </a:p>
        </p:txBody>
      </p:sp>
      <p:sp>
        <p:nvSpPr>
          <p:cNvPr id="13" name="text-511">
            <a:extLst xmlns:a="http://schemas.openxmlformats.org/drawingml/2006/main">
              <a:ext uri="{FF2B5EF4-FFF2-40B4-BE49-F238E27FC236}">
                <a16:creationId xmlns:a16="http://schemas.microsoft.com/office/drawing/2014/main" id="{3101D391-9F70-4981-8A89-7B5667C59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4" name="text-512">
            <a:extLst xmlns:a="http://schemas.openxmlformats.org/drawingml/2006/main">
              <a:ext uri="{FF2B5EF4-FFF2-40B4-BE49-F238E27FC236}">
                <a16:creationId xmlns:a16="http://schemas.microsoft.com/office/drawing/2014/main" id="{0838ADB9-17DC-43C9-AED0-9FB76910F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5" name="text-513">
            <a:extLst xmlns:a="http://schemas.openxmlformats.org/drawingml/2006/main">
              <a:ext uri="{FF2B5EF4-FFF2-40B4-BE49-F238E27FC236}">
                <a16:creationId xmlns:a16="http://schemas.microsoft.com/office/drawing/2014/main" id="{E4772B0C-4DB1-4F62-9A58-87EB63E41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預覽</a:t>
            </a:r>
          </a:p>
        </p:txBody>
      </p:sp>
      <p:sp>
        <p:nvSpPr>
          <p:cNvPr id="16" name="text-514">
            <a:extLst xmlns:a="http://schemas.openxmlformats.org/drawingml/2006/main">
              <a:ext uri="{FF2B5EF4-FFF2-40B4-BE49-F238E27FC236}">
                <a16:creationId xmlns:a16="http://schemas.microsoft.com/office/drawing/2014/main" id="{13511F1E-522F-417D-9270-6C79D71C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桌機／平板／手機</a:t>
            </a:r>
          </a:p>
        </p:txBody>
      </p:sp>
      <p:sp>
        <p:nvSpPr>
          <p:cNvPr id="17" name="text-515">
            <a:extLst xmlns:a="http://schemas.openxmlformats.org/drawingml/2006/main">
              <a:ext uri="{FF2B5EF4-FFF2-40B4-BE49-F238E27FC236}">
                <a16:creationId xmlns:a16="http://schemas.microsoft.com/office/drawing/2014/main" id="{36389D3D-F80E-4413-9710-A896DE9F6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4913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text-516">
            <a:extLst xmlns:a="http://schemas.openxmlformats.org/drawingml/2006/main">
              <a:ext uri="{FF2B5EF4-FFF2-40B4-BE49-F238E27FC236}">
                <a16:creationId xmlns:a16="http://schemas.microsoft.com/office/drawing/2014/main" id="{26BF2C26-B380-477A-AD98-89EB9F3D0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9" name="text-517">
            <a:extLst xmlns:a="http://schemas.openxmlformats.org/drawingml/2006/main">
              <a:ext uri="{FF2B5EF4-FFF2-40B4-BE49-F238E27FC236}">
                <a16:creationId xmlns:a16="http://schemas.microsoft.com/office/drawing/2014/main" id="{BB3208F4-DAA2-4A91-BDF4-05E18C97E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發布</a:t>
            </a:r>
          </a:p>
        </p:txBody>
      </p:sp>
      <p:sp>
        <p:nvSpPr>
          <p:cNvPr id="20" name="text-518">
            <a:extLst xmlns:a="http://schemas.openxmlformats.org/drawingml/2006/main">
              <a:ext uri="{FF2B5EF4-FFF2-40B4-BE49-F238E27FC236}">
                <a16:creationId xmlns:a16="http://schemas.microsoft.com/office/drawing/2014/main" id="{425B9743-E101-40C7-B98F-F3D7876D2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設定網址與檢視權限</a:t>
            </a:r>
          </a:p>
        </p:txBody>
      </p:sp>
      <p:sp>
        <p:nvSpPr>
          <p:cNvPr id="21" name="text-519">
            <a:extLst xmlns:a="http://schemas.openxmlformats.org/drawingml/2006/main">
              <a:ext uri="{FF2B5EF4-FFF2-40B4-BE49-F238E27FC236}">
                <a16:creationId xmlns:a16="http://schemas.microsoft.com/office/drawing/2014/main" id="{7009B434-9387-4D07-A8C4-9A3BFBC4A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22" name="text-622">
            <a:extLst xmlns:a="http://schemas.openxmlformats.org/drawingml/2006/main">
              <a:ext uri="{FF2B5EF4-FFF2-40B4-BE49-F238E27FC236}">
                <a16:creationId xmlns:a16="http://schemas.microsoft.com/office/drawing/2014/main" id="{6925080F-8151-4422-8617-3FEED9526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9d28b4764b847e0"/>
              </a:rPr>
              <a:t>建立 Google Sites ↗</a:t>
            </a:r>
          </a:p>
        </p:txBody>
      </p:sp>
    </p:spTree>
    <p:extLst>
      <p:ext uri="{BB962C8B-B14F-4D97-AF65-F5344CB8AC3E}">
        <p14:creationId xmlns:p14="http://schemas.microsoft.com/office/powerpoint/2010/main" val="1042167464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520">
            <a:extLst xmlns:a="http://schemas.openxmlformats.org/drawingml/2006/main">
              <a:ext uri="{FF2B5EF4-FFF2-40B4-BE49-F238E27FC236}">
                <a16:creationId xmlns:a16="http://schemas.microsoft.com/office/drawing/2014/main" id="{45C56D03-118B-4BE9-9003-6008F75F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B</a:t>
            </a:r>
          </a:p>
        </p:txBody>
      </p:sp>
      <p:sp>
        <p:nvSpPr>
          <p:cNvPr id="2" name="text-521">
            <a:extLst xmlns:a="http://schemas.openxmlformats.org/drawingml/2006/main">
              <a:ext uri="{FF2B5EF4-FFF2-40B4-BE49-F238E27FC236}">
                <a16:creationId xmlns:a16="http://schemas.microsoft.com/office/drawing/2014/main" id="{DD2C35C1-B47B-483A-887C-7A7F49B56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Pages：讓程式作品有公開網址</a:t>
            </a:r>
          </a:p>
        </p:txBody>
      </p:sp>
      <p:cxnSp>
        <p:nvCxnSpPr>
          <p:cNvPr id="25" name="shape-52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23">
            <a:extLst xmlns:a="http://schemas.openxmlformats.org/drawingml/2006/main">
              <a:ext uri="{FF2B5EF4-FFF2-40B4-BE49-F238E27FC236}">
                <a16:creationId xmlns:a16="http://schemas.microsoft.com/office/drawing/2014/main" id="{716CC00E-E1FA-4A56-B07C-2E897D2BD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247F91B-BA70-4F47-91F2-932191968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32</a:t>
            </a:r>
          </a:p>
        </p:txBody>
      </p:sp>
      <p:sp>
        <p:nvSpPr>
          <p:cNvPr id="6" name="text-524">
            <a:extLst xmlns:a="http://schemas.openxmlformats.org/drawingml/2006/main">
              <a:ext uri="{FF2B5EF4-FFF2-40B4-BE49-F238E27FC236}">
                <a16:creationId xmlns:a16="http://schemas.microsoft.com/office/drawing/2014/main" id="{471501E6-3988-4958-8065-FF97119A5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7" name="text-525">
            <a:extLst xmlns:a="http://schemas.openxmlformats.org/drawingml/2006/main">
              <a:ext uri="{FF2B5EF4-FFF2-40B4-BE49-F238E27FC236}">
                <a16:creationId xmlns:a16="http://schemas.microsoft.com/office/drawing/2014/main" id="{1F15826F-2887-4566-BE15-4DE4B92A6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 repo</a:t>
            </a:r>
          </a:p>
        </p:txBody>
      </p:sp>
      <p:sp>
        <p:nvSpPr>
          <p:cNvPr id="8" name="text-526">
            <a:extLst xmlns:a="http://schemas.openxmlformats.org/drawingml/2006/main">
              <a:ext uri="{FF2B5EF4-FFF2-40B4-BE49-F238E27FC236}">
                <a16:creationId xmlns:a16="http://schemas.microsoft.com/office/drawing/2014/main" id="{FDC40837-BB05-43FE-ADE9-844FF01BD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公開專案與 README</a:t>
            </a:r>
          </a:p>
        </p:txBody>
      </p:sp>
      <p:sp>
        <p:nvSpPr>
          <p:cNvPr id="9" name="text-527">
            <a:extLst xmlns:a="http://schemas.openxmlformats.org/drawingml/2006/main">
              <a:ext uri="{FF2B5EF4-FFF2-40B4-BE49-F238E27FC236}">
                <a16:creationId xmlns:a16="http://schemas.microsoft.com/office/drawing/2014/main" id="{D3DD1192-3168-446E-82A5-EB7B40792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7538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0" name="text-528">
            <a:extLst xmlns:a="http://schemas.openxmlformats.org/drawingml/2006/main">
              <a:ext uri="{FF2B5EF4-FFF2-40B4-BE49-F238E27FC236}">
                <a16:creationId xmlns:a16="http://schemas.microsoft.com/office/drawing/2014/main" id="{B69DA436-0539-4A94-BB22-02C6DE372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529">
            <a:extLst xmlns:a="http://schemas.openxmlformats.org/drawingml/2006/main">
              <a:ext uri="{FF2B5EF4-FFF2-40B4-BE49-F238E27FC236}">
                <a16:creationId xmlns:a16="http://schemas.microsoft.com/office/drawing/2014/main" id="{A2A6297C-207E-4D50-AC23-B98957D2F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上傳檔案</a:t>
            </a:r>
          </a:p>
        </p:txBody>
      </p:sp>
      <p:sp>
        <p:nvSpPr>
          <p:cNvPr id="12" name="text-530">
            <a:extLst xmlns:a="http://schemas.openxmlformats.org/drawingml/2006/main">
              <a:ext uri="{FF2B5EF4-FFF2-40B4-BE49-F238E27FC236}">
                <a16:creationId xmlns:a16="http://schemas.microsoft.com/office/drawing/2014/main" id="{3670086D-FF4D-4A6D-A737-82DF442C3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index.html 與必要資產</a:t>
            </a:r>
          </a:p>
        </p:txBody>
      </p:sp>
      <p:sp>
        <p:nvSpPr>
          <p:cNvPr id="13" name="text-531">
            <a:extLst xmlns:a="http://schemas.openxmlformats.org/drawingml/2006/main">
              <a:ext uri="{FF2B5EF4-FFF2-40B4-BE49-F238E27FC236}">
                <a16:creationId xmlns:a16="http://schemas.microsoft.com/office/drawing/2014/main" id="{F82B34FD-3EB1-4C4D-A742-EF7BEA698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4" name="text-532">
            <a:extLst xmlns:a="http://schemas.openxmlformats.org/drawingml/2006/main">
              <a:ext uri="{FF2B5EF4-FFF2-40B4-BE49-F238E27FC236}">
                <a16:creationId xmlns:a16="http://schemas.microsoft.com/office/drawing/2014/main" id="{7ABD9957-86F1-4232-98EA-8BD9F135E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5" name="text-533">
            <a:extLst xmlns:a="http://schemas.openxmlformats.org/drawingml/2006/main">
              <a:ext uri="{FF2B5EF4-FFF2-40B4-BE49-F238E27FC236}">
                <a16:creationId xmlns:a16="http://schemas.microsoft.com/office/drawing/2014/main" id="{ADB4805E-6248-4BF3-9186-487504CB7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設定 Pages</a:t>
            </a:r>
          </a:p>
        </p:txBody>
      </p:sp>
      <p:sp>
        <p:nvSpPr>
          <p:cNvPr id="16" name="text-534">
            <a:extLst xmlns:a="http://schemas.openxmlformats.org/drawingml/2006/main">
              <a:ext uri="{FF2B5EF4-FFF2-40B4-BE49-F238E27FC236}">
                <a16:creationId xmlns:a16="http://schemas.microsoft.com/office/drawing/2014/main" id="{E23347C3-5CF0-460A-AB4D-3B4771635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選分支與資料夾</a:t>
            </a:r>
          </a:p>
        </p:txBody>
      </p:sp>
      <p:sp>
        <p:nvSpPr>
          <p:cNvPr id="17" name="text-535">
            <a:extLst xmlns:a="http://schemas.openxmlformats.org/drawingml/2006/main">
              <a:ext uri="{FF2B5EF4-FFF2-40B4-BE49-F238E27FC236}">
                <a16:creationId xmlns:a16="http://schemas.microsoft.com/office/drawing/2014/main" id="{D35D0DE8-C338-4142-A9D5-0C6EB6CC6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4913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text-536">
            <a:extLst xmlns:a="http://schemas.openxmlformats.org/drawingml/2006/main">
              <a:ext uri="{FF2B5EF4-FFF2-40B4-BE49-F238E27FC236}">
                <a16:creationId xmlns:a16="http://schemas.microsoft.com/office/drawing/2014/main" id="{AA64912D-D3A6-4B6C-977B-0284A468A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9" name="text-537">
            <a:extLst xmlns:a="http://schemas.openxmlformats.org/drawingml/2006/main">
              <a:ext uri="{FF2B5EF4-FFF2-40B4-BE49-F238E27FC236}">
                <a16:creationId xmlns:a16="http://schemas.microsoft.com/office/drawing/2014/main" id="{F039747F-9A3F-4181-8DAC-68E49D006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驗證網址</a:t>
            </a:r>
          </a:p>
        </p:txBody>
      </p:sp>
      <p:sp>
        <p:nvSpPr>
          <p:cNvPr id="20" name="text-538">
            <a:extLst xmlns:a="http://schemas.openxmlformats.org/drawingml/2006/main">
              <a:ext uri="{FF2B5EF4-FFF2-40B4-BE49-F238E27FC236}">
                <a16:creationId xmlns:a16="http://schemas.microsoft.com/office/drawing/2014/main" id="{00E9E6F3-4F4F-450A-8B7E-CBD1B9036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等待部署並實際操作</a:t>
            </a:r>
          </a:p>
        </p:txBody>
      </p:sp>
      <p:sp>
        <p:nvSpPr>
          <p:cNvPr id="21" name="text-539">
            <a:extLst xmlns:a="http://schemas.openxmlformats.org/drawingml/2006/main">
              <a:ext uri="{FF2B5EF4-FFF2-40B4-BE49-F238E27FC236}">
                <a16:creationId xmlns:a16="http://schemas.microsoft.com/office/drawing/2014/main" id="{FDB9439C-CFEC-4C79-B599-9A3501DBB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22" name="text-623">
            <a:extLst xmlns:a="http://schemas.openxmlformats.org/drawingml/2006/main">
              <a:ext uri="{FF2B5EF4-FFF2-40B4-BE49-F238E27FC236}">
                <a16:creationId xmlns:a16="http://schemas.microsoft.com/office/drawing/2014/main" id="{6C234F3E-86EF-45FC-A3D4-543BD9BCD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693a0958c7945ae"/>
              </a:rPr>
              <a:t>開啟 GitHub Pages ↗</a:t>
            </a:r>
          </a:p>
        </p:txBody>
      </p:sp>
    </p:spTree>
    <p:extLst>
      <p:ext uri="{BB962C8B-B14F-4D97-AF65-F5344CB8AC3E}">
        <p14:creationId xmlns:p14="http://schemas.microsoft.com/office/powerpoint/2010/main" val="83434058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ext-540">
            <a:extLst xmlns:a="http://schemas.openxmlformats.org/drawingml/2006/main">
              <a:ext uri="{FF2B5EF4-FFF2-40B4-BE49-F238E27FC236}">
                <a16:creationId xmlns:a16="http://schemas.microsoft.com/office/drawing/2014/main" id="{B6E03C31-C870-44A9-BBF1-7B1FA6C50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C · LOW-CODE</a:t>
            </a:r>
          </a:p>
        </p:txBody>
      </p:sp>
      <p:sp>
        <p:nvSpPr>
          <p:cNvPr id="2" name="text-541">
            <a:extLst xmlns:a="http://schemas.openxmlformats.org/drawingml/2006/main">
              <a:ext uri="{FF2B5EF4-FFF2-40B4-BE49-F238E27FC236}">
                <a16:creationId xmlns:a16="http://schemas.microsoft.com/office/drawing/2014/main" id="{AE59CF8F-4821-4677-A53B-BF89674FC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EZPage：把 GitHub 部署變成一鍵上傳</a:t>
            </a:r>
          </a:p>
        </p:txBody>
      </p:sp>
      <p:cxnSp>
        <p:nvCxnSpPr>
          <p:cNvPr id="32" name="shape-54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43">
            <a:extLst xmlns:a="http://schemas.openxmlformats.org/drawingml/2006/main">
              <a:ext uri="{FF2B5EF4-FFF2-40B4-BE49-F238E27FC236}">
                <a16:creationId xmlns:a16="http://schemas.microsoft.com/office/drawing/2014/main" id="{B7649752-4D37-41F6-9358-9D2A53F11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C08C6EF-5B34-401D-A402-9EB1F1B6E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33</a:t>
            </a:r>
          </a:p>
        </p:txBody>
      </p:sp>
      <p:sp>
        <p:nvSpPr>
          <p:cNvPr id="6" name="text-544">
            <a:extLst xmlns:a="http://schemas.openxmlformats.org/drawingml/2006/main">
              <a:ext uri="{FF2B5EF4-FFF2-40B4-BE49-F238E27FC236}">
                <a16:creationId xmlns:a16="http://schemas.microsoft.com/office/drawing/2014/main" id="{2E31B264-554F-4CA4-A26D-90572D665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7" name="text-545">
            <a:extLst xmlns:a="http://schemas.openxmlformats.org/drawingml/2006/main">
              <a:ext uri="{FF2B5EF4-FFF2-40B4-BE49-F238E27FC236}">
                <a16:creationId xmlns:a16="http://schemas.microsoft.com/office/drawing/2014/main" id="{77763A8B-5D10-4180-B6B3-BAF5B44F9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準備 ZIP</a:t>
            </a:r>
          </a:p>
        </p:txBody>
      </p:sp>
      <p:sp>
        <p:nvSpPr>
          <p:cNvPr id="8" name="text-546">
            <a:extLst xmlns:a="http://schemas.openxmlformats.org/drawingml/2006/main">
              <a:ext uri="{FF2B5EF4-FFF2-40B4-BE49-F238E27FC236}">
                <a16:creationId xmlns:a16="http://schemas.microsoft.com/office/drawing/2014/main" id="{B9555FEF-915E-461C-ACB4-007262F7E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 index.html、CSS、JS、圖片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打包成一個網站 ZIP</a:t>
            </a:r>
          </a:p>
        </p:txBody>
      </p:sp>
      <p:sp>
        <p:nvSpPr>
          <p:cNvPr id="9" name="text-547">
            <a:extLst xmlns:a="http://schemas.openxmlformats.org/drawingml/2006/main">
              <a:ext uri="{FF2B5EF4-FFF2-40B4-BE49-F238E27FC236}">
                <a16:creationId xmlns:a16="http://schemas.microsoft.com/office/drawing/2014/main" id="{2D354562-E39A-413E-AA8F-7E61C5112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7538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0" name="text-548">
            <a:extLst xmlns:a="http://schemas.openxmlformats.org/drawingml/2006/main">
              <a:ext uri="{FF2B5EF4-FFF2-40B4-BE49-F238E27FC236}">
                <a16:creationId xmlns:a16="http://schemas.microsoft.com/office/drawing/2014/main" id="{D28222E2-2A31-402B-A2BB-4FFBC241A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549">
            <a:extLst xmlns:a="http://schemas.openxmlformats.org/drawingml/2006/main">
              <a:ext uri="{FF2B5EF4-FFF2-40B4-BE49-F238E27FC236}">
                <a16:creationId xmlns:a16="http://schemas.microsoft.com/office/drawing/2014/main" id="{BD0FD869-6381-4B3E-A3AA-F4654D3AA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連結 GitHub</a:t>
            </a:r>
          </a:p>
        </p:txBody>
      </p:sp>
      <p:sp>
        <p:nvSpPr>
          <p:cNvPr id="12" name="text-550">
            <a:extLst xmlns:a="http://schemas.openxmlformats.org/drawingml/2006/main">
              <a:ext uri="{FF2B5EF4-FFF2-40B4-BE49-F238E27FC236}">
                <a16:creationId xmlns:a16="http://schemas.microsoft.com/office/drawing/2014/main" id="{C9D3AEB3-FEE3-40D4-A91C-2A6F10132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登入 EZPage，授權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選擇自己的 GitHub 帳號</a:t>
            </a:r>
          </a:p>
        </p:txBody>
      </p:sp>
      <p:sp>
        <p:nvSpPr>
          <p:cNvPr id="13" name="text-551">
            <a:extLst xmlns:a="http://schemas.openxmlformats.org/drawingml/2006/main">
              <a:ext uri="{FF2B5EF4-FFF2-40B4-BE49-F238E27FC236}">
                <a16:creationId xmlns:a16="http://schemas.microsoft.com/office/drawing/2014/main" id="{057E1771-1CD3-463E-B895-B1472E640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4" name="text-552">
            <a:extLst xmlns:a="http://schemas.openxmlformats.org/drawingml/2006/main">
              <a:ext uri="{FF2B5EF4-FFF2-40B4-BE49-F238E27FC236}">
                <a16:creationId xmlns:a16="http://schemas.microsoft.com/office/drawing/2014/main" id="{9416828F-8555-41AF-91A2-39E1AF2E4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5" name="text-553">
            <a:extLst xmlns:a="http://schemas.openxmlformats.org/drawingml/2006/main">
              <a:ext uri="{FF2B5EF4-FFF2-40B4-BE49-F238E27FC236}">
                <a16:creationId xmlns:a16="http://schemas.microsoft.com/office/drawing/2014/main" id="{CA76EB69-0698-4316-999F-4BE131F1D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上傳部署</a:t>
            </a:r>
          </a:p>
        </p:txBody>
      </p:sp>
      <p:sp>
        <p:nvSpPr>
          <p:cNvPr id="16" name="text-554">
            <a:extLst xmlns:a="http://schemas.openxmlformats.org/drawingml/2006/main">
              <a:ext uri="{FF2B5EF4-FFF2-40B4-BE49-F238E27FC236}">
                <a16:creationId xmlns:a16="http://schemas.microsoft.com/office/drawing/2014/main" id="{F67EBC20-E1BF-40E0-9944-E7EE3D6A4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拖曳 ZIP、填網站名稱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按「部署 ZIP 檔案」</a:t>
            </a:r>
          </a:p>
        </p:txBody>
      </p:sp>
      <p:sp>
        <p:nvSpPr>
          <p:cNvPr id="17" name="text-555">
            <a:extLst xmlns:a="http://schemas.openxmlformats.org/drawingml/2006/main">
              <a:ext uri="{FF2B5EF4-FFF2-40B4-BE49-F238E27FC236}">
                <a16:creationId xmlns:a16="http://schemas.microsoft.com/office/drawing/2014/main" id="{225FCAA1-6DB9-4ED5-9E6F-840DB7204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4913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CDD3DB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text-556">
            <a:extLst xmlns:a="http://schemas.openxmlformats.org/drawingml/2006/main">
              <a:ext uri="{FF2B5EF4-FFF2-40B4-BE49-F238E27FC236}">
                <a16:creationId xmlns:a16="http://schemas.microsoft.com/office/drawing/2014/main" id="{1669A1AE-9207-4003-939F-67A225D87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9" name="text-557">
            <a:extLst xmlns:a="http://schemas.openxmlformats.org/drawingml/2006/main">
              <a:ext uri="{FF2B5EF4-FFF2-40B4-BE49-F238E27FC236}">
                <a16:creationId xmlns:a16="http://schemas.microsoft.com/office/drawing/2014/main" id="{82FE8036-B289-43F0-8465-80E691FD2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驗證分享</a:t>
            </a:r>
          </a:p>
        </p:txBody>
      </p:sp>
      <p:sp>
        <p:nvSpPr>
          <p:cNvPr id="20" name="text-558">
            <a:extLst xmlns:a="http://schemas.openxmlformats.org/drawingml/2006/main">
              <a:ext uri="{FF2B5EF4-FFF2-40B4-BE49-F238E27FC236}">
                <a16:creationId xmlns:a16="http://schemas.microsoft.com/office/drawing/2014/main" id="{942A7C31-D113-4134-A3DD-A9B2D0427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取得 GitHub Pages 網址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用手機與桌機走一次流程</a:t>
            </a:r>
          </a:p>
        </p:txBody>
      </p:sp>
      <p:sp>
        <p:nvSpPr>
          <p:cNvPr id="21" name="text-559">
            <a:extLst xmlns:a="http://schemas.openxmlformats.org/drawingml/2006/main">
              <a:ext uri="{FF2B5EF4-FFF2-40B4-BE49-F238E27FC236}">
                <a16:creationId xmlns:a16="http://schemas.microsoft.com/office/drawing/2014/main" id="{9A1E995A-238D-4996-8DC0-1BC20AEE8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ZIP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index.html + assets</a:t>
            </a:r>
          </a:p>
        </p:txBody>
      </p:sp>
      <p:sp>
        <p:nvSpPr>
          <p:cNvPr id="22" name="text-560">
            <a:extLst xmlns:a="http://schemas.openxmlformats.org/drawingml/2006/main">
              <a:ext uri="{FF2B5EF4-FFF2-40B4-BE49-F238E27FC236}">
                <a16:creationId xmlns:a16="http://schemas.microsoft.com/office/drawing/2014/main" id="{14DE2231-28C7-4E61-8B15-B0F9B15A4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圖形化上傳</a:t>
            </a:r>
          </a:p>
        </p:txBody>
      </p:sp>
      <p:sp>
        <p:nvSpPr>
          <p:cNvPr id="23" name="text-561">
            <a:extLst xmlns:a="http://schemas.openxmlformats.org/drawingml/2006/main">
              <a:ext uri="{FF2B5EF4-FFF2-40B4-BE49-F238E27FC236}">
                <a16:creationId xmlns:a16="http://schemas.microsoft.com/office/drawing/2014/main" id="{7B504D6E-3CE9-436D-B8DE-43FCBE2B7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repo + Pages</a:t>
            </a:r>
          </a:p>
        </p:txBody>
      </p:sp>
      <p:sp>
        <p:nvSpPr>
          <p:cNvPr id="24" name="text-562">
            <a:extLst xmlns:a="http://schemas.openxmlformats.org/drawingml/2006/main">
              <a:ext uri="{FF2B5EF4-FFF2-40B4-BE49-F238E27FC236}">
                <a16:creationId xmlns:a16="http://schemas.microsoft.com/office/drawing/2014/main" id="{65D398B7-FD44-47CA-BD69-BD094A8C9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公開網址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手機驗證</a:t>
            </a:r>
          </a:p>
        </p:txBody>
      </p:sp>
      <p:cxnSp>
        <p:nvCxnSpPr>
          <p:cNvPr id="54" name=""/>
          <p:cNvCxnSpPr>
            <a:stCxn xmlns:a="http://schemas.openxmlformats.org/drawingml/2006/main" id="21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278130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55" name=""/>
          <p:cNvCxnSpPr>
            <a:stCxn xmlns:a="http://schemas.openxmlformats.org/drawingml/2006/main" id="22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542925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AFA4"/>
            </a:solidFill>
            <a:prstDash val="solid"/>
            <a:tailEnd type="arrow" w="sm" len="sm"/>
          </a:ln>
        </p:spPr>
      </p:cxnSp>
      <p:cxnSp>
        <p:nvCxnSpPr>
          <p:cNvPr id="56" name=""/>
          <p:cNvCxnSpPr>
            <a:stCxn xmlns:a="http://schemas.openxmlformats.org/drawingml/2006/main" id="23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807720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28" name="text-563">
            <a:extLst xmlns:a="http://schemas.openxmlformats.org/drawingml/2006/main">
              <a:ext uri="{FF2B5EF4-FFF2-40B4-BE49-F238E27FC236}">
                <a16:creationId xmlns:a16="http://schemas.microsoft.com/office/drawing/2014/main" id="{2DA61C2E-3F77-4163-BF9D-ECD7D7237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61975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低門檻入口，不代表省略隱私、版權與 RWD 驗證</a:t>
            </a:r>
          </a:p>
        </p:txBody>
      </p:sp>
      <p:sp>
        <p:nvSpPr>
          <p:cNvPr id="29" name="text-624">
            <a:extLst xmlns:a="http://schemas.openxmlformats.org/drawingml/2006/main">
              <a:ext uri="{FF2B5EF4-FFF2-40B4-BE49-F238E27FC236}">
                <a16:creationId xmlns:a16="http://schemas.microsoft.com/office/drawing/2014/main" id="{FC5D00AB-8D6E-4741-9084-B5B70D2B1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a71038227f248cf"/>
              </a:rPr>
              <a:t>開啟 EZPage ↗</a:t>
            </a:r>
          </a:p>
        </p:txBody>
      </p:sp>
    </p:spTree>
    <p:extLst>
      <p:ext uri="{BB962C8B-B14F-4D97-AF65-F5344CB8AC3E}">
        <p14:creationId xmlns:p14="http://schemas.microsoft.com/office/powerpoint/2010/main" val="1953514140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ext-564">
            <a:extLst xmlns:a="http://schemas.openxmlformats.org/drawingml/2006/main">
              <a:ext uri="{FF2B5EF4-FFF2-40B4-BE49-F238E27FC236}">
                <a16:creationId xmlns:a16="http://schemas.microsoft.com/office/drawing/2014/main" id="{6513C4F8-2401-4E17-8CEF-AB6CA26E6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text-565">
            <a:extLst xmlns:a="http://schemas.openxmlformats.org/drawingml/2006/main">
              <a:ext uri="{FF2B5EF4-FFF2-40B4-BE49-F238E27FC236}">
                <a16:creationId xmlns:a16="http://schemas.microsoft.com/office/drawing/2014/main" id="{C50EF0B5-7685-4B03-8D65-15CCDAE59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上午整合挑戰｜90 秒成果走秀</a:t>
            </a:r>
          </a:p>
        </p:txBody>
      </p:sp>
      <p:cxnSp>
        <p:nvCxnSpPr>
          <p:cNvPr id="22" name="shape-56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67">
            <a:extLst xmlns:a="http://schemas.openxmlformats.org/drawingml/2006/main">
              <a:ext uri="{FF2B5EF4-FFF2-40B4-BE49-F238E27FC236}">
                <a16:creationId xmlns:a16="http://schemas.microsoft.com/office/drawing/2014/main" id="{E8D2428B-6372-45A2-9E17-1C60439BC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A6BD394-D648-4F87-AE4B-9277C5B68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34</a:t>
            </a:r>
          </a:p>
        </p:txBody>
      </p:sp>
      <p:sp>
        <p:nvSpPr>
          <p:cNvPr id="6" name="text-568">
            <a:extLst xmlns:a="http://schemas.openxmlformats.org/drawingml/2006/main">
              <a:ext uri="{FF2B5EF4-FFF2-40B4-BE49-F238E27FC236}">
                <a16:creationId xmlns:a16="http://schemas.microsoft.com/office/drawing/2014/main" id="{14D03BCE-6262-4CB5-BB4D-FDD9B534E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569">
            <a:extLst xmlns:a="http://schemas.openxmlformats.org/drawingml/2006/main">
              <a:ext uri="{FF2B5EF4-FFF2-40B4-BE49-F238E27FC236}">
                <a16:creationId xmlns:a16="http://schemas.microsoft.com/office/drawing/2014/main" id="{D743AC3B-2F65-4424-9E85-C58EDC42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570">
            <a:extLst xmlns:a="http://schemas.openxmlformats.org/drawingml/2006/main">
              <a:ext uri="{FF2B5EF4-FFF2-40B4-BE49-F238E27FC236}">
                <a16:creationId xmlns:a16="http://schemas.microsoft.com/office/drawing/2014/main" id="{934396C7-7C6F-4D7B-B4CE-28DE28A9D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571">
            <a:extLst xmlns:a="http://schemas.openxmlformats.org/drawingml/2006/main">
              <a:ext uri="{FF2B5EF4-FFF2-40B4-BE49-F238E27FC236}">
                <a16:creationId xmlns:a16="http://schemas.microsoft.com/office/drawing/2014/main" id="{655F1EF0-70E7-446A-97D7-5386EF719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選擇一個最值得分享的成果</a:t>
            </a:r>
          </a:p>
        </p:txBody>
      </p:sp>
      <p:sp>
        <p:nvSpPr>
          <p:cNvPr id="10" name="text-572">
            <a:extLst xmlns:a="http://schemas.openxmlformats.org/drawingml/2006/main">
              <a:ext uri="{FF2B5EF4-FFF2-40B4-BE49-F238E27FC236}">
                <a16:creationId xmlns:a16="http://schemas.microsoft.com/office/drawing/2014/main" id="{172812C0-883F-4540-BDA5-D7C65AD2C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573">
            <a:extLst xmlns:a="http://schemas.openxmlformats.org/drawingml/2006/main">
              <a:ext uri="{FF2B5EF4-FFF2-40B4-BE49-F238E27FC236}">
                <a16:creationId xmlns:a16="http://schemas.microsoft.com/office/drawing/2014/main" id="{9FCDA8EE-44D4-42EB-87B3-E610279A0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 30 秒說明教學問題</a:t>
            </a:r>
          </a:p>
        </p:txBody>
      </p:sp>
      <p:sp>
        <p:nvSpPr>
          <p:cNvPr id="12" name="text-574">
            <a:extLst xmlns:a="http://schemas.openxmlformats.org/drawingml/2006/main">
              <a:ext uri="{FF2B5EF4-FFF2-40B4-BE49-F238E27FC236}">
                <a16:creationId xmlns:a16="http://schemas.microsoft.com/office/drawing/2014/main" id="{22703BDD-7AF1-4590-8E70-30B1266B1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575">
            <a:extLst xmlns:a="http://schemas.openxmlformats.org/drawingml/2006/main">
              <a:ext uri="{FF2B5EF4-FFF2-40B4-BE49-F238E27FC236}">
                <a16:creationId xmlns:a16="http://schemas.microsoft.com/office/drawing/2014/main" id="{5ED2E5CA-3AF0-4DD9-A79E-D61376EFB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 45 秒實際操作作品</a:t>
            </a:r>
          </a:p>
        </p:txBody>
      </p:sp>
      <p:sp>
        <p:nvSpPr>
          <p:cNvPr id="14" name="text-576">
            <a:extLst xmlns:a="http://schemas.openxmlformats.org/drawingml/2006/main">
              <a:ext uri="{FF2B5EF4-FFF2-40B4-BE49-F238E27FC236}">
                <a16:creationId xmlns:a16="http://schemas.microsoft.com/office/drawing/2014/main" id="{CE2019C3-049B-402B-91E9-D30F94352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577">
            <a:extLst xmlns:a="http://schemas.openxmlformats.org/drawingml/2006/main">
              <a:ext uri="{FF2B5EF4-FFF2-40B4-BE49-F238E27FC236}">
                <a16:creationId xmlns:a16="http://schemas.microsoft.com/office/drawing/2014/main" id="{D1A5ECB9-D495-485E-B9B9-FA5DA1AED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 15 秒說下一步要改什麼</a:t>
            </a:r>
          </a:p>
        </p:txBody>
      </p:sp>
      <p:sp>
        <p:nvSpPr>
          <p:cNvPr id="16" name="shape-578">
            <a:extLst xmlns:a="http://schemas.openxmlformats.org/drawingml/2006/main">
              <a:ext uri="{FF2B5EF4-FFF2-40B4-BE49-F238E27FC236}">
                <a16:creationId xmlns:a16="http://schemas.microsoft.com/office/drawing/2014/main" id="{F236B219-2DAA-465D-AB7A-ED4EA918B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579">
            <a:extLst xmlns:a="http://schemas.openxmlformats.org/drawingml/2006/main">
              <a:ext uri="{FF2B5EF4-FFF2-40B4-BE49-F238E27FC236}">
                <a16:creationId xmlns:a16="http://schemas.microsoft.com/office/drawing/2014/main" id="{D7DE85EE-47B2-45C4-A704-8FDAA3ABE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580">
            <a:extLst xmlns:a="http://schemas.openxmlformats.org/drawingml/2006/main">
              <a:ext uri="{FF2B5EF4-FFF2-40B4-BE49-F238E27FC236}">
                <a16:creationId xmlns:a16="http://schemas.microsoft.com/office/drawing/2014/main" id="{ECC53EAA-E0AD-4919-A302-C81AD29CD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問題清楚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作品可操作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能說明來源或方法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知道下一步</a:t>
            </a:r>
          </a:p>
        </p:txBody>
      </p:sp>
      <p:sp>
        <p:nvSpPr>
          <p:cNvPr id="19" name="text-621">
            <a:extLst xmlns:a="http://schemas.openxmlformats.org/drawingml/2006/main">
              <a:ext uri="{FF2B5EF4-FFF2-40B4-BE49-F238E27FC236}">
                <a16:creationId xmlns:a16="http://schemas.microsoft.com/office/drawing/2014/main" id="{D8384B8B-48BB-4FA4-91EE-4C5A99294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af902cc50db42a4"/>
              </a:rPr>
              <a:t>Google Sites ↗</a:t>
            </a: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83aba4d9d794d1c"/>
              </a:rPr>
              <a:t>GitHub Pages ↗</a:t>
            </a: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6b1946fcda2401f"/>
              </a:rPr>
              <a:t>EZPage ↗</a:t>
            </a:r>
          </a:p>
        </p:txBody>
      </p:sp>
    </p:spTree>
    <p:extLst>
      <p:ext uri="{BB962C8B-B14F-4D97-AF65-F5344CB8AC3E}">
        <p14:creationId xmlns:p14="http://schemas.microsoft.com/office/powerpoint/2010/main" val="424831955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text-581">
            <a:extLst xmlns:a="http://schemas.openxmlformats.org/drawingml/2006/main">
              <a:ext uri="{FF2B5EF4-FFF2-40B4-BE49-F238E27FC236}">
                <a16:creationId xmlns:a16="http://schemas.microsoft.com/office/drawing/2014/main" id="{D92C19EB-BD04-4C17-AB46-AA779581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BOOKMARKS</a:t>
            </a:r>
          </a:p>
        </p:txBody>
      </p:sp>
      <p:sp>
        <p:nvSpPr>
          <p:cNvPr id="2" name="text-582">
            <a:extLst xmlns:a="http://schemas.openxmlformats.org/drawingml/2006/main">
              <a:ext uri="{FF2B5EF4-FFF2-40B4-BE49-F238E27FC236}">
                <a16:creationId xmlns:a16="http://schemas.microsoft.com/office/drawing/2014/main" id="{51B18B9C-EFF8-4A27-B406-66A19872D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上午資源書籤</a:t>
            </a:r>
          </a:p>
        </p:txBody>
      </p:sp>
      <p:cxnSp>
        <p:nvCxnSpPr>
          <p:cNvPr id="23" name="shape-58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84">
            <a:extLst xmlns:a="http://schemas.openxmlformats.org/drawingml/2006/main">
              <a:ext uri="{FF2B5EF4-FFF2-40B4-BE49-F238E27FC236}">
                <a16:creationId xmlns:a16="http://schemas.microsoft.com/office/drawing/2014/main" id="{59B6F3CF-24B1-4499-AE49-AF0B11D7D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41CCC89-3082-486A-8FB3-00CBA3794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35</a:t>
            </a:r>
          </a:p>
        </p:txBody>
      </p:sp>
      <p:sp>
        <p:nvSpPr>
          <p:cNvPr id="6" name="text-585">
            <a:extLst xmlns:a="http://schemas.openxmlformats.org/drawingml/2006/main">
              <a:ext uri="{FF2B5EF4-FFF2-40B4-BE49-F238E27FC236}">
                <a16:creationId xmlns:a16="http://schemas.microsoft.com/office/drawing/2014/main" id="{AEBA0173-D639-47A4-ABB8-9CC9E5EF2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29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研習資源導航（同資料夾）</a:t>
            </a:r>
          </a:p>
        </p:txBody>
      </p:sp>
      <p:sp>
        <p:nvSpPr>
          <p:cNvPr id="7" name="text-586">
            <a:extLst xmlns:a="http://schemas.openxmlformats.org/drawingml/2006/main">
              <a:ext uri="{FF2B5EF4-FFF2-40B4-BE49-F238E27FC236}">
                <a16:creationId xmlns:a16="http://schemas.microsoft.com/office/drawing/2014/main" id="{9A87B7DB-CE54-4009-BE46-096579D9F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676400"/>
            <a:ext cx="7639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0c8e443a69ed4333"/>
              </a:rPr>
              <a:t>START_HERE_研習資源導航.html</a:t>
            </a:r>
          </a:p>
        </p:txBody>
      </p:sp>
      <p:sp>
        <p:nvSpPr>
          <p:cNvPr id="8" name="text-587">
            <a:extLst xmlns:a="http://schemas.openxmlformats.org/drawingml/2006/main">
              <a:ext uri="{FF2B5EF4-FFF2-40B4-BE49-F238E27FC236}">
                <a16:creationId xmlns:a16="http://schemas.microsoft.com/office/drawing/2014/main" id="{0CF1BE63-161F-4389-B90D-42B4A46C4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00275"/>
            <a:ext cx="329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Gemini Notebook</a:t>
            </a:r>
          </a:p>
        </p:txBody>
      </p:sp>
      <p:sp>
        <p:nvSpPr>
          <p:cNvPr id="9" name="text-588">
            <a:extLst xmlns:a="http://schemas.openxmlformats.org/drawingml/2006/main">
              <a:ext uri="{FF2B5EF4-FFF2-40B4-BE49-F238E27FC236}">
                <a16:creationId xmlns:a16="http://schemas.microsoft.com/office/drawing/2014/main" id="{EED8C4BA-554E-423D-AE04-BE69578ED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200275"/>
            <a:ext cx="7639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e93defd0cf684780"/>
              </a:rPr>
              <a:t>https://notebook.google.com/</a:t>
            </a:r>
          </a:p>
        </p:txBody>
      </p:sp>
      <p:sp>
        <p:nvSpPr>
          <p:cNvPr id="10" name="text-589">
            <a:extLst xmlns:a="http://schemas.openxmlformats.org/drawingml/2006/main">
              <a:ext uri="{FF2B5EF4-FFF2-40B4-BE49-F238E27FC236}">
                <a16:creationId xmlns:a16="http://schemas.microsoft.com/office/drawing/2014/main" id="{2BB6FC48-9427-4350-AD5F-A3E64C2A5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24150"/>
            <a:ext cx="329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建立自訂 Gem</a:t>
            </a:r>
          </a:p>
        </p:txBody>
      </p:sp>
      <p:sp>
        <p:nvSpPr>
          <p:cNvPr id="11" name="text-590">
            <a:extLst xmlns:a="http://schemas.openxmlformats.org/drawingml/2006/main">
              <a:ext uri="{FF2B5EF4-FFF2-40B4-BE49-F238E27FC236}">
                <a16:creationId xmlns:a16="http://schemas.microsoft.com/office/drawing/2014/main" id="{021A3D48-EA68-4538-9783-2B4181A49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724150"/>
            <a:ext cx="7639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d0493611cbda4a63"/>
              </a:rPr>
              <a:t>https://gemini.google.com/gems/create</a:t>
            </a:r>
          </a:p>
        </p:txBody>
      </p:sp>
      <p:sp>
        <p:nvSpPr>
          <p:cNvPr id="12" name="text-591">
            <a:extLst xmlns:a="http://schemas.openxmlformats.org/drawingml/2006/main">
              <a:ext uri="{FF2B5EF4-FFF2-40B4-BE49-F238E27FC236}">
                <a16:creationId xmlns:a16="http://schemas.microsoft.com/office/drawing/2014/main" id="{6DD072A4-6425-439B-BBF8-0A3783A6A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48025"/>
            <a:ext cx="329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Gemini Canvas</a:t>
            </a:r>
          </a:p>
        </p:txBody>
      </p:sp>
      <p:sp>
        <p:nvSpPr>
          <p:cNvPr id="13" name="text-592">
            <a:extLst xmlns:a="http://schemas.openxmlformats.org/drawingml/2006/main">
              <a:ext uri="{FF2B5EF4-FFF2-40B4-BE49-F238E27FC236}">
                <a16:creationId xmlns:a16="http://schemas.microsoft.com/office/drawing/2014/main" id="{1FBF5458-FFC0-4640-9544-8B1F7BD40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248025"/>
            <a:ext cx="7639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2d81b6dd893e44e4"/>
              </a:rPr>
              <a:t>https://gemini.google.com/app</a:t>
            </a:r>
          </a:p>
        </p:txBody>
      </p:sp>
      <p:sp>
        <p:nvSpPr>
          <p:cNvPr id="14" name="text-593">
            <a:extLst xmlns:a="http://schemas.openxmlformats.org/drawingml/2006/main">
              <a:ext uri="{FF2B5EF4-FFF2-40B4-BE49-F238E27FC236}">
                <a16:creationId xmlns:a16="http://schemas.microsoft.com/office/drawing/2014/main" id="{53122728-A507-4AE7-A9A6-F938BD784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71900"/>
            <a:ext cx="329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 Google Sites</a:t>
            </a:r>
          </a:p>
        </p:txBody>
      </p:sp>
      <p:sp>
        <p:nvSpPr>
          <p:cNvPr id="15" name="text-594">
            <a:extLst xmlns:a="http://schemas.openxmlformats.org/drawingml/2006/main">
              <a:ext uri="{FF2B5EF4-FFF2-40B4-BE49-F238E27FC236}">
                <a16:creationId xmlns:a16="http://schemas.microsoft.com/office/drawing/2014/main" id="{E5269F13-42C5-4CDE-A979-DE26937F0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771900"/>
            <a:ext cx="7639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53fd2646feb94c1f"/>
              </a:rPr>
              <a:t>https://sites.google.com/new</a:t>
            </a:r>
          </a:p>
        </p:txBody>
      </p:sp>
      <p:sp>
        <p:nvSpPr>
          <p:cNvPr id="16" name="text-595">
            <a:extLst xmlns:a="http://schemas.openxmlformats.org/drawingml/2006/main">
              <a:ext uri="{FF2B5EF4-FFF2-40B4-BE49-F238E27FC236}">
                <a16:creationId xmlns:a16="http://schemas.microsoft.com/office/drawing/2014/main" id="{2E9BFFDF-E763-4D39-B876-FFDADEBA1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95775"/>
            <a:ext cx="329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GitHub Pages</a:t>
            </a:r>
          </a:p>
        </p:txBody>
      </p:sp>
      <p:sp>
        <p:nvSpPr>
          <p:cNvPr id="17" name="text-596">
            <a:extLst xmlns:a="http://schemas.openxmlformats.org/drawingml/2006/main">
              <a:ext uri="{FF2B5EF4-FFF2-40B4-BE49-F238E27FC236}">
                <a16:creationId xmlns:a16="http://schemas.microsoft.com/office/drawing/2014/main" id="{698342D8-AB00-46C2-AC97-82A6FD136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295775"/>
            <a:ext cx="7639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83e03a7a109e47cf"/>
              </a:rPr>
              <a:t>https://pages.github.com/</a:t>
            </a:r>
          </a:p>
        </p:txBody>
      </p:sp>
      <p:sp>
        <p:nvSpPr>
          <p:cNvPr id="18" name="text-597">
            <a:extLst xmlns:a="http://schemas.openxmlformats.org/drawingml/2006/main">
              <a:ext uri="{FF2B5EF4-FFF2-40B4-BE49-F238E27FC236}">
                <a16:creationId xmlns:a16="http://schemas.microsoft.com/office/drawing/2014/main" id="{B3D6EFC4-3F70-4405-A2AE-BE7472B01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19650"/>
            <a:ext cx="329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 一鍵部署</a:t>
            </a:r>
          </a:p>
        </p:txBody>
      </p:sp>
      <p:sp>
        <p:nvSpPr>
          <p:cNvPr id="19" name="text-598">
            <a:extLst xmlns:a="http://schemas.openxmlformats.org/drawingml/2006/main">
              <a:ext uri="{FF2B5EF4-FFF2-40B4-BE49-F238E27FC236}">
                <a16:creationId xmlns:a16="http://schemas.microsoft.com/office/drawing/2014/main" id="{B8EB8ECD-BDB4-42F8-8CE7-3DC1F8964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819650"/>
            <a:ext cx="7639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d616e0407fd643fa"/>
              </a:rPr>
              <a:t>https://gg90052.github.io/ezpage/</a:t>
            </a:r>
          </a:p>
        </p:txBody>
      </p:sp>
      <p:sp>
        <p:nvSpPr>
          <p:cNvPr id="20" name="text-599">
            <a:extLst xmlns:a="http://schemas.openxmlformats.org/drawingml/2006/main">
              <a:ext uri="{FF2B5EF4-FFF2-40B4-BE49-F238E27FC236}">
                <a16:creationId xmlns:a16="http://schemas.microsoft.com/office/drawing/2014/main" id="{BDC7A101-8F98-4ADD-A329-510F491C0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43550"/>
            <a:ext cx="11163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2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2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上午的終點不是『學會每個工具』，而是完成一條能重複使用的教學與研究產線。</a:t>
            </a:r>
          </a:p>
        </p:txBody>
      </p:sp>
    </p:spTree>
    <p:extLst>
      <p:ext uri="{BB962C8B-B14F-4D97-AF65-F5344CB8AC3E}">
        <p14:creationId xmlns:p14="http://schemas.microsoft.com/office/powerpoint/2010/main" val="747306114"/>
      </p:ext>
    </p:extLst>
  </p:cSld>
</p:sld>
</file>

<file path=ppt/theme/theme1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2026-08-12T23:46:08.2160000Z</dcterms:created>
  <dcterms:modified xsi:type="dcterms:W3CDTF">2026-08-12T23:46:08.2160000Z</dcterms:modified>
</coreProperties>
</file>
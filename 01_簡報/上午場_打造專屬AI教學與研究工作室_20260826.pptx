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74e6bcf45a4a97" /><Relationship Type="http://schemas.openxmlformats.org/officeDocument/2006/relationships/extended-properties" Target="/docProps/app.xml" Id="Rb5f62c80d23d4e55" /><Relationship Type="http://schemas.openxmlformats.org/officeDocument/2006/relationships/officeDocument" Target="/ppt/presentation.xml" Id="R88f6d5e25a8246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082e93e848440a"/>
  </p:sldMasterIdLst>
  <p:notesMasterIdLst>
    <p:notesMasterId xmlns:r="http://schemas.openxmlformats.org/officeDocument/2006/relationships" r:id="Rd52f2937361041af"/>
  </p:notesMasterIdLst>
  <p:sldIdLst>
    <p:sldId xmlns:r="http://schemas.openxmlformats.org/officeDocument/2006/relationships" id="256" r:id="R527dfbeb7eb040b4"/>
    <p:sldId xmlns:r="http://schemas.openxmlformats.org/officeDocument/2006/relationships" id="257" r:id="Rdc29b13d1caf4390"/>
    <p:sldId xmlns:r="http://schemas.openxmlformats.org/officeDocument/2006/relationships" id="258" r:id="R419e1c0d9f814f7d"/>
    <p:sldId xmlns:r="http://schemas.openxmlformats.org/officeDocument/2006/relationships" id="259" r:id="R07c22672f36b4419"/>
    <p:sldId xmlns:r="http://schemas.openxmlformats.org/officeDocument/2006/relationships" id="260" r:id="R523dda92da264808"/>
    <p:sldId xmlns:r="http://schemas.openxmlformats.org/officeDocument/2006/relationships" id="261" r:id="R2065fc8590144e5a"/>
    <p:sldId xmlns:r="http://schemas.openxmlformats.org/officeDocument/2006/relationships" id="262" r:id="R05e2a37a3a9b48aa"/>
    <p:sldId xmlns:r="http://schemas.openxmlformats.org/officeDocument/2006/relationships" id="263" r:id="Rb1f8d8856dae4af7"/>
    <p:sldId xmlns:r="http://schemas.openxmlformats.org/officeDocument/2006/relationships" id="264" r:id="R61a3f1e3a1234c1c"/>
    <p:sldId xmlns:r="http://schemas.openxmlformats.org/officeDocument/2006/relationships" id="265" r:id="Rb7db1cb8ac144fc2"/>
    <p:sldId xmlns:r="http://schemas.openxmlformats.org/officeDocument/2006/relationships" id="266" r:id="R11ff8db3c77f4787"/>
    <p:sldId xmlns:r="http://schemas.openxmlformats.org/officeDocument/2006/relationships" id="267" r:id="Ra0baeb9716da418a"/>
    <p:sldId xmlns:r="http://schemas.openxmlformats.org/officeDocument/2006/relationships" id="268" r:id="R3cebee7abc2a45e1"/>
    <p:sldId xmlns:r="http://schemas.openxmlformats.org/officeDocument/2006/relationships" id="269" r:id="R8ff266b7bf8d452c"/>
    <p:sldId xmlns:r="http://schemas.openxmlformats.org/officeDocument/2006/relationships" id="270" r:id="R8a8176ce46eb42e3"/>
    <p:sldId xmlns:r="http://schemas.openxmlformats.org/officeDocument/2006/relationships" id="271" r:id="R8ea92ac1f7cf4b6b"/>
    <p:sldId xmlns:r="http://schemas.openxmlformats.org/officeDocument/2006/relationships" id="272" r:id="R34e7721defc446c0"/>
    <p:sldId xmlns:r="http://schemas.openxmlformats.org/officeDocument/2006/relationships" id="273" r:id="R20fc18f041be4ca3"/>
    <p:sldId xmlns:r="http://schemas.openxmlformats.org/officeDocument/2006/relationships" id="274" r:id="Red722276ed5d4af5"/>
    <p:sldId xmlns:r="http://schemas.openxmlformats.org/officeDocument/2006/relationships" id="275" r:id="R3ed8078ea0da47a5"/>
    <p:sldId xmlns:r="http://schemas.openxmlformats.org/officeDocument/2006/relationships" id="276" r:id="R18a67e1df1ac4c56"/>
    <p:sldId xmlns:r="http://schemas.openxmlformats.org/officeDocument/2006/relationships" id="277" r:id="R4f76341da127497b"/>
    <p:sldId xmlns:r="http://schemas.openxmlformats.org/officeDocument/2006/relationships" id="278" r:id="Rf7313523d9b346f4"/>
    <p:sldId xmlns:r="http://schemas.openxmlformats.org/officeDocument/2006/relationships" id="279" r:id="Ra3ea688086084318"/>
    <p:sldId xmlns:r="http://schemas.openxmlformats.org/officeDocument/2006/relationships" id="280" r:id="R6b1265cf1b034f77"/>
    <p:sldId xmlns:r="http://schemas.openxmlformats.org/officeDocument/2006/relationships" id="281" r:id="Rfef24e7f658a42a1"/>
    <p:sldId xmlns:r="http://schemas.openxmlformats.org/officeDocument/2006/relationships" id="282" r:id="Rff399d7506614e59"/>
    <p:sldId xmlns:r="http://schemas.openxmlformats.org/officeDocument/2006/relationships" id="283" r:id="R1d52bbffd7ad46e3"/>
    <p:sldId xmlns:r="http://schemas.openxmlformats.org/officeDocument/2006/relationships" id="284" r:id="R89bdb3da3a224f76"/>
    <p:sldId xmlns:r="http://schemas.openxmlformats.org/officeDocument/2006/relationships" id="285" r:id="R85cd86d3dfff4749"/>
    <p:sldId xmlns:r="http://schemas.openxmlformats.org/officeDocument/2006/relationships" id="286" r:id="R397c6568e24e45f0"/>
    <p:sldId xmlns:r="http://schemas.openxmlformats.org/officeDocument/2006/relationships" id="287" r:id="R51009136768e4de0"/>
    <p:sldId xmlns:r="http://schemas.openxmlformats.org/officeDocument/2006/relationships" id="288" r:id="R2d66553ac734469f"/>
    <p:sldId xmlns:r="http://schemas.openxmlformats.org/officeDocument/2006/relationships" id="289" r:id="R85dd2c09f1e147b2"/>
    <p:sldId xmlns:r="http://schemas.openxmlformats.org/officeDocument/2006/relationships" id="290" r:id="Rd5b4e8fab24942ea"/>
    <p:sldId xmlns:r="http://schemas.openxmlformats.org/officeDocument/2006/relationships" id="291" r:id="R4403b3a4d69648b9"/>
    <p:sldId xmlns:r="http://schemas.openxmlformats.org/officeDocument/2006/relationships" id="292" r:id="Rce62839a41f64280"/>
    <p:sldId xmlns:r="http://schemas.openxmlformats.org/officeDocument/2006/relationships" id="293" r:id="Rd06d141b06e6488f"/>
    <p:sldId xmlns:r="http://schemas.openxmlformats.org/officeDocument/2006/relationships" id="294" r:id="R50bbf777203b40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ec8257c202428a" /><Relationship Type="http://schemas.openxmlformats.org/officeDocument/2006/relationships/slideMaster" Target="/ppt/slideMasters/slideMaster1.xml" Id="R88082e93e848440a" /><Relationship Type="http://schemas.openxmlformats.org/officeDocument/2006/relationships/notesMaster" Target="/ppt/notesMasters/notesMaster1.xml" Id="Rd52f2937361041af" /><Relationship Type="http://schemas.openxmlformats.org/officeDocument/2006/relationships/presProps" Target="/ppt/presProps.xml" Id="Re5a957e2218f48bf" /><Relationship Type="http://schemas.openxmlformats.org/officeDocument/2006/relationships/tableStyles" Target="/ppt/tableStyles.xml" Id="Rdac3e09ea938402f" /><Relationship Type="http://schemas.openxmlformats.org/officeDocument/2006/relationships/slide" Target="/ppt/slides/slide1.xml" Id="R527dfbeb7eb040b4" /><Relationship Type="http://schemas.openxmlformats.org/officeDocument/2006/relationships/slide" Target="/ppt/slides/slide2.xml" Id="Rdc29b13d1caf4390" /><Relationship Type="http://schemas.openxmlformats.org/officeDocument/2006/relationships/slide" Target="/ppt/slides/slide3.xml" Id="R419e1c0d9f814f7d" /><Relationship Type="http://schemas.openxmlformats.org/officeDocument/2006/relationships/slide" Target="/ppt/slides/slide4.xml" Id="R07c22672f36b4419" /><Relationship Type="http://schemas.openxmlformats.org/officeDocument/2006/relationships/slide" Target="/ppt/slides/slide5.xml" Id="R523dda92da264808" /><Relationship Type="http://schemas.openxmlformats.org/officeDocument/2006/relationships/slide" Target="/ppt/slides/slide6.xml" Id="R2065fc8590144e5a" /><Relationship Type="http://schemas.openxmlformats.org/officeDocument/2006/relationships/slide" Target="/ppt/slides/slide7.xml" Id="R05e2a37a3a9b48aa" /><Relationship Type="http://schemas.openxmlformats.org/officeDocument/2006/relationships/slide" Target="/ppt/slides/slide8.xml" Id="Rb1f8d8856dae4af7" /><Relationship Type="http://schemas.openxmlformats.org/officeDocument/2006/relationships/slide" Target="/ppt/slides/slide9.xml" Id="R61a3f1e3a1234c1c" /><Relationship Type="http://schemas.openxmlformats.org/officeDocument/2006/relationships/slide" Target="/ppt/slides/slide10.xml" Id="Rb7db1cb8ac144fc2" /><Relationship Type="http://schemas.openxmlformats.org/officeDocument/2006/relationships/slide" Target="/ppt/slides/slide11.xml" Id="R11ff8db3c77f4787" /><Relationship Type="http://schemas.openxmlformats.org/officeDocument/2006/relationships/slide" Target="/ppt/slides/slide12.xml" Id="Ra0baeb9716da418a" /><Relationship Type="http://schemas.openxmlformats.org/officeDocument/2006/relationships/slide" Target="/ppt/slides/slide13.xml" Id="R3cebee7abc2a45e1" /><Relationship Type="http://schemas.openxmlformats.org/officeDocument/2006/relationships/slide" Target="/ppt/slides/slide14.xml" Id="R8ff266b7bf8d452c" /><Relationship Type="http://schemas.openxmlformats.org/officeDocument/2006/relationships/slide" Target="/ppt/slides/slide15.xml" Id="R8a8176ce46eb42e3" /><Relationship Type="http://schemas.openxmlformats.org/officeDocument/2006/relationships/slide" Target="/ppt/slides/slide16.xml" Id="R8ea92ac1f7cf4b6b" /><Relationship Type="http://schemas.openxmlformats.org/officeDocument/2006/relationships/slide" Target="/ppt/slides/slide17.xml" Id="R34e7721defc446c0" /><Relationship Type="http://schemas.openxmlformats.org/officeDocument/2006/relationships/slide" Target="/ppt/slides/slide18.xml" Id="R20fc18f041be4ca3" /><Relationship Type="http://schemas.openxmlformats.org/officeDocument/2006/relationships/slide" Target="/ppt/slides/slide19.xml" Id="Red722276ed5d4af5" /><Relationship Type="http://schemas.openxmlformats.org/officeDocument/2006/relationships/slide" Target="/ppt/slides/slide20.xml" Id="R3ed8078ea0da47a5" /><Relationship Type="http://schemas.openxmlformats.org/officeDocument/2006/relationships/slide" Target="/ppt/slides/slide21.xml" Id="R18a67e1df1ac4c56" /><Relationship Type="http://schemas.openxmlformats.org/officeDocument/2006/relationships/slide" Target="/ppt/slides/slide22.xml" Id="R4f76341da127497b" /><Relationship Type="http://schemas.openxmlformats.org/officeDocument/2006/relationships/slide" Target="/ppt/slides/slide23.xml" Id="Rf7313523d9b346f4" /><Relationship Type="http://schemas.openxmlformats.org/officeDocument/2006/relationships/slide" Target="/ppt/slides/slide24.xml" Id="Ra3ea688086084318" /><Relationship Type="http://schemas.openxmlformats.org/officeDocument/2006/relationships/slide" Target="/ppt/slides/slide25.xml" Id="R6b1265cf1b034f77" /><Relationship Type="http://schemas.openxmlformats.org/officeDocument/2006/relationships/slide" Target="/ppt/slides/slide26.xml" Id="Rfef24e7f658a42a1" /><Relationship Type="http://schemas.openxmlformats.org/officeDocument/2006/relationships/slide" Target="/ppt/slides/slide27.xml" Id="Rff399d7506614e59" /><Relationship Type="http://schemas.openxmlformats.org/officeDocument/2006/relationships/slide" Target="/ppt/slides/slide28.xml" Id="R1d52bbffd7ad46e3" /><Relationship Type="http://schemas.openxmlformats.org/officeDocument/2006/relationships/slide" Target="/ppt/slides/slide29.xml" Id="R89bdb3da3a224f76" /><Relationship Type="http://schemas.openxmlformats.org/officeDocument/2006/relationships/slide" Target="/ppt/slides/slide30.xml" Id="R85cd86d3dfff4749" /><Relationship Type="http://schemas.openxmlformats.org/officeDocument/2006/relationships/slide" Target="/ppt/slides/slide31.xml" Id="R397c6568e24e45f0" /><Relationship Type="http://schemas.openxmlformats.org/officeDocument/2006/relationships/slide" Target="/ppt/slides/slide32.xml" Id="R51009136768e4de0" /><Relationship Type="http://schemas.openxmlformats.org/officeDocument/2006/relationships/slide" Target="/ppt/slides/slide33.xml" Id="R2d66553ac734469f" /><Relationship Type="http://schemas.openxmlformats.org/officeDocument/2006/relationships/slide" Target="/ppt/slides/slide34.xml" Id="R85dd2c09f1e147b2" /><Relationship Type="http://schemas.openxmlformats.org/officeDocument/2006/relationships/slide" Target="/ppt/slides/slide35.xml" Id="Rd5b4e8fab24942ea" /><Relationship Type="http://schemas.openxmlformats.org/officeDocument/2006/relationships/slide" Target="/ppt/slides/slide36.xml" Id="R4403b3a4d69648b9" /><Relationship Type="http://schemas.openxmlformats.org/officeDocument/2006/relationships/slide" Target="/ppt/slides/slide37.xml" Id="Rce62839a41f64280" /><Relationship Type="http://schemas.openxmlformats.org/officeDocument/2006/relationships/slide" Target="/ppt/slides/slide38.xml" Id="Rd06d141b06e6488f" /><Relationship Type="http://schemas.openxmlformats.org/officeDocument/2006/relationships/slide" Target="/ppt/slides/slide39.xml" Id="R50bbf777203b40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9c70f161f7442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edb9d2bff74e72" /><Relationship Type="http://schemas.openxmlformats.org/officeDocument/2006/relationships/notesMaster" Target="/ppt/notesMasters/notesMaster1.xml" Id="Re3f7717a5da241f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cfecdf877cc42dd" /><Relationship Type="http://schemas.openxmlformats.org/officeDocument/2006/relationships/notesMaster" Target="/ppt/notesMasters/notesMaster1.xml" Id="Re8fa5ea3f8fd44c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8c7e6d7102d4954" /><Relationship Type="http://schemas.openxmlformats.org/officeDocument/2006/relationships/notesMaster" Target="/ppt/notesMasters/notesMaster1.xml" Id="R6830d2f6c1c549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8bdc49884b0458d" /><Relationship Type="http://schemas.openxmlformats.org/officeDocument/2006/relationships/notesMaster" Target="/ppt/notesMasters/notesMaster1.xml" Id="Rd60f4d47f24e44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999a2ae4a0b4e68" /><Relationship Type="http://schemas.openxmlformats.org/officeDocument/2006/relationships/notesMaster" Target="/ppt/notesMasters/notesMaster1.xml" Id="Ra19a65a621ee4b5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7fa86dbbe524955" /><Relationship Type="http://schemas.openxmlformats.org/officeDocument/2006/relationships/notesMaster" Target="/ppt/notesMasters/notesMaster1.xml" Id="R8b3d5ced02ae411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a270f3eb76749b3" /><Relationship Type="http://schemas.openxmlformats.org/officeDocument/2006/relationships/notesMaster" Target="/ppt/notesMasters/notesMaster1.xml" Id="Rf275bb8d730b41a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3b0314a14b441a1" /><Relationship Type="http://schemas.openxmlformats.org/officeDocument/2006/relationships/notesMaster" Target="/ppt/notesMasters/notesMaster1.xml" Id="R26abd8eca37b47f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7da1167916e4246" /><Relationship Type="http://schemas.openxmlformats.org/officeDocument/2006/relationships/notesMaster" Target="/ppt/notesMasters/notesMaster1.xml" Id="Rdbed08693435414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66d96501d8642d4" /><Relationship Type="http://schemas.openxmlformats.org/officeDocument/2006/relationships/notesMaster" Target="/ppt/notesMasters/notesMaster1.xml" Id="R601e39d44646468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7b58d03cd514db1" /><Relationship Type="http://schemas.openxmlformats.org/officeDocument/2006/relationships/notesMaster" Target="/ppt/notesMasters/notesMaster1.xml" Id="R7c2e60aaa3d04b8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7ea6d9246ce4688" /><Relationship Type="http://schemas.openxmlformats.org/officeDocument/2006/relationships/notesMaster" Target="/ppt/notesMasters/notesMaster1.xml" Id="R1614e74f01774df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92506d8d01e4689" /><Relationship Type="http://schemas.openxmlformats.org/officeDocument/2006/relationships/notesMaster" Target="/ppt/notesMasters/notesMaster1.xml" Id="Rd2b1d6b9ec0d49e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0114ca11e9045fa" /><Relationship Type="http://schemas.openxmlformats.org/officeDocument/2006/relationships/notesMaster" Target="/ppt/notesMasters/notesMaster1.xml" Id="R06e43fd48a1a4a9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a6adcc5f9d34274" /><Relationship Type="http://schemas.openxmlformats.org/officeDocument/2006/relationships/notesMaster" Target="/ppt/notesMasters/notesMaster1.xml" Id="Ra31d0c5fc6af415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80f517248414859" /><Relationship Type="http://schemas.openxmlformats.org/officeDocument/2006/relationships/notesMaster" Target="/ppt/notesMasters/notesMaster1.xml" Id="R155b3cd0c0fa4d9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690cf43579f4f71" /><Relationship Type="http://schemas.openxmlformats.org/officeDocument/2006/relationships/notesMaster" Target="/ppt/notesMasters/notesMaster1.xml" Id="Rdac491988b974d8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a0cae3592a74452" /><Relationship Type="http://schemas.openxmlformats.org/officeDocument/2006/relationships/notesMaster" Target="/ppt/notesMasters/notesMaster1.xml" Id="R48afa91fa88c432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a59511b83e24012" /><Relationship Type="http://schemas.openxmlformats.org/officeDocument/2006/relationships/notesMaster" Target="/ppt/notesMasters/notesMaster1.xml" Id="R97512d917692499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72d8badc0d64045" /><Relationship Type="http://schemas.openxmlformats.org/officeDocument/2006/relationships/notesMaster" Target="/ppt/notesMasters/notesMaster1.xml" Id="R0b9b1b7695ea4ef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04cf94a24cd42c2" /><Relationship Type="http://schemas.openxmlformats.org/officeDocument/2006/relationships/notesMaster" Target="/ppt/notesMasters/notesMaster1.xml" Id="R651c3cc694634b2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b74182ce44b4eb8" /><Relationship Type="http://schemas.openxmlformats.org/officeDocument/2006/relationships/notesMaster" Target="/ppt/notesMasters/notesMaster1.xml" Id="R8a01b3234ea04d9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41387a124084e29" /><Relationship Type="http://schemas.openxmlformats.org/officeDocument/2006/relationships/notesMaster" Target="/ppt/notesMasters/notesMaster1.xml" Id="Rf1866373a7994b1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1fe685d87a842eb" /><Relationship Type="http://schemas.openxmlformats.org/officeDocument/2006/relationships/notesMaster" Target="/ppt/notesMasters/notesMaster1.xml" Id="R89ee3b16e8dd4f5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48caf8518e34cb9" /><Relationship Type="http://schemas.openxmlformats.org/officeDocument/2006/relationships/notesMaster" Target="/ppt/notesMasters/notesMaster1.xml" Id="R5742466544e942f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eab6149917646b8" /><Relationship Type="http://schemas.openxmlformats.org/officeDocument/2006/relationships/notesMaster" Target="/ppt/notesMasters/notesMaster1.xml" Id="R842760daa0b045d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473be3f5e864037" /><Relationship Type="http://schemas.openxmlformats.org/officeDocument/2006/relationships/notesMaster" Target="/ppt/notesMasters/notesMaster1.xml" Id="R7a10e92584eb4dc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bf929d09a5e49d8" /><Relationship Type="http://schemas.openxmlformats.org/officeDocument/2006/relationships/notesMaster" Target="/ppt/notesMasters/notesMaster1.xml" Id="Rfd839de7f78444a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235dabb7b6e4e26" /><Relationship Type="http://schemas.openxmlformats.org/officeDocument/2006/relationships/notesMaster" Target="/ppt/notesMasters/notesMaster1.xml" Id="R9df83499ab7d477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6b1f5b851964d8c" /><Relationship Type="http://schemas.openxmlformats.org/officeDocument/2006/relationships/notesMaster" Target="/ppt/notesMasters/notesMaster1.xml" Id="Rc6c43a29f9f4483f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751080d1ac44e0c" /><Relationship Type="http://schemas.openxmlformats.org/officeDocument/2006/relationships/notesMaster" Target="/ppt/notesMasters/notesMaster1.xml" Id="R4bcb84a077fc43b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065f63b5ae64c04" /><Relationship Type="http://schemas.openxmlformats.org/officeDocument/2006/relationships/notesMaster" Target="/ppt/notesMasters/notesMaster1.xml" Id="Rcacfc1ac9d0a4af8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924e576645814ec7" /><Relationship Type="http://schemas.openxmlformats.org/officeDocument/2006/relationships/notesMaster" Target="/ppt/notesMasters/notesMaster1.xml" Id="R194a05cc26824942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f2bf2256c4f4cd9" /><Relationship Type="http://schemas.openxmlformats.org/officeDocument/2006/relationships/notesMaster" Target="/ppt/notesMasters/notesMaster1.xml" Id="R4b31a3d4a79a46a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fa9007445236440a" /><Relationship Type="http://schemas.openxmlformats.org/officeDocument/2006/relationships/notesMaster" Target="/ppt/notesMasters/notesMaster1.xml" Id="Rf68fa78ab6d64343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5a677641bb043eb" /><Relationship Type="http://schemas.openxmlformats.org/officeDocument/2006/relationships/notesMaster" Target="/ppt/notesMasters/notesMaster1.xml" Id="R6e503fe42a0641c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1983ca166bf46e0" /><Relationship Type="http://schemas.openxmlformats.org/officeDocument/2006/relationships/notesMaster" Target="/ppt/notesMasters/notesMaster1.xml" Id="Ra31097f553094174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a1e75acc26f74c02" /><Relationship Type="http://schemas.openxmlformats.org/officeDocument/2006/relationships/notesMaster" Target="/ppt/notesMasters/notesMaster1.xml" Id="R7734aa19c672437d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181dfc9945a4240" /><Relationship Type="http://schemas.openxmlformats.org/officeDocument/2006/relationships/notesMaster" Target="/ppt/notesMasters/notesMaster1.xml" Id="R7f7ef82f4998482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開場先說明：今天的重點不是把所有按鈕看過一遍，而是每位參與者都完成可帶回課堂的成果。邀請大家先選定一門課程，以及一個真實的教學／研究痛點與問題。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用一張圖建立全日心智模型。上午先完成 AI 教學與研究工作室，下午再把同一作品或資料分析任務交給 Agent 擴充、驗證與交付。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Typeless 放在最前面，先把教師腦中的口語想法整理成可複製、可查證、可交給 Gemini Notebook 的文字素材。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簡要說明時間節奏。實作時採 6 位教授三組雙人共作；若某帳號沒有 Gemini 權限，擔任測試者與教學觀察員仍可完整參與。Typeless 先協助把每組的口述痛點整理成後續 Notebook、Gem 與 Canvas 都能使用的任務文字。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請參與者把這四項成果當作今日 checklist。每一段結束會回來勾選一次。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六位教授建議分三組。不要讓帳號差異變成旁觀：測試者的工作是檢查引用、指令邊界、手機畫面與實際教學價值。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痛點可能來自教學現場、研究資料、行政流程或共備工作。請每組先說出一個痛點，再把它寫成一句：『我希望哪一群學生、研究參與者或行政夥伴，在什麼情境下，完成什麼改變？』後續所有工具都服務這一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現場不要逐一介紹 123 個工具。請依參與者選定的教學／研究痛點，搜尋 1–2 個最接近的案例，分析它的使用者、輸入、輸出與互動方式，完成『痛點 → 案例 → 可驗證成果』的連線。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三個案例分別對應語文創作、教學設計與互動網站。現場可由三組各選一張，先讀卡片介紹，再用測試者視角操作成品。本次資料依據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https://cagoooo.github.io/Akai/tool/91/</a:t>
            </a:r>
          </a:p>
          <a:p xmlns:a="http://schemas.openxmlformats.org/drawingml/2006/main">
            <a:r>
              <a:t>- https://cagoooo.github.io/PhotoPoet/</a:t>
            </a:r>
          </a:p>
          <a:p xmlns:a="http://schemas.openxmlformats.org/drawingml/2006/main">
            <a:r>
              <a:t>- https://cagoooo.github.io/Akai/tool/58/</a:t>
            </a:r>
          </a:p>
          <a:p xmlns:a="http://schemas.openxmlformats.org/drawingml/2006/main">
            <a:r>
              <a:t>- https://cagoooo.github.io/prepare/</a:t>
            </a:r>
          </a:p>
          <a:p xmlns:a="http://schemas.openxmlformats.org/drawingml/2006/main">
            <a:r>
              <a:t>- https://cagoooo.github.io/Akai/tool/11/</a:t>
            </a:r>
          </a:p>
          <a:p xmlns:a="http://schemas.openxmlformats.org/drawingml/2006/main">
            <a:r>
              <a:t>- https://cagoooo.github.io/Akailao/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三個案例分別用於形成性回饋、Google Sites 與 GitHub Pages 部署比較。提醒參與者同時觀察內容架構、權限、維護方式與手機操作。本次資料依據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https://cagoooo.github.io/Akai/tool/3/</a:t>
            </a:r>
          </a:p>
          <a:p xmlns:a="http://schemas.openxmlformats.org/drawingml/2006/main">
            <a:r>
              <a:t>- https://cagoooo.github.io/vote/</a:t>
            </a:r>
          </a:p>
          <a:p xmlns:a="http://schemas.openxmlformats.org/drawingml/2006/main">
            <a:r>
              <a:t>- https://cagoooo.github.io/Akai/tool/24/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https://cagoooo.github.io/Akai/tool/81/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先教 Typeless，再進入 Gemini Notebook。請把它定位成『想法的入口』：它不替教師決定內容，而是讓教師更快把真實痛點、背景與限制說清楚。官方資料指出 Typeless 可跨應用輸入，並協助移除贅詞、重複與自我修正，將內容整理成更可用的文字。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現場請避免直接口述學生姓名、信箱、成績或未公開研究資料；先以合成情境示範。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https://www.typeless.com/downloads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示範同一段口述在 Typeless 前後的差異：不追求把人的語氣變得制式，而是先讓想法變成清楚、可複製、可交給下一個工具的文字。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提醒參與者觀察三件事：贅詞是否減少、重點是否分段、原本的意圖與限制是否仍被保留。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https://www.typeless.com/downloads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每組先從自己的真實痛點開始，不要從漂亮的 AI 題目開始。請保留一份『原始口述』與一份『整理後版本』，稍後比較 Typeless 是否真的減少了重複輸入與反覆修改。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下載或開啟 Typeless 時，請以官方頁面為準。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https://www.typeless.com/downloads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這張橋接圖把 Typeless 放回上午產線：它負責讓教師更快說清楚問題；Gemini Notebook 負責把問題放進可信來源；Gem 固定方法；Canvas 才負責做出作品。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請參與者把剛才整理好的痛點文字當作 Notebook 的第一段任務背景，接著再加入 2–3 份可公開來源。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強調工具選擇不是競賽。Notebook 負責來源，Gem 負責穩定行為，Canvas 負責可操作介面，部署平台負責觸及使用者。這條產線同時適用於教學設計與研究整理。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章節轉場。請參與者準備三份與自己課程最相關的資料。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示範同一個問題在一般聊天與來源型筆記本的差異。重點不是『一定正確』，而是『更容易追查與修正』。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要求每組先用少量高品質來源建立第一版。來源太多會讓提問與檢核難度提高，熟悉後再擴增。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現場示範以教學駕駛艙 GitHub repo 與公開網站為入口：先閱讀 README 與一個單元頁，再把可公開的內容加入 Gemini Notebook。示範一題能回到引用的問題，再示範一題資料不足的問題；最後把 Notebook 產出的摘要或提問稿放回駕駛艙的教學脈絡。提醒：不要上傳學生個資、未授權教材或私人研究資料。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https://support.google.com/gemininotebook/answer/16206563?hl=zh-Hant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這一輪不追求把整座駕駛艙搬進筆記本，而是完成一個可追查的小案例。巡視時請確認來源權限、引用位置與輸出是否真的能被教師修改。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現場請每組依序跑三層提問，感受『問題層級』如何改變輸出。若回答無法回到來源，先修問題，不急著追求華麗文字。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請參與者只選一個駕駛艙成品完成，不要同時生成全部。強調 Notebook 是來源與推理的工作區，駕駛艙則是給教師或學生使用的整理與操作入口；完成後用『內容依據、使用者可用、教師可改』三項快速評估。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讓每組口頭報告一個『回答得好』與一個『來源不足』的例子。這一步建立查證習慣。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轉場：Notebook 管來源，Gem 管行為。兩者可以搭配，但不要混為同一功能。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用同一份學生作業或教案，分別在一般對話與 Gem 中測試。比較輸出的穩定度與是否遵守格式。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這一頁的現場操作會直接打開講師帳號中既有的 Gem，讓大家看『真實產物如何拆解』。公開版本只示範結構與方法，不顯示私人 Gem 名稱、檔案或對話內容；若參與者帳號看不到相同 Gem，就用下一頁的通用範本重建。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示範先在帳號中複製一個既有 Gem 的有效做法，再把它改成研習用的『教學與研究設計教練』。右側範本刻意保留簡短、可讀、可測試；實際儲存前請確認背景檔案與分享權限。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巡視時請先確認參與者真的在改造一個既有資產，而不是另開一個完全不同的 Gem。測試案例至少包含：未提供學生程度、要求捏造引用、要求直接替學生完成作業。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如果四項只符合一項，先保留成提示詞，不急著做 Gem。可重複與可維護，才是專屬助理的價值。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轉場：現在把前面整理好的內容與教學方法，變成學生能操作的作品。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以『會議記錄自動產出平台（Pro 版）』作為需求參考，不把真實會議逐字稿直接貼入公開示範。先在 Canvas 生成最小可用的會議紀錄介面，再把公開網址嵌入 Google Sites；若來源網站禁止 iframe，就改用『在新分頁開啟』的備援按鈕。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https://cagoooo.github.io/Akai/tool/84/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先展示 #84 會議記錄自動產出平台的需求與操作脈絡，再請 Canvas 生成一個不含真實個資的最小原型。示範完成後複製分享網址，實際放進 Google Sites 頁面預覽；若嵌入被阻擋，保留同一網址的外開備援。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https://cagoooo.github.io/Akai/tool/84/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這個練習把上午三個重點串起來：Gemini Notebook 可整理會議來源，既有 Gem 可固定摘要格式，Canvas 產出可操作介面，Google Sites 負責組織與分享。嵌入前一定要用合成資料或已授權內容驗證。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安排同儕交換裝置測試。任何含真實學生或研究資料的作品，今天只做本機或私人分享版本。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先用 Google Sites 完成 Canvas 會議紀錄系統的嵌入與分享；若作品需要版本化、程式碼維護或跨專案重用，再選 GitHub Pages。EZPage 是降低第一次部署門檻的第三方入口，不是 GitHub 官方工具。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Sites 的現場流程是準備分享網址、插入嵌入、調整版面、預覽並發布。請用 #84 會議紀錄平台的需求作為畫面參考；若 Canvas 網址回應拒絕嵌入，直接提供清楚的『在新分頁開啟』按鈕，不要為了嵌入而放寬資料權限。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示範最簡單的 Deploy from a branch。提醒發布可能需要數分鐘；完成不是看到綠勾，而是實際打開公開網址走完主要流程。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EZPage 是第三方圖形化入口，不是 GitHub 官方工具。先確認 ZIP 根目錄有 index.html；不要上傳學生個資、研究原始資料或未授權素材。登入授權前檢查權限範圍與儲存庫可見性；部署後仍要打開公開網址驗證。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秒：30 秒說明資料與使用者，45 秒操作作品，15 秒說明下一步。示範資料請使用合成或已授權內容；技術評論與 Agent 升級留到午後。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- https://gemini.google.com/gems/create</a:t>
            </a:r>
          </a:p>
          <a:p xmlns:a="http://schemas.openxmlformats.org/drawingml/2006/main">
            <a:r>
              <a:t>- https://gemini.google.com/app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https://sites.google.com/new</a:t>
            </a:r>
          </a:p>
          <a:p xmlns:a="http://schemas.openxmlformats.org/drawingml/2006/main">
            <a:r>
              <a:t>- https://pages.github.com/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1f697cbb304bb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537d743ca7446a" /><Relationship Type="http://schemas.openxmlformats.org/officeDocument/2006/relationships/slideLayout" Target="/ppt/slideLayouts/slideLayout1.xml" Id="Ra86fcc421aea4d2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6fcc421aea4d2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cd36b164374ad6" /><Relationship Type="http://schemas.openxmlformats.org/officeDocument/2006/relationships/image" Target="/ppt/media/image.png" Id="R7d1fa5002a20447c" /><Relationship Type="http://schemas.openxmlformats.org/officeDocument/2006/relationships/notesSlide" Target="/ppt/notesSlides/notesSlide1.xml" Id="Rc19c6ce9d5c44ec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4c0234e20644a5" /><Relationship Type="http://schemas.openxmlformats.org/officeDocument/2006/relationships/hyperlink" Target="https://www.typeless.com/" TargetMode="External" Id="R0732ff87e81c418b" /><Relationship Type="http://schemas.openxmlformats.org/officeDocument/2006/relationships/hyperlink" Target="https://notebook.google.com/" TargetMode="External" Id="Rd35ef128bcb24586" /><Relationship Type="http://schemas.openxmlformats.org/officeDocument/2006/relationships/image" Target="/ppt/media/image2.png" Id="Raa857034e77a40aa" /><Relationship Type="http://schemas.openxmlformats.org/officeDocument/2006/relationships/image" Target="/ppt/media/image3.png" Id="R57ff98f91a14481d" /><Relationship Type="http://schemas.openxmlformats.org/officeDocument/2006/relationships/notesSlide" Target="/ppt/notesSlides/notesSlide2.xml" Id="R83568ef678254c2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3e623e253242cd" /><Relationship Type="http://schemas.openxmlformats.org/officeDocument/2006/relationships/notesSlide" Target="/ppt/notesSlides/notesSlide3.xml" Id="R55bd48d39509496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351c07b9a3416c" /><Relationship Type="http://schemas.openxmlformats.org/officeDocument/2006/relationships/notesSlide" Target="/ppt/notesSlides/notesSlide4.xml" Id="R14b3e57630a74b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ab6be07afa43cd" /><Relationship Type="http://schemas.openxmlformats.org/officeDocument/2006/relationships/notesSlide" Target="/ppt/notesSlides/notesSlide5.xml" Id="R8f5940b08e6b40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5a08c594a44f51" /><Relationship Type="http://schemas.openxmlformats.org/officeDocument/2006/relationships/notesSlide" Target="/ppt/notesSlides/notesSlide6.xml" Id="Rf3b7c88da22c467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3b7067ea064d3e" /><Relationship Type="http://schemas.openxmlformats.org/officeDocument/2006/relationships/image" Target="/ppt/media/image4.png" Id="Rd9928336c0e54388" /><Relationship Type="http://schemas.openxmlformats.org/officeDocument/2006/relationships/hyperlink" Target="https://cagoooo.github.io/Akai/" TargetMode="External" Id="Rf214bf9b05704e11" /><Relationship Type="http://schemas.openxmlformats.org/officeDocument/2006/relationships/image" Target="/ppt/media/image5.png" Id="R40bf5983d7014339" /><Relationship Type="http://schemas.openxmlformats.org/officeDocument/2006/relationships/notesSlide" Target="/ppt/notesSlides/notesSlide7.xml" Id="R857937d21a7149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2c7ad96085459b" /><Relationship Type="http://schemas.openxmlformats.org/officeDocument/2006/relationships/hyperlink" Target="https://cagoooo.github.io/Akai/tool/91/" TargetMode="External" Id="R0591889395e6462a" /><Relationship Type="http://schemas.openxmlformats.org/officeDocument/2006/relationships/image" Target="/ppt/media/image6.png" Id="R6473eb0a257745fb" /><Relationship Type="http://schemas.openxmlformats.org/officeDocument/2006/relationships/hyperlink" Target="https://cagoooo.github.io/PhotoPoet/" TargetMode="External" Id="R5153b1015cde4946" /><Relationship Type="http://schemas.openxmlformats.org/officeDocument/2006/relationships/image" Target="/ppt/media/image7.png" Id="R9527999305ec4fea" /><Relationship Type="http://schemas.openxmlformats.org/officeDocument/2006/relationships/hyperlink" Target="https://cagoooo.github.io/Akai/tool/58/" TargetMode="External" Id="R5b0f55ef45fd45e6" /><Relationship Type="http://schemas.openxmlformats.org/officeDocument/2006/relationships/image" Target="/ppt/media/image8.png" Id="R369ced5610354316" /><Relationship Type="http://schemas.openxmlformats.org/officeDocument/2006/relationships/hyperlink" Target="https://cagoooo.github.io/prepare/" TargetMode="External" Id="R19a5b54fb48240dc" /><Relationship Type="http://schemas.openxmlformats.org/officeDocument/2006/relationships/image" Target="/ppt/media/image9.png" Id="R2ee8f20995b04fa9" /><Relationship Type="http://schemas.openxmlformats.org/officeDocument/2006/relationships/hyperlink" Target="https://cagoooo.github.io/Akai/tool/11/" TargetMode="External" Id="R8f1a950b124f4ab5" /><Relationship Type="http://schemas.openxmlformats.org/officeDocument/2006/relationships/image" Target="/ppt/media/image10.png" Id="R89fdc0bd541d43ff" /><Relationship Type="http://schemas.openxmlformats.org/officeDocument/2006/relationships/hyperlink" Target="https://cagoooo.github.io/Akailao/" TargetMode="External" Id="Re47824b6aec74b62" /><Relationship Type="http://schemas.openxmlformats.org/officeDocument/2006/relationships/image" Target="/ppt/media/image11.png" Id="R943751cc9301446f" /><Relationship Type="http://schemas.openxmlformats.org/officeDocument/2006/relationships/notesSlide" Target="/ppt/notesSlides/notesSlide8.xml" Id="Rb929c8ef1d0642f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fcd690fa04444d" /><Relationship Type="http://schemas.openxmlformats.org/officeDocument/2006/relationships/hyperlink" Target="https://cagoooo.github.io/Akai/tool/3/" TargetMode="External" Id="R648a043e69614e5e" /><Relationship Type="http://schemas.openxmlformats.org/officeDocument/2006/relationships/image" Target="/ppt/media/image12.png" Id="R4e66e7560eff49a3" /><Relationship Type="http://schemas.openxmlformats.org/officeDocument/2006/relationships/hyperlink" Target="https://cagoooo.github.io/vote/" TargetMode="External" Id="R900b39c580334fba" /><Relationship Type="http://schemas.openxmlformats.org/officeDocument/2006/relationships/image" Target="/ppt/media/image13.png" Id="Rf5a0c8f96e204945" /><Relationship Type="http://schemas.openxmlformats.org/officeDocument/2006/relationships/hyperlink" Target="https://cagoooo.github.io/Akai/tool/24/" TargetMode="External" Id="Re1e4b924ce484608" /><Relationship Type="http://schemas.openxmlformats.org/officeDocument/2006/relationships/image" Target="/ppt/media/image14.png" Id="Rb0e27892cb2f4a1c" /><Relationship Type="http://schemas.openxmlformats.org/officeDocument/2006/relationships/hyperlink" Target="https://sites.google.com/mail2.smes.tyc.edu.tw/114teacher/" TargetMode="External" Id="R086fcc5c016d4c22" /><Relationship Type="http://schemas.openxmlformats.org/officeDocument/2006/relationships/image" Target="/ppt/media/image15.png" Id="R5cc4640896f6493e" /><Relationship Type="http://schemas.openxmlformats.org/officeDocument/2006/relationships/hyperlink" Target="https://cagoooo.github.io/Akai/tool/81/" TargetMode="External" Id="R4bd35516f02b4f28" /><Relationship Type="http://schemas.openxmlformats.org/officeDocument/2006/relationships/image" Target="/ppt/media/image16.png" Id="R93eb5881dd314e3e" /><Relationship Type="http://schemas.openxmlformats.org/officeDocument/2006/relationships/hyperlink" Target="https://cagoooo.github.io/it-cockpit/" TargetMode="External" Id="Ra665e2ceca754300" /><Relationship Type="http://schemas.openxmlformats.org/officeDocument/2006/relationships/image" Target="/ppt/media/image17.png" Id="R2ffcaa81a3d441a6" /><Relationship Type="http://schemas.openxmlformats.org/officeDocument/2006/relationships/notesSlide" Target="/ppt/notesSlides/notesSlide9.xml" Id="R2afb945b140c42a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5a4a58addf4941" /><Relationship Type="http://schemas.openxmlformats.org/officeDocument/2006/relationships/hyperlink" Target="https://www.typeless.com/" TargetMode="External" Id="R77d3e818b38c4be1" /><Relationship Type="http://schemas.openxmlformats.org/officeDocument/2006/relationships/hyperlink" Target="https://www.typeless.com/downloads" TargetMode="External" Id="R4324689344914550" /><Relationship Type="http://schemas.openxmlformats.org/officeDocument/2006/relationships/image" Target="/ppt/media/image18.png" Id="Rd68128470c294105" /><Relationship Type="http://schemas.openxmlformats.org/officeDocument/2006/relationships/image" Target="/ppt/media/image19.png" Id="R4c16609a9bf342ba" /><Relationship Type="http://schemas.openxmlformats.org/officeDocument/2006/relationships/notesSlide" Target="/ppt/notesSlides/notesSlide10.xml" Id="R35d5696881dd404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af8b694e594bf0" /><Relationship Type="http://schemas.openxmlformats.org/officeDocument/2006/relationships/hyperlink" Target="https://www.typeless.com/" TargetMode="External" Id="R4bd45b8fe5cb43bd" /><Relationship Type="http://schemas.openxmlformats.org/officeDocument/2006/relationships/hyperlink" Target="https://www.typeless.com/downloads" TargetMode="External" Id="R87061e1d12cd400e" /><Relationship Type="http://schemas.openxmlformats.org/officeDocument/2006/relationships/image" Target="/ppt/media/image20.png" Id="Ra7799e8a72ec4e0b" /><Relationship Type="http://schemas.openxmlformats.org/officeDocument/2006/relationships/image" Target="/ppt/media/image21.png" Id="Re8ddf101790246b5" /><Relationship Type="http://schemas.openxmlformats.org/officeDocument/2006/relationships/notesSlide" Target="/ppt/notesSlides/notesSlide11.xml" Id="R65b725b2f4134db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5b038972374ff8" /><Relationship Type="http://schemas.openxmlformats.org/officeDocument/2006/relationships/hyperlink" Target="https://www.typeless.com/downloads" TargetMode="External" Id="R021d8f5851ab4e75" /><Relationship Type="http://schemas.openxmlformats.org/officeDocument/2006/relationships/image" Target="/ppt/media/image22.png" Id="Rca4bb82841244117" /><Relationship Type="http://schemas.openxmlformats.org/officeDocument/2006/relationships/notesSlide" Target="/ppt/notesSlides/notesSlide12.xml" Id="R21bc7a641dad4e2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ef484a816342f9" /><Relationship Type="http://schemas.openxmlformats.org/officeDocument/2006/relationships/hyperlink" Target="https://www.typeless.com/" TargetMode="External" Id="Raf7984bd56114865" /><Relationship Type="http://schemas.openxmlformats.org/officeDocument/2006/relationships/hyperlink" Target="https://notebook.google.com/" TargetMode="External" Id="Rfe945bb2989b4eee" /><Relationship Type="http://schemas.openxmlformats.org/officeDocument/2006/relationships/image" Target="/ppt/media/image23.png" Id="Rc0d22a3a9a7f4add" /><Relationship Type="http://schemas.openxmlformats.org/officeDocument/2006/relationships/image" Target="/ppt/media/image24.png" Id="Rfed7e246b0274c4b" /><Relationship Type="http://schemas.openxmlformats.org/officeDocument/2006/relationships/notesSlide" Target="/ppt/notesSlides/notesSlide13.xml" Id="Rcf6da8ba94b4436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7d6dc0a4084d23" /><Relationship Type="http://schemas.openxmlformats.org/officeDocument/2006/relationships/notesSlide" Target="/ppt/notesSlides/notesSlide14.xml" Id="Rdaa1918ec8ef4f9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1714be18e14471" /><Relationship Type="http://schemas.openxmlformats.org/officeDocument/2006/relationships/hyperlink" Target="https://notebook.google.com/" TargetMode="External" Id="R0ff49d6b16874753" /><Relationship Type="http://schemas.openxmlformats.org/officeDocument/2006/relationships/image" Target="/ppt/media/image25.png" Id="R70583156dce4437f" /><Relationship Type="http://schemas.openxmlformats.org/officeDocument/2006/relationships/notesSlide" Target="/ppt/notesSlides/notesSlide15.xml" Id="R6a80ff6ed12144c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a214e9038b4fd3" /><Relationship Type="http://schemas.openxmlformats.org/officeDocument/2006/relationships/hyperlink" Target="https://notebook.google.com/" TargetMode="External" Id="R401346733b894274" /><Relationship Type="http://schemas.openxmlformats.org/officeDocument/2006/relationships/image" Target="/ppt/media/image26.png" Id="Rdb546f180bef486e" /><Relationship Type="http://schemas.openxmlformats.org/officeDocument/2006/relationships/notesSlide" Target="/ppt/notesSlides/notesSlide16.xml" Id="Raaaabe8080ce4ff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cfb50974af48e4" /><Relationship Type="http://schemas.openxmlformats.org/officeDocument/2006/relationships/hyperlink" Target="https://notebook.google.com/" TargetMode="External" Id="Rc90bdf2390e8476e" /><Relationship Type="http://schemas.openxmlformats.org/officeDocument/2006/relationships/image" Target="/ppt/media/image27.png" Id="Rf1c748a20d9f42cc" /><Relationship Type="http://schemas.openxmlformats.org/officeDocument/2006/relationships/notesSlide" Target="/ppt/notesSlides/notesSlide17.xml" Id="R1f0e879f7c9e437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5ca62753d345d2" /><Relationship Type="http://schemas.openxmlformats.org/officeDocument/2006/relationships/hyperlink" Target="https://notebook.google.com/" TargetMode="External" Id="R93e66b8d56c54c6f" /><Relationship Type="http://schemas.openxmlformats.org/officeDocument/2006/relationships/hyperlink" Target="https://github.com/cagoooo/it-cockpit" TargetMode="External" Id="R36c67aefc87f409b" /><Relationship Type="http://schemas.openxmlformats.org/officeDocument/2006/relationships/hyperlink" Target="https://cagoooo.github.io/it-cockpit/" TargetMode="External" Id="R318371e093fb4ed9" /><Relationship Type="http://schemas.openxmlformats.org/officeDocument/2006/relationships/image" Target="/ppt/media/image28.png" Id="Rab3e483be94942d7" /><Relationship Type="http://schemas.openxmlformats.org/officeDocument/2006/relationships/image" Target="/ppt/media/image29.png" Id="R61c4e51e91d247ff" /><Relationship Type="http://schemas.openxmlformats.org/officeDocument/2006/relationships/image" Target="/ppt/media/image30.png" Id="R0f00a1a0af4043c2" /><Relationship Type="http://schemas.openxmlformats.org/officeDocument/2006/relationships/notesSlide" Target="/ppt/notesSlides/notesSlide18.xml" Id="Red83da725185430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29fde41ea24899" /><Relationship Type="http://schemas.openxmlformats.org/officeDocument/2006/relationships/hyperlink" Target="https://notebook.google.com/" TargetMode="External" Id="R24e7920ab4614ff5" /><Relationship Type="http://schemas.openxmlformats.org/officeDocument/2006/relationships/hyperlink" Target="https://cagoooo.github.io/it-cockpit/" TargetMode="External" Id="R512177a31b574c46" /><Relationship Type="http://schemas.openxmlformats.org/officeDocument/2006/relationships/image" Target="/ppt/media/image31.png" Id="R50c4b7d4ac7c49ac" /><Relationship Type="http://schemas.openxmlformats.org/officeDocument/2006/relationships/image" Target="/ppt/media/image32.png" Id="R903151b3475f4670" /><Relationship Type="http://schemas.openxmlformats.org/officeDocument/2006/relationships/notesSlide" Target="/ppt/notesSlides/notesSlide19.xml" Id="Ra15d3e93edb543f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935312d8fd4b65" /><Relationship Type="http://schemas.openxmlformats.org/officeDocument/2006/relationships/hyperlink" Target="https://notebook.google.com/" TargetMode="External" Id="Rf106e5ccc22a4128" /><Relationship Type="http://schemas.openxmlformats.org/officeDocument/2006/relationships/image" Target="/ppt/media/image33.png" Id="R1c40ad21f07d409c" /><Relationship Type="http://schemas.openxmlformats.org/officeDocument/2006/relationships/notesSlide" Target="/ppt/notesSlides/notesSlide20.xml" Id="R3f8a9780cff9435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61974b9c864674" /><Relationship Type="http://schemas.openxmlformats.org/officeDocument/2006/relationships/hyperlink" Target="https://notebook.google.com/" TargetMode="External" Id="Raad78b41e6e844bc" /><Relationship Type="http://schemas.openxmlformats.org/officeDocument/2006/relationships/image" Target="/ppt/media/image34.png" Id="R0a6365710192415d" /><Relationship Type="http://schemas.openxmlformats.org/officeDocument/2006/relationships/notesSlide" Target="/ppt/notesSlides/notesSlide21.xml" Id="R6feb26dfab5f475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765ca8734b4e46" /><Relationship Type="http://schemas.openxmlformats.org/officeDocument/2006/relationships/hyperlink" Target="https://notebook.google.com/" TargetMode="External" Id="Rc89889f891484aa1" /><Relationship Type="http://schemas.openxmlformats.org/officeDocument/2006/relationships/image" Target="/ppt/media/image35.png" Id="R0677644f8c1646ca" /><Relationship Type="http://schemas.openxmlformats.org/officeDocument/2006/relationships/notesSlide" Target="/ppt/notesSlides/notesSlide22.xml" Id="Rbf99d780d489447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d2a5285c37479d" /><Relationship Type="http://schemas.openxmlformats.org/officeDocument/2006/relationships/hyperlink" Target="https://gemini.google.com/gems/create" TargetMode="External" Id="R86f87c9d5efe44c9" /><Relationship Type="http://schemas.openxmlformats.org/officeDocument/2006/relationships/image" Target="/ppt/media/image36.png" Id="R0e70032493984098" /><Relationship Type="http://schemas.openxmlformats.org/officeDocument/2006/relationships/notesSlide" Target="/ppt/notesSlides/notesSlide23.xml" Id="Rb6e6dcbdcfcb453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b07652289b4c21" /><Relationship Type="http://schemas.openxmlformats.org/officeDocument/2006/relationships/hyperlink" Target="https://gemini.google.com/gems/create" TargetMode="External" Id="Rf6271834bb874e72" /><Relationship Type="http://schemas.openxmlformats.org/officeDocument/2006/relationships/image" Target="/ppt/media/image37.png" Id="R0e27ecb3e8e64e64" /><Relationship Type="http://schemas.openxmlformats.org/officeDocument/2006/relationships/notesSlide" Target="/ppt/notesSlides/notesSlide24.xml" Id="R8c4d03899abd47b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ad6024e10c4f71" /><Relationship Type="http://schemas.openxmlformats.org/officeDocument/2006/relationships/hyperlink" Target="https://gemini.google.com/gems/create" TargetMode="External" Id="Red1dc203013b455d" /><Relationship Type="http://schemas.openxmlformats.org/officeDocument/2006/relationships/image" Target="/ppt/media/image38.png" Id="R92ed559ad9134a09" /><Relationship Type="http://schemas.openxmlformats.org/officeDocument/2006/relationships/notesSlide" Target="/ppt/notesSlides/notesSlide25.xml" Id="R39fbe790e9254e3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880469ab79499f" /><Relationship Type="http://schemas.openxmlformats.org/officeDocument/2006/relationships/hyperlink" Target="https://gemini.google.com/gems/create" TargetMode="External" Id="Ra150f20d152d4bc1" /><Relationship Type="http://schemas.openxmlformats.org/officeDocument/2006/relationships/image" Target="/ppt/media/image39.png" Id="R7e8f11ca368f4fdc" /><Relationship Type="http://schemas.openxmlformats.org/officeDocument/2006/relationships/notesSlide" Target="/ppt/notesSlides/notesSlide26.xml" Id="Rac871fdebf1c489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87862f8c284477" /><Relationship Type="http://schemas.openxmlformats.org/officeDocument/2006/relationships/hyperlink" Target="https://gemini.google.com/gems/create" TargetMode="External" Id="Ra993125eceeb4081" /><Relationship Type="http://schemas.openxmlformats.org/officeDocument/2006/relationships/image" Target="/ppt/media/image40.png" Id="R83d20d5793634e96" /><Relationship Type="http://schemas.openxmlformats.org/officeDocument/2006/relationships/notesSlide" Target="/ppt/notesSlides/notesSlide27.xml" Id="Ra3578a26994d4d8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f84b32b1d640a3" /><Relationship Type="http://schemas.openxmlformats.org/officeDocument/2006/relationships/hyperlink" Target="https://gemini.google.com/gems/create" TargetMode="External" Id="R59dc42ae4ca1457c" /><Relationship Type="http://schemas.openxmlformats.org/officeDocument/2006/relationships/image" Target="/ppt/media/image41.png" Id="R7967af2f33494c9b" /><Relationship Type="http://schemas.openxmlformats.org/officeDocument/2006/relationships/notesSlide" Target="/ppt/notesSlides/notesSlide28.xml" Id="R894f55e41d83405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6343cff2ab452f" /><Relationship Type="http://schemas.openxmlformats.org/officeDocument/2006/relationships/hyperlink" Target="https://gemini.google.com/app" TargetMode="External" Id="R6180115a29cb4b6b" /><Relationship Type="http://schemas.openxmlformats.org/officeDocument/2006/relationships/image" Target="/ppt/media/image42.png" Id="R9f197969905f43eb" /><Relationship Type="http://schemas.openxmlformats.org/officeDocument/2006/relationships/notesSlide" Target="/ppt/notesSlides/notesSlide29.xml" Id="R884ab89f6c2040a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393f1918654b34" /><Relationship Type="http://schemas.openxmlformats.org/officeDocument/2006/relationships/hyperlink" Target="https://gemini.google.com/app" TargetMode="External" Id="R83173de875784ef7" /><Relationship Type="http://schemas.openxmlformats.org/officeDocument/2006/relationships/image" Target="/ppt/media/image43.png" Id="R4e2594923c844ded" /><Relationship Type="http://schemas.openxmlformats.org/officeDocument/2006/relationships/notesSlide" Target="/ppt/notesSlides/notesSlide30.xml" Id="Rd507222cdacc4d5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cfd9d480c43a6" /><Relationship Type="http://schemas.openxmlformats.org/officeDocument/2006/relationships/hyperlink" Target="https://gemini.google.com/app" TargetMode="External" Id="R8f641ff7de0f4599" /><Relationship Type="http://schemas.openxmlformats.org/officeDocument/2006/relationships/hyperlink" Target="https://cagoooo.github.io/domain-meeting-go/" TargetMode="External" Id="Rb158249fe9aa41db" /><Relationship Type="http://schemas.openxmlformats.org/officeDocument/2006/relationships/image" Target="/ppt/media/image44.png" Id="Rbf85cb071a094ba9" /><Relationship Type="http://schemas.openxmlformats.org/officeDocument/2006/relationships/image" Target="/ppt/media/image45.png" Id="Rc85b3f366d4f41d5" /><Relationship Type="http://schemas.openxmlformats.org/officeDocument/2006/relationships/notesSlide" Target="/ppt/notesSlides/notesSlide31.xml" Id="Rd2f91d397f0e40f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49da3977a3484f" /><Relationship Type="http://schemas.openxmlformats.org/officeDocument/2006/relationships/hyperlink" Target="https://gemini.google.com/app" TargetMode="External" Id="Ra4f6a7b0389c4a4d" /><Relationship Type="http://schemas.openxmlformats.org/officeDocument/2006/relationships/hyperlink" Target="https://cagoooo.github.io/domain-meeting-go/" TargetMode="External" Id="Rcc90067f6acd48f8" /><Relationship Type="http://schemas.openxmlformats.org/officeDocument/2006/relationships/hyperlink" Target="https://sites.google.com/mail2.smes.tyc.edu.tw/114teacher/" TargetMode="External" Id="R88446fce5aa445c4" /><Relationship Type="http://schemas.openxmlformats.org/officeDocument/2006/relationships/image" Target="/ppt/media/image46.png" Id="R60daa401947b4aea" /><Relationship Type="http://schemas.openxmlformats.org/officeDocument/2006/relationships/image" Target="/ppt/media/image47.png" Id="R1c565168791a4b7f" /><Relationship Type="http://schemas.openxmlformats.org/officeDocument/2006/relationships/image" Target="/ppt/media/image48.png" Id="R22d05271556c4777" /><Relationship Type="http://schemas.openxmlformats.org/officeDocument/2006/relationships/notesSlide" Target="/ppt/notesSlides/notesSlide32.xml" Id="R2e07aefb82f1402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2f1bff42b44c0e" /><Relationship Type="http://schemas.openxmlformats.org/officeDocument/2006/relationships/hyperlink" Target="https://sites.google.com/new" TargetMode="External" Id="Rf49b9cfccdf54646" /><Relationship Type="http://schemas.openxmlformats.org/officeDocument/2006/relationships/hyperlink" Target="https://cagoooo.github.io/domain-meeting-go/" TargetMode="External" Id="R93ea8a0c1a86423c" /><Relationship Type="http://schemas.openxmlformats.org/officeDocument/2006/relationships/image" Target="/ppt/media/image49.png" Id="R69f0792be2af437d" /><Relationship Type="http://schemas.openxmlformats.org/officeDocument/2006/relationships/image" Target="/ppt/media/image50.png" Id="Rf76ce2c94e374616" /><Relationship Type="http://schemas.openxmlformats.org/officeDocument/2006/relationships/notesSlide" Target="/ppt/notesSlides/notesSlide33.xml" Id="R3693765a622642a5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97578f293d4082" /><Relationship Type="http://schemas.openxmlformats.org/officeDocument/2006/relationships/hyperlink" Target="https://sites.google.com/new" TargetMode="External" Id="R64dda8d7864b418b" /><Relationship Type="http://schemas.openxmlformats.org/officeDocument/2006/relationships/hyperlink" Target="https://pages.github.com/" TargetMode="External" Id="R6688bd29227f46cf" /><Relationship Type="http://schemas.openxmlformats.org/officeDocument/2006/relationships/hyperlink" Target="https://gg90052.github.io/ezpage/" TargetMode="External" Id="R1673b20579c34be8" /><Relationship Type="http://schemas.openxmlformats.org/officeDocument/2006/relationships/image" Target="/ppt/media/image51.png" Id="Rc63737c626c740f6" /><Relationship Type="http://schemas.openxmlformats.org/officeDocument/2006/relationships/image" Target="/ppt/media/image52.png" Id="R5445b03787aa45f5" /><Relationship Type="http://schemas.openxmlformats.org/officeDocument/2006/relationships/image" Target="/ppt/media/image53.png" Id="Raf7fe008afe24dfd" /><Relationship Type="http://schemas.openxmlformats.org/officeDocument/2006/relationships/notesSlide" Target="/ppt/notesSlides/notesSlide34.xml" Id="R50132242505f4322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4ca7360367469f" /><Relationship Type="http://schemas.openxmlformats.org/officeDocument/2006/relationships/hyperlink" Target="https://sites.google.com/new" TargetMode="External" Id="R81b8a19dbcae4bed" /><Relationship Type="http://schemas.openxmlformats.org/officeDocument/2006/relationships/hyperlink" Target="https://sites.google.com/mail2.smes.tyc.edu.tw/114teacher/" TargetMode="External" Id="Rd6b0d10b0b184515" /><Relationship Type="http://schemas.openxmlformats.org/officeDocument/2006/relationships/image" Target="/ppt/media/image54.png" Id="R8791a08510594c88" /><Relationship Type="http://schemas.openxmlformats.org/officeDocument/2006/relationships/image" Target="/ppt/media/image55.png" Id="Rcff0151c98954123" /><Relationship Type="http://schemas.openxmlformats.org/officeDocument/2006/relationships/notesSlide" Target="/ppt/notesSlides/notesSlide35.xml" Id="Rdc20efed0c9a48d2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cc0ecd7fc54e4b" /><Relationship Type="http://schemas.openxmlformats.org/officeDocument/2006/relationships/hyperlink" Target="https://pages.github.com/" TargetMode="External" Id="Rc2c7b920a61f4daa" /><Relationship Type="http://schemas.openxmlformats.org/officeDocument/2006/relationships/image" Target="/ppt/media/image56.png" Id="R2898a71372524de3" /><Relationship Type="http://schemas.openxmlformats.org/officeDocument/2006/relationships/notesSlide" Target="/ppt/notesSlides/notesSlide36.xml" Id="R48e0042d8a664494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c28fe51c7e438a" /><Relationship Type="http://schemas.openxmlformats.org/officeDocument/2006/relationships/hyperlink" Target="https://gg90052.github.io/ezpage/" TargetMode="External" Id="Rfe8cf06a0f7a4acd" /><Relationship Type="http://schemas.openxmlformats.org/officeDocument/2006/relationships/image" Target="/ppt/media/image57.png" Id="R06eceb9372c646aa" /><Relationship Type="http://schemas.openxmlformats.org/officeDocument/2006/relationships/notesSlide" Target="/ppt/notesSlides/notesSlide37.xml" Id="Rf966bd3f3b2c4fc7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b78ae1d4ff4930" /><Relationship Type="http://schemas.openxmlformats.org/officeDocument/2006/relationships/hyperlink" Target="https://notebook.google.com/" TargetMode="External" Id="R07423ebdd10d44d6" /><Relationship Type="http://schemas.openxmlformats.org/officeDocument/2006/relationships/hyperlink" Target="https://cagoooo.github.io/domain-meeting-go/" TargetMode="External" Id="Ra92f0a0c98b74422" /><Relationship Type="http://schemas.openxmlformats.org/officeDocument/2006/relationships/hyperlink" Target="https://sites.google.com/mail2.smes.tyc.edu.tw/114teacher/" TargetMode="External" Id="R890f27d2dc0245e1" /><Relationship Type="http://schemas.openxmlformats.org/officeDocument/2006/relationships/image" Target="/ppt/media/image58.png" Id="Rf1f84112e1ef4b20" /><Relationship Type="http://schemas.openxmlformats.org/officeDocument/2006/relationships/image" Target="/ppt/media/image59.png" Id="R90072b7912c942f4" /><Relationship Type="http://schemas.openxmlformats.org/officeDocument/2006/relationships/image" Target="/ppt/media/image60.png" Id="Rcbf2e014bb144d5a" /><Relationship Type="http://schemas.openxmlformats.org/officeDocument/2006/relationships/notesSlide" Target="/ppt/notesSlides/notesSlide38.xml" Id="R730c0bbf193b4182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17d830f3f4c74" /><Relationship Type="http://schemas.openxmlformats.org/officeDocument/2006/relationships/hyperlink" Target="../START_HERE_&#30740;&#32722;&#36039;&#28304;&#23566;&#33322;.html" TargetMode="External" Id="R62827d6595104098" /><Relationship Type="http://schemas.openxmlformats.org/officeDocument/2006/relationships/image" Target="/ppt/media/image61.png" Id="Re61212f934ed4656" /><Relationship Type="http://schemas.openxmlformats.org/officeDocument/2006/relationships/hyperlink" Target="https://notebook.google.com/" TargetMode="External" Id="R6b062d1dd9b84009" /><Relationship Type="http://schemas.openxmlformats.org/officeDocument/2006/relationships/image" Target="/ppt/media/image62.png" Id="R8a7002a527044ed3" /><Relationship Type="http://schemas.openxmlformats.org/officeDocument/2006/relationships/hyperlink" Target="https://gemini.google.com/gems/create" TargetMode="External" Id="R290866e2e74a4e53" /><Relationship Type="http://schemas.openxmlformats.org/officeDocument/2006/relationships/image" Target="/ppt/media/image63.png" Id="R5d813b08c3734c49" /><Relationship Type="http://schemas.openxmlformats.org/officeDocument/2006/relationships/hyperlink" Target="https://gemini.google.com/app" TargetMode="External" Id="R5674ac745526487f" /><Relationship Type="http://schemas.openxmlformats.org/officeDocument/2006/relationships/image" Target="/ppt/media/image64.png" Id="Re3fd744aed464f8e" /><Relationship Type="http://schemas.openxmlformats.org/officeDocument/2006/relationships/hyperlink" Target="https://github.com/cagoooo/it-cockpit" TargetMode="External" Id="R59d8c3bfa24d4021" /><Relationship Type="http://schemas.openxmlformats.org/officeDocument/2006/relationships/image" Target="/ppt/media/image65.png" Id="Re5c89853b9054cbe" /><Relationship Type="http://schemas.openxmlformats.org/officeDocument/2006/relationships/hyperlink" Target="https://cagoooo.github.io/it-cockpit/" TargetMode="External" Id="R93582772bed64bff" /><Relationship Type="http://schemas.openxmlformats.org/officeDocument/2006/relationships/image" Target="/ppt/media/image66.png" Id="Rb2f25e845d1e4a7b" /><Relationship Type="http://schemas.openxmlformats.org/officeDocument/2006/relationships/hyperlink" Target="https://cagoooo.github.io/domain-meeting-go/" TargetMode="External" Id="R7c1335885dbc44ea" /><Relationship Type="http://schemas.openxmlformats.org/officeDocument/2006/relationships/image" Target="/ppt/media/image67.png" Id="Re293a979cfaa465c" /><Relationship Type="http://schemas.openxmlformats.org/officeDocument/2006/relationships/hyperlink" Target="https://sites.google.com/new" TargetMode="External" Id="R2b25b849d12b4840" /><Relationship Type="http://schemas.openxmlformats.org/officeDocument/2006/relationships/image" Target="/ppt/media/image68.png" Id="Rd815afe9e4834dc0" /><Relationship Type="http://schemas.openxmlformats.org/officeDocument/2006/relationships/hyperlink" Target="https://pages.github.com/" TargetMode="External" Id="R52c713e02e454842" /><Relationship Type="http://schemas.openxmlformats.org/officeDocument/2006/relationships/image" Target="/ppt/media/image69.png" Id="Rdf2bae8ceb62453e" /><Relationship Type="http://schemas.openxmlformats.org/officeDocument/2006/relationships/hyperlink" Target="https://gg90052.github.io/ezpage/" TargetMode="External" Id="Rae8cab9853b74f1e" /><Relationship Type="http://schemas.openxmlformats.org/officeDocument/2006/relationships/image" Target="/ppt/media/image70.png" Id="R56a1341b6dc64278" /><Relationship Type="http://schemas.openxmlformats.org/officeDocument/2006/relationships/notesSlide" Target="/ppt/notesSlides/notesSlide39.xml" Id="R43291c071eb4461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1fa5002a20447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1">
            <a:extLst xmlns:a="http://schemas.openxmlformats.org/drawingml/2006/main">
              <a:ext uri="{FF2B5EF4-FFF2-40B4-BE49-F238E27FC236}">
                <a16:creationId xmlns:a16="http://schemas.microsoft.com/office/drawing/2014/main" id="{E13AEE38-8F5A-4001-8A0C-9A3546220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E33E5CC2-5DF2-4127-8255-8FA990650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76861942-D283-4631-8C2B-7CC15A1C4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上午場｜09:00–12:00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1D9759A3-6DA7-46BD-B014-9EBF44725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52959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打造專屬 AI 教學與研究工作室：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Notebook、Gem、Canvas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與網站部署實作</a:t>
            </a:r>
          </a:p>
        </p:txBody>
      </p:sp>
      <p:sp>
        <p:nvSpPr>
          <p:cNvPr id="6" name="shape-5">
            <a:extLst xmlns:a="http://schemas.openxmlformats.org/drawingml/2006/main">
              <a:ext uri="{FF2B5EF4-FFF2-40B4-BE49-F238E27FC236}">
                <a16:creationId xmlns:a16="http://schemas.microsoft.com/office/drawing/2014/main" id="{4186E0B3-307C-460A-A66B-20202E02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AE3B3DB8-AEDC-48AE-990E-5AD2C2A91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29150"/>
            <a:ext cx="5219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9A90D952-7D0A-4260-BF67-B328B95E4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70775140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8">
            <a:extLst xmlns:a="http://schemas.openxmlformats.org/drawingml/2006/main">
              <a:ext uri="{FF2B5EF4-FFF2-40B4-BE49-F238E27FC236}">
                <a16:creationId xmlns:a16="http://schemas.microsoft.com/office/drawing/2014/main" id="{AB85F170-180D-440A-86EF-C6FB28F27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ASSISTANT TO AGENT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8664505-30B6-40C3-9EA2-00B1D5ED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今天的學習弧線</a:t>
            </a:r>
          </a:p>
        </p:txBody>
      </p:sp>
      <p:cxnSp>
        <p:nvCxnSpPr>
          <p:cNvPr id="44" name="shape-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0">
            <a:extLst xmlns:a="http://schemas.openxmlformats.org/drawingml/2006/main">
              <a:ext uri="{FF2B5EF4-FFF2-40B4-BE49-F238E27FC236}">
                <a16:creationId xmlns:a16="http://schemas.microsoft.com/office/drawing/2014/main" id="{F2A8C750-EB2C-46CD-B01B-42FAD8E5A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D59AC6D-1998-4CD9-ADAB-3C2DDEAC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11">
            <a:extLst xmlns:a="http://schemas.openxmlformats.org/drawingml/2006/main">
              <a:ext uri="{FF2B5EF4-FFF2-40B4-BE49-F238E27FC236}">
                <a16:creationId xmlns:a16="http://schemas.microsoft.com/office/drawing/2014/main" id="{8C993485-D660-4459-B937-B6C42D977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12">
            <a:extLst xmlns:a="http://schemas.openxmlformats.org/drawingml/2006/main">
              <a:ext uri="{FF2B5EF4-FFF2-40B4-BE49-F238E27FC236}">
                <a16:creationId xmlns:a16="http://schemas.microsoft.com/office/drawing/2014/main" id="{7415F3C6-E01E-47C7-83A4-3D94E632F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">
            <a:extLst xmlns:a="http://schemas.openxmlformats.org/drawingml/2006/main">
              <a:ext uri="{FF2B5EF4-FFF2-40B4-BE49-F238E27FC236}">
                <a16:creationId xmlns:a16="http://schemas.microsoft.com/office/drawing/2014/main" id="{B8029DA7-E5C6-41D1-8146-99F297FA5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">
            <a:extLst xmlns:a="http://schemas.openxmlformats.org/drawingml/2006/main">
              <a:ext uri="{FF2B5EF4-FFF2-40B4-BE49-F238E27FC236}">
                <a16:creationId xmlns:a16="http://schemas.microsoft.com/office/drawing/2014/main" id="{7621B225-AA58-4328-B3BA-C4818D91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先說清楚</a:t>
            </a:r>
          </a:p>
        </p:txBody>
      </p:sp>
      <p:sp>
        <p:nvSpPr>
          <p:cNvPr id="10" name="text-15">
            <a:extLst xmlns:a="http://schemas.openxmlformats.org/drawingml/2006/main">
              <a:ext uri="{FF2B5EF4-FFF2-40B4-BE49-F238E27FC236}">
                <a16:creationId xmlns:a16="http://schemas.microsoft.com/office/drawing/2014/main" id="{A79CC697-670B-4079-A406-B84D339D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Typeless 把口語想法整理成可用文字</a:t>
            </a:r>
          </a:p>
        </p:txBody>
      </p:sp>
      <p:sp>
        <p:nvSpPr>
          <p:cNvPr id="11" name="text-16">
            <a:extLst xmlns:a="http://schemas.openxmlformats.org/drawingml/2006/main">
              <a:ext uri="{FF2B5EF4-FFF2-40B4-BE49-F238E27FC236}">
                <a16:creationId xmlns:a16="http://schemas.microsoft.com/office/drawing/2014/main" id="{7B96403C-88A2-4C13-9911-29C77A95E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7">
            <a:extLst xmlns:a="http://schemas.openxmlformats.org/drawingml/2006/main">
              <a:ext uri="{FF2B5EF4-FFF2-40B4-BE49-F238E27FC236}">
                <a16:creationId xmlns:a16="http://schemas.microsoft.com/office/drawing/2014/main" id="{02674AA7-C927-4DB6-BE0C-9EC1DC030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18">
            <a:extLst xmlns:a="http://schemas.openxmlformats.org/drawingml/2006/main">
              <a:ext uri="{FF2B5EF4-FFF2-40B4-BE49-F238E27FC236}">
                <a16:creationId xmlns:a16="http://schemas.microsoft.com/office/drawing/2014/main" id="{74236D42-6B83-4BEC-9D5C-49BD4521D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9">
            <a:extLst xmlns:a="http://schemas.openxmlformats.org/drawingml/2006/main">
              <a:ext uri="{FF2B5EF4-FFF2-40B4-BE49-F238E27FC236}">
                <a16:creationId xmlns:a16="http://schemas.microsoft.com/office/drawing/2014/main" id="{6E139325-0019-4C79-9258-1CC7FF85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0">
            <a:extLst xmlns:a="http://schemas.openxmlformats.org/drawingml/2006/main">
              <a:ext uri="{FF2B5EF4-FFF2-40B4-BE49-F238E27FC236}">
                <a16:creationId xmlns:a16="http://schemas.microsoft.com/office/drawing/2014/main" id="{ABB15C2E-C031-49FD-8138-76C34FDD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有根據</a:t>
            </a:r>
          </a:p>
        </p:txBody>
      </p:sp>
      <p:sp>
        <p:nvSpPr>
          <p:cNvPr id="16" name="text-21">
            <a:extLst xmlns:a="http://schemas.openxmlformats.org/drawingml/2006/main">
              <a:ext uri="{FF2B5EF4-FFF2-40B4-BE49-F238E27FC236}">
                <a16:creationId xmlns:a16="http://schemas.microsoft.com/office/drawing/2014/main" id="{414117F2-3693-4CC5-BF76-974C9CE00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Gemini Notebook 整理可信來源</a:t>
            </a:r>
          </a:p>
        </p:txBody>
      </p:sp>
      <p:sp>
        <p:nvSpPr>
          <p:cNvPr id="17" name="text-22">
            <a:extLst xmlns:a="http://schemas.openxmlformats.org/drawingml/2006/main">
              <a:ext uri="{FF2B5EF4-FFF2-40B4-BE49-F238E27FC236}">
                <a16:creationId xmlns:a16="http://schemas.microsoft.com/office/drawing/2014/main" id="{F01D9EDD-F471-4B49-A3E6-A3FADE3BF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3">
            <a:extLst xmlns:a="http://schemas.openxmlformats.org/drawingml/2006/main">
              <a:ext uri="{FF2B5EF4-FFF2-40B4-BE49-F238E27FC236}">
                <a16:creationId xmlns:a16="http://schemas.microsoft.com/office/drawing/2014/main" id="{BC19F390-3A6A-4D79-BE5B-CE1EA1FD0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24">
            <a:extLst xmlns:a="http://schemas.openxmlformats.org/drawingml/2006/main">
              <a:ext uri="{FF2B5EF4-FFF2-40B4-BE49-F238E27FC236}">
                <a16:creationId xmlns:a16="http://schemas.microsoft.com/office/drawing/2014/main" id="{0BCDBC03-E646-4CFA-BFA6-A0419B2A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5">
            <a:extLst xmlns:a="http://schemas.openxmlformats.org/drawingml/2006/main">
              <a:ext uri="{FF2B5EF4-FFF2-40B4-BE49-F238E27FC236}">
                <a16:creationId xmlns:a16="http://schemas.microsoft.com/office/drawing/2014/main" id="{6F6523E1-00D4-4C8C-A55E-4AE4033B7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6">
            <a:extLst xmlns:a="http://schemas.openxmlformats.org/drawingml/2006/main">
              <a:ext uri="{FF2B5EF4-FFF2-40B4-BE49-F238E27FC236}">
                <a16:creationId xmlns:a16="http://schemas.microsoft.com/office/drawing/2014/main" id="{D8428F11-9F05-47E3-BCB8-43CE989EB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有角色</a:t>
            </a:r>
          </a:p>
        </p:txBody>
      </p:sp>
      <p:sp>
        <p:nvSpPr>
          <p:cNvPr id="22" name="text-27">
            <a:extLst xmlns:a="http://schemas.openxmlformats.org/drawingml/2006/main">
              <a:ext uri="{FF2B5EF4-FFF2-40B4-BE49-F238E27FC236}">
                <a16:creationId xmlns:a16="http://schemas.microsoft.com/office/drawing/2014/main" id="{D373FE4F-A905-4EA9-AC52-99DC38BC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 固定教學方法與回覆格式</a:t>
            </a:r>
          </a:p>
        </p:txBody>
      </p:sp>
      <p:sp>
        <p:nvSpPr>
          <p:cNvPr id="23" name="text-28">
            <a:extLst xmlns:a="http://schemas.openxmlformats.org/drawingml/2006/main">
              <a:ext uri="{FF2B5EF4-FFF2-40B4-BE49-F238E27FC236}">
                <a16:creationId xmlns:a16="http://schemas.microsoft.com/office/drawing/2014/main" id="{3862F08F-A46F-4CD9-A4DB-968C0F5A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9">
            <a:extLst xmlns:a="http://schemas.openxmlformats.org/drawingml/2006/main">
              <a:ext uri="{FF2B5EF4-FFF2-40B4-BE49-F238E27FC236}">
                <a16:creationId xmlns:a16="http://schemas.microsoft.com/office/drawing/2014/main" id="{CC0B891E-B7D9-4266-91A9-AF62468DF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30">
            <a:extLst xmlns:a="http://schemas.openxmlformats.org/drawingml/2006/main">
              <a:ext uri="{FF2B5EF4-FFF2-40B4-BE49-F238E27FC236}">
                <a16:creationId xmlns:a16="http://schemas.microsoft.com/office/drawing/2014/main" id="{5FEF7353-28D4-4A39-AD79-1EEBB8777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31">
            <a:extLst xmlns:a="http://schemas.openxmlformats.org/drawingml/2006/main">
              <a:ext uri="{FF2B5EF4-FFF2-40B4-BE49-F238E27FC236}">
                <a16:creationId xmlns:a16="http://schemas.microsoft.com/office/drawing/2014/main" id="{4B47F8DA-FF18-42E2-A404-3CCF47D0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32">
            <a:extLst xmlns:a="http://schemas.openxmlformats.org/drawingml/2006/main">
              <a:ext uri="{FF2B5EF4-FFF2-40B4-BE49-F238E27FC236}">
                <a16:creationId xmlns:a16="http://schemas.microsoft.com/office/drawing/2014/main" id="{5BE77F33-1FE5-48D9-9D14-670C27755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有作品</a:t>
            </a:r>
          </a:p>
        </p:txBody>
      </p:sp>
      <p:sp>
        <p:nvSpPr>
          <p:cNvPr id="28" name="text-33">
            <a:extLst xmlns:a="http://schemas.openxmlformats.org/drawingml/2006/main">
              <a:ext uri="{FF2B5EF4-FFF2-40B4-BE49-F238E27FC236}">
                <a16:creationId xmlns:a16="http://schemas.microsoft.com/office/drawing/2014/main" id="{52E01A32-73A9-40F4-97AC-D812439DF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Canvas 做出互動教學原型</a:t>
            </a:r>
          </a:p>
        </p:txBody>
      </p:sp>
      <p:sp>
        <p:nvSpPr>
          <p:cNvPr id="29" name="text-34">
            <a:extLst xmlns:a="http://schemas.openxmlformats.org/drawingml/2006/main">
              <a:ext uri="{FF2B5EF4-FFF2-40B4-BE49-F238E27FC236}">
                <a16:creationId xmlns:a16="http://schemas.microsoft.com/office/drawing/2014/main" id="{73AB12EF-E4A0-4410-B018-8B4012EA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35">
            <a:extLst xmlns:a="http://schemas.openxmlformats.org/drawingml/2006/main">
              <a:ext uri="{FF2B5EF4-FFF2-40B4-BE49-F238E27FC236}">
                <a16:creationId xmlns:a16="http://schemas.microsoft.com/office/drawing/2014/main" id="{F2668BF5-537D-493C-96D2-A9E9A4EE7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shape-36">
            <a:extLst xmlns:a="http://schemas.openxmlformats.org/drawingml/2006/main">
              <a:ext uri="{FF2B5EF4-FFF2-40B4-BE49-F238E27FC236}">
                <a16:creationId xmlns:a16="http://schemas.microsoft.com/office/drawing/2014/main" id="{91BC4D26-94FD-4B6F-A55F-83C832F1F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37">
            <a:extLst xmlns:a="http://schemas.openxmlformats.org/drawingml/2006/main">
              <a:ext uri="{FF2B5EF4-FFF2-40B4-BE49-F238E27FC236}">
                <a16:creationId xmlns:a16="http://schemas.microsoft.com/office/drawing/2014/main" id="{A6848A7E-C503-4F29-83CC-C73D3EC0F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38">
            <a:extLst xmlns:a="http://schemas.openxmlformats.org/drawingml/2006/main">
              <a:ext uri="{FF2B5EF4-FFF2-40B4-BE49-F238E27FC236}">
                <a16:creationId xmlns:a16="http://schemas.microsoft.com/office/drawing/2014/main" id="{3C65C9B3-1FF8-4330-A0AA-59972ACF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能分享</a:t>
            </a:r>
          </a:p>
        </p:txBody>
      </p:sp>
      <p:sp>
        <p:nvSpPr>
          <p:cNvPr id="34" name="text-39">
            <a:extLst xmlns:a="http://schemas.openxmlformats.org/drawingml/2006/main">
              <a:ext uri="{FF2B5EF4-FFF2-40B4-BE49-F238E27FC236}">
                <a16:creationId xmlns:a16="http://schemas.microsoft.com/office/drawing/2014/main" id="{6DC5ABE8-F559-4995-B664-82C6CDA5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Sites 或 Pages 發布成果</a:t>
            </a:r>
          </a:p>
        </p:txBody>
      </p:sp>
      <p:sp>
        <p:nvSpPr>
          <p:cNvPr id="35" name="text-40">
            <a:extLst xmlns:a="http://schemas.openxmlformats.org/drawingml/2006/main">
              <a:ext uri="{FF2B5EF4-FFF2-40B4-BE49-F238E27FC236}">
                <a16:creationId xmlns:a16="http://schemas.microsoft.com/office/drawing/2014/main" id="{D67BD6A3-5248-42C4-9B15-1D17DF32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734">
            <a:extLst xmlns:a="http://schemas.openxmlformats.org/drawingml/2006/main">
              <a:ext uri="{FF2B5EF4-FFF2-40B4-BE49-F238E27FC236}">
                <a16:creationId xmlns:a16="http://schemas.microsoft.com/office/drawing/2014/main" id="{592FFA36-C9FD-4451-88F8-B4FBB5CE3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732ff87e81c418b"/>
              </a:rPr>
              <a:t>Typeless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35ef128bcb24586"/>
              </a:rPr>
              <a:t>Gemini Notebook ↗</a:t>
            </a:r>
          </a:p>
        </p:txBody>
      </p:sp>
      <p:sp>
        <p:nvSpPr>
          <p:cNvPr id="37" name="shape-764">
            <a:extLst xmlns:a="http://schemas.openxmlformats.org/drawingml/2006/main">
              <a:ext uri="{FF2B5EF4-FFF2-40B4-BE49-F238E27FC236}">
                <a16:creationId xmlns:a16="http://schemas.microsoft.com/office/drawing/2014/main" id="{278DFFE8-8653-4CF0-848E-9274BDFD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857034e77a40a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765">
            <a:extLst xmlns:a="http://schemas.openxmlformats.org/drawingml/2006/main">
              <a:ext uri="{FF2B5EF4-FFF2-40B4-BE49-F238E27FC236}">
                <a16:creationId xmlns:a16="http://schemas.microsoft.com/office/drawing/2014/main" id="{8F0864B7-91C8-4F50-AD1A-EFED24D88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ff98f91a14481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41" name="text-766">
            <a:extLst xmlns:a="http://schemas.openxmlformats.org/drawingml/2006/main">
              <a:ext uri="{FF2B5EF4-FFF2-40B4-BE49-F238E27FC236}">
                <a16:creationId xmlns:a16="http://schemas.microsoft.com/office/drawing/2014/main" id="{4289556E-EC93-4BC8-A68C-E056DB0B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20515282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41">
            <a:extLst xmlns:a="http://schemas.openxmlformats.org/drawingml/2006/main">
              <a:ext uri="{FF2B5EF4-FFF2-40B4-BE49-F238E27FC236}">
                <a16:creationId xmlns:a16="http://schemas.microsoft.com/office/drawing/2014/main" id="{ED9FEE91-2D11-4BAA-91FA-2451530FE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104EB63-3C32-4D90-90EC-C2C6C0C48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 180 分鐘：每一段都有作品</a:t>
            </a:r>
          </a:p>
        </p:txBody>
      </p:sp>
      <p:cxnSp>
        <p:nvCxnSpPr>
          <p:cNvPr id="37" name="shape-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3">
            <a:extLst xmlns:a="http://schemas.openxmlformats.org/drawingml/2006/main">
              <a:ext uri="{FF2B5EF4-FFF2-40B4-BE49-F238E27FC236}">
                <a16:creationId xmlns:a16="http://schemas.microsoft.com/office/drawing/2014/main" id="{907178AA-3BF5-430C-88FC-40F97BF6B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C91C0DB-3779-4B75-B999-3A0310849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cxnSp>
        <p:nvCxnSpPr>
          <p:cNvPr id="40" name="shape-44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shape-45">
            <a:extLst xmlns:a="http://schemas.openxmlformats.org/drawingml/2006/main">
              <a:ext uri="{FF2B5EF4-FFF2-40B4-BE49-F238E27FC236}">
                <a16:creationId xmlns:a16="http://schemas.microsoft.com/office/drawing/2014/main" id="{67AB5F8C-6466-45B4-B4F7-9440101C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46">
            <a:extLst xmlns:a="http://schemas.openxmlformats.org/drawingml/2006/main">
              <a:ext uri="{FF2B5EF4-FFF2-40B4-BE49-F238E27FC236}">
                <a16:creationId xmlns:a16="http://schemas.microsoft.com/office/drawing/2014/main" id="{ECE17A48-5392-49CE-BEED-B7641066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00–10</a:t>
            </a:r>
          </a:p>
        </p:txBody>
      </p:sp>
      <p:sp>
        <p:nvSpPr>
          <p:cNvPr id="9" name="text-47">
            <a:extLst xmlns:a="http://schemas.openxmlformats.org/drawingml/2006/main">
              <a:ext uri="{FF2B5EF4-FFF2-40B4-BE49-F238E27FC236}">
                <a16:creationId xmlns:a16="http://schemas.microsoft.com/office/drawing/2014/main" id="{CB23A9FB-00C0-4A01-913B-51F15EBA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定題</a:t>
            </a:r>
          </a:p>
        </p:txBody>
      </p:sp>
      <p:sp>
        <p:nvSpPr>
          <p:cNvPr id="10" name="text-48">
            <a:extLst xmlns:a="http://schemas.openxmlformats.org/drawingml/2006/main">
              <a:ext uri="{FF2B5EF4-FFF2-40B4-BE49-F238E27FC236}">
                <a16:creationId xmlns:a16="http://schemas.microsoft.com/office/drawing/2014/main" id="{7FC5FCCE-A613-48E1-8343-5C0F8C9E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選一門課／一個問題</a:t>
            </a:r>
          </a:p>
        </p:txBody>
      </p:sp>
      <p:sp>
        <p:nvSpPr>
          <p:cNvPr id="11" name="shape-49">
            <a:extLst xmlns:a="http://schemas.openxmlformats.org/drawingml/2006/main">
              <a:ext uri="{FF2B5EF4-FFF2-40B4-BE49-F238E27FC236}">
                <a16:creationId xmlns:a16="http://schemas.microsoft.com/office/drawing/2014/main" id="{75FDD08B-931E-4D15-B6B0-9517C188D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50">
            <a:extLst xmlns:a="http://schemas.openxmlformats.org/drawingml/2006/main">
              <a:ext uri="{FF2B5EF4-FFF2-40B4-BE49-F238E27FC236}">
                <a16:creationId xmlns:a16="http://schemas.microsoft.com/office/drawing/2014/main" id="{2300C7FC-D43B-47D8-97FC-1DF681BC4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10–25</a:t>
            </a:r>
          </a:p>
        </p:txBody>
      </p:sp>
      <p:sp>
        <p:nvSpPr>
          <p:cNvPr id="13" name="text-51">
            <a:extLst xmlns:a="http://schemas.openxmlformats.org/drawingml/2006/main">
              <a:ext uri="{FF2B5EF4-FFF2-40B4-BE49-F238E27FC236}">
                <a16:creationId xmlns:a16="http://schemas.microsoft.com/office/drawing/2014/main" id="{AC6AE1AA-9CE1-4095-B714-4231A653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sp>
        <p:nvSpPr>
          <p:cNvPr id="14" name="text-52">
            <a:extLst xmlns:a="http://schemas.openxmlformats.org/drawingml/2006/main">
              <a:ext uri="{FF2B5EF4-FFF2-40B4-BE49-F238E27FC236}">
                <a16:creationId xmlns:a16="http://schemas.microsoft.com/office/drawing/2014/main" id="{D15481E4-1673-43EC-B8AE-59DF2578E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語音輸入與整理</a:t>
            </a:r>
          </a:p>
        </p:txBody>
      </p:sp>
      <p:sp>
        <p:nvSpPr>
          <p:cNvPr id="15" name="shape-53">
            <a:extLst xmlns:a="http://schemas.openxmlformats.org/drawingml/2006/main">
              <a:ext uri="{FF2B5EF4-FFF2-40B4-BE49-F238E27FC236}">
                <a16:creationId xmlns:a16="http://schemas.microsoft.com/office/drawing/2014/main" id="{2005AB49-9B01-4893-A772-86D75407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54">
            <a:extLst xmlns:a="http://schemas.openxmlformats.org/drawingml/2006/main">
              <a:ext uri="{FF2B5EF4-FFF2-40B4-BE49-F238E27FC236}">
                <a16:creationId xmlns:a16="http://schemas.microsoft.com/office/drawing/2014/main" id="{F89F23EF-D13E-46EE-8908-8AFB5E635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25–65</a:t>
            </a:r>
          </a:p>
        </p:txBody>
      </p:sp>
      <p:sp>
        <p:nvSpPr>
          <p:cNvPr id="17" name="text-55">
            <a:extLst xmlns:a="http://schemas.openxmlformats.org/drawingml/2006/main">
              <a:ext uri="{FF2B5EF4-FFF2-40B4-BE49-F238E27FC236}">
                <a16:creationId xmlns:a16="http://schemas.microsoft.com/office/drawing/2014/main" id="{5DBD9551-2C3B-4330-8CDC-B6E60978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8" name="text-56">
            <a:extLst xmlns:a="http://schemas.openxmlformats.org/drawingml/2006/main">
              <a:ext uri="{FF2B5EF4-FFF2-40B4-BE49-F238E27FC236}">
                <a16:creationId xmlns:a16="http://schemas.microsoft.com/office/drawing/2014/main" id="{CC9FFB82-FB65-4F21-AFA4-8FB6825A6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來源與引用</a:t>
            </a:r>
          </a:p>
        </p:txBody>
      </p:sp>
      <p:sp>
        <p:nvSpPr>
          <p:cNvPr id="19" name="shape-57">
            <a:extLst xmlns:a="http://schemas.openxmlformats.org/drawingml/2006/main">
              <a:ext uri="{FF2B5EF4-FFF2-40B4-BE49-F238E27FC236}">
                <a16:creationId xmlns:a16="http://schemas.microsoft.com/office/drawing/2014/main" id="{6C7AF7FD-D745-4C6B-851C-7247B18C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8">
            <a:extLst xmlns:a="http://schemas.openxmlformats.org/drawingml/2006/main">
              <a:ext uri="{FF2B5EF4-FFF2-40B4-BE49-F238E27FC236}">
                <a16:creationId xmlns:a16="http://schemas.microsoft.com/office/drawing/2014/main" id="{77546F57-CF85-4768-A152-53018C45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65–90</a:t>
            </a:r>
          </a:p>
        </p:txBody>
      </p:sp>
      <p:sp>
        <p:nvSpPr>
          <p:cNvPr id="21" name="text-59">
            <a:extLst xmlns:a="http://schemas.openxmlformats.org/drawingml/2006/main">
              <a:ext uri="{FF2B5EF4-FFF2-40B4-BE49-F238E27FC236}">
                <a16:creationId xmlns:a16="http://schemas.microsoft.com/office/drawing/2014/main" id="{29DAD620-B74A-43A6-8FDF-5B722A2E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22" name="text-60">
            <a:extLst xmlns:a="http://schemas.openxmlformats.org/drawingml/2006/main">
              <a:ext uri="{FF2B5EF4-FFF2-40B4-BE49-F238E27FC236}">
                <a16:creationId xmlns:a16="http://schemas.microsoft.com/office/drawing/2014/main" id="{146AAD9B-BB3D-47FF-887E-47A8099EB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專屬助理</a:t>
            </a:r>
          </a:p>
        </p:txBody>
      </p:sp>
      <p:sp>
        <p:nvSpPr>
          <p:cNvPr id="23" name="shape-61">
            <a:extLst xmlns:a="http://schemas.openxmlformats.org/drawingml/2006/main">
              <a:ext uri="{FF2B5EF4-FFF2-40B4-BE49-F238E27FC236}">
                <a16:creationId xmlns:a16="http://schemas.microsoft.com/office/drawing/2014/main" id="{46CDDDC0-2BA3-4598-BD8C-5DE3F6DD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62">
            <a:extLst xmlns:a="http://schemas.openxmlformats.org/drawingml/2006/main">
              <a:ext uri="{FF2B5EF4-FFF2-40B4-BE49-F238E27FC236}">
                <a16:creationId xmlns:a16="http://schemas.microsoft.com/office/drawing/2014/main" id="{D1272BFB-9A45-4A07-97D9-539A8200E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90–100</a:t>
            </a:r>
          </a:p>
        </p:txBody>
      </p:sp>
      <p:sp>
        <p:nvSpPr>
          <p:cNvPr id="25" name="text-63">
            <a:extLst xmlns:a="http://schemas.openxmlformats.org/drawingml/2006/main">
              <a:ext uri="{FF2B5EF4-FFF2-40B4-BE49-F238E27FC236}">
                <a16:creationId xmlns:a16="http://schemas.microsoft.com/office/drawing/2014/main" id="{6722DFA0-92F7-4675-9667-AA13C2E66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6" name="text-64">
            <a:extLst xmlns:a="http://schemas.openxmlformats.org/drawingml/2006/main">
              <a:ext uri="{FF2B5EF4-FFF2-40B4-BE49-F238E27FC236}">
                <a16:creationId xmlns:a16="http://schemas.microsoft.com/office/drawing/2014/main" id="{1F911C77-09A0-48B2-95AB-070BE8FF6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帳號與檔案整理</a:t>
            </a:r>
          </a:p>
        </p:txBody>
      </p:sp>
      <p:sp>
        <p:nvSpPr>
          <p:cNvPr id="27" name="shape-65">
            <a:extLst xmlns:a="http://schemas.openxmlformats.org/drawingml/2006/main">
              <a:ext uri="{FF2B5EF4-FFF2-40B4-BE49-F238E27FC236}">
                <a16:creationId xmlns:a16="http://schemas.microsoft.com/office/drawing/2014/main" id="{275119EA-5243-4E04-B62D-E15C0A520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66">
            <a:extLst xmlns:a="http://schemas.openxmlformats.org/drawingml/2006/main">
              <a:ext uri="{FF2B5EF4-FFF2-40B4-BE49-F238E27FC236}">
                <a16:creationId xmlns:a16="http://schemas.microsoft.com/office/drawing/2014/main" id="{E314716D-3CF0-4E0D-855B-8500FC1D0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100–140</a:t>
            </a:r>
          </a:p>
        </p:txBody>
      </p:sp>
      <p:sp>
        <p:nvSpPr>
          <p:cNvPr id="29" name="text-67">
            <a:extLst xmlns:a="http://schemas.openxmlformats.org/drawingml/2006/main">
              <a:ext uri="{FF2B5EF4-FFF2-40B4-BE49-F238E27FC236}">
                <a16:creationId xmlns:a16="http://schemas.microsoft.com/office/drawing/2014/main" id="{22330AD5-0419-4A49-896C-061375EFC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30" name="text-68">
            <a:extLst xmlns:a="http://schemas.openxmlformats.org/drawingml/2006/main">
              <a:ext uri="{FF2B5EF4-FFF2-40B4-BE49-F238E27FC236}">
                <a16:creationId xmlns:a16="http://schemas.microsoft.com/office/drawing/2014/main" id="{ABC4AEE1-D4F5-43C9-BB86-92F7530F6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互動原型</a:t>
            </a:r>
          </a:p>
        </p:txBody>
      </p:sp>
      <p:sp>
        <p:nvSpPr>
          <p:cNvPr id="31" name="shape-69">
            <a:extLst xmlns:a="http://schemas.openxmlformats.org/drawingml/2006/main">
              <a:ext uri="{FF2B5EF4-FFF2-40B4-BE49-F238E27FC236}">
                <a16:creationId xmlns:a16="http://schemas.microsoft.com/office/drawing/2014/main" id="{0DAD01C1-FDD0-488A-8380-627B1A1C2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70">
            <a:extLst xmlns:a="http://schemas.openxmlformats.org/drawingml/2006/main">
              <a:ext uri="{FF2B5EF4-FFF2-40B4-BE49-F238E27FC236}">
                <a16:creationId xmlns:a16="http://schemas.microsoft.com/office/drawing/2014/main" id="{1633199B-0ABC-431A-9BCA-7BE5821EE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140–180</a:t>
            </a:r>
          </a:p>
        </p:txBody>
      </p:sp>
      <p:sp>
        <p:nvSpPr>
          <p:cNvPr id="33" name="text-71">
            <a:extLst xmlns:a="http://schemas.openxmlformats.org/drawingml/2006/main">
              <a:ext uri="{FF2B5EF4-FFF2-40B4-BE49-F238E27FC236}">
                <a16:creationId xmlns:a16="http://schemas.microsoft.com/office/drawing/2014/main" id="{BB59095C-9956-4E61-A090-5EBC4CD0B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部署分享</a:t>
            </a:r>
          </a:p>
        </p:txBody>
      </p:sp>
      <p:sp>
        <p:nvSpPr>
          <p:cNvPr id="34" name="text-72">
            <a:extLst xmlns:a="http://schemas.openxmlformats.org/drawingml/2006/main">
              <a:ext uri="{FF2B5EF4-FFF2-40B4-BE49-F238E27FC236}">
                <a16:creationId xmlns:a16="http://schemas.microsoft.com/office/drawing/2014/main" id="{424DC1DD-64B0-4D31-87E9-0C28E1EF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公開與回饋</a:t>
            </a:r>
          </a:p>
        </p:txBody>
      </p:sp>
    </p:spTree>
    <p:extLst>
      <p:ext uri="{BB962C8B-B14F-4D97-AF65-F5344CB8AC3E}">
        <p14:creationId xmlns:p14="http://schemas.microsoft.com/office/powerpoint/2010/main" val="11691074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73">
            <a:extLst xmlns:a="http://schemas.openxmlformats.org/drawingml/2006/main">
              <a:ext uri="{FF2B5EF4-FFF2-40B4-BE49-F238E27FC236}">
                <a16:creationId xmlns:a16="http://schemas.microsoft.com/office/drawing/2014/main" id="{52EF7BFD-ECE5-4476-B314-D245B3E2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A74AA6B-3BE5-4C3E-8E22-9B40D1ADC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今天離開教室前，你會有四項成果</a:t>
            </a:r>
          </a:p>
        </p:txBody>
      </p:sp>
      <p:cxnSp>
        <p:nvCxnSpPr>
          <p:cNvPr id="24" name="shape-7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5">
            <a:extLst xmlns:a="http://schemas.openxmlformats.org/drawingml/2006/main">
              <a:ext uri="{FF2B5EF4-FFF2-40B4-BE49-F238E27FC236}">
                <a16:creationId xmlns:a16="http://schemas.microsoft.com/office/drawing/2014/main" id="{6A7D0516-EEF3-4789-8FDF-B17B0BC5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1D577C6-225C-43AD-984D-B9D34C9F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76">
            <a:extLst xmlns:a="http://schemas.openxmlformats.org/drawingml/2006/main">
              <a:ext uri="{FF2B5EF4-FFF2-40B4-BE49-F238E27FC236}">
                <a16:creationId xmlns:a16="http://schemas.microsoft.com/office/drawing/2014/main" id="{625448EC-87A5-4023-AE2A-EF7E2B7B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77">
            <a:extLst xmlns:a="http://schemas.openxmlformats.org/drawingml/2006/main">
              <a:ext uri="{FF2B5EF4-FFF2-40B4-BE49-F238E27FC236}">
                <a16:creationId xmlns:a16="http://schemas.microsoft.com/office/drawing/2014/main" id="{75A0984F-43AE-417E-BDE2-2C17BBCD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78">
            <a:extLst xmlns:a="http://schemas.openxmlformats.org/drawingml/2006/main">
              <a:ext uri="{FF2B5EF4-FFF2-40B4-BE49-F238E27FC236}">
                <a16:creationId xmlns:a16="http://schemas.microsoft.com/office/drawing/2014/main" id="{B44C2947-7F98-422B-A008-F384C77DE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9" name="text-79">
            <a:extLst xmlns:a="http://schemas.openxmlformats.org/drawingml/2006/main">
              <a:ext uri="{FF2B5EF4-FFF2-40B4-BE49-F238E27FC236}">
                <a16:creationId xmlns:a16="http://schemas.microsoft.com/office/drawing/2014/main" id="{DA43E657-1368-49E8-8045-15E0B8D34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 3 份教學或研究來源、3 個有引用的問題、1 個可用輸出。</a:t>
            </a:r>
          </a:p>
        </p:txBody>
      </p:sp>
      <p:sp>
        <p:nvSpPr>
          <p:cNvPr id="10" name="shape-80">
            <a:extLst xmlns:a="http://schemas.openxmlformats.org/drawingml/2006/main">
              <a:ext uri="{FF2B5EF4-FFF2-40B4-BE49-F238E27FC236}">
                <a16:creationId xmlns:a16="http://schemas.microsoft.com/office/drawing/2014/main" id="{AD377CB8-FD90-463B-83F6-CD46DB2A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81">
            <a:extLst xmlns:a="http://schemas.openxmlformats.org/drawingml/2006/main">
              <a:ext uri="{FF2B5EF4-FFF2-40B4-BE49-F238E27FC236}">
                <a16:creationId xmlns:a16="http://schemas.microsoft.com/office/drawing/2014/main" id="{ED00036B-3DC2-451A-96D9-97403924D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82">
            <a:extLst xmlns:a="http://schemas.openxmlformats.org/drawingml/2006/main">
              <a:ext uri="{FF2B5EF4-FFF2-40B4-BE49-F238E27FC236}">
                <a16:creationId xmlns:a16="http://schemas.microsoft.com/office/drawing/2014/main" id="{25720B4F-8A83-475F-853E-0833F3E0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3" name="text-83">
            <a:extLst xmlns:a="http://schemas.openxmlformats.org/drawingml/2006/main">
              <a:ext uri="{FF2B5EF4-FFF2-40B4-BE49-F238E27FC236}">
                <a16:creationId xmlns:a16="http://schemas.microsoft.com/office/drawing/2014/main" id="{044A51FE-E61B-4F96-900D-ED1864BF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明確角色、任務、背景與格式，並完成反例測試。</a:t>
            </a:r>
          </a:p>
        </p:txBody>
      </p:sp>
      <p:sp>
        <p:nvSpPr>
          <p:cNvPr id="14" name="shape-84">
            <a:extLst xmlns:a="http://schemas.openxmlformats.org/drawingml/2006/main">
              <a:ext uri="{FF2B5EF4-FFF2-40B4-BE49-F238E27FC236}">
                <a16:creationId xmlns:a16="http://schemas.microsoft.com/office/drawing/2014/main" id="{5BD56A6C-2833-458A-B29F-6DB2E513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85">
            <a:extLst xmlns:a="http://schemas.openxmlformats.org/drawingml/2006/main">
              <a:ext uri="{FF2B5EF4-FFF2-40B4-BE49-F238E27FC236}">
                <a16:creationId xmlns:a16="http://schemas.microsoft.com/office/drawing/2014/main" id="{7AD1E87A-D7F4-42F8-B544-1030537D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86">
            <a:extLst xmlns:a="http://schemas.openxmlformats.org/drawingml/2006/main">
              <a:ext uri="{FF2B5EF4-FFF2-40B4-BE49-F238E27FC236}">
                <a16:creationId xmlns:a16="http://schemas.microsoft.com/office/drawing/2014/main" id="{3F1962E8-A3E8-4561-8217-3232E033B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</a:t>
            </a:r>
          </a:p>
        </p:txBody>
      </p:sp>
      <p:sp>
        <p:nvSpPr>
          <p:cNvPr id="17" name="text-87">
            <a:extLst xmlns:a="http://schemas.openxmlformats.org/drawingml/2006/main">
              <a:ext uri="{FF2B5EF4-FFF2-40B4-BE49-F238E27FC236}">
                <a16:creationId xmlns:a16="http://schemas.microsoft.com/office/drawing/2014/main" id="{A9BB81EF-65C9-48A6-A9B4-7FAB531E2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一個可操作的課程活動、評量或學習支架。</a:t>
            </a:r>
          </a:p>
        </p:txBody>
      </p:sp>
      <p:sp>
        <p:nvSpPr>
          <p:cNvPr id="18" name="shape-88">
            <a:extLst xmlns:a="http://schemas.openxmlformats.org/drawingml/2006/main">
              <a:ext uri="{FF2B5EF4-FFF2-40B4-BE49-F238E27FC236}">
                <a16:creationId xmlns:a16="http://schemas.microsoft.com/office/drawing/2014/main" id="{3E206C7D-37C2-4431-8377-E5AE69C37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89">
            <a:extLst xmlns:a="http://schemas.openxmlformats.org/drawingml/2006/main">
              <a:ext uri="{FF2B5EF4-FFF2-40B4-BE49-F238E27FC236}">
                <a16:creationId xmlns:a16="http://schemas.microsoft.com/office/drawing/2014/main" id="{931DC389-8018-447F-A4DC-0C83018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0">
            <a:extLst xmlns:a="http://schemas.openxmlformats.org/drawingml/2006/main">
              <a:ext uri="{FF2B5EF4-FFF2-40B4-BE49-F238E27FC236}">
                <a16:creationId xmlns:a16="http://schemas.microsoft.com/office/drawing/2014/main" id="{EC16E910-44E8-4D5B-BC04-F3EBD6F4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分享方式</a:t>
            </a:r>
          </a:p>
        </p:txBody>
      </p:sp>
      <p:sp>
        <p:nvSpPr>
          <p:cNvPr id="21" name="text-91">
            <a:extLst xmlns:a="http://schemas.openxmlformats.org/drawingml/2006/main">
              <a:ext uri="{FF2B5EF4-FFF2-40B4-BE49-F238E27FC236}">
                <a16:creationId xmlns:a16="http://schemas.microsoft.com/office/drawing/2014/main" id="{B551B101-8026-4633-9F43-4D3419B9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完成分享連結、Google Sites 嵌入，或 GitHub Pages 部署計畫。</a:t>
            </a:r>
          </a:p>
        </p:txBody>
      </p:sp>
    </p:spTree>
    <p:extLst>
      <p:ext uri="{BB962C8B-B14F-4D97-AF65-F5344CB8AC3E}">
        <p14:creationId xmlns:p14="http://schemas.microsoft.com/office/powerpoint/2010/main" val="291418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92">
            <a:extLst xmlns:a="http://schemas.openxmlformats.org/drawingml/2006/main">
              <a:ext uri="{FF2B5EF4-FFF2-40B4-BE49-F238E27FC236}">
                <a16:creationId xmlns:a16="http://schemas.microsoft.com/office/drawing/2014/main" id="{38A0D9CB-6CD5-4866-BB41-9F83EC150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ACCESS &amp; PAIRING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9724086-FAB3-4BB5-9C46-E5FB67AF6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共作規則：沒有相同帳號，也能一起完成</a:t>
            </a:r>
          </a:p>
        </p:txBody>
      </p:sp>
      <p:cxnSp>
        <p:nvCxnSpPr>
          <p:cNvPr id="20" name="shape-9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94">
            <a:extLst xmlns:a="http://schemas.openxmlformats.org/drawingml/2006/main">
              <a:ext uri="{FF2B5EF4-FFF2-40B4-BE49-F238E27FC236}">
                <a16:creationId xmlns:a16="http://schemas.microsoft.com/office/drawing/2014/main" id="{25B61DA7-00FA-4FBB-B701-5924B8F96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CE989C6-4B3B-4116-8C00-004FF3C4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95">
            <a:extLst xmlns:a="http://schemas.openxmlformats.org/drawingml/2006/main">
              <a:ext uri="{FF2B5EF4-FFF2-40B4-BE49-F238E27FC236}">
                <a16:creationId xmlns:a16="http://schemas.microsoft.com/office/drawing/2014/main" id="{5211BA85-5448-4DA3-BC31-CFF01690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96">
            <a:extLst xmlns:a="http://schemas.openxmlformats.org/drawingml/2006/main">
              <a:ext uri="{FF2B5EF4-FFF2-40B4-BE49-F238E27FC236}">
                <a16:creationId xmlns:a16="http://schemas.microsoft.com/office/drawing/2014/main" id="{82C6063A-61AA-4A8D-944C-B166165CF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97">
            <a:extLst xmlns:a="http://schemas.openxmlformats.org/drawingml/2006/main">
              <a:ext uri="{FF2B5EF4-FFF2-40B4-BE49-F238E27FC236}">
                <a16:creationId xmlns:a16="http://schemas.microsoft.com/office/drawing/2014/main" id="{26EE7D18-744F-487B-871C-D05814545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主操作手</a:t>
            </a:r>
          </a:p>
        </p:txBody>
      </p:sp>
      <p:sp>
        <p:nvSpPr>
          <p:cNvPr id="9" name="text-98">
            <a:extLst xmlns:a="http://schemas.openxmlformats.org/drawingml/2006/main">
              <a:ext uri="{FF2B5EF4-FFF2-40B4-BE49-F238E27FC236}">
                <a16:creationId xmlns:a16="http://schemas.microsoft.com/office/drawing/2014/main" id="{F1DF9098-2CD0-49DA-A07C-73149CA5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登入有權限的工具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負責建立、儲存與分享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口述每一步決策</a:t>
            </a:r>
          </a:p>
        </p:txBody>
      </p:sp>
      <p:sp>
        <p:nvSpPr>
          <p:cNvPr id="10" name="text-99">
            <a:extLst xmlns:a="http://schemas.openxmlformats.org/drawingml/2006/main">
              <a:ext uri="{FF2B5EF4-FFF2-40B4-BE49-F238E27FC236}">
                <a16:creationId xmlns:a16="http://schemas.microsoft.com/office/drawing/2014/main" id="{1C91D094-55B9-46AD-BB19-62609A8A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測試與教學觀察員</a:t>
            </a:r>
          </a:p>
        </p:txBody>
      </p:sp>
      <p:sp>
        <p:nvSpPr>
          <p:cNvPr id="11" name="text-100">
            <a:extLst xmlns:a="http://schemas.openxmlformats.org/drawingml/2006/main">
              <a:ext uri="{FF2B5EF4-FFF2-40B4-BE49-F238E27FC236}">
                <a16:creationId xmlns:a16="http://schemas.microsoft.com/office/drawing/2014/main" id="{A170EC90-F817-44D0-8A2C-212BDC8F7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扮演學生或同儕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提出反例與追問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記錄可教、可用、需改善之處</a:t>
            </a:r>
          </a:p>
        </p:txBody>
      </p:sp>
      <p:sp>
        <p:nvSpPr>
          <p:cNvPr id="12" name="text-101">
            <a:extLst xmlns:a="http://schemas.openxmlformats.org/drawingml/2006/main">
              <a:ext uri="{FF2B5EF4-FFF2-40B4-BE49-F238E27FC236}">
                <a16:creationId xmlns:a16="http://schemas.microsoft.com/office/drawing/2014/main" id="{4DE04922-D993-42FA-9F3D-E890E01C7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登入與建立</a:t>
            </a:r>
          </a:p>
        </p:txBody>
      </p:sp>
      <p:sp>
        <p:nvSpPr>
          <p:cNvPr id="13" name="text-102">
            <a:extLst xmlns:a="http://schemas.openxmlformats.org/drawingml/2006/main">
              <a:ext uri="{FF2B5EF4-FFF2-40B4-BE49-F238E27FC236}">
                <a16:creationId xmlns:a16="http://schemas.microsoft.com/office/drawing/2014/main" id="{F07C81EA-E171-4E6F-9909-5468DABAD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93395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共同工作區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成果與檢核</a:t>
            </a:r>
          </a:p>
        </p:txBody>
      </p:sp>
      <p:sp>
        <p:nvSpPr>
          <p:cNvPr id="14" name="text-103">
            <a:extLst xmlns:a="http://schemas.openxmlformats.org/drawingml/2006/main">
              <a:ext uri="{FF2B5EF4-FFF2-40B4-BE49-F238E27FC236}">
                <a16:creationId xmlns:a16="http://schemas.microsoft.com/office/drawing/2014/main" id="{9C102519-F71F-4E79-BC7C-E6371E22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觀察員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測試與提問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438400" y="5210175"/>
            <a:ext cx="2876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91350" y="5210175"/>
            <a:ext cx="2705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104">
            <a:extLst xmlns:a="http://schemas.openxmlformats.org/drawingml/2006/main">
              <a:ext uri="{FF2B5EF4-FFF2-40B4-BE49-F238E27FC236}">
                <a16:creationId xmlns:a16="http://schemas.microsoft.com/office/drawing/2014/main" id="{04FFC2C0-A997-407A-B569-D730352E8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1975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一人操作、一人驗證；成果放在同一個工作區</a:t>
            </a:r>
          </a:p>
        </p:txBody>
      </p:sp>
    </p:spTree>
    <p:extLst>
      <p:ext uri="{BB962C8B-B14F-4D97-AF65-F5344CB8AC3E}">
        <p14:creationId xmlns:p14="http://schemas.microsoft.com/office/powerpoint/2010/main" val="5863958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05">
            <a:extLst xmlns:a="http://schemas.openxmlformats.org/drawingml/2006/main">
              <a:ext uri="{FF2B5EF4-FFF2-40B4-BE49-F238E27FC236}">
                <a16:creationId xmlns:a16="http://schemas.microsoft.com/office/drawing/2014/main" id="{A79F2B75-D34F-42AB-B328-6651BA9D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START WITH A PAIN POINT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6E671B3-E4AC-4950-ADD1-674FB5DA3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先從真實教學／研究痛點出發</a:t>
            </a:r>
          </a:p>
        </p:txBody>
      </p:sp>
      <p:cxnSp>
        <p:nvCxnSpPr>
          <p:cNvPr id="24" name="shape-10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07">
            <a:extLst xmlns:a="http://schemas.openxmlformats.org/drawingml/2006/main">
              <a:ext uri="{FF2B5EF4-FFF2-40B4-BE49-F238E27FC236}">
                <a16:creationId xmlns:a16="http://schemas.microsoft.com/office/drawing/2014/main" id="{47512688-3175-4A27-841E-8F8044C8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E06CB3B-F5A1-418B-ABF3-048286F3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108">
            <a:extLst xmlns:a="http://schemas.openxmlformats.org/drawingml/2006/main">
              <a:ext uri="{FF2B5EF4-FFF2-40B4-BE49-F238E27FC236}">
                <a16:creationId xmlns:a16="http://schemas.microsoft.com/office/drawing/2014/main" id="{9E4F88FF-DA68-4328-946D-DBF6BC85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109">
            <a:extLst xmlns:a="http://schemas.openxmlformats.org/drawingml/2006/main">
              <a:ext uri="{FF2B5EF4-FFF2-40B4-BE49-F238E27FC236}">
                <a16:creationId xmlns:a16="http://schemas.microsoft.com/office/drawing/2014/main" id="{52D0FD12-0090-462F-A6D9-D1C3FA4D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110">
            <a:extLst xmlns:a="http://schemas.openxmlformats.org/drawingml/2006/main">
              <a:ext uri="{FF2B5EF4-FFF2-40B4-BE49-F238E27FC236}">
                <a16:creationId xmlns:a16="http://schemas.microsoft.com/office/drawing/2014/main" id="{D976ABC1-F4A9-48F3-A620-55F6CB218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內容理解痛點</a:t>
            </a:r>
          </a:p>
        </p:txBody>
      </p:sp>
      <p:sp>
        <p:nvSpPr>
          <p:cNvPr id="9" name="text-111">
            <a:extLst xmlns:a="http://schemas.openxmlformats.org/drawingml/2006/main">
              <a:ext uri="{FF2B5EF4-FFF2-40B4-BE49-F238E27FC236}">
                <a16:creationId xmlns:a16="http://schemas.microsoft.com/office/drawing/2014/main" id="{F8720115-69F6-4E59-B4DE-FC4FAF708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學生抓不到核心概念，研究者也難快速梳理多份來源。</a:t>
            </a:r>
          </a:p>
        </p:txBody>
      </p:sp>
      <p:sp>
        <p:nvSpPr>
          <p:cNvPr id="10" name="shape-112">
            <a:extLst xmlns:a="http://schemas.openxmlformats.org/drawingml/2006/main">
              <a:ext uri="{FF2B5EF4-FFF2-40B4-BE49-F238E27FC236}">
                <a16:creationId xmlns:a16="http://schemas.microsoft.com/office/drawing/2014/main" id="{47BC626C-8746-40C3-8D7D-249DF0A9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13">
            <a:extLst xmlns:a="http://schemas.openxmlformats.org/drawingml/2006/main">
              <a:ext uri="{FF2B5EF4-FFF2-40B4-BE49-F238E27FC236}">
                <a16:creationId xmlns:a16="http://schemas.microsoft.com/office/drawing/2014/main" id="{D7887F51-A818-4CBB-93C5-9547577FF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114">
            <a:extLst xmlns:a="http://schemas.openxmlformats.org/drawingml/2006/main">
              <a:ext uri="{FF2B5EF4-FFF2-40B4-BE49-F238E27FC236}">
                <a16:creationId xmlns:a16="http://schemas.microsoft.com/office/drawing/2014/main" id="{928AB441-0812-488D-8A09-7A7E2BC9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資料分析痛點</a:t>
            </a:r>
          </a:p>
        </p:txBody>
      </p:sp>
      <p:sp>
        <p:nvSpPr>
          <p:cNvPr id="13" name="text-115">
            <a:extLst xmlns:a="http://schemas.openxmlformats.org/drawingml/2006/main">
              <a:ext uri="{FF2B5EF4-FFF2-40B4-BE49-F238E27FC236}">
                <a16:creationId xmlns:a16="http://schemas.microsoft.com/office/drawing/2014/main" id="{3B3D39A5-E645-4D17-BCD8-A0DCF2CA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大量選擇題與簡答題需要整理、編碼、比對與人工複核。</a:t>
            </a:r>
          </a:p>
        </p:txBody>
      </p:sp>
      <p:sp>
        <p:nvSpPr>
          <p:cNvPr id="14" name="shape-116">
            <a:extLst xmlns:a="http://schemas.openxmlformats.org/drawingml/2006/main">
              <a:ext uri="{FF2B5EF4-FFF2-40B4-BE49-F238E27FC236}">
                <a16:creationId xmlns:a16="http://schemas.microsoft.com/office/drawing/2014/main" id="{4647DA92-7CFE-47DC-BBBB-DDA98438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117">
            <a:extLst xmlns:a="http://schemas.openxmlformats.org/drawingml/2006/main">
              <a:ext uri="{FF2B5EF4-FFF2-40B4-BE49-F238E27FC236}">
                <a16:creationId xmlns:a16="http://schemas.microsoft.com/office/drawing/2014/main" id="{15F3AC35-50DA-4223-AC6A-E93AADE7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118">
            <a:extLst xmlns:a="http://schemas.openxmlformats.org/drawingml/2006/main">
              <a:ext uri="{FF2B5EF4-FFF2-40B4-BE49-F238E27FC236}">
                <a16:creationId xmlns:a16="http://schemas.microsoft.com/office/drawing/2014/main" id="{C65E2752-D977-46DA-AD01-4ECD104B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互動設計痛點</a:t>
            </a:r>
          </a:p>
        </p:txBody>
      </p:sp>
      <p:sp>
        <p:nvSpPr>
          <p:cNvPr id="17" name="text-119">
            <a:extLst xmlns:a="http://schemas.openxmlformats.org/drawingml/2006/main">
              <a:ext uri="{FF2B5EF4-FFF2-40B4-BE49-F238E27FC236}">
                <a16:creationId xmlns:a16="http://schemas.microsoft.com/office/drawing/2014/main" id="{1F3C5249-7D7E-4FC5-913A-550B4CFC8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希望把講述內容轉成可操作、可探索的互動任務。</a:t>
            </a:r>
          </a:p>
        </p:txBody>
      </p:sp>
      <p:sp>
        <p:nvSpPr>
          <p:cNvPr id="18" name="shape-120">
            <a:extLst xmlns:a="http://schemas.openxmlformats.org/drawingml/2006/main">
              <a:ext uri="{FF2B5EF4-FFF2-40B4-BE49-F238E27FC236}">
                <a16:creationId xmlns:a16="http://schemas.microsoft.com/office/drawing/2014/main" id="{AF61548C-41DB-407C-BCEB-412BDAD8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21">
            <a:extLst xmlns:a="http://schemas.openxmlformats.org/drawingml/2006/main">
              <a:ext uri="{FF2B5EF4-FFF2-40B4-BE49-F238E27FC236}">
                <a16:creationId xmlns:a16="http://schemas.microsoft.com/office/drawing/2014/main" id="{05E8913F-4605-4822-AEF4-4B58011E4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</a:t>
            </a:r>
          </a:p>
        </p:txBody>
      </p:sp>
      <p:sp>
        <p:nvSpPr>
          <p:cNvPr id="20" name="text-122">
            <a:extLst xmlns:a="http://schemas.openxmlformats.org/drawingml/2006/main">
              <a:ext uri="{FF2B5EF4-FFF2-40B4-BE49-F238E27FC236}">
                <a16:creationId xmlns:a16="http://schemas.microsoft.com/office/drawing/2014/main" id="{F532ED86-07C7-4FF7-A9F4-A2CF1A8F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研究／行政痛點</a:t>
            </a:r>
          </a:p>
        </p:txBody>
      </p:sp>
      <p:sp>
        <p:nvSpPr>
          <p:cNvPr id="21" name="text-123">
            <a:extLst xmlns:a="http://schemas.openxmlformats.org/drawingml/2006/main">
              <a:ext uri="{FF2B5EF4-FFF2-40B4-BE49-F238E27FC236}">
                <a16:creationId xmlns:a16="http://schemas.microsoft.com/office/drawing/2014/main" id="{C762AB1F-89BF-4CA8-A9B6-0466D08B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想把文獻、資料、方法與行政流程整理成可持續更新的工作區。</a:t>
            </a:r>
          </a:p>
        </p:txBody>
      </p:sp>
    </p:spTree>
    <p:extLst>
      <p:ext uri="{BB962C8B-B14F-4D97-AF65-F5344CB8AC3E}">
        <p14:creationId xmlns:p14="http://schemas.microsoft.com/office/powerpoint/2010/main" val="19596412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24">
            <a:extLst xmlns:a="http://schemas.openxmlformats.org/drawingml/2006/main">
              <a:ext uri="{FF2B5EF4-FFF2-40B4-BE49-F238E27FC236}">
                <a16:creationId xmlns:a16="http://schemas.microsoft.com/office/drawing/2014/main" id="{3E277A49-5CA8-4D19-A612-81977C8C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REAL EXAMPLES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56D6842-E591-4B64-ACBB-FF54B00A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123 個案例，不是作品櫃：是教學與研究需求資料庫</a:t>
            </a:r>
          </a:p>
        </p:txBody>
      </p:sp>
      <p:cxnSp>
        <p:nvCxnSpPr>
          <p:cNvPr id="15" name="shape-12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26">
            <a:extLst xmlns:a="http://schemas.openxmlformats.org/drawingml/2006/main">
              <a:ext uri="{FF2B5EF4-FFF2-40B4-BE49-F238E27FC236}">
                <a16:creationId xmlns:a16="http://schemas.microsoft.com/office/drawing/2014/main" id="{D3495404-F4B0-4FCF-8916-565D3812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02D8594-5169-4207-B76E-27A30B3A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928336c0e54388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27">
            <a:extLst xmlns:a="http://schemas.openxmlformats.org/drawingml/2006/main">
              <a:ext uri="{FF2B5EF4-FFF2-40B4-BE49-F238E27FC236}">
                <a16:creationId xmlns:a16="http://schemas.microsoft.com/office/drawing/2014/main" id="{54742510-8B00-4F44-A2DC-EF558DD04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阿凱老師的教育科技創新專區</a:t>
            </a:r>
          </a:p>
        </p:txBody>
      </p:sp>
      <p:sp>
        <p:nvSpPr>
          <p:cNvPr id="8" name="text-128">
            <a:extLst xmlns:a="http://schemas.openxmlformats.org/drawingml/2006/main">
              <a:ext uri="{FF2B5EF4-FFF2-40B4-BE49-F238E27FC236}">
                <a16:creationId xmlns:a16="http://schemas.microsoft.com/office/drawing/2014/main" id="{9EFBB79E-E178-4F2B-8660-395FF9C65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123 個老師做的免費工具卡片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從課堂互動、評語優化到行政自動化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每張卡片與部落格都可作為提示詞、介面與部署案例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網址：cagoooo.github.io/Akai/</a:t>
            </a:r>
          </a:p>
        </p:txBody>
      </p:sp>
      <p:sp>
        <p:nvSpPr>
          <p:cNvPr id="9" name="text-735">
            <a:extLst xmlns:a="http://schemas.openxmlformats.org/drawingml/2006/main">
              <a:ext uri="{FF2B5EF4-FFF2-40B4-BE49-F238E27FC236}">
                <a16:creationId xmlns:a16="http://schemas.microsoft.com/office/drawing/2014/main" id="{F60EFF10-7F8E-44C8-AA2A-151B68685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214bf9b05704e11"/>
              </a:rPr>
              <a:t>開啟教育科技創新專區 ↗</a:t>
            </a:r>
          </a:p>
        </p:txBody>
      </p:sp>
      <p:sp>
        <p:nvSpPr>
          <p:cNvPr id="10" name="shape-767">
            <a:extLst xmlns:a="http://schemas.openxmlformats.org/drawingml/2006/main">
              <a:ext uri="{FF2B5EF4-FFF2-40B4-BE49-F238E27FC236}">
                <a16:creationId xmlns:a16="http://schemas.microsoft.com/office/drawing/2014/main" id="{117C2A29-D477-474B-815C-6DB6FA45F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bf5983d701433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768">
            <a:extLst xmlns:a="http://schemas.openxmlformats.org/drawingml/2006/main">
              <a:ext uri="{FF2B5EF4-FFF2-40B4-BE49-F238E27FC236}">
                <a16:creationId xmlns:a16="http://schemas.microsoft.com/office/drawing/2014/main" id="{B9AC597D-056B-4CC0-B193-AF6A4B4A6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</p:spTree>
    <p:extLst>
      <p:ext uri="{BB962C8B-B14F-4D97-AF65-F5344CB8AC3E}">
        <p14:creationId xmlns:p14="http://schemas.microsoft.com/office/powerpoint/2010/main" val="172458864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29">
            <a:extLst xmlns:a="http://schemas.openxmlformats.org/drawingml/2006/main">
              <a:ext uri="{FF2B5EF4-FFF2-40B4-BE49-F238E27FC236}">
                <a16:creationId xmlns:a16="http://schemas.microsoft.com/office/drawing/2014/main" id="{FA0EC32C-BE5A-4166-B2C3-359922B4E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4AC0DE7-93AC-4C58-9E8C-02E744841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阿凱老師實戰案例導航｜語文、設計、互動</a:t>
            </a:r>
          </a:p>
        </p:txBody>
      </p:sp>
      <p:cxnSp>
        <p:nvCxnSpPr>
          <p:cNvPr id="33" name="shape-13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31">
            <a:extLst xmlns:a="http://schemas.openxmlformats.org/drawingml/2006/main">
              <a:ext uri="{FF2B5EF4-FFF2-40B4-BE49-F238E27FC236}">
                <a16:creationId xmlns:a16="http://schemas.microsoft.com/office/drawing/2014/main" id="{557D2339-4B7A-47E7-8CAB-94EDD978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A5F5E11-5FF9-4D34-B97B-9C816C43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text-132">
            <a:extLst xmlns:a="http://schemas.openxmlformats.org/drawingml/2006/main">
              <a:ext uri="{FF2B5EF4-FFF2-40B4-BE49-F238E27FC236}">
                <a16:creationId xmlns:a16="http://schemas.microsoft.com/office/drawing/2014/main" id="{849D1095-D6BE-4BA2-B038-5F4455C39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先讀工具卡片理解設計脈絡，再直接開啟應用觀察輸入、輸出與操作流程。</a:t>
            </a:r>
          </a:p>
        </p:txBody>
      </p:sp>
      <p:sp>
        <p:nvSpPr>
          <p:cNvPr id="7" name="shape-133">
            <a:extLst xmlns:a="http://schemas.openxmlformats.org/drawingml/2006/main">
              <a:ext uri="{FF2B5EF4-FFF2-40B4-BE49-F238E27FC236}">
                <a16:creationId xmlns:a16="http://schemas.microsoft.com/office/drawing/2014/main" id="{3B146052-CF58-4612-8A6B-FC1075E88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34">
            <a:extLst xmlns:a="http://schemas.openxmlformats.org/drawingml/2006/main">
              <a:ext uri="{FF2B5EF4-FFF2-40B4-BE49-F238E27FC236}">
                <a16:creationId xmlns:a16="http://schemas.microsoft.com/office/drawing/2014/main" id="{8DA6E02A-68BE-434B-BA80-0C77829A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#91 · 語文創作</a:t>
            </a:r>
          </a:p>
        </p:txBody>
      </p:sp>
      <p:sp>
        <p:nvSpPr>
          <p:cNvPr id="9" name="text-135">
            <a:extLst xmlns:a="http://schemas.openxmlformats.org/drawingml/2006/main">
              <a:ext uri="{FF2B5EF4-FFF2-40B4-BE49-F238E27FC236}">
                <a16:creationId xmlns:a16="http://schemas.microsoft.com/office/drawing/2014/main" id="{464EE7D8-D0D7-450E-8446-B5D54E52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✨ 點亮詩意 Pro ✨早安長輩圖</a:t>
            </a:r>
          </a:p>
        </p:txBody>
      </p:sp>
      <p:sp>
        <p:nvSpPr>
          <p:cNvPr id="10" name="text-136">
            <a:extLst xmlns:a="http://schemas.openxmlformats.org/drawingml/2006/main">
              <a:ext uri="{FF2B5EF4-FFF2-40B4-BE49-F238E27FC236}">
                <a16:creationId xmlns:a16="http://schemas.microsoft.com/office/drawing/2014/main" id="{B330397A-93A3-41C5-BB4B-627245582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上傳照片產出繁體詩詞與圖文作品，適合看圖寫詩、意境討論與數位創作。</a:t>
            </a:r>
          </a:p>
        </p:txBody>
      </p:sp>
      <p:sp>
        <p:nvSpPr>
          <p:cNvPr id="11" name="text-137">
            <a:extLst xmlns:a="http://schemas.openxmlformats.org/drawingml/2006/main">
              <a:ext uri="{FF2B5EF4-FFF2-40B4-BE49-F238E27FC236}">
                <a16:creationId xmlns:a16="http://schemas.microsoft.com/office/drawing/2014/main" id="{7472F188-1D98-458A-8420-E5C9DAB46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591889395e6462a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73eb0a257745fb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38">
            <a:extLst xmlns:a="http://schemas.openxmlformats.org/drawingml/2006/main">
              <a:ext uri="{FF2B5EF4-FFF2-40B4-BE49-F238E27FC236}">
                <a16:creationId xmlns:a16="http://schemas.microsoft.com/office/drawing/2014/main" id="{D37627A2-5546-4917-8423-0A85C178E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153b1015cde4946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27999305ec4fea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39">
            <a:extLst xmlns:a="http://schemas.openxmlformats.org/drawingml/2006/main">
              <a:ext uri="{FF2B5EF4-FFF2-40B4-BE49-F238E27FC236}">
                <a16:creationId xmlns:a16="http://schemas.microsoft.com/office/drawing/2014/main" id="{C6B5C9C4-A19B-4B04-A452-ECE65850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140">
            <a:extLst xmlns:a="http://schemas.openxmlformats.org/drawingml/2006/main">
              <a:ext uri="{FF2B5EF4-FFF2-40B4-BE49-F238E27FC236}">
                <a16:creationId xmlns:a16="http://schemas.microsoft.com/office/drawing/2014/main" id="{4A0EFA93-CEB0-44FB-839A-6460B374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#58 · 教學設計</a:t>
            </a:r>
          </a:p>
        </p:txBody>
      </p:sp>
      <p:sp>
        <p:nvSpPr>
          <p:cNvPr id="17" name="text-141">
            <a:extLst xmlns:a="http://schemas.openxmlformats.org/drawingml/2006/main">
              <a:ext uri="{FF2B5EF4-FFF2-40B4-BE49-F238E27FC236}">
                <a16:creationId xmlns:a16="http://schemas.microsoft.com/office/drawing/2014/main" id="{9FB454EE-C476-43D2-9520-02D350B5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教師數位備課教案小幫手</a:t>
            </a:r>
          </a:p>
        </p:txBody>
      </p:sp>
      <p:sp>
        <p:nvSpPr>
          <p:cNvPr id="18" name="text-142">
            <a:extLst xmlns:a="http://schemas.openxmlformats.org/drawingml/2006/main">
              <a:ext uri="{FF2B5EF4-FFF2-40B4-BE49-F238E27FC236}">
                <a16:creationId xmlns:a16="http://schemas.microsoft.com/office/drawing/2014/main" id="{3ACC54BC-7411-49AC-B2E1-834F0A661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AI 產出教案與活動設計，示範從教學需求走到可使用的成果。</a:t>
            </a:r>
          </a:p>
        </p:txBody>
      </p:sp>
      <p:sp>
        <p:nvSpPr>
          <p:cNvPr id="19" name="text-143">
            <a:extLst xmlns:a="http://schemas.openxmlformats.org/drawingml/2006/main">
              <a:ext uri="{FF2B5EF4-FFF2-40B4-BE49-F238E27FC236}">
                <a16:creationId xmlns:a16="http://schemas.microsoft.com/office/drawing/2014/main" id="{76B287E7-34E8-4804-BB36-9494D16B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b0f55ef45fd45e6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ced5610354316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44">
            <a:extLst xmlns:a="http://schemas.openxmlformats.org/drawingml/2006/main">
              <a:ext uri="{FF2B5EF4-FFF2-40B4-BE49-F238E27FC236}">
                <a16:creationId xmlns:a16="http://schemas.microsoft.com/office/drawing/2014/main" id="{A0102357-5AFA-4539-A22A-3F634883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9a5b54fb48240dc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e8f20995b04fa9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45">
            <a:extLst xmlns:a="http://schemas.openxmlformats.org/drawingml/2006/main">
              <a:ext uri="{FF2B5EF4-FFF2-40B4-BE49-F238E27FC236}">
                <a16:creationId xmlns:a16="http://schemas.microsoft.com/office/drawing/2014/main" id="{6CFDD174-01C0-41A4-A598-9EF1F999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146">
            <a:extLst xmlns:a="http://schemas.openxmlformats.org/drawingml/2006/main">
              <a:ext uri="{FF2B5EF4-FFF2-40B4-BE49-F238E27FC236}">
                <a16:creationId xmlns:a16="http://schemas.microsoft.com/office/drawing/2014/main" id="{46721CE2-11FA-4868-868C-B6C789090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#11 · 互動網站</a:t>
            </a:r>
          </a:p>
        </p:txBody>
      </p:sp>
      <p:sp>
        <p:nvSpPr>
          <p:cNvPr id="25" name="text-147">
            <a:extLst xmlns:a="http://schemas.openxmlformats.org/drawingml/2006/main">
              <a:ext uri="{FF2B5EF4-FFF2-40B4-BE49-F238E27FC236}">
                <a16:creationId xmlns:a16="http://schemas.microsoft.com/office/drawing/2014/main" id="{3FC6E900-05CD-4975-8EF5-A471360DB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剛好學：課堂互動 so easy</a:t>
            </a:r>
          </a:p>
        </p:txBody>
      </p:sp>
      <p:sp>
        <p:nvSpPr>
          <p:cNvPr id="26" name="text-148">
            <a:extLst xmlns:a="http://schemas.openxmlformats.org/drawingml/2006/main">
              <a:ext uri="{FF2B5EF4-FFF2-40B4-BE49-F238E27FC236}">
                <a16:creationId xmlns:a16="http://schemas.microsoft.com/office/drawing/2014/main" id="{8EF2430B-A47B-4F32-9333-9996A6875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 種互動模式涵蓋投票、閱讀測驗、文字雲、繪圖題與作品牆。</a:t>
            </a:r>
          </a:p>
        </p:txBody>
      </p:sp>
      <p:sp>
        <p:nvSpPr>
          <p:cNvPr id="27" name="text-149">
            <a:extLst xmlns:a="http://schemas.openxmlformats.org/drawingml/2006/main">
              <a:ext uri="{FF2B5EF4-FFF2-40B4-BE49-F238E27FC236}">
                <a16:creationId xmlns:a16="http://schemas.microsoft.com/office/drawing/2014/main" id="{BCADAB8B-FB53-4861-B868-99166447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f1a950b124f4ab5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fdc0bd541d43ff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50">
            <a:extLst xmlns:a="http://schemas.openxmlformats.org/drawingml/2006/main">
              <a:ext uri="{FF2B5EF4-FFF2-40B4-BE49-F238E27FC236}">
                <a16:creationId xmlns:a16="http://schemas.microsoft.com/office/drawing/2014/main" id="{5850ED16-C703-421B-8F25-51ECBFEB3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47824b6aec74b62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3751cc9301446f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538975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51">
            <a:extLst xmlns:a="http://schemas.openxmlformats.org/drawingml/2006/main">
              <a:ext uri="{FF2B5EF4-FFF2-40B4-BE49-F238E27FC236}">
                <a16:creationId xmlns:a16="http://schemas.microsoft.com/office/drawing/2014/main" id="{0F81F0C3-4373-4A70-9530-52EC4A00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512079-237F-4742-8413-8FE5BE1FB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阿凱老師實戰案例導航｜評量與部署</a:t>
            </a:r>
          </a:p>
        </p:txBody>
      </p:sp>
      <p:cxnSp>
        <p:nvCxnSpPr>
          <p:cNvPr id="33" name="shape-15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53">
            <a:extLst xmlns:a="http://schemas.openxmlformats.org/drawingml/2006/main">
              <a:ext uri="{FF2B5EF4-FFF2-40B4-BE49-F238E27FC236}">
                <a16:creationId xmlns:a16="http://schemas.microsoft.com/office/drawing/2014/main" id="{74B836DC-D7FD-4E0B-88B3-7FEA52A8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8B747CD-5044-4650-853C-E404C309E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154">
            <a:extLst xmlns:a="http://schemas.openxmlformats.org/drawingml/2006/main">
              <a:ext uri="{FF2B5EF4-FFF2-40B4-BE49-F238E27FC236}">
                <a16:creationId xmlns:a16="http://schemas.microsoft.com/office/drawing/2014/main" id="{2061F629-39FA-48E1-B03C-4055C6E6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比較同一個教學構想如何透過即時回饋、Google Sites 與 GitHub Pages 落地。</a:t>
            </a:r>
          </a:p>
        </p:txBody>
      </p:sp>
      <p:sp>
        <p:nvSpPr>
          <p:cNvPr id="7" name="shape-155">
            <a:extLst xmlns:a="http://schemas.openxmlformats.org/drawingml/2006/main">
              <a:ext uri="{FF2B5EF4-FFF2-40B4-BE49-F238E27FC236}">
                <a16:creationId xmlns:a16="http://schemas.microsoft.com/office/drawing/2014/main" id="{9DC0F31D-E49E-4D32-B5C7-4DE56204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56">
            <a:extLst xmlns:a="http://schemas.openxmlformats.org/drawingml/2006/main">
              <a:ext uri="{FF2B5EF4-FFF2-40B4-BE49-F238E27FC236}">
                <a16:creationId xmlns:a16="http://schemas.microsoft.com/office/drawing/2014/main" id="{011BF288-1649-4B9B-9BA3-1AB31F56B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#3 · 形成性評量</a:t>
            </a:r>
          </a:p>
        </p:txBody>
      </p:sp>
      <p:sp>
        <p:nvSpPr>
          <p:cNvPr id="9" name="text-157">
            <a:extLst xmlns:a="http://schemas.openxmlformats.org/drawingml/2006/main">
              <a:ext uri="{FF2B5EF4-FFF2-40B4-BE49-F238E27FC236}">
                <a16:creationId xmlns:a16="http://schemas.microsoft.com/office/drawing/2014/main" id="{DDC16363-D705-44F4-ABF1-AEB45A24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學生即時投票系統</a:t>
            </a:r>
          </a:p>
        </p:txBody>
      </p:sp>
      <p:sp>
        <p:nvSpPr>
          <p:cNvPr id="10" name="text-158">
            <a:extLst xmlns:a="http://schemas.openxmlformats.org/drawingml/2006/main">
              <a:ext uri="{FF2B5EF4-FFF2-40B4-BE49-F238E27FC236}">
                <a16:creationId xmlns:a16="http://schemas.microsoft.com/office/drawing/2014/main" id="{2C08A0DB-3163-469F-A4AE-9FD558343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掃 QR Code 即時作答；連投影片上的題目也能快速轉成互動活動。</a:t>
            </a:r>
          </a:p>
        </p:txBody>
      </p:sp>
      <p:sp>
        <p:nvSpPr>
          <p:cNvPr id="11" name="text-159">
            <a:extLst xmlns:a="http://schemas.openxmlformats.org/drawingml/2006/main">
              <a:ext uri="{FF2B5EF4-FFF2-40B4-BE49-F238E27FC236}">
                <a16:creationId xmlns:a16="http://schemas.microsoft.com/office/drawing/2014/main" id="{44157CF2-5F5A-424C-B5C1-280C5AB7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48a043e69614e5e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66e7560eff49a3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60">
            <a:extLst xmlns:a="http://schemas.openxmlformats.org/drawingml/2006/main">
              <a:ext uri="{FF2B5EF4-FFF2-40B4-BE49-F238E27FC236}">
                <a16:creationId xmlns:a16="http://schemas.microsoft.com/office/drawing/2014/main" id="{4D4E7C0D-D71C-4160-82B3-0ACA21A5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00b39c580334fba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a0c8f96e204945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61">
            <a:extLst xmlns:a="http://schemas.openxmlformats.org/drawingml/2006/main">
              <a:ext uri="{FF2B5EF4-FFF2-40B4-BE49-F238E27FC236}">
                <a16:creationId xmlns:a16="http://schemas.microsoft.com/office/drawing/2014/main" id="{99B23FEE-6B67-4641-9A8D-21FBC152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162">
            <a:extLst xmlns:a="http://schemas.openxmlformats.org/drawingml/2006/main">
              <a:ext uri="{FF2B5EF4-FFF2-40B4-BE49-F238E27FC236}">
                <a16:creationId xmlns:a16="http://schemas.microsoft.com/office/drawing/2014/main" id="{44CC11E9-6A1E-45B9-A6AE-62206C13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#24 · Google Sites</a:t>
            </a:r>
          </a:p>
        </p:txBody>
      </p:sp>
      <p:sp>
        <p:nvSpPr>
          <p:cNvPr id="17" name="text-163">
            <a:extLst xmlns:a="http://schemas.openxmlformats.org/drawingml/2006/main">
              <a:ext uri="{FF2B5EF4-FFF2-40B4-BE49-F238E27FC236}">
                <a16:creationId xmlns:a16="http://schemas.microsoft.com/office/drawing/2014/main" id="{FAD314DB-9BDB-47EA-8312-48E2805E6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教師午會記錄報告站</a:t>
            </a:r>
          </a:p>
        </p:txBody>
      </p:sp>
      <p:sp>
        <p:nvSpPr>
          <p:cNvPr id="18" name="text-164">
            <a:extLst xmlns:a="http://schemas.openxmlformats.org/drawingml/2006/main">
              <a:ext uri="{FF2B5EF4-FFF2-40B4-BE49-F238E27FC236}">
                <a16:creationId xmlns:a16="http://schemas.microsoft.com/office/drawing/2014/main" id="{BA482E7B-F76A-4A98-9940-90420FE5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 Google Sites 承載會議紀錄與互動式報告，示範嵌入與分享。</a:t>
            </a:r>
          </a:p>
        </p:txBody>
      </p:sp>
      <p:sp>
        <p:nvSpPr>
          <p:cNvPr id="19" name="text-165">
            <a:extLst xmlns:a="http://schemas.openxmlformats.org/drawingml/2006/main">
              <a:ext uri="{FF2B5EF4-FFF2-40B4-BE49-F238E27FC236}">
                <a16:creationId xmlns:a16="http://schemas.microsoft.com/office/drawing/2014/main" id="{CD8E2544-90D1-46D2-8078-92A43890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1e4b924ce484608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e27892cb2f4a1c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66">
            <a:extLst xmlns:a="http://schemas.openxmlformats.org/drawingml/2006/main">
              <a:ext uri="{FF2B5EF4-FFF2-40B4-BE49-F238E27FC236}">
                <a16:creationId xmlns:a16="http://schemas.microsoft.com/office/drawing/2014/main" id="{96DCBA15-B614-42A6-8145-9A2C1C3D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86fcc5c016d4c22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c4640896f6493e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67">
            <a:extLst xmlns:a="http://schemas.openxmlformats.org/drawingml/2006/main">
              <a:ext uri="{FF2B5EF4-FFF2-40B4-BE49-F238E27FC236}">
                <a16:creationId xmlns:a16="http://schemas.microsoft.com/office/drawing/2014/main" id="{EA97B0D5-91FC-4F48-996D-EB17139FD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168">
            <a:extLst xmlns:a="http://schemas.openxmlformats.org/drawingml/2006/main">
              <a:ext uri="{FF2B5EF4-FFF2-40B4-BE49-F238E27FC236}">
                <a16:creationId xmlns:a16="http://schemas.microsoft.com/office/drawing/2014/main" id="{FA99CF90-942A-419E-8286-7F9FE6CB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#81 · GitHub Pages</a:t>
            </a:r>
          </a:p>
        </p:txBody>
      </p:sp>
      <p:sp>
        <p:nvSpPr>
          <p:cNvPr id="25" name="text-169">
            <a:extLst xmlns:a="http://schemas.openxmlformats.org/drawingml/2006/main">
              <a:ext uri="{FF2B5EF4-FFF2-40B4-BE49-F238E27FC236}">
                <a16:creationId xmlns:a16="http://schemas.microsoft.com/office/drawing/2014/main" id="{F4313A4C-8E6D-40EA-B7CD-5A585618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國小資訊科技教學駕駛艙</a:t>
            </a:r>
          </a:p>
        </p:txBody>
      </p:sp>
      <p:sp>
        <p:nvSpPr>
          <p:cNvPr id="26" name="text-170">
            <a:extLst xmlns:a="http://schemas.openxmlformats.org/drawingml/2006/main">
              <a:ext uri="{FF2B5EF4-FFF2-40B4-BE49-F238E27FC236}">
                <a16:creationId xmlns:a16="http://schemas.microsoft.com/office/drawing/2014/main" id="{2D472968-20CE-49FB-ABA7-9A8D314B0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整合全學期課程、影片、Canvas 關卡與評量入口的一站式教學網站。</a:t>
            </a:r>
          </a:p>
        </p:txBody>
      </p:sp>
      <p:sp>
        <p:nvSpPr>
          <p:cNvPr id="27" name="text-171">
            <a:extLst xmlns:a="http://schemas.openxmlformats.org/drawingml/2006/main">
              <a:ext uri="{FF2B5EF4-FFF2-40B4-BE49-F238E27FC236}">
                <a16:creationId xmlns:a16="http://schemas.microsoft.com/office/drawing/2014/main" id="{BA8867E6-7445-4307-B33C-251DE3B34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bd35516f02b4f28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eb5881dd314e3e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72">
            <a:extLst xmlns:a="http://schemas.openxmlformats.org/drawingml/2006/main">
              <a:ext uri="{FF2B5EF4-FFF2-40B4-BE49-F238E27FC236}">
                <a16:creationId xmlns:a16="http://schemas.microsoft.com/office/drawing/2014/main" id="{E6D91F54-EC15-4421-B8E8-9D4040FB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665e2ceca754300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fcaa81a3d441a6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8420940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73">
            <a:extLst xmlns:a="http://schemas.openxmlformats.org/drawingml/2006/main">
              <a:ext uri="{FF2B5EF4-FFF2-40B4-BE49-F238E27FC236}">
                <a16:creationId xmlns:a16="http://schemas.microsoft.com/office/drawing/2014/main" id="{32BE2DF1-2AE3-4043-A0BF-4F5A1B877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VOICE FIRST WORKFLOW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422CA28-BBE2-4257-A287-C56EE8D1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Typeless：先讓想法順利進來</a:t>
            </a:r>
          </a:p>
        </p:txBody>
      </p:sp>
      <p:cxnSp>
        <p:nvCxnSpPr>
          <p:cNvPr id="30" name="shape-17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75">
            <a:extLst xmlns:a="http://schemas.openxmlformats.org/drawingml/2006/main">
              <a:ext uri="{FF2B5EF4-FFF2-40B4-BE49-F238E27FC236}">
                <a16:creationId xmlns:a16="http://schemas.microsoft.com/office/drawing/2014/main" id="{E792F550-3BA4-4C85-B7D8-492933B9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19A0D31-B21D-4356-B220-F5A3436A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6" name="shape-176">
            <a:extLst xmlns:a="http://schemas.openxmlformats.org/drawingml/2006/main">
              <a:ext uri="{FF2B5EF4-FFF2-40B4-BE49-F238E27FC236}">
                <a16:creationId xmlns:a16="http://schemas.microsoft.com/office/drawing/2014/main" id="{EC0437C9-40A4-4F69-9CF2-47F158D6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177">
            <a:extLst xmlns:a="http://schemas.openxmlformats.org/drawingml/2006/main">
              <a:ext uri="{FF2B5EF4-FFF2-40B4-BE49-F238E27FC236}">
                <a16:creationId xmlns:a16="http://schemas.microsoft.com/office/drawing/2014/main" id="{E8FE5540-797D-4112-83C7-5BAF48BC2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178">
            <a:extLst xmlns:a="http://schemas.openxmlformats.org/drawingml/2006/main">
              <a:ext uri="{FF2B5EF4-FFF2-40B4-BE49-F238E27FC236}">
                <a16:creationId xmlns:a16="http://schemas.microsoft.com/office/drawing/2014/main" id="{B42FF81A-5180-4FEB-9130-640253BCA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自然說</a:t>
            </a:r>
          </a:p>
        </p:txBody>
      </p:sp>
      <p:sp>
        <p:nvSpPr>
          <p:cNvPr id="9" name="text-179">
            <a:extLst xmlns:a="http://schemas.openxmlformats.org/drawingml/2006/main">
              <a:ext uri="{FF2B5EF4-FFF2-40B4-BE49-F238E27FC236}">
                <a16:creationId xmlns:a16="http://schemas.microsoft.com/office/drawing/2014/main" id="{2FC32397-5EEE-4D6C-BC1C-61D9468C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先把腦中的課程構想、研究問題或行政需求完整說出來，不必邊說邊打字。</a:t>
            </a:r>
          </a:p>
        </p:txBody>
      </p:sp>
      <p:sp>
        <p:nvSpPr>
          <p:cNvPr id="10" name="shape-180">
            <a:extLst xmlns:a="http://schemas.openxmlformats.org/drawingml/2006/main">
              <a:ext uri="{FF2B5EF4-FFF2-40B4-BE49-F238E27FC236}">
                <a16:creationId xmlns:a16="http://schemas.microsoft.com/office/drawing/2014/main" id="{1625B02A-20D6-450E-AB6F-B06695EE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81">
            <a:extLst xmlns:a="http://schemas.openxmlformats.org/drawingml/2006/main">
              <a:ext uri="{FF2B5EF4-FFF2-40B4-BE49-F238E27FC236}">
                <a16:creationId xmlns:a16="http://schemas.microsoft.com/office/drawing/2014/main" id="{D35AAAB4-071A-4213-B52D-5610D49F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182">
            <a:extLst xmlns:a="http://schemas.openxmlformats.org/drawingml/2006/main">
              <a:ext uri="{FF2B5EF4-FFF2-40B4-BE49-F238E27FC236}">
                <a16:creationId xmlns:a16="http://schemas.microsoft.com/office/drawing/2014/main" id="{3956CB82-C467-4097-8F0E-6E42F9AF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自動整理</a:t>
            </a:r>
          </a:p>
        </p:txBody>
      </p:sp>
      <p:sp>
        <p:nvSpPr>
          <p:cNvPr id="13" name="text-183">
            <a:extLst xmlns:a="http://schemas.openxmlformats.org/drawingml/2006/main">
              <a:ext uri="{FF2B5EF4-FFF2-40B4-BE49-F238E27FC236}">
                <a16:creationId xmlns:a16="http://schemas.microsoft.com/office/drawing/2014/main" id="{4B8452AD-4C1A-409E-BF78-B2C5EEAA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去除贅詞與重複，保留真正要傳達的內容，讓語句更有邏輯。</a:t>
            </a:r>
          </a:p>
        </p:txBody>
      </p:sp>
      <p:sp>
        <p:nvSpPr>
          <p:cNvPr id="14" name="shape-184">
            <a:extLst xmlns:a="http://schemas.openxmlformats.org/drawingml/2006/main">
              <a:ext uri="{FF2B5EF4-FFF2-40B4-BE49-F238E27FC236}">
                <a16:creationId xmlns:a16="http://schemas.microsoft.com/office/drawing/2014/main" id="{5AF218BD-545E-4C9E-867D-E29F33921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185">
            <a:extLst xmlns:a="http://schemas.openxmlformats.org/drawingml/2006/main">
              <a:ext uri="{FF2B5EF4-FFF2-40B4-BE49-F238E27FC236}">
                <a16:creationId xmlns:a16="http://schemas.microsoft.com/office/drawing/2014/main" id="{EF15C630-6BDE-4F3E-9C31-7DEF69AE3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186">
            <a:extLst xmlns:a="http://schemas.openxmlformats.org/drawingml/2006/main">
              <a:ext uri="{FF2B5EF4-FFF2-40B4-BE49-F238E27FC236}">
                <a16:creationId xmlns:a16="http://schemas.microsoft.com/office/drawing/2014/main" id="{E5D2284B-1252-4AA1-A41D-212DCEB15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直接貼上</a:t>
            </a:r>
          </a:p>
        </p:txBody>
      </p:sp>
      <p:sp>
        <p:nvSpPr>
          <p:cNvPr id="17" name="text-187">
            <a:extLst xmlns:a="http://schemas.openxmlformats.org/drawingml/2006/main">
              <a:ext uri="{FF2B5EF4-FFF2-40B4-BE49-F238E27FC236}">
                <a16:creationId xmlns:a16="http://schemas.microsoft.com/office/drawing/2014/main" id="{F3BA7F43-C7BC-4422-BACE-B60C88E8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整理後的文字可直接交給 Gemini Notebook、Gem 或 Canvas 接續工作。</a:t>
            </a:r>
          </a:p>
        </p:txBody>
      </p:sp>
      <p:sp>
        <p:nvSpPr>
          <p:cNvPr id="18" name="shape-188">
            <a:extLst xmlns:a="http://schemas.openxmlformats.org/drawingml/2006/main">
              <a:ext uri="{FF2B5EF4-FFF2-40B4-BE49-F238E27FC236}">
                <a16:creationId xmlns:a16="http://schemas.microsoft.com/office/drawing/2014/main" id="{FCA52E8B-8B82-4BD2-84B9-DDD9C5C24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89">
            <a:extLst xmlns:a="http://schemas.openxmlformats.org/drawingml/2006/main">
              <a:ext uri="{FF2B5EF4-FFF2-40B4-BE49-F238E27FC236}">
                <a16:creationId xmlns:a16="http://schemas.microsoft.com/office/drawing/2014/main" id="{4BAF177D-FF32-469A-9018-ECB40D0A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190">
            <a:extLst xmlns:a="http://schemas.openxmlformats.org/drawingml/2006/main">
              <a:ext uri="{FF2B5EF4-FFF2-40B4-BE49-F238E27FC236}">
                <a16:creationId xmlns:a16="http://schemas.microsoft.com/office/drawing/2014/main" id="{24354346-E41D-4034-8A17-EFD5A5B1E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跨裝置延伸</a:t>
            </a:r>
          </a:p>
        </p:txBody>
      </p:sp>
      <p:sp>
        <p:nvSpPr>
          <p:cNvPr id="21" name="text-191">
            <a:extLst xmlns:a="http://schemas.openxmlformats.org/drawingml/2006/main">
              <a:ext uri="{FF2B5EF4-FFF2-40B4-BE49-F238E27FC236}">
                <a16:creationId xmlns:a16="http://schemas.microsoft.com/office/drawing/2014/main" id="{6A864FD7-A41A-422C-B71D-E3E9077B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電腦、手機都能在原本的輸入情境中快速使用，適合會議與備課現場。</a:t>
            </a:r>
          </a:p>
        </p:txBody>
      </p:sp>
      <p:sp>
        <p:nvSpPr>
          <p:cNvPr id="22" name="text-736">
            <a:extLst xmlns:a="http://schemas.openxmlformats.org/drawingml/2006/main">
              <a:ext uri="{FF2B5EF4-FFF2-40B4-BE49-F238E27FC236}">
                <a16:creationId xmlns:a16="http://schemas.microsoft.com/office/drawing/2014/main" id="{E0B7350A-BF85-474F-8106-003B5919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41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7d3e818b38c4be1"/>
              </a:rPr>
              <a:t>Typeless 官方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324689344914550"/>
              </a:rPr>
              <a:t>下載 Typeless ↗</a:t>
            </a:r>
          </a:p>
        </p:txBody>
      </p:sp>
      <p:sp>
        <p:nvSpPr>
          <p:cNvPr id="23" name="shape-769">
            <a:extLst xmlns:a="http://schemas.openxmlformats.org/drawingml/2006/main">
              <a:ext uri="{FF2B5EF4-FFF2-40B4-BE49-F238E27FC236}">
                <a16:creationId xmlns:a16="http://schemas.microsoft.com/office/drawing/2014/main" id="{1085B08D-748A-4C67-AB41-AB52C80C6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8128470c294105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770">
            <a:extLst xmlns:a="http://schemas.openxmlformats.org/drawingml/2006/main">
              <a:ext uri="{FF2B5EF4-FFF2-40B4-BE49-F238E27FC236}">
                <a16:creationId xmlns:a16="http://schemas.microsoft.com/office/drawing/2014/main" id="{2E091B9A-75D8-4F0D-AFA0-A1E73D786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16609a9bf342b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771">
            <a:extLst xmlns:a="http://schemas.openxmlformats.org/drawingml/2006/main">
              <a:ext uri="{FF2B5EF4-FFF2-40B4-BE49-F238E27FC236}">
                <a16:creationId xmlns:a16="http://schemas.microsoft.com/office/drawing/2014/main" id="{53139C31-7972-460A-9868-A3B1ECA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下載 Typeless</a:t>
            </a:r>
          </a:p>
        </p:txBody>
      </p:sp>
    </p:spTree>
    <p:extLst>
      <p:ext uri="{BB962C8B-B14F-4D97-AF65-F5344CB8AC3E}">
        <p14:creationId xmlns:p14="http://schemas.microsoft.com/office/powerpoint/2010/main" val="164008450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92">
            <a:extLst xmlns:a="http://schemas.openxmlformats.org/drawingml/2006/main">
              <a:ext uri="{FF2B5EF4-FFF2-40B4-BE49-F238E27FC236}">
                <a16:creationId xmlns:a16="http://schemas.microsoft.com/office/drawing/2014/main" id="{DFAE536D-F60B-4BFA-BFA8-00463BEE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BEFORE → AFTER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D253640-04B6-48A2-AC75-5DBB67475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從口語到可用文字：Typeless 自動整理示範</a:t>
            </a:r>
          </a:p>
        </p:txBody>
      </p:sp>
      <p:cxnSp>
        <p:nvCxnSpPr>
          <p:cNvPr id="20" name="shape-19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94">
            <a:extLst xmlns:a="http://schemas.openxmlformats.org/drawingml/2006/main">
              <a:ext uri="{FF2B5EF4-FFF2-40B4-BE49-F238E27FC236}">
                <a16:creationId xmlns:a16="http://schemas.microsoft.com/office/drawing/2014/main" id="{ED145A2B-C1D3-4B91-BBA3-62DB86A5D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B20DE8C-DDB1-43BF-AB4D-5AFEBB65B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6" name="shape-195">
            <a:extLst xmlns:a="http://schemas.openxmlformats.org/drawingml/2006/main">
              <a:ext uri="{FF2B5EF4-FFF2-40B4-BE49-F238E27FC236}">
                <a16:creationId xmlns:a16="http://schemas.microsoft.com/office/drawing/2014/main" id="{EF2D8863-1A81-4E1B-A091-512FB1D5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96">
            <a:extLst xmlns:a="http://schemas.openxmlformats.org/drawingml/2006/main">
              <a:ext uri="{FF2B5EF4-FFF2-40B4-BE49-F238E27FC236}">
                <a16:creationId xmlns:a16="http://schemas.microsoft.com/office/drawing/2014/main" id="{72B388EA-FEDC-4555-B377-7B3BFB95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97">
            <a:extLst xmlns:a="http://schemas.openxmlformats.org/drawingml/2006/main">
              <a:ext uri="{FF2B5EF4-FFF2-40B4-BE49-F238E27FC236}">
                <a16:creationId xmlns:a16="http://schemas.microsoft.com/office/drawing/2014/main" id="{9401D6E7-8E5C-4B2D-A736-6784DA35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原始口述</a:t>
            </a:r>
          </a:p>
        </p:txBody>
      </p:sp>
      <p:sp>
        <p:nvSpPr>
          <p:cNvPr id="9" name="text-198">
            <a:extLst xmlns:a="http://schemas.openxmlformats.org/drawingml/2006/main">
              <a:ext uri="{FF2B5EF4-FFF2-40B4-BE49-F238E27FC236}">
                <a16:creationId xmlns:a16="http://schemas.microsoft.com/office/drawing/2014/main" id="{F90ADD05-E74E-4283-A36F-DD1D799AA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我想做一個大學教師 AI 研習……呃……先讓大家說出自己的痛點，然後整理資料，最後做一個可以分享的作品。</a:t>
            </a:r>
          </a:p>
        </p:txBody>
      </p:sp>
      <p:sp>
        <p:nvSpPr>
          <p:cNvPr id="10" name="text-199">
            <a:extLst xmlns:a="http://schemas.openxmlformats.org/drawingml/2006/main">
              <a:ext uri="{FF2B5EF4-FFF2-40B4-BE49-F238E27FC236}">
                <a16:creationId xmlns:a16="http://schemas.microsoft.com/office/drawing/2014/main" id="{CA654ADE-EF4E-4661-8EC4-D9E7D701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整理後文字</a:t>
            </a:r>
          </a:p>
        </p:txBody>
      </p:sp>
      <p:sp>
        <p:nvSpPr>
          <p:cNvPr id="11" name="text-200">
            <a:extLst xmlns:a="http://schemas.openxmlformats.org/drawingml/2006/main">
              <a:ext uri="{FF2B5EF4-FFF2-40B4-BE49-F238E27FC236}">
                <a16:creationId xmlns:a16="http://schemas.microsoft.com/office/drawing/2014/main" id="{61CF89C4-D8D0-464F-9132-987B393F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請協助設計一場大學教師 AI 研習，先蒐集每位教師的教學或研究痛點，再用可信來源整理需求，最後產出可操作、可分享的教學作品。</a:t>
            </a:r>
          </a:p>
        </p:txBody>
      </p:sp>
      <p:sp>
        <p:nvSpPr>
          <p:cNvPr id="12" name="text-737">
            <a:extLst xmlns:a="http://schemas.openxmlformats.org/drawingml/2006/main">
              <a:ext uri="{FF2B5EF4-FFF2-40B4-BE49-F238E27FC236}">
                <a16:creationId xmlns:a16="http://schemas.microsoft.com/office/drawing/2014/main" id="{BFDAA645-76AD-4AF4-8BBB-3DBF49093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41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bd45b8fe5cb43bd"/>
              </a:rPr>
              <a:t>Typeless 官方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7061e1d12cd400e"/>
              </a:rPr>
              <a:t>下載 Typeless ↗</a:t>
            </a:r>
          </a:p>
        </p:txBody>
      </p:sp>
      <p:sp>
        <p:nvSpPr>
          <p:cNvPr id="13" name="shape-772">
            <a:extLst xmlns:a="http://schemas.openxmlformats.org/drawingml/2006/main">
              <a:ext uri="{FF2B5EF4-FFF2-40B4-BE49-F238E27FC236}">
                <a16:creationId xmlns:a16="http://schemas.microsoft.com/office/drawing/2014/main" id="{05ABED3B-4EBF-42A4-B9B7-28C8A2441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99e8a72ec4e0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5" name="text-773">
            <a:extLst xmlns:a="http://schemas.openxmlformats.org/drawingml/2006/main">
              <a:ext uri="{FF2B5EF4-FFF2-40B4-BE49-F238E27FC236}">
                <a16:creationId xmlns:a16="http://schemas.microsoft.com/office/drawing/2014/main" id="{B40AA676-5A54-4E23-A5C4-57D8089F4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ddf101790246b5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7" name="text-774">
            <a:extLst xmlns:a="http://schemas.openxmlformats.org/drawingml/2006/main">
              <a:ext uri="{FF2B5EF4-FFF2-40B4-BE49-F238E27FC236}">
                <a16:creationId xmlns:a16="http://schemas.microsoft.com/office/drawing/2014/main" id="{913E66B4-ADD9-4731-AA18-7B4683F86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下載 Typeless</a:t>
            </a:r>
          </a:p>
        </p:txBody>
      </p:sp>
    </p:spTree>
    <p:extLst>
      <p:ext uri="{BB962C8B-B14F-4D97-AF65-F5344CB8AC3E}">
        <p14:creationId xmlns:p14="http://schemas.microsoft.com/office/powerpoint/2010/main" val="6021824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01">
            <a:extLst xmlns:a="http://schemas.openxmlformats.org/drawingml/2006/main">
              <a:ext uri="{FF2B5EF4-FFF2-40B4-BE49-F238E27FC236}">
                <a16:creationId xmlns:a16="http://schemas.microsoft.com/office/drawing/2014/main" id="{63DE8AFB-95A4-4617-A511-AAF5FC053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660E1E-97BB-4862-A37E-09A8B1A5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實作｜用 Typeless 說出一個真實痛點</a:t>
            </a:r>
          </a:p>
        </p:txBody>
      </p:sp>
      <p:cxnSp>
        <p:nvCxnSpPr>
          <p:cNvPr id="25" name="shape-20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03">
            <a:extLst xmlns:a="http://schemas.openxmlformats.org/drawingml/2006/main">
              <a:ext uri="{FF2B5EF4-FFF2-40B4-BE49-F238E27FC236}">
                <a16:creationId xmlns:a16="http://schemas.microsoft.com/office/drawing/2014/main" id="{F7EA6C59-6ABF-4A43-BC6E-16B400260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861C0CD-FCD4-457C-8330-5B0C94DC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text-204">
            <a:extLst xmlns:a="http://schemas.openxmlformats.org/drawingml/2006/main">
              <a:ext uri="{FF2B5EF4-FFF2-40B4-BE49-F238E27FC236}">
                <a16:creationId xmlns:a16="http://schemas.microsoft.com/office/drawing/2014/main" id="{2D4CD99C-1850-42F0-8BF6-A88894B8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12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205">
            <a:extLst xmlns:a="http://schemas.openxmlformats.org/drawingml/2006/main">
              <a:ext uri="{FF2B5EF4-FFF2-40B4-BE49-F238E27FC236}">
                <a16:creationId xmlns:a16="http://schemas.microsoft.com/office/drawing/2014/main" id="{566D5D33-1D42-412A-803C-56D81BA72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206">
            <a:extLst xmlns:a="http://schemas.openxmlformats.org/drawingml/2006/main">
              <a:ext uri="{FF2B5EF4-FFF2-40B4-BE49-F238E27FC236}">
                <a16:creationId xmlns:a16="http://schemas.microsoft.com/office/drawing/2014/main" id="{7905D1BD-CC43-44BB-B171-3E8AAD30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07">
            <a:extLst xmlns:a="http://schemas.openxmlformats.org/drawingml/2006/main">
              <a:ext uri="{FF2B5EF4-FFF2-40B4-BE49-F238E27FC236}">
                <a16:creationId xmlns:a16="http://schemas.microsoft.com/office/drawing/2014/main" id="{942F7620-1E8E-49F9-B55A-846BC9828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Typeless，選擇自己的課程／研究／行政情境</a:t>
            </a:r>
          </a:p>
        </p:txBody>
      </p:sp>
      <p:sp>
        <p:nvSpPr>
          <p:cNvPr id="10" name="text-208">
            <a:extLst xmlns:a="http://schemas.openxmlformats.org/drawingml/2006/main">
              <a:ext uri="{FF2B5EF4-FFF2-40B4-BE49-F238E27FC236}">
                <a16:creationId xmlns:a16="http://schemas.microsoft.com/office/drawing/2014/main" id="{41038994-2BB7-42B4-BDDB-9BAD7B85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209">
            <a:extLst xmlns:a="http://schemas.openxmlformats.org/drawingml/2006/main">
              <a:ext uri="{FF2B5EF4-FFF2-40B4-BE49-F238E27FC236}">
                <a16:creationId xmlns:a16="http://schemas.microsoft.com/office/drawing/2014/main" id="{87A43D97-866A-465F-8099-0BF4D83B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連續口述 30–60 秒：對象、困難、想完成的改變</a:t>
            </a:r>
          </a:p>
        </p:txBody>
      </p:sp>
      <p:sp>
        <p:nvSpPr>
          <p:cNvPr id="12" name="text-210">
            <a:extLst xmlns:a="http://schemas.openxmlformats.org/drawingml/2006/main">
              <a:ext uri="{FF2B5EF4-FFF2-40B4-BE49-F238E27FC236}">
                <a16:creationId xmlns:a16="http://schemas.microsoft.com/office/drawing/2014/main" id="{5636F943-96FA-40D3-A5F9-3C8BEDA62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211">
            <a:extLst xmlns:a="http://schemas.openxmlformats.org/drawingml/2006/main">
              <a:ext uri="{FF2B5EF4-FFF2-40B4-BE49-F238E27FC236}">
                <a16:creationId xmlns:a16="http://schemas.microsoft.com/office/drawing/2014/main" id="{D31C50BE-DC0C-4424-96F2-BA46474D9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複製整理後文字，人工補上缺少的條件與限制</a:t>
            </a:r>
          </a:p>
        </p:txBody>
      </p:sp>
      <p:sp>
        <p:nvSpPr>
          <p:cNvPr id="14" name="text-212">
            <a:extLst xmlns:a="http://schemas.openxmlformats.org/drawingml/2006/main">
              <a:ext uri="{FF2B5EF4-FFF2-40B4-BE49-F238E27FC236}">
                <a16:creationId xmlns:a16="http://schemas.microsoft.com/office/drawing/2014/main" id="{ECC3783E-1A3A-4859-9C08-644E55EBB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213">
            <a:extLst xmlns:a="http://schemas.openxmlformats.org/drawingml/2006/main">
              <a:ext uri="{FF2B5EF4-FFF2-40B4-BE49-F238E27FC236}">
                <a16:creationId xmlns:a16="http://schemas.microsoft.com/office/drawing/2014/main" id="{9EBEE25E-BC95-401A-A643-E49CEC78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把完成版交給 Gemini Notebook，準備建立來源包</a:t>
            </a:r>
          </a:p>
        </p:txBody>
      </p:sp>
      <p:sp>
        <p:nvSpPr>
          <p:cNvPr id="16" name="shape-214">
            <a:extLst xmlns:a="http://schemas.openxmlformats.org/drawingml/2006/main">
              <a:ext uri="{FF2B5EF4-FFF2-40B4-BE49-F238E27FC236}">
                <a16:creationId xmlns:a16="http://schemas.microsoft.com/office/drawing/2014/main" id="{A624108B-AC62-4E7B-9F53-8E27D784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215">
            <a:extLst xmlns:a="http://schemas.openxmlformats.org/drawingml/2006/main">
              <a:ext uri="{FF2B5EF4-FFF2-40B4-BE49-F238E27FC236}">
                <a16:creationId xmlns:a16="http://schemas.microsoft.com/office/drawing/2014/main" id="{9F1E03FA-CE15-41D9-8129-E116FC6A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216">
            <a:extLst xmlns:a="http://schemas.openxmlformats.org/drawingml/2006/main">
              <a:ext uri="{FF2B5EF4-FFF2-40B4-BE49-F238E27FC236}">
                <a16:creationId xmlns:a16="http://schemas.microsoft.com/office/drawing/2014/main" id="{4D23B46C-EDDB-4435-830C-980BA598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3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語音內容沒有真實個資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文字已分段且保留原意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至少寫出一個可驗證目標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下一步能直接交給 Notebook</a:t>
            </a:r>
          </a:p>
        </p:txBody>
      </p:sp>
      <p:sp>
        <p:nvSpPr>
          <p:cNvPr id="19" name="text-738">
            <a:extLst xmlns:a="http://schemas.openxmlformats.org/drawingml/2006/main">
              <a:ext uri="{FF2B5EF4-FFF2-40B4-BE49-F238E27FC236}">
                <a16:creationId xmlns:a16="http://schemas.microsoft.com/office/drawing/2014/main" id="{857C6E93-A9AF-4171-A19E-DF2D7B8E6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21d8f5851ab4e75"/>
              </a:rPr>
              <a:t>下載 Typeless ↗</a:t>
            </a:r>
          </a:p>
        </p:txBody>
      </p:sp>
      <p:sp>
        <p:nvSpPr>
          <p:cNvPr id="20" name="shape-775">
            <a:extLst xmlns:a="http://schemas.openxmlformats.org/drawingml/2006/main">
              <a:ext uri="{FF2B5EF4-FFF2-40B4-BE49-F238E27FC236}">
                <a16:creationId xmlns:a16="http://schemas.microsoft.com/office/drawing/2014/main" id="{8856C4DB-504B-4D2D-9166-8AE82118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4bb8284124411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776">
            <a:extLst xmlns:a="http://schemas.openxmlformats.org/drawingml/2006/main">
              <a:ext uri="{FF2B5EF4-FFF2-40B4-BE49-F238E27FC236}">
                <a16:creationId xmlns:a16="http://schemas.microsoft.com/office/drawing/2014/main" id="{1F30FCE4-CE06-4AD6-A117-0A65460E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下載 Typeless</a:t>
            </a:r>
          </a:p>
        </p:txBody>
      </p:sp>
    </p:spTree>
    <p:extLst>
      <p:ext uri="{BB962C8B-B14F-4D97-AF65-F5344CB8AC3E}">
        <p14:creationId xmlns:p14="http://schemas.microsoft.com/office/powerpoint/2010/main" val="59396345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217">
            <a:extLst xmlns:a="http://schemas.openxmlformats.org/drawingml/2006/main">
              <a:ext uri="{FF2B5EF4-FFF2-40B4-BE49-F238E27FC236}">
                <a16:creationId xmlns:a16="http://schemas.microsoft.com/office/drawing/2014/main" id="{FB6BD67B-3D69-463E-BF48-17F46FD1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VOICE → EVIDENCE → OUTPUT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71CC834-0795-4831-AFA3-55326E85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 → Gemini Notebook：把口述變成研究素材</a:t>
            </a:r>
          </a:p>
        </p:txBody>
      </p:sp>
      <p:cxnSp>
        <p:nvCxnSpPr>
          <p:cNvPr id="44" name="shape-21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19">
            <a:extLst xmlns:a="http://schemas.openxmlformats.org/drawingml/2006/main">
              <a:ext uri="{FF2B5EF4-FFF2-40B4-BE49-F238E27FC236}">
                <a16:creationId xmlns:a16="http://schemas.microsoft.com/office/drawing/2014/main" id="{FD0761C8-8362-4A7B-BAF1-42BD92B9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30723CC-BDB1-42EC-B966-91A24EB12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220">
            <a:extLst xmlns:a="http://schemas.openxmlformats.org/drawingml/2006/main">
              <a:ext uri="{FF2B5EF4-FFF2-40B4-BE49-F238E27FC236}">
                <a16:creationId xmlns:a16="http://schemas.microsoft.com/office/drawing/2014/main" id="{2039D317-90D8-4D12-A712-E176557E4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221">
            <a:extLst xmlns:a="http://schemas.openxmlformats.org/drawingml/2006/main">
              <a:ext uri="{FF2B5EF4-FFF2-40B4-BE49-F238E27FC236}">
                <a16:creationId xmlns:a16="http://schemas.microsoft.com/office/drawing/2014/main" id="{0DABA432-A443-485F-B5B4-9B7DC1502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222">
            <a:extLst xmlns:a="http://schemas.openxmlformats.org/drawingml/2006/main">
              <a:ext uri="{FF2B5EF4-FFF2-40B4-BE49-F238E27FC236}">
                <a16:creationId xmlns:a16="http://schemas.microsoft.com/office/drawing/2014/main" id="{D628A310-3601-4E67-8DC9-D4C65C25C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23">
            <a:extLst xmlns:a="http://schemas.openxmlformats.org/drawingml/2006/main">
              <a:ext uri="{FF2B5EF4-FFF2-40B4-BE49-F238E27FC236}">
                <a16:creationId xmlns:a16="http://schemas.microsoft.com/office/drawing/2014/main" id="{9DDE10FE-5EE5-463F-9468-305BFEA7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說出痛點</a:t>
            </a:r>
          </a:p>
        </p:txBody>
      </p:sp>
      <p:sp>
        <p:nvSpPr>
          <p:cNvPr id="10" name="text-224">
            <a:extLst xmlns:a="http://schemas.openxmlformats.org/drawingml/2006/main">
              <a:ext uri="{FF2B5EF4-FFF2-40B4-BE49-F238E27FC236}">
                <a16:creationId xmlns:a16="http://schemas.microsoft.com/office/drawing/2014/main" id="{4417BA82-E60C-40C1-AEC7-7E9717E2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用自己的話交代對象、情境與困難</a:t>
            </a:r>
          </a:p>
        </p:txBody>
      </p:sp>
      <p:sp>
        <p:nvSpPr>
          <p:cNvPr id="11" name="text-225">
            <a:extLst xmlns:a="http://schemas.openxmlformats.org/drawingml/2006/main">
              <a:ext uri="{FF2B5EF4-FFF2-40B4-BE49-F238E27FC236}">
                <a16:creationId xmlns:a16="http://schemas.microsoft.com/office/drawing/2014/main" id="{D1A41EC3-70BB-44C6-B3EE-8EDF33FCF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226">
            <a:extLst xmlns:a="http://schemas.openxmlformats.org/drawingml/2006/main">
              <a:ext uri="{FF2B5EF4-FFF2-40B4-BE49-F238E27FC236}">
                <a16:creationId xmlns:a16="http://schemas.microsoft.com/office/drawing/2014/main" id="{CAC42F31-6E59-4CA4-AA45-BCB0A110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227">
            <a:extLst xmlns:a="http://schemas.openxmlformats.org/drawingml/2006/main">
              <a:ext uri="{FF2B5EF4-FFF2-40B4-BE49-F238E27FC236}">
                <a16:creationId xmlns:a16="http://schemas.microsoft.com/office/drawing/2014/main" id="{058112F6-2D9D-4D1B-BCB0-FEF5A8F62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228">
            <a:extLst xmlns:a="http://schemas.openxmlformats.org/drawingml/2006/main">
              <a:ext uri="{FF2B5EF4-FFF2-40B4-BE49-F238E27FC236}">
                <a16:creationId xmlns:a16="http://schemas.microsoft.com/office/drawing/2014/main" id="{0AFB9A3B-FD8E-4DDE-B0E0-983C604E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29">
            <a:extLst xmlns:a="http://schemas.openxmlformats.org/drawingml/2006/main">
              <a:ext uri="{FF2B5EF4-FFF2-40B4-BE49-F238E27FC236}">
                <a16:creationId xmlns:a16="http://schemas.microsoft.com/office/drawing/2014/main" id="{B48A8511-75D9-4954-A853-3696C8136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整理任務</a:t>
            </a:r>
          </a:p>
        </p:txBody>
      </p:sp>
      <p:sp>
        <p:nvSpPr>
          <p:cNvPr id="16" name="text-230">
            <a:extLst xmlns:a="http://schemas.openxmlformats.org/drawingml/2006/main">
              <a:ext uri="{FF2B5EF4-FFF2-40B4-BE49-F238E27FC236}">
                <a16:creationId xmlns:a16="http://schemas.microsoft.com/office/drawing/2014/main" id="{6ADF16E7-F08C-4FD1-B16E-80A26578A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保留目標、限制與待確認事項</a:t>
            </a:r>
          </a:p>
        </p:txBody>
      </p:sp>
      <p:sp>
        <p:nvSpPr>
          <p:cNvPr id="17" name="text-231">
            <a:extLst xmlns:a="http://schemas.openxmlformats.org/drawingml/2006/main">
              <a:ext uri="{FF2B5EF4-FFF2-40B4-BE49-F238E27FC236}">
                <a16:creationId xmlns:a16="http://schemas.microsoft.com/office/drawing/2014/main" id="{3D56D6EE-B4C3-4F5F-ABAC-BBDEFA7BF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32">
            <a:extLst xmlns:a="http://schemas.openxmlformats.org/drawingml/2006/main">
              <a:ext uri="{FF2B5EF4-FFF2-40B4-BE49-F238E27FC236}">
                <a16:creationId xmlns:a16="http://schemas.microsoft.com/office/drawing/2014/main" id="{5B5C1C2D-9DE8-49D7-867A-BEBC44E0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233">
            <a:extLst xmlns:a="http://schemas.openxmlformats.org/drawingml/2006/main">
              <a:ext uri="{FF2B5EF4-FFF2-40B4-BE49-F238E27FC236}">
                <a16:creationId xmlns:a16="http://schemas.microsoft.com/office/drawing/2014/main" id="{5A078542-DC02-4802-BE02-081346A40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34">
            <a:extLst xmlns:a="http://schemas.openxmlformats.org/drawingml/2006/main">
              <a:ext uri="{FF2B5EF4-FFF2-40B4-BE49-F238E27FC236}">
                <a16:creationId xmlns:a16="http://schemas.microsoft.com/office/drawing/2014/main" id="{A60B4AE4-7DE3-4C61-BE65-1DDB0B48C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35">
            <a:extLst xmlns:a="http://schemas.openxmlformats.org/drawingml/2006/main">
              <a:ext uri="{FF2B5EF4-FFF2-40B4-BE49-F238E27FC236}">
                <a16:creationId xmlns:a16="http://schemas.microsoft.com/office/drawing/2014/main" id="{F023972A-E95B-47D5-99DD-DD873D82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放入 Notebook</a:t>
            </a:r>
          </a:p>
        </p:txBody>
      </p:sp>
      <p:sp>
        <p:nvSpPr>
          <p:cNvPr id="22" name="text-236">
            <a:extLst xmlns:a="http://schemas.openxmlformats.org/drawingml/2006/main">
              <a:ext uri="{FF2B5EF4-FFF2-40B4-BE49-F238E27FC236}">
                <a16:creationId xmlns:a16="http://schemas.microsoft.com/office/drawing/2014/main" id="{BD624F91-4608-4F6D-A5CF-D299B4DB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加入課綱、論文、講義與網站來源</a:t>
            </a:r>
          </a:p>
        </p:txBody>
      </p:sp>
      <p:sp>
        <p:nvSpPr>
          <p:cNvPr id="23" name="text-237">
            <a:extLst xmlns:a="http://schemas.openxmlformats.org/drawingml/2006/main">
              <a:ext uri="{FF2B5EF4-FFF2-40B4-BE49-F238E27FC236}">
                <a16:creationId xmlns:a16="http://schemas.microsoft.com/office/drawing/2014/main" id="{963BB291-69AB-4E6E-990A-5B7EDA2F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38">
            <a:extLst xmlns:a="http://schemas.openxmlformats.org/drawingml/2006/main">
              <a:ext uri="{FF2B5EF4-FFF2-40B4-BE49-F238E27FC236}">
                <a16:creationId xmlns:a16="http://schemas.microsoft.com/office/drawing/2014/main" id="{1B4716A6-C224-4AC4-806E-AC46730E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239">
            <a:extLst xmlns:a="http://schemas.openxmlformats.org/drawingml/2006/main">
              <a:ext uri="{FF2B5EF4-FFF2-40B4-BE49-F238E27FC236}">
                <a16:creationId xmlns:a16="http://schemas.microsoft.com/office/drawing/2014/main" id="{7EF40919-136E-4018-BCE4-76737A6B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240">
            <a:extLst xmlns:a="http://schemas.openxmlformats.org/drawingml/2006/main">
              <a:ext uri="{FF2B5EF4-FFF2-40B4-BE49-F238E27FC236}">
                <a16:creationId xmlns:a16="http://schemas.microsoft.com/office/drawing/2014/main" id="{D71D7817-B9AA-48DA-905D-BC67F0AD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241">
            <a:extLst xmlns:a="http://schemas.openxmlformats.org/drawingml/2006/main">
              <a:ext uri="{FF2B5EF4-FFF2-40B4-BE49-F238E27FC236}">
                <a16:creationId xmlns:a16="http://schemas.microsoft.com/office/drawing/2014/main" id="{62A893D6-3626-4EAF-95E3-23A2F412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固定方法</a:t>
            </a:r>
          </a:p>
        </p:txBody>
      </p:sp>
      <p:sp>
        <p:nvSpPr>
          <p:cNvPr id="28" name="text-242">
            <a:extLst xmlns:a="http://schemas.openxmlformats.org/drawingml/2006/main">
              <a:ext uri="{FF2B5EF4-FFF2-40B4-BE49-F238E27FC236}">
                <a16:creationId xmlns:a16="http://schemas.microsoft.com/office/drawing/2014/main" id="{860D71C6-FB05-418E-9A79-5123FFBF4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再交給 Gem 產出一致格式</a:t>
            </a:r>
          </a:p>
        </p:txBody>
      </p:sp>
      <p:sp>
        <p:nvSpPr>
          <p:cNvPr id="29" name="text-243">
            <a:extLst xmlns:a="http://schemas.openxmlformats.org/drawingml/2006/main">
              <a:ext uri="{FF2B5EF4-FFF2-40B4-BE49-F238E27FC236}">
                <a16:creationId xmlns:a16="http://schemas.microsoft.com/office/drawing/2014/main" id="{64CB9C95-B8E8-4676-9BE0-2C3A7FD05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244">
            <a:extLst xmlns:a="http://schemas.openxmlformats.org/drawingml/2006/main">
              <a:ext uri="{FF2B5EF4-FFF2-40B4-BE49-F238E27FC236}">
                <a16:creationId xmlns:a16="http://schemas.microsoft.com/office/drawing/2014/main" id="{9A886BA6-7B15-444F-B000-404495687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shape-245">
            <a:extLst xmlns:a="http://schemas.openxmlformats.org/drawingml/2006/main">
              <a:ext uri="{FF2B5EF4-FFF2-40B4-BE49-F238E27FC236}">
                <a16:creationId xmlns:a16="http://schemas.microsoft.com/office/drawing/2014/main" id="{82CDECCB-9298-4539-87FE-4E1F4222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246">
            <a:extLst xmlns:a="http://schemas.openxmlformats.org/drawingml/2006/main">
              <a:ext uri="{FF2B5EF4-FFF2-40B4-BE49-F238E27FC236}">
                <a16:creationId xmlns:a16="http://schemas.microsoft.com/office/drawing/2014/main" id="{189822EF-4DE0-4929-8024-54954A5B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247">
            <a:extLst xmlns:a="http://schemas.openxmlformats.org/drawingml/2006/main">
              <a:ext uri="{FF2B5EF4-FFF2-40B4-BE49-F238E27FC236}">
                <a16:creationId xmlns:a16="http://schemas.microsoft.com/office/drawing/2014/main" id="{FFA5BACF-445B-4901-AC1A-0EE3FDCF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做成作品</a:t>
            </a:r>
          </a:p>
        </p:txBody>
      </p:sp>
      <p:sp>
        <p:nvSpPr>
          <p:cNvPr id="34" name="text-248">
            <a:extLst xmlns:a="http://schemas.openxmlformats.org/drawingml/2006/main">
              <a:ext uri="{FF2B5EF4-FFF2-40B4-BE49-F238E27FC236}">
                <a16:creationId xmlns:a16="http://schemas.microsoft.com/office/drawing/2014/main" id="{7DDA57BA-D502-476C-8AF2-245757AA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最後用 Canvas 轉成可操作原型</a:t>
            </a:r>
          </a:p>
        </p:txBody>
      </p:sp>
      <p:sp>
        <p:nvSpPr>
          <p:cNvPr id="35" name="text-249">
            <a:extLst xmlns:a="http://schemas.openxmlformats.org/drawingml/2006/main">
              <a:ext uri="{FF2B5EF4-FFF2-40B4-BE49-F238E27FC236}">
                <a16:creationId xmlns:a16="http://schemas.microsoft.com/office/drawing/2014/main" id="{8BE19F38-DA42-4C2E-A82B-2347BEB7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739">
            <a:extLst xmlns:a="http://schemas.openxmlformats.org/drawingml/2006/main">
              <a:ext uri="{FF2B5EF4-FFF2-40B4-BE49-F238E27FC236}">
                <a16:creationId xmlns:a16="http://schemas.microsoft.com/office/drawing/2014/main" id="{5A818B16-737F-45E5-8085-61962DD8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f7984bd56114865"/>
              </a:rPr>
              <a:t>Typeless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e945bb2989b4eee"/>
              </a:rPr>
              <a:t>Gemini Notebook ↗</a:t>
            </a:r>
          </a:p>
        </p:txBody>
      </p:sp>
      <p:sp>
        <p:nvSpPr>
          <p:cNvPr id="37" name="shape-777">
            <a:extLst xmlns:a="http://schemas.openxmlformats.org/drawingml/2006/main">
              <a:ext uri="{FF2B5EF4-FFF2-40B4-BE49-F238E27FC236}">
                <a16:creationId xmlns:a16="http://schemas.microsoft.com/office/drawing/2014/main" id="{5ED22A6D-1BF4-406E-ACAC-E67516B1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22a3a9a7f4ad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778">
            <a:extLst xmlns:a="http://schemas.openxmlformats.org/drawingml/2006/main">
              <a:ext uri="{FF2B5EF4-FFF2-40B4-BE49-F238E27FC236}">
                <a16:creationId xmlns:a16="http://schemas.microsoft.com/office/drawing/2014/main" id="{61513CD6-D2D5-43D2-B9B1-B2DB72B8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d7e246b0274c4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41" name="text-779">
            <a:extLst xmlns:a="http://schemas.openxmlformats.org/drawingml/2006/main">
              <a:ext uri="{FF2B5EF4-FFF2-40B4-BE49-F238E27FC236}">
                <a16:creationId xmlns:a16="http://schemas.microsoft.com/office/drawing/2014/main" id="{948618AA-393E-4544-91D7-04ADA348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39950033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250">
            <a:extLst xmlns:a="http://schemas.openxmlformats.org/drawingml/2006/main">
              <a:ext uri="{FF2B5EF4-FFF2-40B4-BE49-F238E27FC236}">
                <a16:creationId xmlns:a16="http://schemas.microsoft.com/office/drawing/2014/main" id="{0FE12DED-D57A-4885-86B1-8DA4EC8CD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THE TEACHING STUDIO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2DD0744-8B97-4325-8D6E-3A2E4450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一條完整產線，四個工具各司其職</a:t>
            </a:r>
          </a:p>
        </p:txBody>
      </p:sp>
      <p:cxnSp>
        <p:nvCxnSpPr>
          <p:cNvPr id="38" name="shape-25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52">
            <a:extLst xmlns:a="http://schemas.openxmlformats.org/drawingml/2006/main">
              <a:ext uri="{FF2B5EF4-FFF2-40B4-BE49-F238E27FC236}">
                <a16:creationId xmlns:a16="http://schemas.microsoft.com/office/drawing/2014/main" id="{63F80679-1A0C-467A-BFFE-5738A472E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993C4ED-36EF-4C90-9FE6-C9F89006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253">
            <a:extLst xmlns:a="http://schemas.openxmlformats.org/drawingml/2006/main">
              <a:ext uri="{FF2B5EF4-FFF2-40B4-BE49-F238E27FC236}">
                <a16:creationId xmlns:a16="http://schemas.microsoft.com/office/drawing/2014/main" id="{08BA150C-965E-4A26-ADD4-61D77101A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254">
            <a:extLst xmlns:a="http://schemas.openxmlformats.org/drawingml/2006/main">
              <a:ext uri="{FF2B5EF4-FFF2-40B4-BE49-F238E27FC236}">
                <a16:creationId xmlns:a16="http://schemas.microsoft.com/office/drawing/2014/main" id="{75D0C66F-68F9-4C5E-8162-02CD6B93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255">
            <a:extLst xmlns:a="http://schemas.openxmlformats.org/drawingml/2006/main">
              <a:ext uri="{FF2B5EF4-FFF2-40B4-BE49-F238E27FC236}">
                <a16:creationId xmlns:a16="http://schemas.microsoft.com/office/drawing/2014/main" id="{E5FEA99C-2A49-4072-B63B-EBD3092A9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56">
            <a:extLst xmlns:a="http://schemas.openxmlformats.org/drawingml/2006/main">
              <a:ext uri="{FF2B5EF4-FFF2-40B4-BE49-F238E27FC236}">
                <a16:creationId xmlns:a16="http://schemas.microsoft.com/office/drawing/2014/main" id="{9BB5D226-D13F-43BC-9B6C-9368535E0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10" name="text-257">
            <a:extLst xmlns:a="http://schemas.openxmlformats.org/drawingml/2006/main">
              <a:ext uri="{FF2B5EF4-FFF2-40B4-BE49-F238E27FC236}">
                <a16:creationId xmlns:a16="http://schemas.microsoft.com/office/drawing/2014/main" id="{BCEDF42D-FC0D-4F7A-BA3A-D62946D0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課綱、論文、講義、網站</a:t>
            </a:r>
          </a:p>
        </p:txBody>
      </p:sp>
      <p:sp>
        <p:nvSpPr>
          <p:cNvPr id="11" name="text-258">
            <a:extLst xmlns:a="http://schemas.openxmlformats.org/drawingml/2006/main">
              <a:ext uri="{FF2B5EF4-FFF2-40B4-BE49-F238E27FC236}">
                <a16:creationId xmlns:a16="http://schemas.microsoft.com/office/drawing/2014/main" id="{7906267F-BCAA-48AD-BD1C-2467566C5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259">
            <a:extLst xmlns:a="http://schemas.openxmlformats.org/drawingml/2006/main">
              <a:ext uri="{FF2B5EF4-FFF2-40B4-BE49-F238E27FC236}">
                <a16:creationId xmlns:a16="http://schemas.microsoft.com/office/drawing/2014/main" id="{9CF13728-6618-42ED-B921-05BAE359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260">
            <a:extLst xmlns:a="http://schemas.openxmlformats.org/drawingml/2006/main">
              <a:ext uri="{FF2B5EF4-FFF2-40B4-BE49-F238E27FC236}">
                <a16:creationId xmlns:a16="http://schemas.microsoft.com/office/drawing/2014/main" id="{819E2615-8277-4B93-A420-347D13D1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261">
            <a:extLst xmlns:a="http://schemas.openxmlformats.org/drawingml/2006/main">
              <a:ext uri="{FF2B5EF4-FFF2-40B4-BE49-F238E27FC236}">
                <a16:creationId xmlns:a16="http://schemas.microsoft.com/office/drawing/2014/main" id="{53C905D6-0C7B-466D-AB83-35E5BB37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62">
            <a:extLst xmlns:a="http://schemas.openxmlformats.org/drawingml/2006/main">
              <a:ext uri="{FF2B5EF4-FFF2-40B4-BE49-F238E27FC236}">
                <a16:creationId xmlns:a16="http://schemas.microsoft.com/office/drawing/2014/main" id="{FA3F10F5-D41C-4DCB-832F-32E5F453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6" name="text-263">
            <a:extLst xmlns:a="http://schemas.openxmlformats.org/drawingml/2006/main">
              <a:ext uri="{FF2B5EF4-FFF2-40B4-BE49-F238E27FC236}">
                <a16:creationId xmlns:a16="http://schemas.microsoft.com/office/drawing/2014/main" id="{868945D6-DF93-469C-8949-2F0551DFF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查證、整理、轉化</a:t>
            </a:r>
          </a:p>
        </p:txBody>
      </p:sp>
      <p:sp>
        <p:nvSpPr>
          <p:cNvPr id="17" name="text-264">
            <a:extLst xmlns:a="http://schemas.openxmlformats.org/drawingml/2006/main">
              <a:ext uri="{FF2B5EF4-FFF2-40B4-BE49-F238E27FC236}">
                <a16:creationId xmlns:a16="http://schemas.microsoft.com/office/drawing/2014/main" id="{10851861-D882-43E5-A2E5-BC68BB8CF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65">
            <a:extLst xmlns:a="http://schemas.openxmlformats.org/drawingml/2006/main">
              <a:ext uri="{FF2B5EF4-FFF2-40B4-BE49-F238E27FC236}">
                <a16:creationId xmlns:a16="http://schemas.microsoft.com/office/drawing/2014/main" id="{03B425A8-8A24-4324-BC21-856825959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266">
            <a:extLst xmlns:a="http://schemas.openxmlformats.org/drawingml/2006/main">
              <a:ext uri="{FF2B5EF4-FFF2-40B4-BE49-F238E27FC236}">
                <a16:creationId xmlns:a16="http://schemas.microsoft.com/office/drawing/2014/main" id="{DF613D12-86D0-43F5-91FB-1AAD32602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67">
            <a:extLst xmlns:a="http://schemas.openxmlformats.org/drawingml/2006/main">
              <a:ext uri="{FF2B5EF4-FFF2-40B4-BE49-F238E27FC236}">
                <a16:creationId xmlns:a16="http://schemas.microsoft.com/office/drawing/2014/main" id="{D1319C7D-D0DE-4792-A0E9-148A4730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68">
            <a:extLst xmlns:a="http://schemas.openxmlformats.org/drawingml/2006/main">
              <a:ext uri="{FF2B5EF4-FFF2-40B4-BE49-F238E27FC236}">
                <a16:creationId xmlns:a16="http://schemas.microsoft.com/office/drawing/2014/main" id="{A3AAC8C0-B794-4F05-8A10-D9CEDA365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22" name="text-269">
            <a:extLst xmlns:a="http://schemas.openxmlformats.org/drawingml/2006/main">
              <a:ext uri="{FF2B5EF4-FFF2-40B4-BE49-F238E27FC236}">
                <a16:creationId xmlns:a16="http://schemas.microsoft.com/office/drawing/2014/main" id="{7AA4F055-FBE8-4499-82DB-A3D3E28A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固定角色與方法</a:t>
            </a:r>
          </a:p>
        </p:txBody>
      </p:sp>
      <p:sp>
        <p:nvSpPr>
          <p:cNvPr id="23" name="text-270">
            <a:extLst xmlns:a="http://schemas.openxmlformats.org/drawingml/2006/main">
              <a:ext uri="{FF2B5EF4-FFF2-40B4-BE49-F238E27FC236}">
                <a16:creationId xmlns:a16="http://schemas.microsoft.com/office/drawing/2014/main" id="{797BB01B-9F04-4014-B03D-C18D9A54B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71">
            <a:extLst xmlns:a="http://schemas.openxmlformats.org/drawingml/2006/main">
              <a:ext uri="{FF2B5EF4-FFF2-40B4-BE49-F238E27FC236}">
                <a16:creationId xmlns:a16="http://schemas.microsoft.com/office/drawing/2014/main" id="{DE544601-6E19-499C-ABBA-F801BDE94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272">
            <a:extLst xmlns:a="http://schemas.openxmlformats.org/drawingml/2006/main">
              <a:ext uri="{FF2B5EF4-FFF2-40B4-BE49-F238E27FC236}">
                <a16:creationId xmlns:a16="http://schemas.microsoft.com/office/drawing/2014/main" id="{76781612-3EFB-4D76-BFDF-55E0271D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273">
            <a:extLst xmlns:a="http://schemas.openxmlformats.org/drawingml/2006/main">
              <a:ext uri="{FF2B5EF4-FFF2-40B4-BE49-F238E27FC236}">
                <a16:creationId xmlns:a16="http://schemas.microsoft.com/office/drawing/2014/main" id="{33093891-C1F5-4D4E-829A-9BD77DCF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274">
            <a:extLst xmlns:a="http://schemas.openxmlformats.org/drawingml/2006/main">
              <a:ext uri="{FF2B5EF4-FFF2-40B4-BE49-F238E27FC236}">
                <a16:creationId xmlns:a16="http://schemas.microsoft.com/office/drawing/2014/main" id="{176254CB-7797-423B-B327-75957DE4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8" name="text-275">
            <a:extLst xmlns:a="http://schemas.openxmlformats.org/drawingml/2006/main">
              <a:ext uri="{FF2B5EF4-FFF2-40B4-BE49-F238E27FC236}">
                <a16:creationId xmlns:a16="http://schemas.microsoft.com/office/drawing/2014/main" id="{F653716D-5DBC-4072-A1BA-FE8D8021B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做出互動作品</a:t>
            </a:r>
          </a:p>
        </p:txBody>
      </p:sp>
      <p:sp>
        <p:nvSpPr>
          <p:cNvPr id="29" name="text-276">
            <a:extLst xmlns:a="http://schemas.openxmlformats.org/drawingml/2006/main">
              <a:ext uri="{FF2B5EF4-FFF2-40B4-BE49-F238E27FC236}">
                <a16:creationId xmlns:a16="http://schemas.microsoft.com/office/drawing/2014/main" id="{1B71F19C-D9E4-42B9-8650-1F6869E4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277">
            <a:extLst xmlns:a="http://schemas.openxmlformats.org/drawingml/2006/main">
              <a:ext uri="{FF2B5EF4-FFF2-40B4-BE49-F238E27FC236}">
                <a16:creationId xmlns:a16="http://schemas.microsoft.com/office/drawing/2014/main" id="{3012C8AF-C37F-4BE1-A8E1-089409CE1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shape-278">
            <a:extLst xmlns:a="http://schemas.openxmlformats.org/drawingml/2006/main">
              <a:ext uri="{FF2B5EF4-FFF2-40B4-BE49-F238E27FC236}">
                <a16:creationId xmlns:a16="http://schemas.microsoft.com/office/drawing/2014/main" id="{3468FC1D-254E-4F23-B80B-221DE252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279">
            <a:extLst xmlns:a="http://schemas.openxmlformats.org/drawingml/2006/main">
              <a:ext uri="{FF2B5EF4-FFF2-40B4-BE49-F238E27FC236}">
                <a16:creationId xmlns:a16="http://schemas.microsoft.com/office/drawing/2014/main" id="{AACDD835-791A-4F6F-B2CA-A0012E748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280">
            <a:extLst xmlns:a="http://schemas.openxmlformats.org/drawingml/2006/main">
              <a:ext uri="{FF2B5EF4-FFF2-40B4-BE49-F238E27FC236}">
                <a16:creationId xmlns:a16="http://schemas.microsoft.com/office/drawing/2014/main" id="{51A75DCC-9135-4F73-88C8-AD39F141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</a:t>
            </a:r>
          </a:p>
        </p:txBody>
      </p:sp>
      <p:sp>
        <p:nvSpPr>
          <p:cNvPr id="34" name="text-281">
            <a:extLst xmlns:a="http://schemas.openxmlformats.org/drawingml/2006/main">
              <a:ext uri="{FF2B5EF4-FFF2-40B4-BE49-F238E27FC236}">
                <a16:creationId xmlns:a16="http://schemas.microsoft.com/office/drawing/2014/main" id="{932D46CA-FEB2-4EB9-A1BD-BFFC2670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分享、收集回饋</a:t>
            </a:r>
          </a:p>
        </p:txBody>
      </p:sp>
      <p:sp>
        <p:nvSpPr>
          <p:cNvPr id="35" name="text-282">
            <a:extLst xmlns:a="http://schemas.openxmlformats.org/drawingml/2006/main">
              <a:ext uri="{FF2B5EF4-FFF2-40B4-BE49-F238E27FC236}">
                <a16:creationId xmlns:a16="http://schemas.microsoft.com/office/drawing/2014/main" id="{C8C1B281-DBFA-4E40-9C29-673ABFA43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70171577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3">
            <a:extLst xmlns:a="http://schemas.openxmlformats.org/drawingml/2006/main">
              <a:ext uri="{FF2B5EF4-FFF2-40B4-BE49-F238E27FC236}">
                <a16:creationId xmlns:a16="http://schemas.microsoft.com/office/drawing/2014/main" id="{3D8BA745-32F7-4129-B8D5-24EE44A94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284">
            <a:extLst xmlns:a="http://schemas.openxmlformats.org/drawingml/2006/main">
              <a:ext uri="{FF2B5EF4-FFF2-40B4-BE49-F238E27FC236}">
                <a16:creationId xmlns:a16="http://schemas.microsoft.com/office/drawing/2014/main" id="{D4609217-CA63-4FC1-8CCE-D4A2B051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3" name="text-285">
            <a:extLst xmlns:a="http://schemas.openxmlformats.org/drawingml/2006/main">
              <a:ext uri="{FF2B5EF4-FFF2-40B4-BE49-F238E27FC236}">
                <a16:creationId xmlns:a16="http://schemas.microsoft.com/office/drawing/2014/main" id="{CF37B9B2-EC38-42E3-8D97-404E5BB5F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AI 的回答綁在你選定的來源上，讓文獻整理、觀點比較與教學轉化都有跡可循。</a:t>
            </a:r>
          </a:p>
        </p:txBody>
      </p:sp>
      <p:sp>
        <p:nvSpPr>
          <p:cNvPr id="4" name="shape-286">
            <a:extLst xmlns:a="http://schemas.openxmlformats.org/drawingml/2006/main">
              <a:ext uri="{FF2B5EF4-FFF2-40B4-BE49-F238E27FC236}">
                <a16:creationId xmlns:a16="http://schemas.microsoft.com/office/drawing/2014/main" id="{3FEE12EB-6D04-4F2E-9E93-158071BC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287">
            <a:extLst xmlns:a="http://schemas.openxmlformats.org/drawingml/2006/main">
              <a:ext uri="{FF2B5EF4-FFF2-40B4-BE49-F238E27FC236}">
                <a16:creationId xmlns:a16="http://schemas.microsoft.com/office/drawing/2014/main" id="{FF9BF634-7D08-464E-BC8B-CCE04D7F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28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289">
            <a:extLst xmlns:a="http://schemas.openxmlformats.org/drawingml/2006/main">
              <a:ext uri="{FF2B5EF4-FFF2-40B4-BE49-F238E27FC236}">
                <a16:creationId xmlns:a16="http://schemas.microsoft.com/office/drawing/2014/main" id="{B1A9D192-F2E6-43B4-9E12-9D587B1A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FEC7632-88A6-4A18-A6A2-70AA39C48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9" name="text-740">
            <a:extLst xmlns:a="http://schemas.openxmlformats.org/drawingml/2006/main">
              <a:ext uri="{FF2B5EF4-FFF2-40B4-BE49-F238E27FC236}">
                <a16:creationId xmlns:a16="http://schemas.microsoft.com/office/drawing/2014/main" id="{CC548FA1-0066-4FC2-9A91-199612E6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ff49d6b16874753"/>
              </a:rPr>
              <a:t>開啟 Gemini Notebook ↗</a:t>
            </a:r>
          </a:p>
        </p:txBody>
      </p:sp>
      <p:sp>
        <p:nvSpPr>
          <p:cNvPr id="10" name="shape-780">
            <a:extLst xmlns:a="http://schemas.openxmlformats.org/drawingml/2006/main">
              <a:ext uri="{FF2B5EF4-FFF2-40B4-BE49-F238E27FC236}">
                <a16:creationId xmlns:a16="http://schemas.microsoft.com/office/drawing/2014/main" id="{DE3E12CA-7E3B-46B1-928F-3B62AF71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583156dce4437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781">
            <a:extLst xmlns:a="http://schemas.openxmlformats.org/drawingml/2006/main">
              <a:ext uri="{FF2B5EF4-FFF2-40B4-BE49-F238E27FC236}">
                <a16:creationId xmlns:a16="http://schemas.microsoft.com/office/drawing/2014/main" id="{55838FD9-EFAB-47BE-9F7D-3F4B114D2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38868245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90">
            <a:extLst xmlns:a="http://schemas.openxmlformats.org/drawingml/2006/main">
              <a:ext uri="{FF2B5EF4-FFF2-40B4-BE49-F238E27FC236}">
                <a16:creationId xmlns:a16="http://schemas.microsoft.com/office/drawing/2014/main" id="{C4DD85AA-6278-4294-BF86-5596E0AA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SOURCE-GROUNDED WORKSPACE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006E234-DF14-4046-AE65-1B29D2285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Notebook：先管理證據，再生成內容</a:t>
            </a:r>
          </a:p>
        </p:txBody>
      </p:sp>
      <p:cxnSp>
        <p:nvCxnSpPr>
          <p:cNvPr id="24" name="shape-29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92">
            <a:extLst xmlns:a="http://schemas.openxmlformats.org/drawingml/2006/main">
              <a:ext uri="{FF2B5EF4-FFF2-40B4-BE49-F238E27FC236}">
                <a16:creationId xmlns:a16="http://schemas.microsoft.com/office/drawing/2014/main" id="{0850C798-256D-4A17-A0B8-E089B1E4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8F48044-EFD9-4AD8-8DA6-0A5A46879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shape-293">
            <a:extLst xmlns:a="http://schemas.openxmlformats.org/drawingml/2006/main">
              <a:ext uri="{FF2B5EF4-FFF2-40B4-BE49-F238E27FC236}">
                <a16:creationId xmlns:a16="http://schemas.microsoft.com/office/drawing/2014/main" id="{6DD42472-98CA-43AB-9841-8A71BC13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294">
            <a:extLst xmlns:a="http://schemas.openxmlformats.org/drawingml/2006/main">
              <a:ext uri="{FF2B5EF4-FFF2-40B4-BE49-F238E27FC236}">
                <a16:creationId xmlns:a16="http://schemas.microsoft.com/office/drawing/2014/main" id="{1DAC9492-A042-4B68-9F84-07BDD06C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95">
            <a:extLst xmlns:a="http://schemas.openxmlformats.org/drawingml/2006/main">
              <a:ext uri="{FF2B5EF4-FFF2-40B4-BE49-F238E27FC236}">
                <a16:creationId xmlns:a16="http://schemas.microsoft.com/office/drawing/2014/main" id="{C1DBC8BB-5795-419A-A5CB-E1627D6B0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一般聊天</a:t>
            </a:r>
          </a:p>
        </p:txBody>
      </p:sp>
      <p:sp>
        <p:nvSpPr>
          <p:cNvPr id="9" name="text-296">
            <a:extLst xmlns:a="http://schemas.openxmlformats.org/drawingml/2006/main">
              <a:ext uri="{FF2B5EF4-FFF2-40B4-BE49-F238E27FC236}">
                <a16:creationId xmlns:a16="http://schemas.microsoft.com/office/drawing/2014/main" id="{B55107C4-9843-42F2-B4CB-CF7260022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問題先出現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來源可能來自模型既有知識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需要自行追查依據</a:t>
            </a:r>
          </a:p>
        </p:txBody>
      </p:sp>
      <p:sp>
        <p:nvSpPr>
          <p:cNvPr id="10" name="text-297">
            <a:extLst xmlns:a="http://schemas.openxmlformats.org/drawingml/2006/main">
              <a:ext uri="{FF2B5EF4-FFF2-40B4-BE49-F238E27FC236}">
                <a16:creationId xmlns:a16="http://schemas.microsoft.com/office/drawing/2014/main" id="{388FC60C-B530-4F7B-9C24-BD2EC0926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11" name="text-298">
            <a:extLst xmlns:a="http://schemas.openxmlformats.org/drawingml/2006/main">
              <a:ext uri="{FF2B5EF4-FFF2-40B4-BE49-F238E27FC236}">
                <a16:creationId xmlns:a16="http://schemas.microsoft.com/office/drawing/2014/main" id="{B4F23C4B-367E-4E3B-8177-672088ADA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來源先進入筆記本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依使用者提供的來源回答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可回到引用位置檢查</a:t>
            </a:r>
          </a:p>
        </p:txBody>
      </p:sp>
      <p:sp>
        <p:nvSpPr>
          <p:cNvPr id="12" name="text-299">
            <a:extLst xmlns:a="http://schemas.openxmlformats.org/drawingml/2006/main">
              <a:ext uri="{FF2B5EF4-FFF2-40B4-BE49-F238E27FC236}">
                <a16:creationId xmlns:a16="http://schemas.microsoft.com/office/drawing/2014/main" id="{1592D606-3532-4E47-88CE-BC660357F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13" name="text-300">
            <a:extLst xmlns:a="http://schemas.openxmlformats.org/drawingml/2006/main">
              <a:ext uri="{FF2B5EF4-FFF2-40B4-BE49-F238E27FC236}">
                <a16:creationId xmlns:a16="http://schemas.microsoft.com/office/drawing/2014/main" id="{6A528C41-5A58-4924-A759-5547FA73D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4" name="text-301">
            <a:extLst xmlns:a="http://schemas.openxmlformats.org/drawingml/2006/main">
              <a:ext uri="{FF2B5EF4-FFF2-40B4-BE49-F238E27FC236}">
                <a16:creationId xmlns:a16="http://schemas.microsoft.com/office/drawing/2014/main" id="{81B8CF82-CF3B-440E-BF0A-6498C8D20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原文</a:t>
            </a:r>
          </a:p>
        </p:txBody>
      </p:sp>
      <p:cxnSp>
        <p:nvCxnSpPr>
          <p:cNvPr id="36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5247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7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1249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sp>
        <p:nvSpPr>
          <p:cNvPr id="17" name="text-302">
            <a:extLst xmlns:a="http://schemas.openxmlformats.org/drawingml/2006/main">
              <a:ext uri="{FF2B5EF4-FFF2-40B4-BE49-F238E27FC236}">
                <a16:creationId xmlns:a16="http://schemas.microsoft.com/office/drawing/2014/main" id="{E9BBEA05-323C-4B79-9E27-7BBDE7B8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435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可追查鏈：回答 → 引用位置 → 原始段落</a:t>
            </a:r>
          </a:p>
        </p:txBody>
      </p:sp>
      <p:sp>
        <p:nvSpPr>
          <p:cNvPr id="18" name="text-741">
            <a:extLst xmlns:a="http://schemas.openxmlformats.org/drawingml/2006/main">
              <a:ext uri="{FF2B5EF4-FFF2-40B4-BE49-F238E27FC236}">
                <a16:creationId xmlns:a16="http://schemas.microsoft.com/office/drawing/2014/main" id="{D22B8F46-7B86-4DFB-9F4A-F82AFB60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01346733b894274"/>
              </a:rPr>
              <a:t>開啟 Gemini Notebook ↗</a:t>
            </a:r>
          </a:p>
        </p:txBody>
      </p:sp>
      <p:sp>
        <p:nvSpPr>
          <p:cNvPr id="19" name="shape-782">
            <a:extLst xmlns:a="http://schemas.openxmlformats.org/drawingml/2006/main">
              <a:ext uri="{FF2B5EF4-FFF2-40B4-BE49-F238E27FC236}">
                <a16:creationId xmlns:a16="http://schemas.microsoft.com/office/drawing/2014/main" id="{6F69F6A0-8949-4B58-9E8E-FBBB9B669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546f180bef486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783">
            <a:extLst xmlns:a="http://schemas.openxmlformats.org/drawingml/2006/main">
              <a:ext uri="{FF2B5EF4-FFF2-40B4-BE49-F238E27FC236}">
                <a16:creationId xmlns:a16="http://schemas.microsoft.com/office/drawing/2014/main" id="{B406CA4C-04EB-42CA-9993-00087096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92737682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303">
            <a:extLst xmlns:a="http://schemas.openxmlformats.org/drawingml/2006/main">
              <a:ext uri="{FF2B5EF4-FFF2-40B4-BE49-F238E27FC236}">
                <a16:creationId xmlns:a16="http://schemas.microsoft.com/office/drawing/2014/main" id="{3F775F17-E580-447B-9E7D-16CF94E18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 KIT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84323A6-55C2-42EC-9915-79BB316D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來源包 3–2–1：小而精，先求可用</a:t>
            </a:r>
          </a:p>
        </p:txBody>
      </p:sp>
      <p:cxnSp>
        <p:nvCxnSpPr>
          <p:cNvPr id="24" name="shape-30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05">
            <a:extLst xmlns:a="http://schemas.openxmlformats.org/drawingml/2006/main">
              <a:ext uri="{FF2B5EF4-FFF2-40B4-BE49-F238E27FC236}">
                <a16:creationId xmlns:a16="http://schemas.microsoft.com/office/drawing/2014/main" id="{8ACB9C89-9CA4-40C7-8FF9-C9B132EF1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E9C6F21-BF84-4E59-A713-40AB506F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6" name="shape-306">
            <a:extLst xmlns:a="http://schemas.openxmlformats.org/drawingml/2006/main">
              <a:ext uri="{FF2B5EF4-FFF2-40B4-BE49-F238E27FC236}">
                <a16:creationId xmlns:a16="http://schemas.microsoft.com/office/drawing/2014/main" id="{FE0C6980-D229-48BA-995C-ECBB28D1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07">
            <a:extLst xmlns:a="http://schemas.openxmlformats.org/drawingml/2006/main">
              <a:ext uri="{FF2B5EF4-FFF2-40B4-BE49-F238E27FC236}">
                <a16:creationId xmlns:a16="http://schemas.microsoft.com/office/drawing/2014/main" id="{D7220069-764F-47F7-92B6-11DB3FAD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8" name="text-308">
            <a:extLst xmlns:a="http://schemas.openxmlformats.org/drawingml/2006/main">
              <a:ext uri="{FF2B5EF4-FFF2-40B4-BE49-F238E27FC236}">
                <a16:creationId xmlns:a16="http://schemas.microsoft.com/office/drawing/2014/main" id="{075F846A-75F0-4543-AB7E-430EBF62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3 份核心來源</a:t>
            </a:r>
          </a:p>
        </p:txBody>
      </p:sp>
      <p:sp>
        <p:nvSpPr>
          <p:cNvPr id="9" name="text-309">
            <a:extLst xmlns:a="http://schemas.openxmlformats.org/drawingml/2006/main">
              <a:ext uri="{FF2B5EF4-FFF2-40B4-BE49-F238E27FC236}">
                <a16:creationId xmlns:a16="http://schemas.microsoft.com/office/drawing/2014/main" id="{C1AF11F0-5290-4E8C-89B8-16A13313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課程大綱／授課講義／一篇可信研究或政策文件。</a:t>
            </a:r>
          </a:p>
        </p:txBody>
      </p:sp>
      <p:sp>
        <p:nvSpPr>
          <p:cNvPr id="10" name="shape-310">
            <a:extLst xmlns:a="http://schemas.openxmlformats.org/drawingml/2006/main">
              <a:ext uri="{FF2B5EF4-FFF2-40B4-BE49-F238E27FC236}">
                <a16:creationId xmlns:a16="http://schemas.microsoft.com/office/drawing/2014/main" id="{816F236C-3F96-48C4-A263-FA12B0785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11">
            <a:extLst xmlns:a="http://schemas.openxmlformats.org/drawingml/2006/main">
              <a:ext uri="{FF2B5EF4-FFF2-40B4-BE49-F238E27FC236}">
                <a16:creationId xmlns:a16="http://schemas.microsoft.com/office/drawing/2014/main" id="{268BFA71-B122-4C40-A306-E8BFC46C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312">
            <a:extLst xmlns:a="http://schemas.openxmlformats.org/drawingml/2006/main">
              <a:ext uri="{FF2B5EF4-FFF2-40B4-BE49-F238E27FC236}">
                <a16:creationId xmlns:a16="http://schemas.microsoft.com/office/drawing/2014/main" id="{666A2948-D10A-4AB1-965C-B13B129A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2 種觀點</a:t>
            </a:r>
          </a:p>
        </p:txBody>
      </p:sp>
      <p:sp>
        <p:nvSpPr>
          <p:cNvPr id="13" name="text-313">
            <a:extLst xmlns:a="http://schemas.openxmlformats.org/drawingml/2006/main">
              <a:ext uri="{FF2B5EF4-FFF2-40B4-BE49-F238E27FC236}">
                <a16:creationId xmlns:a16="http://schemas.microsoft.com/office/drawing/2014/main" id="{F99F0C87-C2A4-4A29-9701-298A903C2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至少納入互補或相反觀點，避免只有單一聲音。</a:t>
            </a:r>
          </a:p>
        </p:txBody>
      </p:sp>
      <p:sp>
        <p:nvSpPr>
          <p:cNvPr id="14" name="shape-314">
            <a:extLst xmlns:a="http://schemas.openxmlformats.org/drawingml/2006/main">
              <a:ext uri="{FF2B5EF4-FFF2-40B4-BE49-F238E27FC236}">
                <a16:creationId xmlns:a16="http://schemas.microsoft.com/office/drawing/2014/main" id="{778FF914-3869-43EF-8F81-2FE45BB3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15">
            <a:extLst xmlns:a="http://schemas.openxmlformats.org/drawingml/2006/main">
              <a:ext uri="{FF2B5EF4-FFF2-40B4-BE49-F238E27FC236}">
                <a16:creationId xmlns:a16="http://schemas.microsoft.com/office/drawing/2014/main" id="{E6ABADEA-13BE-4DFA-A4A8-E6B92BB26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text-316">
            <a:extLst xmlns:a="http://schemas.openxmlformats.org/drawingml/2006/main">
              <a:ext uri="{FF2B5EF4-FFF2-40B4-BE49-F238E27FC236}">
                <a16:creationId xmlns:a16="http://schemas.microsoft.com/office/drawing/2014/main" id="{6CD4EA7B-4A01-44F8-89A7-98E11A24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 個教學目的</a:t>
            </a:r>
          </a:p>
        </p:txBody>
      </p:sp>
      <p:sp>
        <p:nvSpPr>
          <p:cNvPr id="17" name="text-317">
            <a:extLst xmlns:a="http://schemas.openxmlformats.org/drawingml/2006/main">
              <a:ext uri="{FF2B5EF4-FFF2-40B4-BE49-F238E27FC236}">
                <a16:creationId xmlns:a16="http://schemas.microsoft.com/office/drawing/2014/main" id="{39318AE4-4AA7-4076-B855-CA52F6BE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明確指定要產出導讀、活動、評量或回饋。</a:t>
            </a:r>
          </a:p>
        </p:txBody>
      </p:sp>
      <p:sp>
        <p:nvSpPr>
          <p:cNvPr id="18" name="text-742">
            <a:extLst xmlns:a="http://schemas.openxmlformats.org/drawingml/2006/main">
              <a:ext uri="{FF2B5EF4-FFF2-40B4-BE49-F238E27FC236}">
                <a16:creationId xmlns:a16="http://schemas.microsoft.com/office/drawing/2014/main" id="{2BF4AE9E-032F-432E-B36E-61E64E3A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90bdf2390e8476e"/>
              </a:rPr>
              <a:t>開啟 Gemini Notebook ↗</a:t>
            </a:r>
          </a:p>
        </p:txBody>
      </p:sp>
      <p:sp>
        <p:nvSpPr>
          <p:cNvPr id="19" name="shape-784">
            <a:extLst xmlns:a="http://schemas.openxmlformats.org/drawingml/2006/main">
              <a:ext uri="{FF2B5EF4-FFF2-40B4-BE49-F238E27FC236}">
                <a16:creationId xmlns:a16="http://schemas.microsoft.com/office/drawing/2014/main" id="{22A80C65-89B6-43CC-BEE2-090757721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c748a20d9f42c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785">
            <a:extLst xmlns:a="http://schemas.openxmlformats.org/drawingml/2006/main">
              <a:ext uri="{FF2B5EF4-FFF2-40B4-BE49-F238E27FC236}">
                <a16:creationId xmlns:a16="http://schemas.microsoft.com/office/drawing/2014/main" id="{A8F7B1AE-90CF-4EDA-BA67-4EEB0DA08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61329734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318">
            <a:extLst xmlns:a="http://schemas.openxmlformats.org/drawingml/2006/main">
              <a:ext uri="{FF2B5EF4-FFF2-40B4-BE49-F238E27FC236}">
                <a16:creationId xmlns:a16="http://schemas.microsoft.com/office/drawing/2014/main" id="{EEE7F0CE-5691-4FCB-A22D-C37A0836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 · GITHUB × GEMINI NOTEBOOK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CAFF793-AC36-42F8-92D7-E4591B7B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示範：教學駕駛艙 × Gemini Notebook</a:t>
            </a:r>
          </a:p>
        </p:txBody>
      </p:sp>
      <p:cxnSp>
        <p:nvCxnSpPr>
          <p:cNvPr id="40" name="shape-31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20">
            <a:extLst xmlns:a="http://schemas.openxmlformats.org/drawingml/2006/main">
              <a:ext uri="{FF2B5EF4-FFF2-40B4-BE49-F238E27FC236}">
                <a16:creationId xmlns:a16="http://schemas.microsoft.com/office/drawing/2014/main" id="{63DC750B-031A-4E47-8D46-DCFC33C2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F2CF940-8FA1-42E4-8B99-8D4FF6D3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321">
            <a:extLst xmlns:a="http://schemas.openxmlformats.org/drawingml/2006/main">
              <a:ext uri="{FF2B5EF4-FFF2-40B4-BE49-F238E27FC236}">
                <a16:creationId xmlns:a16="http://schemas.microsoft.com/office/drawing/2014/main" id="{7593B128-D203-462F-972C-F087645A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322">
            <a:extLst xmlns:a="http://schemas.openxmlformats.org/drawingml/2006/main">
              <a:ext uri="{FF2B5EF4-FFF2-40B4-BE49-F238E27FC236}">
                <a16:creationId xmlns:a16="http://schemas.microsoft.com/office/drawing/2014/main" id="{4411222A-41F5-4EB1-ADC4-5DE4F299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323">
            <a:extLst xmlns:a="http://schemas.openxmlformats.org/drawingml/2006/main">
              <a:ext uri="{FF2B5EF4-FFF2-40B4-BE49-F238E27FC236}">
                <a16:creationId xmlns:a16="http://schemas.microsoft.com/office/drawing/2014/main" id="{BF44DEC5-51CC-4E21-9C95-717AEB79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24">
            <a:extLst xmlns:a="http://schemas.openxmlformats.org/drawingml/2006/main">
              <a:ext uri="{FF2B5EF4-FFF2-40B4-BE49-F238E27FC236}">
                <a16:creationId xmlns:a16="http://schemas.microsoft.com/office/drawing/2014/main" id="{F50CF3F0-9612-4ADA-B537-88F7E71C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開啟資源</a:t>
            </a:r>
          </a:p>
        </p:txBody>
      </p:sp>
      <p:sp>
        <p:nvSpPr>
          <p:cNvPr id="10" name="text-325">
            <a:extLst xmlns:a="http://schemas.openxmlformats.org/drawingml/2006/main">
              <a:ext uri="{FF2B5EF4-FFF2-40B4-BE49-F238E27FC236}">
                <a16:creationId xmlns:a16="http://schemas.microsoft.com/office/drawing/2014/main" id="{0F75F7F5-F5C1-4E3F-9ABC-58A337C4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先看 it-cockpit 的 README、目錄與單元頁</a:t>
            </a:r>
          </a:p>
        </p:txBody>
      </p:sp>
      <p:sp>
        <p:nvSpPr>
          <p:cNvPr id="11" name="text-326">
            <a:extLst xmlns:a="http://schemas.openxmlformats.org/drawingml/2006/main">
              <a:ext uri="{FF2B5EF4-FFF2-40B4-BE49-F238E27FC236}">
                <a16:creationId xmlns:a16="http://schemas.microsoft.com/office/drawing/2014/main" id="{B84B9367-11BC-4BCB-983B-934C4A05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327">
            <a:extLst xmlns:a="http://schemas.openxmlformats.org/drawingml/2006/main">
              <a:ext uri="{FF2B5EF4-FFF2-40B4-BE49-F238E27FC236}">
                <a16:creationId xmlns:a16="http://schemas.microsoft.com/office/drawing/2014/main" id="{718A711D-45EB-4019-99EA-BA5D0BD4F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328">
            <a:extLst xmlns:a="http://schemas.openxmlformats.org/drawingml/2006/main">
              <a:ext uri="{FF2B5EF4-FFF2-40B4-BE49-F238E27FC236}">
                <a16:creationId xmlns:a16="http://schemas.microsoft.com/office/drawing/2014/main" id="{2C0AD9DD-D129-4196-BAFB-C8EC42D6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329">
            <a:extLst xmlns:a="http://schemas.openxmlformats.org/drawingml/2006/main">
              <a:ext uri="{FF2B5EF4-FFF2-40B4-BE49-F238E27FC236}">
                <a16:creationId xmlns:a16="http://schemas.microsoft.com/office/drawing/2014/main" id="{91312994-FAD9-485E-9338-04D1B13E0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330">
            <a:extLst xmlns:a="http://schemas.openxmlformats.org/drawingml/2006/main">
              <a:ext uri="{FF2B5EF4-FFF2-40B4-BE49-F238E27FC236}">
                <a16:creationId xmlns:a16="http://schemas.microsoft.com/office/drawing/2014/main" id="{41D0FFDA-1711-49F9-88F4-5D897E513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挑選來源</a:t>
            </a:r>
          </a:p>
        </p:txBody>
      </p:sp>
      <p:sp>
        <p:nvSpPr>
          <p:cNvPr id="16" name="text-331">
            <a:extLst xmlns:a="http://schemas.openxmlformats.org/drawingml/2006/main">
              <a:ext uri="{FF2B5EF4-FFF2-40B4-BE49-F238E27FC236}">
                <a16:creationId xmlns:a16="http://schemas.microsoft.com/office/drawing/2014/main" id="{61F4D34C-1EF2-4284-97DB-21ECB8898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選教材、課程說明、影片或互動頁，組成小型來源包</a:t>
            </a:r>
          </a:p>
        </p:txBody>
      </p:sp>
      <p:sp>
        <p:nvSpPr>
          <p:cNvPr id="17" name="text-332">
            <a:extLst xmlns:a="http://schemas.openxmlformats.org/drawingml/2006/main">
              <a:ext uri="{FF2B5EF4-FFF2-40B4-BE49-F238E27FC236}">
                <a16:creationId xmlns:a16="http://schemas.microsoft.com/office/drawing/2014/main" id="{53476B13-DFC7-4219-8724-1739B74D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333">
            <a:extLst xmlns:a="http://schemas.openxmlformats.org/drawingml/2006/main">
              <a:ext uri="{FF2B5EF4-FFF2-40B4-BE49-F238E27FC236}">
                <a16:creationId xmlns:a16="http://schemas.microsoft.com/office/drawing/2014/main" id="{157B1A2B-96C2-4D43-844A-57BC51147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334">
            <a:extLst xmlns:a="http://schemas.openxmlformats.org/drawingml/2006/main">
              <a:ext uri="{FF2B5EF4-FFF2-40B4-BE49-F238E27FC236}">
                <a16:creationId xmlns:a16="http://schemas.microsoft.com/office/drawing/2014/main" id="{C8AECEE6-3486-4845-A2BC-A0F9C454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335">
            <a:extLst xmlns:a="http://schemas.openxmlformats.org/drawingml/2006/main">
              <a:ext uri="{FF2B5EF4-FFF2-40B4-BE49-F238E27FC236}">
                <a16:creationId xmlns:a16="http://schemas.microsoft.com/office/drawing/2014/main" id="{974B98C2-5669-4343-8063-736DA3126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336">
            <a:extLst xmlns:a="http://schemas.openxmlformats.org/drawingml/2006/main">
              <a:ext uri="{FF2B5EF4-FFF2-40B4-BE49-F238E27FC236}">
                <a16:creationId xmlns:a16="http://schemas.microsoft.com/office/drawing/2014/main" id="{4FA60497-09C0-410C-899A-76BBE5625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提問查證</a:t>
            </a:r>
          </a:p>
        </p:txBody>
      </p:sp>
      <p:sp>
        <p:nvSpPr>
          <p:cNvPr id="22" name="text-337">
            <a:extLst xmlns:a="http://schemas.openxmlformats.org/drawingml/2006/main">
              <a:ext uri="{FF2B5EF4-FFF2-40B4-BE49-F238E27FC236}">
                <a16:creationId xmlns:a16="http://schemas.microsoft.com/office/drawing/2014/main" id="{D35BAE59-127C-4F8A-9390-6DF9F234F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請列引用、找差異，也測一題來源中沒有答案的問題</a:t>
            </a:r>
          </a:p>
        </p:txBody>
      </p:sp>
      <p:sp>
        <p:nvSpPr>
          <p:cNvPr id="23" name="text-338">
            <a:extLst xmlns:a="http://schemas.openxmlformats.org/drawingml/2006/main">
              <a:ext uri="{FF2B5EF4-FFF2-40B4-BE49-F238E27FC236}">
                <a16:creationId xmlns:a16="http://schemas.microsoft.com/office/drawing/2014/main" id="{C56265A5-97CD-4EAF-8D95-5E4631AD7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339">
            <a:extLst xmlns:a="http://schemas.openxmlformats.org/drawingml/2006/main">
              <a:ext uri="{FF2B5EF4-FFF2-40B4-BE49-F238E27FC236}">
                <a16:creationId xmlns:a16="http://schemas.microsoft.com/office/drawing/2014/main" id="{3095E1CE-FE92-4446-8CD6-B7016274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340">
            <a:extLst xmlns:a="http://schemas.openxmlformats.org/drawingml/2006/main">
              <a:ext uri="{FF2B5EF4-FFF2-40B4-BE49-F238E27FC236}">
                <a16:creationId xmlns:a16="http://schemas.microsoft.com/office/drawing/2014/main" id="{9E74B737-9524-48A8-8A2A-0BAD2EC21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341">
            <a:extLst xmlns:a="http://schemas.openxmlformats.org/drawingml/2006/main">
              <a:ext uri="{FF2B5EF4-FFF2-40B4-BE49-F238E27FC236}">
                <a16:creationId xmlns:a16="http://schemas.microsoft.com/office/drawing/2014/main" id="{C7217F17-BC5C-41FA-8963-2E1E8711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342">
            <a:extLst xmlns:a="http://schemas.openxmlformats.org/drawingml/2006/main">
              <a:ext uri="{FF2B5EF4-FFF2-40B4-BE49-F238E27FC236}">
                <a16:creationId xmlns:a16="http://schemas.microsoft.com/office/drawing/2014/main" id="{939E1633-A1FA-4957-9E69-01696994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轉成教學</a:t>
            </a:r>
          </a:p>
        </p:txBody>
      </p:sp>
      <p:sp>
        <p:nvSpPr>
          <p:cNvPr id="28" name="text-343">
            <a:extLst xmlns:a="http://schemas.openxmlformats.org/drawingml/2006/main">
              <a:ext uri="{FF2B5EF4-FFF2-40B4-BE49-F238E27FC236}">
                <a16:creationId xmlns:a16="http://schemas.microsoft.com/office/drawing/2014/main" id="{7F6A6C8F-E0FC-4D69-A038-A13C7DF96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把整理結果轉成導讀、學習單、活動或共備摘要</a:t>
            </a:r>
          </a:p>
        </p:txBody>
      </p:sp>
      <p:sp>
        <p:nvSpPr>
          <p:cNvPr id="29" name="text-344">
            <a:extLst xmlns:a="http://schemas.openxmlformats.org/drawingml/2006/main">
              <a:ext uri="{FF2B5EF4-FFF2-40B4-BE49-F238E27FC236}">
                <a16:creationId xmlns:a16="http://schemas.microsoft.com/office/drawing/2014/main" id="{FB7A6D26-3AF2-4F72-9336-D1EAA538F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746">
            <a:extLst xmlns:a="http://schemas.openxmlformats.org/drawingml/2006/main">
              <a:ext uri="{FF2B5EF4-FFF2-40B4-BE49-F238E27FC236}">
                <a16:creationId xmlns:a16="http://schemas.microsoft.com/office/drawing/2014/main" id="{6F3FC918-F5EA-437A-9107-C1F6A89A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3e66b8d56c54c6f"/>
              </a:rPr>
              <a:t>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6c67aefc87f409b"/>
              </a:rPr>
              <a:t>Cockpit GitHub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18371e093fb4ed9"/>
              </a:rPr>
              <a:t>Cockpit ↗</a:t>
            </a:r>
          </a:p>
        </p:txBody>
      </p:sp>
      <p:sp>
        <p:nvSpPr>
          <p:cNvPr id="31" name="shape-792">
            <a:extLst xmlns:a="http://schemas.openxmlformats.org/drawingml/2006/main">
              <a:ext uri="{FF2B5EF4-FFF2-40B4-BE49-F238E27FC236}">
                <a16:creationId xmlns:a16="http://schemas.microsoft.com/office/drawing/2014/main" id="{6939A1FC-1F55-47C3-8635-7F1D58D5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3e483be94942d7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3" name="text-793">
            <a:extLst xmlns:a="http://schemas.openxmlformats.org/drawingml/2006/main">
              <a:ext uri="{FF2B5EF4-FFF2-40B4-BE49-F238E27FC236}">
                <a16:creationId xmlns:a16="http://schemas.microsoft.com/office/drawing/2014/main" id="{DA673C70-B76C-4A2E-85F3-24C9AC4D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c4e51e91d247ff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5" name="text-794">
            <a:extLst xmlns:a="http://schemas.openxmlformats.org/drawingml/2006/main">
              <a:ext uri="{FF2B5EF4-FFF2-40B4-BE49-F238E27FC236}">
                <a16:creationId xmlns:a16="http://schemas.microsoft.com/office/drawing/2014/main" id="{8038E581-F2FC-4B6F-93D5-72186405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Cockpit GitH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00a1a0af4043c2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7" name="text-795">
            <a:extLst xmlns:a="http://schemas.openxmlformats.org/drawingml/2006/main">
              <a:ext uri="{FF2B5EF4-FFF2-40B4-BE49-F238E27FC236}">
                <a16:creationId xmlns:a16="http://schemas.microsoft.com/office/drawing/2014/main" id="{43B34C25-C02D-4D34-B277-DA31D5BC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教學駕駛艙</a:t>
            </a:r>
          </a:p>
        </p:txBody>
      </p:sp>
    </p:spTree>
    <p:extLst>
      <p:ext uri="{BB962C8B-B14F-4D97-AF65-F5344CB8AC3E}">
        <p14:creationId xmlns:p14="http://schemas.microsoft.com/office/powerpoint/2010/main" val="15105759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345">
            <a:extLst xmlns:a="http://schemas.openxmlformats.org/drawingml/2006/main">
              <a:ext uri="{FF2B5EF4-FFF2-40B4-BE49-F238E27FC236}">
                <a16:creationId xmlns:a16="http://schemas.microsoft.com/office/drawing/2014/main" id="{30F91D80-2510-4162-98E2-F82E93CB5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4E9431-8D16-4BC4-BB39-49C91F8D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實作一｜教學駕駛艙 × Gemini Notebook</a:t>
            </a:r>
          </a:p>
        </p:txBody>
      </p:sp>
      <p:cxnSp>
        <p:nvCxnSpPr>
          <p:cNvPr id="27" name="shape-34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47">
            <a:extLst xmlns:a="http://schemas.openxmlformats.org/drawingml/2006/main">
              <a:ext uri="{FF2B5EF4-FFF2-40B4-BE49-F238E27FC236}">
                <a16:creationId xmlns:a16="http://schemas.microsoft.com/office/drawing/2014/main" id="{6E090FE8-3F64-42F0-B66D-EF6E135CC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0E25B56-4C88-422A-A712-A14279698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text-348">
            <a:extLst xmlns:a="http://schemas.openxmlformats.org/drawingml/2006/main">
              <a:ext uri="{FF2B5EF4-FFF2-40B4-BE49-F238E27FC236}">
                <a16:creationId xmlns:a16="http://schemas.microsoft.com/office/drawing/2014/main" id="{7CA8DFDC-4797-4531-98CC-9AB491BDF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349">
            <a:extLst xmlns:a="http://schemas.openxmlformats.org/drawingml/2006/main">
              <a:ext uri="{FF2B5EF4-FFF2-40B4-BE49-F238E27FC236}">
                <a16:creationId xmlns:a16="http://schemas.microsoft.com/office/drawing/2014/main" id="{CED181BB-EBE2-4F04-9035-010053DA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350">
            <a:extLst xmlns:a="http://schemas.openxmlformats.org/drawingml/2006/main">
              <a:ext uri="{FF2B5EF4-FFF2-40B4-BE49-F238E27FC236}">
                <a16:creationId xmlns:a16="http://schemas.microsoft.com/office/drawing/2014/main" id="{9192A822-BB2E-4A08-87F9-B2639FB8B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51">
            <a:extLst xmlns:a="http://schemas.openxmlformats.org/drawingml/2006/main">
              <a:ext uri="{FF2B5EF4-FFF2-40B4-BE49-F238E27FC236}">
                <a16:creationId xmlns:a16="http://schemas.microsoft.com/office/drawing/2014/main" id="{41E58470-8563-4382-AED7-13733B19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it-cockpit repo 或公開駕駛艙，選定一個單元</a:t>
            </a:r>
          </a:p>
        </p:txBody>
      </p:sp>
      <p:sp>
        <p:nvSpPr>
          <p:cNvPr id="10" name="text-352">
            <a:extLst xmlns:a="http://schemas.openxmlformats.org/drawingml/2006/main">
              <a:ext uri="{FF2B5EF4-FFF2-40B4-BE49-F238E27FC236}">
                <a16:creationId xmlns:a16="http://schemas.microsoft.com/office/drawing/2014/main" id="{4B162FC7-A0EF-426A-B209-F11E54CEF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353">
            <a:extLst xmlns:a="http://schemas.openxmlformats.org/drawingml/2006/main">
              <a:ext uri="{FF2B5EF4-FFF2-40B4-BE49-F238E27FC236}">
                <a16:creationId xmlns:a16="http://schemas.microsoft.com/office/drawing/2014/main" id="{B80921BB-8D0C-48F2-AC66-4C44B7481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 2–3 份可公開、互相補充的來源</a:t>
            </a:r>
          </a:p>
        </p:txBody>
      </p:sp>
      <p:sp>
        <p:nvSpPr>
          <p:cNvPr id="12" name="text-354">
            <a:extLst xmlns:a="http://schemas.openxmlformats.org/drawingml/2006/main">
              <a:ext uri="{FF2B5EF4-FFF2-40B4-BE49-F238E27FC236}">
                <a16:creationId xmlns:a16="http://schemas.microsoft.com/office/drawing/2014/main" id="{416B164D-3ED4-4D91-B6E1-9A661825E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355">
            <a:extLst xmlns:a="http://schemas.openxmlformats.org/drawingml/2006/main">
              <a:ext uri="{FF2B5EF4-FFF2-40B4-BE49-F238E27FC236}">
                <a16:creationId xmlns:a16="http://schemas.microsoft.com/office/drawing/2014/main" id="{48EE0E10-0579-43FE-9331-34D07E254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 1 個理解題與 1 個轉化題</a:t>
            </a:r>
          </a:p>
        </p:txBody>
      </p:sp>
      <p:sp>
        <p:nvSpPr>
          <p:cNvPr id="14" name="text-356">
            <a:extLst xmlns:a="http://schemas.openxmlformats.org/drawingml/2006/main">
              <a:ext uri="{FF2B5EF4-FFF2-40B4-BE49-F238E27FC236}">
                <a16:creationId xmlns:a16="http://schemas.microsoft.com/office/drawing/2014/main" id="{B9C512F7-BB84-4608-A084-1FA85233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357">
            <a:extLst xmlns:a="http://schemas.openxmlformats.org/drawingml/2006/main">
              <a:ext uri="{FF2B5EF4-FFF2-40B4-BE49-F238E27FC236}">
                <a16:creationId xmlns:a16="http://schemas.microsoft.com/office/drawing/2014/main" id="{CC6879A5-ED13-4CD2-A85C-EC3E30F13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點開引用，保存一個可用輸出與一個待修正處</a:t>
            </a:r>
          </a:p>
        </p:txBody>
      </p:sp>
      <p:sp>
        <p:nvSpPr>
          <p:cNvPr id="16" name="shape-358">
            <a:extLst xmlns:a="http://schemas.openxmlformats.org/drawingml/2006/main">
              <a:ext uri="{FF2B5EF4-FFF2-40B4-BE49-F238E27FC236}">
                <a16:creationId xmlns:a16="http://schemas.microsoft.com/office/drawing/2014/main" id="{BCCA9B0F-5023-4B83-9A94-0A7F7C1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359">
            <a:extLst xmlns:a="http://schemas.openxmlformats.org/drawingml/2006/main">
              <a:ext uri="{FF2B5EF4-FFF2-40B4-BE49-F238E27FC236}">
                <a16:creationId xmlns:a16="http://schemas.microsoft.com/office/drawing/2014/main" id="{D6357738-94A9-4EAA-BA9E-2811172C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360">
            <a:extLst xmlns:a="http://schemas.openxmlformats.org/drawingml/2006/main">
              <a:ext uri="{FF2B5EF4-FFF2-40B4-BE49-F238E27FC236}">
                <a16:creationId xmlns:a16="http://schemas.microsoft.com/office/drawing/2014/main" id="{E4EC2FF7-955A-4A5A-94A4-5D978E7C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7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來源來自 GitHub／公開教材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 1 個引用可追查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完成一個能進入課堂的輸出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記錄一個需人工修正的地方</a:t>
            </a:r>
          </a:p>
        </p:txBody>
      </p:sp>
      <p:sp>
        <p:nvSpPr>
          <p:cNvPr id="19" name="text-747">
            <a:extLst xmlns:a="http://schemas.openxmlformats.org/drawingml/2006/main">
              <a:ext uri="{FF2B5EF4-FFF2-40B4-BE49-F238E27FC236}">
                <a16:creationId xmlns:a16="http://schemas.microsoft.com/office/drawing/2014/main" id="{D9EAAE8E-EC3A-49FE-B023-CF3BEA3BE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4e7920ab4614ff5"/>
              </a:rPr>
              <a:t>Notebook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12177a31b574c46"/>
              </a:rPr>
              <a:t>Cockpit ↗</a:t>
            </a:r>
          </a:p>
        </p:txBody>
      </p:sp>
      <p:sp>
        <p:nvSpPr>
          <p:cNvPr id="20" name="shape-796">
            <a:extLst xmlns:a="http://schemas.openxmlformats.org/drawingml/2006/main">
              <a:ext uri="{FF2B5EF4-FFF2-40B4-BE49-F238E27FC236}">
                <a16:creationId xmlns:a16="http://schemas.microsoft.com/office/drawing/2014/main" id="{A6376CC9-E7A8-45F4-9F83-4AF97420B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c4b7d4ac7c49a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797">
            <a:extLst xmlns:a="http://schemas.openxmlformats.org/drawingml/2006/main">
              <a:ext uri="{FF2B5EF4-FFF2-40B4-BE49-F238E27FC236}">
                <a16:creationId xmlns:a16="http://schemas.microsoft.com/office/drawing/2014/main" id="{76440E7B-BE05-49A9-85E7-B5D8809F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3151b3475f467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798">
            <a:extLst xmlns:a="http://schemas.openxmlformats.org/drawingml/2006/main">
              <a:ext uri="{FF2B5EF4-FFF2-40B4-BE49-F238E27FC236}">
                <a16:creationId xmlns:a16="http://schemas.microsoft.com/office/drawing/2014/main" id="{CD3FE1C4-99EE-4269-A20C-205D899A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教學駕駛艙</a:t>
            </a:r>
          </a:p>
        </p:txBody>
      </p:sp>
    </p:spTree>
    <p:extLst>
      <p:ext uri="{BB962C8B-B14F-4D97-AF65-F5344CB8AC3E}">
        <p14:creationId xmlns:p14="http://schemas.microsoft.com/office/powerpoint/2010/main" val="52409072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361">
            <a:extLst xmlns:a="http://schemas.openxmlformats.org/drawingml/2006/main">
              <a:ext uri="{FF2B5EF4-FFF2-40B4-BE49-F238E27FC236}">
                <a16:creationId xmlns:a16="http://schemas.microsoft.com/office/drawing/2014/main" id="{C1CFF0DB-E50B-41C2-BBC5-9CD1B57E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PROMPT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5F93D2E-38FE-4236-BCD0-A1EB188C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三層提問法：從讀懂到能教</a:t>
            </a:r>
          </a:p>
        </p:txBody>
      </p:sp>
      <p:cxnSp>
        <p:nvCxnSpPr>
          <p:cNvPr id="24" name="shape-36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63">
            <a:extLst xmlns:a="http://schemas.openxmlformats.org/drawingml/2006/main">
              <a:ext uri="{FF2B5EF4-FFF2-40B4-BE49-F238E27FC236}">
                <a16:creationId xmlns:a16="http://schemas.microsoft.com/office/drawing/2014/main" id="{FEB0E380-822F-472A-B505-9471FF329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710F41B-F40A-4091-8F6E-88C5C935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364">
            <a:extLst xmlns:a="http://schemas.openxmlformats.org/drawingml/2006/main">
              <a:ext uri="{FF2B5EF4-FFF2-40B4-BE49-F238E27FC236}">
                <a16:creationId xmlns:a16="http://schemas.microsoft.com/office/drawing/2014/main" id="{F6875D5D-B2C2-4371-B89F-2840CEF9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65">
            <a:extLst xmlns:a="http://schemas.openxmlformats.org/drawingml/2006/main">
              <a:ext uri="{FF2B5EF4-FFF2-40B4-BE49-F238E27FC236}">
                <a16:creationId xmlns:a16="http://schemas.microsoft.com/office/drawing/2014/main" id="{D6C63F25-839E-4FB3-B192-940071CC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366">
            <a:extLst xmlns:a="http://schemas.openxmlformats.org/drawingml/2006/main">
              <a:ext uri="{FF2B5EF4-FFF2-40B4-BE49-F238E27FC236}">
                <a16:creationId xmlns:a16="http://schemas.microsoft.com/office/drawing/2014/main" id="{DDA24BE2-9D1F-43AB-8639-E56BEC57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9" name="text-367">
            <a:extLst xmlns:a="http://schemas.openxmlformats.org/drawingml/2006/main">
              <a:ext uri="{FF2B5EF4-FFF2-40B4-BE49-F238E27FC236}">
                <a16:creationId xmlns:a16="http://schemas.microsoft.com/office/drawing/2014/main" id="{F49488A6-10C8-4157-8813-890F2941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只依來源，用 150 字解釋核心概念；列出 3 個關鍵詞與引用。</a:t>
            </a:r>
          </a:p>
        </p:txBody>
      </p:sp>
      <p:sp>
        <p:nvSpPr>
          <p:cNvPr id="10" name="shape-368">
            <a:extLst xmlns:a="http://schemas.openxmlformats.org/drawingml/2006/main">
              <a:ext uri="{FF2B5EF4-FFF2-40B4-BE49-F238E27FC236}">
                <a16:creationId xmlns:a16="http://schemas.microsoft.com/office/drawing/2014/main" id="{745C649C-A91F-4ADA-8E0A-1BA33AB18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69">
            <a:extLst xmlns:a="http://schemas.openxmlformats.org/drawingml/2006/main">
              <a:ext uri="{FF2B5EF4-FFF2-40B4-BE49-F238E27FC236}">
                <a16:creationId xmlns:a16="http://schemas.microsoft.com/office/drawing/2014/main" id="{49434C21-68FC-4827-AE00-D4F7A48D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370">
            <a:extLst xmlns:a="http://schemas.openxmlformats.org/drawingml/2006/main">
              <a:ext uri="{FF2B5EF4-FFF2-40B4-BE49-F238E27FC236}">
                <a16:creationId xmlns:a16="http://schemas.microsoft.com/office/drawing/2014/main" id="{5DEE2ABF-BF55-42E3-8DEE-92B191CA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</a:t>
            </a:r>
          </a:p>
        </p:txBody>
      </p:sp>
      <p:sp>
        <p:nvSpPr>
          <p:cNvPr id="13" name="text-371">
            <a:extLst xmlns:a="http://schemas.openxmlformats.org/drawingml/2006/main">
              <a:ext uri="{FF2B5EF4-FFF2-40B4-BE49-F238E27FC236}">
                <a16:creationId xmlns:a16="http://schemas.microsoft.com/office/drawing/2014/main" id="{8A2133D1-8A87-4454-9207-1E1DD1A4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比較來源 A、B 的主張、證據與限制；用表格呈現。</a:t>
            </a:r>
          </a:p>
        </p:txBody>
      </p:sp>
      <p:sp>
        <p:nvSpPr>
          <p:cNvPr id="14" name="shape-372">
            <a:extLst xmlns:a="http://schemas.openxmlformats.org/drawingml/2006/main">
              <a:ext uri="{FF2B5EF4-FFF2-40B4-BE49-F238E27FC236}">
                <a16:creationId xmlns:a16="http://schemas.microsoft.com/office/drawing/2014/main" id="{1D206D48-0EEE-4C79-8862-BE560C03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73">
            <a:extLst xmlns:a="http://schemas.openxmlformats.org/drawingml/2006/main">
              <a:ext uri="{FF2B5EF4-FFF2-40B4-BE49-F238E27FC236}">
                <a16:creationId xmlns:a16="http://schemas.microsoft.com/office/drawing/2014/main" id="{94EBEAC4-7056-4A55-BB29-5EAF1CD1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374">
            <a:extLst xmlns:a="http://schemas.openxmlformats.org/drawingml/2006/main">
              <a:ext uri="{FF2B5EF4-FFF2-40B4-BE49-F238E27FC236}">
                <a16:creationId xmlns:a16="http://schemas.microsoft.com/office/drawing/2014/main" id="{46A248A1-9165-4268-9EAD-053AB68F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轉化</a:t>
            </a:r>
          </a:p>
        </p:txBody>
      </p:sp>
      <p:sp>
        <p:nvSpPr>
          <p:cNvPr id="17" name="text-375">
            <a:extLst xmlns:a="http://schemas.openxmlformats.org/drawingml/2006/main">
              <a:ext uri="{FF2B5EF4-FFF2-40B4-BE49-F238E27FC236}">
                <a16:creationId xmlns:a16="http://schemas.microsoft.com/office/drawing/2014/main" id="{AEC8FF86-4BF8-4214-9C57-DCE21D54C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依來源設計 20 分鐘活動；包含目標、步驟、提問與檢核。</a:t>
            </a:r>
          </a:p>
        </p:txBody>
      </p:sp>
      <p:sp>
        <p:nvSpPr>
          <p:cNvPr id="18" name="text-743">
            <a:extLst xmlns:a="http://schemas.openxmlformats.org/drawingml/2006/main">
              <a:ext uri="{FF2B5EF4-FFF2-40B4-BE49-F238E27FC236}">
                <a16:creationId xmlns:a16="http://schemas.microsoft.com/office/drawing/2014/main" id="{8036EE49-0C3B-40F8-8B84-764FCF5EF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106e5ccc22a4128"/>
              </a:rPr>
              <a:t>開啟 Gemini Notebook ↗</a:t>
            </a:r>
          </a:p>
        </p:txBody>
      </p:sp>
      <p:sp>
        <p:nvSpPr>
          <p:cNvPr id="19" name="shape-786">
            <a:extLst xmlns:a="http://schemas.openxmlformats.org/drawingml/2006/main">
              <a:ext uri="{FF2B5EF4-FFF2-40B4-BE49-F238E27FC236}">
                <a16:creationId xmlns:a16="http://schemas.microsoft.com/office/drawing/2014/main" id="{22CC61C9-0C4B-43C3-B18F-E75E37D5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40ad21f07d409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787">
            <a:extLst xmlns:a="http://schemas.openxmlformats.org/drawingml/2006/main">
              <a:ext uri="{FF2B5EF4-FFF2-40B4-BE49-F238E27FC236}">
                <a16:creationId xmlns:a16="http://schemas.microsoft.com/office/drawing/2014/main" id="{13C3F5B9-B407-49D0-B71B-B234A5E6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209732475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76">
            <a:extLst xmlns:a="http://schemas.openxmlformats.org/drawingml/2006/main">
              <a:ext uri="{FF2B5EF4-FFF2-40B4-BE49-F238E27FC236}">
                <a16:creationId xmlns:a16="http://schemas.microsoft.com/office/drawing/2014/main" id="{DFABFC5F-1F80-48E2-8A20-D94B93ACC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COCKPIT OUTPUTS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BA1DC78-FA15-4F97-8A05-4F7B595F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教學駕駛艙如何接住 Gemini Notebook 的產出</a:t>
            </a:r>
          </a:p>
        </p:txBody>
      </p:sp>
      <p:cxnSp>
        <p:nvCxnSpPr>
          <p:cNvPr id="28" name="shape-37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78">
            <a:extLst xmlns:a="http://schemas.openxmlformats.org/drawingml/2006/main">
              <a:ext uri="{FF2B5EF4-FFF2-40B4-BE49-F238E27FC236}">
                <a16:creationId xmlns:a16="http://schemas.microsoft.com/office/drawing/2014/main" id="{5FB39F25-14BF-4DC8-993D-B4E69978A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23FE819-0F11-405B-9558-FD2623B6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shape-379">
            <a:extLst xmlns:a="http://schemas.openxmlformats.org/drawingml/2006/main">
              <a:ext uri="{FF2B5EF4-FFF2-40B4-BE49-F238E27FC236}">
                <a16:creationId xmlns:a16="http://schemas.microsoft.com/office/drawing/2014/main" id="{B778A141-4CA0-44B2-8206-A5F6AE470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80">
            <a:extLst xmlns:a="http://schemas.openxmlformats.org/drawingml/2006/main">
              <a:ext uri="{FF2B5EF4-FFF2-40B4-BE49-F238E27FC236}">
                <a16:creationId xmlns:a16="http://schemas.microsoft.com/office/drawing/2014/main" id="{D6E79B9B-8B49-4727-A985-F85D73B41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381">
            <a:extLst xmlns:a="http://schemas.openxmlformats.org/drawingml/2006/main">
              <a:ext uri="{FF2B5EF4-FFF2-40B4-BE49-F238E27FC236}">
                <a16:creationId xmlns:a16="http://schemas.microsoft.com/office/drawing/2014/main" id="{29794B80-4CF7-481C-B100-990CAAEC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課程導讀</a:t>
            </a:r>
          </a:p>
        </p:txBody>
      </p:sp>
      <p:sp>
        <p:nvSpPr>
          <p:cNvPr id="9" name="text-382">
            <a:extLst xmlns:a="http://schemas.openxmlformats.org/drawingml/2006/main">
              <a:ext uri="{FF2B5EF4-FFF2-40B4-BE49-F238E27FC236}">
                <a16:creationId xmlns:a16="http://schemas.microsoft.com/office/drawing/2014/main" id="{B0ED72D5-9759-4CAE-8F79-1561884E5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README 與單元頁整理學習目標、先備知識與學習路徑。</a:t>
            </a:r>
          </a:p>
        </p:txBody>
      </p:sp>
      <p:sp>
        <p:nvSpPr>
          <p:cNvPr id="10" name="shape-383">
            <a:extLst xmlns:a="http://schemas.openxmlformats.org/drawingml/2006/main">
              <a:ext uri="{FF2B5EF4-FFF2-40B4-BE49-F238E27FC236}">
                <a16:creationId xmlns:a16="http://schemas.microsoft.com/office/drawing/2014/main" id="{FB0D9477-5FE7-4ED8-958C-4751E5E9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84">
            <a:extLst xmlns:a="http://schemas.openxmlformats.org/drawingml/2006/main">
              <a:ext uri="{FF2B5EF4-FFF2-40B4-BE49-F238E27FC236}">
                <a16:creationId xmlns:a16="http://schemas.microsoft.com/office/drawing/2014/main" id="{428814FF-65CF-4007-9489-A4412D8D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385">
            <a:extLst xmlns:a="http://schemas.openxmlformats.org/drawingml/2006/main">
              <a:ext uri="{FF2B5EF4-FFF2-40B4-BE49-F238E27FC236}">
                <a16:creationId xmlns:a16="http://schemas.microsoft.com/office/drawing/2014/main" id="{4F1E06C3-EA05-4E14-BC2E-A259728E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影片／圖表</a:t>
            </a:r>
          </a:p>
        </p:txBody>
      </p:sp>
      <p:sp>
        <p:nvSpPr>
          <p:cNvPr id="13" name="text-386">
            <a:extLst xmlns:a="http://schemas.openxmlformats.org/drawingml/2006/main">
              <a:ext uri="{FF2B5EF4-FFF2-40B4-BE49-F238E27FC236}">
                <a16:creationId xmlns:a16="http://schemas.microsoft.com/office/drawing/2014/main" id="{36E2B45E-49CE-44E1-A9F2-2B5E28CB3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Notebook 生成的內容轉成課前導讀、課中提問或視覺化摘要。</a:t>
            </a:r>
          </a:p>
        </p:txBody>
      </p:sp>
      <p:sp>
        <p:nvSpPr>
          <p:cNvPr id="14" name="shape-387">
            <a:extLst xmlns:a="http://schemas.openxmlformats.org/drawingml/2006/main">
              <a:ext uri="{FF2B5EF4-FFF2-40B4-BE49-F238E27FC236}">
                <a16:creationId xmlns:a16="http://schemas.microsoft.com/office/drawing/2014/main" id="{016F27F7-3983-447C-AE61-928B8197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88">
            <a:extLst xmlns:a="http://schemas.openxmlformats.org/drawingml/2006/main">
              <a:ext uri="{FF2B5EF4-FFF2-40B4-BE49-F238E27FC236}">
                <a16:creationId xmlns:a16="http://schemas.microsoft.com/office/drawing/2014/main" id="{3AFC600E-4914-4810-9371-D4D0F1675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389">
            <a:extLst xmlns:a="http://schemas.openxmlformats.org/drawingml/2006/main">
              <a:ext uri="{FF2B5EF4-FFF2-40B4-BE49-F238E27FC236}">
                <a16:creationId xmlns:a16="http://schemas.microsoft.com/office/drawing/2014/main" id="{1E9FD2CD-4828-4D5B-9BCE-26E1FAB6F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關卡</a:t>
            </a:r>
          </a:p>
        </p:txBody>
      </p:sp>
      <p:sp>
        <p:nvSpPr>
          <p:cNvPr id="17" name="text-390">
            <a:extLst xmlns:a="http://schemas.openxmlformats.org/drawingml/2006/main">
              <a:ext uri="{FF2B5EF4-FFF2-40B4-BE49-F238E27FC236}">
                <a16:creationId xmlns:a16="http://schemas.microsoft.com/office/drawing/2014/main" id="{7D1420CE-C016-4B71-A44A-2514838FC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將來源中的概念轉成互動任務腳本，再交給 Canvas 做原型。</a:t>
            </a:r>
          </a:p>
        </p:txBody>
      </p:sp>
      <p:sp>
        <p:nvSpPr>
          <p:cNvPr id="18" name="shape-391">
            <a:extLst xmlns:a="http://schemas.openxmlformats.org/drawingml/2006/main">
              <a:ext uri="{FF2B5EF4-FFF2-40B4-BE49-F238E27FC236}">
                <a16:creationId xmlns:a16="http://schemas.microsoft.com/office/drawing/2014/main" id="{9B02D76C-5B70-41A8-873E-A697FEEA2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92">
            <a:extLst xmlns:a="http://schemas.openxmlformats.org/drawingml/2006/main">
              <a:ext uri="{FF2B5EF4-FFF2-40B4-BE49-F238E27FC236}">
                <a16:creationId xmlns:a16="http://schemas.microsoft.com/office/drawing/2014/main" id="{183A0F78-F83E-4E3F-B8CA-8079B9F91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393">
            <a:extLst xmlns:a="http://schemas.openxmlformats.org/drawingml/2006/main">
              <a:ext uri="{FF2B5EF4-FFF2-40B4-BE49-F238E27FC236}">
                <a16:creationId xmlns:a16="http://schemas.microsoft.com/office/drawing/2014/main" id="{CBFFCF12-A491-4A3F-99DE-79C53F38E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教師共備</a:t>
            </a:r>
          </a:p>
        </p:txBody>
      </p:sp>
      <p:sp>
        <p:nvSpPr>
          <p:cNvPr id="21" name="text-394">
            <a:extLst xmlns:a="http://schemas.openxmlformats.org/drawingml/2006/main">
              <a:ext uri="{FF2B5EF4-FFF2-40B4-BE49-F238E27FC236}">
                <a16:creationId xmlns:a16="http://schemas.microsoft.com/office/drawing/2014/main" id="{40A2FA11-11F9-464C-AFCB-E3FCF5A8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輸出可共編的備課摘要、活動流程與證據，回到駕駛艙持續更新。</a:t>
            </a:r>
          </a:p>
        </p:txBody>
      </p:sp>
      <p:sp>
        <p:nvSpPr>
          <p:cNvPr id="22" name="text-744">
            <a:extLst xmlns:a="http://schemas.openxmlformats.org/drawingml/2006/main">
              <a:ext uri="{FF2B5EF4-FFF2-40B4-BE49-F238E27FC236}">
                <a16:creationId xmlns:a16="http://schemas.microsoft.com/office/drawing/2014/main" id="{783098C0-C17A-4D64-A512-290F21D7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ad78b41e6e844bc"/>
              </a:rPr>
              <a:t>開啟 Gemini Notebook ↗</a:t>
            </a:r>
          </a:p>
        </p:txBody>
      </p:sp>
      <p:sp>
        <p:nvSpPr>
          <p:cNvPr id="23" name="shape-788">
            <a:extLst xmlns:a="http://schemas.openxmlformats.org/drawingml/2006/main">
              <a:ext uri="{FF2B5EF4-FFF2-40B4-BE49-F238E27FC236}">
                <a16:creationId xmlns:a16="http://schemas.microsoft.com/office/drawing/2014/main" id="{5AB20319-F42E-4741-94AE-7E66F496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6365710192415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789">
            <a:extLst xmlns:a="http://schemas.openxmlformats.org/drawingml/2006/main">
              <a:ext uri="{FF2B5EF4-FFF2-40B4-BE49-F238E27FC236}">
                <a16:creationId xmlns:a16="http://schemas.microsoft.com/office/drawing/2014/main" id="{016D7EE9-E0DB-4247-B680-A58FE4CD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54795610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95">
            <a:extLst xmlns:a="http://schemas.openxmlformats.org/drawingml/2006/main">
              <a:ext uri="{FF2B5EF4-FFF2-40B4-BE49-F238E27FC236}">
                <a16:creationId xmlns:a16="http://schemas.microsoft.com/office/drawing/2014/main" id="{9754563C-0257-4E99-8B86-C11D2E8A4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9F2B9C5-57A3-4282-AD1B-4FD1B1DD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Checkpoint｜Notebook 合格了嗎？</a:t>
            </a:r>
          </a:p>
        </p:txBody>
      </p:sp>
      <p:cxnSp>
        <p:nvCxnSpPr>
          <p:cNvPr id="28" name="shape-39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97">
            <a:extLst xmlns:a="http://schemas.openxmlformats.org/drawingml/2006/main">
              <a:ext uri="{FF2B5EF4-FFF2-40B4-BE49-F238E27FC236}">
                <a16:creationId xmlns:a16="http://schemas.microsoft.com/office/drawing/2014/main" id="{2016CD12-D4AC-48E3-9E1B-2391E64B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E19C1B-526E-4227-8976-7E675E18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shape-398">
            <a:extLst xmlns:a="http://schemas.openxmlformats.org/drawingml/2006/main">
              <a:ext uri="{FF2B5EF4-FFF2-40B4-BE49-F238E27FC236}">
                <a16:creationId xmlns:a16="http://schemas.microsoft.com/office/drawing/2014/main" id="{8CE84E60-AA1E-4CFD-A265-A172D8A7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99">
            <a:extLst xmlns:a="http://schemas.openxmlformats.org/drawingml/2006/main">
              <a:ext uri="{FF2B5EF4-FFF2-40B4-BE49-F238E27FC236}">
                <a16:creationId xmlns:a16="http://schemas.microsoft.com/office/drawing/2014/main" id="{F3DA3619-0EDC-41CC-84E7-1FB173BFB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400">
            <a:extLst xmlns:a="http://schemas.openxmlformats.org/drawingml/2006/main">
              <a:ext uri="{FF2B5EF4-FFF2-40B4-BE49-F238E27FC236}">
                <a16:creationId xmlns:a16="http://schemas.microsoft.com/office/drawing/2014/main" id="{D6122B15-581D-469C-B798-8D52B964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9" name="text-401">
            <a:extLst xmlns:a="http://schemas.openxmlformats.org/drawingml/2006/main">
              <a:ext uri="{FF2B5EF4-FFF2-40B4-BE49-F238E27FC236}">
                <a16:creationId xmlns:a16="http://schemas.microsoft.com/office/drawing/2014/main" id="{17686857-9BAE-4475-8B50-1D095FC1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資料可信、可授權使用，且與教學目的直接相關。</a:t>
            </a:r>
          </a:p>
        </p:txBody>
      </p:sp>
      <p:sp>
        <p:nvSpPr>
          <p:cNvPr id="10" name="shape-402">
            <a:extLst xmlns:a="http://schemas.openxmlformats.org/drawingml/2006/main">
              <a:ext uri="{FF2B5EF4-FFF2-40B4-BE49-F238E27FC236}">
                <a16:creationId xmlns:a16="http://schemas.microsoft.com/office/drawing/2014/main" id="{33FDD147-8F77-4136-9867-EE947BC4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03">
            <a:extLst xmlns:a="http://schemas.openxmlformats.org/drawingml/2006/main">
              <a:ext uri="{FF2B5EF4-FFF2-40B4-BE49-F238E27FC236}">
                <a16:creationId xmlns:a16="http://schemas.microsoft.com/office/drawing/2014/main" id="{70FF0C49-F20E-409D-A5C3-FE6980CF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404">
            <a:extLst xmlns:a="http://schemas.openxmlformats.org/drawingml/2006/main">
              <a:ext uri="{FF2B5EF4-FFF2-40B4-BE49-F238E27FC236}">
                <a16:creationId xmlns:a16="http://schemas.microsoft.com/office/drawing/2014/main" id="{B4B7E5C4-4058-4576-8391-A9B17598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3" name="text-405">
            <a:extLst xmlns:a="http://schemas.openxmlformats.org/drawingml/2006/main">
              <a:ext uri="{FF2B5EF4-FFF2-40B4-BE49-F238E27FC236}">
                <a16:creationId xmlns:a16="http://schemas.microsoft.com/office/drawing/2014/main" id="{1D2D042A-A4D3-4764-B07E-64471B55E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至少抽查一個引用，原文確實支持回答。</a:t>
            </a:r>
          </a:p>
        </p:txBody>
      </p:sp>
      <p:sp>
        <p:nvSpPr>
          <p:cNvPr id="14" name="shape-406">
            <a:extLst xmlns:a="http://schemas.openxmlformats.org/drawingml/2006/main">
              <a:ext uri="{FF2B5EF4-FFF2-40B4-BE49-F238E27FC236}">
                <a16:creationId xmlns:a16="http://schemas.microsoft.com/office/drawing/2014/main" id="{ADCC685D-F0D1-4439-AC1B-FB826524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07">
            <a:extLst xmlns:a="http://schemas.openxmlformats.org/drawingml/2006/main">
              <a:ext uri="{FF2B5EF4-FFF2-40B4-BE49-F238E27FC236}">
                <a16:creationId xmlns:a16="http://schemas.microsoft.com/office/drawing/2014/main" id="{D2DA24D0-4470-4769-ADDC-52D8DCDF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408">
            <a:extLst xmlns:a="http://schemas.openxmlformats.org/drawingml/2006/main">
              <a:ext uri="{FF2B5EF4-FFF2-40B4-BE49-F238E27FC236}">
                <a16:creationId xmlns:a16="http://schemas.microsoft.com/office/drawing/2014/main" id="{DFAC38A6-CE92-42EB-B2A9-8DF460A0D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17" name="text-409">
            <a:extLst xmlns:a="http://schemas.openxmlformats.org/drawingml/2006/main">
              <a:ext uri="{FF2B5EF4-FFF2-40B4-BE49-F238E27FC236}">
                <a16:creationId xmlns:a16="http://schemas.microsoft.com/office/drawing/2014/main" id="{576D9525-70B4-49E8-82E9-98636E03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知道哪些問題來源回答不了，不把推測當事實。</a:t>
            </a:r>
          </a:p>
        </p:txBody>
      </p:sp>
      <p:sp>
        <p:nvSpPr>
          <p:cNvPr id="18" name="shape-410">
            <a:extLst xmlns:a="http://schemas.openxmlformats.org/drawingml/2006/main">
              <a:ext uri="{FF2B5EF4-FFF2-40B4-BE49-F238E27FC236}">
                <a16:creationId xmlns:a16="http://schemas.microsoft.com/office/drawing/2014/main" id="{927A727C-319E-4D76-B51B-5A7527CD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11">
            <a:extLst xmlns:a="http://schemas.openxmlformats.org/drawingml/2006/main">
              <a:ext uri="{FF2B5EF4-FFF2-40B4-BE49-F238E27FC236}">
                <a16:creationId xmlns:a16="http://schemas.microsoft.com/office/drawing/2014/main" id="{B94389C9-59D1-40F7-8DD9-197ABC7B0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12">
            <a:extLst xmlns:a="http://schemas.openxmlformats.org/drawingml/2006/main">
              <a:ext uri="{FF2B5EF4-FFF2-40B4-BE49-F238E27FC236}">
                <a16:creationId xmlns:a16="http://schemas.microsoft.com/office/drawing/2014/main" id="{B17440CF-4692-4738-917D-236A478BA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產出</a:t>
            </a:r>
          </a:p>
        </p:txBody>
      </p:sp>
      <p:sp>
        <p:nvSpPr>
          <p:cNvPr id="21" name="text-413">
            <a:extLst xmlns:a="http://schemas.openxmlformats.org/drawingml/2006/main">
              <a:ext uri="{FF2B5EF4-FFF2-40B4-BE49-F238E27FC236}">
                <a16:creationId xmlns:a16="http://schemas.microsoft.com/office/drawing/2014/main" id="{7A5CDCDF-AD7B-4715-A151-99C5FBD5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結果已能進入下一步 Gem 或 Canvas。</a:t>
            </a:r>
          </a:p>
        </p:txBody>
      </p:sp>
      <p:sp>
        <p:nvSpPr>
          <p:cNvPr id="22" name="text-745">
            <a:extLst xmlns:a="http://schemas.openxmlformats.org/drawingml/2006/main">
              <a:ext uri="{FF2B5EF4-FFF2-40B4-BE49-F238E27FC236}">
                <a16:creationId xmlns:a16="http://schemas.microsoft.com/office/drawing/2014/main" id="{B6B92D79-8D19-45EB-9811-78C8A742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89889f891484aa1"/>
              </a:rPr>
              <a:t>開啟 Gemini Notebook ↗</a:t>
            </a:r>
          </a:p>
        </p:txBody>
      </p:sp>
      <p:sp>
        <p:nvSpPr>
          <p:cNvPr id="23" name="shape-790">
            <a:extLst xmlns:a="http://schemas.openxmlformats.org/drawingml/2006/main">
              <a:ext uri="{FF2B5EF4-FFF2-40B4-BE49-F238E27FC236}">
                <a16:creationId xmlns:a16="http://schemas.microsoft.com/office/drawing/2014/main" id="{3BE25E9E-56AD-406F-90FD-5CC57F92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77644f8c1646c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791">
            <a:extLst xmlns:a="http://schemas.openxmlformats.org/drawingml/2006/main">
              <a:ext uri="{FF2B5EF4-FFF2-40B4-BE49-F238E27FC236}">
                <a16:creationId xmlns:a16="http://schemas.microsoft.com/office/drawing/2014/main" id="{6A29A08B-08BA-4D74-A168-D9D8440D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0281925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414">
            <a:extLst xmlns:a="http://schemas.openxmlformats.org/drawingml/2006/main">
              <a:ext uri="{FF2B5EF4-FFF2-40B4-BE49-F238E27FC236}">
                <a16:creationId xmlns:a16="http://schemas.microsoft.com/office/drawing/2014/main" id="{7D06A497-5E61-47E2-AF75-40E5B3B5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415">
            <a:extLst xmlns:a="http://schemas.openxmlformats.org/drawingml/2006/main">
              <a:ext uri="{FF2B5EF4-FFF2-40B4-BE49-F238E27FC236}">
                <a16:creationId xmlns:a16="http://schemas.microsoft.com/office/drawing/2014/main" id="{07760AE9-7259-4935-B590-ABD842FC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3" name="text-416">
            <a:extLst xmlns:a="http://schemas.openxmlformats.org/drawingml/2006/main">
              <a:ext uri="{FF2B5EF4-FFF2-40B4-BE49-F238E27FC236}">
                <a16:creationId xmlns:a16="http://schemas.microsoft.com/office/drawing/2014/main" id="{00CD44F3-49AF-4A47-86A4-87570D713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把一套教學角色、方法、語氣與輸出格式固定下來，成為可重複使用的專屬助理。</a:t>
            </a:r>
          </a:p>
        </p:txBody>
      </p:sp>
      <p:sp>
        <p:nvSpPr>
          <p:cNvPr id="4" name="shape-417">
            <a:extLst xmlns:a="http://schemas.openxmlformats.org/drawingml/2006/main">
              <a:ext uri="{FF2B5EF4-FFF2-40B4-BE49-F238E27FC236}">
                <a16:creationId xmlns:a16="http://schemas.microsoft.com/office/drawing/2014/main" id="{5156A5D2-1DD0-489F-BB06-4ABCAE18C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418">
            <a:extLst xmlns:a="http://schemas.openxmlformats.org/drawingml/2006/main">
              <a:ext uri="{FF2B5EF4-FFF2-40B4-BE49-F238E27FC236}">
                <a16:creationId xmlns:a16="http://schemas.microsoft.com/office/drawing/2014/main" id="{366F93EE-47BD-4C92-9236-21048522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41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420">
            <a:extLst xmlns:a="http://schemas.openxmlformats.org/drawingml/2006/main">
              <a:ext uri="{FF2B5EF4-FFF2-40B4-BE49-F238E27FC236}">
                <a16:creationId xmlns:a16="http://schemas.microsoft.com/office/drawing/2014/main" id="{C5358FDC-7F75-4ABD-8AAC-B4A7D9F9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A4AD855-BDB8-4496-B317-ADF78946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9" name="text-748">
            <a:extLst xmlns:a="http://schemas.openxmlformats.org/drawingml/2006/main">
              <a:ext uri="{FF2B5EF4-FFF2-40B4-BE49-F238E27FC236}">
                <a16:creationId xmlns:a16="http://schemas.microsoft.com/office/drawing/2014/main" id="{24899917-7C35-4F85-900E-8350036F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6f87c9d5efe44c9"/>
              </a:rPr>
              <a:t>建立／查看 Gem ↗</a:t>
            </a:r>
          </a:p>
        </p:txBody>
      </p:sp>
      <p:sp>
        <p:nvSpPr>
          <p:cNvPr id="10" name="shape-799">
            <a:extLst xmlns:a="http://schemas.openxmlformats.org/drawingml/2006/main">
              <a:ext uri="{FF2B5EF4-FFF2-40B4-BE49-F238E27FC236}">
                <a16:creationId xmlns:a16="http://schemas.microsoft.com/office/drawing/2014/main" id="{38DD1F5C-C07D-4B67-8542-B0CCDC17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7003249398409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800">
            <a:extLst xmlns:a="http://schemas.openxmlformats.org/drawingml/2006/main">
              <a:ext uri="{FF2B5EF4-FFF2-40B4-BE49-F238E27FC236}">
                <a16:creationId xmlns:a16="http://schemas.microsoft.com/office/drawing/2014/main" id="{16D9FD9B-964C-43C9-8163-82E6972E9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71461813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421">
            <a:extLst xmlns:a="http://schemas.openxmlformats.org/drawingml/2006/main">
              <a:ext uri="{FF2B5EF4-FFF2-40B4-BE49-F238E27FC236}">
                <a16:creationId xmlns:a16="http://schemas.microsoft.com/office/drawing/2014/main" id="{7CF88E4B-4A72-4EEA-87A1-831DF053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PERSISTENT ASSISTANT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7539D32-BAA4-49FD-B637-CE3F6DA91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不是更長的提示詞，而是可持續使用的工作設定</a:t>
            </a:r>
          </a:p>
        </p:txBody>
      </p:sp>
      <p:cxnSp>
        <p:nvCxnSpPr>
          <p:cNvPr id="18" name="shape-42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23">
            <a:extLst xmlns:a="http://schemas.openxmlformats.org/drawingml/2006/main">
              <a:ext uri="{FF2B5EF4-FFF2-40B4-BE49-F238E27FC236}">
                <a16:creationId xmlns:a16="http://schemas.microsoft.com/office/drawing/2014/main" id="{57823F20-54A5-4338-8C26-0ED64A776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BBDE876-26EE-4AB7-A0FC-7261933E3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424">
            <a:extLst xmlns:a="http://schemas.openxmlformats.org/drawingml/2006/main">
              <a:ext uri="{FF2B5EF4-FFF2-40B4-BE49-F238E27FC236}">
                <a16:creationId xmlns:a16="http://schemas.microsoft.com/office/drawing/2014/main" id="{EECA072A-2B60-495A-8000-0E06FC66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25">
            <a:extLst xmlns:a="http://schemas.openxmlformats.org/drawingml/2006/main">
              <a:ext uri="{FF2B5EF4-FFF2-40B4-BE49-F238E27FC236}">
                <a16:creationId xmlns:a16="http://schemas.microsoft.com/office/drawing/2014/main" id="{4C0A877D-893D-4453-9625-B730E7F6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426">
            <a:extLst xmlns:a="http://schemas.openxmlformats.org/drawingml/2006/main">
              <a:ext uri="{FF2B5EF4-FFF2-40B4-BE49-F238E27FC236}">
                <a16:creationId xmlns:a16="http://schemas.microsoft.com/office/drawing/2014/main" id="{CAD4F64E-8EDB-4116-AE6A-DA503591E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單次對話</a:t>
            </a:r>
          </a:p>
        </p:txBody>
      </p:sp>
      <p:sp>
        <p:nvSpPr>
          <p:cNvPr id="9" name="text-427">
            <a:extLst xmlns:a="http://schemas.openxmlformats.org/drawingml/2006/main">
              <a:ext uri="{FF2B5EF4-FFF2-40B4-BE49-F238E27FC236}">
                <a16:creationId xmlns:a16="http://schemas.microsoft.com/office/drawing/2014/main" id="{7578ACA2-9EFD-479D-BD32-4CC3D81D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每次重新交代角色與格式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容易隨對話漂移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適合一次性探索</a:t>
            </a:r>
          </a:p>
        </p:txBody>
      </p:sp>
      <p:sp>
        <p:nvSpPr>
          <p:cNvPr id="10" name="text-428">
            <a:extLst xmlns:a="http://schemas.openxmlformats.org/drawingml/2006/main">
              <a:ext uri="{FF2B5EF4-FFF2-40B4-BE49-F238E27FC236}">
                <a16:creationId xmlns:a16="http://schemas.microsoft.com/office/drawing/2014/main" id="{71F0FBBE-AAC6-4F01-93CF-C31C882E3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1" name="text-429">
            <a:extLst xmlns:a="http://schemas.openxmlformats.org/drawingml/2006/main">
              <a:ext uri="{FF2B5EF4-FFF2-40B4-BE49-F238E27FC236}">
                <a16:creationId xmlns:a16="http://schemas.microsoft.com/office/drawing/2014/main" id="{3C14055E-49F0-4C1A-B594-D88F01B8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保存名稱與指令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可加入背景檔案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適合重複的教學任務</a:t>
            </a:r>
          </a:p>
        </p:txBody>
      </p:sp>
      <p:sp>
        <p:nvSpPr>
          <p:cNvPr id="12" name="text-749">
            <a:extLst xmlns:a="http://schemas.openxmlformats.org/drawingml/2006/main">
              <a:ext uri="{FF2B5EF4-FFF2-40B4-BE49-F238E27FC236}">
                <a16:creationId xmlns:a16="http://schemas.microsoft.com/office/drawing/2014/main" id="{BA5B7085-001F-4DD1-B525-DEB01DE0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6271834bb874e72"/>
              </a:rPr>
              <a:t>建立／查看 Gem ↗</a:t>
            </a:r>
          </a:p>
        </p:txBody>
      </p:sp>
      <p:sp>
        <p:nvSpPr>
          <p:cNvPr id="13" name="shape-801">
            <a:extLst xmlns:a="http://schemas.openxmlformats.org/drawingml/2006/main">
              <a:ext uri="{FF2B5EF4-FFF2-40B4-BE49-F238E27FC236}">
                <a16:creationId xmlns:a16="http://schemas.microsoft.com/office/drawing/2014/main" id="{059A6073-4834-4575-8876-01AF84D07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27ecb3e8e64e6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802">
            <a:extLst xmlns:a="http://schemas.openxmlformats.org/drawingml/2006/main">
              <a:ext uri="{FF2B5EF4-FFF2-40B4-BE49-F238E27FC236}">
                <a16:creationId xmlns:a16="http://schemas.microsoft.com/office/drawing/2014/main" id="{27BA5C90-A006-4B60-B4D1-3390E89B5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34646129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30">
            <a:extLst xmlns:a="http://schemas.openxmlformats.org/drawingml/2006/main">
              <a:ext uri="{FF2B5EF4-FFF2-40B4-BE49-F238E27FC236}">
                <a16:creationId xmlns:a16="http://schemas.microsoft.com/office/drawing/2014/main" id="{948058A9-4419-4F00-90B0-9778717CF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EXISTING GEM → REUSABLE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C44EC17-4E9A-47FC-A7FF-31C6E97D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示範：從帳號既有 Gem 反向拆解</a:t>
            </a:r>
          </a:p>
        </p:txBody>
      </p:sp>
      <p:cxnSp>
        <p:nvCxnSpPr>
          <p:cNvPr id="28" name="shape-43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32">
            <a:extLst xmlns:a="http://schemas.openxmlformats.org/drawingml/2006/main">
              <a:ext uri="{FF2B5EF4-FFF2-40B4-BE49-F238E27FC236}">
                <a16:creationId xmlns:a16="http://schemas.microsoft.com/office/drawing/2014/main" id="{F9669FDE-A35D-409B-923B-C2A98600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6CA4FF3-EBAB-43D0-88F5-E97476C3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sp>
        <p:nvSpPr>
          <p:cNvPr id="6" name="shape-433">
            <a:extLst xmlns:a="http://schemas.openxmlformats.org/drawingml/2006/main">
              <a:ext uri="{FF2B5EF4-FFF2-40B4-BE49-F238E27FC236}">
                <a16:creationId xmlns:a16="http://schemas.microsoft.com/office/drawing/2014/main" id="{36901CAC-D259-4AE9-ABB1-4BD918167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34">
            <a:extLst xmlns:a="http://schemas.openxmlformats.org/drawingml/2006/main">
              <a:ext uri="{FF2B5EF4-FFF2-40B4-BE49-F238E27FC236}">
                <a16:creationId xmlns:a16="http://schemas.microsoft.com/office/drawing/2014/main" id="{F8D46252-FFA3-4E6D-B036-4CE3A165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435">
            <a:extLst xmlns:a="http://schemas.openxmlformats.org/drawingml/2006/main">
              <a:ext uri="{FF2B5EF4-FFF2-40B4-BE49-F238E27FC236}">
                <a16:creationId xmlns:a16="http://schemas.microsoft.com/office/drawing/2014/main" id="{B6A067C1-291E-4A61-BC5F-49267E83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找到一個既有 Gem</a:t>
            </a:r>
          </a:p>
        </p:txBody>
      </p:sp>
      <p:sp>
        <p:nvSpPr>
          <p:cNvPr id="9" name="text-436">
            <a:extLst xmlns:a="http://schemas.openxmlformats.org/drawingml/2006/main">
              <a:ext uri="{FF2B5EF4-FFF2-40B4-BE49-F238E27FC236}">
                <a16:creationId xmlns:a16="http://schemas.microsoft.com/office/drawing/2014/main" id="{E236F96A-9B3C-4A42-BC98-66C21096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先看名稱、用途與最常用的一次輸出；不把私人內容直接放進公開簡報。</a:t>
            </a:r>
          </a:p>
        </p:txBody>
      </p:sp>
      <p:sp>
        <p:nvSpPr>
          <p:cNvPr id="10" name="shape-437">
            <a:extLst xmlns:a="http://schemas.openxmlformats.org/drawingml/2006/main">
              <a:ext uri="{FF2B5EF4-FFF2-40B4-BE49-F238E27FC236}">
                <a16:creationId xmlns:a16="http://schemas.microsoft.com/office/drawing/2014/main" id="{159565FB-031E-41E4-8F4E-B1B3682B1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38">
            <a:extLst xmlns:a="http://schemas.openxmlformats.org/drawingml/2006/main">
              <a:ext uri="{FF2B5EF4-FFF2-40B4-BE49-F238E27FC236}">
                <a16:creationId xmlns:a16="http://schemas.microsoft.com/office/drawing/2014/main" id="{5A1956BA-FF26-43AD-9C39-F8237614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439">
            <a:extLst xmlns:a="http://schemas.openxmlformats.org/drawingml/2006/main">
              <a:ext uri="{FF2B5EF4-FFF2-40B4-BE49-F238E27FC236}">
                <a16:creationId xmlns:a16="http://schemas.microsoft.com/office/drawing/2014/main" id="{D80F3FD3-AEF8-402F-840B-D819E07C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拆出四格</a:t>
            </a:r>
          </a:p>
        </p:txBody>
      </p:sp>
      <p:sp>
        <p:nvSpPr>
          <p:cNvPr id="13" name="text-440">
            <a:extLst xmlns:a="http://schemas.openxmlformats.org/drawingml/2006/main">
              <a:ext uri="{FF2B5EF4-FFF2-40B4-BE49-F238E27FC236}">
                <a16:creationId xmlns:a16="http://schemas.microsoft.com/office/drawing/2014/main" id="{BC7589E0-F144-4EB0-B27D-DA5341BD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從既有指令辨認角色、任務、背景與格式，找出穩定與失敗的地方。</a:t>
            </a:r>
          </a:p>
        </p:txBody>
      </p:sp>
      <p:sp>
        <p:nvSpPr>
          <p:cNvPr id="14" name="shape-441">
            <a:extLst xmlns:a="http://schemas.openxmlformats.org/drawingml/2006/main">
              <a:ext uri="{FF2B5EF4-FFF2-40B4-BE49-F238E27FC236}">
                <a16:creationId xmlns:a16="http://schemas.microsoft.com/office/drawing/2014/main" id="{95AF6C7E-80D2-4F25-A696-6604F42F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42">
            <a:extLst xmlns:a="http://schemas.openxmlformats.org/drawingml/2006/main">
              <a:ext uri="{FF2B5EF4-FFF2-40B4-BE49-F238E27FC236}">
                <a16:creationId xmlns:a16="http://schemas.microsoft.com/office/drawing/2014/main" id="{FAC6A0A6-BA1A-4AB2-BED7-2F0D60ED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443">
            <a:extLst xmlns:a="http://schemas.openxmlformats.org/drawingml/2006/main">
              <a:ext uri="{FF2B5EF4-FFF2-40B4-BE49-F238E27FC236}">
                <a16:creationId xmlns:a16="http://schemas.microsoft.com/office/drawing/2014/main" id="{2ED79324-15D7-48EE-A09A-F1DB7449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改成研習版本</a:t>
            </a:r>
          </a:p>
        </p:txBody>
      </p:sp>
      <p:sp>
        <p:nvSpPr>
          <p:cNvPr id="17" name="text-444">
            <a:extLst xmlns:a="http://schemas.openxmlformats.org/drawingml/2006/main">
              <a:ext uri="{FF2B5EF4-FFF2-40B4-BE49-F238E27FC236}">
                <a16:creationId xmlns:a16="http://schemas.microsoft.com/office/drawing/2014/main" id="{98215EBE-38DE-44C5-A730-63E87F00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保留有效步驟，再加入大學教師／研究社群的情境與安全邊界。</a:t>
            </a:r>
          </a:p>
        </p:txBody>
      </p:sp>
      <p:sp>
        <p:nvSpPr>
          <p:cNvPr id="18" name="shape-445">
            <a:extLst xmlns:a="http://schemas.openxmlformats.org/drawingml/2006/main">
              <a:ext uri="{FF2B5EF4-FFF2-40B4-BE49-F238E27FC236}">
                <a16:creationId xmlns:a16="http://schemas.microsoft.com/office/drawing/2014/main" id="{6BE84E0E-6995-4AEA-858A-BCAFD4DD1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46">
            <a:extLst xmlns:a="http://schemas.openxmlformats.org/drawingml/2006/main">
              <a:ext uri="{FF2B5EF4-FFF2-40B4-BE49-F238E27FC236}">
                <a16:creationId xmlns:a16="http://schemas.microsoft.com/office/drawing/2014/main" id="{BA9596EB-17CD-4BC7-9CB5-680D4C0C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447">
            <a:extLst xmlns:a="http://schemas.openxmlformats.org/drawingml/2006/main">
              <a:ext uri="{FF2B5EF4-FFF2-40B4-BE49-F238E27FC236}">
                <a16:creationId xmlns:a16="http://schemas.microsoft.com/office/drawing/2014/main" id="{3CAF2AEE-D8AE-466B-814A-A75B2473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壓力測試</a:t>
            </a:r>
          </a:p>
        </p:txBody>
      </p:sp>
      <p:sp>
        <p:nvSpPr>
          <p:cNvPr id="21" name="text-448">
            <a:extLst xmlns:a="http://schemas.openxmlformats.org/drawingml/2006/main">
              <a:ext uri="{FF2B5EF4-FFF2-40B4-BE49-F238E27FC236}">
                <a16:creationId xmlns:a16="http://schemas.microsoft.com/office/drawing/2014/main" id="{F3B241F6-EB52-40E8-A0AD-4BB078D76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用正常案例、資料不足與越界要求各測一次，留下可比較的證據。</a:t>
            </a:r>
          </a:p>
        </p:txBody>
      </p:sp>
      <p:sp>
        <p:nvSpPr>
          <p:cNvPr id="22" name="text-750">
            <a:extLst xmlns:a="http://schemas.openxmlformats.org/drawingml/2006/main">
              <a:ext uri="{FF2B5EF4-FFF2-40B4-BE49-F238E27FC236}">
                <a16:creationId xmlns:a16="http://schemas.microsoft.com/office/drawing/2014/main" id="{26FC01C8-EB40-411B-AD67-13B970BF2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d1dc203013b455d"/>
              </a:rPr>
              <a:t>建立／查看 Gem ↗</a:t>
            </a:r>
          </a:p>
        </p:txBody>
      </p:sp>
      <p:sp>
        <p:nvSpPr>
          <p:cNvPr id="23" name="shape-803">
            <a:extLst xmlns:a="http://schemas.openxmlformats.org/drawingml/2006/main">
              <a:ext uri="{FF2B5EF4-FFF2-40B4-BE49-F238E27FC236}">
                <a16:creationId xmlns:a16="http://schemas.microsoft.com/office/drawing/2014/main" id="{3694DE78-9064-4807-B0B9-1BADEA6D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ed559ad9134a0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804">
            <a:extLst xmlns:a="http://schemas.openxmlformats.org/drawingml/2006/main">
              <a:ext uri="{FF2B5EF4-FFF2-40B4-BE49-F238E27FC236}">
                <a16:creationId xmlns:a16="http://schemas.microsoft.com/office/drawing/2014/main" id="{DC00CE3C-3F9D-4781-969F-9C1ADBBC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212102463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449">
            <a:extLst xmlns:a="http://schemas.openxmlformats.org/drawingml/2006/main">
              <a:ext uri="{FF2B5EF4-FFF2-40B4-BE49-F238E27FC236}">
                <a16:creationId xmlns:a16="http://schemas.microsoft.com/office/drawing/2014/main" id="{92CED7BB-9D73-4775-8B6D-DBAC7197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8B981A2-FD4D-4FEF-BA3D-D2378319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範例｜把既有 Gem 改造成「教學與研究設計教練」</a:t>
            </a:r>
          </a:p>
        </p:txBody>
      </p:sp>
      <p:cxnSp>
        <p:nvCxnSpPr>
          <p:cNvPr id="19" name="shape-45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51">
            <a:extLst xmlns:a="http://schemas.openxmlformats.org/drawingml/2006/main">
              <a:ext uri="{FF2B5EF4-FFF2-40B4-BE49-F238E27FC236}">
                <a16:creationId xmlns:a16="http://schemas.microsoft.com/office/drawing/2014/main" id="{B7DE00FA-CBA6-4A25-811E-8032CAE1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C25D517-4907-483C-9BE6-0FDCFC608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text-452">
            <a:extLst xmlns:a="http://schemas.openxmlformats.org/drawingml/2006/main">
              <a:ext uri="{FF2B5EF4-FFF2-40B4-BE49-F238E27FC236}">
                <a16:creationId xmlns:a16="http://schemas.microsoft.com/office/drawing/2014/main" id="{7B3EC430-5E48-42B0-A3EA-3EFE30BC4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你是一位大學教學與研究設計教練。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請先讀取既有 Gem 的有效輸出習慣，再依以下規格工作。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角色與任務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先問課程／研究目標、對象、資料與困難。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保留有效步驟，提出 3 個可實作方案。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不替教師或研究者做最終決定。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背景與格式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以上傳資料與 Gemini Notebook 引用為優先；資料不足要明確指出。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輸出：摘要 → 可複製工作表 → 風險／人工確認。</a:t>
            </a:r>
          </a:p>
        </p:txBody>
      </p:sp>
      <p:sp>
        <p:nvSpPr>
          <p:cNvPr id="7" name="text-453">
            <a:extLst xmlns:a="http://schemas.openxmlformats.org/drawingml/2006/main">
              <a:ext uri="{FF2B5EF4-FFF2-40B4-BE49-F238E27FC236}">
                <a16:creationId xmlns:a16="http://schemas.microsoft.com/office/drawing/2014/main" id="{61D1AB3C-C6AF-4D2C-8F61-3521CE430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先辨識既有資產</a:t>
            </a:r>
          </a:p>
        </p:txBody>
      </p:sp>
      <p:sp>
        <p:nvSpPr>
          <p:cNvPr id="8" name="text-454">
            <a:extLst xmlns:a="http://schemas.openxmlformats.org/drawingml/2006/main">
              <a:ext uri="{FF2B5EF4-FFF2-40B4-BE49-F238E27FC236}">
                <a16:creationId xmlns:a16="http://schemas.microsoft.com/office/drawing/2014/main" id="{9D89DE95-D1C2-4168-819E-38BFEDBD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先找出原本已經穩定的步驟，只改一個變因。</a:t>
            </a:r>
          </a:p>
        </p:txBody>
      </p:sp>
      <p:sp>
        <p:nvSpPr>
          <p:cNvPr id="9" name="text-455">
            <a:extLst xmlns:a="http://schemas.openxmlformats.org/drawingml/2006/main">
              <a:ext uri="{FF2B5EF4-FFF2-40B4-BE49-F238E27FC236}">
                <a16:creationId xmlns:a16="http://schemas.microsoft.com/office/drawing/2014/main" id="{F93A78AA-F85B-4D49-A58F-16D151C7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rPr>
              <a:t>保留教師判斷</a:t>
            </a:r>
          </a:p>
        </p:txBody>
      </p:sp>
      <p:sp>
        <p:nvSpPr>
          <p:cNvPr id="10" name="text-456">
            <a:extLst xmlns:a="http://schemas.openxmlformats.org/drawingml/2006/main">
              <a:ext uri="{FF2B5EF4-FFF2-40B4-BE49-F238E27FC236}">
                <a16:creationId xmlns:a16="http://schemas.microsoft.com/office/drawing/2014/main" id="{DFF9C50E-7164-4380-85D3-788475FE8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提供選項與證據，不替教師作高風險決定。</a:t>
            </a:r>
          </a:p>
        </p:txBody>
      </p:sp>
      <p:sp>
        <p:nvSpPr>
          <p:cNvPr id="11" name="text-457">
            <a:extLst xmlns:a="http://schemas.openxmlformats.org/drawingml/2006/main">
              <a:ext uri="{FF2B5EF4-FFF2-40B4-BE49-F238E27FC236}">
                <a16:creationId xmlns:a16="http://schemas.microsoft.com/office/drawing/2014/main" id="{ADAC59DC-0325-41F4-9600-328B7BCB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用反例驗收</a:t>
            </a:r>
          </a:p>
        </p:txBody>
      </p:sp>
      <p:sp>
        <p:nvSpPr>
          <p:cNvPr id="12" name="text-458">
            <a:extLst xmlns:a="http://schemas.openxmlformats.org/drawingml/2006/main">
              <a:ext uri="{FF2B5EF4-FFF2-40B4-BE49-F238E27FC236}">
                <a16:creationId xmlns:a16="http://schemas.microsoft.com/office/drawing/2014/main" id="{54210056-2B81-44EA-A790-A45D47C2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資料不足或要求越界時，也要能追問、拒絕或標記未確認。</a:t>
            </a:r>
          </a:p>
        </p:txBody>
      </p:sp>
      <p:sp>
        <p:nvSpPr>
          <p:cNvPr id="13" name="text-751">
            <a:extLst xmlns:a="http://schemas.openxmlformats.org/drawingml/2006/main">
              <a:ext uri="{FF2B5EF4-FFF2-40B4-BE49-F238E27FC236}">
                <a16:creationId xmlns:a16="http://schemas.microsoft.com/office/drawing/2014/main" id="{09918BC6-C553-4640-97E2-578D387B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150f20d152d4bc1"/>
              </a:rPr>
              <a:t>建立／查看 Gem ↗</a:t>
            </a:r>
          </a:p>
        </p:txBody>
      </p:sp>
      <p:sp>
        <p:nvSpPr>
          <p:cNvPr id="14" name="shape-805">
            <a:extLst xmlns:a="http://schemas.openxmlformats.org/drawingml/2006/main">
              <a:ext uri="{FF2B5EF4-FFF2-40B4-BE49-F238E27FC236}">
                <a16:creationId xmlns:a16="http://schemas.microsoft.com/office/drawing/2014/main" id="{67C67EBF-D26C-4175-BFBC-1F8369871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8f11ca368f4fd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806">
            <a:extLst xmlns:a="http://schemas.openxmlformats.org/drawingml/2006/main">
              <a:ext uri="{FF2B5EF4-FFF2-40B4-BE49-F238E27FC236}">
                <a16:creationId xmlns:a16="http://schemas.microsoft.com/office/drawing/2014/main" id="{E4C2EBBC-566A-448E-93D8-67289B7E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34237030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459">
            <a:extLst xmlns:a="http://schemas.openxmlformats.org/drawingml/2006/main">
              <a:ext uri="{FF2B5EF4-FFF2-40B4-BE49-F238E27FC236}">
                <a16:creationId xmlns:a16="http://schemas.microsoft.com/office/drawing/2014/main" id="{6B46E8D5-9078-4E94-BCFD-7D351BFF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38F77C0-CD1F-421E-8DF8-4AEB575E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實作二｜從既有 Gem 做一次改造與壓力測試</a:t>
            </a:r>
          </a:p>
        </p:txBody>
      </p:sp>
      <p:cxnSp>
        <p:nvCxnSpPr>
          <p:cNvPr id="25" name="shape-46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61">
            <a:extLst xmlns:a="http://schemas.openxmlformats.org/drawingml/2006/main">
              <a:ext uri="{FF2B5EF4-FFF2-40B4-BE49-F238E27FC236}">
                <a16:creationId xmlns:a16="http://schemas.microsoft.com/office/drawing/2014/main" id="{7D9B2C96-3AFF-4F4C-B6B0-6C1BC326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3CE60B0-7A24-4B0E-9277-C941C5C2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text-462">
            <a:extLst xmlns:a="http://schemas.openxmlformats.org/drawingml/2006/main">
              <a:ext uri="{FF2B5EF4-FFF2-40B4-BE49-F238E27FC236}">
                <a16:creationId xmlns:a16="http://schemas.microsoft.com/office/drawing/2014/main" id="{8A360BBF-BCAC-4FCA-B5F0-6513C983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463">
            <a:extLst xmlns:a="http://schemas.openxmlformats.org/drawingml/2006/main">
              <a:ext uri="{FF2B5EF4-FFF2-40B4-BE49-F238E27FC236}">
                <a16:creationId xmlns:a16="http://schemas.microsoft.com/office/drawing/2014/main" id="{2B3ECAE0-9FDD-4CFF-93AB-2666A224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464">
            <a:extLst xmlns:a="http://schemas.openxmlformats.org/drawingml/2006/main">
              <a:ext uri="{FF2B5EF4-FFF2-40B4-BE49-F238E27FC236}">
                <a16:creationId xmlns:a16="http://schemas.microsoft.com/office/drawing/2014/main" id="{B26E1015-1E90-43DC-B4DE-2C9D502F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65">
            <a:extLst xmlns:a="http://schemas.openxmlformats.org/drawingml/2006/main">
              <a:ext uri="{FF2B5EF4-FFF2-40B4-BE49-F238E27FC236}">
                <a16:creationId xmlns:a16="http://schemas.microsoft.com/office/drawing/2014/main" id="{581070CB-3A1B-416C-8200-150747E8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在自己的帳號中選一個既有 Gem，記下它原本的用途</a:t>
            </a:r>
          </a:p>
        </p:txBody>
      </p:sp>
      <p:sp>
        <p:nvSpPr>
          <p:cNvPr id="10" name="text-466">
            <a:extLst xmlns:a="http://schemas.openxmlformats.org/drawingml/2006/main">
              <a:ext uri="{FF2B5EF4-FFF2-40B4-BE49-F238E27FC236}">
                <a16:creationId xmlns:a16="http://schemas.microsoft.com/office/drawing/2014/main" id="{F449A130-1F87-4B85-8A3E-0E6174DE2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467">
            <a:extLst xmlns:a="http://schemas.openxmlformats.org/drawingml/2006/main">
              <a:ext uri="{FF2B5EF4-FFF2-40B4-BE49-F238E27FC236}">
                <a16:creationId xmlns:a16="http://schemas.microsoft.com/office/drawing/2014/main" id="{C52CB729-88B5-4A27-A673-D9935FB3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拆出角色、任務、背景與格式，只改一個變因</a:t>
            </a:r>
          </a:p>
        </p:txBody>
      </p:sp>
      <p:sp>
        <p:nvSpPr>
          <p:cNvPr id="12" name="text-468">
            <a:extLst xmlns:a="http://schemas.openxmlformats.org/drawingml/2006/main">
              <a:ext uri="{FF2B5EF4-FFF2-40B4-BE49-F238E27FC236}">
                <a16:creationId xmlns:a16="http://schemas.microsoft.com/office/drawing/2014/main" id="{E1795024-75EB-4496-A8BE-C8A71A4A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469">
            <a:extLst xmlns:a="http://schemas.openxmlformats.org/drawingml/2006/main">
              <a:ext uri="{FF2B5EF4-FFF2-40B4-BE49-F238E27FC236}">
                <a16:creationId xmlns:a16="http://schemas.microsoft.com/office/drawing/2014/main" id="{2954E9FB-1AF5-49DB-B67A-A448B68D2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用正常案例測一次，再用資料不足／越界案例測一次</a:t>
            </a:r>
          </a:p>
        </p:txBody>
      </p:sp>
      <p:sp>
        <p:nvSpPr>
          <p:cNvPr id="14" name="text-470">
            <a:extLst xmlns:a="http://schemas.openxmlformats.org/drawingml/2006/main">
              <a:ext uri="{FF2B5EF4-FFF2-40B4-BE49-F238E27FC236}">
                <a16:creationId xmlns:a16="http://schemas.microsoft.com/office/drawing/2014/main" id="{75CB40E1-9117-41BE-A5F0-A74A71B3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471">
            <a:extLst xmlns:a="http://schemas.openxmlformats.org/drawingml/2006/main">
              <a:ext uri="{FF2B5EF4-FFF2-40B4-BE49-F238E27FC236}">
                <a16:creationId xmlns:a16="http://schemas.microsoft.com/office/drawing/2014/main" id="{05A80D84-D2AC-4912-87F9-8D0575F0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比較前後輸出，留下可重複使用的版本與限制</a:t>
            </a:r>
          </a:p>
        </p:txBody>
      </p:sp>
      <p:sp>
        <p:nvSpPr>
          <p:cNvPr id="16" name="shape-472">
            <a:extLst xmlns:a="http://schemas.openxmlformats.org/drawingml/2006/main">
              <a:ext uri="{FF2B5EF4-FFF2-40B4-BE49-F238E27FC236}">
                <a16:creationId xmlns:a16="http://schemas.microsoft.com/office/drawing/2014/main" id="{3B805740-76B1-437A-98B2-54B06BC1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473">
            <a:extLst xmlns:a="http://schemas.openxmlformats.org/drawingml/2006/main">
              <a:ext uri="{FF2B5EF4-FFF2-40B4-BE49-F238E27FC236}">
                <a16:creationId xmlns:a16="http://schemas.microsoft.com/office/drawing/2014/main" id="{4F878887-510A-44A5-8860-E2E036F65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474">
            <a:extLst xmlns:a="http://schemas.openxmlformats.org/drawingml/2006/main">
              <a:ext uri="{FF2B5EF4-FFF2-40B4-BE49-F238E27FC236}">
                <a16:creationId xmlns:a16="http://schemas.microsoft.com/office/drawing/2014/main" id="{23D14FDA-EB27-4906-BBE3-46AA121F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用途與改動有記錄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輸出格式更穩定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遇資料不足會追問或標記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沒有捏造引用或課程事實</a:t>
            </a:r>
          </a:p>
        </p:txBody>
      </p:sp>
      <p:sp>
        <p:nvSpPr>
          <p:cNvPr id="19" name="text-752">
            <a:extLst xmlns:a="http://schemas.openxmlformats.org/drawingml/2006/main">
              <a:ext uri="{FF2B5EF4-FFF2-40B4-BE49-F238E27FC236}">
                <a16:creationId xmlns:a16="http://schemas.microsoft.com/office/drawing/2014/main" id="{FBB0D6BB-387A-42CE-A0AC-A26F22E5F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993125eceeb4081"/>
              </a:rPr>
              <a:t>建立／查看 Gem ↗</a:t>
            </a:r>
          </a:p>
        </p:txBody>
      </p:sp>
      <p:sp>
        <p:nvSpPr>
          <p:cNvPr id="20" name="shape-807">
            <a:extLst xmlns:a="http://schemas.openxmlformats.org/drawingml/2006/main">
              <a:ext uri="{FF2B5EF4-FFF2-40B4-BE49-F238E27FC236}">
                <a16:creationId xmlns:a16="http://schemas.microsoft.com/office/drawing/2014/main" id="{D77D0AEF-5A3C-4F6A-B0CA-FFCBE4288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d20d5793634e9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808">
            <a:extLst xmlns:a="http://schemas.openxmlformats.org/drawingml/2006/main">
              <a:ext uri="{FF2B5EF4-FFF2-40B4-BE49-F238E27FC236}">
                <a16:creationId xmlns:a16="http://schemas.microsoft.com/office/drawing/2014/main" id="{1966C082-A2DE-4C35-A9BC-2C0A844AE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81242232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75">
            <a:extLst xmlns:a="http://schemas.openxmlformats.org/drawingml/2006/main">
              <a:ext uri="{FF2B5EF4-FFF2-40B4-BE49-F238E27FC236}">
                <a16:creationId xmlns:a16="http://schemas.microsoft.com/office/drawing/2014/main" id="{99B7889F-0BEC-4D9E-9BDC-0188D767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EDC78D8-F631-4718-853B-999870CC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Checkpoint｜你的 Gem 值得留下來嗎？</a:t>
            </a:r>
          </a:p>
        </p:txBody>
      </p:sp>
      <p:cxnSp>
        <p:nvCxnSpPr>
          <p:cNvPr id="28" name="shape-47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77">
            <a:extLst xmlns:a="http://schemas.openxmlformats.org/drawingml/2006/main">
              <a:ext uri="{FF2B5EF4-FFF2-40B4-BE49-F238E27FC236}">
                <a16:creationId xmlns:a16="http://schemas.microsoft.com/office/drawing/2014/main" id="{8FEFEE40-D4C6-4BB5-BEE5-529F4716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AEA0661-8D90-46E8-A082-C65F1F009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478">
            <a:extLst xmlns:a="http://schemas.openxmlformats.org/drawingml/2006/main">
              <a:ext uri="{FF2B5EF4-FFF2-40B4-BE49-F238E27FC236}">
                <a16:creationId xmlns:a16="http://schemas.microsoft.com/office/drawing/2014/main" id="{82009CFD-D1DE-4D9C-A0BB-6FF2C38E9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79">
            <a:extLst xmlns:a="http://schemas.openxmlformats.org/drawingml/2006/main">
              <a:ext uri="{FF2B5EF4-FFF2-40B4-BE49-F238E27FC236}">
                <a16:creationId xmlns:a16="http://schemas.microsoft.com/office/drawing/2014/main" id="{7635D4DE-4805-4281-A65B-FCBF1C04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480">
            <a:extLst xmlns:a="http://schemas.openxmlformats.org/drawingml/2006/main">
              <a:ext uri="{FF2B5EF4-FFF2-40B4-BE49-F238E27FC236}">
                <a16:creationId xmlns:a16="http://schemas.microsoft.com/office/drawing/2014/main" id="{79D7976F-571D-4ECE-BD89-5C07865F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重複</a:t>
            </a:r>
          </a:p>
        </p:txBody>
      </p:sp>
      <p:sp>
        <p:nvSpPr>
          <p:cNvPr id="9" name="text-481">
            <a:extLst xmlns:a="http://schemas.openxmlformats.org/drawingml/2006/main">
              <a:ext uri="{FF2B5EF4-FFF2-40B4-BE49-F238E27FC236}">
                <a16:creationId xmlns:a16="http://schemas.microsoft.com/office/drawing/2014/main" id="{EAEE37DE-56F7-497B-89DA-7C01C102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這個任務一學期會出現多次，而不是只做一次。</a:t>
            </a:r>
          </a:p>
        </p:txBody>
      </p:sp>
      <p:sp>
        <p:nvSpPr>
          <p:cNvPr id="10" name="shape-482">
            <a:extLst xmlns:a="http://schemas.openxmlformats.org/drawingml/2006/main">
              <a:ext uri="{FF2B5EF4-FFF2-40B4-BE49-F238E27FC236}">
                <a16:creationId xmlns:a16="http://schemas.microsoft.com/office/drawing/2014/main" id="{EBF42DBC-4A08-4D97-B39B-1D49EE214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83">
            <a:extLst xmlns:a="http://schemas.openxmlformats.org/drawingml/2006/main">
              <a:ext uri="{FF2B5EF4-FFF2-40B4-BE49-F238E27FC236}">
                <a16:creationId xmlns:a16="http://schemas.microsoft.com/office/drawing/2014/main" id="{90BDF733-13D9-45BC-AFCC-63FEB1F9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484">
            <a:extLst xmlns:a="http://schemas.openxmlformats.org/drawingml/2006/main">
              <a:ext uri="{FF2B5EF4-FFF2-40B4-BE49-F238E27FC236}">
                <a16:creationId xmlns:a16="http://schemas.microsoft.com/office/drawing/2014/main" id="{D9B904B1-73D4-48ED-96C5-38578791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一致</a:t>
            </a:r>
          </a:p>
        </p:txBody>
      </p:sp>
      <p:sp>
        <p:nvSpPr>
          <p:cNvPr id="13" name="text-485">
            <a:extLst xmlns:a="http://schemas.openxmlformats.org/drawingml/2006/main">
              <a:ext uri="{FF2B5EF4-FFF2-40B4-BE49-F238E27FC236}">
                <a16:creationId xmlns:a16="http://schemas.microsoft.com/office/drawing/2014/main" id="{6B247514-FDAC-4CA1-B9D5-B7A326FB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不同輸入仍遵守相同流程、語氣與輸出欄位。</a:t>
            </a:r>
          </a:p>
        </p:txBody>
      </p:sp>
      <p:sp>
        <p:nvSpPr>
          <p:cNvPr id="14" name="shape-486">
            <a:extLst xmlns:a="http://schemas.openxmlformats.org/drawingml/2006/main">
              <a:ext uri="{FF2B5EF4-FFF2-40B4-BE49-F238E27FC236}">
                <a16:creationId xmlns:a16="http://schemas.microsoft.com/office/drawing/2014/main" id="{90F998E6-6B96-443A-AD6F-5A7DDE394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87">
            <a:extLst xmlns:a="http://schemas.openxmlformats.org/drawingml/2006/main">
              <a:ext uri="{FF2B5EF4-FFF2-40B4-BE49-F238E27FC236}">
                <a16:creationId xmlns:a16="http://schemas.microsoft.com/office/drawing/2014/main" id="{5DD90514-7ECA-4FD6-909B-846BA929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488">
            <a:extLst xmlns:a="http://schemas.openxmlformats.org/drawingml/2006/main">
              <a:ext uri="{FF2B5EF4-FFF2-40B4-BE49-F238E27FC236}">
                <a16:creationId xmlns:a16="http://schemas.microsoft.com/office/drawing/2014/main" id="{B6B75674-48D3-4479-9F18-6D2FEADB0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可教</a:t>
            </a:r>
          </a:p>
        </p:txBody>
      </p:sp>
      <p:sp>
        <p:nvSpPr>
          <p:cNvPr id="17" name="text-489">
            <a:extLst xmlns:a="http://schemas.openxmlformats.org/drawingml/2006/main">
              <a:ext uri="{FF2B5EF4-FFF2-40B4-BE49-F238E27FC236}">
                <a16:creationId xmlns:a16="http://schemas.microsoft.com/office/drawing/2014/main" id="{B6E09AF2-E648-4008-B993-555291EDE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同事看得懂它的用途，也知道何時不該使用。</a:t>
            </a:r>
          </a:p>
        </p:txBody>
      </p:sp>
      <p:sp>
        <p:nvSpPr>
          <p:cNvPr id="18" name="shape-490">
            <a:extLst xmlns:a="http://schemas.openxmlformats.org/drawingml/2006/main">
              <a:ext uri="{FF2B5EF4-FFF2-40B4-BE49-F238E27FC236}">
                <a16:creationId xmlns:a16="http://schemas.microsoft.com/office/drawing/2014/main" id="{BBC83E40-A052-4CA9-9D00-6D9B36CAB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91">
            <a:extLst xmlns:a="http://schemas.openxmlformats.org/drawingml/2006/main">
              <a:ext uri="{FF2B5EF4-FFF2-40B4-BE49-F238E27FC236}">
                <a16:creationId xmlns:a16="http://schemas.microsoft.com/office/drawing/2014/main" id="{36AA3D12-2842-412E-9652-5D63A4B86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92">
            <a:extLst xmlns:a="http://schemas.openxmlformats.org/drawingml/2006/main">
              <a:ext uri="{FF2B5EF4-FFF2-40B4-BE49-F238E27FC236}">
                <a16:creationId xmlns:a16="http://schemas.microsoft.com/office/drawing/2014/main" id="{C361549D-9C4B-4893-862E-DA9053C9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可改</a:t>
            </a:r>
          </a:p>
        </p:txBody>
      </p:sp>
      <p:sp>
        <p:nvSpPr>
          <p:cNvPr id="21" name="text-493">
            <a:extLst xmlns:a="http://schemas.openxmlformats.org/drawingml/2006/main">
              <a:ext uri="{FF2B5EF4-FFF2-40B4-BE49-F238E27FC236}">
                <a16:creationId xmlns:a16="http://schemas.microsoft.com/office/drawing/2014/main" id="{237E147F-1F28-4155-BDAF-0B49BE85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指令與背景檔案能隨課程迭代，不被鎖死。</a:t>
            </a:r>
          </a:p>
        </p:txBody>
      </p:sp>
      <p:sp>
        <p:nvSpPr>
          <p:cNvPr id="22" name="text-753">
            <a:extLst xmlns:a="http://schemas.openxmlformats.org/drawingml/2006/main">
              <a:ext uri="{FF2B5EF4-FFF2-40B4-BE49-F238E27FC236}">
                <a16:creationId xmlns:a16="http://schemas.microsoft.com/office/drawing/2014/main" id="{F3B9A4B4-27B1-4775-8F79-2C360DC3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9dc42ae4ca1457c"/>
              </a:rPr>
              <a:t>建立／查看 Gem ↗</a:t>
            </a:r>
          </a:p>
        </p:txBody>
      </p:sp>
      <p:sp>
        <p:nvSpPr>
          <p:cNvPr id="23" name="shape-809">
            <a:extLst xmlns:a="http://schemas.openxmlformats.org/drawingml/2006/main">
              <a:ext uri="{FF2B5EF4-FFF2-40B4-BE49-F238E27FC236}">
                <a16:creationId xmlns:a16="http://schemas.microsoft.com/office/drawing/2014/main" id="{5238E4A5-22C1-49BF-BB74-1CF53CDBF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67af2f33494c9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810">
            <a:extLst xmlns:a="http://schemas.openxmlformats.org/drawingml/2006/main">
              <a:ext uri="{FF2B5EF4-FFF2-40B4-BE49-F238E27FC236}">
                <a16:creationId xmlns:a16="http://schemas.microsoft.com/office/drawing/2014/main" id="{1A798356-44B1-4B92-AE00-32D6809AD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80855670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494">
            <a:extLst xmlns:a="http://schemas.openxmlformats.org/drawingml/2006/main">
              <a:ext uri="{FF2B5EF4-FFF2-40B4-BE49-F238E27FC236}">
                <a16:creationId xmlns:a16="http://schemas.microsoft.com/office/drawing/2014/main" id="{867DC741-162A-4549-9A53-9180778F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495">
            <a:extLst xmlns:a="http://schemas.openxmlformats.org/drawingml/2006/main">
              <a:ext uri="{FF2B5EF4-FFF2-40B4-BE49-F238E27FC236}">
                <a16:creationId xmlns:a16="http://schemas.microsoft.com/office/drawing/2014/main" id="{E58160B9-C022-43B9-90F3-A9F75E8B2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Canvas</a:t>
            </a:r>
          </a:p>
        </p:txBody>
      </p:sp>
      <p:sp>
        <p:nvSpPr>
          <p:cNvPr id="3" name="text-496">
            <a:extLst xmlns:a="http://schemas.openxmlformats.org/drawingml/2006/main">
              <a:ext uri="{FF2B5EF4-FFF2-40B4-BE49-F238E27FC236}">
                <a16:creationId xmlns:a16="http://schemas.microsoft.com/office/drawing/2014/main" id="{6C9C4D40-3C6F-4E42-825B-0AEC302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把文字想法變成可預覽、可修改、可分享的文件、程式與互動教學作品。</a:t>
            </a:r>
          </a:p>
        </p:txBody>
      </p:sp>
      <p:sp>
        <p:nvSpPr>
          <p:cNvPr id="4" name="shape-497">
            <a:extLst xmlns:a="http://schemas.openxmlformats.org/drawingml/2006/main">
              <a:ext uri="{FF2B5EF4-FFF2-40B4-BE49-F238E27FC236}">
                <a16:creationId xmlns:a16="http://schemas.microsoft.com/office/drawing/2014/main" id="{7F80EC8D-8141-4F51-BAB7-D817B543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498">
            <a:extLst xmlns:a="http://schemas.openxmlformats.org/drawingml/2006/main">
              <a:ext uri="{FF2B5EF4-FFF2-40B4-BE49-F238E27FC236}">
                <a16:creationId xmlns:a16="http://schemas.microsoft.com/office/drawing/2014/main" id="{8D7D0753-0CBB-4DCE-B74E-F8F14A19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49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500">
            <a:extLst xmlns:a="http://schemas.openxmlformats.org/drawingml/2006/main">
              <a:ext uri="{FF2B5EF4-FFF2-40B4-BE49-F238E27FC236}">
                <a16:creationId xmlns:a16="http://schemas.microsoft.com/office/drawing/2014/main" id="{2332A09A-910C-46B0-AB18-27E73AA3D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4CFF695-522F-4135-B813-C9BB92D2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9" name="text-754">
            <a:extLst xmlns:a="http://schemas.openxmlformats.org/drawingml/2006/main">
              <a:ext uri="{FF2B5EF4-FFF2-40B4-BE49-F238E27FC236}">
                <a16:creationId xmlns:a16="http://schemas.microsoft.com/office/drawing/2014/main" id="{2B232DCA-5E79-4384-8285-69DBA4B2C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180115a29cb4b6b"/>
              </a:rPr>
              <a:t>開啟 Gemini Canvas ↗</a:t>
            </a:r>
          </a:p>
        </p:txBody>
      </p:sp>
      <p:sp>
        <p:nvSpPr>
          <p:cNvPr id="10" name="shape-811">
            <a:extLst xmlns:a="http://schemas.openxmlformats.org/drawingml/2006/main">
              <a:ext uri="{FF2B5EF4-FFF2-40B4-BE49-F238E27FC236}">
                <a16:creationId xmlns:a16="http://schemas.microsoft.com/office/drawing/2014/main" id="{5FA671BF-ADC8-4178-B737-AEACE95AE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197969905f43e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812">
            <a:extLst xmlns:a="http://schemas.openxmlformats.org/drawingml/2006/main">
              <a:ext uri="{FF2B5EF4-FFF2-40B4-BE49-F238E27FC236}">
                <a16:creationId xmlns:a16="http://schemas.microsoft.com/office/drawing/2014/main" id="{A46B8B8D-8AE6-4291-8665-DC0ECFBC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84387809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501">
            <a:extLst xmlns:a="http://schemas.openxmlformats.org/drawingml/2006/main">
              <a:ext uri="{FF2B5EF4-FFF2-40B4-BE49-F238E27FC236}">
                <a16:creationId xmlns:a16="http://schemas.microsoft.com/office/drawing/2014/main" id="{23116208-C4EF-47ED-86A8-414CFD1F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CANVAS PROMPT · MEETING SYSTEM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9986C0B-2583-49A6-901D-71AA118D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教師會議紀錄系統的 Canvas 提示詞公式</a:t>
            </a:r>
          </a:p>
        </p:txBody>
      </p:sp>
      <p:cxnSp>
        <p:nvCxnSpPr>
          <p:cNvPr id="28" name="shape-50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03">
            <a:extLst xmlns:a="http://schemas.openxmlformats.org/drawingml/2006/main">
              <a:ext uri="{FF2B5EF4-FFF2-40B4-BE49-F238E27FC236}">
                <a16:creationId xmlns:a16="http://schemas.microsoft.com/office/drawing/2014/main" id="{A68E9E85-7B96-4908-9C9F-0AE624F2C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330E28F-C626-464F-AE14-3C35A9FE9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504">
            <a:extLst xmlns:a="http://schemas.openxmlformats.org/drawingml/2006/main">
              <a:ext uri="{FF2B5EF4-FFF2-40B4-BE49-F238E27FC236}">
                <a16:creationId xmlns:a16="http://schemas.microsoft.com/office/drawing/2014/main" id="{B0BB1C52-DB15-452D-A5F0-F3BD6FDE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05">
            <a:extLst xmlns:a="http://schemas.openxmlformats.org/drawingml/2006/main">
              <a:ext uri="{FF2B5EF4-FFF2-40B4-BE49-F238E27FC236}">
                <a16:creationId xmlns:a16="http://schemas.microsoft.com/office/drawing/2014/main" id="{E57B6BF1-F6DB-476B-89CA-05E34DDD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506">
            <a:extLst xmlns:a="http://schemas.openxmlformats.org/drawingml/2006/main">
              <a:ext uri="{FF2B5EF4-FFF2-40B4-BE49-F238E27FC236}">
                <a16:creationId xmlns:a16="http://schemas.microsoft.com/office/drawing/2014/main" id="{54E64084-41C6-48A4-A5C6-B0D9E8C6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資料輸入</a:t>
            </a:r>
          </a:p>
        </p:txBody>
      </p:sp>
      <p:sp>
        <p:nvSpPr>
          <p:cNvPr id="9" name="text-507">
            <a:extLst xmlns:a="http://schemas.openxmlformats.org/drawingml/2006/main">
              <a:ext uri="{FF2B5EF4-FFF2-40B4-BE49-F238E27FC236}">
                <a16:creationId xmlns:a16="http://schemas.microsoft.com/office/drawing/2014/main" id="{D5378433-CD99-47C6-AEDB-36D3A8D9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會議日期、議程、逐字稿或摘要；先用一筆合成資料示範。</a:t>
            </a:r>
          </a:p>
        </p:txBody>
      </p:sp>
      <p:sp>
        <p:nvSpPr>
          <p:cNvPr id="10" name="shape-508">
            <a:extLst xmlns:a="http://schemas.openxmlformats.org/drawingml/2006/main">
              <a:ext uri="{FF2B5EF4-FFF2-40B4-BE49-F238E27FC236}">
                <a16:creationId xmlns:a16="http://schemas.microsoft.com/office/drawing/2014/main" id="{D6CDEE14-699B-4E01-A2C7-DBC3E4F78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09">
            <a:extLst xmlns:a="http://schemas.openxmlformats.org/drawingml/2006/main">
              <a:ext uri="{FF2B5EF4-FFF2-40B4-BE49-F238E27FC236}">
                <a16:creationId xmlns:a16="http://schemas.microsoft.com/office/drawing/2014/main" id="{A77D56E0-5252-4052-810D-1AA31C2C1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510">
            <a:extLst xmlns:a="http://schemas.openxmlformats.org/drawingml/2006/main">
              <a:ext uri="{FF2B5EF4-FFF2-40B4-BE49-F238E27FC236}">
                <a16:creationId xmlns:a16="http://schemas.microsoft.com/office/drawing/2014/main" id="{48D515AC-DDE0-4D81-B5F9-CD672601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工作流程</a:t>
            </a:r>
          </a:p>
        </p:txBody>
      </p:sp>
      <p:sp>
        <p:nvSpPr>
          <p:cNvPr id="13" name="text-511">
            <a:extLst xmlns:a="http://schemas.openxmlformats.org/drawingml/2006/main">
              <a:ext uri="{FF2B5EF4-FFF2-40B4-BE49-F238E27FC236}">
                <a16:creationId xmlns:a16="http://schemas.microsoft.com/office/drawing/2014/main" id="{67771C2A-3025-4E1A-BE42-0006A6A12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把重點、決議、待辦、承辦人與期限變成可查詢欄位。</a:t>
            </a:r>
          </a:p>
        </p:txBody>
      </p:sp>
      <p:sp>
        <p:nvSpPr>
          <p:cNvPr id="14" name="shape-512">
            <a:extLst xmlns:a="http://schemas.openxmlformats.org/drawingml/2006/main">
              <a:ext uri="{FF2B5EF4-FFF2-40B4-BE49-F238E27FC236}">
                <a16:creationId xmlns:a16="http://schemas.microsoft.com/office/drawing/2014/main" id="{D721D3F2-33C6-4020-8E49-33E426FA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13">
            <a:extLst xmlns:a="http://schemas.openxmlformats.org/drawingml/2006/main">
              <a:ext uri="{FF2B5EF4-FFF2-40B4-BE49-F238E27FC236}">
                <a16:creationId xmlns:a16="http://schemas.microsoft.com/office/drawing/2014/main" id="{7C4F6DCB-10FF-4654-8470-22B85EB8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514">
            <a:extLst xmlns:a="http://schemas.openxmlformats.org/drawingml/2006/main">
              <a:ext uri="{FF2B5EF4-FFF2-40B4-BE49-F238E27FC236}">
                <a16:creationId xmlns:a16="http://schemas.microsoft.com/office/drawing/2014/main" id="{9A7725C9-0176-44AD-81D7-C8D40DAA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互動介面</a:t>
            </a:r>
          </a:p>
        </p:txBody>
      </p:sp>
      <p:sp>
        <p:nvSpPr>
          <p:cNvPr id="17" name="text-515">
            <a:extLst xmlns:a="http://schemas.openxmlformats.org/drawingml/2006/main">
              <a:ext uri="{FF2B5EF4-FFF2-40B4-BE49-F238E27FC236}">
                <a16:creationId xmlns:a16="http://schemas.microsoft.com/office/drawing/2014/main" id="{CD859FE5-A9A3-4D4E-A448-E508F132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加入搜尋、篩選、展開、匯出與手機操作，讓紀錄真的能被使用。</a:t>
            </a:r>
          </a:p>
        </p:txBody>
      </p:sp>
      <p:sp>
        <p:nvSpPr>
          <p:cNvPr id="18" name="shape-516">
            <a:extLst xmlns:a="http://schemas.openxmlformats.org/drawingml/2006/main">
              <a:ext uri="{FF2B5EF4-FFF2-40B4-BE49-F238E27FC236}">
                <a16:creationId xmlns:a16="http://schemas.microsoft.com/office/drawing/2014/main" id="{66912777-E8B7-4270-9F8F-F34B8F9B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517">
            <a:extLst xmlns:a="http://schemas.openxmlformats.org/drawingml/2006/main">
              <a:ext uri="{FF2B5EF4-FFF2-40B4-BE49-F238E27FC236}">
                <a16:creationId xmlns:a16="http://schemas.microsoft.com/office/drawing/2014/main" id="{6ACF588B-8052-432E-A6C2-E1333EFA8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518">
            <a:extLst xmlns:a="http://schemas.openxmlformats.org/drawingml/2006/main">
              <a:ext uri="{FF2B5EF4-FFF2-40B4-BE49-F238E27FC236}">
                <a16:creationId xmlns:a16="http://schemas.microsoft.com/office/drawing/2014/main" id="{9E06B1A9-6090-4A90-94C2-D06E0B240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部署驗收</a:t>
            </a:r>
          </a:p>
        </p:txBody>
      </p:sp>
      <p:sp>
        <p:nvSpPr>
          <p:cNvPr id="21" name="text-519">
            <a:extLst xmlns:a="http://schemas.openxmlformats.org/drawingml/2006/main">
              <a:ext uri="{FF2B5EF4-FFF2-40B4-BE49-F238E27FC236}">
                <a16:creationId xmlns:a16="http://schemas.microsoft.com/office/drawing/2014/main" id="{45188402-8883-4FD2-8A4D-2D79590DC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單檔 RWD、無個資、可嵌入 Google Sites，並列出權限與備援方案。</a:t>
            </a:r>
          </a:p>
        </p:txBody>
      </p:sp>
      <p:sp>
        <p:nvSpPr>
          <p:cNvPr id="22" name="text-755">
            <a:extLst xmlns:a="http://schemas.openxmlformats.org/drawingml/2006/main">
              <a:ext uri="{FF2B5EF4-FFF2-40B4-BE49-F238E27FC236}">
                <a16:creationId xmlns:a16="http://schemas.microsoft.com/office/drawing/2014/main" id="{FEBF967B-0100-4918-80B5-87AF1020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3173de875784ef7"/>
              </a:rPr>
              <a:t>開啟 Gemini Canvas ↗</a:t>
            </a:r>
          </a:p>
        </p:txBody>
      </p:sp>
      <p:sp>
        <p:nvSpPr>
          <p:cNvPr id="23" name="shape-813">
            <a:extLst xmlns:a="http://schemas.openxmlformats.org/drawingml/2006/main">
              <a:ext uri="{FF2B5EF4-FFF2-40B4-BE49-F238E27FC236}">
                <a16:creationId xmlns:a16="http://schemas.microsoft.com/office/drawing/2014/main" id="{CF79C2A6-EE51-4C77-AEA1-18158637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2594923c844de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814">
            <a:extLst xmlns:a="http://schemas.openxmlformats.org/drawingml/2006/main">
              <a:ext uri="{FF2B5EF4-FFF2-40B4-BE49-F238E27FC236}">
                <a16:creationId xmlns:a16="http://schemas.microsoft.com/office/drawing/2014/main" id="{B14DE1A0-1D16-424C-8243-6E449861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37837404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520">
            <a:extLst xmlns:a="http://schemas.openxmlformats.org/drawingml/2006/main">
              <a:ext uri="{FF2B5EF4-FFF2-40B4-BE49-F238E27FC236}">
                <a16:creationId xmlns:a16="http://schemas.microsoft.com/office/drawing/2014/main" id="{B00790A6-97CA-46CA-A416-4DBDE9D99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 · CANVAS → GOOGLE SITES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16778AA-7D69-4045-A779-98AEDD391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示範：教師會議紀錄線上系統</a:t>
            </a:r>
          </a:p>
        </p:txBody>
      </p:sp>
      <p:cxnSp>
        <p:nvCxnSpPr>
          <p:cNvPr id="38" name="shape-52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22">
            <a:extLst xmlns:a="http://schemas.openxmlformats.org/drawingml/2006/main">
              <a:ext uri="{FF2B5EF4-FFF2-40B4-BE49-F238E27FC236}">
                <a16:creationId xmlns:a16="http://schemas.microsoft.com/office/drawing/2014/main" id="{2069865F-478E-479E-88C8-9213AEB4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67A98A6-989F-4C91-9BE5-29F931A8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shape-523">
            <a:extLst xmlns:a="http://schemas.openxmlformats.org/drawingml/2006/main">
              <a:ext uri="{FF2B5EF4-FFF2-40B4-BE49-F238E27FC236}">
                <a16:creationId xmlns:a16="http://schemas.microsoft.com/office/drawing/2014/main" id="{C7EED33F-F79D-4F7C-B1FB-9DA02240E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524">
            <a:extLst xmlns:a="http://schemas.openxmlformats.org/drawingml/2006/main">
              <a:ext uri="{FF2B5EF4-FFF2-40B4-BE49-F238E27FC236}">
                <a16:creationId xmlns:a16="http://schemas.microsoft.com/office/drawing/2014/main" id="{6B097194-AF14-4D0A-A1A4-DACA228F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25">
            <a:extLst xmlns:a="http://schemas.openxmlformats.org/drawingml/2006/main">
              <a:ext uri="{FF2B5EF4-FFF2-40B4-BE49-F238E27FC236}">
                <a16:creationId xmlns:a16="http://schemas.microsoft.com/office/drawing/2014/main" id="{7F138A14-FDDF-4D60-A552-74EF27F3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26">
            <a:extLst xmlns:a="http://schemas.openxmlformats.org/drawingml/2006/main">
              <a:ext uri="{FF2B5EF4-FFF2-40B4-BE49-F238E27FC236}">
                <a16:creationId xmlns:a16="http://schemas.microsoft.com/office/drawing/2014/main" id="{0DAA1FF3-F90C-4566-B329-64BCDD2E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規格</a:t>
            </a:r>
          </a:p>
        </p:txBody>
      </p:sp>
      <p:sp>
        <p:nvSpPr>
          <p:cNvPr id="10" name="text-527">
            <a:extLst xmlns:a="http://schemas.openxmlformats.org/drawingml/2006/main">
              <a:ext uri="{FF2B5EF4-FFF2-40B4-BE49-F238E27FC236}">
                <a16:creationId xmlns:a16="http://schemas.microsoft.com/office/drawing/2014/main" id="{370E2B15-A44F-4741-AB6D-DC749978D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先寫使用者、欄位與一筆合成會議資料</a:t>
            </a:r>
          </a:p>
        </p:txBody>
      </p:sp>
      <p:sp>
        <p:nvSpPr>
          <p:cNvPr id="11" name="text-528">
            <a:extLst xmlns:a="http://schemas.openxmlformats.org/drawingml/2006/main">
              <a:ext uri="{FF2B5EF4-FFF2-40B4-BE49-F238E27FC236}">
                <a16:creationId xmlns:a16="http://schemas.microsoft.com/office/drawing/2014/main" id="{27FF6BEE-6740-428B-957D-161F422CF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29">
            <a:extLst xmlns:a="http://schemas.openxmlformats.org/drawingml/2006/main">
              <a:ext uri="{FF2B5EF4-FFF2-40B4-BE49-F238E27FC236}">
                <a16:creationId xmlns:a16="http://schemas.microsoft.com/office/drawing/2014/main" id="{BCD17D79-30F4-43DF-9529-E7A58BF4A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530">
            <a:extLst xmlns:a="http://schemas.openxmlformats.org/drawingml/2006/main">
              <a:ext uri="{FF2B5EF4-FFF2-40B4-BE49-F238E27FC236}">
                <a16:creationId xmlns:a16="http://schemas.microsoft.com/office/drawing/2014/main" id="{8FDE5588-4E84-4E49-B2A8-4B814A7A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31">
            <a:extLst xmlns:a="http://schemas.openxmlformats.org/drawingml/2006/main">
              <a:ext uri="{FF2B5EF4-FFF2-40B4-BE49-F238E27FC236}">
                <a16:creationId xmlns:a16="http://schemas.microsoft.com/office/drawing/2014/main" id="{FDB720C0-F051-4D42-99ED-A4369BFC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532">
            <a:extLst xmlns:a="http://schemas.openxmlformats.org/drawingml/2006/main">
              <a:ext uri="{FF2B5EF4-FFF2-40B4-BE49-F238E27FC236}">
                <a16:creationId xmlns:a16="http://schemas.microsoft.com/office/drawing/2014/main" id="{E32097D7-CAF2-4489-A103-A13B30658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生成</a:t>
            </a:r>
          </a:p>
        </p:txBody>
      </p:sp>
      <p:sp>
        <p:nvSpPr>
          <p:cNvPr id="16" name="text-533">
            <a:extLst xmlns:a="http://schemas.openxmlformats.org/drawingml/2006/main">
              <a:ext uri="{FF2B5EF4-FFF2-40B4-BE49-F238E27FC236}">
                <a16:creationId xmlns:a16="http://schemas.microsoft.com/office/drawing/2014/main" id="{9C79ADBE-DE3E-4FC8-8D77-509D5F6A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做出重點、決議、待辦與搜尋的最小原型</a:t>
            </a:r>
          </a:p>
        </p:txBody>
      </p:sp>
      <p:sp>
        <p:nvSpPr>
          <p:cNvPr id="17" name="text-534">
            <a:extLst xmlns:a="http://schemas.openxmlformats.org/drawingml/2006/main">
              <a:ext uri="{FF2B5EF4-FFF2-40B4-BE49-F238E27FC236}">
                <a16:creationId xmlns:a16="http://schemas.microsoft.com/office/drawing/2014/main" id="{E8F86BF8-7F36-40E1-AB98-E285E41E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535">
            <a:extLst xmlns:a="http://schemas.openxmlformats.org/drawingml/2006/main">
              <a:ext uri="{FF2B5EF4-FFF2-40B4-BE49-F238E27FC236}">
                <a16:creationId xmlns:a16="http://schemas.microsoft.com/office/drawing/2014/main" id="{C637EC5F-EB6A-4305-8050-46930426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536">
            <a:extLst xmlns:a="http://schemas.openxmlformats.org/drawingml/2006/main">
              <a:ext uri="{FF2B5EF4-FFF2-40B4-BE49-F238E27FC236}">
                <a16:creationId xmlns:a16="http://schemas.microsoft.com/office/drawing/2014/main" id="{C5094BAC-026D-46F8-997E-FB4996195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37">
            <a:extLst xmlns:a="http://schemas.openxmlformats.org/drawingml/2006/main">
              <a:ext uri="{FF2B5EF4-FFF2-40B4-BE49-F238E27FC236}">
                <a16:creationId xmlns:a16="http://schemas.microsoft.com/office/drawing/2014/main" id="{DDCFDF38-666B-4D85-9E03-412786C9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538">
            <a:extLst xmlns:a="http://schemas.openxmlformats.org/drawingml/2006/main">
              <a:ext uri="{FF2B5EF4-FFF2-40B4-BE49-F238E27FC236}">
                <a16:creationId xmlns:a16="http://schemas.microsoft.com/office/drawing/2014/main" id="{2D14CFF3-7554-4A55-A91D-E1EE8F19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22" name="text-539">
            <a:extLst xmlns:a="http://schemas.openxmlformats.org/drawingml/2006/main">
              <a:ext uri="{FF2B5EF4-FFF2-40B4-BE49-F238E27FC236}">
                <a16:creationId xmlns:a16="http://schemas.microsoft.com/office/drawing/2014/main" id="{DC072F0D-CF93-4833-A6AC-BDCC517C5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操作篩選、展開、匯出，檢查 RWD 與鍵盤路徑</a:t>
            </a:r>
          </a:p>
        </p:txBody>
      </p:sp>
      <p:sp>
        <p:nvSpPr>
          <p:cNvPr id="23" name="text-540">
            <a:extLst xmlns:a="http://schemas.openxmlformats.org/drawingml/2006/main">
              <a:ext uri="{FF2B5EF4-FFF2-40B4-BE49-F238E27FC236}">
                <a16:creationId xmlns:a16="http://schemas.microsoft.com/office/drawing/2014/main" id="{8DD8D193-A9BE-4E53-BE9C-EDF110CE7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541">
            <a:extLst xmlns:a="http://schemas.openxmlformats.org/drawingml/2006/main">
              <a:ext uri="{FF2B5EF4-FFF2-40B4-BE49-F238E27FC236}">
                <a16:creationId xmlns:a16="http://schemas.microsoft.com/office/drawing/2014/main" id="{B62F54E7-90F1-4953-B344-17F7DE92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542">
            <a:extLst xmlns:a="http://schemas.openxmlformats.org/drawingml/2006/main">
              <a:ext uri="{FF2B5EF4-FFF2-40B4-BE49-F238E27FC236}">
                <a16:creationId xmlns:a16="http://schemas.microsoft.com/office/drawing/2014/main" id="{66795B6C-B108-4492-A767-B6664B722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43">
            <a:extLst xmlns:a="http://schemas.openxmlformats.org/drawingml/2006/main">
              <a:ext uri="{FF2B5EF4-FFF2-40B4-BE49-F238E27FC236}">
                <a16:creationId xmlns:a16="http://schemas.microsoft.com/office/drawing/2014/main" id="{24936032-F888-4A62-BA15-9CAB7E8ED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44">
            <a:extLst xmlns:a="http://schemas.openxmlformats.org/drawingml/2006/main">
              <a:ext uri="{FF2B5EF4-FFF2-40B4-BE49-F238E27FC236}">
                <a16:creationId xmlns:a16="http://schemas.microsoft.com/office/drawing/2014/main" id="{0A8D02A1-AB05-41B9-B505-0AD7D971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迭代</a:t>
            </a:r>
          </a:p>
        </p:txBody>
      </p:sp>
      <p:sp>
        <p:nvSpPr>
          <p:cNvPr id="28" name="text-545">
            <a:extLst xmlns:a="http://schemas.openxmlformats.org/drawingml/2006/main">
              <a:ext uri="{FF2B5EF4-FFF2-40B4-BE49-F238E27FC236}">
                <a16:creationId xmlns:a16="http://schemas.microsoft.com/office/drawing/2014/main" id="{383D40B2-B3E9-4AB6-8836-E2D45B87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修正權限、無障礙與嵌入限制，再交給 Google Sites</a:t>
            </a:r>
          </a:p>
        </p:txBody>
      </p:sp>
      <p:sp>
        <p:nvSpPr>
          <p:cNvPr id="29" name="text-546">
            <a:extLst xmlns:a="http://schemas.openxmlformats.org/drawingml/2006/main">
              <a:ext uri="{FF2B5EF4-FFF2-40B4-BE49-F238E27FC236}">
                <a16:creationId xmlns:a16="http://schemas.microsoft.com/office/drawing/2014/main" id="{7A22591D-0E5B-4C71-898C-97E89053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756">
            <a:extLst xmlns:a="http://schemas.openxmlformats.org/drawingml/2006/main">
              <a:ext uri="{FF2B5EF4-FFF2-40B4-BE49-F238E27FC236}">
                <a16:creationId xmlns:a16="http://schemas.microsoft.com/office/drawing/2014/main" id="{F6DFA029-D5DE-46C6-BC3C-7CF4D4A18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f641ff7de0f4599"/>
              </a:rPr>
              <a:t>Canvas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158249fe9aa41db"/>
              </a:rPr>
              <a:t>會議紀錄系統 ↗</a:t>
            </a:r>
          </a:p>
        </p:txBody>
      </p:sp>
      <p:sp>
        <p:nvSpPr>
          <p:cNvPr id="31" name="shape-815">
            <a:extLst xmlns:a="http://schemas.openxmlformats.org/drawingml/2006/main">
              <a:ext uri="{FF2B5EF4-FFF2-40B4-BE49-F238E27FC236}">
                <a16:creationId xmlns:a16="http://schemas.microsoft.com/office/drawing/2014/main" id="{17E0F297-22EE-46F3-A22A-E320E752E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85cb071a094ba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816">
            <a:extLst xmlns:a="http://schemas.openxmlformats.org/drawingml/2006/main">
              <a:ext uri="{FF2B5EF4-FFF2-40B4-BE49-F238E27FC236}">
                <a16:creationId xmlns:a16="http://schemas.microsoft.com/office/drawing/2014/main" id="{625188E4-4C93-44AB-AD2C-E53351327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5b3f366d4f41d5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817">
            <a:extLst xmlns:a="http://schemas.openxmlformats.org/drawingml/2006/main">
              <a:ext uri="{FF2B5EF4-FFF2-40B4-BE49-F238E27FC236}">
                <a16:creationId xmlns:a16="http://schemas.microsoft.com/office/drawing/2014/main" id="{959E3C4C-0F59-4F28-95DC-F41F5934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</p:spTree>
    <p:extLst>
      <p:ext uri="{BB962C8B-B14F-4D97-AF65-F5344CB8AC3E}">
        <p14:creationId xmlns:p14="http://schemas.microsoft.com/office/powerpoint/2010/main" val="111776250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547">
            <a:extLst xmlns:a="http://schemas.openxmlformats.org/drawingml/2006/main">
              <a:ext uri="{FF2B5EF4-FFF2-40B4-BE49-F238E27FC236}">
                <a16:creationId xmlns:a16="http://schemas.microsoft.com/office/drawing/2014/main" id="{28678BD4-FCBD-401D-B30B-6ED32D03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1C7484A-C65E-4C1E-B383-E9F2E108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實作三｜Canvas 會議紀錄 × Google Sites</a:t>
            </a:r>
          </a:p>
        </p:txBody>
      </p:sp>
      <p:cxnSp>
        <p:nvCxnSpPr>
          <p:cNvPr id="29" name="shape-54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49">
            <a:extLst xmlns:a="http://schemas.openxmlformats.org/drawingml/2006/main">
              <a:ext uri="{FF2B5EF4-FFF2-40B4-BE49-F238E27FC236}">
                <a16:creationId xmlns:a16="http://schemas.microsoft.com/office/drawing/2014/main" id="{49570195-4332-4794-8BBA-47C845EA2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E345B5D-C64F-418F-AA0F-BD27F541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text-550">
            <a:extLst xmlns:a="http://schemas.openxmlformats.org/drawingml/2006/main">
              <a:ext uri="{FF2B5EF4-FFF2-40B4-BE49-F238E27FC236}">
                <a16:creationId xmlns:a16="http://schemas.microsoft.com/office/drawing/2014/main" id="{3EF60423-C5D3-411F-811F-7F9608A5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551">
            <a:extLst xmlns:a="http://schemas.openxmlformats.org/drawingml/2006/main">
              <a:ext uri="{FF2B5EF4-FFF2-40B4-BE49-F238E27FC236}">
                <a16:creationId xmlns:a16="http://schemas.microsoft.com/office/drawing/2014/main" id="{B9CFFD33-CCFC-4616-AE18-2B7D4741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552">
            <a:extLst xmlns:a="http://schemas.openxmlformats.org/drawingml/2006/main">
              <a:ext uri="{FF2B5EF4-FFF2-40B4-BE49-F238E27FC236}">
                <a16:creationId xmlns:a16="http://schemas.microsoft.com/office/drawing/2014/main" id="{9EAC2A31-439A-4A22-AA43-BF888D5A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53">
            <a:extLst xmlns:a="http://schemas.openxmlformats.org/drawingml/2006/main">
              <a:ext uri="{FF2B5EF4-FFF2-40B4-BE49-F238E27FC236}">
                <a16:creationId xmlns:a16="http://schemas.microsoft.com/office/drawing/2014/main" id="{7A69D9E7-83B5-48B9-A526-86B4F1DE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在 Canvas 生成含重點、決議、待辦與搜尋的最小原型</a:t>
            </a:r>
          </a:p>
        </p:txBody>
      </p:sp>
      <p:sp>
        <p:nvSpPr>
          <p:cNvPr id="10" name="text-554">
            <a:extLst xmlns:a="http://schemas.openxmlformats.org/drawingml/2006/main">
              <a:ext uri="{FF2B5EF4-FFF2-40B4-BE49-F238E27FC236}">
                <a16:creationId xmlns:a16="http://schemas.microsoft.com/office/drawing/2014/main" id="{D017BAB1-2BD9-4927-A830-13D62644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555">
            <a:extLst xmlns:a="http://schemas.openxmlformats.org/drawingml/2006/main">
              <a:ext uri="{FF2B5EF4-FFF2-40B4-BE49-F238E27FC236}">
                <a16:creationId xmlns:a16="http://schemas.microsoft.com/office/drawing/2014/main" id="{886606A4-E445-43FE-B4A3-934815146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用合成會議資料測試篩選、展開、匯出與手機版</a:t>
            </a:r>
          </a:p>
        </p:txBody>
      </p:sp>
      <p:sp>
        <p:nvSpPr>
          <p:cNvPr id="12" name="text-556">
            <a:extLst xmlns:a="http://schemas.openxmlformats.org/drawingml/2006/main">
              <a:ext uri="{FF2B5EF4-FFF2-40B4-BE49-F238E27FC236}">
                <a16:creationId xmlns:a16="http://schemas.microsoft.com/office/drawing/2014/main" id="{6204C0D8-386C-4093-BA91-ED169B21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557">
            <a:extLst xmlns:a="http://schemas.openxmlformats.org/drawingml/2006/main">
              <a:ext uri="{FF2B5EF4-FFF2-40B4-BE49-F238E27FC236}">
                <a16:creationId xmlns:a16="http://schemas.microsoft.com/office/drawing/2014/main" id="{D9784F6E-0368-4C1C-A916-719F7913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複製分享網址或嵌入碼，於 Google Sites 插入 → 嵌入 → 預覽</a:t>
            </a:r>
          </a:p>
        </p:txBody>
      </p:sp>
      <p:sp>
        <p:nvSpPr>
          <p:cNvPr id="14" name="text-558">
            <a:extLst xmlns:a="http://schemas.openxmlformats.org/drawingml/2006/main">
              <a:ext uri="{FF2B5EF4-FFF2-40B4-BE49-F238E27FC236}">
                <a16:creationId xmlns:a16="http://schemas.microsoft.com/office/drawing/2014/main" id="{5F7DAA6F-E33E-43FA-B621-771690D6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559">
            <a:extLst xmlns:a="http://schemas.openxmlformats.org/drawingml/2006/main">
              <a:ext uri="{FF2B5EF4-FFF2-40B4-BE49-F238E27FC236}">
                <a16:creationId xmlns:a16="http://schemas.microsoft.com/office/drawing/2014/main" id="{5F25C146-86C7-4467-BFDC-3C91707E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發布前檢查權限；若 X-Frame 被阻擋，保留外開連結作備援</a:t>
            </a:r>
          </a:p>
        </p:txBody>
      </p:sp>
      <p:sp>
        <p:nvSpPr>
          <p:cNvPr id="16" name="shape-560">
            <a:extLst xmlns:a="http://schemas.openxmlformats.org/drawingml/2006/main">
              <a:ext uri="{FF2B5EF4-FFF2-40B4-BE49-F238E27FC236}">
                <a16:creationId xmlns:a16="http://schemas.microsoft.com/office/drawing/2014/main" id="{94BDA1E0-6E34-4E0C-80DF-79988C1F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561">
            <a:extLst xmlns:a="http://schemas.openxmlformats.org/drawingml/2006/main">
              <a:ext uri="{FF2B5EF4-FFF2-40B4-BE49-F238E27FC236}">
                <a16:creationId xmlns:a16="http://schemas.microsoft.com/office/drawing/2014/main" id="{80233C51-2927-4C44-8E93-6CC655A5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562">
            <a:extLst xmlns:a="http://schemas.openxmlformats.org/drawingml/2006/main">
              <a:ext uri="{FF2B5EF4-FFF2-40B4-BE49-F238E27FC236}">
                <a16:creationId xmlns:a16="http://schemas.microsoft.com/office/drawing/2014/main" id="{6C873374-4B55-48A3-829A-74C8565C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8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桌機／手機都能完成主要操作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至少一筆會議紀錄可查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Google Sites 預覽成功或有外開備援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不含個資且保留人工確認</a:t>
            </a:r>
          </a:p>
        </p:txBody>
      </p:sp>
      <p:sp>
        <p:nvSpPr>
          <p:cNvPr id="19" name="text-757">
            <a:extLst xmlns:a="http://schemas.openxmlformats.org/drawingml/2006/main">
              <a:ext uri="{FF2B5EF4-FFF2-40B4-BE49-F238E27FC236}">
                <a16:creationId xmlns:a16="http://schemas.microsoft.com/office/drawing/2014/main" id="{3EACD71F-18B6-4A5B-A6C9-88351AE98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4f6a7b0389c4a4d"/>
              </a:rPr>
              <a:t>Canvas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c90067f6acd48f8"/>
              </a:rPr>
              <a:t>會議紀錄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8446fce5aa445c4"/>
              </a:rPr>
              <a:t>Google Sites ↗</a:t>
            </a:r>
          </a:p>
        </p:txBody>
      </p:sp>
      <p:sp>
        <p:nvSpPr>
          <p:cNvPr id="20" name="shape-818">
            <a:extLst xmlns:a="http://schemas.openxmlformats.org/drawingml/2006/main">
              <a:ext uri="{FF2B5EF4-FFF2-40B4-BE49-F238E27FC236}">
                <a16:creationId xmlns:a16="http://schemas.microsoft.com/office/drawing/2014/main" id="{3CE3FE8E-6AA3-4878-9751-CE31B04E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daa401947b4aea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819">
            <a:extLst xmlns:a="http://schemas.openxmlformats.org/drawingml/2006/main">
              <a:ext uri="{FF2B5EF4-FFF2-40B4-BE49-F238E27FC236}">
                <a16:creationId xmlns:a16="http://schemas.microsoft.com/office/drawing/2014/main" id="{779CE028-4B61-42FF-8D5E-0748BB90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565168791a4b7f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820">
            <a:extLst xmlns:a="http://schemas.openxmlformats.org/drawingml/2006/main">
              <a:ext uri="{FF2B5EF4-FFF2-40B4-BE49-F238E27FC236}">
                <a16:creationId xmlns:a16="http://schemas.microsoft.com/office/drawing/2014/main" id="{D6447369-BAF1-4E09-831F-F4D61EA2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d05271556c4777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821">
            <a:extLst xmlns:a="http://schemas.openxmlformats.org/drawingml/2006/main">
              <a:ext uri="{FF2B5EF4-FFF2-40B4-BE49-F238E27FC236}">
                <a16:creationId xmlns:a16="http://schemas.microsoft.com/office/drawing/2014/main" id="{72DEAD5B-B8AC-442A-ACD9-27CF5EAD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137181313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563">
            <a:extLst xmlns:a="http://schemas.openxmlformats.org/drawingml/2006/main">
              <a:ext uri="{FF2B5EF4-FFF2-40B4-BE49-F238E27FC236}">
                <a16:creationId xmlns:a16="http://schemas.microsoft.com/office/drawing/2014/main" id="{C1B1AB99-7F73-4EE0-9A7A-EF1C9C74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PRE-PUBLISH CHECK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FCD5146-6D24-4359-B660-3DF53ADF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上線前 4 道門：能用，不等於能公開</a:t>
            </a:r>
          </a:p>
        </p:txBody>
      </p:sp>
      <p:cxnSp>
        <p:nvCxnSpPr>
          <p:cNvPr id="30" name="shape-5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65">
            <a:extLst xmlns:a="http://schemas.openxmlformats.org/drawingml/2006/main">
              <a:ext uri="{FF2B5EF4-FFF2-40B4-BE49-F238E27FC236}">
                <a16:creationId xmlns:a16="http://schemas.microsoft.com/office/drawing/2014/main" id="{49BA62E4-3604-421E-8914-4AFC0B51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226C01B-7697-4596-8DE8-2FA1355CA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6" name="shape-566">
            <a:extLst xmlns:a="http://schemas.openxmlformats.org/drawingml/2006/main">
              <a:ext uri="{FF2B5EF4-FFF2-40B4-BE49-F238E27FC236}">
                <a16:creationId xmlns:a16="http://schemas.microsoft.com/office/drawing/2014/main" id="{6A83609D-328F-4FF8-B0A1-2B21CFC65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67">
            <a:extLst xmlns:a="http://schemas.openxmlformats.org/drawingml/2006/main">
              <a:ext uri="{FF2B5EF4-FFF2-40B4-BE49-F238E27FC236}">
                <a16:creationId xmlns:a16="http://schemas.microsoft.com/office/drawing/2014/main" id="{1CFE1681-874C-43F4-97AF-B14AA5D77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568">
            <a:extLst xmlns:a="http://schemas.openxmlformats.org/drawingml/2006/main">
              <a:ext uri="{FF2B5EF4-FFF2-40B4-BE49-F238E27FC236}">
                <a16:creationId xmlns:a16="http://schemas.microsoft.com/office/drawing/2014/main" id="{47CF43C4-4E87-4628-80BF-809AA3170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</a:t>
            </a:r>
          </a:p>
        </p:txBody>
      </p:sp>
      <p:sp>
        <p:nvSpPr>
          <p:cNvPr id="9" name="text-569">
            <a:extLst xmlns:a="http://schemas.openxmlformats.org/drawingml/2006/main">
              <a:ext uri="{FF2B5EF4-FFF2-40B4-BE49-F238E27FC236}">
                <a16:creationId xmlns:a16="http://schemas.microsoft.com/office/drawing/2014/main" id="{6BE7DF55-E4DE-45A7-9EBE-A95642FC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移除學生姓名、信箱、成績、研究參與者與敏感檔案。</a:t>
            </a:r>
          </a:p>
        </p:txBody>
      </p:sp>
      <p:sp>
        <p:nvSpPr>
          <p:cNvPr id="10" name="shape-570">
            <a:extLst xmlns:a="http://schemas.openxmlformats.org/drawingml/2006/main">
              <a:ext uri="{FF2B5EF4-FFF2-40B4-BE49-F238E27FC236}">
                <a16:creationId xmlns:a16="http://schemas.microsoft.com/office/drawing/2014/main" id="{B800E8AE-C14A-44FD-9515-C12D186B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71">
            <a:extLst xmlns:a="http://schemas.openxmlformats.org/drawingml/2006/main">
              <a:ext uri="{FF2B5EF4-FFF2-40B4-BE49-F238E27FC236}">
                <a16:creationId xmlns:a16="http://schemas.microsoft.com/office/drawing/2014/main" id="{9B212C5F-E908-4E84-9990-AA3A5869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572">
            <a:extLst xmlns:a="http://schemas.openxmlformats.org/drawingml/2006/main">
              <a:ext uri="{FF2B5EF4-FFF2-40B4-BE49-F238E27FC236}">
                <a16:creationId xmlns:a16="http://schemas.microsoft.com/office/drawing/2014/main" id="{C00FA933-35D5-46D0-86E0-8CB0201E6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版權</a:t>
            </a:r>
          </a:p>
        </p:txBody>
      </p:sp>
      <p:sp>
        <p:nvSpPr>
          <p:cNvPr id="13" name="text-573">
            <a:extLst xmlns:a="http://schemas.openxmlformats.org/drawingml/2006/main">
              <a:ext uri="{FF2B5EF4-FFF2-40B4-BE49-F238E27FC236}">
                <a16:creationId xmlns:a16="http://schemas.microsoft.com/office/drawing/2014/main" id="{354F6DDF-5BF1-459F-A402-99A74B0A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確認圖片、教材、論文與範例程式的授權與引用。</a:t>
            </a:r>
          </a:p>
        </p:txBody>
      </p:sp>
      <p:sp>
        <p:nvSpPr>
          <p:cNvPr id="14" name="shape-574">
            <a:extLst xmlns:a="http://schemas.openxmlformats.org/drawingml/2006/main">
              <a:ext uri="{FF2B5EF4-FFF2-40B4-BE49-F238E27FC236}">
                <a16:creationId xmlns:a16="http://schemas.microsoft.com/office/drawing/2014/main" id="{270365C1-4F44-4065-9E9C-CEA5A37C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75">
            <a:extLst xmlns:a="http://schemas.openxmlformats.org/drawingml/2006/main">
              <a:ext uri="{FF2B5EF4-FFF2-40B4-BE49-F238E27FC236}">
                <a16:creationId xmlns:a16="http://schemas.microsoft.com/office/drawing/2014/main" id="{DB054769-02A0-4F21-AA29-E20DC2FB6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576">
            <a:extLst xmlns:a="http://schemas.openxmlformats.org/drawingml/2006/main">
              <a:ext uri="{FF2B5EF4-FFF2-40B4-BE49-F238E27FC236}">
                <a16:creationId xmlns:a16="http://schemas.microsoft.com/office/drawing/2014/main" id="{8A17CBAD-40E8-445B-BB5E-48F85C1E9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無障礙</a:t>
            </a:r>
          </a:p>
        </p:txBody>
      </p:sp>
      <p:sp>
        <p:nvSpPr>
          <p:cNvPr id="17" name="text-577">
            <a:extLst xmlns:a="http://schemas.openxmlformats.org/drawingml/2006/main">
              <a:ext uri="{FF2B5EF4-FFF2-40B4-BE49-F238E27FC236}">
                <a16:creationId xmlns:a16="http://schemas.microsoft.com/office/drawing/2014/main" id="{B83EE05E-15E7-4EFB-9BA3-F4EDEE47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文字可讀、對比足夠、鍵盤可操作、圖片有替代說明。</a:t>
            </a:r>
          </a:p>
        </p:txBody>
      </p:sp>
      <p:sp>
        <p:nvSpPr>
          <p:cNvPr id="18" name="shape-578">
            <a:extLst xmlns:a="http://schemas.openxmlformats.org/drawingml/2006/main">
              <a:ext uri="{FF2B5EF4-FFF2-40B4-BE49-F238E27FC236}">
                <a16:creationId xmlns:a16="http://schemas.microsoft.com/office/drawing/2014/main" id="{5B2880DC-14DE-4DB0-8EB8-D3101F92F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579">
            <a:extLst xmlns:a="http://schemas.openxmlformats.org/drawingml/2006/main">
              <a:ext uri="{FF2B5EF4-FFF2-40B4-BE49-F238E27FC236}">
                <a16:creationId xmlns:a16="http://schemas.microsoft.com/office/drawing/2014/main" id="{AAE5AD44-E09F-4005-A466-3831C78D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580">
            <a:extLst xmlns:a="http://schemas.openxmlformats.org/drawingml/2006/main">
              <a:ext uri="{FF2B5EF4-FFF2-40B4-BE49-F238E27FC236}">
                <a16:creationId xmlns:a16="http://schemas.microsoft.com/office/drawing/2014/main" id="{FDCB8A05-5600-4B0A-8897-762DBA8BC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跨裝置</a:t>
            </a:r>
          </a:p>
        </p:txBody>
      </p:sp>
      <p:sp>
        <p:nvSpPr>
          <p:cNvPr id="21" name="text-581">
            <a:extLst xmlns:a="http://schemas.openxmlformats.org/drawingml/2006/main">
              <a:ext uri="{FF2B5EF4-FFF2-40B4-BE49-F238E27FC236}">
                <a16:creationId xmlns:a16="http://schemas.microsoft.com/office/drawing/2014/main" id="{46976314-1332-487E-ADF6-61EB136E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手機、平板、桌機都完成主要任務，不只看首頁。</a:t>
            </a:r>
          </a:p>
        </p:txBody>
      </p:sp>
      <p:sp>
        <p:nvSpPr>
          <p:cNvPr id="22" name="text-758">
            <a:extLst xmlns:a="http://schemas.openxmlformats.org/drawingml/2006/main">
              <a:ext uri="{FF2B5EF4-FFF2-40B4-BE49-F238E27FC236}">
                <a16:creationId xmlns:a16="http://schemas.microsoft.com/office/drawing/2014/main" id="{AB71CF43-F6CF-4F0E-81EE-09A0D6EA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49b9cfccdf54646"/>
              </a:rPr>
              <a:t>Google Sites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3ea8a0c1a86423c"/>
              </a:rPr>
              <a:t>會議紀錄 ↗</a:t>
            </a:r>
          </a:p>
        </p:txBody>
      </p:sp>
      <p:sp>
        <p:nvSpPr>
          <p:cNvPr id="23" name="shape-822">
            <a:extLst xmlns:a="http://schemas.openxmlformats.org/drawingml/2006/main">
              <a:ext uri="{FF2B5EF4-FFF2-40B4-BE49-F238E27FC236}">
                <a16:creationId xmlns:a16="http://schemas.microsoft.com/office/drawing/2014/main" id="{F5EBEC6C-751E-4EBC-8B5C-A30CC96C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f0792be2af437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823">
            <a:extLst xmlns:a="http://schemas.openxmlformats.org/drawingml/2006/main">
              <a:ext uri="{FF2B5EF4-FFF2-40B4-BE49-F238E27FC236}">
                <a16:creationId xmlns:a16="http://schemas.microsoft.com/office/drawing/2014/main" id="{1A95A5AF-6193-4CE3-B204-8960DC4D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6ce2c94e37461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824">
            <a:extLst xmlns:a="http://schemas.openxmlformats.org/drawingml/2006/main">
              <a:ext uri="{FF2B5EF4-FFF2-40B4-BE49-F238E27FC236}">
                <a16:creationId xmlns:a16="http://schemas.microsoft.com/office/drawing/2014/main" id="{B6DF7BC2-8294-4361-A625-E2865F0E8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</p:spTree>
    <p:extLst>
      <p:ext uri="{BB962C8B-B14F-4D97-AF65-F5344CB8AC3E}">
        <p14:creationId xmlns:p14="http://schemas.microsoft.com/office/powerpoint/2010/main" val="205084001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582">
            <a:extLst xmlns:a="http://schemas.openxmlformats.org/drawingml/2006/main">
              <a:ext uri="{FF2B5EF4-FFF2-40B4-BE49-F238E27FC236}">
                <a16:creationId xmlns:a16="http://schemas.microsoft.com/office/drawing/2014/main" id="{C9CEC035-BE41-4EDC-8F6A-BA1412AA5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GOOGLE SITES · GITHUB PAGES · EZPAGE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71E9B20-8443-4E4C-B018-2265A220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部署選擇：先看目的，再看技術</a:t>
            </a:r>
          </a:p>
        </p:txBody>
      </p:sp>
      <p:cxnSp>
        <p:nvCxnSpPr>
          <p:cNvPr id="28" name="shape-5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84">
            <a:extLst xmlns:a="http://schemas.openxmlformats.org/drawingml/2006/main">
              <a:ext uri="{FF2B5EF4-FFF2-40B4-BE49-F238E27FC236}">
                <a16:creationId xmlns:a16="http://schemas.microsoft.com/office/drawing/2014/main" id="{D92A158D-4CCA-441F-AB69-31B3B3AB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668A4C2-97A3-4B8F-922D-B945B46D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shape-585">
            <a:extLst xmlns:a="http://schemas.openxmlformats.org/drawingml/2006/main">
              <a:ext uri="{FF2B5EF4-FFF2-40B4-BE49-F238E27FC236}">
                <a16:creationId xmlns:a16="http://schemas.microsoft.com/office/drawing/2014/main" id="{A85E61A3-4861-4A05-8474-A01F4504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586">
            <a:extLst xmlns:a="http://schemas.openxmlformats.org/drawingml/2006/main">
              <a:ext uri="{FF2B5EF4-FFF2-40B4-BE49-F238E27FC236}">
                <a16:creationId xmlns:a16="http://schemas.microsoft.com/office/drawing/2014/main" id="{FCA48B51-90ED-4306-BFAD-5AA438FF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587">
            <a:extLst xmlns:a="http://schemas.openxmlformats.org/drawingml/2006/main">
              <a:ext uri="{FF2B5EF4-FFF2-40B4-BE49-F238E27FC236}">
                <a16:creationId xmlns:a16="http://schemas.microsoft.com/office/drawing/2014/main" id="{BC92B50A-0266-414B-9A70-7494E7FE6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sp>
        <p:nvSpPr>
          <p:cNvPr id="9" name="text-588">
            <a:extLst xmlns:a="http://schemas.openxmlformats.org/drawingml/2006/main">
              <a:ext uri="{FF2B5EF4-FFF2-40B4-BE49-F238E27FC236}">
                <a16:creationId xmlns:a16="http://schemas.microsoft.com/office/drawing/2014/main" id="{1EFE8D8F-8F1D-4885-ACD5-5488B5D8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適合快速整理課程入口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可直接嵌入 Canvas 作品與會議紀錄系統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拖放編輯、多人協作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維護門檻較低</a:t>
            </a:r>
          </a:p>
        </p:txBody>
      </p:sp>
      <p:sp>
        <p:nvSpPr>
          <p:cNvPr id="10" name="text-589">
            <a:extLst xmlns:a="http://schemas.openxmlformats.org/drawingml/2006/main">
              <a:ext uri="{FF2B5EF4-FFF2-40B4-BE49-F238E27FC236}">
                <a16:creationId xmlns:a16="http://schemas.microsoft.com/office/drawing/2014/main" id="{1FDC12B8-D664-482A-99E9-F685609F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GitHub Pages／EZPage</a:t>
            </a:r>
          </a:p>
        </p:txBody>
      </p:sp>
      <p:sp>
        <p:nvSpPr>
          <p:cNvPr id="11" name="text-590">
            <a:extLst xmlns:a="http://schemas.openxmlformats.org/drawingml/2006/main">
              <a:ext uri="{FF2B5EF4-FFF2-40B4-BE49-F238E27FC236}">
                <a16:creationId xmlns:a16="http://schemas.microsoft.com/office/drawing/2014/main" id="{F8CEF90A-B52B-4A09-8B35-19B23DEB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原生流程保留版本與程式結構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原型可改成可版本化網站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可直接上傳 ZIP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仍要理解公開、授權與驗證</a:t>
            </a:r>
          </a:p>
        </p:txBody>
      </p:sp>
      <p:sp>
        <p:nvSpPr>
          <p:cNvPr id="12" name="text-591">
            <a:extLst xmlns:a="http://schemas.openxmlformats.org/drawingml/2006/main">
              <a:ext uri="{FF2B5EF4-FFF2-40B4-BE49-F238E27FC236}">
                <a16:creationId xmlns:a16="http://schemas.microsoft.com/office/drawing/2014/main" id="{79F7736B-E983-4B20-99DE-F7B45FBC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協作、嵌入、低門檻</a:t>
            </a:r>
          </a:p>
        </p:txBody>
      </p:sp>
      <p:sp>
        <p:nvSpPr>
          <p:cNvPr id="13" name="text-592">
            <a:extLst xmlns:a="http://schemas.openxmlformats.org/drawingml/2006/main">
              <a:ext uri="{FF2B5EF4-FFF2-40B4-BE49-F238E27FC236}">
                <a16:creationId xmlns:a16="http://schemas.microsoft.com/office/drawing/2014/main" id="{419CF5E8-67D7-45C4-835D-B90F76B1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876800"/>
            <a:ext cx="1809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誰要維護？</a:t>
            </a:r>
          </a:p>
        </p:txBody>
      </p:sp>
      <p:sp>
        <p:nvSpPr>
          <p:cNvPr id="14" name="text-593">
            <a:extLst xmlns:a="http://schemas.openxmlformats.org/drawingml/2006/main">
              <a:ext uri="{FF2B5EF4-FFF2-40B4-BE49-F238E27FC236}">
                <a16:creationId xmlns:a16="http://schemas.microsoft.com/office/drawing/2014/main" id="{E4B6C9C9-D352-4CB6-93C5-AB017808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程式、版本、公開</a:t>
            </a:r>
          </a:p>
        </p:txBody>
      </p:sp>
      <p:cxnSp>
        <p:nvCxnSpPr>
          <p:cNvPr id="40" name=""/>
          <p:cNvCxnSpPr>
            <a:stCxn xmlns:a="http://schemas.openxmlformats.org/drawingml/2006/main" id="13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3067050" y="5181600"/>
            <a:ext cx="2028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41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05625" y="5181600"/>
            <a:ext cx="22193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594">
            <a:extLst xmlns:a="http://schemas.openxmlformats.org/drawingml/2006/main">
              <a:ext uri="{FF2B5EF4-FFF2-40B4-BE49-F238E27FC236}">
                <a16:creationId xmlns:a16="http://schemas.microsoft.com/office/drawing/2014/main" id="{164F0542-E939-4488-B9E5-596CD0D1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6197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選部署條件，不先選品牌</a:t>
            </a:r>
          </a:p>
        </p:txBody>
      </p:sp>
      <p:sp>
        <p:nvSpPr>
          <p:cNvPr id="18" name="text-759">
            <a:extLst xmlns:a="http://schemas.openxmlformats.org/drawingml/2006/main">
              <a:ext uri="{FF2B5EF4-FFF2-40B4-BE49-F238E27FC236}">
                <a16:creationId xmlns:a16="http://schemas.microsoft.com/office/drawing/2014/main" id="{451AB8CF-1222-4416-9CE2-5E9090DF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4dda8d7864b418b"/>
              </a:rPr>
              <a:t>Google Sites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688bd29227f46cf"/>
              </a:rPr>
              <a:t>GitHub Pages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673b20579c34be8"/>
              </a:rPr>
              <a:t>EZPage ↗</a:t>
            </a:r>
          </a:p>
        </p:txBody>
      </p:sp>
      <p:sp>
        <p:nvSpPr>
          <p:cNvPr id="19" name="shape-825">
            <a:extLst xmlns:a="http://schemas.openxmlformats.org/drawingml/2006/main">
              <a:ext uri="{FF2B5EF4-FFF2-40B4-BE49-F238E27FC236}">
                <a16:creationId xmlns:a16="http://schemas.microsoft.com/office/drawing/2014/main" id="{238E43D6-6CE1-4E23-A1BF-082B88626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3737c626c740f6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826">
            <a:extLst xmlns:a="http://schemas.openxmlformats.org/drawingml/2006/main">
              <a:ext uri="{FF2B5EF4-FFF2-40B4-BE49-F238E27FC236}">
                <a16:creationId xmlns:a16="http://schemas.microsoft.com/office/drawing/2014/main" id="{370FD675-3BAB-43A2-A71E-772356E4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45b03787aa45f5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text-827">
            <a:extLst xmlns:a="http://schemas.openxmlformats.org/drawingml/2006/main">
              <a:ext uri="{FF2B5EF4-FFF2-40B4-BE49-F238E27FC236}">
                <a16:creationId xmlns:a16="http://schemas.microsoft.com/office/drawing/2014/main" id="{910CD094-ADDF-4C2D-9595-53A6922CF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7fe008afe24dfd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828">
            <a:extLst xmlns:a="http://schemas.openxmlformats.org/drawingml/2006/main">
              <a:ext uri="{FF2B5EF4-FFF2-40B4-BE49-F238E27FC236}">
                <a16:creationId xmlns:a16="http://schemas.microsoft.com/office/drawing/2014/main" id="{77D5062C-DB96-4F09-9884-7B70738AA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2006868151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595">
            <a:extLst xmlns:a="http://schemas.openxmlformats.org/drawingml/2006/main">
              <a:ext uri="{FF2B5EF4-FFF2-40B4-BE49-F238E27FC236}">
                <a16:creationId xmlns:a16="http://schemas.microsoft.com/office/drawing/2014/main" id="{764CDD7F-1C24-460F-BB14-D122ADF4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A · EMBED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5F42D7F-A9C8-439C-9878-80264BAC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Sites：嵌入 Canvas 會議紀錄系統</a:t>
            </a:r>
          </a:p>
        </p:txBody>
      </p:sp>
      <p:cxnSp>
        <p:nvCxnSpPr>
          <p:cNvPr id="38" name="shape-59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97">
            <a:extLst xmlns:a="http://schemas.openxmlformats.org/drawingml/2006/main">
              <a:ext uri="{FF2B5EF4-FFF2-40B4-BE49-F238E27FC236}">
                <a16:creationId xmlns:a16="http://schemas.microsoft.com/office/drawing/2014/main" id="{A1E42D0D-1A83-4950-83F9-3F24576F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E500FFF-5576-4590-A3DC-0F35FA11A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598">
            <a:extLst xmlns:a="http://schemas.openxmlformats.org/drawingml/2006/main">
              <a:ext uri="{FF2B5EF4-FFF2-40B4-BE49-F238E27FC236}">
                <a16:creationId xmlns:a16="http://schemas.microsoft.com/office/drawing/2014/main" id="{B4E8A982-0E6C-45FE-8704-19DB365F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599">
            <a:extLst xmlns:a="http://schemas.openxmlformats.org/drawingml/2006/main">
              <a:ext uri="{FF2B5EF4-FFF2-40B4-BE49-F238E27FC236}">
                <a16:creationId xmlns:a16="http://schemas.microsoft.com/office/drawing/2014/main" id="{495289A5-4DCF-44AD-ACAD-8E9C7BE4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00">
            <a:extLst xmlns:a="http://schemas.openxmlformats.org/drawingml/2006/main">
              <a:ext uri="{FF2B5EF4-FFF2-40B4-BE49-F238E27FC236}">
                <a16:creationId xmlns:a16="http://schemas.microsoft.com/office/drawing/2014/main" id="{CCEC64E0-04FB-4B14-A109-4235A1714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01">
            <a:extLst xmlns:a="http://schemas.openxmlformats.org/drawingml/2006/main">
              <a:ext uri="{FF2B5EF4-FFF2-40B4-BE49-F238E27FC236}">
                <a16:creationId xmlns:a16="http://schemas.microsoft.com/office/drawing/2014/main" id="{198FA327-D360-4C55-831E-22F6A2C54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準備網址</a:t>
            </a:r>
          </a:p>
        </p:txBody>
      </p:sp>
      <p:sp>
        <p:nvSpPr>
          <p:cNvPr id="10" name="text-602">
            <a:extLst xmlns:a="http://schemas.openxmlformats.org/drawingml/2006/main">
              <a:ext uri="{FF2B5EF4-FFF2-40B4-BE49-F238E27FC236}">
                <a16:creationId xmlns:a16="http://schemas.microsoft.com/office/drawing/2014/main" id="{FBC6F13B-DE20-4D14-9F73-716D0C10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 Canvas 分享權限與公開範圍</a:t>
            </a:r>
          </a:p>
        </p:txBody>
      </p:sp>
      <p:sp>
        <p:nvSpPr>
          <p:cNvPr id="11" name="text-603">
            <a:extLst xmlns:a="http://schemas.openxmlformats.org/drawingml/2006/main">
              <a:ext uri="{FF2B5EF4-FFF2-40B4-BE49-F238E27FC236}">
                <a16:creationId xmlns:a16="http://schemas.microsoft.com/office/drawing/2014/main" id="{DC0BD72C-360C-41ED-A5DB-2BC3FB0B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604">
            <a:extLst xmlns:a="http://schemas.openxmlformats.org/drawingml/2006/main">
              <a:ext uri="{FF2B5EF4-FFF2-40B4-BE49-F238E27FC236}">
                <a16:creationId xmlns:a16="http://schemas.microsoft.com/office/drawing/2014/main" id="{C09FC6B1-7D40-40D3-83A6-E7771645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605">
            <a:extLst xmlns:a="http://schemas.openxmlformats.org/drawingml/2006/main">
              <a:ext uri="{FF2B5EF4-FFF2-40B4-BE49-F238E27FC236}">
                <a16:creationId xmlns:a16="http://schemas.microsoft.com/office/drawing/2014/main" id="{7F00381B-3B2B-46FC-984F-B9D24BD5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06">
            <a:extLst xmlns:a="http://schemas.openxmlformats.org/drawingml/2006/main">
              <a:ext uri="{FF2B5EF4-FFF2-40B4-BE49-F238E27FC236}">
                <a16:creationId xmlns:a16="http://schemas.microsoft.com/office/drawing/2014/main" id="{E615CF97-750A-4B4D-9842-9C8C574D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607">
            <a:extLst xmlns:a="http://schemas.openxmlformats.org/drawingml/2006/main">
              <a:ext uri="{FF2B5EF4-FFF2-40B4-BE49-F238E27FC236}">
                <a16:creationId xmlns:a16="http://schemas.microsoft.com/office/drawing/2014/main" id="{DE0BF8D8-A2A1-4540-98A8-23ADDAC1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插入嵌入</a:t>
            </a:r>
          </a:p>
        </p:txBody>
      </p:sp>
      <p:sp>
        <p:nvSpPr>
          <p:cNvPr id="16" name="text-608">
            <a:extLst xmlns:a="http://schemas.openxmlformats.org/drawingml/2006/main">
              <a:ext uri="{FF2B5EF4-FFF2-40B4-BE49-F238E27FC236}">
                <a16:creationId xmlns:a16="http://schemas.microsoft.com/office/drawing/2014/main" id="{0709D5F3-75C7-4E04-AAFE-484E101BA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頁面 → 插入 → 嵌入 → 網址／嵌入碼</a:t>
            </a:r>
          </a:p>
        </p:txBody>
      </p:sp>
      <p:sp>
        <p:nvSpPr>
          <p:cNvPr id="17" name="text-609">
            <a:extLst xmlns:a="http://schemas.openxmlformats.org/drawingml/2006/main">
              <a:ext uri="{FF2B5EF4-FFF2-40B4-BE49-F238E27FC236}">
                <a16:creationId xmlns:a16="http://schemas.microsoft.com/office/drawing/2014/main" id="{B3971645-BF03-47EF-A158-C2F239EC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610">
            <a:extLst xmlns:a="http://schemas.openxmlformats.org/drawingml/2006/main">
              <a:ext uri="{FF2B5EF4-FFF2-40B4-BE49-F238E27FC236}">
                <a16:creationId xmlns:a16="http://schemas.microsoft.com/office/drawing/2014/main" id="{63BCB421-07F6-48D0-BDEA-661591D41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611">
            <a:extLst xmlns:a="http://schemas.openxmlformats.org/drawingml/2006/main">
              <a:ext uri="{FF2B5EF4-FFF2-40B4-BE49-F238E27FC236}">
                <a16:creationId xmlns:a16="http://schemas.microsoft.com/office/drawing/2014/main" id="{17BFE40B-5763-47D5-A83F-ED7B3B458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612">
            <a:extLst xmlns:a="http://schemas.openxmlformats.org/drawingml/2006/main">
              <a:ext uri="{FF2B5EF4-FFF2-40B4-BE49-F238E27FC236}">
                <a16:creationId xmlns:a16="http://schemas.microsoft.com/office/drawing/2014/main" id="{6E0A2A54-713B-4161-A226-9CDEE4778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613">
            <a:extLst xmlns:a="http://schemas.openxmlformats.org/drawingml/2006/main">
              <a:ext uri="{FF2B5EF4-FFF2-40B4-BE49-F238E27FC236}">
                <a16:creationId xmlns:a16="http://schemas.microsoft.com/office/drawing/2014/main" id="{DB9ACA8C-0434-46F6-B899-0B91DF28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調整版面</a:t>
            </a:r>
          </a:p>
        </p:txBody>
      </p:sp>
      <p:sp>
        <p:nvSpPr>
          <p:cNvPr id="22" name="text-614">
            <a:extLst xmlns:a="http://schemas.openxmlformats.org/drawingml/2006/main">
              <a:ext uri="{FF2B5EF4-FFF2-40B4-BE49-F238E27FC236}">
                <a16:creationId xmlns:a16="http://schemas.microsoft.com/office/drawing/2014/main" id="{B5A9A6B9-B8B8-471F-952E-41E96CB82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設定寬度、說明文字，預覽手機版</a:t>
            </a:r>
          </a:p>
        </p:txBody>
      </p:sp>
      <p:sp>
        <p:nvSpPr>
          <p:cNvPr id="23" name="text-615">
            <a:extLst xmlns:a="http://schemas.openxmlformats.org/drawingml/2006/main">
              <a:ext uri="{FF2B5EF4-FFF2-40B4-BE49-F238E27FC236}">
                <a16:creationId xmlns:a16="http://schemas.microsoft.com/office/drawing/2014/main" id="{F652F67F-D84D-439D-8577-2342378B4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616">
            <a:extLst xmlns:a="http://schemas.openxmlformats.org/drawingml/2006/main">
              <a:ext uri="{FF2B5EF4-FFF2-40B4-BE49-F238E27FC236}">
                <a16:creationId xmlns:a16="http://schemas.microsoft.com/office/drawing/2014/main" id="{CBB8B665-44C8-4C74-9C0F-50040A4A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617">
            <a:extLst xmlns:a="http://schemas.openxmlformats.org/drawingml/2006/main">
              <a:ext uri="{FF2B5EF4-FFF2-40B4-BE49-F238E27FC236}">
                <a16:creationId xmlns:a16="http://schemas.microsoft.com/office/drawing/2014/main" id="{FA29BC1C-2FA1-40F5-864D-EDADFEA60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618">
            <a:extLst xmlns:a="http://schemas.openxmlformats.org/drawingml/2006/main">
              <a:ext uri="{FF2B5EF4-FFF2-40B4-BE49-F238E27FC236}">
                <a16:creationId xmlns:a16="http://schemas.microsoft.com/office/drawing/2014/main" id="{368BDF61-BDA4-4236-BA83-8F405A5C0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619">
            <a:extLst xmlns:a="http://schemas.openxmlformats.org/drawingml/2006/main">
              <a:ext uri="{FF2B5EF4-FFF2-40B4-BE49-F238E27FC236}">
                <a16:creationId xmlns:a16="http://schemas.microsoft.com/office/drawing/2014/main" id="{71829173-A9B1-472B-94E3-69BCF5ED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發布驗證</a:t>
            </a:r>
          </a:p>
        </p:txBody>
      </p:sp>
      <p:sp>
        <p:nvSpPr>
          <p:cNvPr id="28" name="text-620">
            <a:extLst xmlns:a="http://schemas.openxmlformats.org/drawingml/2006/main">
              <a:ext uri="{FF2B5EF4-FFF2-40B4-BE49-F238E27FC236}">
                <a16:creationId xmlns:a16="http://schemas.microsoft.com/office/drawing/2014/main" id="{87DC1159-9634-4DB1-9C14-E06AF1B2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檢查權限、連結、資料邊界與外開備援</a:t>
            </a:r>
          </a:p>
        </p:txBody>
      </p:sp>
      <p:sp>
        <p:nvSpPr>
          <p:cNvPr id="29" name="text-621">
            <a:extLst xmlns:a="http://schemas.openxmlformats.org/drawingml/2006/main">
              <a:ext uri="{FF2B5EF4-FFF2-40B4-BE49-F238E27FC236}">
                <a16:creationId xmlns:a16="http://schemas.microsoft.com/office/drawing/2014/main" id="{EAC499F2-0BDC-45AB-AC40-5C842385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761">
            <a:extLst xmlns:a="http://schemas.openxmlformats.org/drawingml/2006/main">
              <a:ext uri="{FF2B5EF4-FFF2-40B4-BE49-F238E27FC236}">
                <a16:creationId xmlns:a16="http://schemas.microsoft.com/office/drawing/2014/main" id="{0D985026-11C1-4E13-A208-1D0F0B77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1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1b8a19dbcae4bed"/>
              </a:rPr>
              <a:t>建立 Google Sites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6b0d10b0b184515"/>
              </a:rPr>
              <a:t>會議報告站 ↗</a:t>
            </a:r>
          </a:p>
        </p:txBody>
      </p:sp>
      <p:sp>
        <p:nvSpPr>
          <p:cNvPr id="31" name="shape-833">
            <a:extLst xmlns:a="http://schemas.openxmlformats.org/drawingml/2006/main">
              <a:ext uri="{FF2B5EF4-FFF2-40B4-BE49-F238E27FC236}">
                <a16:creationId xmlns:a16="http://schemas.microsoft.com/office/drawing/2014/main" id="{E8DCBBB5-9F27-49BD-8335-DD43B7C79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91a08510594c8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834">
            <a:extLst xmlns:a="http://schemas.openxmlformats.org/drawingml/2006/main">
              <a:ext uri="{FF2B5EF4-FFF2-40B4-BE49-F238E27FC236}">
                <a16:creationId xmlns:a16="http://schemas.microsoft.com/office/drawing/2014/main" id="{7045B73C-EBB1-4D8A-AE2A-5DAC53BB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f0151c9895412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835">
            <a:extLst xmlns:a="http://schemas.openxmlformats.org/drawingml/2006/main">
              <a:ext uri="{FF2B5EF4-FFF2-40B4-BE49-F238E27FC236}">
                <a16:creationId xmlns:a16="http://schemas.microsoft.com/office/drawing/2014/main" id="{09BA8D59-10FE-4CA7-9ED0-284709EF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會議報告站</a:t>
            </a:r>
          </a:p>
        </p:txBody>
      </p:sp>
    </p:spTree>
    <p:extLst>
      <p:ext uri="{BB962C8B-B14F-4D97-AF65-F5344CB8AC3E}">
        <p14:creationId xmlns:p14="http://schemas.microsoft.com/office/powerpoint/2010/main" val="22358246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622">
            <a:extLst xmlns:a="http://schemas.openxmlformats.org/drawingml/2006/main">
              <a:ext uri="{FF2B5EF4-FFF2-40B4-BE49-F238E27FC236}">
                <a16:creationId xmlns:a16="http://schemas.microsoft.com/office/drawing/2014/main" id="{A9E6F526-F1B2-4620-8807-BB9EBF9F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B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3AD1F63-FC20-43DC-A6CA-41243E3DB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Pages：讓程式作品有公開網址</a:t>
            </a:r>
          </a:p>
        </p:txBody>
      </p:sp>
      <p:cxnSp>
        <p:nvCxnSpPr>
          <p:cNvPr id="40" name="shape-62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24">
            <a:extLst xmlns:a="http://schemas.openxmlformats.org/drawingml/2006/main">
              <a:ext uri="{FF2B5EF4-FFF2-40B4-BE49-F238E27FC236}">
                <a16:creationId xmlns:a16="http://schemas.microsoft.com/office/drawing/2014/main" id="{427489B7-D235-4A99-BCA2-C8069A6C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40EA29B-B814-439E-976B-C12B6741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shape-625">
            <a:extLst xmlns:a="http://schemas.openxmlformats.org/drawingml/2006/main">
              <a:ext uri="{FF2B5EF4-FFF2-40B4-BE49-F238E27FC236}">
                <a16:creationId xmlns:a16="http://schemas.microsoft.com/office/drawing/2014/main" id="{B1FC6228-F9DD-4C30-AB3D-C46032642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626">
            <a:extLst xmlns:a="http://schemas.openxmlformats.org/drawingml/2006/main">
              <a:ext uri="{FF2B5EF4-FFF2-40B4-BE49-F238E27FC236}">
                <a16:creationId xmlns:a16="http://schemas.microsoft.com/office/drawing/2014/main" id="{583EB8E5-D2A7-41F3-9AB9-F0D8542B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27">
            <a:extLst xmlns:a="http://schemas.openxmlformats.org/drawingml/2006/main">
              <a:ext uri="{FF2B5EF4-FFF2-40B4-BE49-F238E27FC236}">
                <a16:creationId xmlns:a16="http://schemas.microsoft.com/office/drawing/2014/main" id="{27AD8B60-E9A0-4A11-B702-1B104A60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28">
            <a:extLst xmlns:a="http://schemas.openxmlformats.org/drawingml/2006/main">
              <a:ext uri="{FF2B5EF4-FFF2-40B4-BE49-F238E27FC236}">
                <a16:creationId xmlns:a16="http://schemas.microsoft.com/office/drawing/2014/main" id="{88CDA49E-6B90-477D-B40D-E88F87CC8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repo</a:t>
            </a:r>
          </a:p>
        </p:txBody>
      </p:sp>
      <p:sp>
        <p:nvSpPr>
          <p:cNvPr id="10" name="text-629">
            <a:extLst xmlns:a="http://schemas.openxmlformats.org/drawingml/2006/main">
              <a:ext uri="{FF2B5EF4-FFF2-40B4-BE49-F238E27FC236}">
                <a16:creationId xmlns:a16="http://schemas.microsoft.com/office/drawing/2014/main" id="{5B146E98-432F-4F0A-AF6D-A173A486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公開專案與 README</a:t>
            </a:r>
          </a:p>
        </p:txBody>
      </p:sp>
      <p:sp>
        <p:nvSpPr>
          <p:cNvPr id="11" name="text-630">
            <a:extLst xmlns:a="http://schemas.openxmlformats.org/drawingml/2006/main">
              <a:ext uri="{FF2B5EF4-FFF2-40B4-BE49-F238E27FC236}">
                <a16:creationId xmlns:a16="http://schemas.microsoft.com/office/drawing/2014/main" id="{2B1AF22C-DCBF-4561-8C26-53E6F64C3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631">
            <a:extLst xmlns:a="http://schemas.openxmlformats.org/drawingml/2006/main">
              <a:ext uri="{FF2B5EF4-FFF2-40B4-BE49-F238E27FC236}">
                <a16:creationId xmlns:a16="http://schemas.microsoft.com/office/drawing/2014/main" id="{42B76EE8-FBA8-4953-8D63-24872E864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632">
            <a:extLst xmlns:a="http://schemas.openxmlformats.org/drawingml/2006/main">
              <a:ext uri="{FF2B5EF4-FFF2-40B4-BE49-F238E27FC236}">
                <a16:creationId xmlns:a16="http://schemas.microsoft.com/office/drawing/2014/main" id="{B49114FC-B089-4F20-A402-47504DB95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33">
            <a:extLst xmlns:a="http://schemas.openxmlformats.org/drawingml/2006/main">
              <a:ext uri="{FF2B5EF4-FFF2-40B4-BE49-F238E27FC236}">
                <a16:creationId xmlns:a16="http://schemas.microsoft.com/office/drawing/2014/main" id="{9BDCCC93-0761-4039-BF68-E5FFCF59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634">
            <a:extLst xmlns:a="http://schemas.openxmlformats.org/drawingml/2006/main">
              <a:ext uri="{FF2B5EF4-FFF2-40B4-BE49-F238E27FC236}">
                <a16:creationId xmlns:a16="http://schemas.microsoft.com/office/drawing/2014/main" id="{AD4A912B-F629-40CC-B7FC-5049DE72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上傳檔案</a:t>
            </a:r>
          </a:p>
        </p:txBody>
      </p:sp>
      <p:sp>
        <p:nvSpPr>
          <p:cNvPr id="16" name="text-635">
            <a:extLst xmlns:a="http://schemas.openxmlformats.org/drawingml/2006/main">
              <a:ext uri="{FF2B5EF4-FFF2-40B4-BE49-F238E27FC236}">
                <a16:creationId xmlns:a16="http://schemas.microsoft.com/office/drawing/2014/main" id="{3D3C5F0E-6BD1-463E-8FEA-F807C5DB7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index.html 與必要資產</a:t>
            </a:r>
          </a:p>
        </p:txBody>
      </p:sp>
      <p:sp>
        <p:nvSpPr>
          <p:cNvPr id="17" name="text-636">
            <a:extLst xmlns:a="http://schemas.openxmlformats.org/drawingml/2006/main">
              <a:ext uri="{FF2B5EF4-FFF2-40B4-BE49-F238E27FC236}">
                <a16:creationId xmlns:a16="http://schemas.microsoft.com/office/drawing/2014/main" id="{9A2B0C3E-C802-474D-9E37-CA2B30C2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637">
            <a:extLst xmlns:a="http://schemas.openxmlformats.org/drawingml/2006/main">
              <a:ext uri="{FF2B5EF4-FFF2-40B4-BE49-F238E27FC236}">
                <a16:creationId xmlns:a16="http://schemas.microsoft.com/office/drawing/2014/main" id="{1BD163C2-F9AB-4A2C-AF1A-B6A007FE8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638">
            <a:extLst xmlns:a="http://schemas.openxmlformats.org/drawingml/2006/main">
              <a:ext uri="{FF2B5EF4-FFF2-40B4-BE49-F238E27FC236}">
                <a16:creationId xmlns:a16="http://schemas.microsoft.com/office/drawing/2014/main" id="{4A34FAF8-9085-44E7-9F24-EA8F7E99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639">
            <a:extLst xmlns:a="http://schemas.openxmlformats.org/drawingml/2006/main">
              <a:ext uri="{FF2B5EF4-FFF2-40B4-BE49-F238E27FC236}">
                <a16:creationId xmlns:a16="http://schemas.microsoft.com/office/drawing/2014/main" id="{51DF9E37-270A-45BF-BEB8-1CAE4EB6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640">
            <a:extLst xmlns:a="http://schemas.openxmlformats.org/drawingml/2006/main">
              <a:ext uri="{FF2B5EF4-FFF2-40B4-BE49-F238E27FC236}">
                <a16:creationId xmlns:a16="http://schemas.microsoft.com/office/drawing/2014/main" id="{559DEF1F-2623-4688-8CB4-FB7C9F874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設定 Pages</a:t>
            </a:r>
          </a:p>
        </p:txBody>
      </p:sp>
      <p:sp>
        <p:nvSpPr>
          <p:cNvPr id="22" name="text-641">
            <a:extLst xmlns:a="http://schemas.openxmlformats.org/drawingml/2006/main">
              <a:ext uri="{FF2B5EF4-FFF2-40B4-BE49-F238E27FC236}">
                <a16:creationId xmlns:a16="http://schemas.microsoft.com/office/drawing/2014/main" id="{950B56FF-2C2F-4CF2-9330-5054F1F4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選分支與資料夾</a:t>
            </a:r>
          </a:p>
        </p:txBody>
      </p:sp>
      <p:sp>
        <p:nvSpPr>
          <p:cNvPr id="23" name="text-642">
            <a:extLst xmlns:a="http://schemas.openxmlformats.org/drawingml/2006/main">
              <a:ext uri="{FF2B5EF4-FFF2-40B4-BE49-F238E27FC236}">
                <a16:creationId xmlns:a16="http://schemas.microsoft.com/office/drawing/2014/main" id="{1C201509-922C-4EFF-93A2-7F5842F67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643">
            <a:extLst xmlns:a="http://schemas.openxmlformats.org/drawingml/2006/main">
              <a:ext uri="{FF2B5EF4-FFF2-40B4-BE49-F238E27FC236}">
                <a16:creationId xmlns:a16="http://schemas.microsoft.com/office/drawing/2014/main" id="{D89D2C2E-D079-4729-847B-8021E3C34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644">
            <a:extLst xmlns:a="http://schemas.openxmlformats.org/drawingml/2006/main">
              <a:ext uri="{FF2B5EF4-FFF2-40B4-BE49-F238E27FC236}">
                <a16:creationId xmlns:a16="http://schemas.microsoft.com/office/drawing/2014/main" id="{3DE1F58F-944A-4106-A070-20ED3AEF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645">
            <a:extLst xmlns:a="http://schemas.openxmlformats.org/drawingml/2006/main">
              <a:ext uri="{FF2B5EF4-FFF2-40B4-BE49-F238E27FC236}">
                <a16:creationId xmlns:a16="http://schemas.microsoft.com/office/drawing/2014/main" id="{3CACBE8E-6FE1-43F2-B3E0-B2D2C8DE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646">
            <a:extLst xmlns:a="http://schemas.openxmlformats.org/drawingml/2006/main">
              <a:ext uri="{FF2B5EF4-FFF2-40B4-BE49-F238E27FC236}">
                <a16:creationId xmlns:a16="http://schemas.microsoft.com/office/drawing/2014/main" id="{8CF636A4-1B70-4828-90C9-D734B208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驗證網址</a:t>
            </a:r>
          </a:p>
        </p:txBody>
      </p:sp>
      <p:sp>
        <p:nvSpPr>
          <p:cNvPr id="28" name="text-647">
            <a:extLst xmlns:a="http://schemas.openxmlformats.org/drawingml/2006/main">
              <a:ext uri="{FF2B5EF4-FFF2-40B4-BE49-F238E27FC236}">
                <a16:creationId xmlns:a16="http://schemas.microsoft.com/office/drawing/2014/main" id="{DE422DAD-B223-42C6-B8E2-0CB02CDDB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等待部署並實際操作</a:t>
            </a:r>
          </a:p>
        </p:txBody>
      </p:sp>
      <p:sp>
        <p:nvSpPr>
          <p:cNvPr id="29" name="text-648">
            <a:extLst xmlns:a="http://schemas.openxmlformats.org/drawingml/2006/main">
              <a:ext uri="{FF2B5EF4-FFF2-40B4-BE49-F238E27FC236}">
                <a16:creationId xmlns:a16="http://schemas.microsoft.com/office/drawing/2014/main" id="{8D01FE3D-CDB7-4454-B0B2-37DA0159A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shape-649">
            <a:extLst xmlns:a="http://schemas.openxmlformats.org/drawingml/2006/main">
              <a:ext uri="{FF2B5EF4-FFF2-40B4-BE49-F238E27FC236}">
                <a16:creationId xmlns:a16="http://schemas.microsoft.com/office/drawing/2014/main" id="{4FE928C7-57D2-40B8-A355-C7DC661BB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14950"/>
            <a:ext cx="24288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text-650">
            <a:extLst xmlns:a="http://schemas.openxmlformats.org/drawingml/2006/main">
              <a:ext uri="{FF2B5EF4-FFF2-40B4-BE49-F238E27FC236}">
                <a16:creationId xmlns:a16="http://schemas.microsoft.com/office/drawing/2014/main" id="{9A8D978B-134F-4B9F-93B8-A6773A5FA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381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4292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GH</a:t>
            </a:r>
          </a:p>
        </p:txBody>
      </p:sp>
      <p:sp>
        <p:nvSpPr>
          <p:cNvPr id="32" name="text-651">
            <a:extLst xmlns:a="http://schemas.openxmlformats.org/drawingml/2006/main">
              <a:ext uri="{FF2B5EF4-FFF2-40B4-BE49-F238E27FC236}">
                <a16:creationId xmlns:a16="http://schemas.microsoft.com/office/drawing/2014/main" id="{2B957690-EE6C-443F-96DD-4E6F2F91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391150"/>
            <a:ext cx="17811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sp>
        <p:nvSpPr>
          <p:cNvPr id="33" name="text-652">
            <a:extLst xmlns:a="http://schemas.openxmlformats.org/drawingml/2006/main">
              <a:ext uri="{FF2B5EF4-FFF2-40B4-BE49-F238E27FC236}">
                <a16:creationId xmlns:a16="http://schemas.microsoft.com/office/drawing/2014/main" id="{8741ECD5-DAAF-43CA-B304-30A9E82B0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591175"/>
            <a:ext cx="178117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版本・部署・公開網址</a:t>
            </a:r>
          </a:p>
        </p:txBody>
      </p:sp>
      <p:sp>
        <p:nvSpPr>
          <p:cNvPr id="34" name="text-762">
            <a:extLst xmlns:a="http://schemas.openxmlformats.org/drawingml/2006/main">
              <a:ext uri="{FF2B5EF4-FFF2-40B4-BE49-F238E27FC236}">
                <a16:creationId xmlns:a16="http://schemas.microsoft.com/office/drawing/2014/main" id="{93C743F9-F0FE-436A-801C-21BF93B63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2c7b920a61f4daa"/>
              </a:rPr>
              <a:t>開啟 GitHub Pages ↗</a:t>
            </a:r>
          </a:p>
        </p:txBody>
      </p:sp>
      <p:sp>
        <p:nvSpPr>
          <p:cNvPr id="35" name="shape-836">
            <a:extLst xmlns:a="http://schemas.openxmlformats.org/drawingml/2006/main">
              <a:ext uri="{FF2B5EF4-FFF2-40B4-BE49-F238E27FC236}">
                <a16:creationId xmlns:a16="http://schemas.microsoft.com/office/drawing/2014/main" id="{5259C7B7-1833-4EE0-8F51-E191FEC0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98a71372524de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7" name="text-837">
            <a:extLst xmlns:a="http://schemas.openxmlformats.org/drawingml/2006/main">
              <a:ext uri="{FF2B5EF4-FFF2-40B4-BE49-F238E27FC236}">
                <a16:creationId xmlns:a16="http://schemas.microsoft.com/office/drawing/2014/main" id="{A5D72707-5F8A-49AB-B09C-BD579183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</p:spTree>
    <p:extLst>
      <p:ext uri="{BB962C8B-B14F-4D97-AF65-F5344CB8AC3E}">
        <p14:creationId xmlns:p14="http://schemas.microsoft.com/office/powerpoint/2010/main" val="94552062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ext-653">
            <a:extLst xmlns:a="http://schemas.openxmlformats.org/drawingml/2006/main">
              <a:ext uri="{FF2B5EF4-FFF2-40B4-BE49-F238E27FC236}">
                <a16:creationId xmlns:a16="http://schemas.microsoft.com/office/drawing/2014/main" id="{BFBA5F73-AB9F-44B3-AC35-8935B822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C · LOW-CODE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1D6A4AB-4981-40A5-BFE6-FC257A99D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EZPage：把 GitHub 部署變成一鍵上傳</a:t>
            </a:r>
          </a:p>
        </p:txBody>
      </p:sp>
      <p:cxnSp>
        <p:nvCxnSpPr>
          <p:cNvPr id="43" name="shape-65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55">
            <a:extLst xmlns:a="http://schemas.openxmlformats.org/drawingml/2006/main">
              <a:ext uri="{FF2B5EF4-FFF2-40B4-BE49-F238E27FC236}">
                <a16:creationId xmlns:a16="http://schemas.microsoft.com/office/drawing/2014/main" id="{6228271F-CECD-4C47-90BA-A304C325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4E06502-7EAE-4309-87FA-AA7600F80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shape-656">
            <a:extLst xmlns:a="http://schemas.openxmlformats.org/drawingml/2006/main">
              <a:ext uri="{FF2B5EF4-FFF2-40B4-BE49-F238E27FC236}">
                <a16:creationId xmlns:a16="http://schemas.microsoft.com/office/drawing/2014/main" id="{6636794F-54C3-49CA-B4E5-38BA15924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657">
            <a:extLst xmlns:a="http://schemas.openxmlformats.org/drawingml/2006/main">
              <a:ext uri="{FF2B5EF4-FFF2-40B4-BE49-F238E27FC236}">
                <a16:creationId xmlns:a16="http://schemas.microsoft.com/office/drawing/2014/main" id="{AFAFD1A9-EACE-4385-A71C-D9F02DF86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58">
            <a:extLst xmlns:a="http://schemas.openxmlformats.org/drawingml/2006/main">
              <a:ext uri="{FF2B5EF4-FFF2-40B4-BE49-F238E27FC236}">
                <a16:creationId xmlns:a16="http://schemas.microsoft.com/office/drawing/2014/main" id="{4645B7DE-6B49-4003-881B-2F755CC8E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59">
            <a:extLst xmlns:a="http://schemas.openxmlformats.org/drawingml/2006/main">
              <a:ext uri="{FF2B5EF4-FFF2-40B4-BE49-F238E27FC236}">
                <a16:creationId xmlns:a16="http://schemas.microsoft.com/office/drawing/2014/main" id="{9E93DC95-27DA-4A12-8B4C-8D1AB3D5F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 ZIP</a:t>
            </a:r>
          </a:p>
        </p:txBody>
      </p:sp>
      <p:sp>
        <p:nvSpPr>
          <p:cNvPr id="10" name="text-660">
            <a:extLst xmlns:a="http://schemas.openxmlformats.org/drawingml/2006/main">
              <a:ext uri="{FF2B5EF4-FFF2-40B4-BE49-F238E27FC236}">
                <a16:creationId xmlns:a16="http://schemas.microsoft.com/office/drawing/2014/main" id="{99336BC7-6AC6-487E-BC84-EAC1DC28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index.html、CSS、JS、圖片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打包成一個網站 ZIP</a:t>
            </a:r>
          </a:p>
        </p:txBody>
      </p:sp>
      <p:sp>
        <p:nvSpPr>
          <p:cNvPr id="11" name="text-661">
            <a:extLst xmlns:a="http://schemas.openxmlformats.org/drawingml/2006/main">
              <a:ext uri="{FF2B5EF4-FFF2-40B4-BE49-F238E27FC236}">
                <a16:creationId xmlns:a16="http://schemas.microsoft.com/office/drawing/2014/main" id="{03945221-7AA7-4424-8FFC-1076E921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662">
            <a:extLst xmlns:a="http://schemas.openxmlformats.org/drawingml/2006/main">
              <a:ext uri="{FF2B5EF4-FFF2-40B4-BE49-F238E27FC236}">
                <a16:creationId xmlns:a16="http://schemas.microsoft.com/office/drawing/2014/main" id="{BB4E63DC-CD3A-4609-B6FB-A671BDA4F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663">
            <a:extLst xmlns:a="http://schemas.openxmlformats.org/drawingml/2006/main">
              <a:ext uri="{FF2B5EF4-FFF2-40B4-BE49-F238E27FC236}">
                <a16:creationId xmlns:a16="http://schemas.microsoft.com/office/drawing/2014/main" id="{4B1BD909-D816-4DD1-BE1C-CABCA80E7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64">
            <a:extLst xmlns:a="http://schemas.openxmlformats.org/drawingml/2006/main">
              <a:ext uri="{FF2B5EF4-FFF2-40B4-BE49-F238E27FC236}">
                <a16:creationId xmlns:a16="http://schemas.microsoft.com/office/drawing/2014/main" id="{8F63D1A9-DDB0-49C1-A1C0-EE9919D43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665">
            <a:extLst xmlns:a="http://schemas.openxmlformats.org/drawingml/2006/main">
              <a:ext uri="{FF2B5EF4-FFF2-40B4-BE49-F238E27FC236}">
                <a16:creationId xmlns:a16="http://schemas.microsoft.com/office/drawing/2014/main" id="{CA628164-D488-431F-9EA0-26C6831D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連結 GitHub</a:t>
            </a:r>
          </a:p>
        </p:txBody>
      </p:sp>
      <p:sp>
        <p:nvSpPr>
          <p:cNvPr id="16" name="text-666">
            <a:extLst xmlns:a="http://schemas.openxmlformats.org/drawingml/2006/main">
              <a:ext uri="{FF2B5EF4-FFF2-40B4-BE49-F238E27FC236}">
                <a16:creationId xmlns:a16="http://schemas.microsoft.com/office/drawing/2014/main" id="{A38FD0BC-CAC5-45BA-90E3-92E1575E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 EZPage，授權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選擇自己的 GitHub 帳號</a:t>
            </a:r>
          </a:p>
        </p:txBody>
      </p:sp>
      <p:sp>
        <p:nvSpPr>
          <p:cNvPr id="17" name="text-667">
            <a:extLst xmlns:a="http://schemas.openxmlformats.org/drawingml/2006/main">
              <a:ext uri="{FF2B5EF4-FFF2-40B4-BE49-F238E27FC236}">
                <a16:creationId xmlns:a16="http://schemas.microsoft.com/office/drawing/2014/main" id="{9C7999C4-9D95-485E-887E-B6266B3C2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668">
            <a:extLst xmlns:a="http://schemas.openxmlformats.org/drawingml/2006/main">
              <a:ext uri="{FF2B5EF4-FFF2-40B4-BE49-F238E27FC236}">
                <a16:creationId xmlns:a16="http://schemas.microsoft.com/office/drawing/2014/main" id="{9A2ED030-AFE7-424D-B2E1-2404FB933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669">
            <a:extLst xmlns:a="http://schemas.openxmlformats.org/drawingml/2006/main">
              <a:ext uri="{FF2B5EF4-FFF2-40B4-BE49-F238E27FC236}">
                <a16:creationId xmlns:a16="http://schemas.microsoft.com/office/drawing/2014/main" id="{5C226FC1-4496-4A30-922B-98BB868FB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670">
            <a:extLst xmlns:a="http://schemas.openxmlformats.org/drawingml/2006/main">
              <a:ext uri="{FF2B5EF4-FFF2-40B4-BE49-F238E27FC236}">
                <a16:creationId xmlns:a16="http://schemas.microsoft.com/office/drawing/2014/main" id="{8EFE93CA-0D7B-4581-9560-604CB09F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671">
            <a:extLst xmlns:a="http://schemas.openxmlformats.org/drawingml/2006/main">
              <a:ext uri="{FF2B5EF4-FFF2-40B4-BE49-F238E27FC236}">
                <a16:creationId xmlns:a16="http://schemas.microsoft.com/office/drawing/2014/main" id="{7F8EF9D5-12A1-40C1-9011-FF13BB2A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上傳部署</a:t>
            </a:r>
          </a:p>
        </p:txBody>
      </p:sp>
      <p:sp>
        <p:nvSpPr>
          <p:cNvPr id="22" name="text-672">
            <a:extLst xmlns:a="http://schemas.openxmlformats.org/drawingml/2006/main">
              <a:ext uri="{FF2B5EF4-FFF2-40B4-BE49-F238E27FC236}">
                <a16:creationId xmlns:a16="http://schemas.microsoft.com/office/drawing/2014/main" id="{A1513CBA-D04B-4DF3-8808-9771FAB3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拖曳 ZIP、填網站名稱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按「部署 ZIP 檔案」</a:t>
            </a:r>
          </a:p>
        </p:txBody>
      </p:sp>
      <p:sp>
        <p:nvSpPr>
          <p:cNvPr id="23" name="text-673">
            <a:extLst xmlns:a="http://schemas.openxmlformats.org/drawingml/2006/main">
              <a:ext uri="{FF2B5EF4-FFF2-40B4-BE49-F238E27FC236}">
                <a16:creationId xmlns:a16="http://schemas.microsoft.com/office/drawing/2014/main" id="{A4A33F96-8606-478A-BEA3-D1F086358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674">
            <a:extLst xmlns:a="http://schemas.openxmlformats.org/drawingml/2006/main">
              <a:ext uri="{FF2B5EF4-FFF2-40B4-BE49-F238E27FC236}">
                <a16:creationId xmlns:a16="http://schemas.microsoft.com/office/drawing/2014/main" id="{ACBF5813-6851-4310-BA78-ADE029343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675">
            <a:extLst xmlns:a="http://schemas.openxmlformats.org/drawingml/2006/main">
              <a:ext uri="{FF2B5EF4-FFF2-40B4-BE49-F238E27FC236}">
                <a16:creationId xmlns:a16="http://schemas.microsoft.com/office/drawing/2014/main" id="{CBF5AF63-EC09-4CF0-A9D9-BD725EA2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676">
            <a:extLst xmlns:a="http://schemas.openxmlformats.org/drawingml/2006/main">
              <a:ext uri="{FF2B5EF4-FFF2-40B4-BE49-F238E27FC236}">
                <a16:creationId xmlns:a16="http://schemas.microsoft.com/office/drawing/2014/main" id="{A5CB7952-20EE-412F-B7D6-4EDFF5D46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677">
            <a:extLst xmlns:a="http://schemas.openxmlformats.org/drawingml/2006/main">
              <a:ext uri="{FF2B5EF4-FFF2-40B4-BE49-F238E27FC236}">
                <a16:creationId xmlns:a16="http://schemas.microsoft.com/office/drawing/2014/main" id="{765A24D9-FBA6-4F9C-9C11-A7E755781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驗證分享</a:t>
            </a:r>
          </a:p>
        </p:txBody>
      </p:sp>
      <p:sp>
        <p:nvSpPr>
          <p:cNvPr id="28" name="text-678">
            <a:extLst xmlns:a="http://schemas.openxmlformats.org/drawingml/2006/main">
              <a:ext uri="{FF2B5EF4-FFF2-40B4-BE49-F238E27FC236}">
                <a16:creationId xmlns:a16="http://schemas.microsoft.com/office/drawing/2014/main" id="{3D6DCA5E-6C0A-42C4-918A-3F4F0DA2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取得 GitHub Pages 網址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用手機與桌機走一次流程</a:t>
            </a:r>
          </a:p>
        </p:txBody>
      </p:sp>
      <p:sp>
        <p:nvSpPr>
          <p:cNvPr id="29" name="text-679">
            <a:extLst xmlns:a="http://schemas.openxmlformats.org/drawingml/2006/main">
              <a:ext uri="{FF2B5EF4-FFF2-40B4-BE49-F238E27FC236}">
                <a16:creationId xmlns:a16="http://schemas.microsoft.com/office/drawing/2014/main" id="{A54897B8-F677-4000-A243-5A07C734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ZIP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index.html + assets</a:t>
            </a:r>
          </a:p>
        </p:txBody>
      </p:sp>
      <p:sp>
        <p:nvSpPr>
          <p:cNvPr id="30" name="text-680">
            <a:extLst xmlns:a="http://schemas.openxmlformats.org/drawingml/2006/main">
              <a:ext uri="{FF2B5EF4-FFF2-40B4-BE49-F238E27FC236}">
                <a16:creationId xmlns:a16="http://schemas.microsoft.com/office/drawing/2014/main" id="{7DF7AB17-7210-4C01-A12F-9140CF6BE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圖形化上傳</a:t>
            </a:r>
          </a:p>
        </p:txBody>
      </p:sp>
      <p:sp>
        <p:nvSpPr>
          <p:cNvPr id="31" name="text-681">
            <a:extLst xmlns:a="http://schemas.openxmlformats.org/drawingml/2006/main">
              <a:ext uri="{FF2B5EF4-FFF2-40B4-BE49-F238E27FC236}">
                <a16:creationId xmlns:a16="http://schemas.microsoft.com/office/drawing/2014/main" id="{C34FCFEA-CDA8-4558-8E0E-5F82554B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repo + Pages</a:t>
            </a:r>
          </a:p>
        </p:txBody>
      </p:sp>
      <p:sp>
        <p:nvSpPr>
          <p:cNvPr id="32" name="text-682">
            <a:extLst xmlns:a="http://schemas.openxmlformats.org/drawingml/2006/main">
              <a:ext uri="{FF2B5EF4-FFF2-40B4-BE49-F238E27FC236}">
                <a16:creationId xmlns:a16="http://schemas.microsoft.com/office/drawing/2014/main" id="{EA59325E-6B48-4BCA-9935-DEC2048E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公開網址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手機驗證</a:t>
            </a:r>
          </a:p>
        </p:txBody>
      </p:sp>
      <p:cxnSp>
        <p:nvCxnSpPr>
          <p:cNvPr id="73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27813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74" name=""/>
          <p:cNvCxnSpPr>
            <a:stCxn xmlns:a="http://schemas.openxmlformats.org/drawingml/2006/main" id="30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542925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cxnSp>
        <p:nvCxnSpPr>
          <p:cNvPr id="75" name=""/>
          <p:cNvCxnSpPr>
            <a:stCxn xmlns:a="http://schemas.openxmlformats.org/drawingml/2006/main" id="31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0772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36" name="text-683">
            <a:extLst xmlns:a="http://schemas.openxmlformats.org/drawingml/2006/main">
              <a:ext uri="{FF2B5EF4-FFF2-40B4-BE49-F238E27FC236}">
                <a16:creationId xmlns:a16="http://schemas.microsoft.com/office/drawing/2014/main" id="{12B1973B-AEBA-4568-8276-BBECEFDE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低門檻入口，不代表省略隱私、版權與 RWD 驗證</a:t>
            </a:r>
          </a:p>
        </p:txBody>
      </p:sp>
      <p:sp>
        <p:nvSpPr>
          <p:cNvPr id="37" name="text-763">
            <a:extLst xmlns:a="http://schemas.openxmlformats.org/drawingml/2006/main">
              <a:ext uri="{FF2B5EF4-FFF2-40B4-BE49-F238E27FC236}">
                <a16:creationId xmlns:a16="http://schemas.microsoft.com/office/drawing/2014/main" id="{8DDF7CDA-3F27-4DE6-AB94-F864793BD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e8cf06a0f7a4acd"/>
              </a:rPr>
              <a:t>開啟 EZPage ↗</a:t>
            </a:r>
          </a:p>
        </p:txBody>
      </p:sp>
      <p:sp>
        <p:nvSpPr>
          <p:cNvPr id="38" name="shape-838">
            <a:extLst xmlns:a="http://schemas.openxmlformats.org/drawingml/2006/main">
              <a:ext uri="{FF2B5EF4-FFF2-40B4-BE49-F238E27FC236}">
                <a16:creationId xmlns:a16="http://schemas.microsoft.com/office/drawing/2014/main" id="{61351034-F6B7-4169-8EB3-72B4E5E7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ceb9372c646a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40" name="text-839">
            <a:extLst xmlns:a="http://schemas.openxmlformats.org/drawingml/2006/main">
              <a:ext uri="{FF2B5EF4-FFF2-40B4-BE49-F238E27FC236}">
                <a16:creationId xmlns:a16="http://schemas.microsoft.com/office/drawing/2014/main" id="{BBA45BDA-49FA-42CA-B5E8-E5F2F332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77776622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684">
            <a:extLst xmlns:a="http://schemas.openxmlformats.org/drawingml/2006/main">
              <a:ext uri="{FF2B5EF4-FFF2-40B4-BE49-F238E27FC236}">
                <a16:creationId xmlns:a16="http://schemas.microsoft.com/office/drawing/2014/main" id="{AA514BFF-6D37-4F48-98E6-09DE0B377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091CA44-A016-436D-8010-503B5422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上午整合挑戰｜會議紀錄從來源到分享</a:t>
            </a:r>
          </a:p>
        </p:txBody>
      </p:sp>
      <p:cxnSp>
        <p:nvCxnSpPr>
          <p:cNvPr id="29" name="shape-68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86">
            <a:extLst xmlns:a="http://schemas.openxmlformats.org/drawingml/2006/main">
              <a:ext uri="{FF2B5EF4-FFF2-40B4-BE49-F238E27FC236}">
                <a16:creationId xmlns:a16="http://schemas.microsoft.com/office/drawing/2014/main" id="{0C5D9C88-DB0D-4CC1-8191-BE8EBB32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25508CB-224C-4967-AD31-6D2F0FF6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text-687">
            <a:extLst xmlns:a="http://schemas.openxmlformats.org/drawingml/2006/main">
              <a:ext uri="{FF2B5EF4-FFF2-40B4-BE49-F238E27FC236}">
                <a16:creationId xmlns:a16="http://schemas.microsoft.com/office/drawing/2014/main" id="{6D9B5563-1A2C-4A38-A0B8-F35622926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688">
            <a:extLst xmlns:a="http://schemas.openxmlformats.org/drawingml/2006/main">
              <a:ext uri="{FF2B5EF4-FFF2-40B4-BE49-F238E27FC236}">
                <a16:creationId xmlns:a16="http://schemas.microsoft.com/office/drawing/2014/main" id="{0229FBE9-5765-4D2F-A6F4-351CBC70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689">
            <a:extLst xmlns:a="http://schemas.openxmlformats.org/drawingml/2006/main">
              <a:ext uri="{FF2B5EF4-FFF2-40B4-BE49-F238E27FC236}">
                <a16:creationId xmlns:a16="http://schemas.microsoft.com/office/drawing/2014/main" id="{07F22424-B9FC-452D-9989-983B60F2A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90">
            <a:extLst xmlns:a="http://schemas.openxmlformats.org/drawingml/2006/main">
              <a:ext uri="{FF2B5EF4-FFF2-40B4-BE49-F238E27FC236}">
                <a16:creationId xmlns:a16="http://schemas.microsoft.com/office/drawing/2014/main" id="{F9D5C7D3-6AC1-440D-A4CB-A8764162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Gemini Notebook 整理會議來源與背景，留下可追查引用</a:t>
            </a:r>
          </a:p>
        </p:txBody>
      </p:sp>
      <p:sp>
        <p:nvSpPr>
          <p:cNvPr id="10" name="text-691">
            <a:extLst xmlns:a="http://schemas.openxmlformats.org/drawingml/2006/main">
              <a:ext uri="{FF2B5EF4-FFF2-40B4-BE49-F238E27FC236}">
                <a16:creationId xmlns:a16="http://schemas.microsoft.com/office/drawing/2014/main" id="{42590DBB-2EB8-4E6E-A7B0-2F0EB62C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692">
            <a:extLst xmlns:a="http://schemas.openxmlformats.org/drawingml/2006/main">
              <a:ext uri="{FF2B5EF4-FFF2-40B4-BE49-F238E27FC236}">
                <a16:creationId xmlns:a16="http://schemas.microsoft.com/office/drawing/2014/main" id="{EAA123AB-44E7-47C1-9C5B-339C4C84C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用帳號既有 Gem 產出固定格式的重點、決議與待辦</a:t>
            </a:r>
          </a:p>
        </p:txBody>
      </p:sp>
      <p:sp>
        <p:nvSpPr>
          <p:cNvPr id="12" name="text-693">
            <a:extLst xmlns:a="http://schemas.openxmlformats.org/drawingml/2006/main">
              <a:ext uri="{FF2B5EF4-FFF2-40B4-BE49-F238E27FC236}">
                <a16:creationId xmlns:a16="http://schemas.microsoft.com/office/drawing/2014/main" id="{9D618ECE-73F1-4A37-A7FA-ED6ED241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694">
            <a:extLst xmlns:a="http://schemas.openxmlformats.org/drawingml/2006/main">
              <a:ext uri="{FF2B5EF4-FFF2-40B4-BE49-F238E27FC236}">
                <a16:creationId xmlns:a16="http://schemas.microsoft.com/office/drawing/2014/main" id="{00F69D62-2E61-4507-B63E-9818312D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Canvas 做可搜尋、可篩選的會議紀錄原型</a:t>
            </a:r>
          </a:p>
        </p:txBody>
      </p:sp>
      <p:sp>
        <p:nvSpPr>
          <p:cNvPr id="14" name="text-695">
            <a:extLst xmlns:a="http://schemas.openxmlformats.org/drawingml/2006/main">
              <a:ext uri="{FF2B5EF4-FFF2-40B4-BE49-F238E27FC236}">
                <a16:creationId xmlns:a16="http://schemas.microsoft.com/office/drawing/2014/main" id="{E6277FAC-B26D-43E2-B570-2AE6256E6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696">
            <a:extLst xmlns:a="http://schemas.openxmlformats.org/drawingml/2006/main">
              <a:ext uri="{FF2B5EF4-FFF2-40B4-BE49-F238E27FC236}">
                <a16:creationId xmlns:a16="http://schemas.microsoft.com/office/drawing/2014/main" id="{EA0168F2-7E2C-4F34-BF37-E155DD6B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 Canvas 網址嵌入 Google Sites，預覽手機版並說明備援</a:t>
            </a:r>
          </a:p>
        </p:txBody>
      </p:sp>
      <p:sp>
        <p:nvSpPr>
          <p:cNvPr id="16" name="shape-697">
            <a:extLst xmlns:a="http://schemas.openxmlformats.org/drawingml/2006/main">
              <a:ext uri="{FF2B5EF4-FFF2-40B4-BE49-F238E27FC236}">
                <a16:creationId xmlns:a16="http://schemas.microsoft.com/office/drawing/2014/main" id="{951B1926-99BA-4D60-A8EF-0B55C0CC8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698">
            <a:extLst xmlns:a="http://schemas.openxmlformats.org/drawingml/2006/main">
              <a:ext uri="{FF2B5EF4-FFF2-40B4-BE49-F238E27FC236}">
                <a16:creationId xmlns:a16="http://schemas.microsoft.com/office/drawing/2014/main" id="{F3C10965-885E-4E23-89FD-ED5D4782A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699">
            <a:extLst xmlns:a="http://schemas.openxmlformats.org/drawingml/2006/main">
              <a:ext uri="{FF2B5EF4-FFF2-40B4-BE49-F238E27FC236}">
                <a16:creationId xmlns:a16="http://schemas.microsoft.com/office/drawing/2014/main" id="{57230229-57F8-4F5A-826F-F478C224E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來源與用途清楚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摘要格式可重複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作品真的能操作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知道權限與嵌入限制</a:t>
            </a:r>
          </a:p>
        </p:txBody>
      </p:sp>
      <p:sp>
        <p:nvSpPr>
          <p:cNvPr id="19" name="text-760">
            <a:extLst xmlns:a="http://schemas.openxmlformats.org/drawingml/2006/main">
              <a:ext uri="{FF2B5EF4-FFF2-40B4-BE49-F238E27FC236}">
                <a16:creationId xmlns:a16="http://schemas.microsoft.com/office/drawing/2014/main" id="{2ACC64BC-5280-43F8-98F6-BFA4BDB86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7423ebdd10d44d6"/>
              </a:rPr>
              <a:t>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92f0a0c98b74422"/>
              </a:rPr>
              <a:t>會議紀錄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90f27d2dc0245e1"/>
              </a:rPr>
              <a:t>Google Sites ↗</a:t>
            </a:r>
          </a:p>
        </p:txBody>
      </p:sp>
      <p:sp>
        <p:nvSpPr>
          <p:cNvPr id="20" name="shape-829">
            <a:extLst xmlns:a="http://schemas.openxmlformats.org/drawingml/2006/main">
              <a:ext uri="{FF2B5EF4-FFF2-40B4-BE49-F238E27FC236}">
                <a16:creationId xmlns:a16="http://schemas.microsoft.com/office/drawing/2014/main" id="{5BB7426D-FB4B-45AA-A47F-17C43005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f84112e1ef4b20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830">
            <a:extLst xmlns:a="http://schemas.openxmlformats.org/drawingml/2006/main">
              <a:ext uri="{FF2B5EF4-FFF2-40B4-BE49-F238E27FC236}">
                <a16:creationId xmlns:a16="http://schemas.microsoft.com/office/drawing/2014/main" id="{D3394D3C-5091-4AF3-8CDF-10E201A3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72b7912c942f4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831">
            <a:extLst xmlns:a="http://schemas.openxmlformats.org/drawingml/2006/main">
              <a:ext uri="{FF2B5EF4-FFF2-40B4-BE49-F238E27FC236}">
                <a16:creationId xmlns:a16="http://schemas.microsoft.com/office/drawing/2014/main" id="{1F2DF96F-2C76-4B22-BC7A-D0439349F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f2e014bb144d5a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832">
            <a:extLst xmlns:a="http://schemas.openxmlformats.org/drawingml/2006/main">
              <a:ext uri="{FF2B5EF4-FFF2-40B4-BE49-F238E27FC236}">
                <a16:creationId xmlns:a16="http://schemas.microsoft.com/office/drawing/2014/main" id="{69329C1F-4D29-4FF0-B85B-F321F5B8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1021188653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text-700">
            <a:extLst xmlns:a="http://schemas.openxmlformats.org/drawingml/2006/main">
              <a:ext uri="{FF2B5EF4-FFF2-40B4-BE49-F238E27FC236}">
                <a16:creationId xmlns:a16="http://schemas.microsoft.com/office/drawing/2014/main" id="{CBAAE436-B3E6-44BB-815C-096AD7230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4BE2DD3-102B-49B2-96DD-CC6C2D420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上午資源書籤</a:t>
            </a:r>
          </a:p>
        </p:txBody>
      </p:sp>
      <p:cxnSp>
        <p:nvCxnSpPr>
          <p:cNvPr id="49" name="shape-70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02">
            <a:extLst xmlns:a="http://schemas.openxmlformats.org/drawingml/2006/main">
              <a:ext uri="{FF2B5EF4-FFF2-40B4-BE49-F238E27FC236}">
                <a16:creationId xmlns:a16="http://schemas.microsoft.com/office/drawing/2014/main" id="{585D2C66-FE50-4BDA-91A1-78631DED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381A3BB-3CB7-4757-9AD4-A0CA78C8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6" name="shape-703">
            <a:extLst xmlns:a="http://schemas.openxmlformats.org/drawingml/2006/main">
              <a:ext uri="{FF2B5EF4-FFF2-40B4-BE49-F238E27FC236}">
                <a16:creationId xmlns:a16="http://schemas.microsoft.com/office/drawing/2014/main" id="{F93F3B80-C66A-460C-8E65-4525C29A4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704">
            <a:extLst xmlns:a="http://schemas.openxmlformats.org/drawingml/2006/main">
              <a:ext uri="{FF2B5EF4-FFF2-40B4-BE49-F238E27FC236}">
                <a16:creationId xmlns:a16="http://schemas.microsoft.com/office/drawing/2014/main" id="{4EC22FB8-05CE-43CF-9BB2-9C6D6B0A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705">
            <a:extLst xmlns:a="http://schemas.openxmlformats.org/drawingml/2006/main">
              <a:ext uri="{FF2B5EF4-FFF2-40B4-BE49-F238E27FC236}">
                <a16:creationId xmlns:a16="http://schemas.microsoft.com/office/drawing/2014/main" id="{CF71CF16-81E4-43D1-BC24-77D0FD15D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62827d6595104098"/>
              </a:rPr>
              <a:t>../START_HERE_研習資源導航.html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1212f934ed4656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706">
            <a:extLst xmlns:a="http://schemas.openxmlformats.org/drawingml/2006/main">
              <a:ext uri="{FF2B5EF4-FFF2-40B4-BE49-F238E27FC236}">
                <a16:creationId xmlns:a16="http://schemas.microsoft.com/office/drawing/2014/main" id="{345C5324-6BAC-4CE3-8843-6340F1A2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707">
            <a:extLst xmlns:a="http://schemas.openxmlformats.org/drawingml/2006/main">
              <a:ext uri="{FF2B5EF4-FFF2-40B4-BE49-F238E27FC236}">
                <a16:creationId xmlns:a16="http://schemas.microsoft.com/office/drawing/2014/main" id="{53D25E6B-132E-4F04-A727-62D8AE616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Notebook</a:t>
            </a:r>
          </a:p>
        </p:txBody>
      </p:sp>
      <p:sp>
        <p:nvSpPr>
          <p:cNvPr id="12" name="text-708">
            <a:extLst xmlns:a="http://schemas.openxmlformats.org/drawingml/2006/main">
              <a:ext uri="{FF2B5EF4-FFF2-40B4-BE49-F238E27FC236}">
                <a16:creationId xmlns:a16="http://schemas.microsoft.com/office/drawing/2014/main" id="{42B26A21-6458-4E9A-B146-53627406C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6b062d1dd9b84009"/>
              </a:rPr>
              <a:t>https://notebook.google.com/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7002a527044ed3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709">
            <a:extLst xmlns:a="http://schemas.openxmlformats.org/drawingml/2006/main">
              <a:ext uri="{FF2B5EF4-FFF2-40B4-BE49-F238E27FC236}">
                <a16:creationId xmlns:a16="http://schemas.microsoft.com/office/drawing/2014/main" id="{0F93EA8F-C09D-4BCB-9898-41E799447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710">
            <a:extLst xmlns:a="http://schemas.openxmlformats.org/drawingml/2006/main">
              <a:ext uri="{FF2B5EF4-FFF2-40B4-BE49-F238E27FC236}">
                <a16:creationId xmlns:a16="http://schemas.microsoft.com/office/drawing/2014/main" id="{5890D65C-B1F3-4D83-8AF8-D36DCC5F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建立自訂 Gem</a:t>
            </a:r>
          </a:p>
        </p:txBody>
      </p:sp>
      <p:sp>
        <p:nvSpPr>
          <p:cNvPr id="16" name="text-711">
            <a:extLst xmlns:a="http://schemas.openxmlformats.org/drawingml/2006/main">
              <a:ext uri="{FF2B5EF4-FFF2-40B4-BE49-F238E27FC236}">
                <a16:creationId xmlns:a16="http://schemas.microsoft.com/office/drawing/2014/main" id="{04C4D3A4-A75E-475D-9CA4-E262CBD82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290866e2e74a4e53"/>
              </a:rPr>
              <a:t>https://gemini.google.com/gems/create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813b08c3734c49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712">
            <a:extLst xmlns:a="http://schemas.openxmlformats.org/drawingml/2006/main">
              <a:ext uri="{FF2B5EF4-FFF2-40B4-BE49-F238E27FC236}">
                <a16:creationId xmlns:a16="http://schemas.microsoft.com/office/drawing/2014/main" id="{8F67B664-6CA8-4841-A89A-DD1CF10A1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713">
            <a:extLst xmlns:a="http://schemas.openxmlformats.org/drawingml/2006/main">
              <a:ext uri="{FF2B5EF4-FFF2-40B4-BE49-F238E27FC236}">
                <a16:creationId xmlns:a16="http://schemas.microsoft.com/office/drawing/2014/main" id="{42C857DE-D801-4C58-AEE5-F8F81A1D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Canvas</a:t>
            </a:r>
          </a:p>
        </p:txBody>
      </p:sp>
      <p:sp>
        <p:nvSpPr>
          <p:cNvPr id="20" name="text-714">
            <a:extLst xmlns:a="http://schemas.openxmlformats.org/drawingml/2006/main">
              <a:ext uri="{FF2B5EF4-FFF2-40B4-BE49-F238E27FC236}">
                <a16:creationId xmlns:a16="http://schemas.microsoft.com/office/drawing/2014/main" id="{BB2EB738-0408-476C-9122-7F8F37C1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5674ac745526487f"/>
              </a:rPr>
              <a:t>https://gemini.google.com/app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fd744aed464f8e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715">
            <a:extLst xmlns:a="http://schemas.openxmlformats.org/drawingml/2006/main">
              <a:ext uri="{FF2B5EF4-FFF2-40B4-BE49-F238E27FC236}">
                <a16:creationId xmlns:a16="http://schemas.microsoft.com/office/drawing/2014/main" id="{7776A86A-6BD6-491B-BA4B-E717EB49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3" name="text-716">
            <a:extLst xmlns:a="http://schemas.openxmlformats.org/drawingml/2006/main">
              <a:ext uri="{FF2B5EF4-FFF2-40B4-BE49-F238E27FC236}">
                <a16:creationId xmlns:a16="http://schemas.microsoft.com/office/drawing/2014/main" id="{730550C4-5A07-4E17-A21C-1734E7265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 GitHub repo</a:t>
            </a:r>
          </a:p>
        </p:txBody>
      </p:sp>
      <p:sp>
        <p:nvSpPr>
          <p:cNvPr id="24" name="text-717">
            <a:extLst xmlns:a="http://schemas.openxmlformats.org/drawingml/2006/main">
              <a:ext uri="{FF2B5EF4-FFF2-40B4-BE49-F238E27FC236}">
                <a16:creationId xmlns:a16="http://schemas.microsoft.com/office/drawing/2014/main" id="{2032ED98-A911-43E9-A5F1-8398149F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59d8c3bfa24d4021"/>
              </a:rPr>
              <a:t>https://github.com/cagoooo/it-cockpit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c89853b9054cbe"/>
          <a:stretch xmlns:a="http://schemas.openxmlformats.org/drawingml/2006/main"/>
        </p:blipFill>
        <p:spPr>
          <a:xfrm xmlns:a="http://schemas.openxmlformats.org/drawingml/2006/main">
            <a:off x="49530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718">
            <a:extLst xmlns:a="http://schemas.openxmlformats.org/drawingml/2006/main">
              <a:ext uri="{FF2B5EF4-FFF2-40B4-BE49-F238E27FC236}">
                <a16:creationId xmlns:a16="http://schemas.microsoft.com/office/drawing/2014/main" id="{70D65D25-A608-456D-B6E9-57249B26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7" name="text-719">
            <a:extLst xmlns:a="http://schemas.openxmlformats.org/drawingml/2006/main">
              <a:ext uri="{FF2B5EF4-FFF2-40B4-BE49-F238E27FC236}">
                <a16:creationId xmlns:a16="http://schemas.microsoft.com/office/drawing/2014/main" id="{65B51D95-90BC-4129-BE50-B45D6B78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教學駕駛艙公開網站</a:t>
            </a:r>
          </a:p>
        </p:txBody>
      </p:sp>
      <p:sp>
        <p:nvSpPr>
          <p:cNvPr id="28" name="text-720">
            <a:extLst xmlns:a="http://schemas.openxmlformats.org/drawingml/2006/main">
              <a:ext uri="{FF2B5EF4-FFF2-40B4-BE49-F238E27FC236}">
                <a16:creationId xmlns:a16="http://schemas.microsoft.com/office/drawing/2014/main" id="{E3054489-0EEA-415A-ADD8-30FC02D8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93582772bed64bff"/>
              </a:rPr>
              <a:t>https://cagoooo.github.io/it-cockpit/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f25e845d1e4a7b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721">
            <a:extLst xmlns:a="http://schemas.openxmlformats.org/drawingml/2006/main">
              <a:ext uri="{FF2B5EF4-FFF2-40B4-BE49-F238E27FC236}">
                <a16:creationId xmlns:a16="http://schemas.microsoft.com/office/drawing/2014/main" id="{EA72CE3C-CEE7-4BBE-98C9-81887DD32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text-722">
            <a:extLst xmlns:a="http://schemas.openxmlformats.org/drawingml/2006/main">
              <a:ext uri="{FF2B5EF4-FFF2-40B4-BE49-F238E27FC236}">
                <a16:creationId xmlns:a16="http://schemas.microsoft.com/office/drawing/2014/main" id="{B7FA8C7A-C5C7-459F-9976-7191CA7EE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教師會議紀錄系統（#84）</a:t>
            </a:r>
          </a:p>
        </p:txBody>
      </p:sp>
      <p:sp>
        <p:nvSpPr>
          <p:cNvPr id="32" name="text-723">
            <a:extLst xmlns:a="http://schemas.openxmlformats.org/drawingml/2006/main">
              <a:ext uri="{FF2B5EF4-FFF2-40B4-BE49-F238E27FC236}">
                <a16:creationId xmlns:a16="http://schemas.microsoft.com/office/drawing/2014/main" id="{E75D6BE9-0DE5-4E94-A4E0-97D2F013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7c1335885dbc44ea"/>
              </a:rPr>
              <a:t>https://cagoooo.github.io/domain-meeting-go/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3a979cfaa465c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shape-724">
            <a:extLst xmlns:a="http://schemas.openxmlformats.org/drawingml/2006/main">
              <a:ext uri="{FF2B5EF4-FFF2-40B4-BE49-F238E27FC236}">
                <a16:creationId xmlns:a16="http://schemas.microsoft.com/office/drawing/2014/main" id="{FBDF45C6-CBBD-48C7-BCDB-FE019DE7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5" name="text-725">
            <a:extLst xmlns:a="http://schemas.openxmlformats.org/drawingml/2006/main">
              <a:ext uri="{FF2B5EF4-FFF2-40B4-BE49-F238E27FC236}">
                <a16:creationId xmlns:a16="http://schemas.microsoft.com/office/drawing/2014/main" id="{8B38888B-6D3D-4270-9621-AC6C6FF7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Google Sites</a:t>
            </a:r>
          </a:p>
        </p:txBody>
      </p:sp>
      <p:sp>
        <p:nvSpPr>
          <p:cNvPr id="36" name="text-726">
            <a:extLst xmlns:a="http://schemas.openxmlformats.org/drawingml/2006/main">
              <a:ext uri="{FF2B5EF4-FFF2-40B4-BE49-F238E27FC236}">
                <a16:creationId xmlns:a16="http://schemas.microsoft.com/office/drawing/2014/main" id="{0A429630-562F-4BD2-A537-35F26B1E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2b25b849d12b4840"/>
              </a:rPr>
              <a:t>https://sites.google.com/new</a:t>
            </a:r>
          </a:p>
        </p:txBody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15afe9e4834dc0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8" name="shape-727">
            <a:extLst xmlns:a="http://schemas.openxmlformats.org/drawingml/2006/main">
              <a:ext uri="{FF2B5EF4-FFF2-40B4-BE49-F238E27FC236}">
                <a16:creationId xmlns:a16="http://schemas.microsoft.com/office/drawing/2014/main" id="{1220217E-C76C-4E9E-BD80-F290D3788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9" name="text-728">
            <a:extLst xmlns:a="http://schemas.openxmlformats.org/drawingml/2006/main">
              <a:ext uri="{FF2B5EF4-FFF2-40B4-BE49-F238E27FC236}">
                <a16:creationId xmlns:a16="http://schemas.microsoft.com/office/drawing/2014/main" id="{7B960EE8-E470-4CCB-8473-BE95DE73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GitHub Pages</a:t>
            </a:r>
          </a:p>
        </p:txBody>
      </p:sp>
      <p:sp>
        <p:nvSpPr>
          <p:cNvPr id="40" name="text-729">
            <a:extLst xmlns:a="http://schemas.openxmlformats.org/drawingml/2006/main">
              <a:ext uri="{FF2B5EF4-FFF2-40B4-BE49-F238E27FC236}">
                <a16:creationId xmlns:a16="http://schemas.microsoft.com/office/drawing/2014/main" id="{D6CDEB44-64BE-4B6E-9E3C-A20FAB45F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52c713e02e454842"/>
              </a:rPr>
              <a:t>https://pages.github.com/</a:t>
            </a:r>
          </a:p>
        </p:txBody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2bae8ceb62453e"/>
          <a:stretch xmlns:a="http://schemas.openxmlformats.org/drawingml/2006/main"/>
        </p:blipFill>
        <p:spPr>
          <a:xfrm xmlns:a="http://schemas.openxmlformats.org/drawingml/2006/main">
            <a:off x="105537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2" name="shape-730">
            <a:extLst xmlns:a="http://schemas.openxmlformats.org/drawingml/2006/main">
              <a:ext uri="{FF2B5EF4-FFF2-40B4-BE49-F238E27FC236}">
                <a16:creationId xmlns:a16="http://schemas.microsoft.com/office/drawing/2014/main" id="{5E16096F-87C1-4F5A-AB0F-6EC40C00E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43" name="text-731">
            <a:extLst xmlns:a="http://schemas.openxmlformats.org/drawingml/2006/main">
              <a:ext uri="{FF2B5EF4-FFF2-40B4-BE49-F238E27FC236}">
                <a16:creationId xmlns:a16="http://schemas.microsoft.com/office/drawing/2014/main" id="{A23CC663-0E50-4911-8E75-0982C73D2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一鍵部署</a:t>
            </a:r>
          </a:p>
        </p:txBody>
      </p:sp>
      <p:sp>
        <p:nvSpPr>
          <p:cNvPr id="44" name="text-732">
            <a:extLst xmlns:a="http://schemas.openxmlformats.org/drawingml/2006/main">
              <a:ext uri="{FF2B5EF4-FFF2-40B4-BE49-F238E27FC236}">
                <a16:creationId xmlns:a16="http://schemas.microsoft.com/office/drawing/2014/main" id="{2D5A15A9-6656-49F1-A0CC-E65C97589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ae8cab9853b74f1e"/>
              </a:rPr>
              <a:t>https://gg90052.github.io/ezpage/</a:t>
            </a:r>
          </a:p>
        </p:txBody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a1341b6dc64278"/>
          <a:stretch xmlns:a="http://schemas.openxmlformats.org/drawingml/2006/main"/>
        </p:blipFill>
        <p:spPr>
          <a:xfrm xmlns:a="http://schemas.openxmlformats.org/drawingml/2006/main">
            <a:off x="105537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6" name="text-733">
            <a:extLst xmlns:a="http://schemas.openxmlformats.org/drawingml/2006/main">
              <a:ext uri="{FF2B5EF4-FFF2-40B4-BE49-F238E27FC236}">
                <a16:creationId xmlns:a16="http://schemas.microsoft.com/office/drawing/2014/main" id="{11D3DECB-0F8B-45C5-8B01-F4BC53AB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38850"/>
            <a:ext cx="1116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上午的終點不是『學會每個工具』，而是完成一條能重複使用的教學與研究產線。</a:t>
            </a:r>
          </a:p>
        </p:txBody>
      </p:sp>
    </p:spTree>
    <p:extLst>
      <p:ext uri="{BB962C8B-B14F-4D97-AF65-F5344CB8AC3E}">
        <p14:creationId xmlns:p14="http://schemas.microsoft.com/office/powerpoint/2010/main" val="793767035"/>
      </p:ext>
    </p:extLst>
  </p:cSld>
</p:sld>
</file>

<file path=ppt/theme/theme1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2026-08-15T02:09:28.2020000Z</dcterms:created>
  <dcterms:modified xsi:type="dcterms:W3CDTF">2026-08-15T02:09:28.2020000Z</dcterms:modified>
</coreProperties>
</file>
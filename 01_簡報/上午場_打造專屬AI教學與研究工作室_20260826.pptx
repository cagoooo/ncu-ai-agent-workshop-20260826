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c46e9ffdbfd490e" /><Relationship Type="http://schemas.openxmlformats.org/officeDocument/2006/relationships/extended-properties" Target="/docProps/app.xml" Id="Rae28612ab07a4421" /><Relationship Type="http://schemas.openxmlformats.org/officeDocument/2006/relationships/officeDocument" Target="/ppt/presentation.xml" Id="Rc66fdea00a22453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dac6e73e2c34a06"/>
  </p:sldMasterIdLst>
  <p:notesMasterIdLst>
    <p:notesMasterId xmlns:r="http://schemas.openxmlformats.org/officeDocument/2006/relationships" r:id="R34dd970edf494273"/>
  </p:notesMasterIdLst>
  <p:sldIdLst>
    <p:sldId xmlns:r="http://schemas.openxmlformats.org/officeDocument/2006/relationships" id="256" r:id="R0422dd7758434f47"/>
    <p:sldId xmlns:r="http://schemas.openxmlformats.org/officeDocument/2006/relationships" id="257" r:id="R26660b734d514fdf"/>
    <p:sldId xmlns:r="http://schemas.openxmlformats.org/officeDocument/2006/relationships" id="258" r:id="Re035ee5336364051"/>
    <p:sldId xmlns:r="http://schemas.openxmlformats.org/officeDocument/2006/relationships" id="259" r:id="R1a6ef861729c4f29"/>
    <p:sldId xmlns:r="http://schemas.openxmlformats.org/officeDocument/2006/relationships" id="260" r:id="Ra98207a58a8c4075"/>
    <p:sldId xmlns:r="http://schemas.openxmlformats.org/officeDocument/2006/relationships" id="261" r:id="Recea8e698fd844f9"/>
    <p:sldId xmlns:r="http://schemas.openxmlformats.org/officeDocument/2006/relationships" id="262" r:id="R16c89295f6a749e1"/>
    <p:sldId xmlns:r="http://schemas.openxmlformats.org/officeDocument/2006/relationships" id="263" r:id="R0f154517527b42f7"/>
    <p:sldId xmlns:r="http://schemas.openxmlformats.org/officeDocument/2006/relationships" id="264" r:id="R277a7a33223548ff"/>
    <p:sldId xmlns:r="http://schemas.openxmlformats.org/officeDocument/2006/relationships" id="265" r:id="R5606a52f1ec14715"/>
    <p:sldId xmlns:r="http://schemas.openxmlformats.org/officeDocument/2006/relationships" id="266" r:id="R4f74aec87f1a4f18"/>
    <p:sldId xmlns:r="http://schemas.openxmlformats.org/officeDocument/2006/relationships" id="267" r:id="R8d1399ae8e35478b"/>
    <p:sldId xmlns:r="http://schemas.openxmlformats.org/officeDocument/2006/relationships" id="268" r:id="R491f6c6930cd48b6"/>
    <p:sldId xmlns:r="http://schemas.openxmlformats.org/officeDocument/2006/relationships" id="269" r:id="R8833a380293240b4"/>
    <p:sldId xmlns:r="http://schemas.openxmlformats.org/officeDocument/2006/relationships" id="270" r:id="R71ccab2268b046d1"/>
    <p:sldId xmlns:r="http://schemas.openxmlformats.org/officeDocument/2006/relationships" id="271" r:id="R4c996e1957da42fd"/>
    <p:sldId xmlns:r="http://schemas.openxmlformats.org/officeDocument/2006/relationships" id="272" r:id="R216f0cf471b04e6d"/>
    <p:sldId xmlns:r="http://schemas.openxmlformats.org/officeDocument/2006/relationships" id="273" r:id="Reaf07ba61a7d49f9"/>
    <p:sldId xmlns:r="http://schemas.openxmlformats.org/officeDocument/2006/relationships" id="274" r:id="Ra10874eb8e74427a"/>
    <p:sldId xmlns:r="http://schemas.openxmlformats.org/officeDocument/2006/relationships" id="275" r:id="Rd2a2929d300d4a4a"/>
    <p:sldId xmlns:r="http://schemas.openxmlformats.org/officeDocument/2006/relationships" id="276" r:id="Re11e73b6b8b343fe"/>
    <p:sldId xmlns:r="http://schemas.openxmlformats.org/officeDocument/2006/relationships" id="277" r:id="R46863cbfcb7c417c"/>
    <p:sldId xmlns:r="http://schemas.openxmlformats.org/officeDocument/2006/relationships" id="278" r:id="R2bf2178b14704e8a"/>
    <p:sldId xmlns:r="http://schemas.openxmlformats.org/officeDocument/2006/relationships" id="279" r:id="Recd8ac59ed864b30"/>
    <p:sldId xmlns:r="http://schemas.openxmlformats.org/officeDocument/2006/relationships" id="280" r:id="R21a47f616fbb4971"/>
    <p:sldId xmlns:r="http://schemas.openxmlformats.org/officeDocument/2006/relationships" id="281" r:id="R9271774ecc2e4689"/>
    <p:sldId xmlns:r="http://schemas.openxmlformats.org/officeDocument/2006/relationships" id="282" r:id="R80d5fdec1abf4bd2"/>
    <p:sldId xmlns:r="http://schemas.openxmlformats.org/officeDocument/2006/relationships" id="283" r:id="Ra753bdfd0d544f4a"/>
    <p:sldId xmlns:r="http://schemas.openxmlformats.org/officeDocument/2006/relationships" id="284" r:id="Re72e3ac16ce34e21"/>
    <p:sldId xmlns:r="http://schemas.openxmlformats.org/officeDocument/2006/relationships" id="285" r:id="R4925f4547d7d4845"/>
    <p:sldId xmlns:r="http://schemas.openxmlformats.org/officeDocument/2006/relationships" id="286" r:id="R750992ab39fd446e"/>
    <p:sldId xmlns:r="http://schemas.openxmlformats.org/officeDocument/2006/relationships" id="287" r:id="R7e356129bafd4755"/>
    <p:sldId xmlns:r="http://schemas.openxmlformats.org/officeDocument/2006/relationships" id="288" r:id="Rd259d1805f654e81"/>
    <p:sldId xmlns:r="http://schemas.openxmlformats.org/officeDocument/2006/relationships" id="289" r:id="R382ce8d78b174ced"/>
    <p:sldId xmlns:r="http://schemas.openxmlformats.org/officeDocument/2006/relationships" id="290" r:id="Re149b2c5472b4d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d9292b937c141ce" /><Relationship Type="http://schemas.openxmlformats.org/officeDocument/2006/relationships/slideMaster" Target="/ppt/slideMasters/slideMaster1.xml" Id="R3dac6e73e2c34a06" /><Relationship Type="http://schemas.openxmlformats.org/officeDocument/2006/relationships/notesMaster" Target="/ppt/notesMasters/notesMaster1.xml" Id="R34dd970edf494273" /><Relationship Type="http://schemas.openxmlformats.org/officeDocument/2006/relationships/presProps" Target="/ppt/presProps.xml" Id="Rd586304a11ee407e" /><Relationship Type="http://schemas.openxmlformats.org/officeDocument/2006/relationships/tableStyles" Target="/ppt/tableStyles.xml" Id="R633fcc8226834121" /><Relationship Type="http://schemas.openxmlformats.org/officeDocument/2006/relationships/slide" Target="/ppt/slides/slide1.xml" Id="R0422dd7758434f47" /><Relationship Type="http://schemas.openxmlformats.org/officeDocument/2006/relationships/slide" Target="/ppt/slides/slide2.xml" Id="R26660b734d514fdf" /><Relationship Type="http://schemas.openxmlformats.org/officeDocument/2006/relationships/slide" Target="/ppt/slides/slide3.xml" Id="Re035ee5336364051" /><Relationship Type="http://schemas.openxmlformats.org/officeDocument/2006/relationships/slide" Target="/ppt/slides/slide4.xml" Id="R1a6ef861729c4f29" /><Relationship Type="http://schemas.openxmlformats.org/officeDocument/2006/relationships/slide" Target="/ppt/slides/slide5.xml" Id="Ra98207a58a8c4075" /><Relationship Type="http://schemas.openxmlformats.org/officeDocument/2006/relationships/slide" Target="/ppt/slides/slide6.xml" Id="Recea8e698fd844f9" /><Relationship Type="http://schemas.openxmlformats.org/officeDocument/2006/relationships/slide" Target="/ppt/slides/slide7.xml" Id="R16c89295f6a749e1" /><Relationship Type="http://schemas.openxmlformats.org/officeDocument/2006/relationships/slide" Target="/ppt/slides/slide8.xml" Id="R0f154517527b42f7" /><Relationship Type="http://schemas.openxmlformats.org/officeDocument/2006/relationships/slide" Target="/ppt/slides/slide9.xml" Id="R277a7a33223548ff" /><Relationship Type="http://schemas.openxmlformats.org/officeDocument/2006/relationships/slide" Target="/ppt/slides/slide10.xml" Id="R5606a52f1ec14715" /><Relationship Type="http://schemas.openxmlformats.org/officeDocument/2006/relationships/slide" Target="/ppt/slides/slide11.xml" Id="R4f74aec87f1a4f18" /><Relationship Type="http://schemas.openxmlformats.org/officeDocument/2006/relationships/slide" Target="/ppt/slides/slide12.xml" Id="R8d1399ae8e35478b" /><Relationship Type="http://schemas.openxmlformats.org/officeDocument/2006/relationships/slide" Target="/ppt/slides/slide13.xml" Id="R491f6c6930cd48b6" /><Relationship Type="http://schemas.openxmlformats.org/officeDocument/2006/relationships/slide" Target="/ppt/slides/slide14.xml" Id="R8833a380293240b4" /><Relationship Type="http://schemas.openxmlformats.org/officeDocument/2006/relationships/slide" Target="/ppt/slides/slide15.xml" Id="R71ccab2268b046d1" /><Relationship Type="http://schemas.openxmlformats.org/officeDocument/2006/relationships/slide" Target="/ppt/slides/slide16.xml" Id="R4c996e1957da42fd" /><Relationship Type="http://schemas.openxmlformats.org/officeDocument/2006/relationships/slide" Target="/ppt/slides/slide17.xml" Id="R216f0cf471b04e6d" /><Relationship Type="http://schemas.openxmlformats.org/officeDocument/2006/relationships/slide" Target="/ppt/slides/slide18.xml" Id="Reaf07ba61a7d49f9" /><Relationship Type="http://schemas.openxmlformats.org/officeDocument/2006/relationships/slide" Target="/ppt/slides/slide19.xml" Id="Ra10874eb8e74427a" /><Relationship Type="http://schemas.openxmlformats.org/officeDocument/2006/relationships/slide" Target="/ppt/slides/slide20.xml" Id="Rd2a2929d300d4a4a" /><Relationship Type="http://schemas.openxmlformats.org/officeDocument/2006/relationships/slide" Target="/ppt/slides/slide21.xml" Id="Re11e73b6b8b343fe" /><Relationship Type="http://schemas.openxmlformats.org/officeDocument/2006/relationships/slide" Target="/ppt/slides/slide22.xml" Id="R46863cbfcb7c417c" /><Relationship Type="http://schemas.openxmlformats.org/officeDocument/2006/relationships/slide" Target="/ppt/slides/slide23.xml" Id="R2bf2178b14704e8a" /><Relationship Type="http://schemas.openxmlformats.org/officeDocument/2006/relationships/slide" Target="/ppt/slides/slide24.xml" Id="Recd8ac59ed864b30" /><Relationship Type="http://schemas.openxmlformats.org/officeDocument/2006/relationships/slide" Target="/ppt/slides/slide25.xml" Id="R21a47f616fbb4971" /><Relationship Type="http://schemas.openxmlformats.org/officeDocument/2006/relationships/slide" Target="/ppt/slides/slide26.xml" Id="R9271774ecc2e4689" /><Relationship Type="http://schemas.openxmlformats.org/officeDocument/2006/relationships/slide" Target="/ppt/slides/slide27.xml" Id="R80d5fdec1abf4bd2" /><Relationship Type="http://schemas.openxmlformats.org/officeDocument/2006/relationships/slide" Target="/ppt/slides/slide28.xml" Id="Ra753bdfd0d544f4a" /><Relationship Type="http://schemas.openxmlformats.org/officeDocument/2006/relationships/slide" Target="/ppt/slides/slide29.xml" Id="Re72e3ac16ce34e21" /><Relationship Type="http://schemas.openxmlformats.org/officeDocument/2006/relationships/slide" Target="/ppt/slides/slide30.xml" Id="R4925f4547d7d4845" /><Relationship Type="http://schemas.openxmlformats.org/officeDocument/2006/relationships/slide" Target="/ppt/slides/slide31.xml" Id="R750992ab39fd446e" /><Relationship Type="http://schemas.openxmlformats.org/officeDocument/2006/relationships/slide" Target="/ppt/slides/slide32.xml" Id="R7e356129bafd4755" /><Relationship Type="http://schemas.openxmlformats.org/officeDocument/2006/relationships/slide" Target="/ppt/slides/slide33.xml" Id="Rd259d1805f654e81" /><Relationship Type="http://schemas.openxmlformats.org/officeDocument/2006/relationships/slide" Target="/ppt/slides/slide34.xml" Id="R382ce8d78b174ced" /><Relationship Type="http://schemas.openxmlformats.org/officeDocument/2006/relationships/slide" Target="/ppt/slides/slide35.xml" Id="Re149b2c5472b4d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a1810624532467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e78bc54e31e348c9" /><Relationship Type="http://schemas.openxmlformats.org/officeDocument/2006/relationships/notesMaster" Target="/ppt/notesMasters/notesMaster1.xml" Id="Rfecea63b1207401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268a005ca5644a0" /><Relationship Type="http://schemas.openxmlformats.org/officeDocument/2006/relationships/notesMaster" Target="/ppt/notesMasters/notesMaster1.xml" Id="Re836241121354f5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c135dbb7a4c64160" /><Relationship Type="http://schemas.openxmlformats.org/officeDocument/2006/relationships/notesMaster" Target="/ppt/notesMasters/notesMaster1.xml" Id="Rb5e84d87d7484fa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7d60005e1f34681" /><Relationship Type="http://schemas.openxmlformats.org/officeDocument/2006/relationships/notesMaster" Target="/ppt/notesMasters/notesMaster1.xml" Id="R5cab44400ea3417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f158169c4704db7" /><Relationship Type="http://schemas.openxmlformats.org/officeDocument/2006/relationships/notesMaster" Target="/ppt/notesMasters/notesMaster1.xml" Id="R659fb5a881e040d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f5d7c03871b41cb" /><Relationship Type="http://schemas.openxmlformats.org/officeDocument/2006/relationships/notesMaster" Target="/ppt/notesMasters/notesMaster1.xml" Id="R42e22c3279f0438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b09102528f4486d" /><Relationship Type="http://schemas.openxmlformats.org/officeDocument/2006/relationships/notesMaster" Target="/ppt/notesMasters/notesMaster1.xml" Id="R7941596f730748ab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d7ea48eb70b4a28" /><Relationship Type="http://schemas.openxmlformats.org/officeDocument/2006/relationships/notesMaster" Target="/ppt/notesMasters/notesMaster1.xml" Id="R112d406521a348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0e214a0e4e04b26" /><Relationship Type="http://schemas.openxmlformats.org/officeDocument/2006/relationships/notesMaster" Target="/ppt/notesMasters/notesMaster1.xml" Id="Rf5c6d53d600940c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621c18b1ca3146ad" /><Relationship Type="http://schemas.openxmlformats.org/officeDocument/2006/relationships/notesMaster" Target="/ppt/notesMasters/notesMaster1.xml" Id="R90b32e26e2524a6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9b2a79933a4c8d" /><Relationship Type="http://schemas.openxmlformats.org/officeDocument/2006/relationships/notesMaster" Target="/ppt/notesMasters/notesMaster1.xml" Id="R840bfe69fdbe428c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49288d5e1b2463d" /><Relationship Type="http://schemas.openxmlformats.org/officeDocument/2006/relationships/notesMaster" Target="/ppt/notesMasters/notesMaster1.xml" Id="R1249f68dde02428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fd008254254b420f" /><Relationship Type="http://schemas.openxmlformats.org/officeDocument/2006/relationships/notesMaster" Target="/ppt/notesMasters/notesMaster1.xml" Id="Rd956fbea8ca7453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d95274d97c104ce5" /><Relationship Type="http://schemas.openxmlformats.org/officeDocument/2006/relationships/notesMaster" Target="/ppt/notesMasters/notesMaster1.xml" Id="Rde26b543fb5c423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fa428960fa0499d" /><Relationship Type="http://schemas.openxmlformats.org/officeDocument/2006/relationships/notesMaster" Target="/ppt/notesMasters/notesMaster1.xml" Id="Rd0dc3d8b7c914539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44176a9d6c274e81" /><Relationship Type="http://schemas.openxmlformats.org/officeDocument/2006/relationships/notesMaster" Target="/ppt/notesMasters/notesMaster1.xml" Id="R9d76a4adf68c424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275f809714d4e8a" /><Relationship Type="http://schemas.openxmlformats.org/officeDocument/2006/relationships/notesMaster" Target="/ppt/notesMasters/notesMaster1.xml" Id="R021e0aeada6e4bb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4aa763dc9904e46" /><Relationship Type="http://schemas.openxmlformats.org/officeDocument/2006/relationships/notesMaster" Target="/ppt/notesMasters/notesMaster1.xml" Id="R83d93d42cb57431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c6cb18e2c0e494b" /><Relationship Type="http://schemas.openxmlformats.org/officeDocument/2006/relationships/notesMaster" Target="/ppt/notesMasters/notesMaster1.xml" Id="Rfa74c82bf513456d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8807d097b384a21" /><Relationship Type="http://schemas.openxmlformats.org/officeDocument/2006/relationships/notesMaster" Target="/ppt/notesMasters/notesMaster1.xml" Id="Rdb895aa953bc4725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791d0a7fdd946b2" /><Relationship Type="http://schemas.openxmlformats.org/officeDocument/2006/relationships/notesMaster" Target="/ppt/notesMasters/notesMaster1.xml" Id="R825b1eabb07249b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b78d86641f84da1" /><Relationship Type="http://schemas.openxmlformats.org/officeDocument/2006/relationships/notesMaster" Target="/ppt/notesMasters/notesMaster1.xml" Id="Rf3535d24b35547ea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572580d3834493e" /><Relationship Type="http://schemas.openxmlformats.org/officeDocument/2006/relationships/notesMaster" Target="/ppt/notesMasters/notesMaster1.xml" Id="R016dca8cbc544e3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008376fc5ccb4936" /><Relationship Type="http://schemas.openxmlformats.org/officeDocument/2006/relationships/notesMaster" Target="/ppt/notesMasters/notesMaster1.xml" Id="R97b729d715664d6f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9f467214eac84436" /><Relationship Type="http://schemas.openxmlformats.org/officeDocument/2006/relationships/notesMaster" Target="/ppt/notesMasters/notesMaster1.xml" Id="Raf321dbab4b74b1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3e4596ce6f84407" /><Relationship Type="http://schemas.openxmlformats.org/officeDocument/2006/relationships/notesMaster" Target="/ppt/notesMasters/notesMaster1.xml" Id="Re38d2763071545e0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bc51003762149d6" /><Relationship Type="http://schemas.openxmlformats.org/officeDocument/2006/relationships/notesMaster" Target="/ppt/notesMasters/notesMaster1.xml" Id="R88bac30f77834c4b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c23479dc69d34346" /><Relationship Type="http://schemas.openxmlformats.org/officeDocument/2006/relationships/notesMaster" Target="/ppt/notesMasters/notesMaster1.xml" Id="Ree5dd14c61954d32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9b8a95835d6449d0" /><Relationship Type="http://schemas.openxmlformats.org/officeDocument/2006/relationships/notesMaster" Target="/ppt/notesMasters/notesMaster1.xml" Id="R5ff5637db0824fd7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86bc2fdc5924796" /><Relationship Type="http://schemas.openxmlformats.org/officeDocument/2006/relationships/notesMaster" Target="/ppt/notesMasters/notesMaster1.xml" Id="R2f2db2b19b854f79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199a78747f7c461f" /><Relationship Type="http://schemas.openxmlformats.org/officeDocument/2006/relationships/notesMaster" Target="/ppt/notesMasters/notesMaster1.xml" Id="Recf4556caa014626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7a34c3e1aafd4e44" /><Relationship Type="http://schemas.openxmlformats.org/officeDocument/2006/relationships/notesMaster" Target="/ppt/notesMasters/notesMaster1.xml" Id="R3ce49827724f4337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d2ad22823a364893" /><Relationship Type="http://schemas.openxmlformats.org/officeDocument/2006/relationships/notesMaster" Target="/ppt/notesMasters/notesMaster1.xml" Id="R0dacd93e97264159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e10d8f6223494c82" /><Relationship Type="http://schemas.openxmlformats.org/officeDocument/2006/relationships/notesMaster" Target="/ppt/notesMasters/notesMaster1.xml" Id="Rafa37a42c5c0472d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b3392c0855e24537" /><Relationship Type="http://schemas.openxmlformats.org/officeDocument/2006/relationships/notesMaster" Target="/ppt/notesMasters/notesMaster1.xml" Id="Rd65f643f643f410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開場先說明：今天的重點不是把所有按鈕看過一遍，而是每位參與者都完成可帶回課堂的成果。邀請大家先選定一門課程或一個教學問題。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提醒：本簡報已全面採用現行名稱「Gemini Notebook」。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用一張圖建立全日心智模型。上午先完成 AI 教學與研究工作室，下午再把同一作品或資料分析任務交給 Agent 擴充、驗證與交付。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簡要說明時間節奏。實作時採 6 位教授三組雙人共作；若某帳號沒有 Gemini 權限，擔任測試者與教學觀察員仍可完整參與。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請參與者把這四項成果當作今日 checklist。每一段結束會回來勾選一次。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六位教授建議分三組。不要讓帳號差異變成旁觀：測試者的工作是檢查引用、指令邊界、手機畫面與實際教學價值。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請每組選一題，寫成一句：『我希望哪一群學生，在什麼情境下，完成什麼改變？』後續所有工具都服務這一句。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現場不要逐一介紹 123 個工具。請依參與者選定的教學問題，搜尋 1–2 個最接近的案例，分析它的使用者、輸入、輸出與互動方式。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三個案例分別對應語文創作、教學設計與互動網站。現場可由三組各選一張，先讀卡片介紹，再用測試者視角操作成品。本次資料依據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https://cagoooo.github.io/Akai/tool/91/</a:t>
            </a:r>
          </a:p>
          <a:p xmlns:a="http://schemas.openxmlformats.org/drawingml/2006/main">
            <a:r>
              <a:t>- https://cagoooo.github.io/PhotoPoet/</a:t>
            </a:r>
          </a:p>
          <a:p xmlns:a="http://schemas.openxmlformats.org/drawingml/2006/main">
            <a:r>
              <a:t>- https://cagoooo.github.io/Akai/tool/58/</a:t>
            </a:r>
          </a:p>
          <a:p xmlns:a="http://schemas.openxmlformats.org/drawingml/2006/main">
            <a:r>
              <a:t>- https://cagoooo.github.io/prepare/</a:t>
            </a:r>
          </a:p>
          <a:p xmlns:a="http://schemas.openxmlformats.org/drawingml/2006/main">
            <a:r>
              <a:t>- https://cagoooo.github.io/Akai/tool/11/</a:t>
            </a:r>
          </a:p>
          <a:p xmlns:a="http://schemas.openxmlformats.org/drawingml/2006/main">
            <a:r>
              <a:t>- https://cagoooo.github.io/Akailao/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三個案例分別用於形成性回饋、Google Sites 與 GitHub Pages 部署比較。提醒參與者同時觀察內容架構、權限、維護方式與手機操作。本次資料依據 H:\Akai v3.6.109 稽核。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https://cagoooo.github.io/Akai/tool/3/</a:t>
            </a:r>
          </a:p>
          <a:p xmlns:a="http://schemas.openxmlformats.org/drawingml/2006/main">
            <a:r>
              <a:t>- https://cagoooo.github.io/vote/</a:t>
            </a:r>
          </a:p>
          <a:p xmlns:a="http://schemas.openxmlformats.org/drawingml/2006/main">
            <a:r>
              <a:t>- https://cagoooo.github.io/Akai/tool/24/</a:t>
            </a:r>
          </a:p>
          <a:p xmlns:a="http://schemas.openxmlformats.org/drawingml/2006/main">
            <a:r>
              <a:t>- https://sites.google.com/mail2.smes.tyc.edu.tw/114teacher/</a:t>
            </a:r>
          </a:p>
          <a:p xmlns:a="http://schemas.openxmlformats.org/drawingml/2006/main">
            <a:r>
              <a:t>- https://cagoooo.github.io/Akai/tool/81/</a:t>
            </a:r>
          </a:p>
          <a:p xmlns:a="http://schemas.openxmlformats.org/drawingml/2006/main">
            <a:r>
              <a:t>- https://cagoooo.github.io/it-cockpit/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強調工具選擇不是競賽。Notebook 負責來源，Gem 負責穩定行為，Canvas 負責可操作介面，部署平台負責觸及使用者。這條產線同時適用於教學設計與研究整理。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章節轉場。請參與者準備三份與自己課程最相關的資料。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示範同一個問題在一般聊天與來源型筆記本的差異。重點不是『一定正確』，而是『更容易追查與修正』。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要求每組先用少量高品質來源建立第一版。來源太多會讓提問與檢核難度提高，熟悉後再擴增。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示範時刻意問一個來源中沒有答案的問題，讓大家看見系統的邊界。再改寫問題，使它更具體。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https://support.google.com/gemininotebook/answer/16206563?hl=zh-Hant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逐組巡視，優先協助來源格式與權限。提醒參與者不要上傳含學生個資、未授權教材或敏感研究資料。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現場請每組依序跑三層提問，感受『問題層級』如何改變輸出。若回答無法回到來源，先修問題，不急著追求華麗文字。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請參與者只選一個成品完成，不要同時生成全部。完成後用『內容依據、學生可用、教師可改』三項快速評估。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https://support.google.com/gemininotebook/answer/16164461?hl=zh-Hant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讓每組口頭報告一個『回答得好』與一個『來源不足』的例子。這一步建立查證習慣。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轉場：Notebook 管來源，Gem 管行為。兩者可以搭配，但不要混為同一功能。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用同一份學生作業或教案，分別在一般對話與 Gem 中測試。比較輸出的穩定度與是否遵守格式。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請大家先寫四格，再貼進 Gem。Google 官方建議的四個思考面向是角色、任務、背景資訊與格式。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可以直接用此範例建立 Gem，再把『課程與研究設計教練』換成自己的專業角色。提醒右側預覽不等於已儲存，完成後要按儲存。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https://support.google.com/gemini/answer/15235603?hl=zh-Hant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巡視時不要只看正常結果。請測：未提供學生程度、要求捏造引用、要求直接替學生完成作業。觀察 Gem 是否遵守邊界。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如果四項只符合一項，先保留成提示詞，不急著做 Gem。可重複與可維護，才是專屬助理的價值。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轉場：現在把前面整理好的內容與教學方法，變成學生能操作的作品。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請參與者把 Notebook 產出的教學內容放入公式，但不要一次塞入所有需求。先完成最小可用版本，再迭代。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Canvas 可建立或編輯文件、應用、簡報與程式；程式作品可檢查程式碼、主控台與近期變更。示範時故意製造一個小問題，再用主控台追查。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https://support.google.com/gemini/answer/16047321?hl=en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建議題型：概念分類器、案例決策樹、課程閱讀導覽、形成性自評。避免一開始就做登入、資料庫或複雜多人功能。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安排同儕交換裝置測試。任何含真實學生或研究資料的作品，今天只做本機或私人分享版本。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讓參與者依維護者與作品型態選擇。若今天只是分享 Canvas 連結，也算完成；EZPage 是降低第一次部署門檻的第三方入口，不是 GitHub 官方工具。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Google 官方流程是建立、加入內容、預覽並發布。現場請優先完成一頁式課程入口：目標、使用說明、作品連結、回饋入口。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https://support.google.com/sites/answer/6372878?hl=zh-Hant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示範最簡單的 Deploy from a branch。提醒發布可能需要數分鐘；完成不是看到綠勾，而是實際打開公開網址走完主要流程。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https://docs.github.com/en/pages/quickstart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EZPage 是第三方圖形化入口，不是 GitHub 官方工具。先確認 ZIP 根目錄有 index.html；不要上傳學生個資、研究原始資料或未授權素材。登入授權前檢查權限範圍與儲存庫可見性；部署後仍要打開公開網址驗證。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每組 90 秒，其他人只回饋兩句：『最有教學價值的是……』『下一版我建議……』。把技術評論留到午後 Agent 升級。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請參與者先把資源頁加入書籤，再用手機拍下最後一句。若現場時間不足，部署與 Skill 擴寫可依此清單回家續作。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../START_HERE_研習資源導航.html</a:t>
            </a:r>
          </a:p>
          <a:p xmlns:a="http://schemas.openxmlformats.org/drawingml/2006/main">
            <a:r>
              <a:t>- https://notebook.google.com/</a:t>
            </a:r>
          </a:p>
          <a:p xmlns:a="http://schemas.openxmlformats.org/drawingml/2006/main">
            <a:r>
              <a:t>- https://gemini.google.com/gems/create</a:t>
            </a:r>
          </a:p>
          <a:p xmlns:a="http://schemas.openxmlformats.org/drawingml/2006/main">
            <a:r>
              <a:t>- https://gemini.google.com/app</a:t>
            </a:r>
          </a:p>
          <a:p xmlns:a="http://schemas.openxmlformats.org/drawingml/2006/main">
            <a:r>
              <a:t>- https://sites.google.com/new</a:t>
            </a:r>
          </a:p>
          <a:p xmlns:a="http://schemas.openxmlformats.org/drawingml/2006/main">
            <a:r>
              <a:t>- https://pages.github.com/</a:t>
            </a:r>
          </a:p>
          <a:p xmlns:a="http://schemas.openxmlformats.org/drawingml/2006/main">
            <a:r>
              <a:t>- https://gg90052.github.io/ezpage/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e6b182d057e4742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a4fde7a922e4faa" /><Relationship Type="http://schemas.openxmlformats.org/officeDocument/2006/relationships/slideLayout" Target="/ppt/slideLayouts/slideLayout1.xml" Id="R51ca510add4343b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1ca510add4343b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e2cdd18f1145d9" /><Relationship Type="http://schemas.openxmlformats.org/officeDocument/2006/relationships/image" Target="/ppt/media/image.png" Id="R49868f0a46124479" /><Relationship Type="http://schemas.openxmlformats.org/officeDocument/2006/relationships/notesSlide" Target="/ppt/notesSlides/notesSlide1.xml" Id="Rdf30b2c289184cd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1da22238c4a434e" /><Relationship Type="http://schemas.openxmlformats.org/officeDocument/2006/relationships/notesSlide" Target="/ppt/notesSlides/notesSlide2.xml" Id="Rc88029870bc04a4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6227de4abf8496f" /><Relationship Type="http://schemas.openxmlformats.org/officeDocument/2006/relationships/notesSlide" Target="/ppt/notesSlides/notesSlide3.xml" Id="R6e41dbf426b9468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5f9847eab240b4" /><Relationship Type="http://schemas.openxmlformats.org/officeDocument/2006/relationships/notesSlide" Target="/ppt/notesSlides/notesSlide4.xml" Id="Rf85a7fbcb569495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bf37d3127b403d" /><Relationship Type="http://schemas.openxmlformats.org/officeDocument/2006/relationships/notesSlide" Target="/ppt/notesSlides/notesSlide5.xml" Id="R3cdc1443216a447e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0dbc35d0174b03" /><Relationship Type="http://schemas.openxmlformats.org/officeDocument/2006/relationships/notesSlide" Target="/ppt/notesSlides/notesSlide6.xml" Id="Rcce15ed7df80414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a1252191a945e0" /><Relationship Type="http://schemas.openxmlformats.org/officeDocument/2006/relationships/image" Target="/ppt/media/image2.png" Id="R48cafaa10d5b4111" /><Relationship Type="http://schemas.openxmlformats.org/officeDocument/2006/relationships/hyperlink" Target="https://cagoooo.github.io/Akai/" TargetMode="External" Id="R57eb4694d43a424f" /><Relationship Type="http://schemas.openxmlformats.org/officeDocument/2006/relationships/image" Target="/ppt/media/image3.png" Id="Rf528956bdd7f413c" /><Relationship Type="http://schemas.openxmlformats.org/officeDocument/2006/relationships/notesSlide" Target="/ppt/notesSlides/notesSlide7.xml" Id="R29eba0349381407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6289cc81d44fb1" /><Relationship Type="http://schemas.openxmlformats.org/officeDocument/2006/relationships/hyperlink" Target="https://cagoooo.github.io/Akai/tool/91/" TargetMode="External" Id="Rd6e7686795eb4067" /><Relationship Type="http://schemas.openxmlformats.org/officeDocument/2006/relationships/image" Target="/ppt/media/image4.png" Id="Rf05fd3a8e42a4e40" /><Relationship Type="http://schemas.openxmlformats.org/officeDocument/2006/relationships/hyperlink" Target="https://cagoooo.github.io/PhotoPoet/" TargetMode="External" Id="Raccc817cf86344ef" /><Relationship Type="http://schemas.openxmlformats.org/officeDocument/2006/relationships/image" Target="/ppt/media/image5.png" Id="R81f1ac2f615a408a" /><Relationship Type="http://schemas.openxmlformats.org/officeDocument/2006/relationships/hyperlink" Target="https://cagoooo.github.io/Akai/tool/58/" TargetMode="External" Id="R4fbf392e2b714aef" /><Relationship Type="http://schemas.openxmlformats.org/officeDocument/2006/relationships/image" Target="/ppt/media/image6.png" Id="R4b4e09d398db46ba" /><Relationship Type="http://schemas.openxmlformats.org/officeDocument/2006/relationships/hyperlink" Target="https://cagoooo.github.io/prepare/" TargetMode="External" Id="R615c451c6f25442f" /><Relationship Type="http://schemas.openxmlformats.org/officeDocument/2006/relationships/image" Target="/ppt/media/image7.png" Id="R5fdab86c17ed4f6f" /><Relationship Type="http://schemas.openxmlformats.org/officeDocument/2006/relationships/hyperlink" Target="https://cagoooo.github.io/Akai/tool/11/" TargetMode="External" Id="Rbe79843f98a044e4" /><Relationship Type="http://schemas.openxmlformats.org/officeDocument/2006/relationships/image" Target="/ppt/media/image8.png" Id="R1d1ba2396e11467f" /><Relationship Type="http://schemas.openxmlformats.org/officeDocument/2006/relationships/hyperlink" Target="https://cagoooo.github.io/Akailao/" TargetMode="External" Id="Rc0970d5c333b4ec5" /><Relationship Type="http://schemas.openxmlformats.org/officeDocument/2006/relationships/image" Target="/ppt/media/image9.png" Id="R037e652b26114de0" /><Relationship Type="http://schemas.openxmlformats.org/officeDocument/2006/relationships/notesSlide" Target="/ppt/notesSlides/notesSlide8.xml" Id="R20ec3feca94b4ca9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225572a168b47ed" /><Relationship Type="http://schemas.openxmlformats.org/officeDocument/2006/relationships/hyperlink" Target="https://cagoooo.github.io/Akai/tool/3/" TargetMode="External" Id="R297fb8fc5cc34a5e" /><Relationship Type="http://schemas.openxmlformats.org/officeDocument/2006/relationships/image" Target="/ppt/media/image10.png" Id="Rae8705cb2ed74fce" /><Relationship Type="http://schemas.openxmlformats.org/officeDocument/2006/relationships/hyperlink" Target="https://cagoooo.github.io/vote/" TargetMode="External" Id="Rd3829fee18b445d3" /><Relationship Type="http://schemas.openxmlformats.org/officeDocument/2006/relationships/image" Target="/ppt/media/image11.png" Id="Rb9c9ee502dfe41bc" /><Relationship Type="http://schemas.openxmlformats.org/officeDocument/2006/relationships/hyperlink" Target="https://cagoooo.github.io/Akai/tool/24/" TargetMode="External" Id="Rb3f429daa28b4378" /><Relationship Type="http://schemas.openxmlformats.org/officeDocument/2006/relationships/image" Target="/ppt/media/image12.png" Id="R9165d8f56ab34fa1" /><Relationship Type="http://schemas.openxmlformats.org/officeDocument/2006/relationships/hyperlink" Target="https://sites.google.com/mail2.smes.tyc.edu.tw/114teacher/" TargetMode="External" Id="R8b1c8c3e86234040" /><Relationship Type="http://schemas.openxmlformats.org/officeDocument/2006/relationships/image" Target="/ppt/media/image13.png" Id="Raf78a148479a44dd" /><Relationship Type="http://schemas.openxmlformats.org/officeDocument/2006/relationships/hyperlink" Target="https://cagoooo.github.io/Akai/tool/81/" TargetMode="External" Id="R5397017251d84263" /><Relationship Type="http://schemas.openxmlformats.org/officeDocument/2006/relationships/image" Target="/ppt/media/image14.png" Id="R76d72447f6ab41e3" /><Relationship Type="http://schemas.openxmlformats.org/officeDocument/2006/relationships/hyperlink" Target="https://cagoooo.github.io/it-cockpit/" TargetMode="External" Id="Rd9ecb74ddd5d4960" /><Relationship Type="http://schemas.openxmlformats.org/officeDocument/2006/relationships/image" Target="/ppt/media/image15.png" Id="R2a60cc92204e4422" /><Relationship Type="http://schemas.openxmlformats.org/officeDocument/2006/relationships/notesSlide" Target="/ppt/notesSlides/notesSlide9.xml" Id="Raf81453277f8401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5ddae14d6f43e5" /><Relationship Type="http://schemas.openxmlformats.org/officeDocument/2006/relationships/notesSlide" Target="/ppt/notesSlides/notesSlide10.xml" Id="R5961b8bb3afa498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db53a8a7624872" /><Relationship Type="http://schemas.openxmlformats.org/officeDocument/2006/relationships/hyperlink" Target="https://notebook.google.com/" TargetMode="External" Id="R60607a05ab384264" /><Relationship Type="http://schemas.openxmlformats.org/officeDocument/2006/relationships/image" Target="/ppt/media/image16.png" Id="R362f020eeb1544ac" /><Relationship Type="http://schemas.openxmlformats.org/officeDocument/2006/relationships/notesSlide" Target="/ppt/notesSlides/notesSlide11.xml" Id="Raf9f842b615f430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35eeff5efb4dbc" /><Relationship Type="http://schemas.openxmlformats.org/officeDocument/2006/relationships/hyperlink" Target="https://notebook.google.com/" TargetMode="External" Id="R1fa830890c454990" /><Relationship Type="http://schemas.openxmlformats.org/officeDocument/2006/relationships/image" Target="/ppt/media/image17.png" Id="Rf129ede331244fdc" /><Relationship Type="http://schemas.openxmlformats.org/officeDocument/2006/relationships/notesSlide" Target="/ppt/notesSlides/notesSlide12.xml" Id="Rc0b575ffbe7b4e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d4696609d3f41a6" /><Relationship Type="http://schemas.openxmlformats.org/officeDocument/2006/relationships/hyperlink" Target="https://notebook.google.com/" TargetMode="External" Id="R9112e74678f44bdb" /><Relationship Type="http://schemas.openxmlformats.org/officeDocument/2006/relationships/image" Target="/ppt/media/image18.png" Id="R53590cf5a3d643a4" /><Relationship Type="http://schemas.openxmlformats.org/officeDocument/2006/relationships/notesSlide" Target="/ppt/notesSlides/notesSlide13.xml" Id="R6c9bba46c9a3424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dd483eddec4413" /><Relationship Type="http://schemas.openxmlformats.org/officeDocument/2006/relationships/hyperlink" Target="https://notebook.google.com/" TargetMode="External" Id="Rea5781ce5aa24cad" /><Relationship Type="http://schemas.openxmlformats.org/officeDocument/2006/relationships/image" Target="/ppt/media/image19.png" Id="R4e0c262d689d44a3" /><Relationship Type="http://schemas.openxmlformats.org/officeDocument/2006/relationships/notesSlide" Target="/ppt/notesSlides/notesSlide14.xml" Id="R6d05916463c24cb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c8cf0fff5de4df2" /><Relationship Type="http://schemas.openxmlformats.org/officeDocument/2006/relationships/hyperlink" Target="https://notebook.google.com/" TargetMode="External" Id="R0e488defa0b94bfa" /><Relationship Type="http://schemas.openxmlformats.org/officeDocument/2006/relationships/image" Target="/ppt/media/image20.png" Id="R3c7f32f564af4565" /><Relationship Type="http://schemas.openxmlformats.org/officeDocument/2006/relationships/notesSlide" Target="/ppt/notesSlides/notesSlide15.xml" Id="R93f5d9f4c0014f1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eacad37a3664e2d" /><Relationship Type="http://schemas.openxmlformats.org/officeDocument/2006/relationships/hyperlink" Target="https://notebook.google.com/" TargetMode="External" Id="Rec7ef70e197542da" /><Relationship Type="http://schemas.openxmlformats.org/officeDocument/2006/relationships/image" Target="/ppt/media/image21.png" Id="R07615624edb445fc" /><Relationship Type="http://schemas.openxmlformats.org/officeDocument/2006/relationships/notesSlide" Target="/ppt/notesSlides/notesSlide16.xml" Id="Re52cedb3830f43a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16505778c94bfb" /><Relationship Type="http://schemas.openxmlformats.org/officeDocument/2006/relationships/hyperlink" Target="https://notebook.google.com/" TargetMode="External" Id="Rcc459e91856d4bc2" /><Relationship Type="http://schemas.openxmlformats.org/officeDocument/2006/relationships/image" Target="/ppt/media/image22.png" Id="R9b2e9750dd934897" /><Relationship Type="http://schemas.openxmlformats.org/officeDocument/2006/relationships/notesSlide" Target="/ppt/notesSlides/notesSlide17.xml" Id="Ra205bc7b548544ff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73fbebd21f4864" /><Relationship Type="http://schemas.openxmlformats.org/officeDocument/2006/relationships/hyperlink" Target="https://notebook.google.com/" TargetMode="External" Id="Ra1df3d2527814519" /><Relationship Type="http://schemas.openxmlformats.org/officeDocument/2006/relationships/image" Target="/ppt/media/image23.png" Id="Rf4a166102c88434d" /><Relationship Type="http://schemas.openxmlformats.org/officeDocument/2006/relationships/notesSlide" Target="/ppt/notesSlides/notesSlide18.xml" Id="R0232e2ab20e84a2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d044b48f9904d2a" /><Relationship Type="http://schemas.openxmlformats.org/officeDocument/2006/relationships/hyperlink" Target="https://gemini.google.com/gems/create" TargetMode="External" Id="Rb2dbd1c3b49d46e2" /><Relationship Type="http://schemas.openxmlformats.org/officeDocument/2006/relationships/image" Target="/ppt/media/image24.png" Id="R12217fca1e284b04" /><Relationship Type="http://schemas.openxmlformats.org/officeDocument/2006/relationships/notesSlide" Target="/ppt/notesSlides/notesSlide19.xml" Id="R842a3365735d4c1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e1adfe1164cc6" /><Relationship Type="http://schemas.openxmlformats.org/officeDocument/2006/relationships/hyperlink" Target="https://gemini.google.com/gems/create" TargetMode="External" Id="R57fd2a954e4546e6" /><Relationship Type="http://schemas.openxmlformats.org/officeDocument/2006/relationships/image" Target="/ppt/media/image25.png" Id="R8f2681380713427c" /><Relationship Type="http://schemas.openxmlformats.org/officeDocument/2006/relationships/notesSlide" Target="/ppt/notesSlides/notesSlide20.xml" Id="Rff4cd2332b634b39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5325604b524ab9" /><Relationship Type="http://schemas.openxmlformats.org/officeDocument/2006/relationships/hyperlink" Target="https://gemini.google.com/gems/create" TargetMode="External" Id="R9d85b9d04e7e485c" /><Relationship Type="http://schemas.openxmlformats.org/officeDocument/2006/relationships/image" Target="/ppt/media/image26.png" Id="Rd194cd2567b54d7a" /><Relationship Type="http://schemas.openxmlformats.org/officeDocument/2006/relationships/notesSlide" Target="/ppt/notesSlides/notesSlide21.xml" Id="R6e66b23e78fe49c9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562b168eb1247eb" /><Relationship Type="http://schemas.openxmlformats.org/officeDocument/2006/relationships/hyperlink" Target="https://gemini.google.com/gems/create" TargetMode="External" Id="R313ff20225174c9f" /><Relationship Type="http://schemas.openxmlformats.org/officeDocument/2006/relationships/image" Target="/ppt/media/image27.png" Id="R0a129cec69a24a0e" /><Relationship Type="http://schemas.openxmlformats.org/officeDocument/2006/relationships/notesSlide" Target="/ppt/notesSlides/notesSlide22.xml" Id="Re97346dfb37b4c5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c6b65be5704ba5" /><Relationship Type="http://schemas.openxmlformats.org/officeDocument/2006/relationships/hyperlink" Target="https://gemini.google.com/gems/create" TargetMode="External" Id="R06f36d4463bb4e42" /><Relationship Type="http://schemas.openxmlformats.org/officeDocument/2006/relationships/image" Target="/ppt/media/image28.png" Id="R5dd4c24af8be4c61" /><Relationship Type="http://schemas.openxmlformats.org/officeDocument/2006/relationships/notesSlide" Target="/ppt/notesSlides/notesSlide23.xml" Id="R76dc907c593949df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6f7a32883e4b29" /><Relationship Type="http://schemas.openxmlformats.org/officeDocument/2006/relationships/hyperlink" Target="https://gemini.google.com/gems/create" TargetMode="External" Id="Rcbb77ac2169345e2" /><Relationship Type="http://schemas.openxmlformats.org/officeDocument/2006/relationships/image" Target="/ppt/media/image29.png" Id="R275d9a765bd94fb5" /><Relationship Type="http://schemas.openxmlformats.org/officeDocument/2006/relationships/notesSlide" Target="/ppt/notesSlides/notesSlide24.xml" Id="R3453dcabe4ac410a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92d9c0174941ac" /><Relationship Type="http://schemas.openxmlformats.org/officeDocument/2006/relationships/hyperlink" Target="https://gemini.google.com/app" TargetMode="External" Id="R0e75ca0bf14a4489" /><Relationship Type="http://schemas.openxmlformats.org/officeDocument/2006/relationships/image" Target="/ppt/media/image30.png" Id="Rff99f20a3e3a4453" /><Relationship Type="http://schemas.openxmlformats.org/officeDocument/2006/relationships/notesSlide" Target="/ppt/notesSlides/notesSlide25.xml" Id="Rd116426fe89c4f8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7055e8c9a4139" /><Relationship Type="http://schemas.openxmlformats.org/officeDocument/2006/relationships/hyperlink" Target="https://gemini.google.com/app" TargetMode="External" Id="R4866e4edd2a04226" /><Relationship Type="http://schemas.openxmlformats.org/officeDocument/2006/relationships/image" Target="/ppt/media/image31.png" Id="R270d303a4097434b" /><Relationship Type="http://schemas.openxmlformats.org/officeDocument/2006/relationships/notesSlide" Target="/ppt/notesSlides/notesSlide26.xml" Id="R2c5513c234a04add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57cb31ebc0945a1" /><Relationship Type="http://schemas.openxmlformats.org/officeDocument/2006/relationships/hyperlink" Target="https://gemini.google.com/app" TargetMode="External" Id="R210e11ef5b1b40c6" /><Relationship Type="http://schemas.openxmlformats.org/officeDocument/2006/relationships/image" Target="/ppt/media/image32.png" Id="Rf70fe02106844fb8" /><Relationship Type="http://schemas.openxmlformats.org/officeDocument/2006/relationships/notesSlide" Target="/ppt/notesSlides/notesSlide27.xml" Id="Rb875ab017027451f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c8fcbcd45b4f90" /><Relationship Type="http://schemas.openxmlformats.org/officeDocument/2006/relationships/hyperlink" Target="https://gemini.google.com/app" TargetMode="External" Id="Rf217b75b8c5c4eef" /><Relationship Type="http://schemas.openxmlformats.org/officeDocument/2006/relationships/image" Target="/ppt/media/image33.png" Id="Re51e8f8e08b240fa" /><Relationship Type="http://schemas.openxmlformats.org/officeDocument/2006/relationships/notesSlide" Target="/ppt/notesSlides/notesSlide28.xml" Id="R9db17d802bea4d96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e143acaf964294" /><Relationship Type="http://schemas.openxmlformats.org/officeDocument/2006/relationships/hyperlink" Target="https://gemini.google.com/app" TargetMode="External" Id="R5b3575230fa5434b" /><Relationship Type="http://schemas.openxmlformats.org/officeDocument/2006/relationships/image" Target="/ppt/media/image34.png" Id="R7a05b73407604885" /><Relationship Type="http://schemas.openxmlformats.org/officeDocument/2006/relationships/notesSlide" Target="/ppt/notesSlides/notesSlide29.xml" Id="R9915b1e7fa754436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dabcd2e1d3d482e" /><Relationship Type="http://schemas.openxmlformats.org/officeDocument/2006/relationships/hyperlink" Target="https://sites.google.com/new" TargetMode="External" Id="R3a1a2d92ee7c48e2" /><Relationship Type="http://schemas.openxmlformats.org/officeDocument/2006/relationships/hyperlink" Target="https://pages.github.com/" TargetMode="External" Id="R0c058d0aff8e41f0" /><Relationship Type="http://schemas.openxmlformats.org/officeDocument/2006/relationships/hyperlink" Target="https://gg90052.github.io/ezpage/" TargetMode="External" Id="Rc920b1caa5c84bf8" /><Relationship Type="http://schemas.openxmlformats.org/officeDocument/2006/relationships/image" Target="/ppt/media/image35.png" Id="R8d5c6bd4dcbc42c0" /><Relationship Type="http://schemas.openxmlformats.org/officeDocument/2006/relationships/image" Target="/ppt/media/image36.png" Id="R5c9bd2c6bf1c4875" /><Relationship Type="http://schemas.openxmlformats.org/officeDocument/2006/relationships/image" Target="/ppt/media/image37.png" Id="R65bed40f280b4b8e" /><Relationship Type="http://schemas.openxmlformats.org/officeDocument/2006/relationships/notesSlide" Target="/ppt/notesSlides/notesSlide30.xml" Id="R18dd03e3f1fb4230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08ff1c407a4e6a" /><Relationship Type="http://schemas.openxmlformats.org/officeDocument/2006/relationships/hyperlink" Target="https://sites.google.com/new" TargetMode="External" Id="R97208b785cbe4f57" /><Relationship Type="http://schemas.openxmlformats.org/officeDocument/2006/relationships/image" Target="/ppt/media/image38.png" Id="Rb7c46b085b2245b8" /><Relationship Type="http://schemas.openxmlformats.org/officeDocument/2006/relationships/notesSlide" Target="/ppt/notesSlides/notesSlide31.xml" Id="R46c39b3eb4144c83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e5e7af5b954aa8" /><Relationship Type="http://schemas.openxmlformats.org/officeDocument/2006/relationships/hyperlink" Target="https://pages.github.com/" TargetMode="External" Id="R8581aadd182f4f81" /><Relationship Type="http://schemas.openxmlformats.org/officeDocument/2006/relationships/image" Target="/ppt/media/image39.png" Id="R54561fdd798d47f9" /><Relationship Type="http://schemas.openxmlformats.org/officeDocument/2006/relationships/notesSlide" Target="/ppt/notesSlides/notesSlide32.xml" Id="Ra6cb29c45a1d436d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2646aaaf4e45ac" /><Relationship Type="http://schemas.openxmlformats.org/officeDocument/2006/relationships/hyperlink" Target="https://gg90052.github.io/ezpage/" TargetMode="External" Id="Recd7d48a77964cc6" /><Relationship Type="http://schemas.openxmlformats.org/officeDocument/2006/relationships/image" Target="/ppt/media/image40.png" Id="R86aa94fd111b4067" /><Relationship Type="http://schemas.openxmlformats.org/officeDocument/2006/relationships/notesSlide" Target="/ppt/notesSlides/notesSlide33.xml" Id="Rf9ecd5028539451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09d1584fb144654" /><Relationship Type="http://schemas.openxmlformats.org/officeDocument/2006/relationships/hyperlink" Target="https://sites.google.com/new" TargetMode="External" Id="Rdde74fc0962049fa" /><Relationship Type="http://schemas.openxmlformats.org/officeDocument/2006/relationships/hyperlink" Target="https://pages.github.com/" TargetMode="External" Id="R9fc7479096c249ff" /><Relationship Type="http://schemas.openxmlformats.org/officeDocument/2006/relationships/hyperlink" Target="https://gg90052.github.io/ezpage/" TargetMode="External" Id="R80c7a5cbcb8240dc" /><Relationship Type="http://schemas.openxmlformats.org/officeDocument/2006/relationships/image" Target="/ppt/media/image41.png" Id="Rf960d90440f740d8" /><Relationship Type="http://schemas.openxmlformats.org/officeDocument/2006/relationships/image" Target="/ppt/media/image42.png" Id="R2b0f1e2942a845d0" /><Relationship Type="http://schemas.openxmlformats.org/officeDocument/2006/relationships/image" Target="/ppt/media/image43.png" Id="Rd547a071b5534320" /><Relationship Type="http://schemas.openxmlformats.org/officeDocument/2006/relationships/notesSlide" Target="/ppt/notesSlides/notesSlide34.xml" Id="R036608be05a943dc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7430f14647d4841" /><Relationship Type="http://schemas.openxmlformats.org/officeDocument/2006/relationships/hyperlink" Target="../START_HERE_&#30740;&#32722;&#36039;&#28304;&#23566;&#33322;.html" TargetMode="External" Id="Ra68517b6903b4877" /><Relationship Type="http://schemas.openxmlformats.org/officeDocument/2006/relationships/image" Target="/ppt/media/image44.png" Id="R6c8616b439124235" /><Relationship Type="http://schemas.openxmlformats.org/officeDocument/2006/relationships/hyperlink" Target="https://notebook.google.com/" TargetMode="External" Id="R114728554baa4e05" /><Relationship Type="http://schemas.openxmlformats.org/officeDocument/2006/relationships/image" Target="/ppt/media/image45.png" Id="Rc551326a659d40e6" /><Relationship Type="http://schemas.openxmlformats.org/officeDocument/2006/relationships/hyperlink" Target="https://gemini.google.com/gems/create" TargetMode="External" Id="Rdd8010f3beaa4a90" /><Relationship Type="http://schemas.openxmlformats.org/officeDocument/2006/relationships/image" Target="/ppt/media/image46.png" Id="R8843b3886700453c" /><Relationship Type="http://schemas.openxmlformats.org/officeDocument/2006/relationships/hyperlink" Target="https://gemini.google.com/app" TargetMode="External" Id="R54e3b49f642c4fe0" /><Relationship Type="http://schemas.openxmlformats.org/officeDocument/2006/relationships/image" Target="/ppt/media/image47.png" Id="R822e0901a6d04135" /><Relationship Type="http://schemas.openxmlformats.org/officeDocument/2006/relationships/hyperlink" Target="https://sites.google.com/new" TargetMode="External" Id="R34d0bfe68f3f48b8" /><Relationship Type="http://schemas.openxmlformats.org/officeDocument/2006/relationships/image" Target="/ppt/media/image48.png" Id="R8788039ba832436c" /><Relationship Type="http://schemas.openxmlformats.org/officeDocument/2006/relationships/hyperlink" Target="https://pages.github.com/" TargetMode="External" Id="Re4f810184a294a10" /><Relationship Type="http://schemas.openxmlformats.org/officeDocument/2006/relationships/image" Target="/ppt/media/image49.png" Id="Rffeca6419a7c442a" /><Relationship Type="http://schemas.openxmlformats.org/officeDocument/2006/relationships/hyperlink" Target="https://gg90052.github.io/ezpage/" TargetMode="External" Id="R22da37772a1e451e" /><Relationship Type="http://schemas.openxmlformats.org/officeDocument/2006/relationships/image" Target="/ppt/media/image50.png" Id="R333aeed8a39548a8" /><Relationship Type="http://schemas.openxmlformats.org/officeDocument/2006/relationships/notesSlide" Target="/ppt/notesSlides/notesSlide35.xml" Id="R2875fa65467b4f6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9868f0a46124479"/>
          <a:srcRect xmlns:a="http://schemas.openxmlformats.org/drawingml/2006/main" l="0" t="27" r="0" b="2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0" y="0"/>
            <a:ext cx="1219200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shape-1">
            <a:extLst xmlns:a="http://schemas.openxmlformats.org/drawingml/2006/main">
              <a:ext uri="{FF2B5EF4-FFF2-40B4-BE49-F238E27FC236}">
                <a16:creationId xmlns:a16="http://schemas.microsoft.com/office/drawing/2014/main" id="{29DA5447-1B9F-45B4-8636-DC3AC702A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62865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7F3E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" name="text-2">
            <a:extLst xmlns:a="http://schemas.openxmlformats.org/drawingml/2006/main">
              <a:ext uri="{FF2B5EF4-FFF2-40B4-BE49-F238E27FC236}">
                <a16:creationId xmlns:a16="http://schemas.microsoft.com/office/drawing/2014/main" id="{A7B774B6-12D2-4130-B2BE-2EFEF9310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14350"/>
            <a:ext cx="457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國立中央大學｜2026.08.26</a:t>
            </a:r>
          </a:p>
        </p:txBody>
      </p:sp>
      <p:sp>
        <p:nvSpPr>
          <p:cNvPr id="4" name="text-3">
            <a:extLst xmlns:a="http://schemas.openxmlformats.org/drawingml/2006/main">
              <a:ext uri="{FF2B5EF4-FFF2-40B4-BE49-F238E27FC236}">
                <a16:creationId xmlns:a16="http://schemas.microsoft.com/office/drawing/2014/main" id="{088C1AE2-9F09-4242-BEBD-4F872DD14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00125"/>
            <a:ext cx="447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上午場｜09:00–12:00</a:t>
            </a:r>
          </a:p>
        </p:txBody>
      </p:sp>
      <p:sp>
        <p:nvSpPr>
          <p:cNvPr id="5" name="text-4">
            <a:extLst xmlns:a="http://schemas.openxmlformats.org/drawingml/2006/main">
              <a:ext uri="{FF2B5EF4-FFF2-40B4-BE49-F238E27FC236}">
                <a16:creationId xmlns:a16="http://schemas.microsoft.com/office/drawing/2014/main" id="{F415BF21-178C-41E1-BD56-143D9DE1E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504950"/>
            <a:ext cx="5295900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打造專屬 AI 教學與研究工作室：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Notebook、Gem、Canvas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與網站部署實作</a:t>
            </a:r>
          </a:p>
        </p:txBody>
      </p:sp>
      <p:sp>
        <p:nvSpPr>
          <p:cNvPr id="6" name="shape-5">
            <a:extLst xmlns:a="http://schemas.openxmlformats.org/drawingml/2006/main">
              <a:ext uri="{FF2B5EF4-FFF2-40B4-BE49-F238E27FC236}">
                <a16:creationId xmlns:a16="http://schemas.microsoft.com/office/drawing/2014/main" id="{122DDEC8-277B-4C0A-9F30-EB1C24216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305300"/>
            <a:ext cx="723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text-6">
            <a:extLst xmlns:a="http://schemas.openxmlformats.org/drawingml/2006/main">
              <a:ext uri="{FF2B5EF4-FFF2-40B4-BE49-F238E27FC236}">
                <a16:creationId xmlns:a16="http://schemas.microsoft.com/office/drawing/2014/main" id="{41D9498E-A645-42D8-9CE3-EF9FF32990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629150"/>
            <a:ext cx="52197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從 AI 教學與研究助理到 AI Agent：大學教師的生成式 AI 實作工作坊</a:t>
            </a:r>
          </a:p>
        </p:txBody>
      </p:sp>
      <p:sp>
        <p:nvSpPr>
          <p:cNvPr id="8" name="text-7">
            <a:extLst xmlns:a="http://schemas.openxmlformats.org/drawingml/2006/main">
              <a:ext uri="{FF2B5EF4-FFF2-40B4-BE49-F238E27FC236}">
                <a16:creationId xmlns:a16="http://schemas.microsoft.com/office/drawing/2014/main" id="{7685A013-F01E-431D-9B55-52C66D25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886450"/>
            <a:ext cx="4953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黃凱揚（阿凱老師）｜桃園市龍潭區石門國小資訊組長｜教學年資第 11 年</a:t>
            </a:r>
          </a:p>
        </p:txBody>
      </p:sp>
    </p:spTree>
    <p:extLst>
      <p:ext uri="{BB962C8B-B14F-4D97-AF65-F5344CB8AC3E}">
        <p14:creationId xmlns:p14="http://schemas.microsoft.com/office/powerpoint/2010/main" val="184971508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text-8">
            <a:extLst xmlns:a="http://schemas.openxmlformats.org/drawingml/2006/main">
              <a:ext uri="{FF2B5EF4-FFF2-40B4-BE49-F238E27FC236}">
                <a16:creationId xmlns:a16="http://schemas.microsoft.com/office/drawing/2014/main" id="{59D7857B-5C75-4242-89BB-2F8DFE4BA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FROM ASSISTANT TO AGENT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D6C7ECE-CDBB-4BAE-B867-C2DC41700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今天的學習弧線</a:t>
            </a:r>
          </a:p>
        </p:txBody>
      </p:sp>
      <p:cxnSp>
        <p:nvCxnSpPr>
          <p:cNvPr id="32" name="shape-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0">
            <a:extLst xmlns:a="http://schemas.openxmlformats.org/drawingml/2006/main">
              <a:ext uri="{FF2B5EF4-FFF2-40B4-BE49-F238E27FC236}">
                <a16:creationId xmlns:a16="http://schemas.microsoft.com/office/drawing/2014/main" id="{B38D157C-DB88-4ABC-A871-0383BB101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C76986B-A567-4E21-8713-F982DFBA5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6" name="shape-11">
            <a:extLst xmlns:a="http://schemas.openxmlformats.org/drawingml/2006/main">
              <a:ext uri="{FF2B5EF4-FFF2-40B4-BE49-F238E27FC236}">
                <a16:creationId xmlns:a16="http://schemas.microsoft.com/office/drawing/2014/main" id="{CC91F65D-5AAE-44DA-BF79-E6B61D14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2">
            <a:extLst xmlns:a="http://schemas.openxmlformats.org/drawingml/2006/main">
              <a:ext uri="{FF2B5EF4-FFF2-40B4-BE49-F238E27FC236}">
                <a16:creationId xmlns:a16="http://schemas.microsoft.com/office/drawing/2014/main" id="{57D91396-94B7-4BE8-BFDC-77DFE931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3">
            <a:extLst xmlns:a="http://schemas.openxmlformats.org/drawingml/2006/main">
              <a:ext uri="{FF2B5EF4-FFF2-40B4-BE49-F238E27FC236}">
                <a16:creationId xmlns:a16="http://schemas.microsoft.com/office/drawing/2014/main" id="{9B75E6BD-7D7A-4268-B9F0-FE39D5EFE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4">
            <a:extLst xmlns:a="http://schemas.openxmlformats.org/drawingml/2006/main">
              <a:ext uri="{FF2B5EF4-FFF2-40B4-BE49-F238E27FC236}">
                <a16:creationId xmlns:a16="http://schemas.microsoft.com/office/drawing/2014/main" id="{ECFD6157-5F44-4DBB-BCBB-0E56756E6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有根據</a:t>
            </a:r>
          </a:p>
        </p:txBody>
      </p:sp>
      <p:sp>
        <p:nvSpPr>
          <p:cNvPr id="10" name="text-15">
            <a:extLst xmlns:a="http://schemas.openxmlformats.org/drawingml/2006/main">
              <a:ext uri="{FF2B5EF4-FFF2-40B4-BE49-F238E27FC236}">
                <a16:creationId xmlns:a16="http://schemas.microsoft.com/office/drawing/2014/main" id="{82DF9336-5464-454D-8AB7-0F44EE0452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Gemini Notebook 整理可信來源</a:t>
            </a:r>
          </a:p>
        </p:txBody>
      </p:sp>
      <p:sp>
        <p:nvSpPr>
          <p:cNvPr id="11" name="text-16">
            <a:extLst xmlns:a="http://schemas.openxmlformats.org/drawingml/2006/main">
              <a:ext uri="{FF2B5EF4-FFF2-40B4-BE49-F238E27FC236}">
                <a16:creationId xmlns:a16="http://schemas.microsoft.com/office/drawing/2014/main" id="{64734800-6ED1-45D6-8B68-EDDF40384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">
            <a:extLst xmlns:a="http://schemas.openxmlformats.org/drawingml/2006/main">
              <a:ext uri="{FF2B5EF4-FFF2-40B4-BE49-F238E27FC236}">
                <a16:creationId xmlns:a16="http://schemas.microsoft.com/office/drawing/2014/main" id="{8314F6E5-1380-49DE-96A5-E2068958F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8">
            <a:extLst xmlns:a="http://schemas.openxmlformats.org/drawingml/2006/main">
              <a:ext uri="{FF2B5EF4-FFF2-40B4-BE49-F238E27FC236}">
                <a16:creationId xmlns:a16="http://schemas.microsoft.com/office/drawing/2014/main" id="{F3178892-AF36-4AF9-A7F8-C4B11FF52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9">
            <a:extLst xmlns:a="http://schemas.openxmlformats.org/drawingml/2006/main">
              <a:ext uri="{FF2B5EF4-FFF2-40B4-BE49-F238E27FC236}">
                <a16:creationId xmlns:a16="http://schemas.microsoft.com/office/drawing/2014/main" id="{D9850E52-A49A-4445-863A-09A00C88C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0">
            <a:extLst xmlns:a="http://schemas.openxmlformats.org/drawingml/2006/main">
              <a:ext uri="{FF2B5EF4-FFF2-40B4-BE49-F238E27FC236}">
                <a16:creationId xmlns:a16="http://schemas.microsoft.com/office/drawing/2014/main" id="{D36AF544-D5A5-4841-B34C-6B2BD0B09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有角色</a:t>
            </a:r>
          </a:p>
        </p:txBody>
      </p:sp>
      <p:sp>
        <p:nvSpPr>
          <p:cNvPr id="16" name="text-21">
            <a:extLst xmlns:a="http://schemas.openxmlformats.org/drawingml/2006/main">
              <a:ext uri="{FF2B5EF4-FFF2-40B4-BE49-F238E27FC236}">
                <a16:creationId xmlns:a16="http://schemas.microsoft.com/office/drawing/2014/main" id="{E9389EC4-4649-441F-8F40-F1FB1C2A2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Gem 固定教學方法與回覆格式</a:t>
            </a:r>
          </a:p>
        </p:txBody>
      </p:sp>
      <p:sp>
        <p:nvSpPr>
          <p:cNvPr id="17" name="text-22">
            <a:extLst xmlns:a="http://schemas.openxmlformats.org/drawingml/2006/main">
              <a:ext uri="{FF2B5EF4-FFF2-40B4-BE49-F238E27FC236}">
                <a16:creationId xmlns:a16="http://schemas.microsoft.com/office/drawing/2014/main" id="{A8811DD7-FB13-41A3-B222-EE79A9E56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3">
            <a:extLst xmlns:a="http://schemas.openxmlformats.org/drawingml/2006/main">
              <a:ext uri="{FF2B5EF4-FFF2-40B4-BE49-F238E27FC236}">
                <a16:creationId xmlns:a16="http://schemas.microsoft.com/office/drawing/2014/main" id="{ED96597F-DF8F-405F-9FF8-BC69DFB72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">
            <a:extLst xmlns:a="http://schemas.openxmlformats.org/drawingml/2006/main">
              <a:ext uri="{FF2B5EF4-FFF2-40B4-BE49-F238E27FC236}">
                <a16:creationId xmlns:a16="http://schemas.microsoft.com/office/drawing/2014/main" id="{8115538E-5791-431B-907E-5FDB983C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5">
            <a:extLst xmlns:a="http://schemas.openxmlformats.org/drawingml/2006/main">
              <a:ext uri="{FF2B5EF4-FFF2-40B4-BE49-F238E27FC236}">
                <a16:creationId xmlns:a16="http://schemas.microsoft.com/office/drawing/2014/main" id="{5BE32B8A-FE1C-4ABB-8A7B-AC49991A79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6">
            <a:extLst xmlns:a="http://schemas.openxmlformats.org/drawingml/2006/main">
              <a:ext uri="{FF2B5EF4-FFF2-40B4-BE49-F238E27FC236}">
                <a16:creationId xmlns:a16="http://schemas.microsoft.com/office/drawing/2014/main" id="{204C610D-06CB-4DB1-AF49-20C576A2A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有作品</a:t>
            </a:r>
          </a:p>
        </p:txBody>
      </p:sp>
      <p:sp>
        <p:nvSpPr>
          <p:cNvPr id="22" name="text-27">
            <a:extLst xmlns:a="http://schemas.openxmlformats.org/drawingml/2006/main">
              <a:ext uri="{FF2B5EF4-FFF2-40B4-BE49-F238E27FC236}">
                <a16:creationId xmlns:a16="http://schemas.microsoft.com/office/drawing/2014/main" id="{E495433E-40DA-4EC2-B888-6923169E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Canvas 做出互動教學原型</a:t>
            </a:r>
          </a:p>
        </p:txBody>
      </p:sp>
      <p:sp>
        <p:nvSpPr>
          <p:cNvPr id="23" name="text-28">
            <a:extLst xmlns:a="http://schemas.openxmlformats.org/drawingml/2006/main">
              <a:ext uri="{FF2B5EF4-FFF2-40B4-BE49-F238E27FC236}">
                <a16:creationId xmlns:a16="http://schemas.microsoft.com/office/drawing/2014/main" id="{7C7CBE14-8793-4862-8067-CBF597264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9">
            <a:extLst xmlns:a="http://schemas.openxmlformats.org/drawingml/2006/main">
              <a:ext uri="{FF2B5EF4-FFF2-40B4-BE49-F238E27FC236}">
                <a16:creationId xmlns:a16="http://schemas.microsoft.com/office/drawing/2014/main" id="{D45B271B-2D58-45A0-B4F2-8C22E6CB9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30">
            <a:extLst xmlns:a="http://schemas.openxmlformats.org/drawingml/2006/main">
              <a:ext uri="{FF2B5EF4-FFF2-40B4-BE49-F238E27FC236}">
                <a16:creationId xmlns:a16="http://schemas.microsoft.com/office/drawing/2014/main" id="{7DBE11D2-DCE3-4A57-935D-E3658CAF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31">
            <a:extLst xmlns:a="http://schemas.openxmlformats.org/drawingml/2006/main">
              <a:ext uri="{FF2B5EF4-FFF2-40B4-BE49-F238E27FC236}">
                <a16:creationId xmlns:a16="http://schemas.microsoft.com/office/drawing/2014/main" id="{01121EDD-B985-4F3E-A211-6DE4E788A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32">
            <a:extLst xmlns:a="http://schemas.openxmlformats.org/drawingml/2006/main">
              <a:ext uri="{FF2B5EF4-FFF2-40B4-BE49-F238E27FC236}">
                <a16:creationId xmlns:a16="http://schemas.microsoft.com/office/drawing/2014/main" id="{D48B914A-9BA2-4996-A1F9-32CCA599D3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能分享</a:t>
            </a:r>
          </a:p>
        </p:txBody>
      </p:sp>
      <p:sp>
        <p:nvSpPr>
          <p:cNvPr id="28" name="text-33">
            <a:extLst xmlns:a="http://schemas.openxmlformats.org/drawingml/2006/main">
              <a:ext uri="{FF2B5EF4-FFF2-40B4-BE49-F238E27FC236}">
                <a16:creationId xmlns:a16="http://schemas.microsoft.com/office/drawing/2014/main" id="{6204761A-E13D-48DE-8905-D1BE04CCF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Sites 或 Pages 發布成果</a:t>
            </a:r>
          </a:p>
        </p:txBody>
      </p:sp>
      <p:sp>
        <p:nvSpPr>
          <p:cNvPr id="29" name="text-34">
            <a:extLst xmlns:a="http://schemas.openxmlformats.org/drawingml/2006/main">
              <a:ext uri="{FF2B5EF4-FFF2-40B4-BE49-F238E27FC236}">
                <a16:creationId xmlns:a16="http://schemas.microsoft.com/office/drawing/2014/main" id="{C83A7E7C-AB8C-4512-92BB-ADB50A81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213475693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35">
            <a:extLst xmlns:a="http://schemas.openxmlformats.org/drawingml/2006/main">
              <a:ext uri="{FF2B5EF4-FFF2-40B4-BE49-F238E27FC236}">
                <a16:creationId xmlns:a16="http://schemas.microsoft.com/office/drawing/2014/main" id="{D299C645-8BE1-40BC-AFF3-38A12A52C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RUN OF SHOW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CBD4798-A224-40A0-8ED0-B88C60369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 180 分鐘：每一段都有作品</a:t>
            </a:r>
          </a:p>
        </p:txBody>
      </p:sp>
      <p:cxnSp>
        <p:nvCxnSpPr>
          <p:cNvPr id="33" name="shape-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">
            <a:extLst xmlns:a="http://schemas.openxmlformats.org/drawingml/2006/main">
              <a:ext uri="{FF2B5EF4-FFF2-40B4-BE49-F238E27FC236}">
                <a16:creationId xmlns:a16="http://schemas.microsoft.com/office/drawing/2014/main" id="{8C5D04AB-2CC6-401D-B707-E2DC75F59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8751756-3364-44FD-8406-ED77823FA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cxnSp>
        <p:nvCxnSpPr>
          <p:cNvPr id="36" name="shape-38"/>
          <p:cNvCxnSpPr/>
          <p:nvPr/>
        </p:nvCxnSpPr>
        <p:spPr>
          <a:xfrm xmlns:a="http://schemas.openxmlformats.org/drawingml/2006/main">
            <a:off x="876300" y="3143250"/>
            <a:ext cx="10401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shape-39">
            <a:extLst xmlns:a="http://schemas.openxmlformats.org/drawingml/2006/main">
              <a:ext uri="{FF2B5EF4-FFF2-40B4-BE49-F238E27FC236}">
                <a16:creationId xmlns:a16="http://schemas.microsoft.com/office/drawing/2014/main" id="{B404C562-E19E-4E95-ADD7-5B51B1B80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0">
            <a:extLst xmlns:a="http://schemas.openxmlformats.org/drawingml/2006/main">
              <a:ext uri="{FF2B5EF4-FFF2-40B4-BE49-F238E27FC236}">
                <a16:creationId xmlns:a16="http://schemas.microsoft.com/office/drawing/2014/main" id="{13A07562-2750-4E01-95D4-C444F7F72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00–15</a:t>
            </a:r>
          </a:p>
        </p:txBody>
      </p:sp>
      <p:sp>
        <p:nvSpPr>
          <p:cNvPr id="9" name="text-41">
            <a:extLst xmlns:a="http://schemas.openxmlformats.org/drawingml/2006/main">
              <a:ext uri="{FF2B5EF4-FFF2-40B4-BE49-F238E27FC236}">
                <a16:creationId xmlns:a16="http://schemas.microsoft.com/office/drawing/2014/main" id="{D28EB7E2-2459-4D8F-9C7F-7F8542A71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定題</a:t>
            </a:r>
          </a:p>
        </p:txBody>
      </p:sp>
      <p:sp>
        <p:nvSpPr>
          <p:cNvPr id="10" name="text-42">
            <a:extLst xmlns:a="http://schemas.openxmlformats.org/drawingml/2006/main">
              <a:ext uri="{FF2B5EF4-FFF2-40B4-BE49-F238E27FC236}">
                <a16:creationId xmlns:a16="http://schemas.microsoft.com/office/drawing/2014/main" id="{BD891748-B072-44A5-824A-99383B1F1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-381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選一門課／一個問題</a:t>
            </a:r>
          </a:p>
        </p:txBody>
      </p:sp>
      <p:sp>
        <p:nvSpPr>
          <p:cNvPr id="11" name="shape-43">
            <a:extLst xmlns:a="http://schemas.openxmlformats.org/drawingml/2006/main">
              <a:ext uri="{FF2B5EF4-FFF2-40B4-BE49-F238E27FC236}">
                <a16:creationId xmlns:a16="http://schemas.microsoft.com/office/drawing/2014/main" id="{4336101B-224B-4AE2-9DB0-C606F271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321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text-44">
            <a:extLst xmlns:a="http://schemas.openxmlformats.org/drawingml/2006/main">
              <a:ext uri="{FF2B5EF4-FFF2-40B4-BE49-F238E27FC236}">
                <a16:creationId xmlns:a16="http://schemas.microsoft.com/office/drawing/2014/main" id="{B4D2CBB4-23EF-4186-85B9-953FC585E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076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15–55</a:t>
            </a:r>
          </a:p>
        </p:txBody>
      </p:sp>
      <p:sp>
        <p:nvSpPr>
          <p:cNvPr id="13" name="text-45">
            <a:extLst xmlns:a="http://schemas.openxmlformats.org/drawingml/2006/main">
              <a:ext uri="{FF2B5EF4-FFF2-40B4-BE49-F238E27FC236}">
                <a16:creationId xmlns:a16="http://schemas.microsoft.com/office/drawing/2014/main" id="{DBDBD4F8-7B30-4F2C-8437-411B6E98EB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4" name="text-46">
            <a:extLst xmlns:a="http://schemas.openxmlformats.org/drawingml/2006/main">
              <a:ext uri="{FF2B5EF4-FFF2-40B4-BE49-F238E27FC236}">
                <a16:creationId xmlns:a16="http://schemas.microsoft.com/office/drawing/2014/main" id="{5500F05C-D38C-41A4-BA48-0D91C18E6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216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來源與引用</a:t>
            </a:r>
          </a:p>
        </p:txBody>
      </p:sp>
      <p:sp>
        <p:nvSpPr>
          <p:cNvPr id="15" name="shape-47">
            <a:extLst xmlns:a="http://schemas.openxmlformats.org/drawingml/2006/main">
              <a:ext uri="{FF2B5EF4-FFF2-40B4-BE49-F238E27FC236}">
                <a16:creationId xmlns:a16="http://schemas.microsoft.com/office/drawing/2014/main" id="{5DD1B0D8-2FB2-4687-B516-28B980825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347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text-48">
            <a:extLst xmlns:a="http://schemas.openxmlformats.org/drawingml/2006/main">
              <a:ext uri="{FF2B5EF4-FFF2-40B4-BE49-F238E27FC236}">
                <a16:creationId xmlns:a16="http://schemas.microsoft.com/office/drawing/2014/main" id="{ADDB5E74-43A7-4908-A602-27D17D2B7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5102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55–80</a:t>
            </a:r>
          </a:p>
        </p:txBody>
      </p:sp>
      <p:sp>
        <p:nvSpPr>
          <p:cNvPr id="17" name="text-49">
            <a:extLst xmlns:a="http://schemas.openxmlformats.org/drawingml/2006/main">
              <a:ext uri="{FF2B5EF4-FFF2-40B4-BE49-F238E27FC236}">
                <a16:creationId xmlns:a16="http://schemas.microsoft.com/office/drawing/2014/main" id="{4872B8F6-E99F-41C8-9EF7-86288D84D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18" name="text-50">
            <a:extLst xmlns:a="http://schemas.openxmlformats.org/drawingml/2006/main">
              <a:ext uri="{FF2B5EF4-FFF2-40B4-BE49-F238E27FC236}">
                <a16:creationId xmlns:a16="http://schemas.microsoft.com/office/drawing/2014/main" id="{6FC893A0-B0E9-42D1-BBBE-32C6C0932E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2242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專屬助理</a:t>
            </a:r>
          </a:p>
        </p:txBody>
      </p:sp>
      <p:sp>
        <p:nvSpPr>
          <p:cNvPr id="19" name="shape-51">
            <a:extLst xmlns:a="http://schemas.openxmlformats.org/drawingml/2006/main">
              <a:ext uri="{FF2B5EF4-FFF2-40B4-BE49-F238E27FC236}">
                <a16:creationId xmlns:a16="http://schemas.microsoft.com/office/drawing/2014/main" id="{ABA41CE3-3C5E-4E15-9315-6F61B7CAE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8373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">
            <a:extLst xmlns:a="http://schemas.openxmlformats.org/drawingml/2006/main">
              <a:ext uri="{FF2B5EF4-FFF2-40B4-BE49-F238E27FC236}">
                <a16:creationId xmlns:a16="http://schemas.microsoft.com/office/drawing/2014/main" id="{ABAB6771-B66F-4A7C-88A0-5510CA2E3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128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80–90</a:t>
            </a:r>
          </a:p>
        </p:txBody>
      </p:sp>
      <p:sp>
        <p:nvSpPr>
          <p:cNvPr id="21" name="text-53">
            <a:extLst xmlns:a="http://schemas.openxmlformats.org/drawingml/2006/main">
              <a:ext uri="{FF2B5EF4-FFF2-40B4-BE49-F238E27FC236}">
                <a16:creationId xmlns:a16="http://schemas.microsoft.com/office/drawing/2014/main" id="{BF9D3A7B-94D2-4D64-A9AF-E91C8B2C6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休息</a:t>
            </a:r>
          </a:p>
        </p:txBody>
      </p:sp>
      <p:sp>
        <p:nvSpPr>
          <p:cNvPr id="22" name="text-54">
            <a:extLst xmlns:a="http://schemas.openxmlformats.org/drawingml/2006/main">
              <a:ext uri="{FF2B5EF4-FFF2-40B4-BE49-F238E27FC236}">
                <a16:creationId xmlns:a16="http://schemas.microsoft.com/office/drawing/2014/main" id="{96AC93FB-730C-403E-AF18-4FCCDAD2F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268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帳號與檔案整理</a:t>
            </a:r>
          </a:p>
        </p:txBody>
      </p:sp>
      <p:sp>
        <p:nvSpPr>
          <p:cNvPr id="23" name="shape-55">
            <a:extLst xmlns:a="http://schemas.openxmlformats.org/drawingml/2006/main">
              <a:ext uri="{FF2B5EF4-FFF2-40B4-BE49-F238E27FC236}">
                <a16:creationId xmlns:a16="http://schemas.microsoft.com/office/drawing/2014/main" id="{943DFCEF-BA0F-48F4-BBDF-A11DE7BFD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399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text-56">
            <a:extLst xmlns:a="http://schemas.openxmlformats.org/drawingml/2006/main">
              <a:ext uri="{FF2B5EF4-FFF2-40B4-BE49-F238E27FC236}">
                <a16:creationId xmlns:a16="http://schemas.microsoft.com/office/drawing/2014/main" id="{25F39BC0-CF75-4B5F-96B4-2AA5DAF1A9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154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90–135</a:t>
            </a:r>
          </a:p>
        </p:txBody>
      </p:sp>
      <p:sp>
        <p:nvSpPr>
          <p:cNvPr id="25" name="text-57">
            <a:extLst xmlns:a="http://schemas.openxmlformats.org/drawingml/2006/main">
              <a:ext uri="{FF2B5EF4-FFF2-40B4-BE49-F238E27FC236}">
                <a16:creationId xmlns:a16="http://schemas.microsoft.com/office/drawing/2014/main" id="{B539F194-CD4E-4761-A7AE-559B97D25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6" name="text-58">
            <a:extLst xmlns:a="http://schemas.openxmlformats.org/drawingml/2006/main">
              <a:ext uri="{FF2B5EF4-FFF2-40B4-BE49-F238E27FC236}">
                <a16:creationId xmlns:a16="http://schemas.microsoft.com/office/drawing/2014/main" id="{0D289223-B562-4AE6-9A28-26DC4D801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294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互動原型</a:t>
            </a:r>
          </a:p>
        </p:txBody>
      </p:sp>
      <p:sp>
        <p:nvSpPr>
          <p:cNvPr id="27" name="shape-59">
            <a:extLst xmlns:a="http://schemas.openxmlformats.org/drawingml/2006/main">
              <a:ext uri="{FF2B5EF4-FFF2-40B4-BE49-F238E27FC236}">
                <a16:creationId xmlns:a16="http://schemas.microsoft.com/office/drawing/2014/main" id="{14560385-2FCE-45C7-8355-F6A94AEF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3009900"/>
            <a:ext cx="266700" cy="2667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text-60">
            <a:extLst xmlns:a="http://schemas.openxmlformats.org/drawingml/2006/main">
              <a:ext uri="{FF2B5EF4-FFF2-40B4-BE49-F238E27FC236}">
                <a16:creationId xmlns:a16="http://schemas.microsoft.com/office/drawing/2014/main" id="{41B5EFCF-F88A-472B-9A94-B043C7DFD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305050"/>
            <a:ext cx="13716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135–180</a:t>
            </a:r>
          </a:p>
        </p:txBody>
      </p:sp>
      <p:sp>
        <p:nvSpPr>
          <p:cNvPr id="29" name="text-61">
            <a:extLst xmlns:a="http://schemas.openxmlformats.org/drawingml/2006/main">
              <a:ext uri="{FF2B5EF4-FFF2-40B4-BE49-F238E27FC236}">
                <a16:creationId xmlns:a16="http://schemas.microsoft.com/office/drawing/2014/main" id="{DF859784-0E59-4215-9C45-BCAF86A39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3562350"/>
            <a:ext cx="18288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部署分享</a:t>
            </a:r>
          </a:p>
        </p:txBody>
      </p:sp>
      <p:sp>
        <p:nvSpPr>
          <p:cNvPr id="30" name="text-62">
            <a:extLst xmlns:a="http://schemas.openxmlformats.org/drawingml/2006/main">
              <a:ext uri="{FF2B5EF4-FFF2-40B4-BE49-F238E27FC236}">
                <a16:creationId xmlns:a16="http://schemas.microsoft.com/office/drawing/2014/main" id="{7C204B5D-F1B3-48AA-9B03-8B75AE037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63200" y="4305300"/>
            <a:ext cx="18288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公開與回饋</a:t>
            </a:r>
          </a:p>
        </p:txBody>
      </p:sp>
    </p:spTree>
    <p:extLst>
      <p:ext uri="{BB962C8B-B14F-4D97-AF65-F5344CB8AC3E}">
        <p14:creationId xmlns:p14="http://schemas.microsoft.com/office/powerpoint/2010/main" val="9338760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63">
            <a:extLst xmlns:a="http://schemas.openxmlformats.org/drawingml/2006/main">
              <a:ext uri="{FF2B5EF4-FFF2-40B4-BE49-F238E27FC236}">
                <a16:creationId xmlns:a16="http://schemas.microsoft.com/office/drawing/2014/main" id="{5967A866-A2A9-4A9E-8D83-7DA5947F7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LEARNING OUTCOMES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A2F8570-6EC7-4B17-AC3F-6DC47E287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今天離開教室前，你會有四項成果</a:t>
            </a:r>
          </a:p>
        </p:txBody>
      </p:sp>
      <p:cxnSp>
        <p:nvCxnSpPr>
          <p:cNvPr id="24" name="shape-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5">
            <a:extLst xmlns:a="http://schemas.openxmlformats.org/drawingml/2006/main">
              <a:ext uri="{FF2B5EF4-FFF2-40B4-BE49-F238E27FC236}">
                <a16:creationId xmlns:a16="http://schemas.microsoft.com/office/drawing/2014/main" id="{294E943D-DA7E-49FF-AAC5-3EF63BDBB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065AF4B-8130-4C87-A15B-B382A4F89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6" name="shape-66">
            <a:extLst xmlns:a="http://schemas.openxmlformats.org/drawingml/2006/main">
              <a:ext uri="{FF2B5EF4-FFF2-40B4-BE49-F238E27FC236}">
                <a16:creationId xmlns:a16="http://schemas.microsoft.com/office/drawing/2014/main" id="{609F2D7E-BFB5-442B-9448-C21E309C8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7">
            <a:extLst xmlns:a="http://schemas.openxmlformats.org/drawingml/2006/main">
              <a:ext uri="{FF2B5EF4-FFF2-40B4-BE49-F238E27FC236}">
                <a16:creationId xmlns:a16="http://schemas.microsoft.com/office/drawing/2014/main" id="{3BF8A416-4643-47AE-A028-C95983AAB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68">
            <a:extLst xmlns:a="http://schemas.openxmlformats.org/drawingml/2006/main">
              <a:ext uri="{FF2B5EF4-FFF2-40B4-BE49-F238E27FC236}">
                <a16:creationId xmlns:a16="http://schemas.microsoft.com/office/drawing/2014/main" id="{34D80C7E-7F57-4439-B945-B840C91DC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9" name="text-69">
            <a:extLst xmlns:a="http://schemas.openxmlformats.org/drawingml/2006/main">
              <a:ext uri="{FF2B5EF4-FFF2-40B4-BE49-F238E27FC236}">
                <a16:creationId xmlns:a16="http://schemas.microsoft.com/office/drawing/2014/main" id="{E7FEA70C-EF14-463F-AF67-C826B1DFD7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 3 份教學或研究來源、3 個有引用的問題、1 個可用輸出。</a:t>
            </a:r>
          </a:p>
        </p:txBody>
      </p:sp>
      <p:sp>
        <p:nvSpPr>
          <p:cNvPr id="10" name="shape-70">
            <a:extLst xmlns:a="http://schemas.openxmlformats.org/drawingml/2006/main">
              <a:ext uri="{FF2B5EF4-FFF2-40B4-BE49-F238E27FC236}">
                <a16:creationId xmlns:a16="http://schemas.microsoft.com/office/drawing/2014/main" id="{AECEB925-41B5-4506-B4D9-2AEDDC444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71">
            <a:extLst xmlns:a="http://schemas.openxmlformats.org/drawingml/2006/main">
              <a:ext uri="{FF2B5EF4-FFF2-40B4-BE49-F238E27FC236}">
                <a16:creationId xmlns:a16="http://schemas.microsoft.com/office/drawing/2014/main" id="{E82FF38B-4408-40BD-A1BD-5CAD27138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72">
            <a:extLst xmlns:a="http://schemas.openxmlformats.org/drawingml/2006/main">
              <a:ext uri="{FF2B5EF4-FFF2-40B4-BE49-F238E27FC236}">
                <a16:creationId xmlns:a16="http://schemas.microsoft.com/office/drawing/2014/main" id="{83CE16C8-B3BC-46E2-B844-3249460917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3" name="text-73">
            <a:extLst xmlns:a="http://schemas.openxmlformats.org/drawingml/2006/main">
              <a:ext uri="{FF2B5EF4-FFF2-40B4-BE49-F238E27FC236}">
                <a16:creationId xmlns:a16="http://schemas.microsoft.com/office/drawing/2014/main" id="{5CC080BE-037D-45B9-9C9C-F8FC0E666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明確角色、任務、背景與格式，並完成反例測試。</a:t>
            </a:r>
          </a:p>
        </p:txBody>
      </p:sp>
      <p:sp>
        <p:nvSpPr>
          <p:cNvPr id="14" name="shape-74">
            <a:extLst xmlns:a="http://schemas.openxmlformats.org/drawingml/2006/main">
              <a:ext uri="{FF2B5EF4-FFF2-40B4-BE49-F238E27FC236}">
                <a16:creationId xmlns:a16="http://schemas.microsoft.com/office/drawing/2014/main" id="{42845D27-24DF-4C7A-97B1-D750DE80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75">
            <a:extLst xmlns:a="http://schemas.openxmlformats.org/drawingml/2006/main">
              <a:ext uri="{FF2B5EF4-FFF2-40B4-BE49-F238E27FC236}">
                <a16:creationId xmlns:a16="http://schemas.microsoft.com/office/drawing/2014/main" id="{FDAFED6C-BA1E-4F1B-9B4B-CC6E141B7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76">
            <a:extLst xmlns:a="http://schemas.openxmlformats.org/drawingml/2006/main">
              <a:ext uri="{FF2B5EF4-FFF2-40B4-BE49-F238E27FC236}">
                <a16:creationId xmlns:a16="http://schemas.microsoft.com/office/drawing/2014/main" id="{B6CA3FF2-AD82-444C-9372-6B4404497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原型</a:t>
            </a:r>
          </a:p>
        </p:txBody>
      </p:sp>
      <p:sp>
        <p:nvSpPr>
          <p:cNvPr id="17" name="text-77">
            <a:extLst xmlns:a="http://schemas.openxmlformats.org/drawingml/2006/main">
              <a:ext uri="{FF2B5EF4-FFF2-40B4-BE49-F238E27FC236}">
                <a16:creationId xmlns:a16="http://schemas.microsoft.com/office/drawing/2014/main" id="{B138C483-BD26-459B-8F25-1F7A88EC2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一個可操作的課程活動、評量或學習支架。</a:t>
            </a:r>
          </a:p>
        </p:txBody>
      </p:sp>
      <p:sp>
        <p:nvSpPr>
          <p:cNvPr id="18" name="shape-78">
            <a:extLst xmlns:a="http://schemas.openxmlformats.org/drawingml/2006/main">
              <a:ext uri="{FF2B5EF4-FFF2-40B4-BE49-F238E27FC236}">
                <a16:creationId xmlns:a16="http://schemas.microsoft.com/office/drawing/2014/main" id="{CC231077-9FF4-4780-B5EB-B3AA66B9C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79">
            <a:extLst xmlns:a="http://schemas.openxmlformats.org/drawingml/2006/main">
              <a:ext uri="{FF2B5EF4-FFF2-40B4-BE49-F238E27FC236}">
                <a16:creationId xmlns:a16="http://schemas.microsoft.com/office/drawing/2014/main" id="{1CCBEF3A-2B65-421C-AA8E-4B83CF34B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80">
            <a:extLst xmlns:a="http://schemas.openxmlformats.org/drawingml/2006/main">
              <a:ext uri="{FF2B5EF4-FFF2-40B4-BE49-F238E27FC236}">
                <a16:creationId xmlns:a16="http://schemas.microsoft.com/office/drawing/2014/main" id="{449E1A72-E027-4E18-AC83-062928BA4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分享方式</a:t>
            </a:r>
          </a:p>
        </p:txBody>
      </p:sp>
      <p:sp>
        <p:nvSpPr>
          <p:cNvPr id="21" name="text-81">
            <a:extLst xmlns:a="http://schemas.openxmlformats.org/drawingml/2006/main">
              <a:ext uri="{FF2B5EF4-FFF2-40B4-BE49-F238E27FC236}">
                <a16:creationId xmlns:a16="http://schemas.microsoft.com/office/drawing/2014/main" id="{995D6AF0-C1C1-4631-A766-4F31A8B3A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完成分享連結、Google Sites 嵌入，或 GitHub Pages 部署計畫。</a:t>
            </a:r>
          </a:p>
        </p:txBody>
      </p:sp>
    </p:spTree>
    <p:extLst>
      <p:ext uri="{BB962C8B-B14F-4D97-AF65-F5344CB8AC3E}">
        <p14:creationId xmlns:p14="http://schemas.microsoft.com/office/powerpoint/2010/main" val="66094793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text-82">
            <a:extLst xmlns:a="http://schemas.openxmlformats.org/drawingml/2006/main">
              <a:ext uri="{FF2B5EF4-FFF2-40B4-BE49-F238E27FC236}">
                <a16:creationId xmlns:a16="http://schemas.microsoft.com/office/drawing/2014/main" id="{A6AF4104-8DA0-4434-9CAD-D86FFE69E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ACCESS &amp; PAIRING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1C17BCF-FE6F-4978-AF20-9DEB6B998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共作規則：沒有相同帳號，也能一起完成</a:t>
            </a:r>
          </a:p>
        </p:txBody>
      </p:sp>
      <p:cxnSp>
        <p:nvCxnSpPr>
          <p:cNvPr id="20" name="shape-8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84">
            <a:extLst xmlns:a="http://schemas.openxmlformats.org/drawingml/2006/main">
              <a:ext uri="{FF2B5EF4-FFF2-40B4-BE49-F238E27FC236}">
                <a16:creationId xmlns:a16="http://schemas.microsoft.com/office/drawing/2014/main" id="{9F606D11-B4CF-4CF6-9703-88DC2788C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A38B847-91AC-4EC5-BF98-4C2EA8849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05</a:t>
            </a:r>
          </a:p>
        </p:txBody>
      </p:sp>
      <p:sp>
        <p:nvSpPr>
          <p:cNvPr id="6" name="shape-85">
            <a:extLst xmlns:a="http://schemas.openxmlformats.org/drawingml/2006/main">
              <a:ext uri="{FF2B5EF4-FFF2-40B4-BE49-F238E27FC236}">
                <a16:creationId xmlns:a16="http://schemas.microsoft.com/office/drawing/2014/main" id="{0F9C917A-6EA6-4E6C-9EDE-89BBC1F1C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86">
            <a:extLst xmlns:a="http://schemas.openxmlformats.org/drawingml/2006/main">
              <a:ext uri="{FF2B5EF4-FFF2-40B4-BE49-F238E27FC236}">
                <a16:creationId xmlns:a16="http://schemas.microsoft.com/office/drawing/2014/main" id="{E401F803-1D7B-4BB2-9086-DA692B78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87">
            <a:extLst xmlns:a="http://schemas.openxmlformats.org/drawingml/2006/main">
              <a:ext uri="{FF2B5EF4-FFF2-40B4-BE49-F238E27FC236}">
                <a16:creationId xmlns:a16="http://schemas.microsoft.com/office/drawing/2014/main" id="{F79C564F-6901-44D7-8E28-9422D34F2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主操作手</a:t>
            </a:r>
          </a:p>
        </p:txBody>
      </p:sp>
      <p:sp>
        <p:nvSpPr>
          <p:cNvPr id="9" name="text-88">
            <a:extLst xmlns:a="http://schemas.openxmlformats.org/drawingml/2006/main">
              <a:ext uri="{FF2B5EF4-FFF2-40B4-BE49-F238E27FC236}">
                <a16:creationId xmlns:a16="http://schemas.microsoft.com/office/drawing/2014/main" id="{55DAD185-2278-469B-9ED4-840FEC2C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登入有權限的工具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負責建立、儲存與分享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口述每一步決策</a:t>
            </a:r>
          </a:p>
        </p:txBody>
      </p:sp>
      <p:sp>
        <p:nvSpPr>
          <p:cNvPr id="10" name="text-89">
            <a:extLst xmlns:a="http://schemas.openxmlformats.org/drawingml/2006/main">
              <a:ext uri="{FF2B5EF4-FFF2-40B4-BE49-F238E27FC236}">
                <a16:creationId xmlns:a16="http://schemas.microsoft.com/office/drawing/2014/main" id="{C696CDE3-FC87-46B5-BF4C-A3F5986B61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測試與教學觀察員</a:t>
            </a:r>
          </a:p>
        </p:txBody>
      </p:sp>
      <p:sp>
        <p:nvSpPr>
          <p:cNvPr id="11" name="text-90">
            <a:extLst xmlns:a="http://schemas.openxmlformats.org/drawingml/2006/main">
              <a:ext uri="{FF2B5EF4-FFF2-40B4-BE49-F238E27FC236}">
                <a16:creationId xmlns:a16="http://schemas.microsoft.com/office/drawing/2014/main" id="{77F67857-EA6E-427A-AAC3-1E1C1E09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扮演學生或同儕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提出反例與追問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記錄可教、可用、需改善之處</a:t>
            </a:r>
          </a:p>
        </p:txBody>
      </p:sp>
      <p:sp>
        <p:nvSpPr>
          <p:cNvPr id="12" name="text-91">
            <a:extLst xmlns:a="http://schemas.openxmlformats.org/drawingml/2006/main">
              <a:ext uri="{FF2B5EF4-FFF2-40B4-BE49-F238E27FC236}">
                <a16:creationId xmlns:a16="http://schemas.microsoft.com/office/drawing/2014/main" id="{2D353A1A-E4EA-4D38-B746-E3C6A701D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主操作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登入與建立</a:t>
            </a:r>
          </a:p>
        </p:txBody>
      </p:sp>
      <p:sp>
        <p:nvSpPr>
          <p:cNvPr id="13" name="text-92">
            <a:extLst xmlns:a="http://schemas.openxmlformats.org/drawingml/2006/main">
              <a:ext uri="{FF2B5EF4-FFF2-40B4-BE49-F238E27FC236}">
                <a16:creationId xmlns:a16="http://schemas.microsoft.com/office/drawing/2014/main" id="{0A1C961F-937F-4129-BB84-7D056AEC5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4933950"/>
            <a:ext cx="16764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共同工作區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成果與檢核</a:t>
            </a:r>
          </a:p>
        </p:txBody>
      </p:sp>
      <p:sp>
        <p:nvSpPr>
          <p:cNvPr id="14" name="text-93">
            <a:extLst xmlns:a="http://schemas.openxmlformats.org/drawingml/2006/main">
              <a:ext uri="{FF2B5EF4-FFF2-40B4-BE49-F238E27FC236}">
                <a16:creationId xmlns:a16="http://schemas.microsoft.com/office/drawing/2014/main" id="{2CA78536-9A4A-48FF-AFD4-A9D5C46DB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4933950"/>
            <a:ext cx="156210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觀察員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測試與提問</a:t>
            </a:r>
          </a:p>
        </p:txBody>
      </p:sp>
      <p:cxnSp>
        <p:nvCxnSpPr>
          <p:cNvPr id="32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2438400" y="5210175"/>
            <a:ext cx="28765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3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91350" y="5210175"/>
            <a:ext cx="27051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94">
            <a:extLst xmlns:a="http://schemas.openxmlformats.org/drawingml/2006/main">
              <a:ext uri="{FF2B5EF4-FFF2-40B4-BE49-F238E27FC236}">
                <a16:creationId xmlns:a16="http://schemas.microsoft.com/office/drawing/2014/main" id="{0F62FCD4-32A3-403C-AEAD-4F8599A9C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619750"/>
            <a:ext cx="704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一人操作、一人驗證；成果放在同一個工作區</a:t>
            </a:r>
          </a:p>
        </p:txBody>
      </p:sp>
    </p:spTree>
    <p:extLst>
      <p:ext uri="{BB962C8B-B14F-4D97-AF65-F5344CB8AC3E}">
        <p14:creationId xmlns:p14="http://schemas.microsoft.com/office/powerpoint/2010/main" val="8280830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95">
            <a:extLst xmlns:a="http://schemas.openxmlformats.org/drawingml/2006/main">
              <a:ext uri="{FF2B5EF4-FFF2-40B4-BE49-F238E27FC236}">
                <a16:creationId xmlns:a16="http://schemas.microsoft.com/office/drawing/2014/main" id="{D9A5900B-CB98-4CA6-BBDC-4DEFFA4A7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START WITH A PROBLEM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BA9FAE1-B79C-4859-AE70-E9BD651BA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先選一個真實教學或研究問題</a:t>
            </a:r>
          </a:p>
        </p:txBody>
      </p:sp>
      <p:cxnSp>
        <p:nvCxnSpPr>
          <p:cNvPr id="24" name="shape-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97">
            <a:extLst xmlns:a="http://schemas.openxmlformats.org/drawingml/2006/main">
              <a:ext uri="{FF2B5EF4-FFF2-40B4-BE49-F238E27FC236}">
                <a16:creationId xmlns:a16="http://schemas.microsoft.com/office/drawing/2014/main" id="{2F022EA9-DB67-48D5-9038-86C4076D2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B64D446-0411-4DF7-AAF2-B14B13C1A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06</a:t>
            </a:r>
          </a:p>
        </p:txBody>
      </p:sp>
      <p:sp>
        <p:nvSpPr>
          <p:cNvPr id="6" name="shape-98">
            <a:extLst xmlns:a="http://schemas.openxmlformats.org/drawingml/2006/main">
              <a:ext uri="{FF2B5EF4-FFF2-40B4-BE49-F238E27FC236}">
                <a16:creationId xmlns:a16="http://schemas.microsoft.com/office/drawing/2014/main" id="{787006AD-FAF6-47DD-B5B4-77416E5F9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99">
            <a:extLst xmlns:a="http://schemas.openxmlformats.org/drawingml/2006/main">
              <a:ext uri="{FF2B5EF4-FFF2-40B4-BE49-F238E27FC236}">
                <a16:creationId xmlns:a16="http://schemas.microsoft.com/office/drawing/2014/main" id="{3A85BCA1-6C7D-4DE3-8ED0-CB4029AE2C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A</a:t>
            </a:r>
          </a:p>
        </p:txBody>
      </p:sp>
      <p:sp>
        <p:nvSpPr>
          <p:cNvPr id="8" name="text-100">
            <a:extLst xmlns:a="http://schemas.openxmlformats.org/drawingml/2006/main">
              <a:ext uri="{FF2B5EF4-FFF2-40B4-BE49-F238E27FC236}">
                <a16:creationId xmlns:a16="http://schemas.microsoft.com/office/drawing/2014/main" id="{65EEE42D-AE90-46F6-B2D9-448ED9AD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內容太多</a:t>
            </a:r>
          </a:p>
        </p:txBody>
      </p:sp>
      <p:sp>
        <p:nvSpPr>
          <p:cNvPr id="9" name="text-101">
            <a:extLst xmlns:a="http://schemas.openxmlformats.org/drawingml/2006/main">
              <a:ext uri="{FF2B5EF4-FFF2-40B4-BE49-F238E27FC236}">
                <a16:creationId xmlns:a16="http://schemas.microsoft.com/office/drawing/2014/main" id="{07F8D5FC-6AA4-4AD2-95F0-39FD56262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學生抓不到核心概念，研究者也難快速梳理多份來源。</a:t>
            </a:r>
          </a:p>
        </p:txBody>
      </p:sp>
      <p:sp>
        <p:nvSpPr>
          <p:cNvPr id="10" name="shape-102">
            <a:extLst xmlns:a="http://schemas.openxmlformats.org/drawingml/2006/main">
              <a:ext uri="{FF2B5EF4-FFF2-40B4-BE49-F238E27FC236}">
                <a16:creationId xmlns:a16="http://schemas.microsoft.com/office/drawing/2014/main" id="{5ECD37E4-AEC7-409C-A09B-14385DF8B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103">
            <a:extLst xmlns:a="http://schemas.openxmlformats.org/drawingml/2006/main">
              <a:ext uri="{FF2B5EF4-FFF2-40B4-BE49-F238E27FC236}">
                <a16:creationId xmlns:a16="http://schemas.microsoft.com/office/drawing/2014/main" id="{E4461253-F63A-44FF-AB14-D64775CE4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B</a:t>
            </a:r>
          </a:p>
        </p:txBody>
      </p:sp>
      <p:sp>
        <p:nvSpPr>
          <p:cNvPr id="12" name="text-104">
            <a:extLst xmlns:a="http://schemas.openxmlformats.org/drawingml/2006/main">
              <a:ext uri="{FF2B5EF4-FFF2-40B4-BE49-F238E27FC236}">
                <a16:creationId xmlns:a16="http://schemas.microsoft.com/office/drawing/2014/main" id="{DD686530-271D-4A57-A353-E146AECAC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資料難分析</a:t>
            </a:r>
          </a:p>
        </p:txBody>
      </p:sp>
      <p:sp>
        <p:nvSpPr>
          <p:cNvPr id="13" name="text-105">
            <a:extLst xmlns:a="http://schemas.openxmlformats.org/drawingml/2006/main">
              <a:ext uri="{FF2B5EF4-FFF2-40B4-BE49-F238E27FC236}">
                <a16:creationId xmlns:a16="http://schemas.microsoft.com/office/drawing/2014/main" id="{CAF9B541-08E3-4215-B034-54F6BA55A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大量選擇題與簡答題需要整理、編碼、比對與人工複核。</a:t>
            </a:r>
          </a:p>
        </p:txBody>
      </p:sp>
      <p:sp>
        <p:nvSpPr>
          <p:cNvPr id="14" name="shape-106">
            <a:extLst xmlns:a="http://schemas.openxmlformats.org/drawingml/2006/main">
              <a:ext uri="{FF2B5EF4-FFF2-40B4-BE49-F238E27FC236}">
                <a16:creationId xmlns:a16="http://schemas.microsoft.com/office/drawing/2014/main" id="{3E8914C7-CE7B-49D6-97B8-607F0DAA4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107">
            <a:extLst xmlns:a="http://schemas.openxmlformats.org/drawingml/2006/main">
              <a:ext uri="{FF2B5EF4-FFF2-40B4-BE49-F238E27FC236}">
                <a16:creationId xmlns:a16="http://schemas.microsoft.com/office/drawing/2014/main" id="{951FCD24-039E-4B52-B803-AB5D7E7F9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108">
            <a:extLst xmlns:a="http://schemas.openxmlformats.org/drawingml/2006/main">
              <a:ext uri="{FF2B5EF4-FFF2-40B4-BE49-F238E27FC236}">
                <a16:creationId xmlns:a16="http://schemas.microsoft.com/office/drawing/2014/main" id="{5F4EAE43-6102-4CA0-BB69-86584D182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活動太平</a:t>
            </a:r>
          </a:p>
        </p:txBody>
      </p:sp>
      <p:sp>
        <p:nvSpPr>
          <p:cNvPr id="17" name="text-109">
            <a:extLst xmlns:a="http://schemas.openxmlformats.org/drawingml/2006/main">
              <a:ext uri="{FF2B5EF4-FFF2-40B4-BE49-F238E27FC236}">
                <a16:creationId xmlns:a16="http://schemas.microsoft.com/office/drawing/2014/main" id="{3758172C-060B-4202-B0FA-0E4515F4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希望把講述內容轉成可操作、可探索的互動任務。</a:t>
            </a:r>
          </a:p>
        </p:txBody>
      </p:sp>
      <p:sp>
        <p:nvSpPr>
          <p:cNvPr id="18" name="shape-110">
            <a:extLst xmlns:a="http://schemas.openxmlformats.org/drawingml/2006/main">
              <a:ext uri="{FF2B5EF4-FFF2-40B4-BE49-F238E27FC236}">
                <a16:creationId xmlns:a16="http://schemas.microsoft.com/office/drawing/2014/main" id="{B4BF17C1-F957-42E4-8E48-42E02096A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111">
            <a:extLst xmlns:a="http://schemas.openxmlformats.org/drawingml/2006/main">
              <a:ext uri="{FF2B5EF4-FFF2-40B4-BE49-F238E27FC236}">
                <a16:creationId xmlns:a16="http://schemas.microsoft.com/office/drawing/2014/main" id="{8A247A1E-B456-4D26-9ADD-25AB49C9A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D</a:t>
            </a:r>
          </a:p>
        </p:txBody>
      </p:sp>
      <p:sp>
        <p:nvSpPr>
          <p:cNvPr id="20" name="text-112">
            <a:extLst xmlns:a="http://schemas.openxmlformats.org/drawingml/2006/main">
              <a:ext uri="{FF2B5EF4-FFF2-40B4-BE49-F238E27FC236}">
                <a16:creationId xmlns:a16="http://schemas.microsoft.com/office/drawing/2014/main" id="{9465F03C-81A0-4534-9B77-893EFAC7C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研究難累積</a:t>
            </a:r>
          </a:p>
        </p:txBody>
      </p:sp>
      <p:sp>
        <p:nvSpPr>
          <p:cNvPr id="21" name="text-113">
            <a:extLst xmlns:a="http://schemas.openxmlformats.org/drawingml/2006/main">
              <a:ext uri="{FF2B5EF4-FFF2-40B4-BE49-F238E27FC236}">
                <a16:creationId xmlns:a16="http://schemas.microsoft.com/office/drawing/2014/main" id="{2F250A66-E070-4413-8913-1B3D067CB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想把文獻、資料、方法與成果整理成可持續更新的工作區。</a:t>
            </a:r>
          </a:p>
        </p:txBody>
      </p:sp>
    </p:spTree>
    <p:extLst>
      <p:ext uri="{BB962C8B-B14F-4D97-AF65-F5344CB8AC3E}">
        <p14:creationId xmlns:p14="http://schemas.microsoft.com/office/powerpoint/2010/main" val="17284920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14">
            <a:extLst xmlns:a="http://schemas.openxmlformats.org/drawingml/2006/main">
              <a:ext uri="{FF2B5EF4-FFF2-40B4-BE49-F238E27FC236}">
                <a16:creationId xmlns:a16="http://schemas.microsoft.com/office/drawing/2014/main" id="{D9B2760C-1436-40B2-8CC2-E859C08C1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REAL EXAMPLES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5700B99-1889-4022-B2A0-94C668781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123 個案例，不是作品櫃：是教學與研究需求資料庫</a:t>
            </a:r>
          </a:p>
        </p:txBody>
      </p:sp>
      <p:cxnSp>
        <p:nvCxnSpPr>
          <p:cNvPr id="15" name="shape-1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16">
            <a:extLst xmlns:a="http://schemas.openxmlformats.org/drawingml/2006/main">
              <a:ext uri="{FF2B5EF4-FFF2-40B4-BE49-F238E27FC236}">
                <a16:creationId xmlns:a16="http://schemas.microsoft.com/office/drawing/2014/main" id="{2B09DC63-478E-4BA1-96C6-FA6C50529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DF2327EF-4A81-4315-930E-D3A23F257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07</a:t>
            </a:r>
          </a:p>
        </p:txBody>
      </p:sp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8cafaa10d5b4111"/>
          <a:srcRect xmlns:a="http://schemas.openxmlformats.org/drawingml/2006/main" l="1389" t="0" r="138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514350" y="1600200"/>
            <a:ext cx="6934200" cy="4457700"/>
          </a:xfrm>
          <a:prstGeom xmlns:a="http://schemas.openxmlformats.org/drawingml/2006/main" prst="roundRect">
            <a:avLst>
              <a:gd name="adj" fmla="val 3419"/>
            </a:avLst>
          </a:prstGeom>
        </p:spPr>
      </p:pic>
      <p:sp>
        <p:nvSpPr>
          <p:cNvPr id="7" name="text-117">
            <a:extLst xmlns:a="http://schemas.openxmlformats.org/drawingml/2006/main">
              <a:ext uri="{FF2B5EF4-FFF2-40B4-BE49-F238E27FC236}">
                <a16:creationId xmlns:a16="http://schemas.microsoft.com/office/drawing/2014/main" id="{FC50C975-2C89-4467-97AF-FEB6DFDCAE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75260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9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阿凱老師的教育科技創新專區</a:t>
            </a:r>
          </a:p>
        </p:txBody>
      </p:sp>
      <p:sp>
        <p:nvSpPr>
          <p:cNvPr id="8" name="text-118">
            <a:extLst xmlns:a="http://schemas.openxmlformats.org/drawingml/2006/main">
              <a:ext uri="{FF2B5EF4-FFF2-40B4-BE49-F238E27FC236}">
                <a16:creationId xmlns:a16="http://schemas.microsoft.com/office/drawing/2014/main" id="{6FA9613B-43C1-4046-96CC-0E4B4A719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724150"/>
            <a:ext cx="37147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123 個老師做的免費工具卡片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從課堂互動、評語優化到行政自動化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每張卡片與部落格都可作為提示詞、介面與部署案例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6000"/>
              </a:lnSpc>
              <a:buNone/>
              <a:def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• 網址：cagoooo.github.io/Akai/</a:t>
            </a:r>
          </a:p>
        </p:txBody>
      </p:sp>
      <p:sp>
        <p:nvSpPr>
          <p:cNvPr id="9" name="text-638">
            <a:extLst xmlns:a="http://schemas.openxmlformats.org/drawingml/2006/main">
              <a:ext uri="{FF2B5EF4-FFF2-40B4-BE49-F238E27FC236}">
                <a16:creationId xmlns:a16="http://schemas.microsoft.com/office/drawing/2014/main" id="{E0E5E9C0-D923-40D1-9CF3-A5FA594C2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eb4694d43a424f"/>
              </a:rPr>
              <a:t>開啟教育科技創新專區 ↗</a:t>
            </a:r>
          </a:p>
        </p:txBody>
      </p:sp>
      <p:sp>
        <p:nvSpPr>
          <p:cNvPr id="10" name="shape-663">
            <a:extLst xmlns:a="http://schemas.openxmlformats.org/drawingml/2006/main">
              <a:ext uri="{FF2B5EF4-FFF2-40B4-BE49-F238E27FC236}">
                <a16:creationId xmlns:a16="http://schemas.microsoft.com/office/drawing/2014/main" id="{13D10D23-AFF0-44B9-9259-6084B867E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28956bdd7f413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4">
            <a:extLst xmlns:a="http://schemas.openxmlformats.org/drawingml/2006/main">
              <a:ext uri="{FF2B5EF4-FFF2-40B4-BE49-F238E27FC236}">
                <a16:creationId xmlns:a16="http://schemas.microsoft.com/office/drawing/2014/main" id="{13E32A17-8D82-46CF-B52A-1B25C908E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教育科技創新專區</a:t>
            </a:r>
          </a:p>
        </p:txBody>
      </p:sp>
    </p:spTree>
    <p:extLst>
      <p:ext uri="{BB962C8B-B14F-4D97-AF65-F5344CB8AC3E}">
        <p14:creationId xmlns:p14="http://schemas.microsoft.com/office/powerpoint/2010/main" val="1403071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19">
            <a:extLst xmlns:a="http://schemas.openxmlformats.org/drawingml/2006/main">
              <a:ext uri="{FF2B5EF4-FFF2-40B4-BE49-F238E27FC236}">
                <a16:creationId xmlns:a16="http://schemas.microsoft.com/office/drawing/2014/main" id="{5757CD9B-1AC3-4BCA-92E2-F90A3225A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0D373EB-AE02-406C-A4AB-68EA32736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阿凱老師實戰案例導航｜語文、設計、互動</a:t>
            </a:r>
          </a:p>
        </p:txBody>
      </p:sp>
      <p:cxnSp>
        <p:nvCxnSpPr>
          <p:cNvPr id="33" name="shape-12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21">
            <a:extLst xmlns:a="http://schemas.openxmlformats.org/drawingml/2006/main">
              <a:ext uri="{FF2B5EF4-FFF2-40B4-BE49-F238E27FC236}">
                <a16:creationId xmlns:a16="http://schemas.microsoft.com/office/drawing/2014/main" id="{0A282E9B-029D-45E3-8A44-D9C27B704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94A52F-2C37-46AE-A2B1-5E3DC77DE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08</a:t>
            </a:r>
          </a:p>
        </p:txBody>
      </p:sp>
      <p:sp>
        <p:nvSpPr>
          <p:cNvPr id="6" name="text-122">
            <a:extLst xmlns:a="http://schemas.openxmlformats.org/drawingml/2006/main">
              <a:ext uri="{FF2B5EF4-FFF2-40B4-BE49-F238E27FC236}">
                <a16:creationId xmlns:a16="http://schemas.microsoft.com/office/drawing/2014/main" id="{F4272364-F4F4-4BD8-9341-14D9EA11BE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先讀工具卡片理解設計脈絡，再直接開啟應用觀察輸入、輸出與操作流程。</a:t>
            </a:r>
          </a:p>
        </p:txBody>
      </p:sp>
      <p:sp>
        <p:nvSpPr>
          <p:cNvPr id="7" name="shape-123">
            <a:extLst xmlns:a="http://schemas.openxmlformats.org/drawingml/2006/main">
              <a:ext uri="{FF2B5EF4-FFF2-40B4-BE49-F238E27FC236}">
                <a16:creationId xmlns:a16="http://schemas.microsoft.com/office/drawing/2014/main" id="{1652DAC3-0E49-47D4-92BF-1CC2A3EF8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24">
            <a:extLst xmlns:a="http://schemas.openxmlformats.org/drawingml/2006/main">
              <a:ext uri="{FF2B5EF4-FFF2-40B4-BE49-F238E27FC236}">
                <a16:creationId xmlns:a16="http://schemas.microsoft.com/office/drawing/2014/main" id="{26D5A1D9-2877-4C3C-8D8A-EEFD0C6A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#91 · 語文創作</a:t>
            </a:r>
          </a:p>
        </p:txBody>
      </p:sp>
      <p:sp>
        <p:nvSpPr>
          <p:cNvPr id="9" name="text-125">
            <a:extLst xmlns:a="http://schemas.openxmlformats.org/drawingml/2006/main">
              <a:ext uri="{FF2B5EF4-FFF2-40B4-BE49-F238E27FC236}">
                <a16:creationId xmlns:a16="http://schemas.microsoft.com/office/drawing/2014/main" id="{A8F08F51-CE55-4760-ACCE-A1C1067E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✨ 點亮詩意 Pro ✨早安長輩圖</a:t>
            </a:r>
          </a:p>
        </p:txBody>
      </p:sp>
      <p:sp>
        <p:nvSpPr>
          <p:cNvPr id="10" name="text-126">
            <a:extLst xmlns:a="http://schemas.openxmlformats.org/drawingml/2006/main">
              <a:ext uri="{FF2B5EF4-FFF2-40B4-BE49-F238E27FC236}">
                <a16:creationId xmlns:a16="http://schemas.microsoft.com/office/drawing/2014/main" id="{2D4EDE93-C609-446C-B5E3-C261FE6E6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上傳照片產出繁體詩詞與圖文作品，適合看圖寫詩、意境討論與數位創作。</a:t>
            </a:r>
          </a:p>
        </p:txBody>
      </p:sp>
      <p:sp>
        <p:nvSpPr>
          <p:cNvPr id="11" name="text-127">
            <a:extLst xmlns:a="http://schemas.openxmlformats.org/drawingml/2006/main">
              <a:ext uri="{FF2B5EF4-FFF2-40B4-BE49-F238E27FC236}">
                <a16:creationId xmlns:a16="http://schemas.microsoft.com/office/drawing/2014/main" id="{2D4ADE48-EE79-4A32-A553-D3C46DF0D9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6e7686795eb4067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5fd3a8e42a4e40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28">
            <a:extLst xmlns:a="http://schemas.openxmlformats.org/drawingml/2006/main">
              <a:ext uri="{FF2B5EF4-FFF2-40B4-BE49-F238E27FC236}">
                <a16:creationId xmlns:a16="http://schemas.microsoft.com/office/drawing/2014/main" id="{5A587CB2-D837-428B-894A-71C8926F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ccc817cf86344ef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1ac2f615a408a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29">
            <a:extLst xmlns:a="http://schemas.openxmlformats.org/drawingml/2006/main">
              <a:ext uri="{FF2B5EF4-FFF2-40B4-BE49-F238E27FC236}">
                <a16:creationId xmlns:a16="http://schemas.microsoft.com/office/drawing/2014/main" id="{FA4E954C-EEF3-49F8-9937-C41945557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30">
            <a:extLst xmlns:a="http://schemas.openxmlformats.org/drawingml/2006/main">
              <a:ext uri="{FF2B5EF4-FFF2-40B4-BE49-F238E27FC236}">
                <a16:creationId xmlns:a16="http://schemas.microsoft.com/office/drawing/2014/main" id="{FFFE43D0-8640-41A0-83AB-FA774D7CB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#58 · 教學設計</a:t>
            </a:r>
          </a:p>
        </p:txBody>
      </p:sp>
      <p:sp>
        <p:nvSpPr>
          <p:cNvPr id="17" name="text-131">
            <a:extLst xmlns:a="http://schemas.openxmlformats.org/drawingml/2006/main">
              <a:ext uri="{FF2B5EF4-FFF2-40B4-BE49-F238E27FC236}">
                <a16:creationId xmlns:a16="http://schemas.microsoft.com/office/drawing/2014/main" id="{C1A197E8-6089-4D5E-8004-CD7D2D2E6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教師數位備課教案小幫手</a:t>
            </a:r>
          </a:p>
        </p:txBody>
      </p:sp>
      <p:sp>
        <p:nvSpPr>
          <p:cNvPr id="18" name="text-132">
            <a:extLst xmlns:a="http://schemas.openxmlformats.org/drawingml/2006/main">
              <a:ext uri="{FF2B5EF4-FFF2-40B4-BE49-F238E27FC236}">
                <a16:creationId xmlns:a16="http://schemas.microsoft.com/office/drawing/2014/main" id="{C6AF5D46-67CB-444F-9EBD-58C5454CD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 AI 產出教案與活動設計，示範從教學需求走到可使用的成果。</a:t>
            </a:r>
          </a:p>
        </p:txBody>
      </p:sp>
      <p:sp>
        <p:nvSpPr>
          <p:cNvPr id="19" name="text-133">
            <a:extLst xmlns:a="http://schemas.openxmlformats.org/drawingml/2006/main">
              <a:ext uri="{FF2B5EF4-FFF2-40B4-BE49-F238E27FC236}">
                <a16:creationId xmlns:a16="http://schemas.microsoft.com/office/drawing/2014/main" id="{9C9A98D9-06E7-4436-B518-81FCF4A19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fbf392e2b714aef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b4e09d398db46ba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34">
            <a:extLst xmlns:a="http://schemas.openxmlformats.org/drawingml/2006/main">
              <a:ext uri="{FF2B5EF4-FFF2-40B4-BE49-F238E27FC236}">
                <a16:creationId xmlns:a16="http://schemas.microsoft.com/office/drawing/2014/main" id="{251971CD-137F-4C28-B390-0B5BFE160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15c451c6f25442f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dab86c17ed4f6f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35">
            <a:extLst xmlns:a="http://schemas.openxmlformats.org/drawingml/2006/main">
              <a:ext uri="{FF2B5EF4-FFF2-40B4-BE49-F238E27FC236}">
                <a16:creationId xmlns:a16="http://schemas.microsoft.com/office/drawing/2014/main" id="{607E2039-9F7D-4326-B9F4-91F642F45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36">
            <a:extLst xmlns:a="http://schemas.openxmlformats.org/drawingml/2006/main">
              <a:ext uri="{FF2B5EF4-FFF2-40B4-BE49-F238E27FC236}">
                <a16:creationId xmlns:a16="http://schemas.microsoft.com/office/drawing/2014/main" id="{C9DB5D41-7435-4929-B9B1-3A4F442E3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#11 · 互動網站</a:t>
            </a:r>
          </a:p>
        </p:txBody>
      </p:sp>
      <p:sp>
        <p:nvSpPr>
          <p:cNvPr id="25" name="text-137">
            <a:extLst xmlns:a="http://schemas.openxmlformats.org/drawingml/2006/main">
              <a:ext uri="{FF2B5EF4-FFF2-40B4-BE49-F238E27FC236}">
                <a16:creationId xmlns:a16="http://schemas.microsoft.com/office/drawing/2014/main" id="{4C642821-2560-405F-9029-92274998B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剛好學：課堂互動 so easy</a:t>
            </a:r>
          </a:p>
        </p:txBody>
      </p:sp>
      <p:sp>
        <p:nvSpPr>
          <p:cNvPr id="26" name="text-138">
            <a:extLst xmlns:a="http://schemas.openxmlformats.org/drawingml/2006/main">
              <a:ext uri="{FF2B5EF4-FFF2-40B4-BE49-F238E27FC236}">
                <a16:creationId xmlns:a16="http://schemas.microsoft.com/office/drawing/2014/main" id="{72D56985-EDC9-4627-A528-EE59EC003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 種互動模式涵蓋投票、閱讀測驗、文字雲、繪圖題與作品牆。</a:t>
            </a:r>
          </a:p>
        </p:txBody>
      </p:sp>
      <p:sp>
        <p:nvSpPr>
          <p:cNvPr id="27" name="text-139">
            <a:extLst xmlns:a="http://schemas.openxmlformats.org/drawingml/2006/main">
              <a:ext uri="{FF2B5EF4-FFF2-40B4-BE49-F238E27FC236}">
                <a16:creationId xmlns:a16="http://schemas.microsoft.com/office/drawing/2014/main" id="{42DA2E8E-73E5-40D7-BDD1-F1A956DD2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e79843f98a044e4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1ba2396e11467f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40">
            <a:extLst xmlns:a="http://schemas.openxmlformats.org/drawingml/2006/main">
              <a:ext uri="{FF2B5EF4-FFF2-40B4-BE49-F238E27FC236}">
                <a16:creationId xmlns:a16="http://schemas.microsoft.com/office/drawing/2014/main" id="{5B7621D3-18A1-44DF-B1BB-3A9E0ABC8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0970d5c333b4ec5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7e652b26114de0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95685283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text-141">
            <a:extLst xmlns:a="http://schemas.openxmlformats.org/drawingml/2006/main">
              <a:ext uri="{FF2B5EF4-FFF2-40B4-BE49-F238E27FC236}">
                <a16:creationId xmlns:a16="http://schemas.microsoft.com/office/drawing/2014/main" id="{66807002-E722-47C8-8085-147ACEA9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AKAI CASE NAVIGATION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E3B01E7-AC62-4A47-B396-131715893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阿凱老師實戰案例導航｜評量與部署</a:t>
            </a:r>
          </a:p>
        </p:txBody>
      </p:sp>
      <p:cxnSp>
        <p:nvCxnSpPr>
          <p:cNvPr id="33" name="shape-14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43">
            <a:extLst xmlns:a="http://schemas.openxmlformats.org/drawingml/2006/main">
              <a:ext uri="{FF2B5EF4-FFF2-40B4-BE49-F238E27FC236}">
                <a16:creationId xmlns:a16="http://schemas.microsoft.com/office/drawing/2014/main" id="{FCDBC152-8702-4F80-BB66-45F213AFC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8B7C88F-649F-47F1-9CAC-6D0060ED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09</a:t>
            </a:r>
          </a:p>
        </p:txBody>
      </p:sp>
      <p:sp>
        <p:nvSpPr>
          <p:cNvPr id="6" name="text-144">
            <a:extLst xmlns:a="http://schemas.openxmlformats.org/drawingml/2006/main">
              <a:ext uri="{FF2B5EF4-FFF2-40B4-BE49-F238E27FC236}">
                <a16:creationId xmlns:a16="http://schemas.microsoft.com/office/drawing/2014/main" id="{1F11BB3C-020E-4E8F-87D6-322DEBCA8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390650"/>
            <a:ext cx="1116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比較同一個教學構想如何透過即時回饋、Google Sites 與 GitHub Pages 落地。</a:t>
            </a:r>
          </a:p>
        </p:txBody>
      </p:sp>
      <p:sp>
        <p:nvSpPr>
          <p:cNvPr id="7" name="shape-145">
            <a:extLst xmlns:a="http://schemas.openxmlformats.org/drawingml/2006/main">
              <a:ext uri="{FF2B5EF4-FFF2-40B4-BE49-F238E27FC236}">
                <a16:creationId xmlns:a16="http://schemas.microsoft.com/office/drawing/2014/main" id="{2B58583F-F961-4BA5-A5A8-3A698489B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146">
            <a:extLst xmlns:a="http://schemas.openxmlformats.org/drawingml/2006/main">
              <a:ext uri="{FF2B5EF4-FFF2-40B4-BE49-F238E27FC236}">
                <a16:creationId xmlns:a16="http://schemas.microsoft.com/office/drawing/2014/main" id="{D554CDFF-7444-4F5A-9E1C-A3BBACEBE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#3 · 形成性評量</a:t>
            </a:r>
          </a:p>
        </p:txBody>
      </p:sp>
      <p:sp>
        <p:nvSpPr>
          <p:cNvPr id="9" name="text-147">
            <a:extLst xmlns:a="http://schemas.openxmlformats.org/drawingml/2006/main">
              <a:ext uri="{FF2B5EF4-FFF2-40B4-BE49-F238E27FC236}">
                <a16:creationId xmlns:a16="http://schemas.microsoft.com/office/drawing/2014/main" id="{3E3AEC92-44AC-48E1-B00B-9480702A3A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學生即時投票系統</a:t>
            </a:r>
          </a:p>
        </p:txBody>
      </p:sp>
      <p:sp>
        <p:nvSpPr>
          <p:cNvPr id="10" name="text-148">
            <a:extLst xmlns:a="http://schemas.openxmlformats.org/drawingml/2006/main">
              <a:ext uri="{FF2B5EF4-FFF2-40B4-BE49-F238E27FC236}">
                <a16:creationId xmlns:a16="http://schemas.microsoft.com/office/drawing/2014/main" id="{583640AC-FF08-41FE-9185-6404145075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掃 QR Code 即時作答；連投影片上的題目也能快速轉成互動活動。</a:t>
            </a:r>
          </a:p>
        </p:txBody>
      </p:sp>
      <p:sp>
        <p:nvSpPr>
          <p:cNvPr id="11" name="text-149">
            <a:extLst xmlns:a="http://schemas.openxmlformats.org/drawingml/2006/main">
              <a:ext uri="{FF2B5EF4-FFF2-40B4-BE49-F238E27FC236}">
                <a16:creationId xmlns:a16="http://schemas.microsoft.com/office/drawing/2014/main" id="{99FE97C6-6F80-4200-AB67-48A3249BA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97fb8fc5cc34a5e"/>
              </a:rPr>
              <a:t>工具卡片介紹 ↗</a:t>
            </a:r>
          </a:p>
        </p:txBody>
      </p:sp>
      <p:pic>
        <p:nvPicPr>
          <p:cNvPr id="4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e8705cb2ed74fce"/>
          <a:stretch xmlns:a="http://schemas.openxmlformats.org/drawingml/2006/main"/>
        </p:blipFill>
        <p:spPr>
          <a:xfrm xmlns:a="http://schemas.openxmlformats.org/drawingml/2006/main">
            <a:off x="32702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3" name="text-150">
            <a:extLst xmlns:a="http://schemas.openxmlformats.org/drawingml/2006/main">
              <a:ext uri="{FF2B5EF4-FFF2-40B4-BE49-F238E27FC236}">
                <a16:creationId xmlns:a16="http://schemas.microsoft.com/office/drawing/2014/main" id="{D6FB4218-C24C-4E8F-B38F-8FC4ABAFF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3829fee18b445d3"/>
              </a:rPr>
              <a:t>直接開啟應用 ↗</a:t>
            </a:r>
          </a:p>
        </p:txBody>
      </p:sp>
      <p:pic>
        <p:nvPicPr>
          <p:cNvPr id="4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c9ee502dfe41bc"/>
          <a:stretch xmlns:a="http://schemas.openxmlformats.org/drawingml/2006/main"/>
        </p:blipFill>
        <p:spPr>
          <a:xfrm xmlns:a="http://schemas.openxmlformats.org/drawingml/2006/main">
            <a:off x="32702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15" name="shape-151">
            <a:extLst xmlns:a="http://schemas.openxmlformats.org/drawingml/2006/main">
              <a:ext uri="{FF2B5EF4-FFF2-40B4-BE49-F238E27FC236}">
                <a16:creationId xmlns:a16="http://schemas.microsoft.com/office/drawing/2014/main" id="{30B1D95F-B4F1-415C-872C-8F54AD635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89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6" name="text-152">
            <a:extLst xmlns:a="http://schemas.openxmlformats.org/drawingml/2006/main">
              <a:ext uri="{FF2B5EF4-FFF2-40B4-BE49-F238E27FC236}">
                <a16:creationId xmlns:a16="http://schemas.microsoft.com/office/drawing/2014/main" id="{707920E0-A7DF-4906-8F47-D6EBB33E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#24 · Google Sites</a:t>
            </a:r>
          </a:p>
        </p:txBody>
      </p:sp>
      <p:sp>
        <p:nvSpPr>
          <p:cNvPr id="17" name="text-153">
            <a:extLst xmlns:a="http://schemas.openxmlformats.org/drawingml/2006/main">
              <a:ext uri="{FF2B5EF4-FFF2-40B4-BE49-F238E27FC236}">
                <a16:creationId xmlns:a16="http://schemas.microsoft.com/office/drawing/2014/main" id="{67BA8A64-FC95-487F-A706-E8B044E2A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教師午會記錄報告站</a:t>
            </a:r>
          </a:p>
        </p:txBody>
      </p:sp>
      <p:sp>
        <p:nvSpPr>
          <p:cNvPr id="18" name="text-154">
            <a:extLst xmlns:a="http://schemas.openxmlformats.org/drawingml/2006/main">
              <a:ext uri="{FF2B5EF4-FFF2-40B4-BE49-F238E27FC236}">
                <a16:creationId xmlns:a16="http://schemas.microsoft.com/office/drawing/2014/main" id="{26F1E7E2-585E-442E-B862-826BB9C8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 Google Sites 承載會議紀錄與互動式報告，示範嵌入與分享。</a:t>
            </a:r>
          </a:p>
        </p:txBody>
      </p:sp>
      <p:sp>
        <p:nvSpPr>
          <p:cNvPr id="19" name="text-155">
            <a:extLst xmlns:a="http://schemas.openxmlformats.org/drawingml/2006/main">
              <a:ext uri="{FF2B5EF4-FFF2-40B4-BE49-F238E27FC236}">
                <a16:creationId xmlns:a16="http://schemas.microsoft.com/office/drawing/2014/main" id="{97561436-0E67-4BB0-9774-42D358A7C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3f429daa28b4378"/>
              </a:rPr>
              <a:t>工具卡片介紹 ↗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165d8f56ab34fa1"/>
          <a:stretch xmlns:a="http://schemas.openxmlformats.org/drawingml/2006/main"/>
        </p:blipFill>
        <p:spPr>
          <a:xfrm xmlns:a="http://schemas.openxmlformats.org/drawingml/2006/main">
            <a:off x="70548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156">
            <a:extLst xmlns:a="http://schemas.openxmlformats.org/drawingml/2006/main">
              <a:ext uri="{FF2B5EF4-FFF2-40B4-BE49-F238E27FC236}">
                <a16:creationId xmlns:a16="http://schemas.microsoft.com/office/drawing/2014/main" id="{0B1E36E3-B803-4D4E-B9D3-D36C9209E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085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b1c8c3e86234040"/>
              </a:rPr>
              <a:t>直接開啟應用 ↗</a:t>
            </a:r>
          </a:p>
        </p:txBody>
      </p:sp>
      <p:pic>
        <p:nvPicPr>
          <p:cNvPr id="5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f78a148479a44dd"/>
          <a:stretch xmlns:a="http://schemas.openxmlformats.org/drawingml/2006/main"/>
        </p:blipFill>
        <p:spPr>
          <a:xfrm xmlns:a="http://schemas.openxmlformats.org/drawingml/2006/main">
            <a:off x="70548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shape-157">
            <a:extLst xmlns:a="http://schemas.openxmlformats.org/drawingml/2006/main">
              <a:ext uri="{FF2B5EF4-FFF2-40B4-BE49-F238E27FC236}">
                <a16:creationId xmlns:a16="http://schemas.microsoft.com/office/drawing/2014/main" id="{DF4DC556-8D21-4D0E-B81E-2CA092D3F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3550" y="1924050"/>
            <a:ext cx="3594100" cy="4019550"/>
          </a:xfrm>
          <a:prstGeom xmlns:a="http://schemas.openxmlformats.org/drawingml/2006/main" prst="roundRect">
            <a:avLst>
              <a:gd name="adj" fmla="val 424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4" name="text-158">
            <a:extLst xmlns:a="http://schemas.openxmlformats.org/drawingml/2006/main">
              <a:ext uri="{FF2B5EF4-FFF2-40B4-BE49-F238E27FC236}">
                <a16:creationId xmlns:a16="http://schemas.microsoft.com/office/drawing/2014/main" id="{D50CC603-073D-4308-B27D-BA3442196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133600"/>
            <a:ext cx="317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05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#81 · GitHub Pages</a:t>
            </a:r>
          </a:p>
        </p:txBody>
      </p:sp>
      <p:sp>
        <p:nvSpPr>
          <p:cNvPr id="25" name="text-159">
            <a:extLst xmlns:a="http://schemas.openxmlformats.org/drawingml/2006/main">
              <a:ext uri="{FF2B5EF4-FFF2-40B4-BE49-F238E27FC236}">
                <a16:creationId xmlns:a16="http://schemas.microsoft.com/office/drawing/2014/main" id="{ECACBFCE-7924-4CE0-926E-80C99161E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2571750"/>
            <a:ext cx="31750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國小資訊科技教學駕駛艙</a:t>
            </a:r>
          </a:p>
        </p:txBody>
      </p:sp>
      <p:sp>
        <p:nvSpPr>
          <p:cNvPr id="26" name="text-160">
            <a:extLst xmlns:a="http://schemas.openxmlformats.org/drawingml/2006/main">
              <a:ext uri="{FF2B5EF4-FFF2-40B4-BE49-F238E27FC236}">
                <a16:creationId xmlns:a16="http://schemas.microsoft.com/office/drawing/2014/main" id="{6440AA3B-03D4-4476-BD21-A8B2450E4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3524250"/>
            <a:ext cx="317500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整合全學期課程、影片、Canvas 關卡與評量入口的一站式教學網站。</a:t>
            </a:r>
          </a:p>
        </p:txBody>
      </p:sp>
      <p:sp>
        <p:nvSpPr>
          <p:cNvPr id="27" name="text-161">
            <a:extLst xmlns:a="http://schemas.openxmlformats.org/drawingml/2006/main">
              <a:ext uri="{FF2B5EF4-FFF2-40B4-BE49-F238E27FC236}">
                <a16:creationId xmlns:a16="http://schemas.microsoft.com/office/drawing/2014/main" id="{845EC8D1-3F39-41C7-B6DA-F19088F1E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48768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397017251d84263"/>
              </a:rPr>
              <a:t>工具卡片介紹 ↗</a:t>
            </a:r>
          </a:p>
        </p:txBody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d72447f6ab41e3"/>
          <a:stretch xmlns:a="http://schemas.openxmlformats.org/drawingml/2006/main"/>
        </p:blipFill>
        <p:spPr>
          <a:xfrm xmlns:a="http://schemas.openxmlformats.org/drawingml/2006/main">
            <a:off x="10839450" y="46482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9" name="text-162">
            <a:extLst xmlns:a="http://schemas.openxmlformats.org/drawingml/2006/main">
              <a:ext uri="{FF2B5EF4-FFF2-40B4-BE49-F238E27FC236}">
                <a16:creationId xmlns:a16="http://schemas.microsoft.com/office/drawing/2014/main" id="{B28B2955-FC02-4E2A-9FDB-7B382FC2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93100" y="5334000"/>
            <a:ext cx="2470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FF7866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9ecb74ddd5d4960"/>
              </a:rPr>
              <a:t>直接開啟應用 ↗</a:t>
            </a:r>
          </a:p>
        </p:txBody>
      </p:sp>
      <p:pic>
        <p:nvPicPr>
          <p:cNvPr id="6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a60cc92204e4422"/>
          <a:stretch xmlns:a="http://schemas.openxmlformats.org/drawingml/2006/main"/>
        </p:blipFill>
        <p:spPr>
          <a:xfrm xmlns:a="http://schemas.openxmlformats.org/drawingml/2006/main">
            <a:off x="10839450" y="5295900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</p:spTree>
    <p:extLst>
      <p:ext uri="{BB962C8B-B14F-4D97-AF65-F5344CB8AC3E}">
        <p14:creationId xmlns:p14="http://schemas.microsoft.com/office/powerpoint/2010/main" val="768796967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text-163">
            <a:extLst xmlns:a="http://schemas.openxmlformats.org/drawingml/2006/main">
              <a:ext uri="{FF2B5EF4-FFF2-40B4-BE49-F238E27FC236}">
                <a16:creationId xmlns:a16="http://schemas.microsoft.com/office/drawing/2014/main" id="{011FCE0F-2485-4720-BB7E-878B3D166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THE TEACHING STUDIO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2C71626-97E8-4772-AC9F-44DD7492C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一條完整產線，四個工具各司其職</a:t>
            </a:r>
          </a:p>
        </p:txBody>
      </p:sp>
      <p:cxnSp>
        <p:nvCxnSpPr>
          <p:cNvPr id="38" name="shape-16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165">
            <a:extLst xmlns:a="http://schemas.openxmlformats.org/drawingml/2006/main">
              <a:ext uri="{FF2B5EF4-FFF2-40B4-BE49-F238E27FC236}">
                <a16:creationId xmlns:a16="http://schemas.microsoft.com/office/drawing/2014/main" id="{9E88146F-3419-4342-99BB-8183AEE5B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BF69A56-2165-4E52-AAB4-7B34B5FE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10</a:t>
            </a:r>
          </a:p>
        </p:txBody>
      </p:sp>
      <p:sp>
        <p:nvSpPr>
          <p:cNvPr id="6" name="shape-166">
            <a:extLst xmlns:a="http://schemas.openxmlformats.org/drawingml/2006/main">
              <a:ext uri="{FF2B5EF4-FFF2-40B4-BE49-F238E27FC236}">
                <a16:creationId xmlns:a16="http://schemas.microsoft.com/office/drawing/2014/main" id="{25BA5C6B-31BE-4420-B683-F8464BA2A2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167">
            <a:extLst xmlns:a="http://schemas.openxmlformats.org/drawingml/2006/main">
              <a:ext uri="{FF2B5EF4-FFF2-40B4-BE49-F238E27FC236}">
                <a16:creationId xmlns:a16="http://schemas.microsoft.com/office/drawing/2014/main" id="{ABFDA292-C2F1-4A28-96AA-B25182E398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168">
            <a:extLst xmlns:a="http://schemas.openxmlformats.org/drawingml/2006/main">
              <a:ext uri="{FF2B5EF4-FFF2-40B4-BE49-F238E27FC236}">
                <a16:creationId xmlns:a16="http://schemas.microsoft.com/office/drawing/2014/main" id="{AD7B5A05-B558-4E52-86D7-C626FED6E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169">
            <a:extLst xmlns:a="http://schemas.openxmlformats.org/drawingml/2006/main">
              <a:ext uri="{FF2B5EF4-FFF2-40B4-BE49-F238E27FC236}">
                <a16:creationId xmlns:a16="http://schemas.microsoft.com/office/drawing/2014/main" id="{60AD3078-5977-46DF-B7A2-9AC0F2D7C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10" name="text-170">
            <a:extLst xmlns:a="http://schemas.openxmlformats.org/drawingml/2006/main">
              <a:ext uri="{FF2B5EF4-FFF2-40B4-BE49-F238E27FC236}">
                <a16:creationId xmlns:a16="http://schemas.microsoft.com/office/drawing/2014/main" id="{90DBED70-8F2F-4C4F-8A1B-0E0F9164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課綱、論文、講義、網站</a:t>
            </a:r>
          </a:p>
        </p:txBody>
      </p:sp>
      <p:sp>
        <p:nvSpPr>
          <p:cNvPr id="11" name="text-171">
            <a:extLst xmlns:a="http://schemas.openxmlformats.org/drawingml/2006/main">
              <a:ext uri="{FF2B5EF4-FFF2-40B4-BE49-F238E27FC236}">
                <a16:creationId xmlns:a16="http://schemas.microsoft.com/office/drawing/2014/main" id="{3A63D5D1-D645-48B8-B723-8B075E3E8F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193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172">
            <a:extLst xmlns:a="http://schemas.openxmlformats.org/drawingml/2006/main">
              <a:ext uri="{FF2B5EF4-FFF2-40B4-BE49-F238E27FC236}">
                <a16:creationId xmlns:a16="http://schemas.microsoft.com/office/drawing/2014/main" id="{6561CD6D-8D69-4F5C-B01F-AC3140121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173">
            <a:extLst xmlns:a="http://schemas.openxmlformats.org/drawingml/2006/main">
              <a:ext uri="{FF2B5EF4-FFF2-40B4-BE49-F238E27FC236}">
                <a16:creationId xmlns:a16="http://schemas.microsoft.com/office/drawing/2014/main" id="{2D3F1217-1C9A-434A-8F45-4FDA071FC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174">
            <a:extLst xmlns:a="http://schemas.openxmlformats.org/drawingml/2006/main">
              <a:ext uri="{FF2B5EF4-FFF2-40B4-BE49-F238E27FC236}">
                <a16:creationId xmlns:a16="http://schemas.microsoft.com/office/drawing/2014/main" id="{8451B791-0BB0-429B-8EBB-CC0320C3E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175">
            <a:extLst xmlns:a="http://schemas.openxmlformats.org/drawingml/2006/main">
              <a:ext uri="{FF2B5EF4-FFF2-40B4-BE49-F238E27FC236}">
                <a16:creationId xmlns:a16="http://schemas.microsoft.com/office/drawing/2014/main" id="{CB2659E4-A173-4FC7-B689-040884138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  <p:sp>
        <p:nvSpPr>
          <p:cNvPr id="16" name="text-176">
            <a:extLst xmlns:a="http://schemas.openxmlformats.org/drawingml/2006/main">
              <a:ext uri="{FF2B5EF4-FFF2-40B4-BE49-F238E27FC236}">
                <a16:creationId xmlns:a16="http://schemas.microsoft.com/office/drawing/2014/main" id="{9828B47A-599C-41F0-AF07-8465B784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查證、整理、轉化</a:t>
            </a:r>
          </a:p>
        </p:txBody>
      </p:sp>
      <p:sp>
        <p:nvSpPr>
          <p:cNvPr id="17" name="text-177">
            <a:extLst xmlns:a="http://schemas.openxmlformats.org/drawingml/2006/main">
              <a:ext uri="{FF2B5EF4-FFF2-40B4-BE49-F238E27FC236}">
                <a16:creationId xmlns:a16="http://schemas.microsoft.com/office/drawing/2014/main" id="{82301D70-1CCA-4A50-97EB-03556EFF6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863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178">
            <a:extLst xmlns:a="http://schemas.openxmlformats.org/drawingml/2006/main">
              <a:ext uri="{FF2B5EF4-FFF2-40B4-BE49-F238E27FC236}">
                <a16:creationId xmlns:a16="http://schemas.microsoft.com/office/drawing/2014/main" id="{72F97CB8-4D2F-4C88-B4FB-FE92F2EF8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720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179">
            <a:extLst xmlns:a="http://schemas.openxmlformats.org/drawingml/2006/main">
              <a:ext uri="{FF2B5EF4-FFF2-40B4-BE49-F238E27FC236}">
                <a16:creationId xmlns:a16="http://schemas.microsoft.com/office/drawing/2014/main" id="{454C2BE0-10AF-44F6-B12F-953C7AFC9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180">
            <a:extLst xmlns:a="http://schemas.openxmlformats.org/drawingml/2006/main">
              <a:ext uri="{FF2B5EF4-FFF2-40B4-BE49-F238E27FC236}">
                <a16:creationId xmlns:a16="http://schemas.microsoft.com/office/drawing/2014/main" id="{C49E8913-75AA-4478-AD2A-B7AA198BC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181">
            <a:extLst xmlns:a="http://schemas.openxmlformats.org/drawingml/2006/main">
              <a:ext uri="{FF2B5EF4-FFF2-40B4-BE49-F238E27FC236}">
                <a16:creationId xmlns:a16="http://schemas.microsoft.com/office/drawing/2014/main" id="{C6B00009-DF21-4ECA-929D-1EB2A3D81B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22" name="text-182">
            <a:extLst xmlns:a="http://schemas.openxmlformats.org/drawingml/2006/main">
              <a:ext uri="{FF2B5EF4-FFF2-40B4-BE49-F238E27FC236}">
                <a16:creationId xmlns:a16="http://schemas.microsoft.com/office/drawing/2014/main" id="{1A08C2D9-0FD0-4F7C-BDB3-DF3B5B9ED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固定角色與方法</a:t>
            </a:r>
          </a:p>
        </p:txBody>
      </p:sp>
      <p:sp>
        <p:nvSpPr>
          <p:cNvPr id="23" name="text-183">
            <a:extLst xmlns:a="http://schemas.openxmlformats.org/drawingml/2006/main">
              <a:ext uri="{FF2B5EF4-FFF2-40B4-BE49-F238E27FC236}">
                <a16:creationId xmlns:a16="http://schemas.microsoft.com/office/drawing/2014/main" id="{A0550615-0880-48AE-BDC3-1850BBDEE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5327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184">
            <a:extLst xmlns:a="http://schemas.openxmlformats.org/drawingml/2006/main">
              <a:ext uri="{FF2B5EF4-FFF2-40B4-BE49-F238E27FC236}">
                <a16:creationId xmlns:a16="http://schemas.microsoft.com/office/drawing/2014/main" id="{0107AD06-9197-40A4-AD73-E1E914186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185">
            <a:extLst xmlns:a="http://schemas.openxmlformats.org/drawingml/2006/main">
              <a:ext uri="{FF2B5EF4-FFF2-40B4-BE49-F238E27FC236}">
                <a16:creationId xmlns:a16="http://schemas.microsoft.com/office/drawing/2014/main" id="{B09D482B-EAEA-4A0F-9AD5-A05B2F87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045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186">
            <a:extLst xmlns:a="http://schemas.openxmlformats.org/drawingml/2006/main">
              <a:ext uri="{FF2B5EF4-FFF2-40B4-BE49-F238E27FC236}">
                <a16:creationId xmlns:a16="http://schemas.microsoft.com/office/drawing/2014/main" id="{A7544A31-D2EB-4347-A43F-E8DD90728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187">
            <a:extLst xmlns:a="http://schemas.openxmlformats.org/drawingml/2006/main">
              <a:ext uri="{FF2B5EF4-FFF2-40B4-BE49-F238E27FC236}">
                <a16:creationId xmlns:a16="http://schemas.microsoft.com/office/drawing/2014/main" id="{441ED7CB-F368-47D4-986D-E445169EA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  <p:sp>
        <p:nvSpPr>
          <p:cNvPr id="28" name="text-188">
            <a:extLst xmlns:a="http://schemas.openxmlformats.org/drawingml/2006/main">
              <a:ext uri="{FF2B5EF4-FFF2-40B4-BE49-F238E27FC236}">
                <a16:creationId xmlns:a16="http://schemas.microsoft.com/office/drawing/2014/main" id="{2E1039D4-5707-4447-A95D-79B2D19FD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做出互動作品</a:t>
            </a:r>
          </a:p>
        </p:txBody>
      </p:sp>
      <p:sp>
        <p:nvSpPr>
          <p:cNvPr id="29" name="text-189">
            <a:extLst xmlns:a="http://schemas.openxmlformats.org/drawingml/2006/main">
              <a:ext uri="{FF2B5EF4-FFF2-40B4-BE49-F238E27FC236}">
                <a16:creationId xmlns:a16="http://schemas.microsoft.com/office/drawing/2014/main" id="{E49A9A6F-7A11-4C63-9FC0-947B6BF30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0225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30" name="shape-190">
            <a:extLst xmlns:a="http://schemas.openxmlformats.org/drawingml/2006/main">
              <a:ext uri="{FF2B5EF4-FFF2-40B4-BE49-F238E27FC236}">
                <a16:creationId xmlns:a16="http://schemas.microsoft.com/office/drawing/2014/main" id="{E6E1BBAB-7155-4DBF-847D-EB02ABC8F0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1676400"/>
            <a:ext cx="2247900" cy="3143250"/>
          </a:xfrm>
          <a:prstGeom xmlns:a="http://schemas.openxmlformats.org/drawingml/2006/main" prst="roundRect">
            <a:avLst>
              <a:gd name="adj" fmla="val 678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shape-191">
            <a:extLst xmlns:a="http://schemas.openxmlformats.org/drawingml/2006/main">
              <a:ext uri="{FF2B5EF4-FFF2-40B4-BE49-F238E27FC236}">
                <a16:creationId xmlns:a16="http://schemas.microsoft.com/office/drawing/2014/main" id="{59580FAB-8EE0-4214-B6D8-DE0D84ECF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77400" y="1790700"/>
            <a:ext cx="19050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text-192">
            <a:extLst xmlns:a="http://schemas.openxmlformats.org/drawingml/2006/main">
              <a:ext uri="{FF2B5EF4-FFF2-40B4-BE49-F238E27FC236}">
                <a16:creationId xmlns:a16="http://schemas.microsoft.com/office/drawing/2014/main" id="{07FE0675-D4B9-47A0-A987-B1F229F73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5</a:t>
            </a:r>
          </a:p>
        </p:txBody>
      </p:sp>
      <p:sp>
        <p:nvSpPr>
          <p:cNvPr id="33" name="text-193">
            <a:extLst xmlns:a="http://schemas.openxmlformats.org/drawingml/2006/main">
              <a:ext uri="{FF2B5EF4-FFF2-40B4-BE49-F238E27FC236}">
                <a16:creationId xmlns:a16="http://schemas.microsoft.com/office/drawing/2014/main" id="{E65BAE15-77AA-490C-A537-8276ADEB7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82150" y="26860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</a:t>
            </a:r>
          </a:p>
        </p:txBody>
      </p:sp>
      <p:sp>
        <p:nvSpPr>
          <p:cNvPr id="34" name="text-194">
            <a:extLst xmlns:a="http://schemas.openxmlformats.org/drawingml/2006/main">
              <a:ext uri="{FF2B5EF4-FFF2-40B4-BE49-F238E27FC236}">
                <a16:creationId xmlns:a16="http://schemas.microsoft.com/office/drawing/2014/main" id="{09708E1C-8F15-4B05-825F-834F47EC5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3352800"/>
            <a:ext cx="18288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分享、收集回饋</a:t>
            </a:r>
          </a:p>
        </p:txBody>
      </p:sp>
      <p:sp>
        <p:nvSpPr>
          <p:cNvPr id="35" name="text-195">
            <a:extLst xmlns:a="http://schemas.openxmlformats.org/drawingml/2006/main">
              <a:ext uri="{FF2B5EF4-FFF2-40B4-BE49-F238E27FC236}">
                <a16:creationId xmlns:a16="http://schemas.microsoft.com/office/drawing/2014/main" id="{AFD65A5D-7055-441B-BD86-708D4F7C5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</p:spTree>
    <p:extLst>
      <p:ext uri="{BB962C8B-B14F-4D97-AF65-F5344CB8AC3E}">
        <p14:creationId xmlns:p14="http://schemas.microsoft.com/office/powerpoint/2010/main" val="183274469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196">
            <a:extLst xmlns:a="http://schemas.openxmlformats.org/drawingml/2006/main">
              <a:ext uri="{FF2B5EF4-FFF2-40B4-BE49-F238E27FC236}">
                <a16:creationId xmlns:a16="http://schemas.microsoft.com/office/drawing/2014/main" id="{B892BD20-6D23-46C4-952B-2168E39A2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2" name="text-197">
            <a:extLst xmlns:a="http://schemas.openxmlformats.org/drawingml/2006/main">
              <a:ext uri="{FF2B5EF4-FFF2-40B4-BE49-F238E27FC236}">
                <a16:creationId xmlns:a16="http://schemas.microsoft.com/office/drawing/2014/main" id="{3F0E716D-25FD-4BE6-8DA4-E07E46249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3" name="text-198">
            <a:extLst xmlns:a="http://schemas.openxmlformats.org/drawingml/2006/main">
              <a:ext uri="{FF2B5EF4-FFF2-40B4-BE49-F238E27FC236}">
                <a16:creationId xmlns:a16="http://schemas.microsoft.com/office/drawing/2014/main" id="{819AAB28-5FFC-4FCB-8BC1-ACC5C5F25F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AI 的回答綁在你選定的來源上，讓文獻整理、觀點比較與教學轉化都有跡可循。</a:t>
            </a:r>
          </a:p>
        </p:txBody>
      </p:sp>
      <p:sp>
        <p:nvSpPr>
          <p:cNvPr id="4" name="shape-199">
            <a:extLst xmlns:a="http://schemas.openxmlformats.org/drawingml/2006/main">
              <a:ext uri="{FF2B5EF4-FFF2-40B4-BE49-F238E27FC236}">
                <a16:creationId xmlns:a16="http://schemas.microsoft.com/office/drawing/2014/main" id="{E1D78693-2BC5-412E-A01A-F40711FA2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200">
            <a:extLst xmlns:a="http://schemas.openxmlformats.org/drawingml/2006/main">
              <a:ext uri="{FF2B5EF4-FFF2-40B4-BE49-F238E27FC236}">
                <a16:creationId xmlns:a16="http://schemas.microsoft.com/office/drawing/2014/main" id="{898CF758-8D05-4703-A37F-55B5CBA632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20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202">
            <a:extLst xmlns:a="http://schemas.openxmlformats.org/drawingml/2006/main">
              <a:ext uri="{FF2B5EF4-FFF2-40B4-BE49-F238E27FC236}">
                <a16:creationId xmlns:a16="http://schemas.microsoft.com/office/drawing/2014/main" id="{0C17C91F-B235-48E2-B3F3-8446126F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7955D257-2153-472E-891C-1B24534CA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11</a:t>
            </a:r>
          </a:p>
        </p:txBody>
      </p:sp>
      <p:sp>
        <p:nvSpPr>
          <p:cNvPr id="9" name="text-639">
            <a:extLst xmlns:a="http://schemas.openxmlformats.org/drawingml/2006/main">
              <a:ext uri="{FF2B5EF4-FFF2-40B4-BE49-F238E27FC236}">
                <a16:creationId xmlns:a16="http://schemas.microsoft.com/office/drawing/2014/main" id="{D55616B1-D69C-46DD-A17A-C3C70326A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60607a05ab384264"/>
              </a:rPr>
              <a:t>開啟 Gemini Notebook ↗</a:t>
            </a:r>
          </a:p>
        </p:txBody>
      </p:sp>
      <p:sp>
        <p:nvSpPr>
          <p:cNvPr id="10" name="shape-665">
            <a:extLst xmlns:a="http://schemas.openxmlformats.org/drawingml/2006/main">
              <a:ext uri="{FF2B5EF4-FFF2-40B4-BE49-F238E27FC236}">
                <a16:creationId xmlns:a16="http://schemas.microsoft.com/office/drawing/2014/main" id="{3F85AE6D-C0A1-4693-AD16-308F1739E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f020eeb1544a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66">
            <a:extLst xmlns:a="http://schemas.openxmlformats.org/drawingml/2006/main">
              <a:ext uri="{FF2B5EF4-FFF2-40B4-BE49-F238E27FC236}">
                <a16:creationId xmlns:a16="http://schemas.microsoft.com/office/drawing/2014/main" id="{45298CDB-1760-4DC9-9489-82AC2098CF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49040889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03">
            <a:extLst xmlns:a="http://schemas.openxmlformats.org/drawingml/2006/main">
              <a:ext uri="{FF2B5EF4-FFF2-40B4-BE49-F238E27FC236}">
                <a16:creationId xmlns:a16="http://schemas.microsoft.com/office/drawing/2014/main" id="{F6C6B6AA-8036-4691-8A09-13E6A759C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SOURCE-GROUNDED WORKSPACE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8B9D351-8803-4AF9-AE66-0CA705E81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Notebook：先管理證據，再生成內容</a:t>
            </a:r>
          </a:p>
        </p:txBody>
      </p:sp>
      <p:cxnSp>
        <p:nvCxnSpPr>
          <p:cNvPr id="24" name="shape-20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05">
            <a:extLst xmlns:a="http://schemas.openxmlformats.org/drawingml/2006/main">
              <a:ext uri="{FF2B5EF4-FFF2-40B4-BE49-F238E27FC236}">
                <a16:creationId xmlns:a16="http://schemas.microsoft.com/office/drawing/2014/main" id="{544663B3-8D11-4FA7-9C1C-58BA95500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C3E085F-EC1C-4320-8147-C7E9181B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12</a:t>
            </a:r>
          </a:p>
        </p:txBody>
      </p:sp>
      <p:sp>
        <p:nvSpPr>
          <p:cNvPr id="6" name="shape-206">
            <a:extLst xmlns:a="http://schemas.openxmlformats.org/drawingml/2006/main">
              <a:ext uri="{FF2B5EF4-FFF2-40B4-BE49-F238E27FC236}">
                <a16:creationId xmlns:a16="http://schemas.microsoft.com/office/drawing/2014/main" id="{8334CA7C-6BC6-44DD-9862-6DE786A28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207">
            <a:extLst xmlns:a="http://schemas.openxmlformats.org/drawingml/2006/main">
              <a:ext uri="{FF2B5EF4-FFF2-40B4-BE49-F238E27FC236}">
                <a16:creationId xmlns:a16="http://schemas.microsoft.com/office/drawing/2014/main" id="{7AC8695D-DD20-416B-979C-BB9A47D32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208">
            <a:extLst xmlns:a="http://schemas.openxmlformats.org/drawingml/2006/main">
              <a:ext uri="{FF2B5EF4-FFF2-40B4-BE49-F238E27FC236}">
                <a16:creationId xmlns:a16="http://schemas.microsoft.com/office/drawing/2014/main" id="{BEB2FDDE-DD09-4492-8C92-45DEB25D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一般聊天</a:t>
            </a:r>
          </a:p>
        </p:txBody>
      </p:sp>
      <p:sp>
        <p:nvSpPr>
          <p:cNvPr id="9" name="text-209">
            <a:extLst xmlns:a="http://schemas.openxmlformats.org/drawingml/2006/main">
              <a:ext uri="{FF2B5EF4-FFF2-40B4-BE49-F238E27FC236}">
                <a16:creationId xmlns:a16="http://schemas.microsoft.com/office/drawing/2014/main" id="{BE696D6E-1A30-4E25-9009-723DB69D1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問題先出現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來源可能來自模型既有知識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需要自行追查依據</a:t>
            </a:r>
          </a:p>
        </p:txBody>
      </p:sp>
      <p:sp>
        <p:nvSpPr>
          <p:cNvPr id="10" name="text-210">
            <a:extLst xmlns:a="http://schemas.openxmlformats.org/drawingml/2006/main">
              <a:ext uri="{FF2B5EF4-FFF2-40B4-BE49-F238E27FC236}">
                <a16:creationId xmlns:a16="http://schemas.microsoft.com/office/drawing/2014/main" id="{1327B178-02BB-40B1-BB0D-800382B20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Gemini Notebook</a:t>
            </a:r>
          </a:p>
        </p:txBody>
      </p:sp>
      <p:sp>
        <p:nvSpPr>
          <p:cNvPr id="11" name="text-211">
            <a:extLst xmlns:a="http://schemas.openxmlformats.org/drawingml/2006/main">
              <a:ext uri="{FF2B5EF4-FFF2-40B4-BE49-F238E27FC236}">
                <a16:creationId xmlns:a16="http://schemas.microsoft.com/office/drawing/2014/main" id="{72E6C469-C265-4945-9FCA-AA68018C38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來源先進入筆記本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依使用者提供的來源回答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可回到引用位置檢查</a:t>
            </a:r>
          </a:p>
        </p:txBody>
      </p:sp>
      <p:sp>
        <p:nvSpPr>
          <p:cNvPr id="12" name="text-212">
            <a:extLst xmlns:a="http://schemas.openxmlformats.org/drawingml/2006/main">
              <a:ext uri="{FF2B5EF4-FFF2-40B4-BE49-F238E27FC236}">
                <a16:creationId xmlns:a16="http://schemas.microsoft.com/office/drawing/2014/main" id="{FBA85D3F-F243-4595-8242-9F7BD910A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13" name="text-213">
            <a:extLst xmlns:a="http://schemas.openxmlformats.org/drawingml/2006/main">
              <a:ext uri="{FF2B5EF4-FFF2-40B4-BE49-F238E27FC236}">
                <a16:creationId xmlns:a16="http://schemas.microsoft.com/office/drawing/2014/main" id="{FF57E2A2-EBC3-4F5A-9B41-E82CF89CA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4" name="text-214">
            <a:extLst xmlns:a="http://schemas.openxmlformats.org/drawingml/2006/main">
              <a:ext uri="{FF2B5EF4-FFF2-40B4-BE49-F238E27FC236}">
                <a16:creationId xmlns:a16="http://schemas.microsoft.com/office/drawing/2014/main" id="{CBADC9EA-6587-497C-80B3-02941EC72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838700"/>
            <a:ext cx="1066800" cy="476250"/>
          </a:xfrm>
          <a:prstGeom xmlns:a="http://schemas.openxmlformats.org/drawingml/2006/main" prst="roundRect">
            <a:avLst>
              <a:gd name="adj" fmla="val 16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原文</a:t>
            </a:r>
          </a:p>
        </p:txBody>
      </p:sp>
      <p:cxnSp>
        <p:nvCxnSpPr>
          <p:cNvPr id="36" name=""/>
          <p:cNvCxnSpPr>
            <a:stCxn xmlns:a="http://schemas.openxmlformats.org/drawingml/2006/main" id="12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75247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37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9124950" y="5076825"/>
            <a:ext cx="5334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sp>
        <p:nvSpPr>
          <p:cNvPr id="17" name="text-215">
            <a:extLst xmlns:a="http://schemas.openxmlformats.org/drawingml/2006/main">
              <a:ext uri="{FF2B5EF4-FFF2-40B4-BE49-F238E27FC236}">
                <a16:creationId xmlns:a16="http://schemas.microsoft.com/office/drawing/2014/main" id="{7734D4FA-8655-4596-AD83-E84E91F534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543550"/>
            <a:ext cx="409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可追查鏈：回答 → 引用位置 → 原始段落</a:t>
            </a:r>
          </a:p>
        </p:txBody>
      </p:sp>
      <p:sp>
        <p:nvSpPr>
          <p:cNvPr id="18" name="text-640">
            <a:extLst xmlns:a="http://schemas.openxmlformats.org/drawingml/2006/main">
              <a:ext uri="{FF2B5EF4-FFF2-40B4-BE49-F238E27FC236}">
                <a16:creationId xmlns:a16="http://schemas.microsoft.com/office/drawing/2014/main" id="{84E76287-C27D-4E02-A356-A105A3F22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1fa830890c454990"/>
              </a:rPr>
              <a:t>開啟 Gemini Notebook ↗</a:t>
            </a:r>
          </a:p>
        </p:txBody>
      </p:sp>
      <p:sp>
        <p:nvSpPr>
          <p:cNvPr id="19" name="shape-667">
            <a:extLst xmlns:a="http://schemas.openxmlformats.org/drawingml/2006/main">
              <a:ext uri="{FF2B5EF4-FFF2-40B4-BE49-F238E27FC236}">
                <a16:creationId xmlns:a16="http://schemas.microsoft.com/office/drawing/2014/main" id="{292C72B1-50AA-4FEC-A1AB-2A5B41DE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129ede331244fd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68">
            <a:extLst xmlns:a="http://schemas.openxmlformats.org/drawingml/2006/main">
              <a:ext uri="{FF2B5EF4-FFF2-40B4-BE49-F238E27FC236}">
                <a16:creationId xmlns:a16="http://schemas.microsoft.com/office/drawing/2014/main" id="{DB2551DA-D9D6-4776-BD3C-B8CF21C8C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331847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16">
            <a:extLst xmlns:a="http://schemas.openxmlformats.org/drawingml/2006/main">
              <a:ext uri="{FF2B5EF4-FFF2-40B4-BE49-F238E27FC236}">
                <a16:creationId xmlns:a16="http://schemas.microsoft.com/office/drawing/2014/main" id="{4C9DD0FA-30FC-4BB1-80B8-FEEEDE223A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SOURCE KIT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EF31A6-324A-4A38-9D40-78FE2D07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來源包 3–2–1：小而精，先求可用</a:t>
            </a:r>
          </a:p>
        </p:txBody>
      </p:sp>
      <p:cxnSp>
        <p:nvCxnSpPr>
          <p:cNvPr id="24" name="shape-21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18">
            <a:extLst xmlns:a="http://schemas.openxmlformats.org/drawingml/2006/main">
              <a:ext uri="{FF2B5EF4-FFF2-40B4-BE49-F238E27FC236}">
                <a16:creationId xmlns:a16="http://schemas.microsoft.com/office/drawing/2014/main" id="{BC52605D-7166-46B0-9762-29F9AACE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F2C1AB9-B193-4663-A8E0-EB80302A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13</a:t>
            </a:r>
          </a:p>
        </p:txBody>
      </p:sp>
      <p:sp>
        <p:nvSpPr>
          <p:cNvPr id="6" name="shape-219">
            <a:extLst xmlns:a="http://schemas.openxmlformats.org/drawingml/2006/main">
              <a:ext uri="{FF2B5EF4-FFF2-40B4-BE49-F238E27FC236}">
                <a16:creationId xmlns:a16="http://schemas.microsoft.com/office/drawing/2014/main" id="{61C671D3-4D45-4583-8D66-153D5A9E2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20">
            <a:extLst xmlns:a="http://schemas.openxmlformats.org/drawingml/2006/main">
              <a:ext uri="{FF2B5EF4-FFF2-40B4-BE49-F238E27FC236}">
                <a16:creationId xmlns:a16="http://schemas.microsoft.com/office/drawing/2014/main" id="{6E30F6F0-8C3D-4B58-A2CC-1E7CF903E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8" name="text-221">
            <a:extLst xmlns:a="http://schemas.openxmlformats.org/drawingml/2006/main">
              <a:ext uri="{FF2B5EF4-FFF2-40B4-BE49-F238E27FC236}">
                <a16:creationId xmlns:a16="http://schemas.microsoft.com/office/drawing/2014/main" id="{7973CC55-09C7-4556-AF7D-F3AF4A148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3 份核心來源</a:t>
            </a:r>
          </a:p>
        </p:txBody>
      </p:sp>
      <p:sp>
        <p:nvSpPr>
          <p:cNvPr id="9" name="text-222">
            <a:extLst xmlns:a="http://schemas.openxmlformats.org/drawingml/2006/main">
              <a:ext uri="{FF2B5EF4-FFF2-40B4-BE49-F238E27FC236}">
                <a16:creationId xmlns:a16="http://schemas.microsoft.com/office/drawing/2014/main" id="{94C46263-AA48-438F-991A-4EF66555FE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課程大綱／授課講義／一篇可信研究或政策文件。</a:t>
            </a:r>
          </a:p>
        </p:txBody>
      </p:sp>
      <p:sp>
        <p:nvSpPr>
          <p:cNvPr id="10" name="shape-223">
            <a:extLst xmlns:a="http://schemas.openxmlformats.org/drawingml/2006/main">
              <a:ext uri="{FF2B5EF4-FFF2-40B4-BE49-F238E27FC236}">
                <a16:creationId xmlns:a16="http://schemas.microsoft.com/office/drawing/2014/main" id="{529038BB-1531-473E-8E39-3B1A5454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24">
            <a:extLst xmlns:a="http://schemas.openxmlformats.org/drawingml/2006/main">
              <a:ext uri="{FF2B5EF4-FFF2-40B4-BE49-F238E27FC236}">
                <a16:creationId xmlns:a16="http://schemas.microsoft.com/office/drawing/2014/main" id="{1491D054-8059-454E-B276-C1659A092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25">
            <a:extLst xmlns:a="http://schemas.openxmlformats.org/drawingml/2006/main">
              <a:ext uri="{FF2B5EF4-FFF2-40B4-BE49-F238E27FC236}">
                <a16:creationId xmlns:a16="http://schemas.microsoft.com/office/drawing/2014/main" id="{901A9DC3-A6B3-44E2-96DE-DBC76918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2 種觀點</a:t>
            </a:r>
          </a:p>
        </p:txBody>
      </p:sp>
      <p:sp>
        <p:nvSpPr>
          <p:cNvPr id="13" name="text-226">
            <a:extLst xmlns:a="http://schemas.openxmlformats.org/drawingml/2006/main">
              <a:ext uri="{FF2B5EF4-FFF2-40B4-BE49-F238E27FC236}">
                <a16:creationId xmlns:a16="http://schemas.microsoft.com/office/drawing/2014/main" id="{DCD235C7-F6E3-48D9-9722-52BAA7013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至少納入互補或相反觀點，避免只有單一聲音。</a:t>
            </a:r>
          </a:p>
        </p:txBody>
      </p:sp>
      <p:sp>
        <p:nvSpPr>
          <p:cNvPr id="14" name="shape-227">
            <a:extLst xmlns:a="http://schemas.openxmlformats.org/drawingml/2006/main">
              <a:ext uri="{FF2B5EF4-FFF2-40B4-BE49-F238E27FC236}">
                <a16:creationId xmlns:a16="http://schemas.microsoft.com/office/drawing/2014/main" id="{3AC04323-7DF1-48C3-9EAC-F46C88F71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28">
            <a:extLst xmlns:a="http://schemas.openxmlformats.org/drawingml/2006/main">
              <a:ext uri="{FF2B5EF4-FFF2-40B4-BE49-F238E27FC236}">
                <a16:creationId xmlns:a16="http://schemas.microsoft.com/office/drawing/2014/main" id="{A461E7A2-CC2F-4993-9CC9-DC8FB250A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16" name="text-229">
            <a:extLst xmlns:a="http://schemas.openxmlformats.org/drawingml/2006/main">
              <a:ext uri="{FF2B5EF4-FFF2-40B4-BE49-F238E27FC236}">
                <a16:creationId xmlns:a16="http://schemas.microsoft.com/office/drawing/2014/main" id="{FBD2A523-C9D6-4736-8ED8-5B6FD8C11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1 個教學目的</a:t>
            </a:r>
          </a:p>
        </p:txBody>
      </p:sp>
      <p:sp>
        <p:nvSpPr>
          <p:cNvPr id="17" name="text-230">
            <a:extLst xmlns:a="http://schemas.openxmlformats.org/drawingml/2006/main">
              <a:ext uri="{FF2B5EF4-FFF2-40B4-BE49-F238E27FC236}">
                <a16:creationId xmlns:a16="http://schemas.microsoft.com/office/drawing/2014/main" id="{41FAB762-A73F-4C2C-98B9-269443C21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明確指定要產出導讀、活動、評量或回饋。</a:t>
            </a:r>
          </a:p>
        </p:txBody>
      </p:sp>
      <p:sp>
        <p:nvSpPr>
          <p:cNvPr id="18" name="text-641">
            <a:extLst xmlns:a="http://schemas.openxmlformats.org/drawingml/2006/main">
              <a:ext uri="{FF2B5EF4-FFF2-40B4-BE49-F238E27FC236}">
                <a16:creationId xmlns:a16="http://schemas.microsoft.com/office/drawing/2014/main" id="{BC9C2D25-214E-46F9-BB17-F8710AAE8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112e74678f44bdb"/>
              </a:rPr>
              <a:t>開啟 Gemini Notebook ↗</a:t>
            </a:r>
          </a:p>
        </p:txBody>
      </p:sp>
      <p:sp>
        <p:nvSpPr>
          <p:cNvPr id="19" name="shape-669">
            <a:extLst xmlns:a="http://schemas.openxmlformats.org/drawingml/2006/main">
              <a:ext uri="{FF2B5EF4-FFF2-40B4-BE49-F238E27FC236}">
                <a16:creationId xmlns:a16="http://schemas.microsoft.com/office/drawing/2014/main" id="{84FAC9CA-AD18-402F-A8BF-CE76CC713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3590cf5a3d643a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0">
            <a:extLst xmlns:a="http://schemas.openxmlformats.org/drawingml/2006/main">
              <a:ext uri="{FF2B5EF4-FFF2-40B4-BE49-F238E27FC236}">
                <a16:creationId xmlns:a16="http://schemas.microsoft.com/office/drawing/2014/main" id="{8CD78823-FFB3-4C55-8953-17C7B8E8A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523418635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231">
            <a:extLst xmlns:a="http://schemas.openxmlformats.org/drawingml/2006/main">
              <a:ext uri="{FF2B5EF4-FFF2-40B4-BE49-F238E27FC236}">
                <a16:creationId xmlns:a16="http://schemas.microsoft.com/office/drawing/2014/main" id="{5AE7075B-E857-4C95-82EF-4745FAE97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LIVE DEMO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3E8D148-065D-4E9A-9A29-E88B81A4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示範：四步建立第一個筆記本</a:t>
            </a:r>
          </a:p>
        </p:txBody>
      </p:sp>
      <p:cxnSp>
        <p:nvCxnSpPr>
          <p:cNvPr id="36" name="shape-2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33">
            <a:extLst xmlns:a="http://schemas.openxmlformats.org/drawingml/2006/main">
              <a:ext uri="{FF2B5EF4-FFF2-40B4-BE49-F238E27FC236}">
                <a16:creationId xmlns:a16="http://schemas.microsoft.com/office/drawing/2014/main" id="{6AD4F059-3153-4421-9A31-45E1F6F45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B7EAB4-E70D-420F-92FA-EF18C9008C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14</a:t>
            </a:r>
          </a:p>
        </p:txBody>
      </p:sp>
      <p:sp>
        <p:nvSpPr>
          <p:cNvPr id="6" name="shape-234">
            <a:extLst xmlns:a="http://schemas.openxmlformats.org/drawingml/2006/main">
              <a:ext uri="{FF2B5EF4-FFF2-40B4-BE49-F238E27FC236}">
                <a16:creationId xmlns:a16="http://schemas.microsoft.com/office/drawing/2014/main" id="{5947ADA0-10CE-443A-BE92-7EA5CFB66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235">
            <a:extLst xmlns:a="http://schemas.openxmlformats.org/drawingml/2006/main">
              <a:ext uri="{FF2B5EF4-FFF2-40B4-BE49-F238E27FC236}">
                <a16:creationId xmlns:a16="http://schemas.microsoft.com/office/drawing/2014/main" id="{9FC78F50-108A-4BB1-8D9E-37E1D24A6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236">
            <a:extLst xmlns:a="http://schemas.openxmlformats.org/drawingml/2006/main">
              <a:ext uri="{FF2B5EF4-FFF2-40B4-BE49-F238E27FC236}">
                <a16:creationId xmlns:a16="http://schemas.microsoft.com/office/drawing/2014/main" id="{2B61A540-A458-4834-834D-48C8A3D15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37">
            <a:extLst xmlns:a="http://schemas.openxmlformats.org/drawingml/2006/main">
              <a:ext uri="{FF2B5EF4-FFF2-40B4-BE49-F238E27FC236}">
                <a16:creationId xmlns:a16="http://schemas.microsoft.com/office/drawing/2014/main" id="{6CAA85B7-8E2D-4717-B5DE-6C53336DF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</a:t>
            </a:r>
          </a:p>
        </p:txBody>
      </p:sp>
      <p:sp>
        <p:nvSpPr>
          <p:cNvPr id="10" name="text-238">
            <a:extLst xmlns:a="http://schemas.openxmlformats.org/drawingml/2006/main">
              <a:ext uri="{FF2B5EF4-FFF2-40B4-BE49-F238E27FC236}">
                <a16:creationId xmlns:a16="http://schemas.microsoft.com/office/drawing/2014/main" id="{76F61662-B550-439C-B469-556F7B616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以課程＋任務命名</a:t>
            </a:r>
          </a:p>
        </p:txBody>
      </p:sp>
      <p:sp>
        <p:nvSpPr>
          <p:cNvPr id="11" name="text-239">
            <a:extLst xmlns:a="http://schemas.openxmlformats.org/drawingml/2006/main">
              <a:ext uri="{FF2B5EF4-FFF2-40B4-BE49-F238E27FC236}">
                <a16:creationId xmlns:a16="http://schemas.microsoft.com/office/drawing/2014/main" id="{E830F09D-A42F-4E6B-B228-6E0FA3C272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240">
            <a:extLst xmlns:a="http://schemas.openxmlformats.org/drawingml/2006/main">
              <a:ext uri="{FF2B5EF4-FFF2-40B4-BE49-F238E27FC236}">
                <a16:creationId xmlns:a16="http://schemas.microsoft.com/office/drawing/2014/main" id="{A0E1CB79-AA96-45FF-AD72-067D750AD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241">
            <a:extLst xmlns:a="http://schemas.openxmlformats.org/drawingml/2006/main">
              <a:ext uri="{FF2B5EF4-FFF2-40B4-BE49-F238E27FC236}">
                <a16:creationId xmlns:a16="http://schemas.microsoft.com/office/drawing/2014/main" id="{0C969761-AE3E-440F-A41F-DEB7135D6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242">
            <a:extLst xmlns:a="http://schemas.openxmlformats.org/drawingml/2006/main">
              <a:ext uri="{FF2B5EF4-FFF2-40B4-BE49-F238E27FC236}">
                <a16:creationId xmlns:a16="http://schemas.microsoft.com/office/drawing/2014/main" id="{A9FABE92-EE8F-466D-8908-B506ACC54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243">
            <a:extLst xmlns:a="http://schemas.openxmlformats.org/drawingml/2006/main">
              <a:ext uri="{FF2B5EF4-FFF2-40B4-BE49-F238E27FC236}">
                <a16:creationId xmlns:a16="http://schemas.microsoft.com/office/drawing/2014/main" id="{5880F044-9F75-4755-8518-164862530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</a:t>
            </a:r>
          </a:p>
        </p:txBody>
      </p:sp>
      <p:sp>
        <p:nvSpPr>
          <p:cNvPr id="16" name="text-244">
            <a:extLst xmlns:a="http://schemas.openxmlformats.org/drawingml/2006/main">
              <a:ext uri="{FF2B5EF4-FFF2-40B4-BE49-F238E27FC236}">
                <a16:creationId xmlns:a16="http://schemas.microsoft.com/office/drawing/2014/main" id="{5236C46D-57E2-4D39-A020-5E19A2CA1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上傳檔案或貼入網址</a:t>
            </a:r>
          </a:p>
        </p:txBody>
      </p:sp>
      <p:sp>
        <p:nvSpPr>
          <p:cNvPr id="17" name="text-245">
            <a:extLst xmlns:a="http://schemas.openxmlformats.org/drawingml/2006/main">
              <a:ext uri="{FF2B5EF4-FFF2-40B4-BE49-F238E27FC236}">
                <a16:creationId xmlns:a16="http://schemas.microsoft.com/office/drawing/2014/main" id="{10F901D8-8056-4D37-A1D3-2B2F8D3B0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246">
            <a:extLst xmlns:a="http://schemas.openxmlformats.org/drawingml/2006/main">
              <a:ext uri="{FF2B5EF4-FFF2-40B4-BE49-F238E27FC236}">
                <a16:creationId xmlns:a16="http://schemas.microsoft.com/office/drawing/2014/main" id="{A4AD20C6-15CB-45DA-B570-925FA8E68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247">
            <a:extLst xmlns:a="http://schemas.openxmlformats.org/drawingml/2006/main">
              <a:ext uri="{FF2B5EF4-FFF2-40B4-BE49-F238E27FC236}">
                <a16:creationId xmlns:a16="http://schemas.microsoft.com/office/drawing/2014/main" id="{4F4208C3-D024-4837-AB28-D53F3B668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248">
            <a:extLst xmlns:a="http://schemas.openxmlformats.org/drawingml/2006/main">
              <a:ext uri="{FF2B5EF4-FFF2-40B4-BE49-F238E27FC236}">
                <a16:creationId xmlns:a16="http://schemas.microsoft.com/office/drawing/2014/main" id="{0F83E194-1E51-4611-A19A-C9CF89E72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249">
            <a:extLst xmlns:a="http://schemas.openxmlformats.org/drawingml/2006/main">
              <a:ext uri="{FF2B5EF4-FFF2-40B4-BE49-F238E27FC236}">
                <a16:creationId xmlns:a16="http://schemas.microsoft.com/office/drawing/2014/main" id="{F062CF86-7FFB-4176-8486-1806A26E7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提問</a:t>
            </a:r>
          </a:p>
        </p:txBody>
      </p:sp>
      <p:sp>
        <p:nvSpPr>
          <p:cNvPr id="22" name="text-250">
            <a:extLst xmlns:a="http://schemas.openxmlformats.org/drawingml/2006/main">
              <a:ext uri="{FF2B5EF4-FFF2-40B4-BE49-F238E27FC236}">
                <a16:creationId xmlns:a16="http://schemas.microsoft.com/office/drawing/2014/main" id="{5470585C-9550-4FD8-928A-1A9043AC7F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限定對象、目的與格式</a:t>
            </a:r>
          </a:p>
        </p:txBody>
      </p:sp>
      <p:sp>
        <p:nvSpPr>
          <p:cNvPr id="23" name="text-251">
            <a:extLst xmlns:a="http://schemas.openxmlformats.org/drawingml/2006/main">
              <a:ext uri="{FF2B5EF4-FFF2-40B4-BE49-F238E27FC236}">
                <a16:creationId xmlns:a16="http://schemas.microsoft.com/office/drawing/2014/main" id="{516246EE-4CB2-42EB-8342-D1890D4D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252">
            <a:extLst xmlns:a="http://schemas.openxmlformats.org/drawingml/2006/main">
              <a:ext uri="{FF2B5EF4-FFF2-40B4-BE49-F238E27FC236}">
                <a16:creationId xmlns:a16="http://schemas.microsoft.com/office/drawing/2014/main" id="{87B89E51-6E76-4349-B2D2-912516575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253">
            <a:extLst xmlns:a="http://schemas.openxmlformats.org/drawingml/2006/main">
              <a:ext uri="{FF2B5EF4-FFF2-40B4-BE49-F238E27FC236}">
                <a16:creationId xmlns:a16="http://schemas.microsoft.com/office/drawing/2014/main" id="{6321BA79-9001-4C0D-AA85-2D97AC32C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254">
            <a:extLst xmlns:a="http://schemas.openxmlformats.org/drawingml/2006/main">
              <a:ext uri="{FF2B5EF4-FFF2-40B4-BE49-F238E27FC236}">
                <a16:creationId xmlns:a16="http://schemas.microsoft.com/office/drawing/2014/main" id="{EF3EB34D-3E2D-4C0E-8442-C2EF9421A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255">
            <a:extLst xmlns:a="http://schemas.openxmlformats.org/drawingml/2006/main">
              <a:ext uri="{FF2B5EF4-FFF2-40B4-BE49-F238E27FC236}">
                <a16:creationId xmlns:a16="http://schemas.microsoft.com/office/drawing/2014/main" id="{20D213FB-0060-463F-8BE6-0E6EF0CE04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查證</a:t>
            </a:r>
          </a:p>
        </p:txBody>
      </p:sp>
      <p:sp>
        <p:nvSpPr>
          <p:cNvPr id="28" name="text-256">
            <a:extLst xmlns:a="http://schemas.openxmlformats.org/drawingml/2006/main">
              <a:ext uri="{FF2B5EF4-FFF2-40B4-BE49-F238E27FC236}">
                <a16:creationId xmlns:a16="http://schemas.microsoft.com/office/drawing/2014/main" id="{D4D33A4A-65E2-4460-9F2A-0F16B692B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點引用回到原始段落</a:t>
            </a:r>
          </a:p>
        </p:txBody>
      </p:sp>
      <p:sp>
        <p:nvSpPr>
          <p:cNvPr id="29" name="text-257">
            <a:extLst xmlns:a="http://schemas.openxmlformats.org/drawingml/2006/main">
              <a:ext uri="{FF2B5EF4-FFF2-40B4-BE49-F238E27FC236}">
                <a16:creationId xmlns:a16="http://schemas.microsoft.com/office/drawing/2014/main" id="{13695E6C-3C31-49EC-8E57-E7448E5AC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42">
            <a:extLst xmlns:a="http://schemas.openxmlformats.org/drawingml/2006/main">
              <a:ext uri="{FF2B5EF4-FFF2-40B4-BE49-F238E27FC236}">
                <a16:creationId xmlns:a16="http://schemas.microsoft.com/office/drawing/2014/main" id="{8F94FFF9-E868-4EFE-B802-FDE878A1F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a5781ce5aa24cad"/>
              </a:rPr>
              <a:t>開啟 Gemini Notebook ↗</a:t>
            </a:r>
          </a:p>
        </p:txBody>
      </p:sp>
      <p:sp>
        <p:nvSpPr>
          <p:cNvPr id="31" name="shape-671">
            <a:extLst xmlns:a="http://schemas.openxmlformats.org/drawingml/2006/main">
              <a:ext uri="{FF2B5EF4-FFF2-40B4-BE49-F238E27FC236}">
                <a16:creationId xmlns:a16="http://schemas.microsoft.com/office/drawing/2014/main" id="{21AB237A-9E2A-4D8D-ABA9-E357B0822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0c262d689d44a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72">
            <a:extLst xmlns:a="http://schemas.openxmlformats.org/drawingml/2006/main">
              <a:ext uri="{FF2B5EF4-FFF2-40B4-BE49-F238E27FC236}">
                <a16:creationId xmlns:a16="http://schemas.microsoft.com/office/drawing/2014/main" id="{BC7A2179-7AA1-408D-87A6-4BB1A3404B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673132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258">
            <a:extLst xmlns:a="http://schemas.openxmlformats.org/drawingml/2006/main">
              <a:ext uri="{FF2B5EF4-FFF2-40B4-BE49-F238E27FC236}">
                <a16:creationId xmlns:a16="http://schemas.microsoft.com/office/drawing/2014/main" id="{99523567-0018-4C1B-A8E0-33220B459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DBA3EA2-154B-40D6-BE61-021833E87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實作一｜建立課程 Gemini Notebook</a:t>
            </a:r>
          </a:p>
        </p:txBody>
      </p:sp>
      <p:cxnSp>
        <p:nvCxnSpPr>
          <p:cNvPr id="25" name="shape-25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60">
            <a:extLst xmlns:a="http://schemas.openxmlformats.org/drawingml/2006/main">
              <a:ext uri="{FF2B5EF4-FFF2-40B4-BE49-F238E27FC236}">
                <a16:creationId xmlns:a16="http://schemas.microsoft.com/office/drawing/2014/main" id="{B1D64C62-624E-45B6-BCC2-D87652DBDA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5EB366A-AD3C-4814-8D1C-81ACB99CD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15</a:t>
            </a:r>
          </a:p>
        </p:txBody>
      </p:sp>
      <p:sp>
        <p:nvSpPr>
          <p:cNvPr id="6" name="text-261">
            <a:extLst xmlns:a="http://schemas.openxmlformats.org/drawingml/2006/main">
              <a:ext uri="{FF2B5EF4-FFF2-40B4-BE49-F238E27FC236}">
                <a16:creationId xmlns:a16="http://schemas.microsoft.com/office/drawing/2014/main" id="{981E9FED-B518-49F3-949B-BF3BA94EE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262">
            <a:extLst xmlns:a="http://schemas.openxmlformats.org/drawingml/2006/main">
              <a:ext uri="{FF2B5EF4-FFF2-40B4-BE49-F238E27FC236}">
                <a16:creationId xmlns:a16="http://schemas.microsoft.com/office/drawing/2014/main" id="{ECAC0955-9307-416B-A850-428B14437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263">
            <a:extLst xmlns:a="http://schemas.openxmlformats.org/drawingml/2006/main">
              <a:ext uri="{FF2B5EF4-FFF2-40B4-BE49-F238E27FC236}">
                <a16:creationId xmlns:a16="http://schemas.microsoft.com/office/drawing/2014/main" id="{C1908F74-B106-4939-B6D6-C7D633AE0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264">
            <a:extLst xmlns:a="http://schemas.openxmlformats.org/drawingml/2006/main">
              <a:ext uri="{FF2B5EF4-FFF2-40B4-BE49-F238E27FC236}">
                <a16:creationId xmlns:a16="http://schemas.microsoft.com/office/drawing/2014/main" id="{5DCA5521-B810-4DC8-80D2-CF6FA7CA6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建立以課程與任務命名的筆記本</a:t>
            </a:r>
          </a:p>
        </p:txBody>
      </p:sp>
      <p:sp>
        <p:nvSpPr>
          <p:cNvPr id="10" name="text-265">
            <a:extLst xmlns:a="http://schemas.openxmlformats.org/drawingml/2006/main">
              <a:ext uri="{FF2B5EF4-FFF2-40B4-BE49-F238E27FC236}">
                <a16:creationId xmlns:a16="http://schemas.microsoft.com/office/drawing/2014/main" id="{7AB2DC50-8304-42A6-9301-25E2722B1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266">
            <a:extLst xmlns:a="http://schemas.openxmlformats.org/drawingml/2006/main">
              <a:ext uri="{FF2B5EF4-FFF2-40B4-BE49-F238E27FC236}">
                <a16:creationId xmlns:a16="http://schemas.microsoft.com/office/drawing/2014/main" id="{09C427F4-5679-46A1-9E64-0D85CECD4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加入至少 3 份來源</a:t>
            </a:r>
          </a:p>
        </p:txBody>
      </p:sp>
      <p:sp>
        <p:nvSpPr>
          <p:cNvPr id="12" name="text-267">
            <a:extLst xmlns:a="http://schemas.openxmlformats.org/drawingml/2006/main">
              <a:ext uri="{FF2B5EF4-FFF2-40B4-BE49-F238E27FC236}">
                <a16:creationId xmlns:a16="http://schemas.microsoft.com/office/drawing/2014/main" id="{0EDE0D02-E27C-41B5-8393-2EB70F93F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268">
            <a:extLst xmlns:a="http://schemas.openxmlformats.org/drawingml/2006/main">
              <a:ext uri="{FF2B5EF4-FFF2-40B4-BE49-F238E27FC236}">
                <a16:creationId xmlns:a16="http://schemas.microsoft.com/office/drawing/2014/main" id="{5C957C2C-2937-4624-B3DF-086D7C46E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提出 1 個理解題與 1 個比較題</a:t>
            </a:r>
          </a:p>
        </p:txBody>
      </p:sp>
      <p:sp>
        <p:nvSpPr>
          <p:cNvPr id="14" name="text-269">
            <a:extLst xmlns:a="http://schemas.openxmlformats.org/drawingml/2006/main">
              <a:ext uri="{FF2B5EF4-FFF2-40B4-BE49-F238E27FC236}">
                <a16:creationId xmlns:a16="http://schemas.microsoft.com/office/drawing/2014/main" id="{61580C28-4FD6-4F27-8A52-5F76A5433F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270">
            <a:extLst xmlns:a="http://schemas.openxmlformats.org/drawingml/2006/main">
              <a:ext uri="{FF2B5EF4-FFF2-40B4-BE49-F238E27FC236}">
                <a16:creationId xmlns:a16="http://schemas.microsoft.com/office/drawing/2014/main" id="{A1787510-530B-4643-9C90-4DF498221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點開引用，核對原文</a:t>
            </a:r>
          </a:p>
        </p:txBody>
      </p:sp>
      <p:sp>
        <p:nvSpPr>
          <p:cNvPr id="16" name="shape-271">
            <a:extLst xmlns:a="http://schemas.openxmlformats.org/drawingml/2006/main">
              <a:ext uri="{FF2B5EF4-FFF2-40B4-BE49-F238E27FC236}">
                <a16:creationId xmlns:a16="http://schemas.microsoft.com/office/drawing/2014/main" id="{BBEC4B20-4E9B-4E07-81FE-BE3FFFB48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272">
            <a:extLst xmlns:a="http://schemas.openxmlformats.org/drawingml/2006/main">
              <a:ext uri="{FF2B5EF4-FFF2-40B4-BE49-F238E27FC236}">
                <a16:creationId xmlns:a16="http://schemas.microsoft.com/office/drawing/2014/main" id="{A8315E22-F638-457D-99A2-10DFDD206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273">
            <a:extLst xmlns:a="http://schemas.openxmlformats.org/drawingml/2006/main">
              <a:ext uri="{FF2B5EF4-FFF2-40B4-BE49-F238E27FC236}">
                <a16:creationId xmlns:a16="http://schemas.microsoft.com/office/drawing/2014/main" id="{BFD8F067-6DFB-4E08-ACFA-B21DE73913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筆記本名稱可辨識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來源至少 3 份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 1 個引用正確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記下一個需修正的問題</a:t>
            </a:r>
          </a:p>
        </p:txBody>
      </p:sp>
      <p:sp>
        <p:nvSpPr>
          <p:cNvPr id="19" name="text-643">
            <a:extLst xmlns:a="http://schemas.openxmlformats.org/drawingml/2006/main">
              <a:ext uri="{FF2B5EF4-FFF2-40B4-BE49-F238E27FC236}">
                <a16:creationId xmlns:a16="http://schemas.microsoft.com/office/drawing/2014/main" id="{342481CF-0BBF-455D-8C87-E4CEACD6F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488defa0b94bfa"/>
              </a:rPr>
              <a:t>開啟 Gemini Notebook ↗</a:t>
            </a:r>
          </a:p>
        </p:txBody>
      </p:sp>
      <p:sp>
        <p:nvSpPr>
          <p:cNvPr id="20" name="shape-673">
            <a:extLst xmlns:a="http://schemas.openxmlformats.org/drawingml/2006/main">
              <a:ext uri="{FF2B5EF4-FFF2-40B4-BE49-F238E27FC236}">
                <a16:creationId xmlns:a16="http://schemas.microsoft.com/office/drawing/2014/main" id="{90F18717-CADB-45DC-A3C3-A8900A31BB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c7f32f564af456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74">
            <a:extLst xmlns:a="http://schemas.openxmlformats.org/drawingml/2006/main">
              <a:ext uri="{FF2B5EF4-FFF2-40B4-BE49-F238E27FC236}">
                <a16:creationId xmlns:a16="http://schemas.microsoft.com/office/drawing/2014/main" id="{F6B6C5A4-2E48-4941-B918-ECDC88856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27047082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text-274">
            <a:extLst xmlns:a="http://schemas.openxmlformats.org/drawingml/2006/main">
              <a:ext uri="{FF2B5EF4-FFF2-40B4-BE49-F238E27FC236}">
                <a16:creationId xmlns:a16="http://schemas.microsoft.com/office/drawing/2014/main" id="{BAE93AF8-452B-432C-BF7A-7C01B8D80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PROMPT LADDER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9568428-19EC-4F98-893E-3630AA1BD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三層提問法：從讀懂到能教</a:t>
            </a:r>
          </a:p>
        </p:txBody>
      </p:sp>
      <p:cxnSp>
        <p:nvCxnSpPr>
          <p:cNvPr id="24" name="shape-27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76">
            <a:extLst xmlns:a="http://schemas.openxmlformats.org/drawingml/2006/main">
              <a:ext uri="{FF2B5EF4-FFF2-40B4-BE49-F238E27FC236}">
                <a16:creationId xmlns:a16="http://schemas.microsoft.com/office/drawing/2014/main" id="{E70F1275-F14F-4B64-9C87-51394A7EE1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43E3BD99-4D3E-4D01-B638-E3A163B02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16</a:t>
            </a:r>
          </a:p>
        </p:txBody>
      </p:sp>
      <p:sp>
        <p:nvSpPr>
          <p:cNvPr id="6" name="shape-277">
            <a:extLst xmlns:a="http://schemas.openxmlformats.org/drawingml/2006/main">
              <a:ext uri="{FF2B5EF4-FFF2-40B4-BE49-F238E27FC236}">
                <a16:creationId xmlns:a16="http://schemas.microsoft.com/office/drawing/2014/main" id="{826DC382-5E4F-4280-B774-921CDC2214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78">
            <a:extLst xmlns:a="http://schemas.openxmlformats.org/drawingml/2006/main">
              <a:ext uri="{FF2B5EF4-FFF2-40B4-BE49-F238E27FC236}">
                <a16:creationId xmlns:a16="http://schemas.microsoft.com/office/drawing/2014/main" id="{60ECF631-8563-49B9-817C-60668477D2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279">
            <a:extLst xmlns:a="http://schemas.openxmlformats.org/drawingml/2006/main">
              <a:ext uri="{FF2B5EF4-FFF2-40B4-BE49-F238E27FC236}">
                <a16:creationId xmlns:a16="http://schemas.microsoft.com/office/drawing/2014/main" id="{7030BADB-FEBC-472E-87AE-719F8358B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理解</a:t>
            </a:r>
          </a:p>
        </p:txBody>
      </p:sp>
      <p:sp>
        <p:nvSpPr>
          <p:cNvPr id="9" name="text-280">
            <a:extLst xmlns:a="http://schemas.openxmlformats.org/drawingml/2006/main">
              <a:ext uri="{FF2B5EF4-FFF2-40B4-BE49-F238E27FC236}">
                <a16:creationId xmlns:a16="http://schemas.microsoft.com/office/drawing/2014/main" id="{1F9B2C43-F5EC-491E-890F-025A59357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只依來源，用 150 字解釋核心概念；列出 3 個關鍵詞與引用。</a:t>
            </a:r>
          </a:p>
        </p:txBody>
      </p:sp>
      <p:sp>
        <p:nvSpPr>
          <p:cNvPr id="10" name="shape-281">
            <a:extLst xmlns:a="http://schemas.openxmlformats.org/drawingml/2006/main">
              <a:ext uri="{FF2B5EF4-FFF2-40B4-BE49-F238E27FC236}">
                <a16:creationId xmlns:a16="http://schemas.microsoft.com/office/drawing/2014/main" id="{5B2379DD-45CF-476A-B3F2-D83FC65230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82">
            <a:extLst xmlns:a="http://schemas.openxmlformats.org/drawingml/2006/main">
              <a:ext uri="{FF2B5EF4-FFF2-40B4-BE49-F238E27FC236}">
                <a16:creationId xmlns:a16="http://schemas.microsoft.com/office/drawing/2014/main" id="{249B55A6-0A5B-4F4A-BB85-84645D393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283">
            <a:extLst xmlns:a="http://schemas.openxmlformats.org/drawingml/2006/main">
              <a:ext uri="{FF2B5EF4-FFF2-40B4-BE49-F238E27FC236}">
                <a16:creationId xmlns:a16="http://schemas.microsoft.com/office/drawing/2014/main" id="{4D238FA4-8DF9-470F-9E39-03EF685A0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比較</a:t>
            </a:r>
          </a:p>
        </p:txBody>
      </p:sp>
      <p:sp>
        <p:nvSpPr>
          <p:cNvPr id="13" name="text-284">
            <a:extLst xmlns:a="http://schemas.openxmlformats.org/drawingml/2006/main">
              <a:ext uri="{FF2B5EF4-FFF2-40B4-BE49-F238E27FC236}">
                <a16:creationId xmlns:a16="http://schemas.microsoft.com/office/drawing/2014/main" id="{890E989C-5CFF-4472-8001-35AA44E64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比較來源 A、B 的主張、證據與限制；用表格呈現。</a:t>
            </a:r>
          </a:p>
        </p:txBody>
      </p:sp>
      <p:sp>
        <p:nvSpPr>
          <p:cNvPr id="14" name="shape-285">
            <a:extLst xmlns:a="http://schemas.openxmlformats.org/drawingml/2006/main">
              <a:ext uri="{FF2B5EF4-FFF2-40B4-BE49-F238E27FC236}">
                <a16:creationId xmlns:a16="http://schemas.microsoft.com/office/drawing/2014/main" id="{D81B8B22-AAD6-443B-882C-3820708CA5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76400"/>
            <a:ext cx="3581400" cy="4305300"/>
          </a:xfrm>
          <a:prstGeom xmlns:a="http://schemas.openxmlformats.org/drawingml/2006/main" prst="roundRect">
            <a:avLst>
              <a:gd name="adj" fmla="val 425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286">
            <a:extLst xmlns:a="http://schemas.openxmlformats.org/drawingml/2006/main">
              <a:ext uri="{FF2B5EF4-FFF2-40B4-BE49-F238E27FC236}">
                <a16:creationId xmlns:a16="http://schemas.microsoft.com/office/drawing/2014/main" id="{41CC0F46-7D6F-4F54-82BE-3B0D4688A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287">
            <a:extLst xmlns:a="http://schemas.openxmlformats.org/drawingml/2006/main">
              <a:ext uri="{FF2B5EF4-FFF2-40B4-BE49-F238E27FC236}">
                <a16:creationId xmlns:a16="http://schemas.microsoft.com/office/drawing/2014/main" id="{E29C9B73-5C6B-4BAE-A854-FF1C2E3F4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57450"/>
            <a:ext cx="31623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轉化</a:t>
            </a:r>
          </a:p>
        </p:txBody>
      </p:sp>
      <p:sp>
        <p:nvSpPr>
          <p:cNvPr id="17" name="text-288">
            <a:extLst xmlns:a="http://schemas.openxmlformats.org/drawingml/2006/main">
              <a:ext uri="{FF2B5EF4-FFF2-40B4-BE49-F238E27FC236}">
                <a16:creationId xmlns:a16="http://schemas.microsoft.com/office/drawing/2014/main" id="{7C2C9704-4979-4C17-AC29-D2C6AF9648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3028950"/>
            <a:ext cx="3162300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依來源設計 20 分鐘活動；包含目標、步驟、提問與檢核。</a:t>
            </a:r>
          </a:p>
        </p:txBody>
      </p:sp>
      <p:sp>
        <p:nvSpPr>
          <p:cNvPr id="18" name="text-644">
            <a:extLst xmlns:a="http://schemas.openxmlformats.org/drawingml/2006/main">
              <a:ext uri="{FF2B5EF4-FFF2-40B4-BE49-F238E27FC236}">
                <a16:creationId xmlns:a16="http://schemas.microsoft.com/office/drawing/2014/main" id="{592707B0-BE89-4532-9A65-6A7BF51C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7ef70e197542da"/>
              </a:rPr>
              <a:t>開啟 Gemini Notebook ↗</a:t>
            </a:r>
          </a:p>
        </p:txBody>
      </p:sp>
      <p:sp>
        <p:nvSpPr>
          <p:cNvPr id="19" name="shape-675">
            <a:extLst xmlns:a="http://schemas.openxmlformats.org/drawingml/2006/main">
              <a:ext uri="{FF2B5EF4-FFF2-40B4-BE49-F238E27FC236}">
                <a16:creationId xmlns:a16="http://schemas.microsoft.com/office/drawing/2014/main" id="{DF8E7F54-5FB6-45A4-960B-E37696657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7615624edb445f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1" name="text-676">
            <a:extLst xmlns:a="http://schemas.openxmlformats.org/drawingml/2006/main">
              <a:ext uri="{FF2B5EF4-FFF2-40B4-BE49-F238E27FC236}">
                <a16:creationId xmlns:a16="http://schemas.microsoft.com/office/drawing/2014/main" id="{8ACD687D-39B5-4924-A49C-4C23827EC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15620243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289">
            <a:extLst xmlns:a="http://schemas.openxmlformats.org/drawingml/2006/main">
              <a:ext uri="{FF2B5EF4-FFF2-40B4-BE49-F238E27FC236}">
                <a16:creationId xmlns:a16="http://schemas.microsoft.com/office/drawing/2014/main" id="{9DD311AF-8C68-4B20-AD61-6A930DF7D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TEACHING OUTPUTS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5C43C70-745C-45AA-9A55-42399F66A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把來源轉成可直接使用的教學成品</a:t>
            </a:r>
          </a:p>
        </p:txBody>
      </p:sp>
      <p:cxnSp>
        <p:nvCxnSpPr>
          <p:cNvPr id="28" name="shape-290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291">
            <a:extLst xmlns:a="http://schemas.openxmlformats.org/drawingml/2006/main">
              <a:ext uri="{FF2B5EF4-FFF2-40B4-BE49-F238E27FC236}">
                <a16:creationId xmlns:a16="http://schemas.microsoft.com/office/drawing/2014/main" id="{31BC4B6C-9740-43DD-A20E-5AEED4093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9311B7FF-3945-4367-86BA-EFE5BE4B4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17</a:t>
            </a:r>
          </a:p>
        </p:txBody>
      </p:sp>
      <p:sp>
        <p:nvSpPr>
          <p:cNvPr id="6" name="shape-292">
            <a:extLst xmlns:a="http://schemas.openxmlformats.org/drawingml/2006/main">
              <a:ext uri="{FF2B5EF4-FFF2-40B4-BE49-F238E27FC236}">
                <a16:creationId xmlns:a16="http://schemas.microsoft.com/office/drawing/2014/main" id="{3AC1FD2B-5837-4C00-AC36-82330299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293">
            <a:extLst xmlns:a="http://schemas.openxmlformats.org/drawingml/2006/main">
              <a:ext uri="{FF2B5EF4-FFF2-40B4-BE49-F238E27FC236}">
                <a16:creationId xmlns:a16="http://schemas.microsoft.com/office/drawing/2014/main" id="{F98A5C3C-73C5-4131-B06F-A944B355B5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294">
            <a:extLst xmlns:a="http://schemas.openxmlformats.org/drawingml/2006/main">
              <a:ext uri="{FF2B5EF4-FFF2-40B4-BE49-F238E27FC236}">
                <a16:creationId xmlns:a16="http://schemas.microsoft.com/office/drawing/2014/main" id="{FC968615-1BAD-4FE7-B0E5-5865424800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課前</a:t>
            </a:r>
          </a:p>
        </p:txBody>
      </p:sp>
      <p:sp>
        <p:nvSpPr>
          <p:cNvPr id="9" name="text-295">
            <a:extLst xmlns:a="http://schemas.openxmlformats.org/drawingml/2006/main">
              <a:ext uri="{FF2B5EF4-FFF2-40B4-BE49-F238E27FC236}">
                <a16:creationId xmlns:a16="http://schemas.microsoft.com/office/drawing/2014/main" id="{343AA291-A61C-40A0-A35A-489ECA10E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導讀問題、概念地圖、術語表、預習任務。</a:t>
            </a:r>
          </a:p>
        </p:txBody>
      </p:sp>
      <p:sp>
        <p:nvSpPr>
          <p:cNvPr id="10" name="shape-296">
            <a:extLst xmlns:a="http://schemas.openxmlformats.org/drawingml/2006/main">
              <a:ext uri="{FF2B5EF4-FFF2-40B4-BE49-F238E27FC236}">
                <a16:creationId xmlns:a16="http://schemas.microsoft.com/office/drawing/2014/main" id="{09494F84-D940-4B89-94DC-7DE2B1BD1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297">
            <a:extLst xmlns:a="http://schemas.openxmlformats.org/drawingml/2006/main">
              <a:ext uri="{FF2B5EF4-FFF2-40B4-BE49-F238E27FC236}">
                <a16:creationId xmlns:a16="http://schemas.microsoft.com/office/drawing/2014/main" id="{71DBB8B6-A6EB-45C9-B8EE-413AF3DA1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298">
            <a:extLst xmlns:a="http://schemas.openxmlformats.org/drawingml/2006/main">
              <a:ext uri="{FF2B5EF4-FFF2-40B4-BE49-F238E27FC236}">
                <a16:creationId xmlns:a16="http://schemas.microsoft.com/office/drawing/2014/main" id="{CD376156-E254-4D67-B256-2648F88AB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課中</a:t>
            </a:r>
          </a:p>
        </p:txBody>
      </p:sp>
      <p:sp>
        <p:nvSpPr>
          <p:cNvPr id="13" name="text-299">
            <a:extLst xmlns:a="http://schemas.openxmlformats.org/drawingml/2006/main">
              <a:ext uri="{FF2B5EF4-FFF2-40B4-BE49-F238E27FC236}">
                <a16:creationId xmlns:a16="http://schemas.microsoft.com/office/drawing/2014/main" id="{2CE3F26F-38B7-4380-A387-8FE4BBBE4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案例比較、討論角色卡、分組任務、即時測驗。</a:t>
            </a:r>
          </a:p>
        </p:txBody>
      </p:sp>
      <p:sp>
        <p:nvSpPr>
          <p:cNvPr id="14" name="shape-300">
            <a:extLst xmlns:a="http://schemas.openxmlformats.org/drawingml/2006/main">
              <a:ext uri="{FF2B5EF4-FFF2-40B4-BE49-F238E27FC236}">
                <a16:creationId xmlns:a16="http://schemas.microsoft.com/office/drawing/2014/main" id="{C4BF3E34-3690-463B-B8AD-C5247CCC7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01">
            <a:extLst xmlns:a="http://schemas.openxmlformats.org/drawingml/2006/main">
              <a:ext uri="{FF2B5EF4-FFF2-40B4-BE49-F238E27FC236}">
                <a16:creationId xmlns:a16="http://schemas.microsoft.com/office/drawing/2014/main" id="{48EC8AF0-836D-47EB-932C-BDA5875A2E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02">
            <a:extLst xmlns:a="http://schemas.openxmlformats.org/drawingml/2006/main">
              <a:ext uri="{FF2B5EF4-FFF2-40B4-BE49-F238E27FC236}">
                <a16:creationId xmlns:a16="http://schemas.microsoft.com/office/drawing/2014/main" id="{080686CB-B21D-424B-B674-3ADC042CBD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課後</a:t>
            </a:r>
          </a:p>
        </p:txBody>
      </p:sp>
      <p:sp>
        <p:nvSpPr>
          <p:cNvPr id="17" name="text-303">
            <a:extLst xmlns:a="http://schemas.openxmlformats.org/drawingml/2006/main">
              <a:ext uri="{FF2B5EF4-FFF2-40B4-BE49-F238E27FC236}">
                <a16:creationId xmlns:a16="http://schemas.microsoft.com/office/drawing/2014/main" id="{41CED328-044D-4D3C-9DF9-ED46F5976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學習指南、形成性回饋、反思題、延伸閱讀。</a:t>
            </a:r>
          </a:p>
        </p:txBody>
      </p:sp>
      <p:sp>
        <p:nvSpPr>
          <p:cNvPr id="18" name="shape-304">
            <a:extLst xmlns:a="http://schemas.openxmlformats.org/drawingml/2006/main">
              <a:ext uri="{FF2B5EF4-FFF2-40B4-BE49-F238E27FC236}">
                <a16:creationId xmlns:a16="http://schemas.microsoft.com/office/drawing/2014/main" id="{2D92F4B3-AED3-47FE-AD1D-6FAA6C097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05">
            <a:extLst xmlns:a="http://schemas.openxmlformats.org/drawingml/2006/main">
              <a:ext uri="{FF2B5EF4-FFF2-40B4-BE49-F238E27FC236}">
                <a16:creationId xmlns:a16="http://schemas.microsoft.com/office/drawing/2014/main" id="{A8BA80B1-30D2-4DF8-92A0-A2BE10F75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06">
            <a:extLst xmlns:a="http://schemas.openxmlformats.org/drawingml/2006/main">
              <a:ext uri="{FF2B5EF4-FFF2-40B4-BE49-F238E27FC236}">
                <a16:creationId xmlns:a16="http://schemas.microsoft.com/office/drawing/2014/main" id="{824C06BE-6D6D-47EB-B688-811FF601F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研究／共備</a:t>
            </a:r>
          </a:p>
        </p:txBody>
      </p:sp>
      <p:sp>
        <p:nvSpPr>
          <p:cNvPr id="21" name="text-307">
            <a:extLst xmlns:a="http://schemas.openxmlformats.org/drawingml/2006/main">
              <a:ext uri="{FF2B5EF4-FFF2-40B4-BE49-F238E27FC236}">
                <a16:creationId xmlns:a16="http://schemas.microsoft.com/office/drawing/2014/main" id="{80725914-14FD-497B-A3C4-616708501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文獻觀點矩陣、研究缺口、共同備課摘要。</a:t>
            </a:r>
          </a:p>
        </p:txBody>
      </p:sp>
      <p:sp>
        <p:nvSpPr>
          <p:cNvPr id="22" name="text-645">
            <a:extLst xmlns:a="http://schemas.openxmlformats.org/drawingml/2006/main">
              <a:ext uri="{FF2B5EF4-FFF2-40B4-BE49-F238E27FC236}">
                <a16:creationId xmlns:a16="http://schemas.microsoft.com/office/drawing/2014/main" id="{F77BA17E-AD5D-4651-85BA-09FF4385FC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c459e91856d4bc2"/>
              </a:rPr>
              <a:t>開啟 Gemini Notebook ↗</a:t>
            </a:r>
          </a:p>
        </p:txBody>
      </p:sp>
      <p:sp>
        <p:nvSpPr>
          <p:cNvPr id="23" name="shape-677">
            <a:extLst xmlns:a="http://schemas.openxmlformats.org/drawingml/2006/main">
              <a:ext uri="{FF2B5EF4-FFF2-40B4-BE49-F238E27FC236}">
                <a16:creationId xmlns:a16="http://schemas.microsoft.com/office/drawing/2014/main" id="{3AE8FCF0-6567-4069-BA92-DB41103D5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b2e9750dd93489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78">
            <a:extLst xmlns:a="http://schemas.openxmlformats.org/drawingml/2006/main">
              <a:ext uri="{FF2B5EF4-FFF2-40B4-BE49-F238E27FC236}">
                <a16:creationId xmlns:a16="http://schemas.microsoft.com/office/drawing/2014/main" id="{DEF0556E-307D-40B0-BBC0-536A8471C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376057435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08">
            <a:extLst xmlns:a="http://schemas.openxmlformats.org/drawingml/2006/main">
              <a:ext uri="{FF2B5EF4-FFF2-40B4-BE49-F238E27FC236}">
                <a16:creationId xmlns:a16="http://schemas.microsoft.com/office/drawing/2014/main" id="{1D93FC1D-97C1-4602-8171-D2A210E7AA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BB0C1D1-C553-4C91-BBCD-7E92F9AC1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Checkpoint｜Notebook 合格了嗎？</a:t>
            </a:r>
          </a:p>
        </p:txBody>
      </p:sp>
      <p:cxnSp>
        <p:nvCxnSpPr>
          <p:cNvPr id="28" name="shape-3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10">
            <a:extLst xmlns:a="http://schemas.openxmlformats.org/drawingml/2006/main">
              <a:ext uri="{FF2B5EF4-FFF2-40B4-BE49-F238E27FC236}">
                <a16:creationId xmlns:a16="http://schemas.microsoft.com/office/drawing/2014/main" id="{EBAEC81A-DFC1-49F0-876C-A9C68825C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57E15F4-63FB-4C05-98F1-DA204705A6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18</a:t>
            </a:r>
          </a:p>
        </p:txBody>
      </p:sp>
      <p:sp>
        <p:nvSpPr>
          <p:cNvPr id="6" name="shape-311">
            <a:extLst xmlns:a="http://schemas.openxmlformats.org/drawingml/2006/main">
              <a:ext uri="{FF2B5EF4-FFF2-40B4-BE49-F238E27FC236}">
                <a16:creationId xmlns:a16="http://schemas.microsoft.com/office/drawing/2014/main" id="{295B7B28-DCEA-4915-A86F-96F1BCE4A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12">
            <a:extLst xmlns:a="http://schemas.openxmlformats.org/drawingml/2006/main">
              <a:ext uri="{FF2B5EF4-FFF2-40B4-BE49-F238E27FC236}">
                <a16:creationId xmlns:a16="http://schemas.microsoft.com/office/drawing/2014/main" id="{2759B0B8-ECAB-4CDC-8097-1DB1E87EF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13">
            <a:extLst xmlns:a="http://schemas.openxmlformats.org/drawingml/2006/main">
              <a:ext uri="{FF2B5EF4-FFF2-40B4-BE49-F238E27FC236}">
                <a16:creationId xmlns:a16="http://schemas.microsoft.com/office/drawing/2014/main" id="{F35D7191-CD43-4574-B426-C7DE2A205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來源</a:t>
            </a:r>
          </a:p>
        </p:txBody>
      </p:sp>
      <p:sp>
        <p:nvSpPr>
          <p:cNvPr id="9" name="text-314">
            <a:extLst xmlns:a="http://schemas.openxmlformats.org/drawingml/2006/main">
              <a:ext uri="{FF2B5EF4-FFF2-40B4-BE49-F238E27FC236}">
                <a16:creationId xmlns:a16="http://schemas.microsoft.com/office/drawing/2014/main" id="{272A0D92-20D8-4004-83CE-C82F8D2D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資料可信、可授權使用，且與教學目的直接相關。</a:t>
            </a:r>
          </a:p>
        </p:txBody>
      </p:sp>
      <p:sp>
        <p:nvSpPr>
          <p:cNvPr id="10" name="shape-315">
            <a:extLst xmlns:a="http://schemas.openxmlformats.org/drawingml/2006/main">
              <a:ext uri="{FF2B5EF4-FFF2-40B4-BE49-F238E27FC236}">
                <a16:creationId xmlns:a16="http://schemas.microsoft.com/office/drawing/2014/main" id="{5930C5BD-FB3F-4F22-B748-2901AC8B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16">
            <a:extLst xmlns:a="http://schemas.openxmlformats.org/drawingml/2006/main">
              <a:ext uri="{FF2B5EF4-FFF2-40B4-BE49-F238E27FC236}">
                <a16:creationId xmlns:a16="http://schemas.microsoft.com/office/drawing/2014/main" id="{AB21C3EA-7735-412C-8904-8ECCE3B5F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17">
            <a:extLst xmlns:a="http://schemas.openxmlformats.org/drawingml/2006/main">
              <a:ext uri="{FF2B5EF4-FFF2-40B4-BE49-F238E27FC236}">
                <a16:creationId xmlns:a16="http://schemas.microsoft.com/office/drawing/2014/main" id="{BC3DDE14-47CC-4ADB-8965-22CE5E04F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引用</a:t>
            </a:r>
          </a:p>
        </p:txBody>
      </p:sp>
      <p:sp>
        <p:nvSpPr>
          <p:cNvPr id="13" name="text-318">
            <a:extLst xmlns:a="http://schemas.openxmlformats.org/drawingml/2006/main">
              <a:ext uri="{FF2B5EF4-FFF2-40B4-BE49-F238E27FC236}">
                <a16:creationId xmlns:a16="http://schemas.microsoft.com/office/drawing/2014/main" id="{BA772BCC-C59C-49C1-9E24-D67AE23D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至少抽查一個引用，原文確實支持回答。</a:t>
            </a:r>
          </a:p>
        </p:txBody>
      </p:sp>
      <p:sp>
        <p:nvSpPr>
          <p:cNvPr id="14" name="shape-319">
            <a:extLst xmlns:a="http://schemas.openxmlformats.org/drawingml/2006/main">
              <a:ext uri="{FF2B5EF4-FFF2-40B4-BE49-F238E27FC236}">
                <a16:creationId xmlns:a16="http://schemas.microsoft.com/office/drawing/2014/main" id="{C84348E1-A546-4125-B740-0AA9EA74D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20">
            <a:extLst xmlns:a="http://schemas.openxmlformats.org/drawingml/2006/main">
              <a:ext uri="{FF2B5EF4-FFF2-40B4-BE49-F238E27FC236}">
                <a16:creationId xmlns:a16="http://schemas.microsoft.com/office/drawing/2014/main" id="{32F93F61-D87C-4627-8723-C613E3581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321">
            <a:extLst xmlns:a="http://schemas.openxmlformats.org/drawingml/2006/main">
              <a:ext uri="{FF2B5EF4-FFF2-40B4-BE49-F238E27FC236}">
                <a16:creationId xmlns:a16="http://schemas.microsoft.com/office/drawing/2014/main" id="{EB06C418-3B7A-426A-AD17-45F124DFA7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邊界</a:t>
            </a:r>
          </a:p>
        </p:txBody>
      </p:sp>
      <p:sp>
        <p:nvSpPr>
          <p:cNvPr id="17" name="text-322">
            <a:extLst xmlns:a="http://schemas.openxmlformats.org/drawingml/2006/main">
              <a:ext uri="{FF2B5EF4-FFF2-40B4-BE49-F238E27FC236}">
                <a16:creationId xmlns:a16="http://schemas.microsoft.com/office/drawing/2014/main" id="{FEF0CFCB-9804-4809-9E41-50D2F9D8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知道哪些問題來源回答不了，不把推測當事實。</a:t>
            </a:r>
          </a:p>
        </p:txBody>
      </p:sp>
      <p:sp>
        <p:nvSpPr>
          <p:cNvPr id="18" name="shape-323">
            <a:extLst xmlns:a="http://schemas.openxmlformats.org/drawingml/2006/main">
              <a:ext uri="{FF2B5EF4-FFF2-40B4-BE49-F238E27FC236}">
                <a16:creationId xmlns:a16="http://schemas.microsoft.com/office/drawing/2014/main" id="{DC603DB8-0DC4-453D-95AB-9206DB27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24">
            <a:extLst xmlns:a="http://schemas.openxmlformats.org/drawingml/2006/main">
              <a:ext uri="{FF2B5EF4-FFF2-40B4-BE49-F238E27FC236}">
                <a16:creationId xmlns:a16="http://schemas.microsoft.com/office/drawing/2014/main" id="{0D86AEF1-8892-4855-A538-4B65EF9FE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325">
            <a:extLst xmlns:a="http://schemas.openxmlformats.org/drawingml/2006/main">
              <a:ext uri="{FF2B5EF4-FFF2-40B4-BE49-F238E27FC236}">
                <a16:creationId xmlns:a16="http://schemas.microsoft.com/office/drawing/2014/main" id="{4AB18FD2-3068-48BC-97B4-A500D8CC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產出</a:t>
            </a:r>
          </a:p>
        </p:txBody>
      </p:sp>
      <p:sp>
        <p:nvSpPr>
          <p:cNvPr id="21" name="text-326">
            <a:extLst xmlns:a="http://schemas.openxmlformats.org/drawingml/2006/main">
              <a:ext uri="{FF2B5EF4-FFF2-40B4-BE49-F238E27FC236}">
                <a16:creationId xmlns:a16="http://schemas.microsoft.com/office/drawing/2014/main" id="{E171385F-FBFE-4E81-9E4C-62E7FD4BE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結果已能進入下一步 Gem 或 Canvas。</a:t>
            </a:r>
          </a:p>
        </p:txBody>
      </p:sp>
      <p:sp>
        <p:nvSpPr>
          <p:cNvPr id="22" name="text-646">
            <a:extLst xmlns:a="http://schemas.openxmlformats.org/drawingml/2006/main">
              <a:ext uri="{FF2B5EF4-FFF2-40B4-BE49-F238E27FC236}">
                <a16:creationId xmlns:a16="http://schemas.microsoft.com/office/drawing/2014/main" id="{7113E601-B00C-415C-87E4-B4AECA007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a1df3d2527814519"/>
              </a:rPr>
              <a:t>開啟 Gemini Notebook ↗</a:t>
            </a:r>
          </a:p>
        </p:txBody>
      </p:sp>
      <p:sp>
        <p:nvSpPr>
          <p:cNvPr id="23" name="shape-679">
            <a:extLst xmlns:a="http://schemas.openxmlformats.org/drawingml/2006/main">
              <a:ext uri="{FF2B5EF4-FFF2-40B4-BE49-F238E27FC236}">
                <a16:creationId xmlns:a16="http://schemas.microsoft.com/office/drawing/2014/main" id="{16B49819-3ED2-466D-8B7A-B10153675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a166102c88434d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0">
            <a:extLst xmlns:a="http://schemas.openxmlformats.org/drawingml/2006/main">
              <a:ext uri="{FF2B5EF4-FFF2-40B4-BE49-F238E27FC236}">
                <a16:creationId xmlns:a16="http://schemas.microsoft.com/office/drawing/2014/main" id="{37F52ED5-77E3-4422-BB42-1FEF413A7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Notebook</a:t>
            </a:r>
          </a:p>
        </p:txBody>
      </p:sp>
    </p:spTree>
    <p:extLst>
      <p:ext uri="{BB962C8B-B14F-4D97-AF65-F5344CB8AC3E}">
        <p14:creationId xmlns:p14="http://schemas.microsoft.com/office/powerpoint/2010/main" val="4793256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327">
            <a:extLst xmlns:a="http://schemas.openxmlformats.org/drawingml/2006/main">
              <a:ext uri="{FF2B5EF4-FFF2-40B4-BE49-F238E27FC236}">
                <a16:creationId xmlns:a16="http://schemas.microsoft.com/office/drawing/2014/main" id="{8795E6C8-B411-4285-B84B-2BE1FB42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2" name="text-328">
            <a:extLst xmlns:a="http://schemas.openxmlformats.org/drawingml/2006/main">
              <a:ext uri="{FF2B5EF4-FFF2-40B4-BE49-F238E27FC236}">
                <a16:creationId xmlns:a16="http://schemas.microsoft.com/office/drawing/2014/main" id="{6E6B414F-3E5F-4366-A26A-10CA8AA6A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</a:t>
            </a:r>
          </a:p>
        </p:txBody>
      </p:sp>
      <p:sp>
        <p:nvSpPr>
          <p:cNvPr id="3" name="text-329">
            <a:extLst xmlns:a="http://schemas.openxmlformats.org/drawingml/2006/main">
              <a:ext uri="{FF2B5EF4-FFF2-40B4-BE49-F238E27FC236}">
                <a16:creationId xmlns:a16="http://schemas.microsoft.com/office/drawing/2014/main" id="{BF5E547A-0F6F-4A84-B91F-B4C8DA51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把一套教學角色、方法、語氣與輸出格式固定下來，成為可重複使用的專屬助理。</a:t>
            </a:r>
          </a:p>
        </p:txBody>
      </p:sp>
      <p:sp>
        <p:nvSpPr>
          <p:cNvPr id="4" name="shape-330">
            <a:extLst xmlns:a="http://schemas.openxmlformats.org/drawingml/2006/main">
              <a:ext uri="{FF2B5EF4-FFF2-40B4-BE49-F238E27FC236}">
                <a16:creationId xmlns:a16="http://schemas.microsoft.com/office/drawing/2014/main" id="{7C386926-DE27-40C8-ABF7-61267C8B1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331">
            <a:extLst xmlns:a="http://schemas.openxmlformats.org/drawingml/2006/main">
              <a:ext uri="{FF2B5EF4-FFF2-40B4-BE49-F238E27FC236}">
                <a16:creationId xmlns:a16="http://schemas.microsoft.com/office/drawing/2014/main" id="{B8FFE9BD-6D3B-4330-AAB5-1F7F89532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33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333">
            <a:extLst xmlns:a="http://schemas.openxmlformats.org/drawingml/2006/main">
              <a:ext uri="{FF2B5EF4-FFF2-40B4-BE49-F238E27FC236}">
                <a16:creationId xmlns:a16="http://schemas.microsoft.com/office/drawing/2014/main" id="{95DB33AD-7F1E-47E4-9134-6D213B46B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1D5FA181-454E-4EDA-8E78-E2B9685FE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19</a:t>
            </a:r>
          </a:p>
        </p:txBody>
      </p:sp>
      <p:sp>
        <p:nvSpPr>
          <p:cNvPr id="9" name="text-647">
            <a:extLst xmlns:a="http://schemas.openxmlformats.org/drawingml/2006/main">
              <a:ext uri="{FF2B5EF4-FFF2-40B4-BE49-F238E27FC236}">
                <a16:creationId xmlns:a16="http://schemas.microsoft.com/office/drawing/2014/main" id="{9E56C7C4-1D0E-49EA-9E61-AE2263581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b2dbd1c3b49d46e2"/>
              </a:rPr>
              <a:t>建立自訂 Gem ↗</a:t>
            </a:r>
          </a:p>
        </p:txBody>
      </p:sp>
      <p:sp>
        <p:nvSpPr>
          <p:cNvPr id="10" name="shape-681">
            <a:extLst xmlns:a="http://schemas.openxmlformats.org/drawingml/2006/main">
              <a:ext uri="{FF2B5EF4-FFF2-40B4-BE49-F238E27FC236}">
                <a16:creationId xmlns:a16="http://schemas.microsoft.com/office/drawing/2014/main" id="{2D9E8AA9-5E33-424E-825F-AA6B8BFB0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217fca1e284b04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82">
            <a:extLst xmlns:a="http://schemas.openxmlformats.org/drawingml/2006/main">
              <a:ext uri="{FF2B5EF4-FFF2-40B4-BE49-F238E27FC236}">
                <a16:creationId xmlns:a16="http://schemas.microsoft.com/office/drawing/2014/main" id="{2044AE8B-ABB8-479C-9675-98926053F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1942852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text-334">
            <a:extLst xmlns:a="http://schemas.openxmlformats.org/drawingml/2006/main">
              <a:ext uri="{FF2B5EF4-FFF2-40B4-BE49-F238E27FC236}">
                <a16:creationId xmlns:a16="http://schemas.microsoft.com/office/drawing/2014/main" id="{83BB2014-88B5-4AD2-950D-777DE524D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PERSISTENT ASSISTANT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69ADAAE-D864-4B18-9564-5DE0E824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不是更長的提示詞，而是可持續使用的工作設定</a:t>
            </a:r>
          </a:p>
        </p:txBody>
      </p:sp>
      <p:cxnSp>
        <p:nvCxnSpPr>
          <p:cNvPr id="18" name="shape-33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36">
            <a:extLst xmlns:a="http://schemas.openxmlformats.org/drawingml/2006/main">
              <a:ext uri="{FF2B5EF4-FFF2-40B4-BE49-F238E27FC236}">
                <a16:creationId xmlns:a16="http://schemas.microsoft.com/office/drawing/2014/main" id="{0F51B9F8-318F-45AE-96DB-78A48F620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3B0FF8A-45FB-4942-999D-618BB56A4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20</a:t>
            </a:r>
          </a:p>
        </p:txBody>
      </p:sp>
      <p:sp>
        <p:nvSpPr>
          <p:cNvPr id="6" name="shape-337">
            <a:extLst xmlns:a="http://schemas.openxmlformats.org/drawingml/2006/main">
              <a:ext uri="{FF2B5EF4-FFF2-40B4-BE49-F238E27FC236}">
                <a16:creationId xmlns:a16="http://schemas.microsoft.com/office/drawing/2014/main" id="{D5232EA3-8DA9-46CD-BDD5-1248A72D7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338">
            <a:extLst xmlns:a="http://schemas.openxmlformats.org/drawingml/2006/main">
              <a:ext uri="{FF2B5EF4-FFF2-40B4-BE49-F238E27FC236}">
                <a16:creationId xmlns:a16="http://schemas.microsoft.com/office/drawing/2014/main" id="{9300B9D5-E72D-436E-B86E-B174C3BE9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339">
            <a:extLst xmlns:a="http://schemas.openxmlformats.org/drawingml/2006/main">
              <a:ext uri="{FF2B5EF4-FFF2-40B4-BE49-F238E27FC236}">
                <a16:creationId xmlns:a16="http://schemas.microsoft.com/office/drawing/2014/main" id="{C1552189-3BC4-4A5E-8A20-C81820261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單次對話</a:t>
            </a:r>
          </a:p>
        </p:txBody>
      </p:sp>
      <p:sp>
        <p:nvSpPr>
          <p:cNvPr id="9" name="text-340">
            <a:extLst xmlns:a="http://schemas.openxmlformats.org/drawingml/2006/main">
              <a:ext uri="{FF2B5EF4-FFF2-40B4-BE49-F238E27FC236}">
                <a16:creationId xmlns:a16="http://schemas.microsoft.com/office/drawing/2014/main" id="{C7E83C8A-7637-4013-97B6-3AAA4498F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每次重新交代角色與格式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容易隨對話漂移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適合一次性探索</a:t>
            </a:r>
          </a:p>
        </p:txBody>
      </p:sp>
      <p:sp>
        <p:nvSpPr>
          <p:cNvPr id="10" name="text-341">
            <a:extLst xmlns:a="http://schemas.openxmlformats.org/drawingml/2006/main">
              <a:ext uri="{FF2B5EF4-FFF2-40B4-BE49-F238E27FC236}">
                <a16:creationId xmlns:a16="http://schemas.microsoft.com/office/drawing/2014/main" id="{E82437E2-2A86-4789-91A1-961C3107A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專屬 Gem</a:t>
            </a:r>
          </a:p>
        </p:txBody>
      </p:sp>
      <p:sp>
        <p:nvSpPr>
          <p:cNvPr id="11" name="text-342">
            <a:extLst xmlns:a="http://schemas.openxmlformats.org/drawingml/2006/main">
              <a:ext uri="{FF2B5EF4-FFF2-40B4-BE49-F238E27FC236}">
                <a16:creationId xmlns:a16="http://schemas.microsoft.com/office/drawing/2014/main" id="{228FCCBB-247B-48B6-8483-F825BBEF7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保存名稱與指令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可加入背景檔案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適合重複的教學任務</a:t>
            </a:r>
          </a:p>
        </p:txBody>
      </p:sp>
      <p:sp>
        <p:nvSpPr>
          <p:cNvPr id="12" name="text-648">
            <a:extLst xmlns:a="http://schemas.openxmlformats.org/drawingml/2006/main">
              <a:ext uri="{FF2B5EF4-FFF2-40B4-BE49-F238E27FC236}">
                <a16:creationId xmlns:a16="http://schemas.microsoft.com/office/drawing/2014/main" id="{49589018-AC3E-4E6B-B402-70A6EB124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7fd2a954e4546e6"/>
              </a:rPr>
              <a:t>建立自訂 Gem ↗</a:t>
            </a:r>
          </a:p>
        </p:txBody>
      </p:sp>
      <p:sp>
        <p:nvSpPr>
          <p:cNvPr id="13" name="shape-683">
            <a:extLst xmlns:a="http://schemas.openxmlformats.org/drawingml/2006/main">
              <a:ext uri="{FF2B5EF4-FFF2-40B4-BE49-F238E27FC236}">
                <a16:creationId xmlns:a16="http://schemas.microsoft.com/office/drawing/2014/main" id="{24112DC4-7E38-440B-B984-F3ED4B40A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2681380713427c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5" name="text-684">
            <a:extLst xmlns:a="http://schemas.openxmlformats.org/drawingml/2006/main">
              <a:ext uri="{FF2B5EF4-FFF2-40B4-BE49-F238E27FC236}">
                <a16:creationId xmlns:a16="http://schemas.microsoft.com/office/drawing/2014/main" id="{C9D3C31A-5F22-42D9-BF55-309825571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759822041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43">
            <a:extLst xmlns:a="http://schemas.openxmlformats.org/drawingml/2006/main">
              <a:ext uri="{FF2B5EF4-FFF2-40B4-BE49-F238E27FC236}">
                <a16:creationId xmlns:a16="http://schemas.microsoft.com/office/drawing/2014/main" id="{241C3979-B14B-49B5-85DB-70B03F004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INSTRUCTION CANVAS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868B487-321A-4061-B83B-001EF7E3F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 指令四格：角色、任務、背景、格式</a:t>
            </a:r>
          </a:p>
        </p:txBody>
      </p:sp>
      <p:cxnSp>
        <p:nvCxnSpPr>
          <p:cNvPr id="28" name="shape-34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45">
            <a:extLst xmlns:a="http://schemas.openxmlformats.org/drawingml/2006/main">
              <a:ext uri="{FF2B5EF4-FFF2-40B4-BE49-F238E27FC236}">
                <a16:creationId xmlns:a16="http://schemas.microsoft.com/office/drawing/2014/main" id="{0141700E-8DC4-4844-97D1-5D0F5E525F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B587A4D-335B-4768-81A5-5A0B2D5F3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21</a:t>
            </a:r>
          </a:p>
        </p:txBody>
      </p:sp>
      <p:sp>
        <p:nvSpPr>
          <p:cNvPr id="6" name="shape-346">
            <a:extLst xmlns:a="http://schemas.openxmlformats.org/drawingml/2006/main">
              <a:ext uri="{FF2B5EF4-FFF2-40B4-BE49-F238E27FC236}">
                <a16:creationId xmlns:a16="http://schemas.microsoft.com/office/drawing/2014/main" id="{C2FC3B1C-355F-4D48-A509-A23C13BD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47">
            <a:extLst xmlns:a="http://schemas.openxmlformats.org/drawingml/2006/main">
              <a:ext uri="{FF2B5EF4-FFF2-40B4-BE49-F238E27FC236}">
                <a16:creationId xmlns:a16="http://schemas.microsoft.com/office/drawing/2014/main" id="{2B0C60A5-72C6-416F-9593-429109A4DB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P</a:t>
            </a:r>
          </a:p>
        </p:txBody>
      </p:sp>
      <p:sp>
        <p:nvSpPr>
          <p:cNvPr id="8" name="text-348">
            <a:extLst xmlns:a="http://schemas.openxmlformats.org/drawingml/2006/main">
              <a:ext uri="{FF2B5EF4-FFF2-40B4-BE49-F238E27FC236}">
                <a16:creationId xmlns:a16="http://schemas.microsoft.com/office/drawing/2014/main" id="{C002B6B8-D528-40A8-91DE-751CC16BD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角色 Persona</a:t>
            </a:r>
          </a:p>
        </p:txBody>
      </p:sp>
      <p:sp>
        <p:nvSpPr>
          <p:cNvPr id="9" name="text-349">
            <a:extLst xmlns:a="http://schemas.openxmlformats.org/drawingml/2006/main">
              <a:ext uri="{FF2B5EF4-FFF2-40B4-BE49-F238E27FC236}">
                <a16:creationId xmlns:a16="http://schemas.microsoft.com/office/drawing/2014/main" id="{87ADB71F-6EC5-44DC-9285-2C14332F9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你是誰？面對哪一類教師或學生？專業邊界是什麼？</a:t>
            </a:r>
          </a:p>
        </p:txBody>
      </p:sp>
      <p:sp>
        <p:nvSpPr>
          <p:cNvPr id="10" name="shape-350">
            <a:extLst xmlns:a="http://schemas.openxmlformats.org/drawingml/2006/main">
              <a:ext uri="{FF2B5EF4-FFF2-40B4-BE49-F238E27FC236}">
                <a16:creationId xmlns:a16="http://schemas.microsoft.com/office/drawing/2014/main" id="{EF6035A9-DB8C-420C-89FF-345F68C6B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51">
            <a:extLst xmlns:a="http://schemas.openxmlformats.org/drawingml/2006/main">
              <a:ext uri="{FF2B5EF4-FFF2-40B4-BE49-F238E27FC236}">
                <a16:creationId xmlns:a16="http://schemas.microsoft.com/office/drawing/2014/main" id="{5C9052BD-D12F-4B4D-A1A1-249BBB7D2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T</a:t>
            </a:r>
          </a:p>
        </p:txBody>
      </p:sp>
      <p:sp>
        <p:nvSpPr>
          <p:cNvPr id="12" name="text-352">
            <a:extLst xmlns:a="http://schemas.openxmlformats.org/drawingml/2006/main">
              <a:ext uri="{FF2B5EF4-FFF2-40B4-BE49-F238E27FC236}">
                <a16:creationId xmlns:a16="http://schemas.microsoft.com/office/drawing/2014/main" id="{125BEB26-3F12-4940-96E2-9E81D16BD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任務 Task</a:t>
            </a:r>
          </a:p>
        </p:txBody>
      </p:sp>
      <p:sp>
        <p:nvSpPr>
          <p:cNvPr id="13" name="text-353">
            <a:extLst xmlns:a="http://schemas.openxmlformats.org/drawingml/2006/main">
              <a:ext uri="{FF2B5EF4-FFF2-40B4-BE49-F238E27FC236}">
                <a16:creationId xmlns:a16="http://schemas.microsoft.com/office/drawing/2014/main" id="{E81EF32B-36B0-4369-B69C-FC860D57A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需要做哪些動作？先問什麼？什麼情況要停止？</a:t>
            </a:r>
          </a:p>
        </p:txBody>
      </p:sp>
      <p:sp>
        <p:nvSpPr>
          <p:cNvPr id="14" name="shape-354">
            <a:extLst xmlns:a="http://schemas.openxmlformats.org/drawingml/2006/main">
              <a:ext uri="{FF2B5EF4-FFF2-40B4-BE49-F238E27FC236}">
                <a16:creationId xmlns:a16="http://schemas.microsoft.com/office/drawing/2014/main" id="{EA080D21-8D6D-40F1-BB13-E14CFB74E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355">
            <a:extLst xmlns:a="http://schemas.openxmlformats.org/drawingml/2006/main">
              <a:ext uri="{FF2B5EF4-FFF2-40B4-BE49-F238E27FC236}">
                <a16:creationId xmlns:a16="http://schemas.microsoft.com/office/drawing/2014/main" id="{E1010B3B-F324-41CE-A65B-D1D8636E7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C</a:t>
            </a:r>
          </a:p>
        </p:txBody>
      </p:sp>
      <p:sp>
        <p:nvSpPr>
          <p:cNvPr id="16" name="text-356">
            <a:extLst xmlns:a="http://schemas.openxmlformats.org/drawingml/2006/main">
              <a:ext uri="{FF2B5EF4-FFF2-40B4-BE49-F238E27FC236}">
                <a16:creationId xmlns:a16="http://schemas.microsoft.com/office/drawing/2014/main" id="{4356329D-CFEC-4A62-95A8-08C7543BD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背景 Context</a:t>
            </a:r>
          </a:p>
        </p:txBody>
      </p:sp>
      <p:sp>
        <p:nvSpPr>
          <p:cNvPr id="17" name="text-357">
            <a:extLst xmlns:a="http://schemas.openxmlformats.org/drawingml/2006/main">
              <a:ext uri="{FF2B5EF4-FFF2-40B4-BE49-F238E27FC236}">
                <a16:creationId xmlns:a16="http://schemas.microsoft.com/office/drawing/2014/main" id="{24651EA2-8FC5-4F23-9568-80270551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課程、學生、評量、時間與資料限制。</a:t>
            </a:r>
          </a:p>
        </p:txBody>
      </p:sp>
      <p:sp>
        <p:nvSpPr>
          <p:cNvPr id="18" name="shape-358">
            <a:extLst xmlns:a="http://schemas.openxmlformats.org/drawingml/2006/main">
              <a:ext uri="{FF2B5EF4-FFF2-40B4-BE49-F238E27FC236}">
                <a16:creationId xmlns:a16="http://schemas.microsoft.com/office/drawing/2014/main" id="{C5238E39-0B67-4FAF-9587-7188A277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359">
            <a:extLst xmlns:a="http://schemas.openxmlformats.org/drawingml/2006/main">
              <a:ext uri="{FF2B5EF4-FFF2-40B4-BE49-F238E27FC236}">
                <a16:creationId xmlns:a16="http://schemas.microsoft.com/office/drawing/2014/main" id="{36473366-63B4-4B6E-BF66-DEE4DBAEA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F</a:t>
            </a:r>
          </a:p>
        </p:txBody>
      </p:sp>
      <p:sp>
        <p:nvSpPr>
          <p:cNvPr id="20" name="text-360">
            <a:extLst xmlns:a="http://schemas.openxmlformats.org/drawingml/2006/main">
              <a:ext uri="{FF2B5EF4-FFF2-40B4-BE49-F238E27FC236}">
                <a16:creationId xmlns:a16="http://schemas.microsoft.com/office/drawing/2014/main" id="{EF3DE20B-A72A-4D80-B96E-60591A578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格式 Format</a:t>
            </a:r>
          </a:p>
        </p:txBody>
      </p:sp>
      <p:sp>
        <p:nvSpPr>
          <p:cNvPr id="21" name="text-361">
            <a:extLst xmlns:a="http://schemas.openxmlformats.org/drawingml/2006/main">
              <a:ext uri="{FF2B5EF4-FFF2-40B4-BE49-F238E27FC236}">
                <a16:creationId xmlns:a16="http://schemas.microsoft.com/office/drawing/2014/main" id="{1D916096-F1EE-4E37-9760-1B41564AC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輸出欄位、長度、語氣、表格與檢核清單。</a:t>
            </a:r>
          </a:p>
        </p:txBody>
      </p:sp>
      <p:sp>
        <p:nvSpPr>
          <p:cNvPr id="22" name="text-649">
            <a:extLst xmlns:a="http://schemas.openxmlformats.org/drawingml/2006/main">
              <a:ext uri="{FF2B5EF4-FFF2-40B4-BE49-F238E27FC236}">
                <a16:creationId xmlns:a16="http://schemas.microsoft.com/office/drawing/2014/main" id="{899A57D2-E192-4E5F-8FCE-0C280D122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d85b9d04e7e485c"/>
              </a:rPr>
              <a:t>建立自訂 Gem ↗</a:t>
            </a:r>
          </a:p>
        </p:txBody>
      </p:sp>
      <p:sp>
        <p:nvSpPr>
          <p:cNvPr id="23" name="shape-685">
            <a:extLst xmlns:a="http://schemas.openxmlformats.org/drawingml/2006/main">
              <a:ext uri="{FF2B5EF4-FFF2-40B4-BE49-F238E27FC236}">
                <a16:creationId xmlns:a16="http://schemas.microsoft.com/office/drawing/2014/main" id="{2FE64F82-FDDE-4D7E-99FA-1E94FEC35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194cd2567b54d7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86">
            <a:extLst xmlns:a="http://schemas.openxmlformats.org/drawingml/2006/main">
              <a:ext uri="{FF2B5EF4-FFF2-40B4-BE49-F238E27FC236}">
                <a16:creationId xmlns:a16="http://schemas.microsoft.com/office/drawing/2014/main" id="{18718B64-5F04-4277-94AC-E04B16E87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30019832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text-362">
            <a:extLst xmlns:a="http://schemas.openxmlformats.org/drawingml/2006/main">
              <a:ext uri="{FF2B5EF4-FFF2-40B4-BE49-F238E27FC236}">
                <a16:creationId xmlns:a16="http://schemas.microsoft.com/office/drawing/2014/main" id="{E4A8B1A1-084C-4955-8130-77F18D73C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AGENT SKILL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E3ED7BE4-32A3-4B91-980C-CAE912967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範例｜課程與研究設計教練 Gem</a:t>
            </a:r>
          </a:p>
        </p:txBody>
      </p:sp>
      <p:cxnSp>
        <p:nvCxnSpPr>
          <p:cNvPr id="19" name="shape-36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64">
            <a:extLst xmlns:a="http://schemas.openxmlformats.org/drawingml/2006/main">
              <a:ext uri="{FF2B5EF4-FFF2-40B4-BE49-F238E27FC236}">
                <a16:creationId xmlns:a16="http://schemas.microsoft.com/office/drawing/2014/main" id="{14304410-D36F-4A6A-945A-AD54CE8EB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3D6C6A25-980F-43D3-85DD-7ACB43E43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22</a:t>
            </a:r>
          </a:p>
        </p:txBody>
      </p:sp>
      <p:sp>
        <p:nvSpPr>
          <p:cNvPr id="6" name="text-365">
            <a:extLst xmlns:a="http://schemas.openxmlformats.org/drawingml/2006/main">
              <a:ext uri="{FF2B5EF4-FFF2-40B4-BE49-F238E27FC236}">
                <a16:creationId xmlns:a16="http://schemas.microsoft.com/office/drawing/2014/main" id="{34FC4470-B1ED-4079-A599-9F4C42BBE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6858000" cy="4324350"/>
          </a:xfrm>
          <a:prstGeom xmlns:a="http://schemas.openxmlformats.org/drawingml/2006/main" prst="roundRect">
            <a:avLst>
              <a:gd name="adj" fmla="val 3524"/>
            </a:avLst>
          </a:prstGeom>
          <a:solidFill xmlns:a="http://schemas.openxmlformats.org/drawingml/2006/main">
            <a:srgbClr val="12243A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247650" tIns="247650" rIns="247650" bIns="2476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你是一位大學教學與研究設計教練。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任務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1. 先詢問課程／研究目標、對象、資料與目前困難。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2. 提出 3 個可實作方案，不替教師或研究者做最終決定。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3. 每個方案列出流程、時間、證據與驗證方式。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背景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以上傳的課程或研究資料為優先；資料不足時明確指出。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格式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先給一頁摘要，再給可直接使用的工作表格，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defRPr>
            </a:pPr>
            <a:r>
              <a:rPr sz="1350" b="0">
                <a:solidFill>
                  <a:srgbClr val="DCEBFF"/>
                </a:solidFill>
                <a:latin typeface="Cascadia Mono"/>
                <a:ea typeface="Cascadia Mono"/>
                <a:cs typeface="Cascadia Mono"/>
              </a:rPr>
              <a:t>最後列出風險與需要人工確認的事項。</a:t>
            </a:r>
          </a:p>
        </p:txBody>
      </p:sp>
      <p:sp>
        <p:nvSpPr>
          <p:cNvPr id="7" name="text-366">
            <a:extLst xmlns:a="http://schemas.openxmlformats.org/drawingml/2006/main">
              <a:ext uri="{FF2B5EF4-FFF2-40B4-BE49-F238E27FC236}">
                <a16:creationId xmlns:a16="http://schemas.microsoft.com/office/drawing/2014/main" id="{06721932-8A07-4206-AA06-D150CBBF1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17526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先問再做</a:t>
            </a:r>
          </a:p>
        </p:txBody>
      </p:sp>
      <p:sp>
        <p:nvSpPr>
          <p:cNvPr id="8" name="text-367">
            <a:extLst xmlns:a="http://schemas.openxmlformats.org/drawingml/2006/main">
              <a:ext uri="{FF2B5EF4-FFF2-40B4-BE49-F238E27FC236}">
                <a16:creationId xmlns:a16="http://schemas.microsoft.com/office/drawing/2014/main" id="{19593A23-EF20-4FE1-AE2E-B88E7CF66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21907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避免資訊不足時直接產生看似完整的答案。</a:t>
            </a:r>
          </a:p>
        </p:txBody>
      </p:sp>
      <p:sp>
        <p:nvSpPr>
          <p:cNvPr id="9" name="text-368">
            <a:extLst xmlns:a="http://schemas.openxmlformats.org/drawingml/2006/main">
              <a:ext uri="{FF2B5EF4-FFF2-40B4-BE49-F238E27FC236}">
                <a16:creationId xmlns:a16="http://schemas.microsoft.com/office/drawing/2014/main" id="{303EE170-6506-4175-BD2E-5B89E9F88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10515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22AFA4"/>
                </a:solidFill>
                <a:latin typeface="Noto Sans TC"/>
                <a:ea typeface="Noto Sans TC"/>
                <a:cs typeface="Noto Sans TC"/>
              </a:rPr>
              <a:t>保留教師判斷</a:t>
            </a:r>
          </a:p>
        </p:txBody>
      </p:sp>
      <p:sp>
        <p:nvSpPr>
          <p:cNvPr id="10" name="text-369">
            <a:extLst xmlns:a="http://schemas.openxmlformats.org/drawingml/2006/main">
              <a:ext uri="{FF2B5EF4-FFF2-40B4-BE49-F238E27FC236}">
                <a16:creationId xmlns:a16="http://schemas.microsoft.com/office/drawing/2014/main" id="{700E7E1F-672E-4622-97B0-74E638EE6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354330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提供選項與證據，不替教師作高風險決定。</a:t>
            </a:r>
          </a:p>
        </p:txBody>
      </p:sp>
      <p:sp>
        <p:nvSpPr>
          <p:cNvPr id="11" name="text-370">
            <a:extLst xmlns:a="http://schemas.openxmlformats.org/drawingml/2006/main">
              <a:ext uri="{FF2B5EF4-FFF2-40B4-BE49-F238E27FC236}">
                <a16:creationId xmlns:a16="http://schemas.microsoft.com/office/drawing/2014/main" id="{42B8D940-804A-430B-B978-32F26BC7F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457700"/>
            <a:ext cx="35433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固定交付格式</a:t>
            </a:r>
          </a:p>
        </p:txBody>
      </p:sp>
      <p:sp>
        <p:nvSpPr>
          <p:cNvPr id="12" name="text-371">
            <a:extLst xmlns:a="http://schemas.openxmlformats.org/drawingml/2006/main">
              <a:ext uri="{FF2B5EF4-FFF2-40B4-BE49-F238E27FC236}">
                <a16:creationId xmlns:a16="http://schemas.microsoft.com/office/drawing/2014/main" id="{842A7C61-83E5-4CB9-8A06-6D0B28B66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53350" y="4895850"/>
            <a:ext cx="3543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讓每次輸出都容易比較、修改與共備。</a:t>
            </a:r>
          </a:p>
        </p:txBody>
      </p:sp>
      <p:sp>
        <p:nvSpPr>
          <p:cNvPr id="13" name="text-650">
            <a:extLst xmlns:a="http://schemas.openxmlformats.org/drawingml/2006/main">
              <a:ext uri="{FF2B5EF4-FFF2-40B4-BE49-F238E27FC236}">
                <a16:creationId xmlns:a16="http://schemas.microsoft.com/office/drawing/2014/main" id="{970D3F81-0160-4CB0-B9D6-BBBA1923BB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13ff20225174c9f"/>
              </a:rPr>
              <a:t>建立自訂 Gem ↗</a:t>
            </a:r>
          </a:p>
        </p:txBody>
      </p:sp>
      <p:sp>
        <p:nvSpPr>
          <p:cNvPr id="14" name="shape-687">
            <a:extLst xmlns:a="http://schemas.openxmlformats.org/drawingml/2006/main">
              <a:ext uri="{FF2B5EF4-FFF2-40B4-BE49-F238E27FC236}">
                <a16:creationId xmlns:a16="http://schemas.microsoft.com/office/drawing/2014/main" id="{B77B9703-2F49-4078-8886-EC75BDE64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3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129cec69a24a0e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6" name="text-688">
            <a:extLst xmlns:a="http://schemas.openxmlformats.org/drawingml/2006/main">
              <a:ext uri="{FF2B5EF4-FFF2-40B4-BE49-F238E27FC236}">
                <a16:creationId xmlns:a16="http://schemas.microsoft.com/office/drawing/2014/main" id="{50396085-5573-4058-AA13-79C5C4043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312293720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372">
            <a:extLst xmlns:a="http://schemas.openxmlformats.org/drawingml/2006/main">
              <a:ext uri="{FF2B5EF4-FFF2-40B4-BE49-F238E27FC236}">
                <a16:creationId xmlns:a16="http://schemas.microsoft.com/office/drawing/2014/main" id="{8B8F696A-E703-4C53-B425-353F27300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36ECE0-B74F-4961-8863-987208F4D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實作二｜建立並壓力測試專屬 Gem</a:t>
            </a:r>
          </a:p>
        </p:txBody>
      </p:sp>
      <p:cxnSp>
        <p:nvCxnSpPr>
          <p:cNvPr id="25" name="shape-373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74">
            <a:extLst xmlns:a="http://schemas.openxmlformats.org/drawingml/2006/main">
              <a:ext uri="{FF2B5EF4-FFF2-40B4-BE49-F238E27FC236}">
                <a16:creationId xmlns:a16="http://schemas.microsoft.com/office/drawing/2014/main" id="{9EAF165E-B76E-4DBB-85DD-27B91D5E5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D5BB7FE-BC31-4D86-84EE-16B409C8A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23</a:t>
            </a:r>
          </a:p>
        </p:txBody>
      </p:sp>
      <p:sp>
        <p:nvSpPr>
          <p:cNvPr id="6" name="text-375">
            <a:extLst xmlns:a="http://schemas.openxmlformats.org/drawingml/2006/main">
              <a:ext uri="{FF2B5EF4-FFF2-40B4-BE49-F238E27FC236}">
                <a16:creationId xmlns:a16="http://schemas.microsoft.com/office/drawing/2014/main" id="{947DAC56-CA75-4484-BE59-4C42FDA2D0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376">
            <a:extLst xmlns:a="http://schemas.openxmlformats.org/drawingml/2006/main">
              <a:ext uri="{FF2B5EF4-FFF2-40B4-BE49-F238E27FC236}">
                <a16:creationId xmlns:a16="http://schemas.microsoft.com/office/drawing/2014/main" id="{269E7626-503B-455A-BA18-16C78E922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377">
            <a:extLst xmlns:a="http://schemas.openxmlformats.org/drawingml/2006/main">
              <a:ext uri="{FF2B5EF4-FFF2-40B4-BE49-F238E27FC236}">
                <a16:creationId xmlns:a16="http://schemas.microsoft.com/office/drawing/2014/main" id="{18B6A1AC-2B25-4BCA-8862-2B8A9717B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378">
            <a:extLst xmlns:a="http://schemas.openxmlformats.org/drawingml/2006/main">
              <a:ext uri="{FF2B5EF4-FFF2-40B4-BE49-F238E27FC236}">
                <a16:creationId xmlns:a16="http://schemas.microsoft.com/office/drawing/2014/main" id="{6F4CCA04-9577-45A2-A089-CA8BD9887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用四格完成 Gem 指令</a:t>
            </a:r>
          </a:p>
        </p:txBody>
      </p:sp>
      <p:sp>
        <p:nvSpPr>
          <p:cNvPr id="10" name="text-379">
            <a:extLst xmlns:a="http://schemas.openxmlformats.org/drawingml/2006/main">
              <a:ext uri="{FF2B5EF4-FFF2-40B4-BE49-F238E27FC236}">
                <a16:creationId xmlns:a16="http://schemas.microsoft.com/office/drawing/2014/main" id="{B4490577-D243-462D-A36A-53DFCF0B7B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380">
            <a:extLst xmlns:a="http://schemas.openxmlformats.org/drawingml/2006/main">
              <a:ext uri="{FF2B5EF4-FFF2-40B4-BE49-F238E27FC236}">
                <a16:creationId xmlns:a16="http://schemas.microsoft.com/office/drawing/2014/main" id="{AA660C3C-DA9B-4A65-A341-E24793A9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加入必要的課程背景檔案</a:t>
            </a:r>
          </a:p>
        </p:txBody>
      </p:sp>
      <p:sp>
        <p:nvSpPr>
          <p:cNvPr id="12" name="text-381">
            <a:extLst xmlns:a="http://schemas.openxmlformats.org/drawingml/2006/main">
              <a:ext uri="{FF2B5EF4-FFF2-40B4-BE49-F238E27FC236}">
                <a16:creationId xmlns:a16="http://schemas.microsoft.com/office/drawing/2014/main" id="{09B25FDC-E037-4B2A-B578-513035BF0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382">
            <a:extLst xmlns:a="http://schemas.openxmlformats.org/drawingml/2006/main">
              <a:ext uri="{FF2B5EF4-FFF2-40B4-BE49-F238E27FC236}">
                <a16:creationId xmlns:a16="http://schemas.microsoft.com/office/drawing/2014/main" id="{E4C050F7-DC98-4FF9-BC09-E545C0E65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用正常案例測一次</a:t>
            </a:r>
          </a:p>
        </p:txBody>
      </p:sp>
      <p:sp>
        <p:nvSpPr>
          <p:cNvPr id="14" name="text-383">
            <a:extLst xmlns:a="http://schemas.openxmlformats.org/drawingml/2006/main">
              <a:ext uri="{FF2B5EF4-FFF2-40B4-BE49-F238E27FC236}">
                <a16:creationId xmlns:a16="http://schemas.microsoft.com/office/drawing/2014/main" id="{AD7A2B0E-5F8B-4147-8455-27320FC9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384">
            <a:extLst xmlns:a="http://schemas.openxmlformats.org/drawingml/2006/main">
              <a:ext uri="{FF2B5EF4-FFF2-40B4-BE49-F238E27FC236}">
                <a16:creationId xmlns:a16="http://schemas.microsoft.com/office/drawing/2014/main" id="{CBE05AFB-354E-4113-90ED-29C9AFB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用模糊或越界案例再測一次</a:t>
            </a:r>
          </a:p>
        </p:txBody>
      </p:sp>
      <p:sp>
        <p:nvSpPr>
          <p:cNvPr id="16" name="shape-385">
            <a:extLst xmlns:a="http://schemas.openxmlformats.org/drawingml/2006/main">
              <a:ext uri="{FF2B5EF4-FFF2-40B4-BE49-F238E27FC236}">
                <a16:creationId xmlns:a16="http://schemas.microsoft.com/office/drawing/2014/main" id="{D91A23B2-B024-49AE-99B8-E98F4F5CF6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386">
            <a:extLst xmlns:a="http://schemas.openxmlformats.org/drawingml/2006/main">
              <a:ext uri="{FF2B5EF4-FFF2-40B4-BE49-F238E27FC236}">
                <a16:creationId xmlns:a16="http://schemas.microsoft.com/office/drawing/2014/main" id="{BC0EE272-F978-4D2A-B4C9-632E44D12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387">
            <a:extLst xmlns:a="http://schemas.openxmlformats.org/drawingml/2006/main">
              <a:ext uri="{FF2B5EF4-FFF2-40B4-BE49-F238E27FC236}">
                <a16:creationId xmlns:a16="http://schemas.microsoft.com/office/drawing/2014/main" id="{633D9A84-0AB4-4A17-942A-A2688273C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名稱說明用途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輸出格式穩定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遇資料不足會追問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不捏造課程事實</a:t>
            </a:r>
          </a:p>
        </p:txBody>
      </p:sp>
      <p:sp>
        <p:nvSpPr>
          <p:cNvPr id="19" name="text-651">
            <a:extLst xmlns:a="http://schemas.openxmlformats.org/drawingml/2006/main">
              <a:ext uri="{FF2B5EF4-FFF2-40B4-BE49-F238E27FC236}">
                <a16:creationId xmlns:a16="http://schemas.microsoft.com/office/drawing/2014/main" id="{B1D73F27-6E62-4B13-97EF-94B659BC8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6f36d4463bb4e42"/>
              </a:rPr>
              <a:t>建立自訂 Gem ↗</a:t>
            </a:r>
          </a:p>
        </p:txBody>
      </p:sp>
      <p:sp>
        <p:nvSpPr>
          <p:cNvPr id="20" name="shape-689">
            <a:extLst xmlns:a="http://schemas.openxmlformats.org/drawingml/2006/main">
              <a:ext uri="{FF2B5EF4-FFF2-40B4-BE49-F238E27FC236}">
                <a16:creationId xmlns:a16="http://schemas.microsoft.com/office/drawing/2014/main" id="{88875F2B-0682-4919-9CAB-AB4A57D96A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d4c24af8be4c61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690">
            <a:extLst xmlns:a="http://schemas.openxmlformats.org/drawingml/2006/main">
              <a:ext uri="{FF2B5EF4-FFF2-40B4-BE49-F238E27FC236}">
                <a16:creationId xmlns:a16="http://schemas.microsoft.com/office/drawing/2014/main" id="{12AD9A34-C56A-440D-90F9-9586D8712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9430669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388">
            <a:extLst xmlns:a="http://schemas.openxmlformats.org/drawingml/2006/main">
              <a:ext uri="{FF2B5EF4-FFF2-40B4-BE49-F238E27FC236}">
                <a16:creationId xmlns:a16="http://schemas.microsoft.com/office/drawing/2014/main" id="{ED449754-4037-4375-99B5-FFFBCF994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QUALITY GATE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DABF9045-C647-4FB5-85D1-6E1926FB3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Checkpoint｜你的 Gem 值得留下來嗎？</a:t>
            </a:r>
          </a:p>
        </p:txBody>
      </p:sp>
      <p:cxnSp>
        <p:nvCxnSpPr>
          <p:cNvPr id="28" name="shape-38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390">
            <a:extLst xmlns:a="http://schemas.openxmlformats.org/drawingml/2006/main">
              <a:ext uri="{FF2B5EF4-FFF2-40B4-BE49-F238E27FC236}">
                <a16:creationId xmlns:a16="http://schemas.microsoft.com/office/drawing/2014/main" id="{2B262E85-931F-4A79-9398-C10F76D8F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5AF1FB70-819F-4D95-A358-6DDA8EE0D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24</a:t>
            </a:r>
          </a:p>
        </p:txBody>
      </p:sp>
      <p:sp>
        <p:nvSpPr>
          <p:cNvPr id="6" name="shape-391">
            <a:extLst xmlns:a="http://schemas.openxmlformats.org/drawingml/2006/main">
              <a:ext uri="{FF2B5EF4-FFF2-40B4-BE49-F238E27FC236}">
                <a16:creationId xmlns:a16="http://schemas.microsoft.com/office/drawing/2014/main" id="{2A07054D-60CF-4B3A-833F-707D1FEFF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392">
            <a:extLst xmlns:a="http://schemas.openxmlformats.org/drawingml/2006/main">
              <a:ext uri="{FF2B5EF4-FFF2-40B4-BE49-F238E27FC236}">
                <a16:creationId xmlns:a16="http://schemas.microsoft.com/office/drawing/2014/main" id="{B7A5F90C-F84C-4A81-A931-A9671A080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393">
            <a:extLst xmlns:a="http://schemas.openxmlformats.org/drawingml/2006/main">
              <a:ext uri="{FF2B5EF4-FFF2-40B4-BE49-F238E27FC236}">
                <a16:creationId xmlns:a16="http://schemas.microsoft.com/office/drawing/2014/main" id="{37B9E5AC-AA7B-4961-AC26-6061ADE659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重複</a:t>
            </a:r>
          </a:p>
        </p:txBody>
      </p:sp>
      <p:sp>
        <p:nvSpPr>
          <p:cNvPr id="9" name="text-394">
            <a:extLst xmlns:a="http://schemas.openxmlformats.org/drawingml/2006/main">
              <a:ext uri="{FF2B5EF4-FFF2-40B4-BE49-F238E27FC236}">
                <a16:creationId xmlns:a16="http://schemas.microsoft.com/office/drawing/2014/main" id="{842B8934-D59A-4259-8921-E879BECC25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這個任務一學期會出現多次，而不是只做一次。</a:t>
            </a:r>
          </a:p>
        </p:txBody>
      </p:sp>
      <p:sp>
        <p:nvSpPr>
          <p:cNvPr id="10" name="shape-395">
            <a:extLst xmlns:a="http://schemas.openxmlformats.org/drawingml/2006/main">
              <a:ext uri="{FF2B5EF4-FFF2-40B4-BE49-F238E27FC236}">
                <a16:creationId xmlns:a16="http://schemas.microsoft.com/office/drawing/2014/main" id="{9E326841-5220-4D67-8A30-0A77813178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396">
            <a:extLst xmlns:a="http://schemas.openxmlformats.org/drawingml/2006/main">
              <a:ext uri="{FF2B5EF4-FFF2-40B4-BE49-F238E27FC236}">
                <a16:creationId xmlns:a16="http://schemas.microsoft.com/office/drawing/2014/main" id="{9125C1D0-5612-4E7B-B88F-F346B5B3F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397">
            <a:extLst xmlns:a="http://schemas.openxmlformats.org/drawingml/2006/main">
              <a:ext uri="{FF2B5EF4-FFF2-40B4-BE49-F238E27FC236}">
                <a16:creationId xmlns:a16="http://schemas.microsoft.com/office/drawing/2014/main" id="{39792B33-61F9-417D-8FED-681DCEAFC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一致</a:t>
            </a:r>
          </a:p>
        </p:txBody>
      </p:sp>
      <p:sp>
        <p:nvSpPr>
          <p:cNvPr id="13" name="text-398">
            <a:extLst xmlns:a="http://schemas.openxmlformats.org/drawingml/2006/main">
              <a:ext uri="{FF2B5EF4-FFF2-40B4-BE49-F238E27FC236}">
                <a16:creationId xmlns:a16="http://schemas.microsoft.com/office/drawing/2014/main" id="{A14141A6-29C7-41CE-8436-91733F019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不同輸入仍遵守相同流程、語氣與輸出欄位。</a:t>
            </a:r>
          </a:p>
        </p:txBody>
      </p:sp>
      <p:sp>
        <p:nvSpPr>
          <p:cNvPr id="14" name="shape-399">
            <a:extLst xmlns:a="http://schemas.openxmlformats.org/drawingml/2006/main">
              <a:ext uri="{FF2B5EF4-FFF2-40B4-BE49-F238E27FC236}">
                <a16:creationId xmlns:a16="http://schemas.microsoft.com/office/drawing/2014/main" id="{E13F4ACC-DA9B-4094-A1E4-76D3C423C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00">
            <a:extLst xmlns:a="http://schemas.openxmlformats.org/drawingml/2006/main">
              <a:ext uri="{FF2B5EF4-FFF2-40B4-BE49-F238E27FC236}">
                <a16:creationId xmlns:a16="http://schemas.microsoft.com/office/drawing/2014/main" id="{6EE63F90-B240-4EA3-A98F-C254C3BA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01">
            <a:extLst xmlns:a="http://schemas.openxmlformats.org/drawingml/2006/main">
              <a:ext uri="{FF2B5EF4-FFF2-40B4-BE49-F238E27FC236}">
                <a16:creationId xmlns:a16="http://schemas.microsoft.com/office/drawing/2014/main" id="{F4CEE390-0E2C-43A4-AAF4-DA10E9C91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可教</a:t>
            </a:r>
          </a:p>
        </p:txBody>
      </p:sp>
      <p:sp>
        <p:nvSpPr>
          <p:cNvPr id="17" name="text-402">
            <a:extLst xmlns:a="http://schemas.openxmlformats.org/drawingml/2006/main">
              <a:ext uri="{FF2B5EF4-FFF2-40B4-BE49-F238E27FC236}">
                <a16:creationId xmlns:a16="http://schemas.microsoft.com/office/drawing/2014/main" id="{9C1350DD-6817-4FDF-B395-04777F0CD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同事看得懂它的用途，也知道何時不該使用。</a:t>
            </a:r>
          </a:p>
        </p:txBody>
      </p:sp>
      <p:sp>
        <p:nvSpPr>
          <p:cNvPr id="18" name="shape-403">
            <a:extLst xmlns:a="http://schemas.openxmlformats.org/drawingml/2006/main">
              <a:ext uri="{FF2B5EF4-FFF2-40B4-BE49-F238E27FC236}">
                <a16:creationId xmlns:a16="http://schemas.microsoft.com/office/drawing/2014/main" id="{120320F4-CF12-4F69-AE91-66E353146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04">
            <a:extLst xmlns:a="http://schemas.openxmlformats.org/drawingml/2006/main">
              <a:ext uri="{FF2B5EF4-FFF2-40B4-BE49-F238E27FC236}">
                <a16:creationId xmlns:a16="http://schemas.microsoft.com/office/drawing/2014/main" id="{E616A05C-5D53-4A97-8D72-C5A6F6EBE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05">
            <a:extLst xmlns:a="http://schemas.openxmlformats.org/drawingml/2006/main">
              <a:ext uri="{FF2B5EF4-FFF2-40B4-BE49-F238E27FC236}">
                <a16:creationId xmlns:a16="http://schemas.microsoft.com/office/drawing/2014/main" id="{9999F608-3AC6-4819-A56E-15B4E290A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可改</a:t>
            </a:r>
          </a:p>
        </p:txBody>
      </p:sp>
      <p:sp>
        <p:nvSpPr>
          <p:cNvPr id="21" name="text-406">
            <a:extLst xmlns:a="http://schemas.openxmlformats.org/drawingml/2006/main">
              <a:ext uri="{FF2B5EF4-FFF2-40B4-BE49-F238E27FC236}">
                <a16:creationId xmlns:a16="http://schemas.microsoft.com/office/drawing/2014/main" id="{A1C95477-24B5-4FF8-92DE-85E2DCB79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指令與背景檔案能隨課程迭代，不被鎖死。</a:t>
            </a:r>
          </a:p>
        </p:txBody>
      </p:sp>
      <p:sp>
        <p:nvSpPr>
          <p:cNvPr id="22" name="text-652">
            <a:extLst xmlns:a="http://schemas.openxmlformats.org/drawingml/2006/main">
              <a:ext uri="{FF2B5EF4-FFF2-40B4-BE49-F238E27FC236}">
                <a16:creationId xmlns:a16="http://schemas.microsoft.com/office/drawing/2014/main" id="{DA8C498B-2EB5-46F6-9B35-E2AAF9E28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bb77ac2169345e2"/>
              </a:rPr>
              <a:t>建立自訂 Gem ↗</a:t>
            </a:r>
          </a:p>
        </p:txBody>
      </p:sp>
      <p:sp>
        <p:nvSpPr>
          <p:cNvPr id="23" name="shape-691">
            <a:extLst xmlns:a="http://schemas.openxmlformats.org/drawingml/2006/main">
              <a:ext uri="{FF2B5EF4-FFF2-40B4-BE49-F238E27FC236}">
                <a16:creationId xmlns:a16="http://schemas.microsoft.com/office/drawing/2014/main" id="{95E0913F-E2BB-4ABA-BF3C-606C52A745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5d9a765bd94fb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2">
            <a:extLst xmlns:a="http://schemas.openxmlformats.org/drawingml/2006/main">
              <a:ext uri="{FF2B5EF4-FFF2-40B4-BE49-F238E27FC236}">
                <a16:creationId xmlns:a16="http://schemas.microsoft.com/office/drawing/2014/main" id="{8D8D5180-BCBC-45B8-8BAF-08D17BDD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自訂 Gem</a:t>
            </a:r>
          </a:p>
        </p:txBody>
      </p:sp>
    </p:spTree>
    <p:extLst>
      <p:ext uri="{BB962C8B-B14F-4D97-AF65-F5344CB8AC3E}">
        <p14:creationId xmlns:p14="http://schemas.microsoft.com/office/powerpoint/2010/main" val="1180723239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text-407">
            <a:extLst xmlns:a="http://schemas.openxmlformats.org/drawingml/2006/main">
              <a:ext uri="{FF2B5EF4-FFF2-40B4-BE49-F238E27FC236}">
                <a16:creationId xmlns:a16="http://schemas.microsoft.com/office/drawing/2014/main" id="{C68AEB01-940A-40AE-B77A-6A38EE420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2450"/>
            <a:ext cx="2000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84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2" name="text-408">
            <a:extLst xmlns:a="http://schemas.openxmlformats.org/drawingml/2006/main">
              <a:ext uri="{FF2B5EF4-FFF2-40B4-BE49-F238E27FC236}">
                <a16:creationId xmlns:a16="http://schemas.microsoft.com/office/drawing/2014/main" id="{59870861-1F05-43B6-99A8-60DC068FF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4315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40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Gemini Canvas</a:t>
            </a:r>
          </a:p>
        </p:txBody>
      </p:sp>
      <p:sp>
        <p:nvSpPr>
          <p:cNvPr id="3" name="text-409">
            <a:extLst xmlns:a="http://schemas.openxmlformats.org/drawingml/2006/main">
              <a:ext uri="{FF2B5EF4-FFF2-40B4-BE49-F238E27FC236}">
                <a16:creationId xmlns:a16="http://schemas.microsoft.com/office/drawing/2014/main" id="{33C143DB-98B3-4A9F-80DC-E5BBE189D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95700"/>
            <a:ext cx="847725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buNone/>
              <a:def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把文字想法變成可預覽、可修改、可分享的文件、程式與互動教學作品。</a:t>
            </a:r>
          </a:p>
        </p:txBody>
      </p:sp>
      <p:sp>
        <p:nvSpPr>
          <p:cNvPr id="4" name="shape-410">
            <a:extLst xmlns:a="http://schemas.openxmlformats.org/drawingml/2006/main">
              <a:ext uri="{FF2B5EF4-FFF2-40B4-BE49-F238E27FC236}">
                <a16:creationId xmlns:a16="http://schemas.microsoft.com/office/drawing/2014/main" id="{CD4781E9-2AEF-4A5D-B7F6-564B14714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810000"/>
            <a:ext cx="1524000" cy="1524000"/>
          </a:xfrm>
          <a:prstGeom xmlns:a="http://schemas.openxmlformats.org/drawingml/2006/main" prst="roundRect">
            <a:avLst>
              <a:gd name="adj" fmla="val 15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text-411">
            <a:extLst xmlns:a="http://schemas.openxmlformats.org/drawingml/2006/main">
              <a:ext uri="{FF2B5EF4-FFF2-40B4-BE49-F238E27FC236}">
                <a16:creationId xmlns:a16="http://schemas.microsoft.com/office/drawing/2014/main" id="{1CAB5D71-A79D-4BDB-89A2-0C71C78B3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375" y="4114800"/>
            <a:ext cx="11430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動手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240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做</a:t>
            </a:r>
          </a:p>
        </p:txBody>
      </p:sp>
      <p:cxnSp>
        <p:nvCxnSpPr>
          <p:cNvPr id="18" name="shape-412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7" name="text-413">
            <a:extLst xmlns:a="http://schemas.openxmlformats.org/drawingml/2006/main">
              <a:ext uri="{FF2B5EF4-FFF2-40B4-BE49-F238E27FC236}">
                <a16:creationId xmlns:a16="http://schemas.microsoft.com/office/drawing/2014/main" id="{B8F68E21-5E8E-4443-8447-AA76EC958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8" name="page-number">
            <a:extLst xmlns:a="http://schemas.openxmlformats.org/drawingml/2006/main">
              <a:ext uri="{FF2B5EF4-FFF2-40B4-BE49-F238E27FC236}">
                <a16:creationId xmlns:a16="http://schemas.microsoft.com/office/drawing/2014/main" id="{65E5C7CE-613C-4A1A-81AD-7FBA67EA7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25</a:t>
            </a:r>
          </a:p>
        </p:txBody>
      </p:sp>
      <p:sp>
        <p:nvSpPr>
          <p:cNvPr id="9" name="text-653">
            <a:extLst xmlns:a="http://schemas.openxmlformats.org/drawingml/2006/main">
              <a:ext uri="{FF2B5EF4-FFF2-40B4-BE49-F238E27FC236}">
                <a16:creationId xmlns:a16="http://schemas.microsoft.com/office/drawing/2014/main" id="{87CF83BA-EE5A-4E1D-8B01-5F8159BAA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e75ca0bf14a4489"/>
              </a:rPr>
              <a:t>開啟 Gemini Canvas ↗</a:t>
            </a:r>
          </a:p>
        </p:txBody>
      </p:sp>
      <p:sp>
        <p:nvSpPr>
          <p:cNvPr id="10" name="shape-693">
            <a:extLst xmlns:a="http://schemas.openxmlformats.org/drawingml/2006/main">
              <a:ext uri="{FF2B5EF4-FFF2-40B4-BE49-F238E27FC236}">
                <a16:creationId xmlns:a16="http://schemas.microsoft.com/office/drawing/2014/main" id="{1255198B-B666-492E-9E4C-434C4683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99f20a3e3a4453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12" name="text-694">
            <a:extLst xmlns:a="http://schemas.openxmlformats.org/drawingml/2006/main">
              <a:ext uri="{FF2B5EF4-FFF2-40B4-BE49-F238E27FC236}">
                <a16:creationId xmlns:a16="http://schemas.microsoft.com/office/drawing/2014/main" id="{D93C0743-323D-412B-B366-ABFB4E77D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95135076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14">
            <a:extLst xmlns:a="http://schemas.openxmlformats.org/drawingml/2006/main">
              <a:ext uri="{FF2B5EF4-FFF2-40B4-BE49-F238E27FC236}">
                <a16:creationId xmlns:a16="http://schemas.microsoft.com/office/drawing/2014/main" id="{33733D7E-2B31-490F-9134-F8EC71356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CANVAS PROMPT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81DCD612-5F13-42DB-8FCE-2E71E4A3F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互動教學網站提示詞公式</a:t>
            </a:r>
          </a:p>
        </p:txBody>
      </p:sp>
      <p:cxnSp>
        <p:nvCxnSpPr>
          <p:cNvPr id="28" name="shape-415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16">
            <a:extLst xmlns:a="http://schemas.openxmlformats.org/drawingml/2006/main">
              <a:ext uri="{FF2B5EF4-FFF2-40B4-BE49-F238E27FC236}">
                <a16:creationId xmlns:a16="http://schemas.microsoft.com/office/drawing/2014/main" id="{058F501C-5A26-45D6-B94B-0EA7DA051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B7A3C577-522E-4BE2-90F5-FCE013FE0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26</a:t>
            </a:r>
          </a:p>
        </p:txBody>
      </p:sp>
      <p:sp>
        <p:nvSpPr>
          <p:cNvPr id="6" name="shape-417">
            <a:extLst xmlns:a="http://schemas.openxmlformats.org/drawingml/2006/main">
              <a:ext uri="{FF2B5EF4-FFF2-40B4-BE49-F238E27FC236}">
                <a16:creationId xmlns:a16="http://schemas.microsoft.com/office/drawing/2014/main" id="{EE9C16C3-9182-4C1B-9FC4-2FEEE90B21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18">
            <a:extLst xmlns:a="http://schemas.openxmlformats.org/drawingml/2006/main">
              <a:ext uri="{FF2B5EF4-FFF2-40B4-BE49-F238E27FC236}">
                <a16:creationId xmlns:a16="http://schemas.microsoft.com/office/drawing/2014/main" id="{E48A0FD9-2E66-4405-BC14-221E7D56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8" name="text-419">
            <a:extLst xmlns:a="http://schemas.openxmlformats.org/drawingml/2006/main">
              <a:ext uri="{FF2B5EF4-FFF2-40B4-BE49-F238E27FC236}">
                <a16:creationId xmlns:a16="http://schemas.microsoft.com/office/drawing/2014/main" id="{C8C27A9E-2413-445F-9ED6-E8C5BCB49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對象與情境</a:t>
            </a:r>
          </a:p>
        </p:txBody>
      </p:sp>
      <p:sp>
        <p:nvSpPr>
          <p:cNvPr id="9" name="text-420">
            <a:extLst xmlns:a="http://schemas.openxmlformats.org/drawingml/2006/main">
              <a:ext uri="{FF2B5EF4-FFF2-40B4-BE49-F238E27FC236}">
                <a16:creationId xmlns:a16="http://schemas.microsoft.com/office/drawing/2014/main" id="{912FD951-CB73-4CEC-9FD2-393FF1563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為哪一門課、哪一群學生、在哪個教學階段使用？</a:t>
            </a:r>
          </a:p>
        </p:txBody>
      </p:sp>
      <p:sp>
        <p:nvSpPr>
          <p:cNvPr id="10" name="shape-421">
            <a:extLst xmlns:a="http://schemas.openxmlformats.org/drawingml/2006/main">
              <a:ext uri="{FF2B5EF4-FFF2-40B4-BE49-F238E27FC236}">
                <a16:creationId xmlns:a16="http://schemas.microsoft.com/office/drawing/2014/main" id="{755F8090-D2EA-47C4-B128-D18C6EAFE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22">
            <a:extLst xmlns:a="http://schemas.openxmlformats.org/drawingml/2006/main">
              <a:ext uri="{FF2B5EF4-FFF2-40B4-BE49-F238E27FC236}">
                <a16:creationId xmlns:a16="http://schemas.microsoft.com/office/drawing/2014/main" id="{16E3B320-1C77-47F2-AD75-26B6FB31E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2AFA4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2" name="text-423">
            <a:extLst xmlns:a="http://schemas.openxmlformats.org/drawingml/2006/main">
              <a:ext uri="{FF2B5EF4-FFF2-40B4-BE49-F238E27FC236}">
                <a16:creationId xmlns:a16="http://schemas.microsoft.com/office/drawing/2014/main" id="{89A75593-8689-42D3-AFAA-C7338DDA8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學習任務</a:t>
            </a:r>
          </a:p>
        </p:txBody>
      </p:sp>
      <p:sp>
        <p:nvSpPr>
          <p:cNvPr id="13" name="text-424">
            <a:extLst xmlns:a="http://schemas.openxmlformats.org/drawingml/2006/main">
              <a:ext uri="{FF2B5EF4-FFF2-40B4-BE49-F238E27FC236}">
                <a16:creationId xmlns:a16="http://schemas.microsoft.com/office/drawing/2014/main" id="{790F8383-5473-4349-AC35-C13A8C767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學生要比較、排序、模擬、練習或做決策？</a:t>
            </a:r>
          </a:p>
        </p:txBody>
      </p:sp>
      <p:sp>
        <p:nvSpPr>
          <p:cNvPr id="14" name="shape-425">
            <a:extLst xmlns:a="http://schemas.openxmlformats.org/drawingml/2006/main">
              <a:ext uri="{FF2B5EF4-FFF2-40B4-BE49-F238E27FC236}">
                <a16:creationId xmlns:a16="http://schemas.microsoft.com/office/drawing/2014/main" id="{2D39D6EA-0F24-48E5-A49B-FB014906F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26">
            <a:extLst xmlns:a="http://schemas.openxmlformats.org/drawingml/2006/main">
              <a:ext uri="{FF2B5EF4-FFF2-40B4-BE49-F238E27FC236}">
                <a16:creationId xmlns:a16="http://schemas.microsoft.com/office/drawing/2014/main" id="{689F2422-A98F-4F5D-8A1E-3C5581FE1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6" name="text-427">
            <a:extLst xmlns:a="http://schemas.openxmlformats.org/drawingml/2006/main">
              <a:ext uri="{FF2B5EF4-FFF2-40B4-BE49-F238E27FC236}">
                <a16:creationId xmlns:a16="http://schemas.microsoft.com/office/drawing/2014/main" id="{C716D8A9-7770-4301-9640-752CC1548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互動與回饋</a:t>
            </a:r>
          </a:p>
        </p:txBody>
      </p:sp>
      <p:sp>
        <p:nvSpPr>
          <p:cNvPr id="17" name="text-428">
            <a:extLst xmlns:a="http://schemas.openxmlformats.org/drawingml/2006/main">
              <a:ext uri="{FF2B5EF4-FFF2-40B4-BE49-F238E27FC236}">
                <a16:creationId xmlns:a16="http://schemas.microsoft.com/office/drawing/2014/main" id="{15F648C9-A815-4077-A34A-2AF1C005E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點擊後會發生什麼？如何看見正確、進步或提示？</a:t>
            </a:r>
          </a:p>
        </p:txBody>
      </p:sp>
      <p:sp>
        <p:nvSpPr>
          <p:cNvPr id="18" name="shape-429">
            <a:extLst xmlns:a="http://schemas.openxmlformats.org/drawingml/2006/main">
              <a:ext uri="{FF2B5EF4-FFF2-40B4-BE49-F238E27FC236}">
                <a16:creationId xmlns:a16="http://schemas.microsoft.com/office/drawing/2014/main" id="{33B8D874-6D14-4562-8C30-1EF6F9BF5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30">
            <a:extLst xmlns:a="http://schemas.openxmlformats.org/drawingml/2006/main">
              <a:ext uri="{FF2B5EF4-FFF2-40B4-BE49-F238E27FC236}">
                <a16:creationId xmlns:a16="http://schemas.microsoft.com/office/drawing/2014/main" id="{7996EC02-7D24-4BCE-AA0E-F8922192D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8B5CF6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0" name="text-431">
            <a:extLst xmlns:a="http://schemas.openxmlformats.org/drawingml/2006/main">
              <a:ext uri="{FF2B5EF4-FFF2-40B4-BE49-F238E27FC236}">
                <a16:creationId xmlns:a16="http://schemas.microsoft.com/office/drawing/2014/main" id="{36F2BE61-806B-4F49-AF5F-6E604623F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限制與驗收</a:t>
            </a:r>
          </a:p>
        </p:txBody>
      </p:sp>
      <p:sp>
        <p:nvSpPr>
          <p:cNvPr id="21" name="text-432">
            <a:extLst xmlns:a="http://schemas.openxmlformats.org/drawingml/2006/main">
              <a:ext uri="{FF2B5EF4-FFF2-40B4-BE49-F238E27FC236}">
                <a16:creationId xmlns:a16="http://schemas.microsoft.com/office/drawing/2014/main" id="{BD88D868-2757-4028-BF54-7FD8099A8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單檔、RWD、繁中、無個資、手機可用，並列測試清單。</a:t>
            </a:r>
          </a:p>
        </p:txBody>
      </p:sp>
      <p:sp>
        <p:nvSpPr>
          <p:cNvPr id="22" name="text-654">
            <a:extLst xmlns:a="http://schemas.openxmlformats.org/drawingml/2006/main">
              <a:ext uri="{FF2B5EF4-FFF2-40B4-BE49-F238E27FC236}">
                <a16:creationId xmlns:a16="http://schemas.microsoft.com/office/drawing/2014/main" id="{86AF520F-D1EF-4093-B509-C15BD8F9A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4866e4edd2a04226"/>
              </a:rPr>
              <a:t>開啟 Gemini Canvas ↗</a:t>
            </a:r>
          </a:p>
        </p:txBody>
      </p:sp>
      <p:sp>
        <p:nvSpPr>
          <p:cNvPr id="23" name="shape-695">
            <a:extLst xmlns:a="http://schemas.openxmlformats.org/drawingml/2006/main">
              <a:ext uri="{FF2B5EF4-FFF2-40B4-BE49-F238E27FC236}">
                <a16:creationId xmlns:a16="http://schemas.microsoft.com/office/drawing/2014/main" id="{3CCE55D7-6E17-47E0-80EE-84E188D4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0d303a4097434b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696">
            <a:extLst xmlns:a="http://schemas.openxmlformats.org/drawingml/2006/main">
              <a:ext uri="{FF2B5EF4-FFF2-40B4-BE49-F238E27FC236}">
                <a16:creationId xmlns:a16="http://schemas.microsoft.com/office/drawing/2014/main" id="{A178D884-3992-4BB8-80B2-1DDA6C23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722547762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433">
            <a:extLst xmlns:a="http://schemas.openxmlformats.org/drawingml/2006/main">
              <a:ext uri="{FF2B5EF4-FFF2-40B4-BE49-F238E27FC236}">
                <a16:creationId xmlns:a16="http://schemas.microsoft.com/office/drawing/2014/main" id="{CC131551-21C2-465E-97A1-EF70D8996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BUILD LOOP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379ABEA4-AB00-4D0B-92AC-7047DBABC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Canvas 建置循環：不要停在第一次生成</a:t>
            </a:r>
          </a:p>
        </p:txBody>
      </p:sp>
      <p:cxnSp>
        <p:nvCxnSpPr>
          <p:cNvPr id="36" name="shape-43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35">
            <a:extLst xmlns:a="http://schemas.openxmlformats.org/drawingml/2006/main">
              <a:ext uri="{FF2B5EF4-FFF2-40B4-BE49-F238E27FC236}">
                <a16:creationId xmlns:a16="http://schemas.microsoft.com/office/drawing/2014/main" id="{E68D0943-0B90-42B9-B95E-24776E5C6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3855BCE-D353-44F9-A057-C9A181A13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27</a:t>
            </a:r>
          </a:p>
        </p:txBody>
      </p:sp>
      <p:sp>
        <p:nvSpPr>
          <p:cNvPr id="6" name="shape-436">
            <a:extLst xmlns:a="http://schemas.openxmlformats.org/drawingml/2006/main">
              <a:ext uri="{FF2B5EF4-FFF2-40B4-BE49-F238E27FC236}">
                <a16:creationId xmlns:a16="http://schemas.microsoft.com/office/drawing/2014/main" id="{88A9C00F-B248-48CB-8722-1B072F96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437">
            <a:extLst xmlns:a="http://schemas.openxmlformats.org/drawingml/2006/main">
              <a:ext uri="{FF2B5EF4-FFF2-40B4-BE49-F238E27FC236}">
                <a16:creationId xmlns:a16="http://schemas.microsoft.com/office/drawing/2014/main" id="{43DCDB14-C50B-457A-A690-66D68BD99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438">
            <a:extLst xmlns:a="http://schemas.openxmlformats.org/drawingml/2006/main">
              <a:ext uri="{FF2B5EF4-FFF2-40B4-BE49-F238E27FC236}">
                <a16:creationId xmlns:a16="http://schemas.microsoft.com/office/drawing/2014/main" id="{E4F8F943-0D35-4FD2-8432-CF80B1635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39">
            <a:extLst xmlns:a="http://schemas.openxmlformats.org/drawingml/2006/main">
              <a:ext uri="{FF2B5EF4-FFF2-40B4-BE49-F238E27FC236}">
                <a16:creationId xmlns:a16="http://schemas.microsoft.com/office/drawing/2014/main" id="{C77D964D-4DCA-4BCB-88B8-BBEA0DB5D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生成</a:t>
            </a:r>
          </a:p>
        </p:txBody>
      </p:sp>
      <p:sp>
        <p:nvSpPr>
          <p:cNvPr id="10" name="text-440">
            <a:extLst xmlns:a="http://schemas.openxmlformats.org/drawingml/2006/main">
              <a:ext uri="{FF2B5EF4-FFF2-40B4-BE49-F238E27FC236}">
                <a16:creationId xmlns:a16="http://schemas.microsoft.com/office/drawing/2014/main" id="{E3FEA5FD-BA64-4972-A53D-CA48A9C8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先做最小可用版</a:t>
            </a:r>
          </a:p>
        </p:txBody>
      </p:sp>
      <p:sp>
        <p:nvSpPr>
          <p:cNvPr id="11" name="text-441">
            <a:extLst xmlns:a="http://schemas.openxmlformats.org/drawingml/2006/main">
              <a:ext uri="{FF2B5EF4-FFF2-40B4-BE49-F238E27FC236}">
                <a16:creationId xmlns:a16="http://schemas.microsoft.com/office/drawing/2014/main" id="{1A077C09-C311-41D8-8E55-E10876EA1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442">
            <a:extLst xmlns:a="http://schemas.openxmlformats.org/drawingml/2006/main">
              <a:ext uri="{FF2B5EF4-FFF2-40B4-BE49-F238E27FC236}">
                <a16:creationId xmlns:a16="http://schemas.microsoft.com/office/drawing/2014/main" id="{CF4F6362-1AAE-473D-A33F-BE622F3C1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443">
            <a:extLst xmlns:a="http://schemas.openxmlformats.org/drawingml/2006/main">
              <a:ext uri="{FF2B5EF4-FFF2-40B4-BE49-F238E27FC236}">
                <a16:creationId xmlns:a16="http://schemas.microsoft.com/office/drawing/2014/main" id="{E1164355-B66A-4EC6-A689-476E9D26CD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444">
            <a:extLst xmlns:a="http://schemas.openxmlformats.org/drawingml/2006/main">
              <a:ext uri="{FF2B5EF4-FFF2-40B4-BE49-F238E27FC236}">
                <a16:creationId xmlns:a16="http://schemas.microsoft.com/office/drawing/2014/main" id="{1A10B1FC-0C27-4C73-B6F5-FDFFD97CF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445">
            <a:extLst xmlns:a="http://schemas.openxmlformats.org/drawingml/2006/main">
              <a:ext uri="{FF2B5EF4-FFF2-40B4-BE49-F238E27FC236}">
                <a16:creationId xmlns:a16="http://schemas.microsoft.com/office/drawing/2014/main" id="{288194B8-BC36-4BE7-BF8A-F6203D9947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16" name="text-446">
            <a:extLst xmlns:a="http://schemas.openxmlformats.org/drawingml/2006/main">
              <a:ext uri="{FF2B5EF4-FFF2-40B4-BE49-F238E27FC236}">
                <a16:creationId xmlns:a16="http://schemas.microsoft.com/office/drawing/2014/main" id="{1A4610D8-A890-4E49-86BA-9F904C289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實際點完學生路徑</a:t>
            </a:r>
          </a:p>
        </p:txBody>
      </p:sp>
      <p:sp>
        <p:nvSpPr>
          <p:cNvPr id="17" name="text-447">
            <a:extLst xmlns:a="http://schemas.openxmlformats.org/drawingml/2006/main">
              <a:ext uri="{FF2B5EF4-FFF2-40B4-BE49-F238E27FC236}">
                <a16:creationId xmlns:a16="http://schemas.microsoft.com/office/drawing/2014/main" id="{646E4977-4A53-4901-8538-FB779CCEF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448">
            <a:extLst xmlns:a="http://schemas.openxmlformats.org/drawingml/2006/main">
              <a:ext uri="{FF2B5EF4-FFF2-40B4-BE49-F238E27FC236}">
                <a16:creationId xmlns:a16="http://schemas.microsoft.com/office/drawing/2014/main" id="{8F28940A-C609-4DCA-8A93-2859008B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449">
            <a:extLst xmlns:a="http://schemas.openxmlformats.org/drawingml/2006/main">
              <a:ext uri="{FF2B5EF4-FFF2-40B4-BE49-F238E27FC236}">
                <a16:creationId xmlns:a16="http://schemas.microsoft.com/office/drawing/2014/main" id="{1C212D98-EB1A-4773-85B6-8E942C5EC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450">
            <a:extLst xmlns:a="http://schemas.openxmlformats.org/drawingml/2006/main">
              <a:ext uri="{FF2B5EF4-FFF2-40B4-BE49-F238E27FC236}">
                <a16:creationId xmlns:a16="http://schemas.microsoft.com/office/drawing/2014/main" id="{4D26B3C9-7650-4149-80C8-C198BBE9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451">
            <a:extLst xmlns:a="http://schemas.openxmlformats.org/drawingml/2006/main">
              <a:ext uri="{FF2B5EF4-FFF2-40B4-BE49-F238E27FC236}">
                <a16:creationId xmlns:a16="http://schemas.microsoft.com/office/drawing/2014/main" id="{85129135-739C-457D-B75A-41736CDCF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檢查</a:t>
            </a:r>
          </a:p>
        </p:txBody>
      </p:sp>
      <p:sp>
        <p:nvSpPr>
          <p:cNvPr id="22" name="text-452">
            <a:extLst xmlns:a="http://schemas.openxmlformats.org/drawingml/2006/main">
              <a:ext uri="{FF2B5EF4-FFF2-40B4-BE49-F238E27FC236}">
                <a16:creationId xmlns:a16="http://schemas.microsoft.com/office/drawing/2014/main" id="{81A6FC21-46DD-48D3-A1D8-C8F92CD45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看程式、錯誤與紀錄</a:t>
            </a:r>
          </a:p>
        </p:txBody>
      </p:sp>
      <p:sp>
        <p:nvSpPr>
          <p:cNvPr id="23" name="text-453">
            <a:extLst xmlns:a="http://schemas.openxmlformats.org/drawingml/2006/main">
              <a:ext uri="{FF2B5EF4-FFF2-40B4-BE49-F238E27FC236}">
                <a16:creationId xmlns:a16="http://schemas.microsoft.com/office/drawing/2014/main" id="{102BF973-CEBB-4707-A2BD-E621355ED2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454">
            <a:extLst xmlns:a="http://schemas.openxmlformats.org/drawingml/2006/main">
              <a:ext uri="{FF2B5EF4-FFF2-40B4-BE49-F238E27FC236}">
                <a16:creationId xmlns:a16="http://schemas.microsoft.com/office/drawing/2014/main" id="{1D7DF736-6C8F-4CF1-8BF2-9EF00ABBE2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455">
            <a:extLst xmlns:a="http://schemas.openxmlformats.org/drawingml/2006/main">
              <a:ext uri="{FF2B5EF4-FFF2-40B4-BE49-F238E27FC236}">
                <a16:creationId xmlns:a16="http://schemas.microsoft.com/office/drawing/2014/main" id="{FD213BC1-D7E0-49EB-B4E0-7852BCABC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456">
            <a:extLst xmlns:a="http://schemas.openxmlformats.org/drawingml/2006/main">
              <a:ext uri="{FF2B5EF4-FFF2-40B4-BE49-F238E27FC236}">
                <a16:creationId xmlns:a16="http://schemas.microsoft.com/office/drawing/2014/main" id="{A113F93C-B3D8-49EF-A1BA-54F3024603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457">
            <a:extLst xmlns:a="http://schemas.openxmlformats.org/drawingml/2006/main">
              <a:ext uri="{FF2B5EF4-FFF2-40B4-BE49-F238E27FC236}">
                <a16:creationId xmlns:a16="http://schemas.microsoft.com/office/drawing/2014/main" id="{58034F8D-EC7D-4C00-9E3B-EACEF5A0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迭代</a:t>
            </a:r>
          </a:p>
        </p:txBody>
      </p:sp>
      <p:sp>
        <p:nvSpPr>
          <p:cNvPr id="28" name="text-458">
            <a:extLst xmlns:a="http://schemas.openxmlformats.org/drawingml/2006/main">
              <a:ext uri="{FF2B5EF4-FFF2-40B4-BE49-F238E27FC236}">
                <a16:creationId xmlns:a16="http://schemas.microsoft.com/office/drawing/2014/main" id="{7E8DF270-11F6-426F-9BA2-E4402C4B6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一次只修一類問題</a:t>
            </a:r>
          </a:p>
        </p:txBody>
      </p:sp>
      <p:sp>
        <p:nvSpPr>
          <p:cNvPr id="29" name="text-459">
            <a:extLst xmlns:a="http://schemas.openxmlformats.org/drawingml/2006/main">
              <a:ext uri="{FF2B5EF4-FFF2-40B4-BE49-F238E27FC236}">
                <a16:creationId xmlns:a16="http://schemas.microsoft.com/office/drawing/2014/main" id="{9940D105-23CA-4E73-A9C3-31F3BF67F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55">
            <a:extLst xmlns:a="http://schemas.openxmlformats.org/drawingml/2006/main">
              <a:ext uri="{FF2B5EF4-FFF2-40B4-BE49-F238E27FC236}">
                <a16:creationId xmlns:a16="http://schemas.microsoft.com/office/drawing/2014/main" id="{366FBB2D-7EEA-4B2B-A9B7-50E368838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210e11ef5b1b40c6"/>
              </a:rPr>
              <a:t>開啟 Gemini Canvas ↗</a:t>
            </a:r>
          </a:p>
        </p:txBody>
      </p:sp>
      <p:sp>
        <p:nvSpPr>
          <p:cNvPr id="31" name="shape-697">
            <a:extLst xmlns:a="http://schemas.openxmlformats.org/drawingml/2006/main">
              <a:ext uri="{FF2B5EF4-FFF2-40B4-BE49-F238E27FC236}">
                <a16:creationId xmlns:a16="http://schemas.microsoft.com/office/drawing/2014/main" id="{679EBDD5-812C-4891-B264-1258A649A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0fe02106844fb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698">
            <a:extLst xmlns:a="http://schemas.openxmlformats.org/drawingml/2006/main">
              <a:ext uri="{FF2B5EF4-FFF2-40B4-BE49-F238E27FC236}">
                <a16:creationId xmlns:a16="http://schemas.microsoft.com/office/drawing/2014/main" id="{B3866692-2A23-42FD-B474-6CCFDF762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37765032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text-460">
            <a:extLst xmlns:a="http://schemas.openxmlformats.org/drawingml/2006/main">
              <a:ext uri="{FF2B5EF4-FFF2-40B4-BE49-F238E27FC236}">
                <a16:creationId xmlns:a16="http://schemas.microsoft.com/office/drawing/2014/main" id="{78E95A36-9B57-49CC-B575-88E2BA4B8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D205CF1-EA00-43A6-B62E-8BD673F635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實作三｜做出一個互動教學原型</a:t>
            </a:r>
          </a:p>
        </p:txBody>
      </p:sp>
      <p:cxnSp>
        <p:nvCxnSpPr>
          <p:cNvPr id="25" name="shape-461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62">
            <a:extLst xmlns:a="http://schemas.openxmlformats.org/drawingml/2006/main">
              <a:ext uri="{FF2B5EF4-FFF2-40B4-BE49-F238E27FC236}">
                <a16:creationId xmlns:a16="http://schemas.microsoft.com/office/drawing/2014/main" id="{7C3F14C8-F220-4F57-89E0-7438ECD24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0D64E296-50F2-4B1A-8379-7316E939E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28</a:t>
            </a:r>
          </a:p>
        </p:txBody>
      </p:sp>
      <p:sp>
        <p:nvSpPr>
          <p:cNvPr id="6" name="text-463">
            <a:extLst xmlns:a="http://schemas.openxmlformats.org/drawingml/2006/main">
              <a:ext uri="{FF2B5EF4-FFF2-40B4-BE49-F238E27FC236}">
                <a16:creationId xmlns:a16="http://schemas.microsoft.com/office/drawing/2014/main" id="{57202108-D3E0-43E8-834B-BECAFB670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28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464">
            <a:extLst xmlns:a="http://schemas.openxmlformats.org/drawingml/2006/main">
              <a:ext uri="{FF2B5EF4-FFF2-40B4-BE49-F238E27FC236}">
                <a16:creationId xmlns:a16="http://schemas.microsoft.com/office/drawing/2014/main" id="{1D8787FA-40BA-499B-A551-D44D65E81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465">
            <a:extLst xmlns:a="http://schemas.openxmlformats.org/drawingml/2006/main">
              <a:ext uri="{FF2B5EF4-FFF2-40B4-BE49-F238E27FC236}">
                <a16:creationId xmlns:a16="http://schemas.microsoft.com/office/drawing/2014/main" id="{08046EEC-FFFF-4354-AE88-9C7CECE2D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466">
            <a:extLst xmlns:a="http://schemas.openxmlformats.org/drawingml/2006/main">
              <a:ext uri="{FF2B5EF4-FFF2-40B4-BE49-F238E27FC236}">
                <a16:creationId xmlns:a16="http://schemas.microsoft.com/office/drawing/2014/main" id="{78005BAC-4636-4508-B40B-E7DAA07ED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貼入提示詞公式與核心內容</a:t>
            </a:r>
          </a:p>
        </p:txBody>
      </p:sp>
      <p:sp>
        <p:nvSpPr>
          <p:cNvPr id="10" name="text-467">
            <a:extLst xmlns:a="http://schemas.openxmlformats.org/drawingml/2006/main">
              <a:ext uri="{FF2B5EF4-FFF2-40B4-BE49-F238E27FC236}">
                <a16:creationId xmlns:a16="http://schemas.microsoft.com/office/drawing/2014/main" id="{6D4CF7B7-B6EF-466F-AEBE-EBB5DB112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468">
            <a:extLst xmlns:a="http://schemas.openxmlformats.org/drawingml/2006/main">
              <a:ext uri="{FF2B5EF4-FFF2-40B4-BE49-F238E27FC236}">
                <a16:creationId xmlns:a16="http://schemas.microsoft.com/office/drawing/2014/main" id="{1B14D9C4-08A1-4EDC-8292-EC4C49FB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產生第一版並完整操作</a:t>
            </a:r>
          </a:p>
        </p:txBody>
      </p:sp>
      <p:sp>
        <p:nvSpPr>
          <p:cNvPr id="12" name="text-469">
            <a:extLst xmlns:a="http://schemas.openxmlformats.org/drawingml/2006/main">
              <a:ext uri="{FF2B5EF4-FFF2-40B4-BE49-F238E27FC236}">
                <a16:creationId xmlns:a16="http://schemas.microsoft.com/office/drawing/2014/main" id="{004EEA2F-700D-4DBC-A14D-29D088578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470">
            <a:extLst xmlns:a="http://schemas.openxmlformats.org/drawingml/2006/main">
              <a:ext uri="{FF2B5EF4-FFF2-40B4-BE49-F238E27FC236}">
                <a16:creationId xmlns:a16="http://schemas.microsoft.com/office/drawing/2014/main" id="{8E5665D6-A481-4338-99B9-3D2021D4EF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請同組夥伴扮演學生測試</a:t>
            </a:r>
          </a:p>
        </p:txBody>
      </p:sp>
      <p:sp>
        <p:nvSpPr>
          <p:cNvPr id="14" name="text-471">
            <a:extLst xmlns:a="http://schemas.openxmlformats.org/drawingml/2006/main">
              <a:ext uri="{FF2B5EF4-FFF2-40B4-BE49-F238E27FC236}">
                <a16:creationId xmlns:a16="http://schemas.microsoft.com/office/drawing/2014/main" id="{47DDC80C-5966-4975-9E9A-ED97115A4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472">
            <a:extLst xmlns:a="http://schemas.openxmlformats.org/drawingml/2006/main">
              <a:ext uri="{FF2B5EF4-FFF2-40B4-BE49-F238E27FC236}">
                <a16:creationId xmlns:a16="http://schemas.microsoft.com/office/drawing/2014/main" id="{F1906870-2AC5-4429-8337-04F41B0F6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根據一項具體問題修改第二版</a:t>
            </a:r>
          </a:p>
        </p:txBody>
      </p:sp>
      <p:sp>
        <p:nvSpPr>
          <p:cNvPr id="16" name="shape-473">
            <a:extLst xmlns:a="http://schemas.openxmlformats.org/drawingml/2006/main">
              <a:ext uri="{FF2B5EF4-FFF2-40B4-BE49-F238E27FC236}">
                <a16:creationId xmlns:a16="http://schemas.microsoft.com/office/drawing/2014/main" id="{C89AFF34-7C57-404D-B7CD-556C0A21C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474">
            <a:extLst xmlns:a="http://schemas.openxmlformats.org/drawingml/2006/main">
              <a:ext uri="{FF2B5EF4-FFF2-40B4-BE49-F238E27FC236}">
                <a16:creationId xmlns:a16="http://schemas.microsoft.com/office/drawing/2014/main" id="{CEFC40F8-C646-417F-A6FA-B44345B68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475">
            <a:extLst xmlns:a="http://schemas.openxmlformats.org/drawingml/2006/main">
              <a:ext uri="{FF2B5EF4-FFF2-40B4-BE49-F238E27FC236}">
                <a16:creationId xmlns:a16="http://schemas.microsoft.com/office/drawing/2014/main" id="{8EE995B8-3DDF-4BD5-8531-BD8EDA370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至少一個互動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有清楚回饋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手機寬度可操作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沒有學生個資</a:t>
            </a:r>
          </a:p>
        </p:txBody>
      </p:sp>
      <p:sp>
        <p:nvSpPr>
          <p:cNvPr id="19" name="text-656">
            <a:extLst xmlns:a="http://schemas.openxmlformats.org/drawingml/2006/main">
              <a:ext uri="{FF2B5EF4-FFF2-40B4-BE49-F238E27FC236}">
                <a16:creationId xmlns:a16="http://schemas.microsoft.com/office/drawing/2014/main" id="{6C3DFDFF-2A1A-4371-AF83-A76902B33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f217b75b8c5c4eef"/>
              </a:rPr>
              <a:t>開啟 Gemini Canvas ↗</a:t>
            </a:r>
          </a:p>
        </p:txBody>
      </p:sp>
      <p:sp>
        <p:nvSpPr>
          <p:cNvPr id="20" name="shape-699">
            <a:extLst xmlns:a="http://schemas.openxmlformats.org/drawingml/2006/main">
              <a:ext uri="{FF2B5EF4-FFF2-40B4-BE49-F238E27FC236}">
                <a16:creationId xmlns:a16="http://schemas.microsoft.com/office/drawing/2014/main" id="{220B6505-B3DF-4834-9EC1-ABF55D2495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1e8f8e08b240fa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2" name="text-700">
            <a:extLst xmlns:a="http://schemas.openxmlformats.org/drawingml/2006/main">
              <a:ext uri="{FF2B5EF4-FFF2-40B4-BE49-F238E27FC236}">
                <a16:creationId xmlns:a16="http://schemas.microsoft.com/office/drawing/2014/main" id="{0F8C2DFF-B480-42BC-B958-8E86CD6AC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1980588182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76">
            <a:extLst xmlns:a="http://schemas.openxmlformats.org/drawingml/2006/main">
              <a:ext uri="{FF2B5EF4-FFF2-40B4-BE49-F238E27FC236}">
                <a16:creationId xmlns:a16="http://schemas.microsoft.com/office/drawing/2014/main" id="{FA583ED0-368E-4E5D-9C51-47F32C3DE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PRE-PUBLISH CHECK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482CB111-5E2E-4D67-ADA0-EB56D09D4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上線前 4 道門：能用，不等於能公開</a:t>
            </a:r>
          </a:p>
        </p:txBody>
      </p:sp>
      <p:cxnSp>
        <p:nvCxnSpPr>
          <p:cNvPr id="28" name="shape-47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78">
            <a:extLst xmlns:a="http://schemas.openxmlformats.org/drawingml/2006/main">
              <a:ext uri="{FF2B5EF4-FFF2-40B4-BE49-F238E27FC236}">
                <a16:creationId xmlns:a16="http://schemas.microsoft.com/office/drawing/2014/main" id="{5B9C5D74-A00C-47D7-BE7A-1EDF7B7CE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1F63412-8C3C-400C-BDC7-573A31CBA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29</a:t>
            </a:r>
          </a:p>
        </p:txBody>
      </p:sp>
      <p:sp>
        <p:nvSpPr>
          <p:cNvPr id="6" name="shape-479">
            <a:extLst xmlns:a="http://schemas.openxmlformats.org/drawingml/2006/main">
              <a:ext uri="{FF2B5EF4-FFF2-40B4-BE49-F238E27FC236}">
                <a16:creationId xmlns:a16="http://schemas.microsoft.com/office/drawing/2014/main" id="{4A8F2912-0BFF-40FA-B56A-9A0568BD2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480">
            <a:extLst xmlns:a="http://schemas.openxmlformats.org/drawingml/2006/main">
              <a:ext uri="{FF2B5EF4-FFF2-40B4-BE49-F238E27FC236}">
                <a16:creationId xmlns:a16="http://schemas.microsoft.com/office/drawing/2014/main" id="{032C731C-C756-471C-93D3-495954349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01</a:t>
            </a:r>
          </a:p>
        </p:txBody>
      </p:sp>
      <p:sp>
        <p:nvSpPr>
          <p:cNvPr id="8" name="text-481">
            <a:extLst xmlns:a="http://schemas.openxmlformats.org/drawingml/2006/main">
              <a:ext uri="{FF2B5EF4-FFF2-40B4-BE49-F238E27FC236}">
                <a16:creationId xmlns:a16="http://schemas.microsoft.com/office/drawing/2014/main" id="{0BF10962-C90D-4BE2-9902-2A469F966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隱私</a:t>
            </a:r>
          </a:p>
        </p:txBody>
      </p:sp>
      <p:sp>
        <p:nvSpPr>
          <p:cNvPr id="9" name="text-482">
            <a:extLst xmlns:a="http://schemas.openxmlformats.org/drawingml/2006/main">
              <a:ext uri="{FF2B5EF4-FFF2-40B4-BE49-F238E27FC236}">
                <a16:creationId xmlns:a16="http://schemas.microsoft.com/office/drawing/2014/main" id="{778EA153-7821-407A-A538-AFFAF19B5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移除學生姓名、信箱、成績、研究參與者與敏感檔案。</a:t>
            </a:r>
          </a:p>
        </p:txBody>
      </p:sp>
      <p:sp>
        <p:nvSpPr>
          <p:cNvPr id="10" name="shape-483">
            <a:extLst xmlns:a="http://schemas.openxmlformats.org/drawingml/2006/main">
              <a:ext uri="{FF2B5EF4-FFF2-40B4-BE49-F238E27FC236}">
                <a16:creationId xmlns:a16="http://schemas.microsoft.com/office/drawing/2014/main" id="{7FE1B50B-2633-4FB6-93A0-596E5641AF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7563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484">
            <a:extLst xmlns:a="http://schemas.openxmlformats.org/drawingml/2006/main">
              <a:ext uri="{FF2B5EF4-FFF2-40B4-BE49-F238E27FC236}">
                <a16:creationId xmlns:a16="http://schemas.microsoft.com/office/drawing/2014/main" id="{17A360AF-62A0-4124-A2C0-B853FAA1C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02</a:t>
            </a:r>
          </a:p>
        </p:txBody>
      </p:sp>
      <p:sp>
        <p:nvSpPr>
          <p:cNvPr id="12" name="text-485">
            <a:extLst xmlns:a="http://schemas.openxmlformats.org/drawingml/2006/main">
              <a:ext uri="{FF2B5EF4-FFF2-40B4-BE49-F238E27FC236}">
                <a16:creationId xmlns:a16="http://schemas.microsoft.com/office/drawing/2014/main" id="{DE0EC0FE-3DD0-465F-8E7A-293E6F821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版權</a:t>
            </a:r>
          </a:p>
        </p:txBody>
      </p:sp>
      <p:sp>
        <p:nvSpPr>
          <p:cNvPr id="13" name="text-486">
            <a:extLst xmlns:a="http://schemas.openxmlformats.org/drawingml/2006/main">
              <a:ext uri="{FF2B5EF4-FFF2-40B4-BE49-F238E27FC236}">
                <a16:creationId xmlns:a16="http://schemas.microsoft.com/office/drawing/2014/main" id="{7BBCD462-E7B6-4B54-892C-82BFA0AA5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7113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確認圖片、教材、論文與範例程式的授權與引用。</a:t>
            </a:r>
          </a:p>
        </p:txBody>
      </p:sp>
      <p:sp>
        <p:nvSpPr>
          <p:cNvPr id="14" name="shape-487">
            <a:extLst xmlns:a="http://schemas.openxmlformats.org/drawingml/2006/main">
              <a:ext uri="{FF2B5EF4-FFF2-40B4-BE49-F238E27FC236}">
                <a16:creationId xmlns:a16="http://schemas.microsoft.com/office/drawing/2014/main" id="{47AD69FB-6B96-4EBB-BEFD-DF5F605E51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00775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488">
            <a:extLst xmlns:a="http://schemas.openxmlformats.org/drawingml/2006/main">
              <a:ext uri="{FF2B5EF4-FFF2-40B4-BE49-F238E27FC236}">
                <a16:creationId xmlns:a16="http://schemas.microsoft.com/office/drawing/2014/main" id="{D293A958-482D-476A-9D1C-1984F1A01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03</a:t>
            </a:r>
          </a:p>
        </p:txBody>
      </p:sp>
      <p:sp>
        <p:nvSpPr>
          <p:cNvPr id="16" name="text-489">
            <a:extLst xmlns:a="http://schemas.openxmlformats.org/drawingml/2006/main">
              <a:ext uri="{FF2B5EF4-FFF2-40B4-BE49-F238E27FC236}">
                <a16:creationId xmlns:a16="http://schemas.microsoft.com/office/drawing/2014/main" id="{9B0E7C36-5A39-48A8-93AE-ECF256242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無障礙</a:t>
            </a:r>
          </a:p>
        </p:txBody>
      </p:sp>
      <p:sp>
        <p:nvSpPr>
          <p:cNvPr id="17" name="text-490">
            <a:extLst xmlns:a="http://schemas.openxmlformats.org/drawingml/2006/main">
              <a:ext uri="{FF2B5EF4-FFF2-40B4-BE49-F238E27FC236}">
                <a16:creationId xmlns:a16="http://schemas.microsoft.com/office/drawing/2014/main" id="{9E812C36-A00C-410E-A96F-60D2B29A9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0325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文字可讀、對比足夠、鍵盤可操作、圖片有替代說明。</a:t>
            </a:r>
          </a:p>
        </p:txBody>
      </p:sp>
      <p:sp>
        <p:nvSpPr>
          <p:cNvPr id="18" name="shape-491">
            <a:extLst xmlns:a="http://schemas.openxmlformats.org/drawingml/2006/main">
              <a:ext uri="{FF2B5EF4-FFF2-40B4-BE49-F238E27FC236}">
                <a16:creationId xmlns:a16="http://schemas.microsoft.com/office/drawing/2014/main" id="{A9F1DA06-1CE6-4EFB-A8ED-E010BBC9C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3988" y="1676400"/>
            <a:ext cx="2633663" cy="4305300"/>
          </a:xfrm>
          <a:prstGeom xmlns:a="http://schemas.openxmlformats.org/drawingml/2006/main" prst="roundRect">
            <a:avLst>
              <a:gd name="adj" fmla="val 578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492">
            <a:extLst xmlns:a="http://schemas.openxmlformats.org/drawingml/2006/main">
              <a:ext uri="{FF2B5EF4-FFF2-40B4-BE49-F238E27FC236}">
                <a16:creationId xmlns:a16="http://schemas.microsoft.com/office/drawing/2014/main" id="{E2126B1A-FFE3-43C0-9930-0062636A7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1866900"/>
            <a:ext cx="514350" cy="400050"/>
          </a:xfrm>
          <a:prstGeom xmlns:a="http://schemas.openxmlformats.org/drawingml/2006/main" prst="roundRect">
            <a:avLst>
              <a:gd name="adj" fmla="val 19048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04</a:t>
            </a:r>
          </a:p>
        </p:txBody>
      </p:sp>
      <p:sp>
        <p:nvSpPr>
          <p:cNvPr id="20" name="text-493">
            <a:extLst xmlns:a="http://schemas.openxmlformats.org/drawingml/2006/main">
              <a:ext uri="{FF2B5EF4-FFF2-40B4-BE49-F238E27FC236}">
                <a16:creationId xmlns:a16="http://schemas.microsoft.com/office/drawing/2014/main" id="{6B56AA38-B66E-4E9E-88F1-FCBE7B5B1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2457450"/>
            <a:ext cx="2214563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跨裝置</a:t>
            </a:r>
          </a:p>
        </p:txBody>
      </p:sp>
      <p:sp>
        <p:nvSpPr>
          <p:cNvPr id="21" name="text-494">
            <a:extLst xmlns:a="http://schemas.openxmlformats.org/drawingml/2006/main">
              <a:ext uri="{FF2B5EF4-FFF2-40B4-BE49-F238E27FC236}">
                <a16:creationId xmlns:a16="http://schemas.microsoft.com/office/drawing/2014/main" id="{B2685705-A2B2-4427-929C-A2E8841A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3538" y="3028950"/>
            <a:ext cx="2214563" cy="2743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手機、平板、桌機都完成主要任務，不只看首頁。</a:t>
            </a:r>
          </a:p>
        </p:txBody>
      </p:sp>
      <p:sp>
        <p:nvSpPr>
          <p:cNvPr id="22" name="text-657">
            <a:extLst xmlns:a="http://schemas.openxmlformats.org/drawingml/2006/main">
              <a:ext uri="{FF2B5EF4-FFF2-40B4-BE49-F238E27FC236}">
                <a16:creationId xmlns:a16="http://schemas.microsoft.com/office/drawing/2014/main" id="{DEF3EFC4-A85B-4F1A-AC48-7501CAA3B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5b3575230fa5434b"/>
              </a:rPr>
              <a:t>開啟 Gemini Canvas ↗</a:t>
            </a:r>
          </a:p>
        </p:txBody>
      </p:sp>
      <p:sp>
        <p:nvSpPr>
          <p:cNvPr id="23" name="shape-701">
            <a:extLst xmlns:a="http://schemas.openxmlformats.org/drawingml/2006/main">
              <a:ext uri="{FF2B5EF4-FFF2-40B4-BE49-F238E27FC236}">
                <a16:creationId xmlns:a16="http://schemas.microsoft.com/office/drawing/2014/main" id="{24AA370E-72F7-4FF9-9070-919E7A407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5b73407604885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25" name="text-702">
            <a:extLst xmlns:a="http://schemas.openxmlformats.org/drawingml/2006/main">
              <a:ext uri="{FF2B5EF4-FFF2-40B4-BE49-F238E27FC236}">
                <a16:creationId xmlns:a16="http://schemas.microsoft.com/office/drawing/2014/main" id="{19B6A6BF-390E-4A3E-B142-D4DC8501DF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Canvas</a:t>
            </a:r>
          </a:p>
        </p:txBody>
      </p:sp>
    </p:spTree>
    <p:extLst>
      <p:ext uri="{BB962C8B-B14F-4D97-AF65-F5344CB8AC3E}">
        <p14:creationId xmlns:p14="http://schemas.microsoft.com/office/powerpoint/2010/main" val="51914188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text-495">
            <a:extLst xmlns:a="http://schemas.openxmlformats.org/drawingml/2006/main">
              <a:ext uri="{FF2B5EF4-FFF2-40B4-BE49-F238E27FC236}">
                <a16:creationId xmlns:a16="http://schemas.microsoft.com/office/drawing/2014/main" id="{7AC9853B-173A-4284-9808-C8B371710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GOOGLE SITES · GITHUB PAGES · EZPAGE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9B7E41A-0A35-4140-BF33-E7ED17733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部署選擇：先看目的，再看技術</a:t>
            </a:r>
          </a:p>
        </p:txBody>
      </p:sp>
      <p:cxnSp>
        <p:nvCxnSpPr>
          <p:cNvPr id="28" name="shape-49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497">
            <a:extLst xmlns:a="http://schemas.openxmlformats.org/drawingml/2006/main">
              <a:ext uri="{FF2B5EF4-FFF2-40B4-BE49-F238E27FC236}">
                <a16:creationId xmlns:a16="http://schemas.microsoft.com/office/drawing/2014/main" id="{ABD7B174-D6E7-49CE-B242-2A2E235464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2B6C88D-C9C0-4356-AF45-30A692E3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30</a:t>
            </a:r>
          </a:p>
        </p:txBody>
      </p:sp>
      <p:sp>
        <p:nvSpPr>
          <p:cNvPr id="6" name="shape-498">
            <a:extLst xmlns:a="http://schemas.openxmlformats.org/drawingml/2006/main">
              <a:ext uri="{FF2B5EF4-FFF2-40B4-BE49-F238E27FC236}">
                <a16:creationId xmlns:a16="http://schemas.microsoft.com/office/drawing/2014/main" id="{5A2C1EE2-EEC0-4ACD-AFDB-557552988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76400"/>
            <a:ext cx="53625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shape-499">
            <a:extLst xmlns:a="http://schemas.openxmlformats.org/drawingml/2006/main">
              <a:ext uri="{FF2B5EF4-FFF2-40B4-BE49-F238E27FC236}">
                <a16:creationId xmlns:a16="http://schemas.microsoft.com/office/drawing/2014/main" id="{B8352E13-0093-4AD9-80B5-641380195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676400"/>
            <a:ext cx="5591175" cy="4267200"/>
          </a:xfrm>
          <a:prstGeom xmlns:a="http://schemas.openxmlformats.org/drawingml/2006/main" prst="roundRect">
            <a:avLst>
              <a:gd name="adj" fmla="val 3571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8" name="text-500">
            <a:extLst xmlns:a="http://schemas.openxmlformats.org/drawingml/2006/main">
              <a:ext uri="{FF2B5EF4-FFF2-40B4-BE49-F238E27FC236}">
                <a16:creationId xmlns:a16="http://schemas.microsoft.com/office/drawing/2014/main" id="{438DBDA4-F3CF-41FE-999F-CE133709C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00250"/>
            <a:ext cx="47910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sp>
        <p:nvSpPr>
          <p:cNvPr id="9" name="text-501">
            <a:extLst xmlns:a="http://schemas.openxmlformats.org/drawingml/2006/main">
              <a:ext uri="{FF2B5EF4-FFF2-40B4-BE49-F238E27FC236}">
                <a16:creationId xmlns:a16="http://schemas.microsoft.com/office/drawing/2014/main" id="{4C2AB029-7449-41A1-A29E-D8587AFA3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781300"/>
            <a:ext cx="47910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適合快速整理課程入口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拖放編輯與多人協作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可嵌入 Google 檔案與網站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維護門檻較低</a:t>
            </a:r>
          </a:p>
        </p:txBody>
      </p:sp>
      <p:sp>
        <p:nvSpPr>
          <p:cNvPr id="10" name="text-502">
            <a:extLst xmlns:a="http://schemas.openxmlformats.org/drawingml/2006/main">
              <a:ext uri="{FF2B5EF4-FFF2-40B4-BE49-F238E27FC236}">
                <a16:creationId xmlns:a16="http://schemas.microsoft.com/office/drawing/2014/main" id="{EE33D933-5A9F-42F6-A197-A6B1A7EB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000250"/>
            <a:ext cx="49815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0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GitHub Pages／EZPage</a:t>
            </a:r>
          </a:p>
        </p:txBody>
      </p:sp>
      <p:sp>
        <p:nvSpPr>
          <p:cNvPr id="11" name="text-503">
            <a:extLst xmlns:a="http://schemas.openxmlformats.org/drawingml/2006/main">
              <a:ext uri="{FF2B5EF4-FFF2-40B4-BE49-F238E27FC236}">
                <a16:creationId xmlns:a16="http://schemas.microsoft.com/office/drawing/2014/main" id="{1860BB05-4E57-4491-BBB8-021E15212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2781300"/>
            <a:ext cx="4981575" cy="2686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原生流程保留版本與程式結構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可直接上傳 ZIP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適合展示互動網站作品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仍要理解公開、授權與驗證</a:t>
            </a:r>
          </a:p>
        </p:txBody>
      </p:sp>
      <p:sp>
        <p:nvSpPr>
          <p:cNvPr id="12" name="text-504">
            <a:extLst xmlns:a="http://schemas.openxmlformats.org/drawingml/2006/main">
              <a:ext uri="{FF2B5EF4-FFF2-40B4-BE49-F238E27FC236}">
                <a16:creationId xmlns:a16="http://schemas.microsoft.com/office/drawing/2014/main" id="{F4CD0908-292E-455A-BA39-FFFC0301F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協作、嵌入、低門檻</a:t>
            </a:r>
          </a:p>
        </p:txBody>
      </p:sp>
      <p:sp>
        <p:nvSpPr>
          <p:cNvPr id="13" name="text-505">
            <a:extLst xmlns:a="http://schemas.openxmlformats.org/drawingml/2006/main">
              <a:ext uri="{FF2B5EF4-FFF2-40B4-BE49-F238E27FC236}">
                <a16:creationId xmlns:a16="http://schemas.microsoft.com/office/drawing/2014/main" id="{E68510E8-2370-45CF-8220-367BAE430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95875" y="4876800"/>
            <a:ext cx="18097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先問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誰要維護？</a:t>
            </a:r>
          </a:p>
        </p:txBody>
      </p:sp>
      <p:sp>
        <p:nvSpPr>
          <p:cNvPr id="14" name="text-506">
            <a:extLst xmlns:a="http://schemas.openxmlformats.org/drawingml/2006/main">
              <a:ext uri="{FF2B5EF4-FFF2-40B4-BE49-F238E27FC236}">
                <a16:creationId xmlns:a16="http://schemas.microsoft.com/office/drawing/2014/main" id="{BBF69182-2B02-47D1-8F54-4AAC4A8A5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24950" y="4876800"/>
            <a:ext cx="2000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程式、版本、公開</a:t>
            </a:r>
          </a:p>
        </p:txBody>
      </p:sp>
      <p:cxnSp>
        <p:nvCxnSpPr>
          <p:cNvPr id="40" name=""/>
          <p:cNvCxnSpPr>
            <a:stCxn xmlns:a="http://schemas.openxmlformats.org/drawingml/2006/main" id="13" idx="1"/>
            <a:endCxn xmlns:a="http://schemas.openxmlformats.org/drawingml/2006/main" id="12" idx="3"/>
          </p:cNvCxnSpPr>
          <p:nvPr/>
        </p:nvCxnSpPr>
        <p:spPr>
          <a:xfrm xmlns:a="http://schemas.openxmlformats.org/drawingml/2006/main" flipH="1">
            <a:off x="3067050" y="5181600"/>
            <a:ext cx="20288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41" name=""/>
          <p:cNvCxnSpPr>
            <a:stCxn xmlns:a="http://schemas.openxmlformats.org/drawingml/2006/main" id="13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6905625" y="5181600"/>
            <a:ext cx="2219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17" name="text-507">
            <a:extLst xmlns:a="http://schemas.openxmlformats.org/drawingml/2006/main">
              <a:ext uri="{FF2B5EF4-FFF2-40B4-BE49-F238E27FC236}">
                <a16:creationId xmlns:a16="http://schemas.microsoft.com/office/drawing/2014/main" id="{B3B5551D-F656-46A3-8603-033220FB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9550" y="5619750"/>
            <a:ext cx="4191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選部署條件，不先選品牌</a:t>
            </a:r>
          </a:p>
        </p:txBody>
      </p:sp>
      <p:sp>
        <p:nvSpPr>
          <p:cNvPr id="18" name="text-658">
            <a:extLst xmlns:a="http://schemas.openxmlformats.org/drawingml/2006/main">
              <a:ext uri="{FF2B5EF4-FFF2-40B4-BE49-F238E27FC236}">
                <a16:creationId xmlns:a16="http://schemas.microsoft.com/office/drawing/2014/main" id="{B10949E6-B4EC-4EDF-A739-59905D533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3a1a2d92ee7c48e2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0c058d0aff8e41f0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c920b1caa5c84bf8"/>
              </a:rPr>
              <a:t>EZPage ↗</a:t>
            </a:r>
          </a:p>
        </p:txBody>
      </p:sp>
      <p:sp>
        <p:nvSpPr>
          <p:cNvPr id="19" name="shape-703">
            <a:extLst xmlns:a="http://schemas.openxmlformats.org/drawingml/2006/main">
              <a:ext uri="{FF2B5EF4-FFF2-40B4-BE49-F238E27FC236}">
                <a16:creationId xmlns:a16="http://schemas.microsoft.com/office/drawing/2014/main" id="{143970AF-89E2-4281-975D-AE5814292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d5c6bd4dcbc42c0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1" name="text-704">
            <a:extLst xmlns:a="http://schemas.openxmlformats.org/drawingml/2006/main">
              <a:ext uri="{FF2B5EF4-FFF2-40B4-BE49-F238E27FC236}">
                <a16:creationId xmlns:a16="http://schemas.microsoft.com/office/drawing/2014/main" id="{0F60C301-FB1C-435E-8882-C97FAD516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9bd2c6bf1c4875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3" name="text-705">
            <a:extLst xmlns:a="http://schemas.openxmlformats.org/drawingml/2006/main">
              <a:ext uri="{FF2B5EF4-FFF2-40B4-BE49-F238E27FC236}">
                <a16:creationId xmlns:a16="http://schemas.microsoft.com/office/drawing/2014/main" id="{087DBD86-4EA2-4C22-9168-DFB7906D8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bed40f280b4b8e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5" name="text-706">
            <a:extLst xmlns:a="http://schemas.openxmlformats.org/drawingml/2006/main">
              <a:ext uri="{FF2B5EF4-FFF2-40B4-BE49-F238E27FC236}">
                <a16:creationId xmlns:a16="http://schemas.microsoft.com/office/drawing/2014/main" id="{F770DF41-44FF-4B60-B02B-10CBFB660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520848879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text-508">
            <a:extLst xmlns:a="http://schemas.openxmlformats.org/drawingml/2006/main">
              <a:ext uri="{FF2B5EF4-FFF2-40B4-BE49-F238E27FC236}">
                <a16:creationId xmlns:a16="http://schemas.microsoft.com/office/drawing/2014/main" id="{D912F3D3-5B47-4F7D-B480-7F42FA3817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A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C1C8E6BF-1224-47B2-9048-15701788E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Google Sites：最快建立課程作品入口</a:t>
            </a:r>
          </a:p>
        </p:txBody>
      </p:sp>
      <p:cxnSp>
        <p:nvCxnSpPr>
          <p:cNvPr id="36" name="shape-509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10">
            <a:extLst xmlns:a="http://schemas.openxmlformats.org/drawingml/2006/main">
              <a:ext uri="{FF2B5EF4-FFF2-40B4-BE49-F238E27FC236}">
                <a16:creationId xmlns:a16="http://schemas.microsoft.com/office/drawing/2014/main" id="{4CB50709-AD7F-48F5-A763-69B88644C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4886EAF-E4D1-47DD-A373-33DA5F813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31</a:t>
            </a:r>
          </a:p>
        </p:txBody>
      </p:sp>
      <p:sp>
        <p:nvSpPr>
          <p:cNvPr id="6" name="shape-511">
            <a:extLst xmlns:a="http://schemas.openxmlformats.org/drawingml/2006/main">
              <a:ext uri="{FF2B5EF4-FFF2-40B4-BE49-F238E27FC236}">
                <a16:creationId xmlns:a16="http://schemas.microsoft.com/office/drawing/2014/main" id="{39770503-3350-4490-922D-507B2B64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12">
            <a:extLst xmlns:a="http://schemas.openxmlformats.org/drawingml/2006/main">
              <a:ext uri="{FF2B5EF4-FFF2-40B4-BE49-F238E27FC236}">
                <a16:creationId xmlns:a16="http://schemas.microsoft.com/office/drawing/2014/main" id="{AA7454E7-A8D0-4E5B-B656-DB0CFAF2F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13">
            <a:extLst xmlns:a="http://schemas.openxmlformats.org/drawingml/2006/main">
              <a:ext uri="{FF2B5EF4-FFF2-40B4-BE49-F238E27FC236}">
                <a16:creationId xmlns:a16="http://schemas.microsoft.com/office/drawing/2014/main" id="{C36A6EA8-5E29-46BC-99D6-94A385905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14">
            <a:extLst xmlns:a="http://schemas.openxmlformats.org/drawingml/2006/main">
              <a:ext uri="{FF2B5EF4-FFF2-40B4-BE49-F238E27FC236}">
                <a16:creationId xmlns:a16="http://schemas.microsoft.com/office/drawing/2014/main" id="{1CDF08B6-8960-4635-91E8-767DA3E98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建立網站</a:t>
            </a:r>
          </a:p>
        </p:txBody>
      </p:sp>
      <p:sp>
        <p:nvSpPr>
          <p:cNvPr id="10" name="text-515">
            <a:extLst xmlns:a="http://schemas.openxmlformats.org/drawingml/2006/main">
              <a:ext uri="{FF2B5EF4-FFF2-40B4-BE49-F238E27FC236}">
                <a16:creationId xmlns:a16="http://schemas.microsoft.com/office/drawing/2014/main" id="{1D6DC1D2-A93B-4F12-AE1C-32650F388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選空白或範本</a:t>
            </a:r>
          </a:p>
        </p:txBody>
      </p:sp>
      <p:sp>
        <p:nvSpPr>
          <p:cNvPr id="11" name="text-516">
            <a:extLst xmlns:a="http://schemas.openxmlformats.org/drawingml/2006/main">
              <a:ext uri="{FF2B5EF4-FFF2-40B4-BE49-F238E27FC236}">
                <a16:creationId xmlns:a16="http://schemas.microsoft.com/office/drawing/2014/main" id="{C96E69A5-211E-48A6-97FF-DF6553DBC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17">
            <a:extLst xmlns:a="http://schemas.openxmlformats.org/drawingml/2006/main">
              <a:ext uri="{FF2B5EF4-FFF2-40B4-BE49-F238E27FC236}">
                <a16:creationId xmlns:a16="http://schemas.microsoft.com/office/drawing/2014/main" id="{AB65ED60-4B03-46A8-81AC-8ADAB3E18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18">
            <a:extLst xmlns:a="http://schemas.openxmlformats.org/drawingml/2006/main">
              <a:ext uri="{FF2B5EF4-FFF2-40B4-BE49-F238E27FC236}">
                <a16:creationId xmlns:a16="http://schemas.microsoft.com/office/drawing/2014/main" id="{667C7794-9D8F-4504-AA37-BDF5FC3AD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19">
            <a:extLst xmlns:a="http://schemas.openxmlformats.org/drawingml/2006/main">
              <a:ext uri="{FF2B5EF4-FFF2-40B4-BE49-F238E27FC236}">
                <a16:creationId xmlns:a16="http://schemas.microsoft.com/office/drawing/2014/main" id="{A8832DBC-D242-4AA0-A6F5-D98F288F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20">
            <a:extLst xmlns:a="http://schemas.openxmlformats.org/drawingml/2006/main">
              <a:ext uri="{FF2B5EF4-FFF2-40B4-BE49-F238E27FC236}">
                <a16:creationId xmlns:a16="http://schemas.microsoft.com/office/drawing/2014/main" id="{3D443DEE-E0D4-42E8-89C0-C0DB82727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加入內容</a:t>
            </a:r>
          </a:p>
        </p:txBody>
      </p:sp>
      <p:sp>
        <p:nvSpPr>
          <p:cNvPr id="16" name="text-521">
            <a:extLst xmlns:a="http://schemas.openxmlformats.org/drawingml/2006/main">
              <a:ext uri="{FF2B5EF4-FFF2-40B4-BE49-F238E27FC236}">
                <a16:creationId xmlns:a16="http://schemas.microsoft.com/office/drawing/2014/main" id="{5DCF1093-FD1B-49C3-B4F5-0373690675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文字、圖片、檔案、嵌入</a:t>
            </a:r>
          </a:p>
        </p:txBody>
      </p:sp>
      <p:sp>
        <p:nvSpPr>
          <p:cNvPr id="17" name="text-522">
            <a:extLst xmlns:a="http://schemas.openxmlformats.org/drawingml/2006/main">
              <a:ext uri="{FF2B5EF4-FFF2-40B4-BE49-F238E27FC236}">
                <a16:creationId xmlns:a16="http://schemas.microsoft.com/office/drawing/2014/main" id="{8AD8710C-0A61-499E-87A4-ED93260EE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23">
            <a:extLst xmlns:a="http://schemas.openxmlformats.org/drawingml/2006/main">
              <a:ext uri="{FF2B5EF4-FFF2-40B4-BE49-F238E27FC236}">
                <a16:creationId xmlns:a16="http://schemas.microsoft.com/office/drawing/2014/main" id="{20E5EB21-CB1A-43FD-BBF3-6B0E69197D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24">
            <a:extLst xmlns:a="http://schemas.openxmlformats.org/drawingml/2006/main">
              <a:ext uri="{FF2B5EF4-FFF2-40B4-BE49-F238E27FC236}">
                <a16:creationId xmlns:a16="http://schemas.microsoft.com/office/drawing/2014/main" id="{5AE692E3-DD5A-4E7D-A28F-C4A3838D9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25">
            <a:extLst xmlns:a="http://schemas.openxmlformats.org/drawingml/2006/main">
              <a:ext uri="{FF2B5EF4-FFF2-40B4-BE49-F238E27FC236}">
                <a16:creationId xmlns:a16="http://schemas.microsoft.com/office/drawing/2014/main" id="{66407B2A-7502-4FEB-809D-AEAA3AC12C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26">
            <a:extLst xmlns:a="http://schemas.openxmlformats.org/drawingml/2006/main">
              <a:ext uri="{FF2B5EF4-FFF2-40B4-BE49-F238E27FC236}">
                <a16:creationId xmlns:a16="http://schemas.microsoft.com/office/drawing/2014/main" id="{6939AAF7-73C5-4DB2-AF69-92F383B06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預覽</a:t>
            </a:r>
          </a:p>
        </p:txBody>
      </p:sp>
      <p:sp>
        <p:nvSpPr>
          <p:cNvPr id="22" name="text-527">
            <a:extLst xmlns:a="http://schemas.openxmlformats.org/drawingml/2006/main">
              <a:ext uri="{FF2B5EF4-FFF2-40B4-BE49-F238E27FC236}">
                <a16:creationId xmlns:a16="http://schemas.microsoft.com/office/drawing/2014/main" id="{A0657D63-0949-4E83-8EBB-0A8303BF1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桌機／平板／手機</a:t>
            </a:r>
          </a:p>
        </p:txBody>
      </p:sp>
      <p:sp>
        <p:nvSpPr>
          <p:cNvPr id="23" name="text-528">
            <a:extLst xmlns:a="http://schemas.openxmlformats.org/drawingml/2006/main">
              <a:ext uri="{FF2B5EF4-FFF2-40B4-BE49-F238E27FC236}">
                <a16:creationId xmlns:a16="http://schemas.microsoft.com/office/drawing/2014/main" id="{5908DD0E-C361-4F84-93D6-4012FFFB3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29">
            <a:extLst xmlns:a="http://schemas.openxmlformats.org/drawingml/2006/main">
              <a:ext uri="{FF2B5EF4-FFF2-40B4-BE49-F238E27FC236}">
                <a16:creationId xmlns:a16="http://schemas.microsoft.com/office/drawing/2014/main" id="{8BC5582A-A052-4D98-8FFB-E630D77E4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30">
            <a:extLst xmlns:a="http://schemas.openxmlformats.org/drawingml/2006/main">
              <a:ext uri="{FF2B5EF4-FFF2-40B4-BE49-F238E27FC236}">
                <a16:creationId xmlns:a16="http://schemas.microsoft.com/office/drawing/2014/main" id="{C3E16007-2A06-46C9-A04B-7CA75222E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31">
            <a:extLst xmlns:a="http://schemas.openxmlformats.org/drawingml/2006/main">
              <a:ext uri="{FF2B5EF4-FFF2-40B4-BE49-F238E27FC236}">
                <a16:creationId xmlns:a16="http://schemas.microsoft.com/office/drawing/2014/main" id="{B6C317A6-1785-4C2B-8C5F-E712A6AAB8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32">
            <a:extLst xmlns:a="http://schemas.openxmlformats.org/drawingml/2006/main">
              <a:ext uri="{FF2B5EF4-FFF2-40B4-BE49-F238E27FC236}">
                <a16:creationId xmlns:a16="http://schemas.microsoft.com/office/drawing/2014/main" id="{B93C5573-88D0-42F4-B985-31846B99D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發布</a:t>
            </a:r>
          </a:p>
        </p:txBody>
      </p:sp>
      <p:sp>
        <p:nvSpPr>
          <p:cNvPr id="28" name="text-533">
            <a:extLst xmlns:a="http://schemas.openxmlformats.org/drawingml/2006/main">
              <a:ext uri="{FF2B5EF4-FFF2-40B4-BE49-F238E27FC236}">
                <a16:creationId xmlns:a16="http://schemas.microsoft.com/office/drawing/2014/main" id="{D1804163-0131-4008-BBED-78689D38A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設定網址與檢視權限</a:t>
            </a:r>
          </a:p>
        </p:txBody>
      </p:sp>
      <p:sp>
        <p:nvSpPr>
          <p:cNvPr id="29" name="text-534">
            <a:extLst xmlns:a="http://schemas.openxmlformats.org/drawingml/2006/main">
              <a:ext uri="{FF2B5EF4-FFF2-40B4-BE49-F238E27FC236}">
                <a16:creationId xmlns:a16="http://schemas.microsoft.com/office/drawing/2014/main" id="{5CD26D4C-3360-44E1-8215-AB8C2E81F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text-660">
            <a:extLst xmlns:a="http://schemas.openxmlformats.org/drawingml/2006/main">
              <a:ext uri="{FF2B5EF4-FFF2-40B4-BE49-F238E27FC236}">
                <a16:creationId xmlns:a16="http://schemas.microsoft.com/office/drawing/2014/main" id="{C6C7B701-421C-46EE-9F9B-1AA81319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7208b785cbe4f57"/>
              </a:rPr>
              <a:t>建立 Google Sites ↗</a:t>
            </a:r>
          </a:p>
        </p:txBody>
      </p:sp>
      <p:sp>
        <p:nvSpPr>
          <p:cNvPr id="31" name="shape-711">
            <a:extLst xmlns:a="http://schemas.openxmlformats.org/drawingml/2006/main">
              <a:ext uri="{FF2B5EF4-FFF2-40B4-BE49-F238E27FC236}">
                <a16:creationId xmlns:a16="http://schemas.microsoft.com/office/drawing/2014/main" id="{8CD6A4E4-9B5C-41B6-8269-B5519E3B4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7c46b085b2245b8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3" name="text-712">
            <a:extLst xmlns:a="http://schemas.openxmlformats.org/drawingml/2006/main">
              <a:ext uri="{FF2B5EF4-FFF2-40B4-BE49-F238E27FC236}">
                <a16:creationId xmlns:a16="http://schemas.microsoft.com/office/drawing/2014/main" id="{F6A4BA1A-A58D-4909-9DB0-1C921E2FE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</p:spTree>
    <p:extLst>
      <p:ext uri="{BB962C8B-B14F-4D97-AF65-F5344CB8AC3E}">
        <p14:creationId xmlns:p14="http://schemas.microsoft.com/office/powerpoint/2010/main" val="83534934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text-535">
            <a:extLst xmlns:a="http://schemas.openxmlformats.org/drawingml/2006/main">
              <a:ext uri="{FF2B5EF4-FFF2-40B4-BE49-F238E27FC236}">
                <a16:creationId xmlns:a16="http://schemas.microsoft.com/office/drawing/2014/main" id="{4A74A6B9-A402-4C4E-B4F6-3CA49368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B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817371E-B404-4D43-8363-A547BF75F2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Pages：讓程式作品有公開網址</a:t>
            </a:r>
          </a:p>
        </p:txBody>
      </p:sp>
      <p:cxnSp>
        <p:nvCxnSpPr>
          <p:cNvPr id="40" name="shape-536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37">
            <a:extLst xmlns:a="http://schemas.openxmlformats.org/drawingml/2006/main">
              <a:ext uri="{FF2B5EF4-FFF2-40B4-BE49-F238E27FC236}">
                <a16:creationId xmlns:a16="http://schemas.microsoft.com/office/drawing/2014/main" id="{749F6F36-A6A7-4138-9890-C5725F644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CA1E743C-6109-46D9-AB3E-9DF1A5B2B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32</a:t>
            </a:r>
          </a:p>
        </p:txBody>
      </p:sp>
      <p:sp>
        <p:nvSpPr>
          <p:cNvPr id="6" name="shape-538">
            <a:extLst xmlns:a="http://schemas.openxmlformats.org/drawingml/2006/main">
              <a:ext uri="{FF2B5EF4-FFF2-40B4-BE49-F238E27FC236}">
                <a16:creationId xmlns:a16="http://schemas.microsoft.com/office/drawing/2014/main" id="{E3066469-44E5-498F-98BC-DDAF64AA6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39">
            <a:extLst xmlns:a="http://schemas.openxmlformats.org/drawingml/2006/main">
              <a:ext uri="{FF2B5EF4-FFF2-40B4-BE49-F238E27FC236}">
                <a16:creationId xmlns:a16="http://schemas.microsoft.com/office/drawing/2014/main" id="{29BC81D5-8B76-42C0-AE83-FA290B780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40">
            <a:extLst xmlns:a="http://schemas.openxmlformats.org/drawingml/2006/main">
              <a:ext uri="{FF2B5EF4-FFF2-40B4-BE49-F238E27FC236}">
                <a16:creationId xmlns:a16="http://schemas.microsoft.com/office/drawing/2014/main" id="{824B57D8-A4E0-4D99-B1C1-5AAAC1E0B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41">
            <a:extLst xmlns:a="http://schemas.openxmlformats.org/drawingml/2006/main">
              <a:ext uri="{FF2B5EF4-FFF2-40B4-BE49-F238E27FC236}">
                <a16:creationId xmlns:a16="http://schemas.microsoft.com/office/drawing/2014/main" id="{EC15C15D-DB6E-499D-8DCD-0B71633B0E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repo</a:t>
            </a:r>
          </a:p>
        </p:txBody>
      </p:sp>
      <p:sp>
        <p:nvSpPr>
          <p:cNvPr id="10" name="text-542">
            <a:extLst xmlns:a="http://schemas.openxmlformats.org/drawingml/2006/main">
              <a:ext uri="{FF2B5EF4-FFF2-40B4-BE49-F238E27FC236}">
                <a16:creationId xmlns:a16="http://schemas.microsoft.com/office/drawing/2014/main" id="{BB8F4271-CC50-4EAE-8C7B-516073930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公開專案與 README</a:t>
            </a:r>
          </a:p>
        </p:txBody>
      </p:sp>
      <p:sp>
        <p:nvSpPr>
          <p:cNvPr id="11" name="text-543">
            <a:extLst xmlns:a="http://schemas.openxmlformats.org/drawingml/2006/main">
              <a:ext uri="{FF2B5EF4-FFF2-40B4-BE49-F238E27FC236}">
                <a16:creationId xmlns:a16="http://schemas.microsoft.com/office/drawing/2014/main" id="{72EBE4E8-8FE1-4887-8CC8-AF5E1C74D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44">
            <a:extLst xmlns:a="http://schemas.openxmlformats.org/drawingml/2006/main">
              <a:ext uri="{FF2B5EF4-FFF2-40B4-BE49-F238E27FC236}">
                <a16:creationId xmlns:a16="http://schemas.microsoft.com/office/drawing/2014/main" id="{654A5E1F-597F-434A-A2AB-C5A0F65B8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45">
            <a:extLst xmlns:a="http://schemas.openxmlformats.org/drawingml/2006/main">
              <a:ext uri="{FF2B5EF4-FFF2-40B4-BE49-F238E27FC236}">
                <a16:creationId xmlns:a16="http://schemas.microsoft.com/office/drawing/2014/main" id="{FE52CC4C-1029-432F-A064-B5FF3F7274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46">
            <a:extLst xmlns:a="http://schemas.openxmlformats.org/drawingml/2006/main">
              <a:ext uri="{FF2B5EF4-FFF2-40B4-BE49-F238E27FC236}">
                <a16:creationId xmlns:a16="http://schemas.microsoft.com/office/drawing/2014/main" id="{92DBCE39-B0BA-46FA-991F-C1C1C2E0A8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47">
            <a:extLst xmlns:a="http://schemas.openxmlformats.org/drawingml/2006/main">
              <a:ext uri="{FF2B5EF4-FFF2-40B4-BE49-F238E27FC236}">
                <a16:creationId xmlns:a16="http://schemas.microsoft.com/office/drawing/2014/main" id="{807D7C0D-3386-4161-A167-25C311652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上傳檔案</a:t>
            </a:r>
          </a:p>
        </p:txBody>
      </p:sp>
      <p:sp>
        <p:nvSpPr>
          <p:cNvPr id="16" name="text-548">
            <a:extLst xmlns:a="http://schemas.openxmlformats.org/drawingml/2006/main">
              <a:ext uri="{FF2B5EF4-FFF2-40B4-BE49-F238E27FC236}">
                <a16:creationId xmlns:a16="http://schemas.microsoft.com/office/drawing/2014/main" id="{D45A7EAC-9682-4B85-86BC-354B72050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index.html 與必要資產</a:t>
            </a:r>
          </a:p>
        </p:txBody>
      </p:sp>
      <p:sp>
        <p:nvSpPr>
          <p:cNvPr id="17" name="text-549">
            <a:extLst xmlns:a="http://schemas.openxmlformats.org/drawingml/2006/main">
              <a:ext uri="{FF2B5EF4-FFF2-40B4-BE49-F238E27FC236}">
                <a16:creationId xmlns:a16="http://schemas.microsoft.com/office/drawing/2014/main" id="{5B270FC4-D6D2-4F79-987B-3FD7658331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50">
            <a:extLst xmlns:a="http://schemas.openxmlformats.org/drawingml/2006/main">
              <a:ext uri="{FF2B5EF4-FFF2-40B4-BE49-F238E27FC236}">
                <a16:creationId xmlns:a16="http://schemas.microsoft.com/office/drawing/2014/main" id="{B347B07B-ED06-4101-A0A9-FE17EBF46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51">
            <a:extLst xmlns:a="http://schemas.openxmlformats.org/drawingml/2006/main">
              <a:ext uri="{FF2B5EF4-FFF2-40B4-BE49-F238E27FC236}">
                <a16:creationId xmlns:a16="http://schemas.microsoft.com/office/drawing/2014/main" id="{41CBED02-DF93-439E-87C4-7376C2CB67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52">
            <a:extLst xmlns:a="http://schemas.openxmlformats.org/drawingml/2006/main">
              <a:ext uri="{FF2B5EF4-FFF2-40B4-BE49-F238E27FC236}">
                <a16:creationId xmlns:a16="http://schemas.microsoft.com/office/drawing/2014/main" id="{F62366AA-F211-4F2F-AE07-66563DB56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53">
            <a:extLst xmlns:a="http://schemas.openxmlformats.org/drawingml/2006/main">
              <a:ext uri="{FF2B5EF4-FFF2-40B4-BE49-F238E27FC236}">
                <a16:creationId xmlns:a16="http://schemas.microsoft.com/office/drawing/2014/main" id="{864F4CC2-A45D-4BBC-AFF6-3518D6AE6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設定 Pages</a:t>
            </a:r>
          </a:p>
        </p:txBody>
      </p:sp>
      <p:sp>
        <p:nvSpPr>
          <p:cNvPr id="22" name="text-554">
            <a:extLst xmlns:a="http://schemas.openxmlformats.org/drawingml/2006/main">
              <a:ext uri="{FF2B5EF4-FFF2-40B4-BE49-F238E27FC236}">
                <a16:creationId xmlns:a16="http://schemas.microsoft.com/office/drawing/2014/main" id="{A8141034-307D-4A4B-ADF2-B603B533B4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選分支與資料夾</a:t>
            </a:r>
          </a:p>
        </p:txBody>
      </p:sp>
      <p:sp>
        <p:nvSpPr>
          <p:cNvPr id="23" name="text-555">
            <a:extLst xmlns:a="http://schemas.openxmlformats.org/drawingml/2006/main">
              <a:ext uri="{FF2B5EF4-FFF2-40B4-BE49-F238E27FC236}">
                <a16:creationId xmlns:a16="http://schemas.microsoft.com/office/drawing/2014/main" id="{A07ABBE9-A247-4B02-9CF2-E0229DE70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56">
            <a:extLst xmlns:a="http://schemas.openxmlformats.org/drawingml/2006/main">
              <a:ext uri="{FF2B5EF4-FFF2-40B4-BE49-F238E27FC236}">
                <a16:creationId xmlns:a16="http://schemas.microsoft.com/office/drawing/2014/main" id="{5CA01B08-13E9-491F-BEE6-FC5B486B8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57">
            <a:extLst xmlns:a="http://schemas.openxmlformats.org/drawingml/2006/main">
              <a:ext uri="{FF2B5EF4-FFF2-40B4-BE49-F238E27FC236}">
                <a16:creationId xmlns:a16="http://schemas.microsoft.com/office/drawing/2014/main" id="{4F78DF24-EED7-4F24-9021-FC369784B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58">
            <a:extLst xmlns:a="http://schemas.openxmlformats.org/drawingml/2006/main">
              <a:ext uri="{FF2B5EF4-FFF2-40B4-BE49-F238E27FC236}">
                <a16:creationId xmlns:a16="http://schemas.microsoft.com/office/drawing/2014/main" id="{D7B4C66D-3E25-43E6-A170-2A477E7D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59">
            <a:extLst xmlns:a="http://schemas.openxmlformats.org/drawingml/2006/main">
              <a:ext uri="{FF2B5EF4-FFF2-40B4-BE49-F238E27FC236}">
                <a16:creationId xmlns:a16="http://schemas.microsoft.com/office/drawing/2014/main" id="{85B72C26-0156-45EB-A921-34CC7BCC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驗證網址</a:t>
            </a:r>
          </a:p>
        </p:txBody>
      </p:sp>
      <p:sp>
        <p:nvSpPr>
          <p:cNvPr id="28" name="text-560">
            <a:extLst xmlns:a="http://schemas.openxmlformats.org/drawingml/2006/main">
              <a:ext uri="{FF2B5EF4-FFF2-40B4-BE49-F238E27FC236}">
                <a16:creationId xmlns:a16="http://schemas.microsoft.com/office/drawing/2014/main" id="{CED64E51-53E6-44D9-A459-BE63EBD3B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等待部署並實際操作</a:t>
            </a:r>
          </a:p>
        </p:txBody>
      </p:sp>
      <p:sp>
        <p:nvSpPr>
          <p:cNvPr id="29" name="text-561">
            <a:extLst xmlns:a="http://schemas.openxmlformats.org/drawingml/2006/main">
              <a:ext uri="{FF2B5EF4-FFF2-40B4-BE49-F238E27FC236}">
                <a16:creationId xmlns:a16="http://schemas.microsoft.com/office/drawing/2014/main" id="{71B2F597-A921-47D5-8AAB-00340228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5314950"/>
            <a:ext cx="563880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152400" tIns="57150" rIns="152400" bIns="571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每一步都留下可檢查的成果</a:t>
            </a:r>
          </a:p>
        </p:txBody>
      </p:sp>
      <p:sp>
        <p:nvSpPr>
          <p:cNvPr id="30" name="shape-562">
            <a:extLst xmlns:a="http://schemas.openxmlformats.org/drawingml/2006/main">
              <a:ext uri="{FF2B5EF4-FFF2-40B4-BE49-F238E27FC236}">
                <a16:creationId xmlns:a16="http://schemas.microsoft.com/office/drawing/2014/main" id="{EA946E76-107A-4746-9CB1-A98D8A67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314950"/>
            <a:ext cx="2428875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31" name="text-563">
            <a:extLst xmlns:a="http://schemas.openxmlformats.org/drawingml/2006/main">
              <a:ext uri="{FF2B5EF4-FFF2-40B4-BE49-F238E27FC236}">
                <a16:creationId xmlns:a16="http://schemas.microsoft.com/office/drawing/2014/main" id="{5F13357E-617A-44C3-A947-0225E420D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5381625"/>
            <a:ext cx="361950" cy="361950"/>
          </a:xfrm>
          <a:prstGeom xmlns:a="http://schemas.openxmlformats.org/drawingml/2006/main" prst="roundRect">
            <a:avLst>
              <a:gd name="adj" fmla="val 21053"/>
            </a:avLst>
          </a:prstGeom>
          <a:solidFill xmlns:a="http://schemas.openxmlformats.org/drawingml/2006/main">
            <a:srgbClr val="24292F"/>
          </a:solidFill>
          <a:ln xmlns:a="http://schemas.openxmlformats.org/drawingml/2006/main" w="9525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GH</a:t>
            </a:r>
          </a:p>
        </p:txBody>
      </p:sp>
      <p:sp>
        <p:nvSpPr>
          <p:cNvPr id="32" name="text-564">
            <a:extLst xmlns:a="http://schemas.openxmlformats.org/drawingml/2006/main">
              <a:ext uri="{FF2B5EF4-FFF2-40B4-BE49-F238E27FC236}">
                <a16:creationId xmlns:a16="http://schemas.microsoft.com/office/drawing/2014/main" id="{700F0752-C905-4867-8577-9936F4339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391150"/>
            <a:ext cx="17811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sp>
        <p:nvSpPr>
          <p:cNvPr id="33" name="text-565">
            <a:extLst xmlns:a="http://schemas.openxmlformats.org/drawingml/2006/main">
              <a:ext uri="{FF2B5EF4-FFF2-40B4-BE49-F238E27FC236}">
                <a16:creationId xmlns:a16="http://schemas.microsoft.com/office/drawing/2014/main" id="{D84E1FCF-DAC7-4B4F-95C6-AC2990130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591175"/>
            <a:ext cx="1781175" cy="142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750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版本・部署・公開網址</a:t>
            </a:r>
          </a:p>
        </p:txBody>
      </p:sp>
      <p:sp>
        <p:nvSpPr>
          <p:cNvPr id="34" name="text-661">
            <a:extLst xmlns:a="http://schemas.openxmlformats.org/drawingml/2006/main">
              <a:ext uri="{FF2B5EF4-FFF2-40B4-BE49-F238E27FC236}">
                <a16:creationId xmlns:a16="http://schemas.microsoft.com/office/drawing/2014/main" id="{FF8D9DD9-83D5-45C9-BCFB-D90D0E232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581aadd182f4f81"/>
              </a:rPr>
              <a:t>開啟 GitHub Pages ↗</a:t>
            </a:r>
          </a:p>
        </p:txBody>
      </p:sp>
      <p:sp>
        <p:nvSpPr>
          <p:cNvPr id="35" name="shape-713">
            <a:extLst xmlns:a="http://schemas.openxmlformats.org/drawingml/2006/main">
              <a:ext uri="{FF2B5EF4-FFF2-40B4-BE49-F238E27FC236}">
                <a16:creationId xmlns:a16="http://schemas.microsoft.com/office/drawing/2014/main" id="{388BC492-CE7A-49C7-9066-DAB91678E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561fdd798d47f9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37" name="text-714">
            <a:extLst xmlns:a="http://schemas.openxmlformats.org/drawingml/2006/main">
              <a:ext uri="{FF2B5EF4-FFF2-40B4-BE49-F238E27FC236}">
                <a16:creationId xmlns:a16="http://schemas.microsoft.com/office/drawing/2014/main" id="{C767891C-A6A9-4CC0-B8DA-39F9BFE11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</p:spTree>
    <p:extLst>
      <p:ext uri="{BB962C8B-B14F-4D97-AF65-F5344CB8AC3E}">
        <p14:creationId xmlns:p14="http://schemas.microsoft.com/office/powerpoint/2010/main" val="861983546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text-566">
            <a:extLst xmlns:a="http://schemas.openxmlformats.org/drawingml/2006/main">
              <a:ext uri="{FF2B5EF4-FFF2-40B4-BE49-F238E27FC236}">
                <a16:creationId xmlns:a16="http://schemas.microsoft.com/office/drawing/2014/main" id="{9BE1BE27-82CF-445B-AEB9-68F0374AF6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PUBLISH PATH C · LOW-CODE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BFFC9872-B48E-451D-9311-07EC135BA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93154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EZPage：把 GitHub 部署變成一鍵上傳</a:t>
            </a:r>
          </a:p>
        </p:txBody>
      </p:sp>
      <p:cxnSp>
        <p:nvCxnSpPr>
          <p:cNvPr id="43" name="shape-567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68">
            <a:extLst xmlns:a="http://schemas.openxmlformats.org/drawingml/2006/main">
              <a:ext uri="{FF2B5EF4-FFF2-40B4-BE49-F238E27FC236}">
                <a16:creationId xmlns:a16="http://schemas.microsoft.com/office/drawing/2014/main" id="{6F2488AE-10E4-4C37-932F-94ECF35941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8F8FCAEB-1838-429B-AC88-8D417A44E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33</a:t>
            </a:r>
          </a:p>
        </p:txBody>
      </p:sp>
      <p:sp>
        <p:nvSpPr>
          <p:cNvPr id="6" name="shape-569">
            <a:extLst xmlns:a="http://schemas.openxmlformats.org/drawingml/2006/main">
              <a:ext uri="{FF2B5EF4-FFF2-40B4-BE49-F238E27FC236}">
                <a16:creationId xmlns:a16="http://schemas.microsoft.com/office/drawing/2014/main" id="{1283C2C5-896C-4B3D-8C5F-FA7AB4596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7" name="shape-570">
            <a:extLst xmlns:a="http://schemas.openxmlformats.org/drawingml/2006/main">
              <a:ext uri="{FF2B5EF4-FFF2-40B4-BE49-F238E27FC236}">
                <a16:creationId xmlns:a16="http://schemas.microsoft.com/office/drawing/2014/main" id="{F4E61319-2695-42DA-A7A6-58B705693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text-571">
            <a:extLst xmlns:a="http://schemas.openxmlformats.org/drawingml/2006/main">
              <a:ext uri="{FF2B5EF4-FFF2-40B4-BE49-F238E27FC236}">
                <a16:creationId xmlns:a16="http://schemas.microsoft.com/office/drawing/2014/main" id="{43E68848-CAAE-4550-9E37-03C855E2A0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572">
            <a:extLst xmlns:a="http://schemas.openxmlformats.org/drawingml/2006/main">
              <a:ext uri="{FF2B5EF4-FFF2-40B4-BE49-F238E27FC236}">
                <a16:creationId xmlns:a16="http://schemas.microsoft.com/office/drawing/2014/main" id="{76D0647E-D592-4741-ACFE-4F8C4A1BD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準備 ZIP</a:t>
            </a:r>
          </a:p>
        </p:txBody>
      </p:sp>
      <p:sp>
        <p:nvSpPr>
          <p:cNvPr id="10" name="text-573">
            <a:extLst xmlns:a="http://schemas.openxmlformats.org/drawingml/2006/main">
              <a:ext uri="{FF2B5EF4-FFF2-40B4-BE49-F238E27FC236}">
                <a16:creationId xmlns:a16="http://schemas.microsoft.com/office/drawing/2014/main" id="{4BC4FA36-D1ED-44F2-9546-29594E6CC9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把 index.html、CSS、JS、圖片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打包成一個網站 ZIP</a:t>
            </a:r>
          </a:p>
        </p:txBody>
      </p:sp>
      <p:sp>
        <p:nvSpPr>
          <p:cNvPr id="11" name="text-574">
            <a:extLst xmlns:a="http://schemas.openxmlformats.org/drawingml/2006/main">
              <a:ext uri="{FF2B5EF4-FFF2-40B4-BE49-F238E27FC236}">
                <a16:creationId xmlns:a16="http://schemas.microsoft.com/office/drawing/2014/main" id="{7E393771-D54F-449A-92D3-C710120FA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6113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2" name="shape-575">
            <a:extLst xmlns:a="http://schemas.openxmlformats.org/drawingml/2006/main">
              <a:ext uri="{FF2B5EF4-FFF2-40B4-BE49-F238E27FC236}">
                <a16:creationId xmlns:a16="http://schemas.microsoft.com/office/drawing/2014/main" id="{1CD46E44-BE4C-44BB-8D43-1E4E14637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3" name="shape-576">
            <a:extLst xmlns:a="http://schemas.openxmlformats.org/drawingml/2006/main">
              <a:ext uri="{FF2B5EF4-FFF2-40B4-BE49-F238E27FC236}">
                <a16:creationId xmlns:a16="http://schemas.microsoft.com/office/drawing/2014/main" id="{A2692D72-40BF-4FA2-98E2-14F46E6E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43288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text-577">
            <a:extLst xmlns:a="http://schemas.openxmlformats.org/drawingml/2006/main">
              <a:ext uri="{FF2B5EF4-FFF2-40B4-BE49-F238E27FC236}">
                <a16:creationId xmlns:a16="http://schemas.microsoft.com/office/drawing/2014/main" id="{B638418B-C849-4163-8A46-8EF0A1211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5" name="text-578">
            <a:extLst xmlns:a="http://schemas.openxmlformats.org/drawingml/2006/main">
              <a:ext uri="{FF2B5EF4-FFF2-40B4-BE49-F238E27FC236}">
                <a16:creationId xmlns:a16="http://schemas.microsoft.com/office/drawing/2014/main" id="{FD5E0FC7-B84E-4648-8ACD-E5070EE62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8038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連結 GitHub</a:t>
            </a:r>
          </a:p>
        </p:txBody>
      </p:sp>
      <p:sp>
        <p:nvSpPr>
          <p:cNvPr id="16" name="text-579">
            <a:extLst xmlns:a="http://schemas.openxmlformats.org/drawingml/2006/main">
              <a:ext uri="{FF2B5EF4-FFF2-40B4-BE49-F238E27FC236}">
                <a16:creationId xmlns:a16="http://schemas.microsoft.com/office/drawing/2014/main" id="{42E463BF-5B7C-49D3-9830-26E873F00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81388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登入 EZPage，授權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選擇自己的 GitHub 帳號</a:t>
            </a:r>
          </a:p>
        </p:txBody>
      </p:sp>
      <p:sp>
        <p:nvSpPr>
          <p:cNvPr id="17" name="text-580">
            <a:extLst xmlns:a="http://schemas.openxmlformats.org/drawingml/2006/main">
              <a:ext uri="{FF2B5EF4-FFF2-40B4-BE49-F238E27FC236}">
                <a16:creationId xmlns:a16="http://schemas.microsoft.com/office/drawing/2014/main" id="{0D8C7D70-B73E-44F0-8DDE-25793E77A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18" name="shape-581">
            <a:extLst xmlns:a="http://schemas.openxmlformats.org/drawingml/2006/main">
              <a:ext uri="{FF2B5EF4-FFF2-40B4-BE49-F238E27FC236}">
                <a16:creationId xmlns:a16="http://schemas.microsoft.com/office/drawing/2014/main" id="{13F7B205-90B2-4CA9-BD0B-3D555D16C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05525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19" name="shape-582">
            <a:extLst xmlns:a="http://schemas.openxmlformats.org/drawingml/2006/main">
              <a:ext uri="{FF2B5EF4-FFF2-40B4-BE49-F238E27FC236}">
                <a16:creationId xmlns:a16="http://schemas.microsoft.com/office/drawing/2014/main" id="{271AD027-2581-45AF-A3FA-4106285947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76975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text-583">
            <a:extLst xmlns:a="http://schemas.openxmlformats.org/drawingml/2006/main">
              <a:ext uri="{FF2B5EF4-FFF2-40B4-BE49-F238E27FC236}">
                <a16:creationId xmlns:a16="http://schemas.microsoft.com/office/drawing/2014/main" id="{6539CD14-D202-4C9A-AC8D-EA25798CD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21" name="text-584">
            <a:extLst xmlns:a="http://schemas.openxmlformats.org/drawingml/2006/main">
              <a:ext uri="{FF2B5EF4-FFF2-40B4-BE49-F238E27FC236}">
                <a16:creationId xmlns:a16="http://schemas.microsoft.com/office/drawing/2014/main" id="{14AA1DD9-D2D9-4E59-9977-DE23C251C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81725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上傳部署</a:t>
            </a:r>
          </a:p>
        </p:txBody>
      </p:sp>
      <p:sp>
        <p:nvSpPr>
          <p:cNvPr id="22" name="text-585">
            <a:extLst xmlns:a="http://schemas.openxmlformats.org/drawingml/2006/main">
              <a:ext uri="{FF2B5EF4-FFF2-40B4-BE49-F238E27FC236}">
                <a16:creationId xmlns:a16="http://schemas.microsoft.com/office/drawing/2014/main" id="{7AFA47A9-C93E-4BB1-9810-EE763BE3A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15075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拖曳 ZIP、填網站名稱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按「部署 ZIP 檔案」</a:t>
            </a:r>
          </a:p>
        </p:txBody>
      </p:sp>
      <p:sp>
        <p:nvSpPr>
          <p:cNvPr id="23" name="text-586">
            <a:extLst xmlns:a="http://schemas.openxmlformats.org/drawingml/2006/main">
              <a:ext uri="{FF2B5EF4-FFF2-40B4-BE49-F238E27FC236}">
                <a16:creationId xmlns:a16="http://schemas.microsoft.com/office/drawing/2014/main" id="{FD40CCF4-927A-48D1-A678-836599336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3488" y="2038350"/>
            <a:ext cx="190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6925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21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→</a:t>
            </a:r>
          </a:p>
        </p:txBody>
      </p:sp>
      <p:sp>
        <p:nvSpPr>
          <p:cNvPr id="24" name="shape-587">
            <a:extLst xmlns:a="http://schemas.openxmlformats.org/drawingml/2006/main">
              <a:ext uri="{FF2B5EF4-FFF2-40B4-BE49-F238E27FC236}">
                <a16:creationId xmlns:a16="http://schemas.microsoft.com/office/drawing/2014/main" id="{E75799F7-4881-425A-9B8F-4CED663AD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9213" y="1676400"/>
            <a:ext cx="2814638" cy="3143250"/>
          </a:xfrm>
          <a:prstGeom xmlns:a="http://schemas.openxmlformats.org/drawingml/2006/main" prst="roundRect">
            <a:avLst>
              <a:gd name="adj" fmla="val 541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7DEE7"/>
            </a:solidFill>
            <a:prstDash val="solid"/>
          </a:ln>
        </p:spPr>
      </p:sp>
      <p:sp>
        <p:nvSpPr>
          <p:cNvPr id="25" name="shape-588">
            <a:extLst xmlns:a="http://schemas.openxmlformats.org/drawingml/2006/main">
              <a:ext uri="{FF2B5EF4-FFF2-40B4-BE49-F238E27FC236}">
                <a16:creationId xmlns:a16="http://schemas.microsoft.com/office/drawing/2014/main" id="{E15A6C53-978D-4A0B-9CCA-B4FDEDEB0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10663" y="1790700"/>
            <a:ext cx="2471738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text-589">
            <a:extLst xmlns:a="http://schemas.openxmlformats.org/drawingml/2006/main">
              <a:ext uri="{FF2B5EF4-FFF2-40B4-BE49-F238E27FC236}">
                <a16:creationId xmlns:a16="http://schemas.microsoft.com/office/drawing/2014/main" id="{F4C6A873-60EB-41E4-A5E1-0BA11D15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1981200"/>
            <a:ext cx="495300" cy="4953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4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27" name="text-590">
            <a:extLst xmlns:a="http://schemas.openxmlformats.org/drawingml/2006/main">
              <a:ext uri="{FF2B5EF4-FFF2-40B4-BE49-F238E27FC236}">
                <a16:creationId xmlns:a16="http://schemas.microsoft.com/office/drawing/2014/main" id="{852BC176-278E-4E6A-8D31-A3893FADD0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5413" y="2686050"/>
            <a:ext cx="2662238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8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驗證分享</a:t>
            </a:r>
          </a:p>
        </p:txBody>
      </p:sp>
      <p:sp>
        <p:nvSpPr>
          <p:cNvPr id="28" name="text-591">
            <a:extLst xmlns:a="http://schemas.openxmlformats.org/drawingml/2006/main">
              <a:ext uri="{FF2B5EF4-FFF2-40B4-BE49-F238E27FC236}">
                <a16:creationId xmlns:a16="http://schemas.microsoft.com/office/drawing/2014/main" id="{AE9D2545-A151-43E7-82F8-504625E47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8763" y="3352800"/>
            <a:ext cx="2395538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取得 GitHub Pages 網址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0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用手機與桌機走一次流程</a:t>
            </a:r>
          </a:p>
        </p:txBody>
      </p:sp>
      <p:sp>
        <p:nvSpPr>
          <p:cNvPr id="29" name="text-592">
            <a:extLst xmlns:a="http://schemas.openxmlformats.org/drawingml/2006/main">
              <a:ext uri="{FF2B5EF4-FFF2-40B4-BE49-F238E27FC236}">
                <a16:creationId xmlns:a16="http://schemas.microsoft.com/office/drawing/2014/main" id="{AB93F9DF-4BB3-446A-8721-7A5969BB3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ZIP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index.html + assets</a:t>
            </a:r>
          </a:p>
        </p:txBody>
      </p:sp>
      <p:sp>
        <p:nvSpPr>
          <p:cNvPr id="30" name="text-593">
            <a:extLst xmlns:a="http://schemas.openxmlformats.org/drawingml/2006/main">
              <a:ext uri="{FF2B5EF4-FFF2-40B4-BE49-F238E27FC236}">
                <a16:creationId xmlns:a16="http://schemas.microsoft.com/office/drawing/2014/main" id="{DAA6A557-3EED-494C-863C-7A03BCC7A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0EC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圖形化上傳</a:t>
            </a:r>
          </a:p>
        </p:txBody>
      </p:sp>
      <p:sp>
        <p:nvSpPr>
          <p:cNvPr id="31" name="text-594">
            <a:extLst xmlns:a="http://schemas.openxmlformats.org/drawingml/2006/main">
              <a:ext uri="{FF2B5EF4-FFF2-40B4-BE49-F238E27FC236}">
                <a16:creationId xmlns:a16="http://schemas.microsoft.com/office/drawing/2014/main" id="{302991D8-4BB7-4EBD-932D-F6B42FBAA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876800"/>
            <a:ext cx="209550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GitHub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repo + Pages</a:t>
            </a:r>
          </a:p>
        </p:txBody>
      </p:sp>
      <p:sp>
        <p:nvSpPr>
          <p:cNvPr id="32" name="text-595">
            <a:extLst xmlns:a="http://schemas.openxmlformats.org/drawingml/2006/main">
              <a:ext uri="{FF2B5EF4-FFF2-40B4-BE49-F238E27FC236}">
                <a16:creationId xmlns:a16="http://schemas.microsoft.com/office/drawing/2014/main" id="{7085F162-5D02-4FB6-B56C-FAC7ACE3BC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876800"/>
            <a:ext cx="23812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7866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76200" tIns="47625" rIns="76200" bIns="476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公開網址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手機驗證</a:t>
            </a:r>
          </a:p>
        </p:txBody>
      </p:sp>
      <p:cxnSp>
        <p:nvCxnSpPr>
          <p:cNvPr id="73" name=""/>
          <p:cNvCxnSpPr>
            <a:stCxn xmlns:a="http://schemas.openxmlformats.org/drawingml/2006/main" id="29" idx="3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27813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56FE8"/>
            </a:solidFill>
            <a:prstDash val="solid"/>
            <a:tailEnd type="arrow" w="sm" len="sm"/>
          </a:ln>
        </p:spPr>
      </p:cxnSp>
      <p:cxnSp>
        <p:nvCxnSpPr>
          <p:cNvPr id="74" name=""/>
          <p:cNvCxnSpPr>
            <a:stCxn xmlns:a="http://schemas.openxmlformats.org/drawingml/2006/main" id="30" idx="3"/>
            <a:endCxn xmlns:a="http://schemas.openxmlformats.org/drawingml/2006/main" id="31" idx="1"/>
          </p:cNvCxnSpPr>
          <p:nvPr/>
        </p:nvCxnSpPr>
        <p:spPr>
          <a:xfrm xmlns:a="http://schemas.openxmlformats.org/drawingml/2006/main">
            <a:off x="542925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22AFA4"/>
            </a:solidFill>
            <a:prstDash val="solid"/>
            <a:tailEnd type="arrow" w="sm" len="sm"/>
          </a:ln>
        </p:spPr>
      </p:cxnSp>
      <p:cxnSp>
        <p:nvCxnSpPr>
          <p:cNvPr id="75" name=""/>
          <p:cNvCxnSpPr>
            <a:stCxn xmlns:a="http://schemas.openxmlformats.org/drawingml/2006/main" id="31" idx="3"/>
            <a:endCxn xmlns:a="http://schemas.openxmlformats.org/drawingml/2006/main" id="32" idx="1"/>
          </p:cNvCxnSpPr>
          <p:nvPr/>
        </p:nvCxnSpPr>
        <p:spPr>
          <a:xfrm xmlns:a="http://schemas.openxmlformats.org/drawingml/2006/main">
            <a:off x="8077200" y="5181600"/>
            <a:ext cx="5524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FF7866"/>
            </a:solidFill>
            <a:prstDash val="solid"/>
            <a:tailEnd type="arrow" w="sm" len="sm"/>
          </a:ln>
        </p:spPr>
      </p:cxnSp>
      <p:sp>
        <p:nvSpPr>
          <p:cNvPr id="36" name="text-596">
            <a:extLst xmlns:a="http://schemas.openxmlformats.org/drawingml/2006/main">
              <a:ext uri="{FF2B5EF4-FFF2-40B4-BE49-F238E27FC236}">
                <a16:creationId xmlns:a16="http://schemas.microsoft.com/office/drawing/2014/main" id="{87FF64F3-0DFB-4CB9-A0D0-E95D202087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61975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低門檻入口，不代表省略隱私、版權與 RWD 驗證</a:t>
            </a:r>
          </a:p>
        </p:txBody>
      </p:sp>
      <p:sp>
        <p:nvSpPr>
          <p:cNvPr id="37" name="text-662">
            <a:extLst xmlns:a="http://schemas.openxmlformats.org/drawingml/2006/main">
              <a:ext uri="{FF2B5EF4-FFF2-40B4-BE49-F238E27FC236}">
                <a16:creationId xmlns:a16="http://schemas.microsoft.com/office/drawing/2014/main" id="{4B15C02E-5B28-4AF2-A2AF-74AAB7E71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30289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12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ecd7d48a77964cc6"/>
              </a:rPr>
              <a:t>開啟 EZPage ↗</a:t>
            </a:r>
          </a:p>
        </p:txBody>
      </p:sp>
      <p:sp>
        <p:nvSpPr>
          <p:cNvPr id="38" name="shape-715">
            <a:extLst xmlns:a="http://schemas.openxmlformats.org/drawingml/2006/main">
              <a:ext uri="{FF2B5EF4-FFF2-40B4-BE49-F238E27FC236}">
                <a16:creationId xmlns:a16="http://schemas.microsoft.com/office/drawing/2014/main" id="{4C91E304-BE87-42B8-9922-1FC5F0E61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58450" y="247650"/>
            <a:ext cx="1219200" cy="139065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7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aa94fd111b4067"/>
          <a:stretch xmlns:a="http://schemas.openxmlformats.org/drawingml/2006/main"/>
        </p:blipFill>
        <p:spPr>
          <a:xfrm xmlns:a="http://schemas.openxmlformats.org/drawingml/2006/main">
            <a:off x="10534650" y="314325"/>
            <a:ext cx="1066800" cy="10668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0" name="text-716">
            <a:extLst xmlns:a="http://schemas.openxmlformats.org/drawingml/2006/main">
              <a:ext uri="{FF2B5EF4-FFF2-40B4-BE49-F238E27FC236}">
                <a16:creationId xmlns:a16="http://schemas.microsoft.com/office/drawing/2014/main" id="{62E7CFA8-441D-4E70-8C1E-3EAA29A3B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34650" y="1400175"/>
            <a:ext cx="1066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82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128258012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text-597">
            <a:extLst xmlns:a="http://schemas.openxmlformats.org/drawingml/2006/main">
              <a:ext uri="{FF2B5EF4-FFF2-40B4-BE49-F238E27FC236}">
                <a16:creationId xmlns:a16="http://schemas.microsoft.com/office/drawing/2014/main" id="{76078BA7-BDF8-4AC8-A48A-7F987D0F9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HANDS-ON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FCFDF427-D954-4730-A3E1-342D3B554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8286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上午整合挑戰｜90 秒成果走秀</a:t>
            </a:r>
          </a:p>
        </p:txBody>
      </p:sp>
      <p:cxnSp>
        <p:nvCxnSpPr>
          <p:cNvPr id="29" name="shape-598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599">
            <a:extLst xmlns:a="http://schemas.openxmlformats.org/drawingml/2006/main">
              <a:ext uri="{FF2B5EF4-FFF2-40B4-BE49-F238E27FC236}">
                <a16:creationId xmlns:a16="http://schemas.microsoft.com/office/drawing/2014/main" id="{7596E218-56B8-4F77-BC7B-D21383CF8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FB0DE785-76DE-4832-8691-66AC4DD71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34</a:t>
            </a:r>
          </a:p>
        </p:txBody>
      </p:sp>
      <p:sp>
        <p:nvSpPr>
          <p:cNvPr id="6" name="text-600">
            <a:extLst xmlns:a="http://schemas.openxmlformats.org/drawingml/2006/main">
              <a:ext uri="{FF2B5EF4-FFF2-40B4-BE49-F238E27FC236}">
                <a16:creationId xmlns:a16="http://schemas.microsoft.com/office/drawing/2014/main" id="{F06ACB45-FCE0-473F-B169-BAEE02E4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09750"/>
            <a:ext cx="2000250" cy="20002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256FE8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15</a:t>
            </a:r>
          </a:p>
          <a:p xmlns:a="http://schemas.openxmlformats.org/drawingml/2006/main">
            <a:pPr algn="ctr">
              <a:lnSpc>
                <a:spcPct val="108000"/>
              </a:lnSpc>
              <a:buNone/>
              <a:def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FFFFFF"/>
                </a:solidFill>
                <a:latin typeface="Noto Sans TC"/>
                <a:ea typeface="Noto Sans TC"/>
                <a:cs typeface="Noto Sans TC"/>
              </a:rPr>
              <a:t>分鐘</a:t>
            </a:r>
          </a:p>
        </p:txBody>
      </p:sp>
      <p:sp>
        <p:nvSpPr>
          <p:cNvPr id="7" name="text-601">
            <a:extLst xmlns:a="http://schemas.openxmlformats.org/drawingml/2006/main">
              <a:ext uri="{FF2B5EF4-FFF2-40B4-BE49-F238E27FC236}">
                <a16:creationId xmlns:a16="http://schemas.microsoft.com/office/drawing/2014/main" id="{1318E184-78B0-4BDD-B7E8-73A8D1F8B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62300" y="1733550"/>
            <a:ext cx="3143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1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操作步驟</a:t>
            </a:r>
          </a:p>
        </p:txBody>
      </p:sp>
      <p:sp>
        <p:nvSpPr>
          <p:cNvPr id="8" name="text-602">
            <a:extLst xmlns:a="http://schemas.openxmlformats.org/drawingml/2006/main">
              <a:ext uri="{FF2B5EF4-FFF2-40B4-BE49-F238E27FC236}">
                <a16:creationId xmlns:a16="http://schemas.microsoft.com/office/drawing/2014/main" id="{21E2B9C5-36B7-4401-917C-240A27C20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24003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1</a:t>
            </a:r>
          </a:p>
        </p:txBody>
      </p:sp>
      <p:sp>
        <p:nvSpPr>
          <p:cNvPr id="9" name="text-603">
            <a:extLst xmlns:a="http://schemas.openxmlformats.org/drawingml/2006/main">
              <a:ext uri="{FF2B5EF4-FFF2-40B4-BE49-F238E27FC236}">
                <a16:creationId xmlns:a16="http://schemas.microsoft.com/office/drawing/2014/main" id="{C8C14B17-E27D-4A93-8377-B454A3F967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4003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選擇一個最值得分享的成果</a:t>
            </a:r>
          </a:p>
        </p:txBody>
      </p:sp>
      <p:sp>
        <p:nvSpPr>
          <p:cNvPr id="10" name="text-604">
            <a:extLst xmlns:a="http://schemas.openxmlformats.org/drawingml/2006/main">
              <a:ext uri="{FF2B5EF4-FFF2-40B4-BE49-F238E27FC236}">
                <a16:creationId xmlns:a16="http://schemas.microsoft.com/office/drawing/2014/main" id="{75DCC09B-797B-4E73-8CF9-2E2A6101B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051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2</a:t>
            </a:r>
          </a:p>
        </p:txBody>
      </p:sp>
      <p:sp>
        <p:nvSpPr>
          <p:cNvPr id="11" name="text-605">
            <a:extLst xmlns:a="http://schemas.openxmlformats.org/drawingml/2006/main">
              <a:ext uri="{FF2B5EF4-FFF2-40B4-BE49-F238E27FC236}">
                <a16:creationId xmlns:a16="http://schemas.microsoft.com/office/drawing/2014/main" id="{82A5CEC0-9265-4D5F-A51A-D32A01FF5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1051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30 秒說明教學問題</a:t>
            </a:r>
          </a:p>
        </p:txBody>
      </p:sp>
      <p:sp>
        <p:nvSpPr>
          <p:cNvPr id="12" name="text-606">
            <a:extLst xmlns:a="http://schemas.openxmlformats.org/drawingml/2006/main">
              <a:ext uri="{FF2B5EF4-FFF2-40B4-BE49-F238E27FC236}">
                <a16:creationId xmlns:a16="http://schemas.microsoft.com/office/drawing/2014/main" id="{E68D4FA1-1C50-4277-80F7-CF0D4B5C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81000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3</a:t>
            </a:r>
          </a:p>
        </p:txBody>
      </p:sp>
      <p:sp>
        <p:nvSpPr>
          <p:cNvPr id="13" name="text-607">
            <a:extLst xmlns:a="http://schemas.openxmlformats.org/drawingml/2006/main">
              <a:ext uri="{FF2B5EF4-FFF2-40B4-BE49-F238E27FC236}">
                <a16:creationId xmlns:a16="http://schemas.microsoft.com/office/drawing/2014/main" id="{7EAF5373-BABF-4649-9211-BAC30FFD0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81000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45 秒實際操作作品</a:t>
            </a:r>
          </a:p>
        </p:txBody>
      </p:sp>
      <p:sp>
        <p:nvSpPr>
          <p:cNvPr id="14" name="text-608">
            <a:extLst xmlns:a="http://schemas.openxmlformats.org/drawingml/2006/main">
              <a:ext uri="{FF2B5EF4-FFF2-40B4-BE49-F238E27FC236}">
                <a16:creationId xmlns:a16="http://schemas.microsoft.com/office/drawing/2014/main" id="{C0D33B5B-D6CE-4312-82FD-263A56E7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4514850"/>
            <a:ext cx="381000" cy="381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AF3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1200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4</a:t>
            </a:r>
          </a:p>
        </p:txBody>
      </p:sp>
      <p:sp>
        <p:nvSpPr>
          <p:cNvPr id="15" name="text-609">
            <a:extLst xmlns:a="http://schemas.openxmlformats.org/drawingml/2006/main">
              <a:ext uri="{FF2B5EF4-FFF2-40B4-BE49-F238E27FC236}">
                <a16:creationId xmlns:a16="http://schemas.microsoft.com/office/drawing/2014/main" id="{BFD59664-2A3D-40A4-9886-AA7E61173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4514850"/>
            <a:ext cx="5048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50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用 15 秒說下一步要改什麼</a:t>
            </a:r>
          </a:p>
        </p:txBody>
      </p:sp>
      <p:sp>
        <p:nvSpPr>
          <p:cNvPr id="16" name="shape-610">
            <a:extLst xmlns:a="http://schemas.openxmlformats.org/drawingml/2006/main">
              <a:ext uri="{FF2B5EF4-FFF2-40B4-BE49-F238E27FC236}">
                <a16:creationId xmlns:a16="http://schemas.microsoft.com/office/drawing/2014/main" id="{FC850A76-274B-48BE-8309-7EB2EACAA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362200" cy="3905250"/>
          </a:xfrm>
          <a:prstGeom xmlns:a="http://schemas.openxmlformats.org/drawingml/2006/main" prst="roundRect">
            <a:avLst>
              <a:gd name="adj" fmla="val 645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7" name="text-611">
            <a:extLst xmlns:a="http://schemas.openxmlformats.org/drawingml/2006/main">
              <a:ext uri="{FF2B5EF4-FFF2-40B4-BE49-F238E27FC236}">
                <a16:creationId xmlns:a16="http://schemas.microsoft.com/office/drawing/2014/main" id="{0B1A17D3-6A06-462B-952E-CF591FC400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057400"/>
            <a:ext cx="18669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defRPr>
            </a:pPr>
            <a:r>
              <a:rPr sz="1725" b="1">
                <a:solidFill>
                  <a:srgbClr val="FF7866"/>
                </a:solidFill>
                <a:latin typeface="Noto Sans TC"/>
                <a:ea typeface="Noto Sans TC"/>
                <a:cs typeface="Noto Sans TC"/>
              </a:rPr>
              <a:t>完成條件</a:t>
            </a:r>
          </a:p>
        </p:txBody>
      </p:sp>
      <p:sp>
        <p:nvSpPr>
          <p:cNvPr id="18" name="text-612">
            <a:extLst xmlns:a="http://schemas.openxmlformats.org/drawingml/2006/main">
              <a:ext uri="{FF2B5EF4-FFF2-40B4-BE49-F238E27FC236}">
                <a16:creationId xmlns:a16="http://schemas.microsoft.com/office/drawing/2014/main" id="{0F131C3C-8AE5-44EC-B868-BBAE254668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2705100"/>
            <a:ext cx="186690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問題清楚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作品可操作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能說明來源或方法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350" b="0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✓ 知道下一步</a:t>
            </a:r>
          </a:p>
        </p:txBody>
      </p:sp>
      <p:sp>
        <p:nvSpPr>
          <p:cNvPr id="19" name="text-659">
            <a:extLst xmlns:a="http://schemas.openxmlformats.org/drawingml/2006/main">
              <a:ext uri="{FF2B5EF4-FFF2-40B4-BE49-F238E27FC236}">
                <a16:creationId xmlns:a16="http://schemas.microsoft.com/office/drawing/2014/main" id="{23EE8365-4F2C-4EAE-8E7E-C12DF2D64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304800"/>
            <a:ext cx="2038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031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dde74fc0962049fa"/>
              </a:rPr>
              <a:t>Google Sites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9fc7479096c249ff"/>
              </a:rPr>
              <a:t>GitHub Pages ↗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  ·  </a:t>
            </a: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  <a:hlinkClick xmlns:r="http://schemas.openxmlformats.org/officeDocument/2006/relationships" r:id="R80c7a5cbcb8240dc"/>
              </a:rPr>
              <a:t>EZPage ↗</a:t>
            </a:r>
          </a:p>
        </p:txBody>
      </p:sp>
      <p:sp>
        <p:nvSpPr>
          <p:cNvPr id="20" name="shape-707">
            <a:extLst xmlns:a="http://schemas.openxmlformats.org/drawingml/2006/main">
              <a:ext uri="{FF2B5EF4-FFF2-40B4-BE49-F238E27FC236}">
                <a16:creationId xmlns:a16="http://schemas.microsoft.com/office/drawing/2014/main" id="{2327909B-4B5F-4A4B-A9FB-A5E923BC5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47650"/>
            <a:ext cx="2247900" cy="971550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960d90440f740d8"/>
          <a:stretch xmlns:a="http://schemas.openxmlformats.org/drawingml/2006/main"/>
        </p:blipFill>
        <p:spPr>
          <a:xfrm xmlns:a="http://schemas.openxmlformats.org/drawingml/2006/main">
            <a:off x="95059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2" name="text-708">
            <a:extLst xmlns:a="http://schemas.openxmlformats.org/drawingml/2006/main">
              <a:ext uri="{FF2B5EF4-FFF2-40B4-BE49-F238E27FC236}">
                <a16:creationId xmlns:a16="http://schemas.microsoft.com/office/drawing/2014/main" id="{551C099E-E1FA-4A04-9945-DF3EA186B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Google Sites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b0f1e2942a845d0"/>
          <a:stretch xmlns:a="http://schemas.openxmlformats.org/drawingml/2006/main"/>
        </p:blipFill>
        <p:spPr>
          <a:xfrm xmlns:a="http://schemas.openxmlformats.org/drawingml/2006/main">
            <a:off x="102298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4" name="text-709">
            <a:extLst xmlns:a="http://schemas.openxmlformats.org/drawingml/2006/main">
              <a:ext uri="{FF2B5EF4-FFF2-40B4-BE49-F238E27FC236}">
                <a16:creationId xmlns:a16="http://schemas.microsoft.com/office/drawing/2014/main" id="{87D41038-2C80-4348-9B27-29CB8761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98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GitHub Pages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47a071b5534320"/>
          <a:stretch xmlns:a="http://schemas.openxmlformats.org/drawingml/2006/main"/>
        </p:blipFill>
        <p:spPr>
          <a:xfrm xmlns:a="http://schemas.openxmlformats.org/drawingml/2006/main">
            <a:off x="10953750" y="314325"/>
            <a:ext cx="647700" cy="647700"/>
          </a:xfrm>
          <a:prstGeom xmlns:a="http://schemas.openxmlformats.org/drawingml/2006/main" prst="roundRect">
            <a:avLst>
              <a:gd name="adj" fmla="val 11765"/>
            </a:avLst>
          </a:prstGeom>
        </p:spPr>
      </p:pic>
      <p:sp>
        <p:nvSpPr>
          <p:cNvPr id="26" name="text-710">
            <a:extLst xmlns:a="http://schemas.openxmlformats.org/drawingml/2006/main">
              <a:ext uri="{FF2B5EF4-FFF2-40B4-BE49-F238E27FC236}">
                <a16:creationId xmlns:a16="http://schemas.microsoft.com/office/drawing/2014/main" id="{29017AB4-9F69-4003-9CD4-3E3F91AC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981075"/>
            <a:ext cx="6477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675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EZPage</a:t>
            </a:r>
          </a:p>
        </p:txBody>
      </p:sp>
    </p:spTree>
    <p:extLst>
      <p:ext uri="{BB962C8B-B14F-4D97-AF65-F5344CB8AC3E}">
        <p14:creationId xmlns:p14="http://schemas.microsoft.com/office/powerpoint/2010/main" val="838607773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7F3E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text-613">
            <a:extLst xmlns:a="http://schemas.openxmlformats.org/drawingml/2006/main">
              <a:ext uri="{FF2B5EF4-FFF2-40B4-BE49-F238E27FC236}">
                <a16:creationId xmlns:a16="http://schemas.microsoft.com/office/drawing/2014/main" id="{D7DC5337-F4FD-4054-85C2-F345FC75B2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238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defRPr>
            </a:pPr>
            <a:r>
              <a:rPr sz="975" b="1">
                <a:solidFill>
                  <a:srgbClr val="256FE8"/>
                </a:solidFill>
                <a:latin typeface="Noto Sans TC"/>
                <a:ea typeface="Noto Sans TC"/>
                <a:cs typeface="Noto Sans TC"/>
              </a:rPr>
              <a:t>BOOKMARKS</a:t>
            </a:r>
          </a:p>
        </p:txBody>
      </p:sp>
      <p:sp>
        <p:nvSpPr>
          <p:cNvPr id="2" name="slide-title">
            <a:extLst xmlns:a="http://schemas.openxmlformats.org/drawingml/2006/main">
              <a:ext uri="{FF2B5EF4-FFF2-40B4-BE49-F238E27FC236}">
                <a16:creationId xmlns:a16="http://schemas.microsoft.com/office/drawing/2014/main" id="{269F78E2-2473-4D2D-9BCE-430683AE7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66750"/>
            <a:ext cx="111252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31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上午資源書籤</a:t>
            </a:r>
          </a:p>
        </p:txBody>
      </p:sp>
      <p:cxnSp>
        <p:nvCxnSpPr>
          <p:cNvPr id="37" name="shape-614"/>
          <p:cNvCxnSpPr/>
          <p:nvPr/>
        </p:nvCxnSpPr>
        <p:spPr>
          <a:xfrm xmlns:a="http://schemas.openxmlformats.org/drawingml/2006/main">
            <a:off x="514350" y="6438900"/>
            <a:ext cx="11163300" cy="0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CDD3DB"/>
            </a:solidFill>
            <a:prstDash val="solid"/>
          </a:ln>
        </p:spPr>
      </p:cxnSp>
      <p:sp>
        <p:nvSpPr>
          <p:cNvPr id="4" name="text-615">
            <a:extLst xmlns:a="http://schemas.openxmlformats.org/drawingml/2006/main">
              <a:ext uri="{FF2B5EF4-FFF2-40B4-BE49-F238E27FC236}">
                <a16:creationId xmlns:a16="http://schemas.microsoft.com/office/drawing/2014/main" id="{EDD2E690-A324-406B-AC73-023574B35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15100"/>
            <a:ext cx="8096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上午場｜打造專屬 AI 教學與研究工作室</a:t>
            </a:r>
          </a:p>
        </p:txBody>
      </p:sp>
      <p:sp>
        <p:nvSpPr>
          <p:cNvPr id="5" name="page-number">
            <a:extLst xmlns:a="http://schemas.openxmlformats.org/drawingml/2006/main">
              <a:ext uri="{FF2B5EF4-FFF2-40B4-BE49-F238E27FC236}">
                <a16:creationId xmlns:a16="http://schemas.microsoft.com/office/drawing/2014/main" id="{AFE9DD85-103C-439D-9B1A-C735CF3AD7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28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defRPr>
            </a:pPr>
            <a:r>
              <a:rPr sz="900" b="1">
                <a:solidFill>
                  <a:srgbClr val="5F6873"/>
                </a:solidFill>
                <a:latin typeface="Noto Sans TC"/>
                <a:ea typeface="Noto Sans TC"/>
                <a:cs typeface="Noto Sans TC"/>
              </a:rPr>
              <a:t>35</a:t>
            </a:r>
          </a:p>
        </p:txBody>
      </p:sp>
      <p:sp>
        <p:nvSpPr>
          <p:cNvPr id="6" name="shape-616">
            <a:extLst xmlns:a="http://schemas.openxmlformats.org/drawingml/2006/main">
              <a:ext uri="{FF2B5EF4-FFF2-40B4-BE49-F238E27FC236}">
                <a16:creationId xmlns:a16="http://schemas.microsoft.com/office/drawing/2014/main" id="{01F72050-6079-4A7A-A717-F6383FDD48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7" name="text-617">
            <a:extLst xmlns:a="http://schemas.openxmlformats.org/drawingml/2006/main">
              <a:ext uri="{FF2B5EF4-FFF2-40B4-BE49-F238E27FC236}">
                <a16:creationId xmlns:a16="http://schemas.microsoft.com/office/drawing/2014/main" id="{16423403-EE65-4497-8BD3-C76E031D4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研習資源導航（同資料夾）</a:t>
            </a:r>
          </a:p>
        </p:txBody>
      </p:sp>
      <p:sp>
        <p:nvSpPr>
          <p:cNvPr id="8" name="text-618">
            <a:extLst xmlns:a="http://schemas.openxmlformats.org/drawingml/2006/main">
              <a:ext uri="{FF2B5EF4-FFF2-40B4-BE49-F238E27FC236}">
                <a16:creationId xmlns:a16="http://schemas.microsoft.com/office/drawing/2014/main" id="{0A790F7F-5EA6-4905-A0BC-C1CB7717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a68517b6903b4877"/>
              </a:rPr>
              <a:t>../START_HERE_研習資源導航.html</a:t>
            </a:r>
          </a:p>
        </p:txBody>
      </p:sp>
      <p:pic>
        <p:nvPicPr>
          <p:cNvPr id="4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c8616b439124235"/>
          <a:stretch xmlns:a="http://schemas.openxmlformats.org/drawingml/2006/main"/>
        </p:blipFill>
        <p:spPr>
          <a:xfrm xmlns:a="http://schemas.openxmlformats.org/drawingml/2006/main">
            <a:off x="49530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0" name="shape-619">
            <a:extLst xmlns:a="http://schemas.openxmlformats.org/drawingml/2006/main">
              <a:ext uri="{FF2B5EF4-FFF2-40B4-BE49-F238E27FC236}">
                <a16:creationId xmlns:a16="http://schemas.microsoft.com/office/drawing/2014/main" id="{3C8AB262-4B77-4FF2-8B33-CEEE96410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1" name="text-620">
            <a:extLst xmlns:a="http://schemas.openxmlformats.org/drawingml/2006/main">
              <a:ext uri="{FF2B5EF4-FFF2-40B4-BE49-F238E27FC236}">
                <a16:creationId xmlns:a16="http://schemas.microsoft.com/office/drawing/2014/main" id="{9A0E852F-C272-4595-9060-AE9FE42C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Notebook</a:t>
            </a:r>
          </a:p>
        </p:txBody>
      </p:sp>
      <p:sp>
        <p:nvSpPr>
          <p:cNvPr id="12" name="text-621">
            <a:extLst xmlns:a="http://schemas.openxmlformats.org/drawingml/2006/main">
              <a:ext uri="{FF2B5EF4-FFF2-40B4-BE49-F238E27FC236}">
                <a16:creationId xmlns:a16="http://schemas.microsoft.com/office/drawing/2014/main" id="{E169CB57-92EA-4970-9ECB-69FF89FFC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114728554baa4e05"/>
              </a:rPr>
              <a:t>https://notebook.google.com/</a:t>
            </a:r>
          </a:p>
        </p:txBody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551326a659d40e6"/>
          <a:stretch xmlns:a="http://schemas.openxmlformats.org/drawingml/2006/main"/>
        </p:blipFill>
        <p:spPr>
          <a:xfrm xmlns:a="http://schemas.openxmlformats.org/drawingml/2006/main">
            <a:off x="49530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4" name="shape-622">
            <a:extLst xmlns:a="http://schemas.openxmlformats.org/drawingml/2006/main">
              <a:ext uri="{FF2B5EF4-FFF2-40B4-BE49-F238E27FC236}">
                <a16:creationId xmlns:a16="http://schemas.microsoft.com/office/drawing/2014/main" id="{6189B592-A3E0-42C8-9C41-09D74226B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5" name="text-623">
            <a:extLst xmlns:a="http://schemas.openxmlformats.org/drawingml/2006/main">
              <a:ext uri="{FF2B5EF4-FFF2-40B4-BE49-F238E27FC236}">
                <a16:creationId xmlns:a16="http://schemas.microsoft.com/office/drawing/2014/main" id="{79396C4F-7EC3-4820-9F91-37020AE7F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建立自訂 Gem</a:t>
            </a:r>
          </a:p>
        </p:txBody>
      </p:sp>
      <p:sp>
        <p:nvSpPr>
          <p:cNvPr id="16" name="text-624">
            <a:extLst xmlns:a="http://schemas.openxmlformats.org/drawingml/2006/main">
              <a:ext uri="{FF2B5EF4-FFF2-40B4-BE49-F238E27FC236}">
                <a16:creationId xmlns:a16="http://schemas.microsoft.com/office/drawing/2014/main" id="{C25D603E-94A6-4689-BDC3-DDA89662E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dd8010f3beaa4a90"/>
              </a:rPr>
              <a:t>https://gemini.google.com/gems/create</a:t>
            </a:r>
          </a:p>
        </p:txBody>
      </p:sp>
      <p:pic>
        <p:nvPicPr>
          <p:cNvPr id="5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843b3886700453c"/>
          <a:stretch xmlns:a="http://schemas.openxmlformats.org/drawingml/2006/main"/>
        </p:blipFill>
        <p:spPr>
          <a:xfrm xmlns:a="http://schemas.openxmlformats.org/drawingml/2006/main">
            <a:off x="49530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18" name="shape-625">
            <a:extLst xmlns:a="http://schemas.openxmlformats.org/drawingml/2006/main">
              <a:ext uri="{FF2B5EF4-FFF2-40B4-BE49-F238E27FC236}">
                <a16:creationId xmlns:a16="http://schemas.microsoft.com/office/drawing/2014/main" id="{0DFDDEBE-855B-4B30-86CB-CF0598DCC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2100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19" name="text-626">
            <a:extLst xmlns:a="http://schemas.openxmlformats.org/drawingml/2006/main">
              <a:ext uri="{FF2B5EF4-FFF2-40B4-BE49-F238E27FC236}">
                <a16:creationId xmlns:a16="http://schemas.microsoft.com/office/drawing/2014/main" id="{F32E6295-46B1-41DB-AC94-96B731682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Gemini Canvas</a:t>
            </a:r>
          </a:p>
        </p:txBody>
      </p:sp>
      <p:sp>
        <p:nvSpPr>
          <p:cNvPr id="20" name="text-627">
            <a:extLst xmlns:a="http://schemas.openxmlformats.org/drawingml/2006/main">
              <a:ext uri="{FF2B5EF4-FFF2-40B4-BE49-F238E27FC236}">
                <a16:creationId xmlns:a16="http://schemas.microsoft.com/office/drawing/2014/main" id="{FFA1D7D6-8ADF-45A7-91B7-6927F6A44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6101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54e3b49f642c4fe0"/>
              </a:rPr>
              <a:t>https://gemini.google.com/app</a:t>
            </a:r>
          </a:p>
        </p:txBody>
      </p:sp>
      <p:pic>
        <p:nvPicPr>
          <p:cNvPr id="5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2e0901a6d04135"/>
          <a:stretch xmlns:a="http://schemas.openxmlformats.org/drawingml/2006/main"/>
        </p:blipFill>
        <p:spPr>
          <a:xfrm xmlns:a="http://schemas.openxmlformats.org/drawingml/2006/main">
            <a:off x="4953000" y="42386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2" name="shape-628">
            <a:extLst xmlns:a="http://schemas.openxmlformats.org/drawingml/2006/main">
              <a:ext uri="{FF2B5EF4-FFF2-40B4-BE49-F238E27FC236}">
                <a16:creationId xmlns:a16="http://schemas.microsoft.com/office/drawing/2014/main" id="{7802C81F-FEDD-4F48-91FA-3940FBF8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5811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3" name="text-629">
            <a:extLst xmlns:a="http://schemas.openxmlformats.org/drawingml/2006/main">
              <a:ext uri="{FF2B5EF4-FFF2-40B4-BE49-F238E27FC236}">
                <a16:creationId xmlns:a16="http://schemas.microsoft.com/office/drawing/2014/main" id="{8B20F055-504A-4AD0-A2FD-CEBAA0B8B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6764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建立 Google Sites</a:t>
            </a:r>
          </a:p>
        </p:txBody>
      </p:sp>
      <p:sp>
        <p:nvSpPr>
          <p:cNvPr id="24" name="text-630">
            <a:extLst xmlns:a="http://schemas.openxmlformats.org/drawingml/2006/main">
              <a:ext uri="{FF2B5EF4-FFF2-40B4-BE49-F238E27FC236}">
                <a16:creationId xmlns:a16="http://schemas.microsoft.com/office/drawing/2014/main" id="{9D83F7A0-82D4-4028-956D-539B64B43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19812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34d0bfe68f3f48b8"/>
              </a:rPr>
              <a:t>https://sites.google.com/new</a:t>
            </a:r>
          </a:p>
        </p:txBody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88039ba832436c"/>
          <a:stretch xmlns:a="http://schemas.openxmlformats.org/drawingml/2006/main"/>
        </p:blipFill>
        <p:spPr>
          <a:xfrm xmlns:a="http://schemas.openxmlformats.org/drawingml/2006/main">
            <a:off x="10553700" y="16097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26" name="shape-631">
            <a:extLst xmlns:a="http://schemas.openxmlformats.org/drawingml/2006/main">
              <a:ext uri="{FF2B5EF4-FFF2-40B4-BE49-F238E27FC236}">
                <a16:creationId xmlns:a16="http://schemas.microsoft.com/office/drawing/2014/main" id="{F26D5025-F6A2-4900-AE8B-36BCD3382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4574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27" name="text-632">
            <a:extLst xmlns:a="http://schemas.openxmlformats.org/drawingml/2006/main">
              <a:ext uri="{FF2B5EF4-FFF2-40B4-BE49-F238E27FC236}">
                <a16:creationId xmlns:a16="http://schemas.microsoft.com/office/drawing/2014/main" id="{8FA80AB5-7EB3-48C1-A8B5-441795751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5527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開啟 GitHub Pages</a:t>
            </a:r>
          </a:p>
        </p:txBody>
      </p:sp>
      <p:sp>
        <p:nvSpPr>
          <p:cNvPr id="28" name="text-633">
            <a:extLst xmlns:a="http://schemas.openxmlformats.org/drawingml/2006/main">
              <a:ext uri="{FF2B5EF4-FFF2-40B4-BE49-F238E27FC236}">
                <a16:creationId xmlns:a16="http://schemas.microsoft.com/office/drawing/2014/main" id="{A94728EF-72DC-4806-AA01-382549D850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28575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e4f810184a294a10"/>
              </a:rPr>
              <a:t>https://pages.github.com/</a:t>
            </a:r>
          </a:p>
        </p:txBody>
      </p:sp>
      <p:pic>
        <p:nvPicPr>
          <p:cNvPr id="6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feca6419a7c442a"/>
          <a:stretch xmlns:a="http://schemas.openxmlformats.org/drawingml/2006/main"/>
        </p:blipFill>
        <p:spPr>
          <a:xfrm xmlns:a="http://schemas.openxmlformats.org/drawingml/2006/main">
            <a:off x="10553700" y="24860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0" name="shape-634">
            <a:extLst xmlns:a="http://schemas.openxmlformats.org/drawingml/2006/main">
              <a:ext uri="{FF2B5EF4-FFF2-40B4-BE49-F238E27FC236}">
                <a16:creationId xmlns:a16="http://schemas.microsoft.com/office/drawing/2014/main" id="{3D1915FB-71A8-4643-973C-A538D1F90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333750"/>
            <a:ext cx="5314950" cy="742950"/>
          </a:xfrm>
          <a:prstGeom xmlns:a="http://schemas.openxmlformats.org/drawingml/2006/main" prst="roundRect">
            <a:avLst>
              <a:gd name="adj" fmla="val 1025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CDD3DB"/>
            </a:solidFill>
            <a:prstDash val="solid"/>
          </a:ln>
        </p:spPr>
      </p:sp>
      <p:sp>
        <p:nvSpPr>
          <p:cNvPr id="31" name="text-635">
            <a:extLst xmlns:a="http://schemas.openxmlformats.org/drawingml/2006/main">
              <a:ext uri="{FF2B5EF4-FFF2-40B4-BE49-F238E27FC236}">
                <a16:creationId xmlns:a16="http://schemas.microsoft.com/office/drawing/2014/main" id="{CBB19D58-83CF-45F8-87F4-F83AF4A89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429000"/>
            <a:ext cx="3619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1275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EZPage 一鍵部署</a:t>
            </a:r>
          </a:p>
        </p:txBody>
      </p:sp>
      <p:sp>
        <p:nvSpPr>
          <p:cNvPr id="32" name="text-636">
            <a:extLst xmlns:a="http://schemas.openxmlformats.org/drawingml/2006/main">
              <a:ext uri="{FF2B5EF4-FFF2-40B4-BE49-F238E27FC236}">
                <a16:creationId xmlns:a16="http://schemas.microsoft.com/office/drawing/2014/main" id="{227B47F2-81BB-49D8-90D7-E16F5FF63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733800"/>
            <a:ext cx="4095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</a:defRPr>
            </a:pPr>
            <a:r>
              <a:rPr sz="825" b="0">
                <a:solidFill>
                  <a:srgbClr val="256FE8"/>
                </a:solidFill>
                <a:latin typeface="Cascadia Mono"/>
                <a:ea typeface="Cascadia Mono"/>
                <a:cs typeface="Cascadia Mono"/>
                <a:hlinkClick xmlns:r="http://schemas.openxmlformats.org/officeDocument/2006/relationships" r:id="R22da37772a1e451e"/>
              </a:rPr>
              <a:t>https://gg90052.github.io/ezpage/</a:t>
            </a:r>
          </a:p>
        </p:txBody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3aeed8a39548a8"/>
          <a:stretch xmlns:a="http://schemas.openxmlformats.org/drawingml/2006/main"/>
        </p:blipFill>
        <p:spPr>
          <a:xfrm xmlns:a="http://schemas.openxmlformats.org/drawingml/2006/main">
            <a:off x="10553700" y="3362325"/>
            <a:ext cx="685800" cy="685800"/>
          </a:xfrm>
          <a:prstGeom xmlns:a="http://schemas.openxmlformats.org/drawingml/2006/main" prst="roundRect">
            <a:avLst>
              <a:gd name="adj" fmla="val 11111"/>
            </a:avLst>
          </a:prstGeom>
        </p:spPr>
      </p:pic>
      <p:sp>
        <p:nvSpPr>
          <p:cNvPr id="34" name="text-637">
            <a:extLst xmlns:a="http://schemas.openxmlformats.org/drawingml/2006/main">
              <a:ext uri="{FF2B5EF4-FFF2-40B4-BE49-F238E27FC236}">
                <a16:creationId xmlns:a16="http://schemas.microsoft.com/office/drawing/2014/main" id="{C5D63724-A72E-48DD-AC45-F34D1CF11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543550"/>
            <a:ext cx="111633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defRPr>
            </a:pPr>
            <a:r>
              <a:rPr sz="2250" b="1">
                <a:solidFill>
                  <a:srgbClr val="15191F"/>
                </a:solidFill>
                <a:latin typeface="Noto Sans TC"/>
                <a:ea typeface="Noto Sans TC"/>
                <a:cs typeface="Noto Sans TC"/>
              </a:rPr>
              <a:t>上午的終點不是『學會每個工具』，而是完成一條能重複使用的教學與研究產線。</a:t>
            </a:r>
          </a:p>
        </p:txBody>
      </p:sp>
    </p:spTree>
    <p:extLst>
      <p:ext uri="{BB962C8B-B14F-4D97-AF65-F5344CB8AC3E}">
        <p14:creationId xmlns:p14="http://schemas.microsoft.com/office/powerpoint/2010/main" val="1421091665"/>
      </p:ext>
    </p:extLst>
  </p:cSld>
</p:sld>
</file>

<file path=ppt/theme/theme1.xml><?xml version="1.0" encoding="utf-8"?>
<a:theme xmlns:a="http://schemas.openxmlformats.org/drawingml/2006/main" name="ChatGPT">
  <a:themeElements>
    <a:clrScheme name="NCU Morning">
      <a:dk1>
        <a:srgbClr val="000000"/>
      </a:dk1>
      <a:lt1>
        <a:srgbClr val="FFFFFF"/>
      </a:lt1>
      <a:dk2>
        <a:srgbClr val="15191F"/>
      </a:dk2>
      <a:lt2>
        <a:srgbClr val="EAF3FF"/>
      </a:lt2>
      <a:accent1>
        <a:srgbClr val="256FE8"/>
      </a:accent1>
      <a:accent2>
        <a:srgbClr val="FF7866"/>
      </a:accent2>
      <a:accent3>
        <a:srgbClr val="22AFA4"/>
      </a:accent3>
      <a:accent4>
        <a:srgbClr val="8B5CF6"/>
      </a:accent4>
      <a:accent5>
        <a:srgbClr val="F4B942"/>
      </a:accent5>
      <a:accent6>
        <a:srgbClr val="36A269"/>
      </a:accent6>
      <a:hlink>
        <a:srgbClr val="256FE8"/>
      </a:hlink>
      <a:folHlink>
        <a:srgbClr val="7C3AE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NCU Morning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2026-08-13T03:24:01.4620000Z</dcterms:created>
  <dcterms:modified xsi:type="dcterms:W3CDTF">2026-08-13T03:24:01.4630000Z</dcterms:modified>
</coreProperties>
</file>
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d6291fb73a479f" /><Relationship Type="http://schemas.openxmlformats.org/officeDocument/2006/relationships/extended-properties" Target="/docProps/app.xml" Id="Re20a9dd653ee4cd5" /><Relationship Type="http://schemas.openxmlformats.org/officeDocument/2006/relationships/officeDocument" Target="/ppt/presentation.xml" Id="Rbec1ba8d9a6d4e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802d44f13c4d82"/>
  </p:sldMasterIdLst>
  <p:notesMasterIdLst>
    <p:notesMasterId xmlns:r="http://schemas.openxmlformats.org/officeDocument/2006/relationships" r:id="R3ac4af9578b84486"/>
  </p:notesMasterIdLst>
  <p:sldIdLst>
    <p:sldId xmlns:r="http://schemas.openxmlformats.org/officeDocument/2006/relationships" id="256" r:id="R80a6d88d27ed4dd4"/>
    <p:sldId xmlns:r="http://schemas.openxmlformats.org/officeDocument/2006/relationships" id="257" r:id="R4f0b92a4927c4b72"/>
    <p:sldId xmlns:r="http://schemas.openxmlformats.org/officeDocument/2006/relationships" id="258" r:id="Rbba8e9c610b4436b"/>
    <p:sldId xmlns:r="http://schemas.openxmlformats.org/officeDocument/2006/relationships" id="259" r:id="R39bd254ee0f64fde"/>
    <p:sldId xmlns:r="http://schemas.openxmlformats.org/officeDocument/2006/relationships" id="260" r:id="R0da2ca0240814cd1"/>
    <p:sldId xmlns:r="http://schemas.openxmlformats.org/officeDocument/2006/relationships" id="261" r:id="Ra6ec57abc10746cb"/>
    <p:sldId xmlns:r="http://schemas.openxmlformats.org/officeDocument/2006/relationships" id="262" r:id="R5f495761021749d1"/>
    <p:sldId xmlns:r="http://schemas.openxmlformats.org/officeDocument/2006/relationships" id="263" r:id="R9700294849f44679"/>
    <p:sldId xmlns:r="http://schemas.openxmlformats.org/officeDocument/2006/relationships" id="264" r:id="R987d1d6d89bc4d2f"/>
    <p:sldId xmlns:r="http://schemas.openxmlformats.org/officeDocument/2006/relationships" id="265" r:id="R7fec414ebca54bfe"/>
    <p:sldId xmlns:r="http://schemas.openxmlformats.org/officeDocument/2006/relationships" id="266" r:id="Ra72ae7318325441b"/>
    <p:sldId xmlns:r="http://schemas.openxmlformats.org/officeDocument/2006/relationships" id="267" r:id="R50426d8d169747eb"/>
    <p:sldId xmlns:r="http://schemas.openxmlformats.org/officeDocument/2006/relationships" id="268" r:id="R4acf9f2f4d6745fa"/>
    <p:sldId xmlns:r="http://schemas.openxmlformats.org/officeDocument/2006/relationships" id="269" r:id="R755e651a7af04a80"/>
    <p:sldId xmlns:r="http://schemas.openxmlformats.org/officeDocument/2006/relationships" id="270" r:id="R76002ee7fd274b91"/>
    <p:sldId xmlns:r="http://schemas.openxmlformats.org/officeDocument/2006/relationships" id="271" r:id="R3196348110484599"/>
    <p:sldId xmlns:r="http://schemas.openxmlformats.org/officeDocument/2006/relationships" id="272" r:id="Rcea963b30cf443fa"/>
    <p:sldId xmlns:r="http://schemas.openxmlformats.org/officeDocument/2006/relationships" id="273" r:id="Rdd17f094fba849ce"/>
    <p:sldId xmlns:r="http://schemas.openxmlformats.org/officeDocument/2006/relationships" id="274" r:id="R7ee8fc5c16be4085"/>
    <p:sldId xmlns:r="http://schemas.openxmlformats.org/officeDocument/2006/relationships" id="275" r:id="Rc55d6ca1be764b92"/>
    <p:sldId xmlns:r="http://schemas.openxmlformats.org/officeDocument/2006/relationships" id="276" r:id="R7b2ba1e6d3b54a0b"/>
    <p:sldId xmlns:r="http://schemas.openxmlformats.org/officeDocument/2006/relationships" id="277" r:id="R32d9773b835f47ce"/>
    <p:sldId xmlns:r="http://schemas.openxmlformats.org/officeDocument/2006/relationships" id="278" r:id="R4e34fd73e52048b6"/>
    <p:sldId xmlns:r="http://schemas.openxmlformats.org/officeDocument/2006/relationships" id="279" r:id="R55b6725b5caa44c5"/>
    <p:sldId xmlns:r="http://schemas.openxmlformats.org/officeDocument/2006/relationships" id="280" r:id="Rdc58232c5b024cd7"/>
    <p:sldId xmlns:r="http://schemas.openxmlformats.org/officeDocument/2006/relationships" id="281" r:id="R5d7bbeba9a854b04"/>
    <p:sldId xmlns:r="http://schemas.openxmlformats.org/officeDocument/2006/relationships" id="282" r:id="Rebd939c6ae194ada"/>
    <p:sldId xmlns:r="http://schemas.openxmlformats.org/officeDocument/2006/relationships" id="283" r:id="R08958dc2c6c1482b"/>
    <p:sldId xmlns:r="http://schemas.openxmlformats.org/officeDocument/2006/relationships" id="284" r:id="R4b729c1208004d5d"/>
    <p:sldId xmlns:r="http://schemas.openxmlformats.org/officeDocument/2006/relationships" id="285" r:id="R155e5b63ad5b4000"/>
    <p:sldId xmlns:r="http://schemas.openxmlformats.org/officeDocument/2006/relationships" id="286" r:id="R908642f2abbc4194"/>
    <p:sldId xmlns:r="http://schemas.openxmlformats.org/officeDocument/2006/relationships" id="287" r:id="R44d42574a86342fc"/>
    <p:sldId xmlns:r="http://schemas.openxmlformats.org/officeDocument/2006/relationships" id="288" r:id="R182013c249134a0c"/>
    <p:sldId xmlns:r="http://schemas.openxmlformats.org/officeDocument/2006/relationships" id="289" r:id="Rf17831aff59b4bd0"/>
    <p:sldId xmlns:r="http://schemas.openxmlformats.org/officeDocument/2006/relationships" id="290" r:id="Rfb8556a9082d40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f00894bffc497c" /><Relationship Type="http://schemas.openxmlformats.org/officeDocument/2006/relationships/slideMaster" Target="/ppt/slideMasters/slideMaster1.xml" Id="R87802d44f13c4d82" /><Relationship Type="http://schemas.openxmlformats.org/officeDocument/2006/relationships/notesMaster" Target="/ppt/notesMasters/notesMaster1.xml" Id="R3ac4af9578b84486" /><Relationship Type="http://schemas.openxmlformats.org/officeDocument/2006/relationships/presProps" Target="/ppt/presProps.xml" Id="R70eabd368a044389" /><Relationship Type="http://schemas.openxmlformats.org/officeDocument/2006/relationships/tableStyles" Target="/ppt/tableStyles.xml" Id="Rfb26c09f53f54374" /><Relationship Type="http://schemas.openxmlformats.org/officeDocument/2006/relationships/slide" Target="/ppt/slides/slide1.xml" Id="R80a6d88d27ed4dd4" /><Relationship Type="http://schemas.openxmlformats.org/officeDocument/2006/relationships/slide" Target="/ppt/slides/slide2.xml" Id="R4f0b92a4927c4b72" /><Relationship Type="http://schemas.openxmlformats.org/officeDocument/2006/relationships/slide" Target="/ppt/slides/slide3.xml" Id="Rbba8e9c610b4436b" /><Relationship Type="http://schemas.openxmlformats.org/officeDocument/2006/relationships/slide" Target="/ppt/slides/slide4.xml" Id="R39bd254ee0f64fde" /><Relationship Type="http://schemas.openxmlformats.org/officeDocument/2006/relationships/slide" Target="/ppt/slides/slide5.xml" Id="R0da2ca0240814cd1" /><Relationship Type="http://schemas.openxmlformats.org/officeDocument/2006/relationships/slide" Target="/ppt/slides/slide6.xml" Id="Ra6ec57abc10746cb" /><Relationship Type="http://schemas.openxmlformats.org/officeDocument/2006/relationships/slide" Target="/ppt/slides/slide7.xml" Id="R5f495761021749d1" /><Relationship Type="http://schemas.openxmlformats.org/officeDocument/2006/relationships/slide" Target="/ppt/slides/slide8.xml" Id="R9700294849f44679" /><Relationship Type="http://schemas.openxmlformats.org/officeDocument/2006/relationships/slide" Target="/ppt/slides/slide9.xml" Id="R987d1d6d89bc4d2f" /><Relationship Type="http://schemas.openxmlformats.org/officeDocument/2006/relationships/slide" Target="/ppt/slides/slide10.xml" Id="R7fec414ebca54bfe" /><Relationship Type="http://schemas.openxmlformats.org/officeDocument/2006/relationships/slide" Target="/ppt/slides/slide11.xml" Id="Ra72ae7318325441b" /><Relationship Type="http://schemas.openxmlformats.org/officeDocument/2006/relationships/slide" Target="/ppt/slides/slide12.xml" Id="R50426d8d169747eb" /><Relationship Type="http://schemas.openxmlformats.org/officeDocument/2006/relationships/slide" Target="/ppt/slides/slide13.xml" Id="R4acf9f2f4d6745fa" /><Relationship Type="http://schemas.openxmlformats.org/officeDocument/2006/relationships/slide" Target="/ppt/slides/slide14.xml" Id="R755e651a7af04a80" /><Relationship Type="http://schemas.openxmlformats.org/officeDocument/2006/relationships/slide" Target="/ppt/slides/slide15.xml" Id="R76002ee7fd274b91" /><Relationship Type="http://schemas.openxmlformats.org/officeDocument/2006/relationships/slide" Target="/ppt/slides/slide16.xml" Id="R3196348110484599" /><Relationship Type="http://schemas.openxmlformats.org/officeDocument/2006/relationships/slide" Target="/ppt/slides/slide17.xml" Id="Rcea963b30cf443fa" /><Relationship Type="http://schemas.openxmlformats.org/officeDocument/2006/relationships/slide" Target="/ppt/slides/slide18.xml" Id="Rdd17f094fba849ce" /><Relationship Type="http://schemas.openxmlformats.org/officeDocument/2006/relationships/slide" Target="/ppt/slides/slide19.xml" Id="R7ee8fc5c16be4085" /><Relationship Type="http://schemas.openxmlformats.org/officeDocument/2006/relationships/slide" Target="/ppt/slides/slide20.xml" Id="Rc55d6ca1be764b92" /><Relationship Type="http://schemas.openxmlformats.org/officeDocument/2006/relationships/slide" Target="/ppt/slides/slide21.xml" Id="R7b2ba1e6d3b54a0b" /><Relationship Type="http://schemas.openxmlformats.org/officeDocument/2006/relationships/slide" Target="/ppt/slides/slide22.xml" Id="R32d9773b835f47ce" /><Relationship Type="http://schemas.openxmlformats.org/officeDocument/2006/relationships/slide" Target="/ppt/slides/slide23.xml" Id="R4e34fd73e52048b6" /><Relationship Type="http://schemas.openxmlformats.org/officeDocument/2006/relationships/slide" Target="/ppt/slides/slide24.xml" Id="R55b6725b5caa44c5" /><Relationship Type="http://schemas.openxmlformats.org/officeDocument/2006/relationships/slide" Target="/ppt/slides/slide25.xml" Id="Rdc58232c5b024cd7" /><Relationship Type="http://schemas.openxmlformats.org/officeDocument/2006/relationships/slide" Target="/ppt/slides/slide26.xml" Id="R5d7bbeba9a854b04" /><Relationship Type="http://schemas.openxmlformats.org/officeDocument/2006/relationships/slide" Target="/ppt/slides/slide27.xml" Id="Rebd939c6ae194ada" /><Relationship Type="http://schemas.openxmlformats.org/officeDocument/2006/relationships/slide" Target="/ppt/slides/slide28.xml" Id="R08958dc2c6c1482b" /><Relationship Type="http://schemas.openxmlformats.org/officeDocument/2006/relationships/slide" Target="/ppt/slides/slide29.xml" Id="R4b729c1208004d5d" /><Relationship Type="http://schemas.openxmlformats.org/officeDocument/2006/relationships/slide" Target="/ppt/slides/slide30.xml" Id="R155e5b63ad5b4000" /><Relationship Type="http://schemas.openxmlformats.org/officeDocument/2006/relationships/slide" Target="/ppt/slides/slide31.xml" Id="R908642f2abbc4194" /><Relationship Type="http://schemas.openxmlformats.org/officeDocument/2006/relationships/slide" Target="/ppt/slides/slide32.xml" Id="R44d42574a86342fc" /><Relationship Type="http://schemas.openxmlformats.org/officeDocument/2006/relationships/slide" Target="/ppt/slides/slide33.xml" Id="R182013c249134a0c" /><Relationship Type="http://schemas.openxmlformats.org/officeDocument/2006/relationships/slide" Target="/ppt/slides/slide34.xml" Id="Rf17831aff59b4bd0" /><Relationship Type="http://schemas.openxmlformats.org/officeDocument/2006/relationships/slide" Target="/ppt/slides/slide35.xml" Id="Rfb8556a9082d40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7cffada54d49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NCU Morning">
      <a:dk1>
        <a:srgbClr val="000000"/>
      </a:dk1>
      <a:lt1>
        <a:srgbClr val="FFFFFF"/>
      </a:lt1>
      <a:dk2>
        <a:srgbClr val="15191F"/>
      </a:dk2>
      <a:lt2>
        <a:srgbClr val="EAF3FF"/>
      </a:lt2>
      <a:accent1>
        <a:srgbClr val="256FE8"/>
      </a:accent1>
      <a:accent2>
        <a:srgbClr val="FF7866"/>
      </a:accent2>
      <a:accent3>
        <a:srgbClr val="22AFA4"/>
      </a:accent3>
      <a:accent4>
        <a:srgbClr val="8B5CF6"/>
      </a:accent4>
      <a:accent5>
        <a:srgbClr val="F4B942"/>
      </a:accent5>
      <a:accent6>
        <a:srgbClr val="36A269"/>
      </a:accent6>
      <a:hlink>
        <a:srgbClr val="256FE8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CU Morn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e8c11c8cf94800" /><Relationship Type="http://schemas.openxmlformats.org/officeDocument/2006/relationships/notesMaster" Target="/ppt/notesMasters/notesMaster1.xml" Id="R7ca84e74a10b41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683484b0404de4" /><Relationship Type="http://schemas.openxmlformats.org/officeDocument/2006/relationships/notesMaster" Target="/ppt/notesMasters/notesMaster1.xml" Id="R61c13aeadbb14b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63d8dc0c9743ee" /><Relationship Type="http://schemas.openxmlformats.org/officeDocument/2006/relationships/notesMaster" Target="/ppt/notesMasters/notesMaster1.xml" Id="Rbddc401cdba54c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c383af92de4539" /><Relationship Type="http://schemas.openxmlformats.org/officeDocument/2006/relationships/notesMaster" Target="/ppt/notesMasters/notesMaster1.xml" Id="Rcad9ab2db2ce4e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710fe8a7764bc0" /><Relationship Type="http://schemas.openxmlformats.org/officeDocument/2006/relationships/notesMaster" Target="/ppt/notesMasters/notesMaster1.xml" Id="Rb39eae06d9ed4d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21a5000cd042c8" /><Relationship Type="http://schemas.openxmlformats.org/officeDocument/2006/relationships/notesMaster" Target="/ppt/notesMasters/notesMaster1.xml" Id="Rfe656d54265e42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072893fb4341eb" /><Relationship Type="http://schemas.openxmlformats.org/officeDocument/2006/relationships/notesMaster" Target="/ppt/notesMasters/notesMaster1.xml" Id="R56000f4061a849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b4368d620f4b4e" /><Relationship Type="http://schemas.openxmlformats.org/officeDocument/2006/relationships/notesMaster" Target="/ppt/notesMasters/notesMaster1.xml" Id="R92603fc9dd9b47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7c2575add74353" /><Relationship Type="http://schemas.openxmlformats.org/officeDocument/2006/relationships/notesMaster" Target="/ppt/notesMasters/notesMaster1.xml" Id="Rfcdd9a042d0e4b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40575ad3d74125" /><Relationship Type="http://schemas.openxmlformats.org/officeDocument/2006/relationships/notesMaster" Target="/ppt/notesMasters/notesMaster1.xml" Id="R0f4b8c08491f472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1874a2b6a344d5" /><Relationship Type="http://schemas.openxmlformats.org/officeDocument/2006/relationships/notesMaster" Target="/ppt/notesMasters/notesMaster1.xml" Id="R584e17e298eb40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522e67d4a1420e" /><Relationship Type="http://schemas.openxmlformats.org/officeDocument/2006/relationships/notesMaster" Target="/ppt/notesMasters/notesMaster1.xml" Id="R96d2f0c180684f8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3f9e263eff41a6" /><Relationship Type="http://schemas.openxmlformats.org/officeDocument/2006/relationships/notesMaster" Target="/ppt/notesMasters/notesMaster1.xml" Id="Rcc7eca28270845e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ee51d0bc59b4c6d" /><Relationship Type="http://schemas.openxmlformats.org/officeDocument/2006/relationships/notesMaster" Target="/ppt/notesMasters/notesMaster1.xml" Id="R1f493b1ee9c84b4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567f4946ec34044" /><Relationship Type="http://schemas.openxmlformats.org/officeDocument/2006/relationships/notesMaster" Target="/ppt/notesMasters/notesMaster1.xml" Id="R021855317d6d474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20cf94660534b88" /><Relationship Type="http://schemas.openxmlformats.org/officeDocument/2006/relationships/notesMaster" Target="/ppt/notesMasters/notesMaster1.xml" Id="Rb08f9216249f41c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813ee285446449c" /><Relationship Type="http://schemas.openxmlformats.org/officeDocument/2006/relationships/notesMaster" Target="/ppt/notesMasters/notesMaster1.xml" Id="R5d928f14c43149d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9e6a7c301cf4668" /><Relationship Type="http://schemas.openxmlformats.org/officeDocument/2006/relationships/notesMaster" Target="/ppt/notesMasters/notesMaster1.xml" Id="R3450a4333f6849f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0d84605c40644c6" /><Relationship Type="http://schemas.openxmlformats.org/officeDocument/2006/relationships/notesMaster" Target="/ppt/notesMasters/notesMaster1.xml" Id="Rb55a8a3f91eb436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0646ea841b74d54" /><Relationship Type="http://schemas.openxmlformats.org/officeDocument/2006/relationships/notesMaster" Target="/ppt/notesMasters/notesMaster1.xml" Id="Rd25c03531e4e4be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b2bf3c61a54473b" /><Relationship Type="http://schemas.openxmlformats.org/officeDocument/2006/relationships/notesMaster" Target="/ppt/notesMasters/notesMaster1.xml" Id="Rc4c4bc72851245b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0d41bfda275424e" /><Relationship Type="http://schemas.openxmlformats.org/officeDocument/2006/relationships/notesMaster" Target="/ppt/notesMasters/notesMaster1.xml" Id="R6a9945db04ec44d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632843d61cb443a" /><Relationship Type="http://schemas.openxmlformats.org/officeDocument/2006/relationships/notesMaster" Target="/ppt/notesMasters/notesMaster1.xml" Id="Rcc5d1b91ea42426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f73c845b53e440e" /><Relationship Type="http://schemas.openxmlformats.org/officeDocument/2006/relationships/notesMaster" Target="/ppt/notesMasters/notesMaster1.xml" Id="R6ca2ad9036f643f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8ed2396e1634d1f" /><Relationship Type="http://schemas.openxmlformats.org/officeDocument/2006/relationships/notesMaster" Target="/ppt/notesMasters/notesMaster1.xml" Id="R21da53886bc44af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c0c8f6e297b42d4" /><Relationship Type="http://schemas.openxmlformats.org/officeDocument/2006/relationships/notesMaster" Target="/ppt/notesMasters/notesMaster1.xml" Id="R72438173f467400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e3a6a68def440e5" /><Relationship Type="http://schemas.openxmlformats.org/officeDocument/2006/relationships/notesMaster" Target="/ppt/notesMasters/notesMaster1.xml" Id="R73bc6f9de7e7479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88a8db27565447b" /><Relationship Type="http://schemas.openxmlformats.org/officeDocument/2006/relationships/notesMaster" Target="/ppt/notesMasters/notesMaster1.xml" Id="R13fff8a4f92c4f8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83be167719e4c09" /><Relationship Type="http://schemas.openxmlformats.org/officeDocument/2006/relationships/notesMaster" Target="/ppt/notesMasters/notesMaster1.xml" Id="R3a5ccc6e2b14481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c17cf68228f4a15" /><Relationship Type="http://schemas.openxmlformats.org/officeDocument/2006/relationships/notesMaster" Target="/ppt/notesMasters/notesMaster1.xml" Id="R2a9db2a6ccc143f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20ba73795ce4450" /><Relationship Type="http://schemas.openxmlformats.org/officeDocument/2006/relationships/notesMaster" Target="/ppt/notesMasters/notesMaster1.xml" Id="R446eada98fb64ee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88da456d1ff4d81" /><Relationship Type="http://schemas.openxmlformats.org/officeDocument/2006/relationships/notesMaster" Target="/ppt/notesMasters/notesMaster1.xml" Id="Rf5af62f070524c1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c026d8019124833" /><Relationship Type="http://schemas.openxmlformats.org/officeDocument/2006/relationships/notesMaster" Target="/ppt/notesMasters/notesMaster1.xml" Id="Rc9b414b66fb54a2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d33aa62ddf04403" /><Relationship Type="http://schemas.openxmlformats.org/officeDocument/2006/relationships/notesMaster" Target="/ppt/notesMasters/notesMaster1.xml" Id="Rd5bffff68959489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7b686f153a5456f" /><Relationship Type="http://schemas.openxmlformats.org/officeDocument/2006/relationships/notesMaster" Target="/ppt/notesMasters/notesMaster1.xml" Id="R7e95fcd8c17741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開場先說明：今天的重點不是把所有按鈕看過一遍，而是每位參與者都完成可帶回課堂的成果。邀請大家先選定一門課程，以及一個真實的教學／研究痛點與問題。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提醒：本簡報已全面採用現行名稱「Gemini Notebook」。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用一張圖建立全日心智模型。上午先完成 AI 教學與研究工作室，下午再把同一作品或資料分析任務交給 Agent 擴充、驗證與交付。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簡要說明時間節奏。實作時採 6 位教授三組雙人共作；若某帳號沒有 Gemini 權限，擔任測試者與教學觀察員仍可完整參與。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請參與者把這四項成果當作今日 checklist。每一段結束會回來勾選一次。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六位教授建議分三組。不要讓帳號差異變成旁觀：測試者的工作是檢查引用、指令邊界、手機畫面與實際教學價值。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痛點可能來自教學現場、研究資料、行政流程或共備工作。請每組先說出一個痛點，再把它寫成一句：『我希望哪一群學生、研究參與者或行政夥伴，在什麼情境下，完成什麼改變？』後續所有工具都服務這一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現場不要逐一介紹 123 個工具。請依參與者選定的教學／研究痛點，搜尋 1–2 個最接近的案例，分析它的使用者、輸入、輸出與互動方式，完成『痛點 → 案例 → 可驗證成果』的連線。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https://cagoooo.github.io/Akai/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三個案例分別對應語文創作、教學設計與互動網站。現場可由三組各選一張，先讀卡片介紹，再用測試者視角操作成品。本次資料依據 H:\Akai v3.6.109 稽核。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https://cagoooo.github.io/Akai/tool/91/</a:t>
            </a:r>
          </a:p>
          <a:p xmlns:a="http://schemas.openxmlformats.org/drawingml/2006/main">
            <a:r>
              <a:t>- https://cagoooo.github.io/PhotoPoet/</a:t>
            </a:r>
          </a:p>
          <a:p xmlns:a="http://schemas.openxmlformats.org/drawingml/2006/main">
            <a:r>
              <a:t>- https://cagoooo.github.io/Akai/tool/58/</a:t>
            </a:r>
          </a:p>
          <a:p xmlns:a="http://schemas.openxmlformats.org/drawingml/2006/main">
            <a:r>
              <a:t>- https://cagoooo.github.io/prepare/</a:t>
            </a:r>
          </a:p>
          <a:p xmlns:a="http://schemas.openxmlformats.org/drawingml/2006/main">
            <a:r>
              <a:t>- https://cagoooo.github.io/Akai/tool/11/</a:t>
            </a:r>
          </a:p>
          <a:p xmlns:a="http://schemas.openxmlformats.org/drawingml/2006/main">
            <a:r>
              <a:t>- https://cagoooo.github.io/Akailao/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三個案例分別用於形成性回饋、Google Sites 與 GitHub Pages 部署比較。提醒參與者同時觀察內容架構、權限、維護方式與手機操作。本次資料依據 H:\Akai v3.6.109 稽核。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https://cagoooo.github.io/Akai/tool/3/</a:t>
            </a:r>
          </a:p>
          <a:p xmlns:a="http://schemas.openxmlformats.org/drawingml/2006/main">
            <a:r>
              <a:t>- https://cagoooo.github.io/vote/</a:t>
            </a:r>
          </a:p>
          <a:p xmlns:a="http://schemas.openxmlformats.org/drawingml/2006/main">
            <a:r>
              <a:t>- https://cagoooo.github.io/Akai/tool/24/</a:t>
            </a:r>
          </a:p>
          <a:p xmlns:a="http://schemas.openxmlformats.org/drawingml/2006/main">
            <a:r>
              <a:t>- https://sites.google.com/mail2.smes.tyc.edu.tw/114teacher/</a:t>
            </a:r>
          </a:p>
          <a:p xmlns:a="http://schemas.openxmlformats.org/drawingml/2006/main">
            <a:r>
              <a:t>- https://cagoooo.github.io/Akai/tool/81/</a:t>
            </a:r>
          </a:p>
          <a:p xmlns:a="http://schemas.openxmlformats.org/drawingml/2006/main">
            <a:r>
              <a:t>- https://cagoooo.github.io/it-cockpit/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強調工具選擇不是競賽。Notebook 負責來源，Gem 負責穩定行為，Canvas 負責可操作介面，部署平台負責觸及使用者。這條產線同時適用於教學設計與研究整理。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章節轉場。請參與者準備三份與自己課程最相關的資料。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https://support.google.com/gemininotebook/answer/16164461?hl=zh-Hant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示範同一個問題在一般聊天與來源型筆記本的差異。重點不是『一定正確』，而是『更容易追查與修正』。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https://support.google.com/gemininotebook/answer/16164461?hl=zh-Hant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要求每組先用少量高品質來源建立第一版。來源太多會讓提問與檢核難度提高，熟悉後再擴增。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現場示範以教學駕駛艙 GitHub repo 與公開網站為入口：先閱讀 README 與一個單元頁，再把可公開的內容加入 Gemini Notebook。示範一題能回到引用的問題，再示範一題資料不足的問題；最後把 Notebook 產出的摘要或提問稿放回駕駛艙的教學脈絡。提醒：不要上傳學生個資、未授權教材或私人研究資料。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https://github.com/cagoooo/it-cockpit</a:t>
            </a:r>
          </a:p>
          <a:p xmlns:a="http://schemas.openxmlformats.org/drawingml/2006/main">
            <a:r>
              <a:t>- https://cagoooo.github.io/it-cockpit/</a:t>
            </a:r>
          </a:p>
          <a:p xmlns:a="http://schemas.openxmlformats.org/drawingml/2006/main">
            <a:r>
              <a:t>- https://support.google.com/gemininotebook/answer/16206563?hl=zh-Hant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這一輪不追求把整座駕駛艙搬進筆記本，而是完成一個可追查的小案例。巡視時請確認來源權限、引用位置與輸出是否真的能被教師修改。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現場請每組依序跑三層提問，感受『問題層級』如何改變輸出。若回答無法回到來源，先修問題，不急著追求華麗文字。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請參與者只選一個駕駛艙成品完成，不要同時生成全部。強調 Notebook 是來源與推理的工作區，駕駛艙則是給教師或學生使用的整理與操作入口；完成後用『內容依據、使用者可用、教師可改』三項快速評估。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https://github.com/cagoooo/it-cockpit</a:t>
            </a:r>
          </a:p>
          <a:p xmlns:a="http://schemas.openxmlformats.org/drawingml/2006/main">
            <a:r>
              <a:t>- https://cagoooo.github.io/it-cockpit/</a:t>
            </a:r>
          </a:p>
          <a:p xmlns:a="http://schemas.openxmlformats.org/drawingml/2006/main">
            <a:r>
              <a:t>- https://support.google.com/gemininotebook/answer/16164461?hl=zh-Hant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讓每組口頭報告一個『回答得好』與一個『來源不足』的例子。這一步建立查證習慣。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轉場：Notebook 管來源，Gem 管行為。兩者可以搭配，但不要混為同一功能。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https://support.google.com/gemini/answer/15235603?hl=zh-Hant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用同一份學生作業或教案，分別在一般對話與 Gem 中測試。比較輸出的穩定度與是否遵守格式。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https://support.google.com/gemini/answer/15235603?hl=zh-Hant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這一頁的現場操作會直接打開講師帳號中既有的 Gem，讓大家看『真實產物如何拆解』。公開版本只示範結構與方法，不顯示私人 Gem 名稱、檔案或對話內容；若參與者帳號看不到相同 Gem，就用下一頁的通用範本重建。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https://support.google.com/gemini/answer/15235603?hl=zh-Hant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示範先在帳號中複製一個既有 Gem 的有效做法，再把它改成研習用的『教學與研究設計教練』。右側範本刻意保留簡短、可讀、可測試；實際儲存前請確認背景檔案與分享權限。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https://support.google.com/gemini/answer/15235603?hl=zh-Hant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巡視時請先確認參與者真的在改造一個既有資產，而不是另開一個完全不同的 Gem。測試案例至少包含：未提供學生程度、要求捏造引用、要求直接替學生完成作業。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如果四項只符合一項，先保留成提示詞，不急著做 Gem。可重複與可維護，才是專屬助理的價值。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轉場：現在把前面整理好的內容與教學方法，變成學生能操作的作品。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https://support.google.com/gemini/answer/16047321?hl=en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以『會議記錄自動產出平台（Pro 版）』作為需求參考，不把真實會議逐字稿直接貼入公開示範。先在 Canvas 生成最小可用的會議紀錄介面，再把公開網址嵌入 Google Sites；若來源網站禁止 iframe，就改用『在新分頁開啟』的備援按鈕。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https://cagoooo.github.io/Akai/tool/84/</a:t>
            </a:r>
          </a:p>
          <a:p xmlns:a="http://schemas.openxmlformats.org/drawingml/2006/main">
            <a:r>
              <a:t>- https://cagoooo.github.io/domain-meeting-go/</a:t>
            </a:r>
          </a:p>
          <a:p xmlns:a="http://schemas.openxmlformats.org/drawingml/2006/main">
            <a:r>
              <a:t>- https://support.google.com/gemini/answer/16047321?hl=en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先展示 #84 會議記錄自動產出平台的需求與操作脈絡，再請 Canvas 生成一個不含真實個資的最小原型。示範完成後複製分享網址，實際放進 Google Sites 頁面預覽；若嵌入被阻擋，保留同一網址的外開備援。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https://cagoooo.github.io/Akai/tool/84/</a:t>
            </a:r>
          </a:p>
          <a:p xmlns:a="http://schemas.openxmlformats.org/drawingml/2006/main">
            <a:r>
              <a:t>- https://cagoooo.github.io/domain-meeting-go/</a:t>
            </a:r>
          </a:p>
          <a:p xmlns:a="http://schemas.openxmlformats.org/drawingml/2006/main">
            <a:r>
              <a:t>- https://support.google.com/gemini/answer/16047321?hl=en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這個練習把上午三個重點串起來：Gemini Notebook 可整理會議來源，既有 Gem 可固定摘要格式，Canvas 產出可操作介面，Google Sites 負責組織與分享。嵌入前一定要用合成資料或已授權內容驗證。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安排同儕交換裝置測試。任何含真實學生或研究資料的作品，今天只做本機或私人分享版本。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 Google Sites 完成 Canvas 會議紀錄系統的嵌入與分享；若作品需要版本化、程式碼維護或跨專案重用，再選 GitHub Pages。EZPage 是降低第一次部署門檻的第三方入口，不是 GitHub 官方工具。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https://support.google.com/sites/answer/6372878?hl=zh-Hant</a:t>
            </a:r>
          </a:p>
          <a:p xmlns:a="http://schemas.openxmlformats.org/drawingml/2006/main">
            <a:r>
              <a:t>- https://docs.github.com/en/pages/quickstart</a:t>
            </a:r>
          </a:p>
          <a:p xmlns:a="http://schemas.openxmlformats.org/drawingml/2006/main">
            <a:r>
              <a:t>- https://gg90052.github.io/ezpage/</a:t>
            </a:r>
          </a:p>
          <a:p xmlns:a="http://schemas.openxmlformats.org/drawingml/2006/main">
            <a:r>
              <a:t>- https://cagoooo.github.io/domain-meeting-go/</a:t>
            </a:r>
          </a:p>
          <a:p xmlns:a="http://schemas.openxmlformats.org/drawingml/2006/main">
            <a:r>
              <a:t>- https://sites.google.com/mail2.smes.tyc.edu.tw/114teacher/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Google Sites 的現場流程是準備分享網址、插入嵌入、調整版面、預覽並發布。請用 #84 會議紀錄平台的需求作為畫面參考；若 Canvas 網址回應拒絕嵌入，直接提供清楚的『在新分頁開啟』按鈕，不要為了嵌入而放寬資料權限。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https://support.google.com/sites/answer/6372878?hl=zh-Hant</a:t>
            </a:r>
          </a:p>
          <a:p xmlns:a="http://schemas.openxmlformats.org/drawingml/2006/main">
            <a:r>
              <a:t>- https://cagoooo.github.io/domain-meeting-go/</a:t>
            </a:r>
          </a:p>
          <a:p xmlns:a="http://schemas.openxmlformats.org/drawingml/2006/main">
            <a:r>
              <a:t>- https://sites.google.com/mail2.smes.tyc.edu.tw/114teacher/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示範最簡單的 Deploy from a branch。提醒發布可能需要數分鐘；完成不是看到綠勾，而是實際打開公開網址走完主要流程。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https://docs.github.com/en/pages/quickstart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EZPage 是第三方圖形化入口，不是 GitHub 官方工具。先確認 ZIP 根目錄有 index.html；不要上傳學生個資、研究原始資料或未授權素材。登入授權前檢查權限範圍與儲存庫可見性；部署後仍要打開公開網址驗證。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https://gg90052.github.io/ezpage/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每組 90 秒：30 秒說明資料與使用者，45 秒操作作品，15 秒說明下一步。示範資料請使用合成或已授權內容；技術評論與 Agent 升級留到午後。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請參與者先把資源頁加入書籤，再用手機拍下最後一句。若現場時間不足，部署與 Skill 擴寫可依此清單回家續作。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../START_HERE_研習資源導航.html</a:t>
            </a:r>
          </a:p>
          <a:p xmlns:a="http://schemas.openxmlformats.org/drawingml/2006/main">
            <a:r>
              <a:t>- https://notebook.google.com/</a:t>
            </a:r>
          </a:p>
          <a:p xmlns:a="http://schemas.openxmlformats.org/drawingml/2006/main">
            <a:r>
              <a:t>- https://gemini.google.com/gems/create</a:t>
            </a:r>
          </a:p>
          <a:p xmlns:a="http://schemas.openxmlformats.org/drawingml/2006/main">
            <a:r>
              <a:t>- https://gemini.google.com/app</a:t>
            </a:r>
          </a:p>
          <a:p xmlns:a="http://schemas.openxmlformats.org/drawingml/2006/main">
            <a:r>
              <a:t>- https://github.com/cagoooo/it-cockpit</a:t>
            </a:r>
          </a:p>
          <a:p xmlns:a="http://schemas.openxmlformats.org/drawingml/2006/main">
            <a:r>
              <a:t>- https://cagoooo.github.io/it-cockpit/</a:t>
            </a:r>
          </a:p>
          <a:p xmlns:a="http://schemas.openxmlformats.org/drawingml/2006/main">
            <a:r>
              <a:t>- https://cagoooo.github.io/domain-meeting-go/</a:t>
            </a:r>
          </a:p>
          <a:p xmlns:a="http://schemas.openxmlformats.org/drawingml/2006/main">
            <a:r>
              <a:t>- https://sites.google.com/new</a:t>
            </a:r>
          </a:p>
          <a:p xmlns:a="http://schemas.openxmlformats.org/drawingml/2006/main">
            <a:r>
              <a:t>- https://pages.github.com/</a:t>
            </a:r>
          </a:p>
          <a:p xmlns:a="http://schemas.openxmlformats.org/drawingml/2006/main">
            <a:r>
              <a:t>- https://gg90052.github.io/ezpage/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a941756654f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05e8d2d8d249a3" /><Relationship Type="http://schemas.openxmlformats.org/officeDocument/2006/relationships/slideLayout" Target="/ppt/slideLayouts/slideLayout1.xml" Id="R92ea1d9679154e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ea1d9679154e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NCU Morning">
      <a:dk1>
        <a:srgbClr val="000000"/>
      </a:dk1>
      <a:lt1>
        <a:srgbClr val="FFFFFF"/>
      </a:lt1>
      <a:dk2>
        <a:srgbClr val="15191F"/>
      </a:dk2>
      <a:lt2>
        <a:srgbClr val="EAF3FF"/>
      </a:lt2>
      <a:accent1>
        <a:srgbClr val="256FE8"/>
      </a:accent1>
      <a:accent2>
        <a:srgbClr val="FF7866"/>
      </a:accent2>
      <a:accent3>
        <a:srgbClr val="22AFA4"/>
      </a:accent3>
      <a:accent4>
        <a:srgbClr val="8B5CF6"/>
      </a:accent4>
      <a:accent5>
        <a:srgbClr val="F4B942"/>
      </a:accent5>
      <a:accent6>
        <a:srgbClr val="36A269"/>
      </a:accent6>
      <a:hlink>
        <a:srgbClr val="256FE8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CU Morn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9bf84c54f4bc2" /><Relationship Type="http://schemas.openxmlformats.org/officeDocument/2006/relationships/image" Target="/ppt/media/image.png" Id="Rc577fc4bed134e98" /><Relationship Type="http://schemas.openxmlformats.org/officeDocument/2006/relationships/notesSlide" Target="/ppt/notesSlides/notesSlide1.xml" Id="R9fc7740151f642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1a5b3c5ee44a1" /><Relationship Type="http://schemas.openxmlformats.org/officeDocument/2006/relationships/notesSlide" Target="/ppt/notesSlides/notesSlide2.xml" Id="R919a908cb61c41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269900d494fe3" /><Relationship Type="http://schemas.openxmlformats.org/officeDocument/2006/relationships/notesSlide" Target="/ppt/notesSlides/notesSlide3.xml" Id="Raeaa35aa91274b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a94cbed884e5d" /><Relationship Type="http://schemas.openxmlformats.org/officeDocument/2006/relationships/notesSlide" Target="/ppt/notesSlides/notesSlide4.xml" Id="R55195170c30e49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a44cab640427f" /><Relationship Type="http://schemas.openxmlformats.org/officeDocument/2006/relationships/notesSlide" Target="/ppt/notesSlides/notesSlide5.xml" Id="R1b9fc5811a264c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4fb43f8534a1e" /><Relationship Type="http://schemas.openxmlformats.org/officeDocument/2006/relationships/notesSlide" Target="/ppt/notesSlides/notesSlide6.xml" Id="Rcc22fd8e90be40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f235d18ea4458" /><Relationship Type="http://schemas.openxmlformats.org/officeDocument/2006/relationships/image" Target="/ppt/media/image2.png" Id="R5556392b82884980" /><Relationship Type="http://schemas.openxmlformats.org/officeDocument/2006/relationships/hyperlink" Target="https://cagoooo.github.io/Akai/" TargetMode="External" Id="Rdaacba74c2f84487" /><Relationship Type="http://schemas.openxmlformats.org/officeDocument/2006/relationships/image" Target="/ppt/media/image3.png" Id="R453dbf85f61746f3" /><Relationship Type="http://schemas.openxmlformats.org/officeDocument/2006/relationships/notesSlide" Target="/ppt/notesSlides/notesSlide7.xml" Id="R9dc5fcdc52824a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11f6831f0447a" /><Relationship Type="http://schemas.openxmlformats.org/officeDocument/2006/relationships/hyperlink" Target="https://cagoooo.github.io/Akai/tool/91/" TargetMode="External" Id="R058ef8e36adb43dd" /><Relationship Type="http://schemas.openxmlformats.org/officeDocument/2006/relationships/image" Target="/ppt/media/image4.png" Id="R1d5bc86d3d0d49b3" /><Relationship Type="http://schemas.openxmlformats.org/officeDocument/2006/relationships/hyperlink" Target="https://cagoooo.github.io/PhotoPoet/" TargetMode="External" Id="R4ba2ec87da4d41fb" /><Relationship Type="http://schemas.openxmlformats.org/officeDocument/2006/relationships/image" Target="/ppt/media/image5.png" Id="R4735624f05914caa" /><Relationship Type="http://schemas.openxmlformats.org/officeDocument/2006/relationships/hyperlink" Target="https://cagoooo.github.io/Akai/tool/58/" TargetMode="External" Id="R9f6ee4a064b94c03" /><Relationship Type="http://schemas.openxmlformats.org/officeDocument/2006/relationships/image" Target="/ppt/media/image6.png" Id="R15cb3df263d54ea5" /><Relationship Type="http://schemas.openxmlformats.org/officeDocument/2006/relationships/hyperlink" Target="https://cagoooo.github.io/prepare/" TargetMode="External" Id="Rf2c0ca9fbea5486d" /><Relationship Type="http://schemas.openxmlformats.org/officeDocument/2006/relationships/image" Target="/ppt/media/image7.png" Id="Rf00eadc4ec524cf4" /><Relationship Type="http://schemas.openxmlformats.org/officeDocument/2006/relationships/hyperlink" Target="https://cagoooo.github.io/Akai/tool/11/" TargetMode="External" Id="R349804ac83ac42f1" /><Relationship Type="http://schemas.openxmlformats.org/officeDocument/2006/relationships/image" Target="/ppt/media/image8.png" Id="R13ffce0100c24965" /><Relationship Type="http://schemas.openxmlformats.org/officeDocument/2006/relationships/hyperlink" Target="https://cagoooo.github.io/Akailao/" TargetMode="External" Id="R25a60fe2cf1f4332" /><Relationship Type="http://schemas.openxmlformats.org/officeDocument/2006/relationships/image" Target="/ppt/media/image9.png" Id="R5a8c57fb66e0487f" /><Relationship Type="http://schemas.openxmlformats.org/officeDocument/2006/relationships/notesSlide" Target="/ppt/notesSlides/notesSlide8.xml" Id="Ra0585f90fc904a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9029136ff4c82" /><Relationship Type="http://schemas.openxmlformats.org/officeDocument/2006/relationships/hyperlink" Target="https://cagoooo.github.io/Akai/tool/3/" TargetMode="External" Id="Rf5cb8adf452b42c5" /><Relationship Type="http://schemas.openxmlformats.org/officeDocument/2006/relationships/image" Target="/ppt/media/image10.png" Id="R931622bbd6e44ab9" /><Relationship Type="http://schemas.openxmlformats.org/officeDocument/2006/relationships/hyperlink" Target="https://cagoooo.github.io/vote/" TargetMode="External" Id="R901e3c038acd41c7" /><Relationship Type="http://schemas.openxmlformats.org/officeDocument/2006/relationships/image" Target="/ppt/media/image11.png" Id="R3c68a513f41e45e7" /><Relationship Type="http://schemas.openxmlformats.org/officeDocument/2006/relationships/hyperlink" Target="https://cagoooo.github.io/Akai/tool/24/" TargetMode="External" Id="Rbae3a1e23c8e4791" /><Relationship Type="http://schemas.openxmlformats.org/officeDocument/2006/relationships/image" Target="/ppt/media/image12.png" Id="Rfa1b46f786134f94" /><Relationship Type="http://schemas.openxmlformats.org/officeDocument/2006/relationships/hyperlink" Target="https://sites.google.com/mail2.smes.tyc.edu.tw/114teacher/" TargetMode="External" Id="R2821442ffc034605" /><Relationship Type="http://schemas.openxmlformats.org/officeDocument/2006/relationships/image" Target="/ppt/media/image13.png" Id="R7cee3cb18524452b" /><Relationship Type="http://schemas.openxmlformats.org/officeDocument/2006/relationships/hyperlink" Target="https://cagoooo.github.io/Akai/tool/81/" TargetMode="External" Id="R189c087771244654" /><Relationship Type="http://schemas.openxmlformats.org/officeDocument/2006/relationships/image" Target="/ppt/media/image14.png" Id="R1d8f30e48f2c40ac" /><Relationship Type="http://schemas.openxmlformats.org/officeDocument/2006/relationships/hyperlink" Target="https://cagoooo.github.io/it-cockpit/" TargetMode="External" Id="Ra4a1b6c792cf4653" /><Relationship Type="http://schemas.openxmlformats.org/officeDocument/2006/relationships/image" Target="/ppt/media/image15.png" Id="Red5122d67cfc4c28" /><Relationship Type="http://schemas.openxmlformats.org/officeDocument/2006/relationships/notesSlide" Target="/ppt/notesSlides/notesSlide9.xml" Id="Rbee2cc4d2d4b40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a546ce0974378" /><Relationship Type="http://schemas.openxmlformats.org/officeDocument/2006/relationships/notesSlide" Target="/ppt/notesSlides/notesSlide10.xml" Id="R604eb910879840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2537911d544c3" /><Relationship Type="http://schemas.openxmlformats.org/officeDocument/2006/relationships/hyperlink" Target="https://notebook.google.com/" TargetMode="External" Id="R54572c2d3d7c4658" /><Relationship Type="http://schemas.openxmlformats.org/officeDocument/2006/relationships/image" Target="/ppt/media/image16.png" Id="Rc9cc9bc2d4d64841" /><Relationship Type="http://schemas.openxmlformats.org/officeDocument/2006/relationships/notesSlide" Target="/ppt/notesSlides/notesSlide11.xml" Id="R01d375388d9e413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0ad08e9bf4858" /><Relationship Type="http://schemas.openxmlformats.org/officeDocument/2006/relationships/hyperlink" Target="https://notebook.google.com/" TargetMode="External" Id="R6fe6858bf1634cc3" /><Relationship Type="http://schemas.openxmlformats.org/officeDocument/2006/relationships/image" Target="/ppt/media/image17.png" Id="Rc6bb9859194844e9" /><Relationship Type="http://schemas.openxmlformats.org/officeDocument/2006/relationships/notesSlide" Target="/ppt/notesSlides/notesSlide12.xml" Id="Re0e233f2187f43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317f948d44b64" /><Relationship Type="http://schemas.openxmlformats.org/officeDocument/2006/relationships/hyperlink" Target="https://notebook.google.com/" TargetMode="External" Id="Rcc410a146e6e4922" /><Relationship Type="http://schemas.openxmlformats.org/officeDocument/2006/relationships/image" Target="/ppt/media/image18.png" Id="R5ebb701cdd34441c" /><Relationship Type="http://schemas.openxmlformats.org/officeDocument/2006/relationships/notesSlide" Target="/ppt/notesSlides/notesSlide13.xml" Id="Rd557ea648ee341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b5d1718414d5d" /><Relationship Type="http://schemas.openxmlformats.org/officeDocument/2006/relationships/hyperlink" Target="https://notebook.google.com/" TargetMode="External" Id="Rd264a8eda0a140cf" /><Relationship Type="http://schemas.openxmlformats.org/officeDocument/2006/relationships/hyperlink" Target="https://github.com/cagoooo/it-cockpit" TargetMode="External" Id="Rf1d0e493e28d46f0" /><Relationship Type="http://schemas.openxmlformats.org/officeDocument/2006/relationships/hyperlink" Target="https://cagoooo.github.io/it-cockpit/" TargetMode="External" Id="R39d3bc8745bf42c9" /><Relationship Type="http://schemas.openxmlformats.org/officeDocument/2006/relationships/image" Target="/ppt/media/image19.png" Id="Raa9da0ed352e4301" /><Relationship Type="http://schemas.openxmlformats.org/officeDocument/2006/relationships/image" Target="/ppt/media/image20.png" Id="R3240345ab4464ab7" /><Relationship Type="http://schemas.openxmlformats.org/officeDocument/2006/relationships/image" Target="/ppt/media/image21.png" Id="R4cfac0673cd1481f" /><Relationship Type="http://schemas.openxmlformats.org/officeDocument/2006/relationships/notesSlide" Target="/ppt/notesSlides/notesSlide14.xml" Id="Raea33aa5f900455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9b3ab8e684f49" /><Relationship Type="http://schemas.openxmlformats.org/officeDocument/2006/relationships/hyperlink" Target="https://notebook.google.com/" TargetMode="External" Id="Rc016480fcad44747" /><Relationship Type="http://schemas.openxmlformats.org/officeDocument/2006/relationships/hyperlink" Target="https://cagoooo.github.io/it-cockpit/" TargetMode="External" Id="R89c5b4a87efc41d8" /><Relationship Type="http://schemas.openxmlformats.org/officeDocument/2006/relationships/image" Target="/ppt/media/image22.png" Id="Rdec99e88556b486d" /><Relationship Type="http://schemas.openxmlformats.org/officeDocument/2006/relationships/image" Target="/ppt/media/image23.png" Id="R6eb42d08a3444fb5" /><Relationship Type="http://schemas.openxmlformats.org/officeDocument/2006/relationships/notesSlide" Target="/ppt/notesSlides/notesSlide15.xml" Id="R22ef626ebd0d4f5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235dd0d7e459a" /><Relationship Type="http://schemas.openxmlformats.org/officeDocument/2006/relationships/hyperlink" Target="https://notebook.google.com/" TargetMode="External" Id="R4f9ca48fac994ace" /><Relationship Type="http://schemas.openxmlformats.org/officeDocument/2006/relationships/image" Target="/ppt/media/image24.png" Id="Rad1d193d8dd54bc8" /><Relationship Type="http://schemas.openxmlformats.org/officeDocument/2006/relationships/notesSlide" Target="/ppt/notesSlides/notesSlide16.xml" Id="Rd13bbfdf560042e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eea0605c94e5c" /><Relationship Type="http://schemas.openxmlformats.org/officeDocument/2006/relationships/hyperlink" Target="https://notebook.google.com/" TargetMode="External" Id="R10b7e76087b64399" /><Relationship Type="http://schemas.openxmlformats.org/officeDocument/2006/relationships/image" Target="/ppt/media/image25.png" Id="R4fe1d0e6e52e4cbf" /><Relationship Type="http://schemas.openxmlformats.org/officeDocument/2006/relationships/notesSlide" Target="/ppt/notesSlides/notesSlide17.xml" Id="R0126298bb031455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5240439714f78" /><Relationship Type="http://schemas.openxmlformats.org/officeDocument/2006/relationships/hyperlink" Target="https://notebook.google.com/" TargetMode="External" Id="R40badd60871f41d0" /><Relationship Type="http://schemas.openxmlformats.org/officeDocument/2006/relationships/image" Target="/ppt/media/image26.png" Id="Rf1f9561e62094046" /><Relationship Type="http://schemas.openxmlformats.org/officeDocument/2006/relationships/notesSlide" Target="/ppt/notesSlides/notesSlide18.xml" Id="Rcdb7cc4389f643b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7dd1492094e90" /><Relationship Type="http://schemas.openxmlformats.org/officeDocument/2006/relationships/hyperlink" Target="https://gemini.google.com/gems/create" TargetMode="External" Id="R7a9f95fabb7d432a" /><Relationship Type="http://schemas.openxmlformats.org/officeDocument/2006/relationships/image" Target="/ppt/media/image27.png" Id="R0b752bfbfbdb4d79" /><Relationship Type="http://schemas.openxmlformats.org/officeDocument/2006/relationships/notesSlide" Target="/ppt/notesSlides/notesSlide19.xml" Id="R54723e0c5ff4427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2c51f19c34f2c" /><Relationship Type="http://schemas.openxmlformats.org/officeDocument/2006/relationships/hyperlink" Target="https://gemini.google.com/gems/create" TargetMode="External" Id="Re614219f51d34a52" /><Relationship Type="http://schemas.openxmlformats.org/officeDocument/2006/relationships/image" Target="/ppt/media/image28.png" Id="Radd87680f78a4279" /><Relationship Type="http://schemas.openxmlformats.org/officeDocument/2006/relationships/notesSlide" Target="/ppt/notesSlides/notesSlide20.xml" Id="Rddcaef85972f493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2a82ef84d4a8b" /><Relationship Type="http://schemas.openxmlformats.org/officeDocument/2006/relationships/hyperlink" Target="https://gemini.google.com/gems/create" TargetMode="External" Id="Ra73c9eaee2b745a1" /><Relationship Type="http://schemas.openxmlformats.org/officeDocument/2006/relationships/image" Target="/ppt/media/image29.png" Id="R88496a6d95224a53" /><Relationship Type="http://schemas.openxmlformats.org/officeDocument/2006/relationships/notesSlide" Target="/ppt/notesSlides/notesSlide21.xml" Id="R5446131a21364dd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47fd49b8f4864" /><Relationship Type="http://schemas.openxmlformats.org/officeDocument/2006/relationships/hyperlink" Target="https://gemini.google.com/gems/create" TargetMode="External" Id="R01301950c9194b2e" /><Relationship Type="http://schemas.openxmlformats.org/officeDocument/2006/relationships/image" Target="/ppt/media/image30.png" Id="R8dd6b9317d0940fb" /><Relationship Type="http://schemas.openxmlformats.org/officeDocument/2006/relationships/notesSlide" Target="/ppt/notesSlides/notesSlide22.xml" Id="Re04b78034c7a444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e2e66ad014c6d" /><Relationship Type="http://schemas.openxmlformats.org/officeDocument/2006/relationships/hyperlink" Target="https://gemini.google.com/gems/create" TargetMode="External" Id="Reb456d6c848c4b63" /><Relationship Type="http://schemas.openxmlformats.org/officeDocument/2006/relationships/image" Target="/ppt/media/image31.png" Id="R80c8f9f9416d4883" /><Relationship Type="http://schemas.openxmlformats.org/officeDocument/2006/relationships/notesSlide" Target="/ppt/notesSlides/notesSlide23.xml" Id="R9d040a86699f4bc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15a32eab54b9a" /><Relationship Type="http://schemas.openxmlformats.org/officeDocument/2006/relationships/hyperlink" Target="https://gemini.google.com/gems/create" TargetMode="External" Id="R9de6534a08904ce5" /><Relationship Type="http://schemas.openxmlformats.org/officeDocument/2006/relationships/image" Target="/ppt/media/image32.png" Id="Rda760080352e4c4f" /><Relationship Type="http://schemas.openxmlformats.org/officeDocument/2006/relationships/notesSlide" Target="/ppt/notesSlides/notesSlide24.xml" Id="R5aaaa2cd360f416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8067061e644cb" /><Relationship Type="http://schemas.openxmlformats.org/officeDocument/2006/relationships/hyperlink" Target="https://gemini.google.com/app" TargetMode="External" Id="R7ac602eebfa14fe1" /><Relationship Type="http://schemas.openxmlformats.org/officeDocument/2006/relationships/image" Target="/ppt/media/image33.png" Id="Rb42a43251ef742db" /><Relationship Type="http://schemas.openxmlformats.org/officeDocument/2006/relationships/notesSlide" Target="/ppt/notesSlides/notesSlide25.xml" Id="R7e6737877584407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3190a2d974702" /><Relationship Type="http://schemas.openxmlformats.org/officeDocument/2006/relationships/hyperlink" Target="https://gemini.google.com/app" TargetMode="External" Id="R357a1cd7d4eb4d3f" /><Relationship Type="http://schemas.openxmlformats.org/officeDocument/2006/relationships/image" Target="/ppt/media/image34.png" Id="Rb32ff6cde1fa4f49" /><Relationship Type="http://schemas.openxmlformats.org/officeDocument/2006/relationships/notesSlide" Target="/ppt/notesSlides/notesSlide26.xml" Id="R438a56d16b7b4dc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8cbe4bdc947fa" /><Relationship Type="http://schemas.openxmlformats.org/officeDocument/2006/relationships/hyperlink" Target="https://gemini.google.com/app" TargetMode="External" Id="Rff74dbb31e654328" /><Relationship Type="http://schemas.openxmlformats.org/officeDocument/2006/relationships/hyperlink" Target="https://cagoooo.github.io/domain-meeting-go/" TargetMode="External" Id="R0b24a743a83148fa" /><Relationship Type="http://schemas.openxmlformats.org/officeDocument/2006/relationships/image" Target="/ppt/media/image35.png" Id="R9f16eedcd7cf4ea6" /><Relationship Type="http://schemas.openxmlformats.org/officeDocument/2006/relationships/image" Target="/ppt/media/image36.png" Id="Rb0d6a1cd98a2449d" /><Relationship Type="http://schemas.openxmlformats.org/officeDocument/2006/relationships/notesSlide" Target="/ppt/notesSlides/notesSlide27.xml" Id="R6d0f34c74b0340d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be0f7d3714604" /><Relationship Type="http://schemas.openxmlformats.org/officeDocument/2006/relationships/hyperlink" Target="https://gemini.google.com/app" TargetMode="External" Id="R011fd5d81d254487" /><Relationship Type="http://schemas.openxmlformats.org/officeDocument/2006/relationships/hyperlink" Target="https://cagoooo.github.io/domain-meeting-go/" TargetMode="External" Id="R62d6f95042754267" /><Relationship Type="http://schemas.openxmlformats.org/officeDocument/2006/relationships/hyperlink" Target="https://sites.google.com/mail2.smes.tyc.edu.tw/114teacher/" TargetMode="External" Id="R5b44561238634f3b" /><Relationship Type="http://schemas.openxmlformats.org/officeDocument/2006/relationships/image" Target="/ppt/media/image37.png" Id="Rb2c2f585a8554198" /><Relationship Type="http://schemas.openxmlformats.org/officeDocument/2006/relationships/image" Target="/ppt/media/image38.png" Id="R04cffe9aebc547b5" /><Relationship Type="http://schemas.openxmlformats.org/officeDocument/2006/relationships/image" Target="/ppt/media/image39.png" Id="R5736d185a6af417b" /><Relationship Type="http://schemas.openxmlformats.org/officeDocument/2006/relationships/notesSlide" Target="/ppt/notesSlides/notesSlide28.xml" Id="Rf05cfac577b949c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7ed9db1614dd4" /><Relationship Type="http://schemas.openxmlformats.org/officeDocument/2006/relationships/hyperlink" Target="https://sites.google.com/new" TargetMode="External" Id="Rbefa48f2ecb04622" /><Relationship Type="http://schemas.openxmlformats.org/officeDocument/2006/relationships/hyperlink" Target="https://cagoooo.github.io/domain-meeting-go/" TargetMode="External" Id="Ra4a1363b3f0a43d6" /><Relationship Type="http://schemas.openxmlformats.org/officeDocument/2006/relationships/image" Target="/ppt/media/image40.png" Id="R01f0a600c57048d9" /><Relationship Type="http://schemas.openxmlformats.org/officeDocument/2006/relationships/image" Target="/ppt/media/image41.png" Id="R61783fdfb5b24aad" /><Relationship Type="http://schemas.openxmlformats.org/officeDocument/2006/relationships/notesSlide" Target="/ppt/notesSlides/notesSlide29.xml" Id="Ra49c0847d54a4b3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6f434f5424be4" /><Relationship Type="http://schemas.openxmlformats.org/officeDocument/2006/relationships/hyperlink" Target="https://sites.google.com/new" TargetMode="External" Id="Rd2c278ac0d3d4ed7" /><Relationship Type="http://schemas.openxmlformats.org/officeDocument/2006/relationships/hyperlink" Target="https://pages.github.com/" TargetMode="External" Id="R595531c4f0764b0d" /><Relationship Type="http://schemas.openxmlformats.org/officeDocument/2006/relationships/hyperlink" Target="https://gg90052.github.io/ezpage/" TargetMode="External" Id="Rbee189ce229e49df" /><Relationship Type="http://schemas.openxmlformats.org/officeDocument/2006/relationships/image" Target="/ppt/media/image42.png" Id="Re3fffd7380e34aaa" /><Relationship Type="http://schemas.openxmlformats.org/officeDocument/2006/relationships/image" Target="/ppt/media/image43.png" Id="R8f450cc96f2e48b8" /><Relationship Type="http://schemas.openxmlformats.org/officeDocument/2006/relationships/image" Target="/ppt/media/image44.png" Id="R0dfff23fea19490d" /><Relationship Type="http://schemas.openxmlformats.org/officeDocument/2006/relationships/notesSlide" Target="/ppt/notesSlides/notesSlide30.xml" Id="R3e740efa55b349e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b23b030a547d7" /><Relationship Type="http://schemas.openxmlformats.org/officeDocument/2006/relationships/hyperlink" Target="https://sites.google.com/new" TargetMode="External" Id="R5fec29005e064a02" /><Relationship Type="http://schemas.openxmlformats.org/officeDocument/2006/relationships/hyperlink" Target="https://sites.google.com/mail2.smes.tyc.edu.tw/114teacher/" TargetMode="External" Id="Rbb999da6dbe14a2d" /><Relationship Type="http://schemas.openxmlformats.org/officeDocument/2006/relationships/image" Target="/ppt/media/image45.png" Id="R242fb9dfa9524246" /><Relationship Type="http://schemas.openxmlformats.org/officeDocument/2006/relationships/image" Target="/ppt/media/image46.png" Id="R84fb605095f64fa0" /><Relationship Type="http://schemas.openxmlformats.org/officeDocument/2006/relationships/notesSlide" Target="/ppt/notesSlides/notesSlide31.xml" Id="Rff7abdefeeb947f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42d7a6f384582" /><Relationship Type="http://schemas.openxmlformats.org/officeDocument/2006/relationships/hyperlink" Target="https://pages.github.com/" TargetMode="External" Id="Rfce66450be0d48b9" /><Relationship Type="http://schemas.openxmlformats.org/officeDocument/2006/relationships/image" Target="/ppt/media/image47.png" Id="Re4dd6169b7b64467" /><Relationship Type="http://schemas.openxmlformats.org/officeDocument/2006/relationships/notesSlide" Target="/ppt/notesSlides/notesSlide32.xml" Id="Rdd1982fda83b424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ae72d611e4052" /><Relationship Type="http://schemas.openxmlformats.org/officeDocument/2006/relationships/hyperlink" Target="https://gg90052.github.io/ezpage/" TargetMode="External" Id="R9a65cbe8bcc74ca3" /><Relationship Type="http://schemas.openxmlformats.org/officeDocument/2006/relationships/image" Target="/ppt/media/image48.png" Id="R0eaad292bc514e12" /><Relationship Type="http://schemas.openxmlformats.org/officeDocument/2006/relationships/notesSlide" Target="/ppt/notesSlides/notesSlide33.xml" Id="Rc9f158bd41844b3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d08810aec4ea5" /><Relationship Type="http://schemas.openxmlformats.org/officeDocument/2006/relationships/hyperlink" Target="https://notebook.google.com/" TargetMode="External" Id="R688ca31a22da4ad4" /><Relationship Type="http://schemas.openxmlformats.org/officeDocument/2006/relationships/hyperlink" Target="https://cagoooo.github.io/domain-meeting-go/" TargetMode="External" Id="R96f6595757cc4ef1" /><Relationship Type="http://schemas.openxmlformats.org/officeDocument/2006/relationships/hyperlink" Target="https://sites.google.com/mail2.smes.tyc.edu.tw/114teacher/" TargetMode="External" Id="Rf8e9fbe4dfc34e87" /><Relationship Type="http://schemas.openxmlformats.org/officeDocument/2006/relationships/image" Target="/ppt/media/image49.png" Id="R3408346515af45de" /><Relationship Type="http://schemas.openxmlformats.org/officeDocument/2006/relationships/image" Target="/ppt/media/image50.png" Id="R7965dda3a05a4ad2" /><Relationship Type="http://schemas.openxmlformats.org/officeDocument/2006/relationships/image" Target="/ppt/media/image51.png" Id="R48c293712e48402e" /><Relationship Type="http://schemas.openxmlformats.org/officeDocument/2006/relationships/notesSlide" Target="/ppt/notesSlides/notesSlide34.xml" Id="Rd9ff9fa937aa492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9f499b14b467e" /><Relationship Type="http://schemas.openxmlformats.org/officeDocument/2006/relationships/hyperlink" Target="../START_HERE_&#30740;&#32722;&#36039;&#28304;&#23566;&#33322;.html" TargetMode="External" Id="R0dc7b4e4fb68438c" /><Relationship Type="http://schemas.openxmlformats.org/officeDocument/2006/relationships/image" Target="/ppt/media/image52.png" Id="R6a93a04032344481" /><Relationship Type="http://schemas.openxmlformats.org/officeDocument/2006/relationships/hyperlink" Target="https://notebook.google.com/" TargetMode="External" Id="Rb1f70e3e1337429e" /><Relationship Type="http://schemas.openxmlformats.org/officeDocument/2006/relationships/image" Target="/ppt/media/image53.png" Id="R51ce7283d9df4291" /><Relationship Type="http://schemas.openxmlformats.org/officeDocument/2006/relationships/hyperlink" Target="https://gemini.google.com/gems/create" TargetMode="External" Id="Rf5a8f5b39a7d403f" /><Relationship Type="http://schemas.openxmlformats.org/officeDocument/2006/relationships/image" Target="/ppt/media/image54.png" Id="Rcdc52b266a334cd1" /><Relationship Type="http://schemas.openxmlformats.org/officeDocument/2006/relationships/hyperlink" Target="https://gemini.google.com/app" TargetMode="External" Id="R80e331ca8ce24b6e" /><Relationship Type="http://schemas.openxmlformats.org/officeDocument/2006/relationships/image" Target="/ppt/media/image55.png" Id="R5b014fb05f2b4baf" /><Relationship Type="http://schemas.openxmlformats.org/officeDocument/2006/relationships/hyperlink" Target="https://github.com/cagoooo/it-cockpit" TargetMode="External" Id="Rcb657ddce8524872" /><Relationship Type="http://schemas.openxmlformats.org/officeDocument/2006/relationships/image" Target="/ppt/media/image56.png" Id="Rf3853ea37bcc426d" /><Relationship Type="http://schemas.openxmlformats.org/officeDocument/2006/relationships/hyperlink" Target="https://cagoooo.github.io/it-cockpit/" TargetMode="External" Id="R6bd0c25eaddc47de" /><Relationship Type="http://schemas.openxmlformats.org/officeDocument/2006/relationships/image" Target="/ppt/media/image57.png" Id="Rb8f51607a99846b2" /><Relationship Type="http://schemas.openxmlformats.org/officeDocument/2006/relationships/hyperlink" Target="https://cagoooo.github.io/domain-meeting-go/" TargetMode="External" Id="R4fd52135fb6e4edc" /><Relationship Type="http://schemas.openxmlformats.org/officeDocument/2006/relationships/image" Target="/ppt/media/image58.png" Id="R51a52d9dfc4c4128" /><Relationship Type="http://schemas.openxmlformats.org/officeDocument/2006/relationships/hyperlink" Target="https://sites.google.com/new" TargetMode="External" Id="Rba966fcfbe6340c7" /><Relationship Type="http://schemas.openxmlformats.org/officeDocument/2006/relationships/image" Target="/ppt/media/image59.png" Id="Rf616ba650c054648" /><Relationship Type="http://schemas.openxmlformats.org/officeDocument/2006/relationships/hyperlink" Target="https://pages.github.com/" TargetMode="External" Id="Rc0c0432105e542ca" /><Relationship Type="http://schemas.openxmlformats.org/officeDocument/2006/relationships/image" Target="/ppt/media/image60.png" Id="Rb0834f40ab204eea" /><Relationship Type="http://schemas.openxmlformats.org/officeDocument/2006/relationships/hyperlink" Target="https://gg90052.github.io/ezpage/" TargetMode="External" Id="R94df66c6432f405d" /><Relationship Type="http://schemas.openxmlformats.org/officeDocument/2006/relationships/image" Target="/ppt/media/image61.png" Id="R348f512767714499" /><Relationship Type="http://schemas.openxmlformats.org/officeDocument/2006/relationships/notesSlide" Target="/ppt/notesSlides/notesSlide35.xml" Id="R32783779dccb42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77fc4bed134e9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hape-1">
            <a:extLst xmlns:a="http://schemas.openxmlformats.org/drawingml/2006/main">
              <a:ext uri="{FF2B5EF4-FFF2-40B4-BE49-F238E27FC236}">
                <a16:creationId xmlns:a16="http://schemas.microsoft.com/office/drawing/2014/main" id="{5375F1F2-6EC1-4560-B80E-2E03F663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310AC06-FFEA-4198-A9A8-228AF886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國立中央大學｜2026.08.26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66C1A2F-9E1D-46E4-B011-1C5AC84F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上午場｜09:00–12:00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24F3141-571E-4DD1-BF44-F49148EE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2959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打造專屬 AI 教學與研究工作室：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Gemini Notebook、Gem、Canvas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與網站部署實作</a:t>
            </a:r>
          </a:p>
        </p:txBody>
      </p:sp>
      <p:sp>
        <p:nvSpPr>
          <p:cNvPr id="6" name="shape-5">
            <a:extLst xmlns:a="http://schemas.openxmlformats.org/drawingml/2006/main">
              <a:ext uri="{FF2B5EF4-FFF2-40B4-BE49-F238E27FC236}">
                <a16:creationId xmlns:a16="http://schemas.microsoft.com/office/drawing/2014/main" id="{440A0646-C71A-49FE-8E96-8C70A211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723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801D463-8689-48A1-9BBC-469AE82C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5219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從 AI 教學與研究助理到 AI Agent：大學教師的生成式 AI 實作工作坊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3AD874E-EB80-4D38-AE12-4F8387B2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黃凱揚（阿凱老師）｜桃園市龍潭區石門國小資訊組長｜教學年資第 11 年</a:t>
            </a:r>
          </a:p>
        </p:txBody>
      </p:sp>
    </p:spTree>
    <p:extLst>
      <p:ext uri="{BB962C8B-B14F-4D97-AF65-F5344CB8AC3E}">
        <p14:creationId xmlns:p14="http://schemas.microsoft.com/office/powerpoint/2010/main" val="1894944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8">
            <a:extLst xmlns:a="http://schemas.openxmlformats.org/drawingml/2006/main">
              <a:ext uri="{FF2B5EF4-FFF2-40B4-BE49-F238E27FC236}">
                <a16:creationId xmlns:a16="http://schemas.microsoft.com/office/drawing/2014/main" id="{3EF008BC-F004-475D-B3D3-63D7B54E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FROM ASSISTANT TO AGENT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8ACD52-6086-494A-A23F-6C6AA7D8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今天的學習弧線</a:t>
            </a:r>
          </a:p>
        </p:txBody>
      </p:sp>
      <p:cxnSp>
        <p:nvCxnSpPr>
          <p:cNvPr id="32" name="shape-9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10">
            <a:extLst xmlns:a="http://schemas.openxmlformats.org/drawingml/2006/main">
              <a:ext uri="{FF2B5EF4-FFF2-40B4-BE49-F238E27FC236}">
                <a16:creationId xmlns:a16="http://schemas.microsoft.com/office/drawing/2014/main" id="{EFF4ABDF-90DB-4367-BC81-59277A0E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881C599-F227-424A-8624-F285ADDF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6" name="shape-11">
            <a:extLst xmlns:a="http://schemas.openxmlformats.org/drawingml/2006/main">
              <a:ext uri="{FF2B5EF4-FFF2-40B4-BE49-F238E27FC236}">
                <a16:creationId xmlns:a16="http://schemas.microsoft.com/office/drawing/2014/main" id="{5E0D7C76-A6DD-4124-8EFE-C527364B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shape-12">
            <a:extLst xmlns:a="http://schemas.openxmlformats.org/drawingml/2006/main">
              <a:ext uri="{FF2B5EF4-FFF2-40B4-BE49-F238E27FC236}">
                <a16:creationId xmlns:a16="http://schemas.microsoft.com/office/drawing/2014/main" id="{ECEA0EBD-3DCE-43C3-BFD7-FEE4932A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3">
            <a:extLst xmlns:a="http://schemas.openxmlformats.org/drawingml/2006/main">
              <a:ext uri="{FF2B5EF4-FFF2-40B4-BE49-F238E27FC236}">
                <a16:creationId xmlns:a16="http://schemas.microsoft.com/office/drawing/2014/main" id="{A49998D9-3E1A-4397-893A-1CF5F8CC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4">
            <a:extLst xmlns:a="http://schemas.openxmlformats.org/drawingml/2006/main">
              <a:ext uri="{FF2B5EF4-FFF2-40B4-BE49-F238E27FC236}">
                <a16:creationId xmlns:a16="http://schemas.microsoft.com/office/drawing/2014/main" id="{B9854450-2BC0-4E2E-9F8B-BC19E1CA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有根據</a:t>
            </a:r>
          </a:p>
        </p:txBody>
      </p:sp>
      <p:sp>
        <p:nvSpPr>
          <p:cNvPr id="10" name="text-15">
            <a:extLst xmlns:a="http://schemas.openxmlformats.org/drawingml/2006/main">
              <a:ext uri="{FF2B5EF4-FFF2-40B4-BE49-F238E27FC236}">
                <a16:creationId xmlns:a16="http://schemas.microsoft.com/office/drawing/2014/main" id="{1F27F437-BC20-4247-96D2-5CFFE445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用 Gemini Notebook 整理可信來源</a:t>
            </a:r>
          </a:p>
        </p:txBody>
      </p:sp>
      <p:sp>
        <p:nvSpPr>
          <p:cNvPr id="11" name="text-16">
            <a:extLst xmlns:a="http://schemas.openxmlformats.org/drawingml/2006/main">
              <a:ext uri="{FF2B5EF4-FFF2-40B4-BE49-F238E27FC236}">
                <a16:creationId xmlns:a16="http://schemas.microsoft.com/office/drawing/2014/main" id="{5BACB8F8-9BE1-4BAE-B3B5-C6B45BA7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17">
            <a:extLst xmlns:a="http://schemas.openxmlformats.org/drawingml/2006/main">
              <a:ext uri="{FF2B5EF4-FFF2-40B4-BE49-F238E27FC236}">
                <a16:creationId xmlns:a16="http://schemas.microsoft.com/office/drawing/2014/main" id="{A8984587-0C12-4E49-9332-4F2DA861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shape-18">
            <a:extLst xmlns:a="http://schemas.openxmlformats.org/drawingml/2006/main">
              <a:ext uri="{FF2B5EF4-FFF2-40B4-BE49-F238E27FC236}">
                <a16:creationId xmlns:a16="http://schemas.microsoft.com/office/drawing/2014/main" id="{FD8C68A1-855C-4FCE-A015-7605EC67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9">
            <a:extLst xmlns:a="http://schemas.openxmlformats.org/drawingml/2006/main">
              <a:ext uri="{FF2B5EF4-FFF2-40B4-BE49-F238E27FC236}">
                <a16:creationId xmlns:a16="http://schemas.microsoft.com/office/drawing/2014/main" id="{48B30811-D784-4EAF-B9DC-2647B0E5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20">
            <a:extLst xmlns:a="http://schemas.openxmlformats.org/drawingml/2006/main">
              <a:ext uri="{FF2B5EF4-FFF2-40B4-BE49-F238E27FC236}">
                <a16:creationId xmlns:a16="http://schemas.microsoft.com/office/drawing/2014/main" id="{1116A573-D65F-4ED4-8028-23426031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有角色</a:t>
            </a:r>
          </a:p>
        </p:txBody>
      </p:sp>
      <p:sp>
        <p:nvSpPr>
          <p:cNvPr id="16" name="text-21">
            <a:extLst xmlns:a="http://schemas.openxmlformats.org/drawingml/2006/main">
              <a:ext uri="{FF2B5EF4-FFF2-40B4-BE49-F238E27FC236}">
                <a16:creationId xmlns:a16="http://schemas.microsoft.com/office/drawing/2014/main" id="{1A6CFF99-3E7A-4F85-B10D-B8B2E151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用 Gem 固定教學方法與回覆格式</a:t>
            </a:r>
          </a:p>
        </p:txBody>
      </p:sp>
      <p:sp>
        <p:nvSpPr>
          <p:cNvPr id="17" name="text-22">
            <a:extLst xmlns:a="http://schemas.openxmlformats.org/drawingml/2006/main">
              <a:ext uri="{FF2B5EF4-FFF2-40B4-BE49-F238E27FC236}">
                <a16:creationId xmlns:a16="http://schemas.microsoft.com/office/drawing/2014/main" id="{B1DF325C-B9C7-4A79-B5C7-15BAE169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23">
            <a:extLst xmlns:a="http://schemas.openxmlformats.org/drawingml/2006/main">
              <a:ext uri="{FF2B5EF4-FFF2-40B4-BE49-F238E27FC236}">
                <a16:creationId xmlns:a16="http://schemas.microsoft.com/office/drawing/2014/main" id="{C899D62B-877C-4AE9-AC32-748B9CE6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shape-24">
            <a:extLst xmlns:a="http://schemas.openxmlformats.org/drawingml/2006/main">
              <a:ext uri="{FF2B5EF4-FFF2-40B4-BE49-F238E27FC236}">
                <a16:creationId xmlns:a16="http://schemas.microsoft.com/office/drawing/2014/main" id="{EAD96FFD-AD06-488C-B918-B6C6B4C7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25">
            <a:extLst xmlns:a="http://schemas.openxmlformats.org/drawingml/2006/main">
              <a:ext uri="{FF2B5EF4-FFF2-40B4-BE49-F238E27FC236}">
                <a16:creationId xmlns:a16="http://schemas.microsoft.com/office/drawing/2014/main" id="{AFC4FE1B-3A8E-4435-A125-445AED25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26">
            <a:extLst xmlns:a="http://schemas.openxmlformats.org/drawingml/2006/main">
              <a:ext uri="{FF2B5EF4-FFF2-40B4-BE49-F238E27FC236}">
                <a16:creationId xmlns:a16="http://schemas.microsoft.com/office/drawing/2014/main" id="{23C1A08A-5A74-4DB7-85FE-2681E56D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有作品</a:t>
            </a:r>
          </a:p>
        </p:txBody>
      </p:sp>
      <p:sp>
        <p:nvSpPr>
          <p:cNvPr id="22" name="text-27">
            <a:extLst xmlns:a="http://schemas.openxmlformats.org/drawingml/2006/main">
              <a:ext uri="{FF2B5EF4-FFF2-40B4-BE49-F238E27FC236}">
                <a16:creationId xmlns:a16="http://schemas.microsoft.com/office/drawing/2014/main" id="{5237D3AA-E109-4FDA-BD2D-8AE00F0D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用 Canvas 做出互動教學原型</a:t>
            </a:r>
          </a:p>
        </p:txBody>
      </p:sp>
      <p:sp>
        <p:nvSpPr>
          <p:cNvPr id="23" name="text-28">
            <a:extLst xmlns:a="http://schemas.openxmlformats.org/drawingml/2006/main">
              <a:ext uri="{FF2B5EF4-FFF2-40B4-BE49-F238E27FC236}">
                <a16:creationId xmlns:a16="http://schemas.microsoft.com/office/drawing/2014/main" id="{9905FCD2-E739-4FD2-A28F-A71F8DB7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29">
            <a:extLst xmlns:a="http://schemas.openxmlformats.org/drawingml/2006/main">
              <a:ext uri="{FF2B5EF4-FFF2-40B4-BE49-F238E27FC236}">
                <a16:creationId xmlns:a16="http://schemas.microsoft.com/office/drawing/2014/main" id="{B72A6A28-E291-4F35-AEE7-3BDC86AC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shape-30">
            <a:extLst xmlns:a="http://schemas.openxmlformats.org/drawingml/2006/main">
              <a:ext uri="{FF2B5EF4-FFF2-40B4-BE49-F238E27FC236}">
                <a16:creationId xmlns:a16="http://schemas.microsoft.com/office/drawing/2014/main" id="{427B4514-C5BA-42B4-95BA-EF2AF2E1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31">
            <a:extLst xmlns:a="http://schemas.openxmlformats.org/drawingml/2006/main">
              <a:ext uri="{FF2B5EF4-FFF2-40B4-BE49-F238E27FC236}">
                <a16:creationId xmlns:a16="http://schemas.microsoft.com/office/drawing/2014/main" id="{0048BD72-C258-4D0A-B7B3-8832327B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32">
            <a:extLst xmlns:a="http://schemas.openxmlformats.org/drawingml/2006/main">
              <a:ext uri="{FF2B5EF4-FFF2-40B4-BE49-F238E27FC236}">
                <a16:creationId xmlns:a16="http://schemas.microsoft.com/office/drawing/2014/main" id="{F69538B0-5DA2-493E-A06D-531D95D7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能分享</a:t>
            </a:r>
          </a:p>
        </p:txBody>
      </p:sp>
      <p:sp>
        <p:nvSpPr>
          <p:cNvPr id="28" name="text-33">
            <a:extLst xmlns:a="http://schemas.openxmlformats.org/drawingml/2006/main">
              <a:ext uri="{FF2B5EF4-FFF2-40B4-BE49-F238E27FC236}">
                <a16:creationId xmlns:a16="http://schemas.microsoft.com/office/drawing/2014/main" id="{4255C647-4EDE-4DF4-9FF4-A450C867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用 Sites 或 Pages 發布成果</a:t>
            </a:r>
          </a:p>
        </p:txBody>
      </p:sp>
      <p:sp>
        <p:nvSpPr>
          <p:cNvPr id="29" name="text-34">
            <a:extLst xmlns:a="http://schemas.openxmlformats.org/drawingml/2006/main">
              <a:ext uri="{FF2B5EF4-FFF2-40B4-BE49-F238E27FC236}">
                <a16:creationId xmlns:a16="http://schemas.microsoft.com/office/drawing/2014/main" id="{26185F35-A15A-4DB8-8BEE-A09121ED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</p:spTree>
    <p:extLst>
      <p:ext uri="{BB962C8B-B14F-4D97-AF65-F5344CB8AC3E}">
        <p14:creationId xmlns:p14="http://schemas.microsoft.com/office/powerpoint/2010/main" val="19516680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35">
            <a:extLst xmlns:a="http://schemas.openxmlformats.org/drawingml/2006/main">
              <a:ext uri="{FF2B5EF4-FFF2-40B4-BE49-F238E27FC236}">
                <a16:creationId xmlns:a16="http://schemas.microsoft.com/office/drawing/2014/main" id="{E73EDCDA-F870-40DE-AB51-D0BDE282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RUN OF SHOW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84D2DC-7C37-49AE-86C2-4243B504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上午 180 分鐘：每一段都有作品</a:t>
            </a:r>
          </a:p>
        </p:txBody>
      </p:sp>
      <p:cxnSp>
        <p:nvCxnSpPr>
          <p:cNvPr id="33" name="shape-36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37">
            <a:extLst xmlns:a="http://schemas.openxmlformats.org/drawingml/2006/main">
              <a:ext uri="{FF2B5EF4-FFF2-40B4-BE49-F238E27FC236}">
                <a16:creationId xmlns:a16="http://schemas.microsoft.com/office/drawing/2014/main" id="{9EC742F1-1EC2-46CD-BF89-8FC01F08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4C6F67B-14EF-47C9-9F37-B3758494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cxnSp>
        <p:nvCxnSpPr>
          <p:cNvPr id="36" name="shape-38"/>
          <p:cNvCxnSpPr/>
          <p:nvPr/>
        </p:nvCxnSpPr>
        <p:spPr>
          <a:xfrm xmlns:a="http://schemas.openxmlformats.org/drawingml/2006/main">
            <a:off x="876300" y="3143250"/>
            <a:ext cx="10401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7" name="shape-39">
            <a:extLst xmlns:a="http://schemas.openxmlformats.org/drawingml/2006/main">
              <a:ext uri="{FF2B5EF4-FFF2-40B4-BE49-F238E27FC236}">
                <a16:creationId xmlns:a16="http://schemas.microsoft.com/office/drawing/2014/main" id="{AB6D4A96-4CEC-4C10-A055-C3911629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40">
            <a:extLst xmlns:a="http://schemas.openxmlformats.org/drawingml/2006/main">
              <a:ext uri="{FF2B5EF4-FFF2-40B4-BE49-F238E27FC236}">
                <a16:creationId xmlns:a16="http://schemas.microsoft.com/office/drawing/2014/main" id="{315E354B-D2A0-4B22-B943-77716E53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00–15</a:t>
            </a:r>
          </a:p>
        </p:txBody>
      </p:sp>
      <p:sp>
        <p:nvSpPr>
          <p:cNvPr id="9" name="text-41">
            <a:extLst xmlns:a="http://schemas.openxmlformats.org/drawingml/2006/main">
              <a:ext uri="{FF2B5EF4-FFF2-40B4-BE49-F238E27FC236}">
                <a16:creationId xmlns:a16="http://schemas.microsoft.com/office/drawing/2014/main" id="{B703737D-6D4A-4496-A18E-6F48B584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定題</a:t>
            </a:r>
          </a:p>
        </p:txBody>
      </p:sp>
      <p:sp>
        <p:nvSpPr>
          <p:cNvPr id="10" name="text-42">
            <a:extLst xmlns:a="http://schemas.openxmlformats.org/drawingml/2006/main">
              <a:ext uri="{FF2B5EF4-FFF2-40B4-BE49-F238E27FC236}">
                <a16:creationId xmlns:a16="http://schemas.microsoft.com/office/drawing/2014/main" id="{58E1BC93-4A3C-41CF-8E50-120DC46F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選一門課／一個問題</a:t>
            </a:r>
          </a:p>
        </p:txBody>
      </p:sp>
      <p:sp>
        <p:nvSpPr>
          <p:cNvPr id="11" name="shape-43">
            <a:extLst xmlns:a="http://schemas.openxmlformats.org/drawingml/2006/main">
              <a:ext uri="{FF2B5EF4-FFF2-40B4-BE49-F238E27FC236}">
                <a16:creationId xmlns:a16="http://schemas.microsoft.com/office/drawing/2014/main" id="{4C50B9B3-0170-4B86-BCE8-9BB5A788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44">
            <a:extLst xmlns:a="http://schemas.openxmlformats.org/drawingml/2006/main">
              <a:ext uri="{FF2B5EF4-FFF2-40B4-BE49-F238E27FC236}">
                <a16:creationId xmlns:a16="http://schemas.microsoft.com/office/drawing/2014/main" id="{26F084E7-561C-4780-94DF-DBB568C6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76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15–55</a:t>
            </a:r>
          </a:p>
        </p:txBody>
      </p:sp>
      <p:sp>
        <p:nvSpPr>
          <p:cNvPr id="13" name="text-45">
            <a:extLst xmlns:a="http://schemas.openxmlformats.org/drawingml/2006/main">
              <a:ext uri="{FF2B5EF4-FFF2-40B4-BE49-F238E27FC236}">
                <a16:creationId xmlns:a16="http://schemas.microsoft.com/office/drawing/2014/main" id="{6671A5C2-7DEC-476F-8C99-71A3FE58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16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Notebook</a:t>
            </a:r>
          </a:p>
        </p:txBody>
      </p:sp>
      <p:sp>
        <p:nvSpPr>
          <p:cNvPr id="14" name="text-46">
            <a:extLst xmlns:a="http://schemas.openxmlformats.org/drawingml/2006/main">
              <a:ext uri="{FF2B5EF4-FFF2-40B4-BE49-F238E27FC236}">
                <a16:creationId xmlns:a16="http://schemas.microsoft.com/office/drawing/2014/main" id="{0D3E782A-C8E2-47B4-A3BA-CDE04C00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16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來源與引用</a:t>
            </a:r>
          </a:p>
        </p:txBody>
      </p:sp>
      <p:sp>
        <p:nvSpPr>
          <p:cNvPr id="15" name="shape-47">
            <a:extLst xmlns:a="http://schemas.openxmlformats.org/drawingml/2006/main">
              <a:ext uri="{FF2B5EF4-FFF2-40B4-BE49-F238E27FC236}">
                <a16:creationId xmlns:a16="http://schemas.microsoft.com/office/drawing/2014/main" id="{1B9E847C-EE24-483A-A9D4-E8EB9219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347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8">
            <a:extLst xmlns:a="http://schemas.openxmlformats.org/drawingml/2006/main">
              <a:ext uri="{FF2B5EF4-FFF2-40B4-BE49-F238E27FC236}">
                <a16:creationId xmlns:a16="http://schemas.microsoft.com/office/drawing/2014/main" id="{2B60F832-E1A9-4399-96D9-DD9F79E3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102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55–80</a:t>
            </a:r>
          </a:p>
        </p:txBody>
      </p:sp>
      <p:sp>
        <p:nvSpPr>
          <p:cNvPr id="17" name="text-49">
            <a:extLst xmlns:a="http://schemas.openxmlformats.org/drawingml/2006/main">
              <a:ext uri="{FF2B5EF4-FFF2-40B4-BE49-F238E27FC236}">
                <a16:creationId xmlns:a16="http://schemas.microsoft.com/office/drawing/2014/main" id="{79671DCB-092C-4EA3-8C66-979F8AFA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42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Gem</a:t>
            </a:r>
          </a:p>
        </p:txBody>
      </p:sp>
      <p:sp>
        <p:nvSpPr>
          <p:cNvPr id="18" name="text-50">
            <a:extLst xmlns:a="http://schemas.openxmlformats.org/drawingml/2006/main">
              <a:ext uri="{FF2B5EF4-FFF2-40B4-BE49-F238E27FC236}">
                <a16:creationId xmlns:a16="http://schemas.microsoft.com/office/drawing/2014/main" id="{49A91892-D8E1-4766-AACC-0B037347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242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專屬助理</a:t>
            </a:r>
          </a:p>
        </p:txBody>
      </p:sp>
      <p:sp>
        <p:nvSpPr>
          <p:cNvPr id="19" name="shape-51">
            <a:extLst xmlns:a="http://schemas.openxmlformats.org/drawingml/2006/main">
              <a:ext uri="{FF2B5EF4-FFF2-40B4-BE49-F238E27FC236}">
                <a16:creationId xmlns:a16="http://schemas.microsoft.com/office/drawing/2014/main" id="{A2F9BB3B-C603-47F9-9165-2BAF7B0D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73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52">
            <a:extLst xmlns:a="http://schemas.openxmlformats.org/drawingml/2006/main">
              <a:ext uri="{FF2B5EF4-FFF2-40B4-BE49-F238E27FC236}">
                <a16:creationId xmlns:a16="http://schemas.microsoft.com/office/drawing/2014/main" id="{F0486AC1-A9AD-43EF-B9F1-39227915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128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80–90</a:t>
            </a:r>
          </a:p>
        </p:txBody>
      </p:sp>
      <p:sp>
        <p:nvSpPr>
          <p:cNvPr id="21" name="text-53">
            <a:extLst xmlns:a="http://schemas.openxmlformats.org/drawingml/2006/main">
              <a:ext uri="{FF2B5EF4-FFF2-40B4-BE49-F238E27FC236}">
                <a16:creationId xmlns:a16="http://schemas.microsoft.com/office/drawing/2014/main" id="{F27FD82E-35B3-4A7B-BC0E-CC0AE401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268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休息</a:t>
            </a:r>
          </a:p>
        </p:txBody>
      </p:sp>
      <p:sp>
        <p:nvSpPr>
          <p:cNvPr id="22" name="text-54">
            <a:extLst xmlns:a="http://schemas.openxmlformats.org/drawingml/2006/main">
              <a:ext uri="{FF2B5EF4-FFF2-40B4-BE49-F238E27FC236}">
                <a16:creationId xmlns:a16="http://schemas.microsoft.com/office/drawing/2014/main" id="{0FC388C0-AF14-4E9A-8A9B-F85479D9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268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帳號與檔案整理</a:t>
            </a:r>
          </a:p>
        </p:txBody>
      </p:sp>
      <p:sp>
        <p:nvSpPr>
          <p:cNvPr id="23" name="shape-55">
            <a:extLst xmlns:a="http://schemas.openxmlformats.org/drawingml/2006/main">
              <a:ext uri="{FF2B5EF4-FFF2-40B4-BE49-F238E27FC236}">
                <a16:creationId xmlns:a16="http://schemas.microsoft.com/office/drawing/2014/main" id="{9865F675-B565-411D-99F5-EE0240C6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99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56">
            <a:extLst xmlns:a="http://schemas.openxmlformats.org/drawingml/2006/main">
              <a:ext uri="{FF2B5EF4-FFF2-40B4-BE49-F238E27FC236}">
                <a16:creationId xmlns:a16="http://schemas.microsoft.com/office/drawing/2014/main" id="{647AA26A-0347-4A59-86D4-C4235469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154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90–135</a:t>
            </a:r>
          </a:p>
        </p:txBody>
      </p:sp>
      <p:sp>
        <p:nvSpPr>
          <p:cNvPr id="25" name="text-57">
            <a:extLst xmlns:a="http://schemas.openxmlformats.org/drawingml/2006/main">
              <a:ext uri="{FF2B5EF4-FFF2-40B4-BE49-F238E27FC236}">
                <a16:creationId xmlns:a16="http://schemas.microsoft.com/office/drawing/2014/main" id="{32E5A06C-D707-4AEA-A01E-AF144BE3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94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Canvas</a:t>
            </a:r>
          </a:p>
        </p:txBody>
      </p:sp>
      <p:sp>
        <p:nvSpPr>
          <p:cNvPr id="26" name="text-58">
            <a:extLst xmlns:a="http://schemas.openxmlformats.org/drawingml/2006/main">
              <a:ext uri="{FF2B5EF4-FFF2-40B4-BE49-F238E27FC236}">
                <a16:creationId xmlns:a16="http://schemas.microsoft.com/office/drawing/2014/main" id="{24F7632F-CCE0-4F56-A239-E62E53D3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294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互動原型</a:t>
            </a:r>
          </a:p>
        </p:txBody>
      </p:sp>
      <p:sp>
        <p:nvSpPr>
          <p:cNvPr id="27" name="shape-59">
            <a:extLst xmlns:a="http://schemas.openxmlformats.org/drawingml/2006/main">
              <a:ext uri="{FF2B5EF4-FFF2-40B4-BE49-F238E27FC236}">
                <a16:creationId xmlns:a16="http://schemas.microsoft.com/office/drawing/2014/main" id="{D25596F2-1125-4A36-B2B0-979D808D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8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60">
            <a:extLst xmlns:a="http://schemas.openxmlformats.org/drawingml/2006/main">
              <a:ext uri="{FF2B5EF4-FFF2-40B4-BE49-F238E27FC236}">
                <a16:creationId xmlns:a16="http://schemas.microsoft.com/office/drawing/2014/main" id="{19E960FF-E6FD-4C05-ABB5-459F96B7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3050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135–180</a:t>
            </a:r>
          </a:p>
        </p:txBody>
      </p:sp>
      <p:sp>
        <p:nvSpPr>
          <p:cNvPr id="29" name="text-61">
            <a:extLst xmlns:a="http://schemas.openxmlformats.org/drawingml/2006/main">
              <a:ext uri="{FF2B5EF4-FFF2-40B4-BE49-F238E27FC236}">
                <a16:creationId xmlns:a16="http://schemas.microsoft.com/office/drawing/2014/main" id="{64104F78-D25A-4F72-9463-C84E545F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562350"/>
            <a:ext cx="182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部署分享</a:t>
            </a:r>
          </a:p>
        </p:txBody>
      </p:sp>
      <p:sp>
        <p:nvSpPr>
          <p:cNvPr id="30" name="text-62">
            <a:extLst xmlns:a="http://schemas.openxmlformats.org/drawingml/2006/main">
              <a:ext uri="{FF2B5EF4-FFF2-40B4-BE49-F238E27FC236}">
                <a16:creationId xmlns:a16="http://schemas.microsoft.com/office/drawing/2014/main" id="{69B0A6C5-0540-4EF9-8667-0F246E6E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3053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公開與回饋</a:t>
            </a:r>
          </a:p>
        </p:txBody>
      </p:sp>
    </p:spTree>
    <p:extLst>
      <p:ext uri="{BB962C8B-B14F-4D97-AF65-F5344CB8AC3E}">
        <p14:creationId xmlns:p14="http://schemas.microsoft.com/office/powerpoint/2010/main" val="19389020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63">
            <a:extLst xmlns:a="http://schemas.openxmlformats.org/drawingml/2006/main">
              <a:ext uri="{FF2B5EF4-FFF2-40B4-BE49-F238E27FC236}">
                <a16:creationId xmlns:a16="http://schemas.microsoft.com/office/drawing/2014/main" id="{A3648D0E-A95A-4EE4-AEA5-549C73B9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LEARNING OUTCOMES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3852DA-FBA2-4439-8FA2-D196E40B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今天離開教室前，你會有四項成果</a:t>
            </a:r>
          </a:p>
        </p:txBody>
      </p:sp>
      <p:cxnSp>
        <p:nvCxnSpPr>
          <p:cNvPr id="24" name="shape-6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65">
            <a:extLst xmlns:a="http://schemas.openxmlformats.org/drawingml/2006/main">
              <a:ext uri="{FF2B5EF4-FFF2-40B4-BE49-F238E27FC236}">
                <a16:creationId xmlns:a16="http://schemas.microsoft.com/office/drawing/2014/main" id="{1670E4C4-DC49-4C6F-B6AC-CDDF0FC1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8C57863-3631-4123-A568-1AB82B9D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6" name="shape-66">
            <a:extLst xmlns:a="http://schemas.openxmlformats.org/drawingml/2006/main">
              <a:ext uri="{FF2B5EF4-FFF2-40B4-BE49-F238E27FC236}">
                <a16:creationId xmlns:a16="http://schemas.microsoft.com/office/drawing/2014/main" id="{B0986690-A122-4DBB-B83F-69377505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text-67">
            <a:extLst xmlns:a="http://schemas.openxmlformats.org/drawingml/2006/main">
              <a:ext uri="{FF2B5EF4-FFF2-40B4-BE49-F238E27FC236}">
                <a16:creationId xmlns:a16="http://schemas.microsoft.com/office/drawing/2014/main" id="{9C72D032-CC37-47A6-8E25-E791E66A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68">
            <a:extLst xmlns:a="http://schemas.openxmlformats.org/drawingml/2006/main">
              <a:ext uri="{FF2B5EF4-FFF2-40B4-BE49-F238E27FC236}">
                <a16:creationId xmlns:a16="http://schemas.microsoft.com/office/drawing/2014/main" id="{67DB6912-DC38-460A-AFFF-5322443F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Gemini Notebook</a:t>
            </a:r>
          </a:p>
        </p:txBody>
      </p:sp>
      <p:sp>
        <p:nvSpPr>
          <p:cNvPr id="9" name="text-69">
            <a:extLst xmlns:a="http://schemas.openxmlformats.org/drawingml/2006/main">
              <a:ext uri="{FF2B5EF4-FFF2-40B4-BE49-F238E27FC236}">
                <a16:creationId xmlns:a16="http://schemas.microsoft.com/office/drawing/2014/main" id="{BBE05864-937B-4C70-8BA0-CAFF19A9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至少 3 份教學或研究來源、3 個有引用的問題、1 個可用輸出。</a:t>
            </a:r>
          </a:p>
        </p:txBody>
      </p:sp>
      <p:sp>
        <p:nvSpPr>
          <p:cNvPr id="10" name="shape-70">
            <a:extLst xmlns:a="http://schemas.openxmlformats.org/drawingml/2006/main">
              <a:ext uri="{FF2B5EF4-FFF2-40B4-BE49-F238E27FC236}">
                <a16:creationId xmlns:a16="http://schemas.microsoft.com/office/drawing/2014/main" id="{DEFB8EAC-3787-4F6B-9399-66AFA6FA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1" name="text-71">
            <a:extLst xmlns:a="http://schemas.openxmlformats.org/drawingml/2006/main">
              <a:ext uri="{FF2B5EF4-FFF2-40B4-BE49-F238E27FC236}">
                <a16:creationId xmlns:a16="http://schemas.microsoft.com/office/drawing/2014/main" id="{8DDE7BEC-62C1-437F-96E1-247328F1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72">
            <a:extLst xmlns:a="http://schemas.openxmlformats.org/drawingml/2006/main">
              <a:ext uri="{FF2B5EF4-FFF2-40B4-BE49-F238E27FC236}">
                <a16:creationId xmlns:a16="http://schemas.microsoft.com/office/drawing/2014/main" id="{A743933A-1C6A-45C1-AC69-344A3A4D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專屬 Gem</a:t>
            </a:r>
          </a:p>
        </p:txBody>
      </p:sp>
      <p:sp>
        <p:nvSpPr>
          <p:cNvPr id="13" name="text-73">
            <a:extLst xmlns:a="http://schemas.openxmlformats.org/drawingml/2006/main">
              <a:ext uri="{FF2B5EF4-FFF2-40B4-BE49-F238E27FC236}">
                <a16:creationId xmlns:a16="http://schemas.microsoft.com/office/drawing/2014/main" id="{EF0795A2-37FD-436F-9A7B-8DDD9CB1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明確角色、任務、背景與格式，並完成反例測試。</a:t>
            </a:r>
          </a:p>
        </p:txBody>
      </p:sp>
      <p:sp>
        <p:nvSpPr>
          <p:cNvPr id="14" name="shape-74">
            <a:extLst xmlns:a="http://schemas.openxmlformats.org/drawingml/2006/main">
              <a:ext uri="{FF2B5EF4-FFF2-40B4-BE49-F238E27FC236}">
                <a16:creationId xmlns:a16="http://schemas.microsoft.com/office/drawing/2014/main" id="{D7B1A378-AE16-4A74-8F7D-4DA353F3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5" name="text-75">
            <a:extLst xmlns:a="http://schemas.openxmlformats.org/drawingml/2006/main">
              <a:ext uri="{FF2B5EF4-FFF2-40B4-BE49-F238E27FC236}">
                <a16:creationId xmlns:a16="http://schemas.microsoft.com/office/drawing/2014/main" id="{27F4EA11-55E1-470D-8CC8-3FD318F9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76">
            <a:extLst xmlns:a="http://schemas.openxmlformats.org/drawingml/2006/main">
              <a:ext uri="{FF2B5EF4-FFF2-40B4-BE49-F238E27FC236}">
                <a16:creationId xmlns:a16="http://schemas.microsoft.com/office/drawing/2014/main" id="{859F7538-90B6-43E8-826A-8523EF50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Canvas 原型</a:t>
            </a:r>
          </a:p>
        </p:txBody>
      </p:sp>
      <p:sp>
        <p:nvSpPr>
          <p:cNvPr id="17" name="text-77">
            <a:extLst xmlns:a="http://schemas.openxmlformats.org/drawingml/2006/main">
              <a:ext uri="{FF2B5EF4-FFF2-40B4-BE49-F238E27FC236}">
                <a16:creationId xmlns:a16="http://schemas.microsoft.com/office/drawing/2014/main" id="{374896E7-2266-4D0D-8560-EE19E676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一個可操作的課程活動、評量或學習支架。</a:t>
            </a:r>
          </a:p>
        </p:txBody>
      </p:sp>
      <p:sp>
        <p:nvSpPr>
          <p:cNvPr id="18" name="shape-78">
            <a:extLst xmlns:a="http://schemas.openxmlformats.org/drawingml/2006/main">
              <a:ext uri="{FF2B5EF4-FFF2-40B4-BE49-F238E27FC236}">
                <a16:creationId xmlns:a16="http://schemas.microsoft.com/office/drawing/2014/main" id="{CF38EBE4-33CD-4CD6-A85F-9088C014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9" name="text-79">
            <a:extLst xmlns:a="http://schemas.openxmlformats.org/drawingml/2006/main">
              <a:ext uri="{FF2B5EF4-FFF2-40B4-BE49-F238E27FC236}">
                <a16:creationId xmlns:a16="http://schemas.microsoft.com/office/drawing/2014/main" id="{43282BB6-5606-4E84-9991-FC3F50DD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80">
            <a:extLst xmlns:a="http://schemas.openxmlformats.org/drawingml/2006/main">
              <a:ext uri="{FF2B5EF4-FFF2-40B4-BE49-F238E27FC236}">
                <a16:creationId xmlns:a16="http://schemas.microsoft.com/office/drawing/2014/main" id="{621E276A-BE39-444E-A6EF-08607F52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分享方式</a:t>
            </a:r>
          </a:p>
        </p:txBody>
      </p:sp>
      <p:sp>
        <p:nvSpPr>
          <p:cNvPr id="21" name="text-81">
            <a:extLst xmlns:a="http://schemas.openxmlformats.org/drawingml/2006/main">
              <a:ext uri="{FF2B5EF4-FFF2-40B4-BE49-F238E27FC236}">
                <a16:creationId xmlns:a16="http://schemas.microsoft.com/office/drawing/2014/main" id="{54A1FDEC-9DF8-4E86-A6A9-04ACB113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完成分享連結、Google Sites 嵌入，或 GitHub Pages 部署計畫。</a:t>
            </a:r>
          </a:p>
        </p:txBody>
      </p:sp>
    </p:spTree>
    <p:extLst>
      <p:ext uri="{BB962C8B-B14F-4D97-AF65-F5344CB8AC3E}">
        <p14:creationId xmlns:p14="http://schemas.microsoft.com/office/powerpoint/2010/main" val="2068157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82">
            <a:extLst xmlns:a="http://schemas.openxmlformats.org/drawingml/2006/main">
              <a:ext uri="{FF2B5EF4-FFF2-40B4-BE49-F238E27FC236}">
                <a16:creationId xmlns:a16="http://schemas.microsoft.com/office/drawing/2014/main" id="{F5FC489F-9ED6-4841-8EB2-60049EE4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ACCESS &amp; PAIRING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9512AD-3AA4-4A38-B5E1-81D49647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共作規則：沒有相同帳號，也能一起完成</a:t>
            </a:r>
          </a:p>
        </p:txBody>
      </p:sp>
      <p:cxnSp>
        <p:nvCxnSpPr>
          <p:cNvPr id="20" name="shape-83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84">
            <a:extLst xmlns:a="http://schemas.openxmlformats.org/drawingml/2006/main">
              <a:ext uri="{FF2B5EF4-FFF2-40B4-BE49-F238E27FC236}">
                <a16:creationId xmlns:a16="http://schemas.microsoft.com/office/drawing/2014/main" id="{010B9B47-A433-43F3-846B-0992DB18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91921BD-1651-44E5-82A3-13FDE112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  <p:sp>
        <p:nvSpPr>
          <p:cNvPr id="6" name="shape-85">
            <a:extLst xmlns:a="http://schemas.openxmlformats.org/drawingml/2006/main">
              <a:ext uri="{FF2B5EF4-FFF2-40B4-BE49-F238E27FC236}">
                <a16:creationId xmlns:a16="http://schemas.microsoft.com/office/drawing/2014/main" id="{4042FF9A-A22B-4241-AC54-E7EFA8B7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3625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shape-86">
            <a:extLst xmlns:a="http://schemas.openxmlformats.org/drawingml/2006/main">
              <a:ext uri="{FF2B5EF4-FFF2-40B4-BE49-F238E27FC236}">
                <a16:creationId xmlns:a16="http://schemas.microsoft.com/office/drawing/2014/main" id="{C959DA7C-3D04-4ADC-AFB7-B6E76BD6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76400"/>
            <a:ext cx="55911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8" name="text-87">
            <a:extLst xmlns:a="http://schemas.openxmlformats.org/drawingml/2006/main">
              <a:ext uri="{FF2B5EF4-FFF2-40B4-BE49-F238E27FC236}">
                <a16:creationId xmlns:a16="http://schemas.microsoft.com/office/drawing/2014/main" id="{22C5AD90-BE5F-4348-8E72-19FE109D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791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主操作手</a:t>
            </a:r>
          </a:p>
        </p:txBody>
      </p:sp>
      <p:sp>
        <p:nvSpPr>
          <p:cNvPr id="9" name="text-88">
            <a:extLst xmlns:a="http://schemas.openxmlformats.org/drawingml/2006/main">
              <a:ext uri="{FF2B5EF4-FFF2-40B4-BE49-F238E27FC236}">
                <a16:creationId xmlns:a16="http://schemas.microsoft.com/office/drawing/2014/main" id="{4EFBC55F-0415-490F-9608-FA33EC9F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7910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登入有權限的工具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負責建立、儲存與分享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口述每一步決策</a:t>
            </a:r>
          </a:p>
        </p:txBody>
      </p:sp>
      <p:sp>
        <p:nvSpPr>
          <p:cNvPr id="10" name="text-89">
            <a:extLst xmlns:a="http://schemas.openxmlformats.org/drawingml/2006/main">
              <a:ext uri="{FF2B5EF4-FFF2-40B4-BE49-F238E27FC236}">
                <a16:creationId xmlns:a16="http://schemas.microsoft.com/office/drawing/2014/main" id="{E3D24AF2-AB75-4C74-8C5D-E0840247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00250"/>
            <a:ext cx="4981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測試與教學觀察員</a:t>
            </a:r>
          </a:p>
        </p:txBody>
      </p:sp>
      <p:sp>
        <p:nvSpPr>
          <p:cNvPr id="11" name="text-90">
            <a:extLst xmlns:a="http://schemas.openxmlformats.org/drawingml/2006/main">
              <a:ext uri="{FF2B5EF4-FFF2-40B4-BE49-F238E27FC236}">
                <a16:creationId xmlns:a16="http://schemas.microsoft.com/office/drawing/2014/main" id="{308A13AF-A02F-4215-9300-8FF6020F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81300"/>
            <a:ext cx="49815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扮演學生或同儕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提出反例與追問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記錄可教、可用、需改善之處</a:t>
            </a:r>
          </a:p>
        </p:txBody>
      </p:sp>
      <p:sp>
        <p:nvSpPr>
          <p:cNvPr id="12" name="text-91">
            <a:extLst xmlns:a="http://schemas.openxmlformats.org/drawingml/2006/main">
              <a:ext uri="{FF2B5EF4-FFF2-40B4-BE49-F238E27FC236}">
                <a16:creationId xmlns:a16="http://schemas.microsoft.com/office/drawing/2014/main" id="{685386C7-9BE3-4258-BDDD-25B85277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15621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主操作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登入與建立</a:t>
            </a:r>
          </a:p>
        </p:txBody>
      </p:sp>
      <p:sp>
        <p:nvSpPr>
          <p:cNvPr id="13" name="text-92">
            <a:extLst xmlns:a="http://schemas.openxmlformats.org/drawingml/2006/main">
              <a:ext uri="{FF2B5EF4-FFF2-40B4-BE49-F238E27FC236}">
                <a16:creationId xmlns:a16="http://schemas.microsoft.com/office/drawing/2014/main" id="{D9DFD327-C17B-4757-9BF2-82DAD0A7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933950"/>
            <a:ext cx="1676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共同工作區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成果與檢核</a:t>
            </a:r>
          </a:p>
        </p:txBody>
      </p:sp>
      <p:sp>
        <p:nvSpPr>
          <p:cNvPr id="14" name="text-93">
            <a:extLst xmlns:a="http://schemas.openxmlformats.org/drawingml/2006/main">
              <a:ext uri="{FF2B5EF4-FFF2-40B4-BE49-F238E27FC236}">
                <a16:creationId xmlns:a16="http://schemas.microsoft.com/office/drawing/2014/main" id="{8B6EA22D-2776-4BA7-B479-EC7B2A71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933950"/>
            <a:ext cx="15621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觀察員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測試與提問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438400" y="5210175"/>
            <a:ext cx="2876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FE8"/>
            </a:solidFill>
            <a:prstDash val="solid"/>
            <a:tailEnd type="arrow" w="sm" len="sm"/>
          </a:ln>
        </p:spPr>
      </p:cxnSp>
      <p:cxnSp>
        <p:nvCxnSpPr>
          <p:cNvPr id="33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991350" y="5210175"/>
            <a:ext cx="2705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866"/>
            </a:solidFill>
            <a:prstDash val="solid"/>
            <a:tailEnd type="arrow" w="sm" len="sm"/>
          </a:ln>
        </p:spPr>
      </p:cxnSp>
      <p:sp>
        <p:nvSpPr>
          <p:cNvPr id="17" name="text-94">
            <a:extLst xmlns:a="http://schemas.openxmlformats.org/drawingml/2006/main">
              <a:ext uri="{FF2B5EF4-FFF2-40B4-BE49-F238E27FC236}">
                <a16:creationId xmlns:a16="http://schemas.microsoft.com/office/drawing/2014/main" id="{F7BFADDE-54C5-4145-B5A5-F5977813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197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一人操作、一人驗證；成果放在同一個工作區</a:t>
            </a:r>
          </a:p>
        </p:txBody>
      </p:sp>
    </p:spTree>
    <p:extLst>
      <p:ext uri="{BB962C8B-B14F-4D97-AF65-F5344CB8AC3E}">
        <p14:creationId xmlns:p14="http://schemas.microsoft.com/office/powerpoint/2010/main" val="20429762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95">
            <a:extLst xmlns:a="http://schemas.openxmlformats.org/drawingml/2006/main">
              <a:ext uri="{FF2B5EF4-FFF2-40B4-BE49-F238E27FC236}">
                <a16:creationId xmlns:a16="http://schemas.microsoft.com/office/drawing/2014/main" id="{C1C71995-3D01-44D3-861F-34672508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START WITH A PAIN POINT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8064F1-6540-45AA-B3F4-BD3DFDA1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先從真實教學／研究痛點出發</a:t>
            </a:r>
          </a:p>
        </p:txBody>
      </p:sp>
      <p:cxnSp>
        <p:nvCxnSpPr>
          <p:cNvPr id="24" name="shape-96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97">
            <a:extLst xmlns:a="http://schemas.openxmlformats.org/drawingml/2006/main">
              <a:ext uri="{FF2B5EF4-FFF2-40B4-BE49-F238E27FC236}">
                <a16:creationId xmlns:a16="http://schemas.microsoft.com/office/drawing/2014/main" id="{FF3BB5C5-EFF4-4D09-9F41-059FBA43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A8B7B15-B08D-47F7-BECA-781EAACD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06</a:t>
            </a:r>
          </a:p>
        </p:txBody>
      </p:sp>
      <p:sp>
        <p:nvSpPr>
          <p:cNvPr id="6" name="shape-98">
            <a:extLst xmlns:a="http://schemas.openxmlformats.org/drawingml/2006/main">
              <a:ext uri="{FF2B5EF4-FFF2-40B4-BE49-F238E27FC236}">
                <a16:creationId xmlns:a16="http://schemas.microsoft.com/office/drawing/2014/main" id="{3DB4BBCF-0DD7-462D-B97D-DBC69E95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text-99">
            <a:extLst xmlns:a="http://schemas.openxmlformats.org/drawingml/2006/main">
              <a:ext uri="{FF2B5EF4-FFF2-40B4-BE49-F238E27FC236}">
                <a16:creationId xmlns:a16="http://schemas.microsoft.com/office/drawing/2014/main" id="{AA544CAD-9629-47B8-AEC3-9FA88484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</a:t>
            </a:r>
          </a:p>
        </p:txBody>
      </p:sp>
      <p:sp>
        <p:nvSpPr>
          <p:cNvPr id="8" name="text-100">
            <a:extLst xmlns:a="http://schemas.openxmlformats.org/drawingml/2006/main">
              <a:ext uri="{FF2B5EF4-FFF2-40B4-BE49-F238E27FC236}">
                <a16:creationId xmlns:a16="http://schemas.microsoft.com/office/drawing/2014/main" id="{42BB3828-D366-4C2A-B831-56AFC179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內容理解痛點</a:t>
            </a:r>
          </a:p>
        </p:txBody>
      </p:sp>
      <p:sp>
        <p:nvSpPr>
          <p:cNvPr id="9" name="text-101">
            <a:extLst xmlns:a="http://schemas.openxmlformats.org/drawingml/2006/main">
              <a:ext uri="{FF2B5EF4-FFF2-40B4-BE49-F238E27FC236}">
                <a16:creationId xmlns:a16="http://schemas.microsoft.com/office/drawing/2014/main" id="{9ADCAAFE-6BC4-4C38-9001-26B1E6B4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學生抓不到核心概念，研究者也難快速梳理多份來源。</a:t>
            </a:r>
          </a:p>
        </p:txBody>
      </p:sp>
      <p:sp>
        <p:nvSpPr>
          <p:cNvPr id="10" name="shape-102">
            <a:extLst xmlns:a="http://schemas.openxmlformats.org/drawingml/2006/main">
              <a:ext uri="{FF2B5EF4-FFF2-40B4-BE49-F238E27FC236}">
                <a16:creationId xmlns:a16="http://schemas.microsoft.com/office/drawing/2014/main" id="{6EBB08E6-3150-4E56-8B53-5EAD8DAB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1" name="text-103">
            <a:extLst xmlns:a="http://schemas.openxmlformats.org/drawingml/2006/main">
              <a:ext uri="{FF2B5EF4-FFF2-40B4-BE49-F238E27FC236}">
                <a16:creationId xmlns:a16="http://schemas.microsoft.com/office/drawing/2014/main" id="{95AE4B17-B8C6-4ECA-BA3B-BD20C615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B</a:t>
            </a:r>
          </a:p>
        </p:txBody>
      </p:sp>
      <p:sp>
        <p:nvSpPr>
          <p:cNvPr id="12" name="text-104">
            <a:extLst xmlns:a="http://schemas.openxmlformats.org/drawingml/2006/main">
              <a:ext uri="{FF2B5EF4-FFF2-40B4-BE49-F238E27FC236}">
                <a16:creationId xmlns:a16="http://schemas.microsoft.com/office/drawing/2014/main" id="{72B8BD44-4BAB-449E-B39D-49C179AD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資料分析痛點</a:t>
            </a:r>
          </a:p>
        </p:txBody>
      </p:sp>
      <p:sp>
        <p:nvSpPr>
          <p:cNvPr id="13" name="text-105">
            <a:extLst xmlns:a="http://schemas.openxmlformats.org/drawingml/2006/main">
              <a:ext uri="{FF2B5EF4-FFF2-40B4-BE49-F238E27FC236}">
                <a16:creationId xmlns:a16="http://schemas.microsoft.com/office/drawing/2014/main" id="{DCF04FDE-26FF-454F-8F2A-F56114F6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大量選擇題與簡答題需要整理、編碼、比對與人工複核。</a:t>
            </a:r>
          </a:p>
        </p:txBody>
      </p:sp>
      <p:sp>
        <p:nvSpPr>
          <p:cNvPr id="14" name="shape-106">
            <a:extLst xmlns:a="http://schemas.openxmlformats.org/drawingml/2006/main">
              <a:ext uri="{FF2B5EF4-FFF2-40B4-BE49-F238E27FC236}">
                <a16:creationId xmlns:a16="http://schemas.microsoft.com/office/drawing/2014/main" id="{2E1B80EB-6471-431F-B816-D94BB75B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5" name="text-107">
            <a:extLst xmlns:a="http://schemas.openxmlformats.org/drawingml/2006/main">
              <a:ext uri="{FF2B5EF4-FFF2-40B4-BE49-F238E27FC236}">
                <a16:creationId xmlns:a16="http://schemas.microsoft.com/office/drawing/2014/main" id="{A363EF12-6222-4410-B67D-7940BD30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C</a:t>
            </a:r>
          </a:p>
        </p:txBody>
      </p:sp>
      <p:sp>
        <p:nvSpPr>
          <p:cNvPr id="16" name="text-108">
            <a:extLst xmlns:a="http://schemas.openxmlformats.org/drawingml/2006/main">
              <a:ext uri="{FF2B5EF4-FFF2-40B4-BE49-F238E27FC236}">
                <a16:creationId xmlns:a16="http://schemas.microsoft.com/office/drawing/2014/main" id="{DDD8FCC7-2DDE-4D67-AB59-6499EC5F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互動設計痛點</a:t>
            </a:r>
          </a:p>
        </p:txBody>
      </p:sp>
      <p:sp>
        <p:nvSpPr>
          <p:cNvPr id="17" name="text-109">
            <a:extLst xmlns:a="http://schemas.openxmlformats.org/drawingml/2006/main">
              <a:ext uri="{FF2B5EF4-FFF2-40B4-BE49-F238E27FC236}">
                <a16:creationId xmlns:a16="http://schemas.microsoft.com/office/drawing/2014/main" id="{B9D2414C-BC2F-41B8-B4B4-1EE51720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希望把講述內容轉成可操作、可探索的互動任務。</a:t>
            </a:r>
          </a:p>
        </p:txBody>
      </p:sp>
      <p:sp>
        <p:nvSpPr>
          <p:cNvPr id="18" name="shape-110">
            <a:extLst xmlns:a="http://schemas.openxmlformats.org/drawingml/2006/main">
              <a:ext uri="{FF2B5EF4-FFF2-40B4-BE49-F238E27FC236}">
                <a16:creationId xmlns:a16="http://schemas.microsoft.com/office/drawing/2014/main" id="{EB1A7DBC-D884-4AB3-B04A-AA176459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9" name="text-111">
            <a:extLst xmlns:a="http://schemas.openxmlformats.org/drawingml/2006/main">
              <a:ext uri="{FF2B5EF4-FFF2-40B4-BE49-F238E27FC236}">
                <a16:creationId xmlns:a16="http://schemas.microsoft.com/office/drawing/2014/main" id="{F208DDCA-1183-4FDF-B3A9-34517BDD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</a:t>
            </a:r>
          </a:p>
        </p:txBody>
      </p:sp>
      <p:sp>
        <p:nvSpPr>
          <p:cNvPr id="20" name="text-112">
            <a:extLst xmlns:a="http://schemas.openxmlformats.org/drawingml/2006/main">
              <a:ext uri="{FF2B5EF4-FFF2-40B4-BE49-F238E27FC236}">
                <a16:creationId xmlns:a16="http://schemas.microsoft.com/office/drawing/2014/main" id="{B5E1E5ED-42DD-4225-A0ED-295FCE08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研究／行政痛點</a:t>
            </a:r>
          </a:p>
        </p:txBody>
      </p:sp>
      <p:sp>
        <p:nvSpPr>
          <p:cNvPr id="21" name="text-113">
            <a:extLst xmlns:a="http://schemas.openxmlformats.org/drawingml/2006/main">
              <a:ext uri="{FF2B5EF4-FFF2-40B4-BE49-F238E27FC236}">
                <a16:creationId xmlns:a16="http://schemas.microsoft.com/office/drawing/2014/main" id="{0EC6EDC8-C08D-4C21-9DF6-C373029E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想把文獻、資料、方法與行政流程整理成可持續更新的工作區。</a:t>
            </a:r>
          </a:p>
        </p:txBody>
      </p:sp>
    </p:spTree>
    <p:extLst>
      <p:ext uri="{BB962C8B-B14F-4D97-AF65-F5344CB8AC3E}">
        <p14:creationId xmlns:p14="http://schemas.microsoft.com/office/powerpoint/2010/main" val="13043413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14">
            <a:extLst xmlns:a="http://schemas.openxmlformats.org/drawingml/2006/main">
              <a:ext uri="{FF2B5EF4-FFF2-40B4-BE49-F238E27FC236}">
                <a16:creationId xmlns:a16="http://schemas.microsoft.com/office/drawing/2014/main" id="{416E831B-BE95-4EB8-9F28-1508AEF6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REAL EXAMPLES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639EA9-A3CB-4A03-9F29-61F787A6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123 個案例，不是作品櫃：是教學與研究需求資料庫</a:t>
            </a:r>
          </a:p>
        </p:txBody>
      </p:sp>
      <p:cxnSp>
        <p:nvCxnSpPr>
          <p:cNvPr id="15" name="shape-115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116">
            <a:extLst xmlns:a="http://schemas.openxmlformats.org/drawingml/2006/main">
              <a:ext uri="{FF2B5EF4-FFF2-40B4-BE49-F238E27FC236}">
                <a16:creationId xmlns:a16="http://schemas.microsoft.com/office/drawing/2014/main" id="{26F6E743-8353-4797-A79E-811A3233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624A08B-44E0-401E-B77C-CCED580B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07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56392b82884980"/>
          <a:srcRect xmlns:a="http://schemas.openxmlformats.org/drawingml/2006/main" l="1389" t="0" r="1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600200"/>
            <a:ext cx="6934200" cy="4457700"/>
          </a:xfrm>
          <a:prstGeom xmlns:a="http://schemas.openxmlformats.org/drawingml/2006/main" prst="roundRect">
            <a:avLst>
              <a:gd name="adj" fmla="val 3419"/>
            </a:avLst>
          </a:prstGeom>
        </p:spPr>
      </p:pic>
      <p:sp>
        <p:nvSpPr>
          <p:cNvPr id="7" name="text-117">
            <a:extLst xmlns:a="http://schemas.openxmlformats.org/drawingml/2006/main">
              <a:ext uri="{FF2B5EF4-FFF2-40B4-BE49-F238E27FC236}">
                <a16:creationId xmlns:a16="http://schemas.microsoft.com/office/drawing/2014/main" id="{5B0B833B-C64D-43CD-8E3C-839F0505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526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阿凱老師的教育科技創新專區</a:t>
            </a:r>
          </a:p>
        </p:txBody>
      </p:sp>
      <p:sp>
        <p:nvSpPr>
          <p:cNvPr id="8" name="text-118">
            <a:extLst xmlns:a="http://schemas.openxmlformats.org/drawingml/2006/main">
              <a:ext uri="{FF2B5EF4-FFF2-40B4-BE49-F238E27FC236}">
                <a16:creationId xmlns:a16="http://schemas.microsoft.com/office/drawing/2014/main" id="{04130761-F9CD-4DD1-9A70-0A5B6BBD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24150"/>
            <a:ext cx="37147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• 123 個老師做的免費工具卡片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• 從課堂互動、評語優化到行政自動化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• 每張卡片與部落格都可作為提示詞、介面與部署案例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• 網址：cagoooo.github.io/Akai/</a:t>
            </a:r>
          </a:p>
        </p:txBody>
      </p:sp>
      <p:sp>
        <p:nvSpPr>
          <p:cNvPr id="9" name="text-647">
            <a:extLst xmlns:a="http://schemas.openxmlformats.org/drawingml/2006/main">
              <a:ext uri="{FF2B5EF4-FFF2-40B4-BE49-F238E27FC236}">
                <a16:creationId xmlns:a16="http://schemas.microsoft.com/office/drawing/2014/main" id="{215984A3-5EFE-4CEF-935C-C7CA1BB4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daacba74c2f84487"/>
              </a:rPr>
              <a:t>開啟教育科技創新專區 ↗</a:t>
            </a:r>
          </a:p>
        </p:txBody>
      </p:sp>
      <p:sp>
        <p:nvSpPr>
          <p:cNvPr id="10" name="shape-672">
            <a:extLst xmlns:a="http://schemas.openxmlformats.org/drawingml/2006/main">
              <a:ext uri="{FF2B5EF4-FFF2-40B4-BE49-F238E27FC236}">
                <a16:creationId xmlns:a16="http://schemas.microsoft.com/office/drawing/2014/main" id="{2D892379-B152-49E2-8170-AE306218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dbf85f61746f3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12" name="text-673">
            <a:extLst xmlns:a="http://schemas.openxmlformats.org/drawingml/2006/main">
              <a:ext uri="{FF2B5EF4-FFF2-40B4-BE49-F238E27FC236}">
                <a16:creationId xmlns:a16="http://schemas.microsoft.com/office/drawing/2014/main" id="{4CC384F9-AAAB-4D48-A98F-AEB33112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教育科技創新專區</a:t>
            </a:r>
          </a:p>
        </p:txBody>
      </p:sp>
    </p:spTree>
    <p:extLst>
      <p:ext uri="{BB962C8B-B14F-4D97-AF65-F5344CB8AC3E}">
        <p14:creationId xmlns:p14="http://schemas.microsoft.com/office/powerpoint/2010/main" val="15700405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19">
            <a:extLst xmlns:a="http://schemas.openxmlformats.org/drawingml/2006/main">
              <a:ext uri="{FF2B5EF4-FFF2-40B4-BE49-F238E27FC236}">
                <a16:creationId xmlns:a16="http://schemas.microsoft.com/office/drawing/2014/main" id="{E405897E-FA0D-44E2-A0ED-FA8FB73E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AKAI CASE NAVIGATION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508C57-7077-410C-8931-5BC210FF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阿凱老師實戰案例導航｜語文、設計、互動</a:t>
            </a:r>
          </a:p>
        </p:txBody>
      </p:sp>
      <p:cxnSp>
        <p:nvCxnSpPr>
          <p:cNvPr id="33" name="shape-120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121">
            <a:extLst xmlns:a="http://schemas.openxmlformats.org/drawingml/2006/main">
              <a:ext uri="{FF2B5EF4-FFF2-40B4-BE49-F238E27FC236}">
                <a16:creationId xmlns:a16="http://schemas.microsoft.com/office/drawing/2014/main" id="{89249F2E-A541-478A-9C67-AD27A7DE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09957A9-BA36-400B-9B59-AC48164A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08</a:t>
            </a:r>
          </a:p>
        </p:txBody>
      </p:sp>
      <p:sp>
        <p:nvSpPr>
          <p:cNvPr id="6" name="text-122">
            <a:extLst xmlns:a="http://schemas.openxmlformats.org/drawingml/2006/main">
              <a:ext uri="{FF2B5EF4-FFF2-40B4-BE49-F238E27FC236}">
                <a16:creationId xmlns:a16="http://schemas.microsoft.com/office/drawing/2014/main" id="{A7C60F32-2266-4C87-BA52-F9ABDE30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116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先讀工具卡片理解設計脈絡，再直接開啟應用觀察輸入、輸出與操作流程。</a:t>
            </a:r>
          </a:p>
        </p:txBody>
      </p:sp>
      <p:sp>
        <p:nvSpPr>
          <p:cNvPr id="7" name="shape-123">
            <a:extLst xmlns:a="http://schemas.openxmlformats.org/drawingml/2006/main">
              <a:ext uri="{FF2B5EF4-FFF2-40B4-BE49-F238E27FC236}">
                <a16:creationId xmlns:a16="http://schemas.microsoft.com/office/drawing/2014/main" id="{C3728D51-C6B3-4BA1-A497-DAD14228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3594100" cy="401955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8" name="text-124">
            <a:extLst xmlns:a="http://schemas.openxmlformats.org/drawingml/2006/main">
              <a:ext uri="{FF2B5EF4-FFF2-40B4-BE49-F238E27FC236}">
                <a16:creationId xmlns:a16="http://schemas.microsoft.com/office/drawing/2014/main" id="{372773DE-D22A-422F-AB6F-D6D15FF9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317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#91 · 語文創作</a:t>
            </a:r>
          </a:p>
        </p:txBody>
      </p:sp>
      <p:sp>
        <p:nvSpPr>
          <p:cNvPr id="9" name="text-125">
            <a:extLst xmlns:a="http://schemas.openxmlformats.org/drawingml/2006/main">
              <a:ext uri="{FF2B5EF4-FFF2-40B4-BE49-F238E27FC236}">
                <a16:creationId xmlns:a16="http://schemas.microsoft.com/office/drawing/2014/main" id="{AB424060-0836-4E2A-9DAB-F86A174C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317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✨ 點亮詩意 Pro ✨早安長輩圖</a:t>
            </a:r>
          </a:p>
        </p:txBody>
      </p:sp>
      <p:sp>
        <p:nvSpPr>
          <p:cNvPr id="10" name="text-126">
            <a:extLst xmlns:a="http://schemas.openxmlformats.org/drawingml/2006/main">
              <a:ext uri="{FF2B5EF4-FFF2-40B4-BE49-F238E27FC236}">
                <a16:creationId xmlns:a16="http://schemas.microsoft.com/office/drawing/2014/main" id="{92852DB6-DB7A-4DC0-A9F9-4A1C01E2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317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上傳照片產出繁體詩詞與圖文作品，適合看圖寫詩、意境討論與數位創作。</a:t>
            </a:r>
          </a:p>
        </p:txBody>
      </p:sp>
      <p:sp>
        <p:nvSpPr>
          <p:cNvPr id="11" name="text-127">
            <a:extLst xmlns:a="http://schemas.openxmlformats.org/drawingml/2006/main">
              <a:ext uri="{FF2B5EF4-FFF2-40B4-BE49-F238E27FC236}">
                <a16:creationId xmlns:a16="http://schemas.microsoft.com/office/drawing/2014/main" id="{3B8A9D3F-71FC-42F3-BF71-93B1B5DB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058ef8e36adb43dd"/>
              </a:rPr>
              <a:t>工具卡片介紹 ↗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5bc86d3d0d49b3"/>
          <a:stretch xmlns:a="http://schemas.openxmlformats.org/drawingml/2006/main"/>
        </p:blipFill>
        <p:spPr>
          <a:xfrm xmlns:a="http://schemas.openxmlformats.org/drawingml/2006/main">
            <a:off x="3270250" y="46482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3" name="text-128">
            <a:extLst xmlns:a="http://schemas.openxmlformats.org/drawingml/2006/main">
              <a:ext uri="{FF2B5EF4-FFF2-40B4-BE49-F238E27FC236}">
                <a16:creationId xmlns:a16="http://schemas.microsoft.com/office/drawing/2014/main" id="{EB220767-B35D-4602-B613-864CE033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786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7866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4ba2ec87da4d41fb"/>
              </a:rPr>
              <a:t>直接開啟應用 ↗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5624f05914caa"/>
          <a:stretch xmlns:a="http://schemas.openxmlformats.org/drawingml/2006/main"/>
        </p:blipFill>
        <p:spPr>
          <a:xfrm xmlns:a="http://schemas.openxmlformats.org/drawingml/2006/main">
            <a:off x="3270250" y="52959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5" name="shape-129">
            <a:extLst xmlns:a="http://schemas.openxmlformats.org/drawingml/2006/main">
              <a:ext uri="{FF2B5EF4-FFF2-40B4-BE49-F238E27FC236}">
                <a16:creationId xmlns:a16="http://schemas.microsoft.com/office/drawing/2014/main" id="{C4C834DC-A997-47F1-87B6-693938DA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1924050"/>
            <a:ext cx="3594100" cy="401955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6" name="text-130">
            <a:extLst xmlns:a="http://schemas.openxmlformats.org/drawingml/2006/main">
              <a:ext uri="{FF2B5EF4-FFF2-40B4-BE49-F238E27FC236}">
                <a16:creationId xmlns:a16="http://schemas.microsoft.com/office/drawing/2014/main" id="{16F9890E-0D64-4E6E-AD7C-AB38A185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133600"/>
            <a:ext cx="317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#58 · 教學設計</a:t>
            </a:r>
          </a:p>
        </p:txBody>
      </p:sp>
      <p:sp>
        <p:nvSpPr>
          <p:cNvPr id="17" name="text-131">
            <a:extLst xmlns:a="http://schemas.openxmlformats.org/drawingml/2006/main">
              <a:ext uri="{FF2B5EF4-FFF2-40B4-BE49-F238E27FC236}">
                <a16:creationId xmlns:a16="http://schemas.microsoft.com/office/drawing/2014/main" id="{83D4265E-5F1F-4994-8D2B-DE776B1B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571750"/>
            <a:ext cx="317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教師數位備課教案小幫手</a:t>
            </a:r>
          </a:p>
        </p:txBody>
      </p:sp>
      <p:sp>
        <p:nvSpPr>
          <p:cNvPr id="18" name="text-132">
            <a:extLst xmlns:a="http://schemas.openxmlformats.org/drawingml/2006/main">
              <a:ext uri="{FF2B5EF4-FFF2-40B4-BE49-F238E27FC236}">
                <a16:creationId xmlns:a16="http://schemas.microsoft.com/office/drawing/2014/main" id="{65DE93CF-81C4-4449-9A83-4D3034D4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524250"/>
            <a:ext cx="317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用 AI 產出教案與活動設計，示範從教學需求走到可使用的成果。</a:t>
            </a:r>
          </a:p>
        </p:txBody>
      </p:sp>
      <p:sp>
        <p:nvSpPr>
          <p:cNvPr id="19" name="text-133">
            <a:extLst xmlns:a="http://schemas.openxmlformats.org/drawingml/2006/main">
              <a:ext uri="{FF2B5EF4-FFF2-40B4-BE49-F238E27FC236}">
                <a16:creationId xmlns:a16="http://schemas.microsoft.com/office/drawing/2014/main" id="{BE0E3B4D-BDB7-4105-8A58-03377E84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8768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9f6ee4a064b94c03"/>
              </a:rPr>
              <a:t>工具卡片介紹 ↗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b3df263d54ea5"/>
          <a:stretch xmlns:a="http://schemas.openxmlformats.org/drawingml/2006/main"/>
        </p:blipFill>
        <p:spPr>
          <a:xfrm xmlns:a="http://schemas.openxmlformats.org/drawingml/2006/main">
            <a:off x="7054850" y="46482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1" name="text-134">
            <a:extLst xmlns:a="http://schemas.openxmlformats.org/drawingml/2006/main">
              <a:ext uri="{FF2B5EF4-FFF2-40B4-BE49-F238E27FC236}">
                <a16:creationId xmlns:a16="http://schemas.microsoft.com/office/drawing/2014/main" id="{327D14BC-C33E-4D28-B7C6-13081033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53340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786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7866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2c0ca9fbea5486d"/>
              </a:rPr>
              <a:t>直接開啟應用 ↗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eadc4ec524cf4"/>
          <a:stretch xmlns:a="http://schemas.openxmlformats.org/drawingml/2006/main"/>
        </p:blipFill>
        <p:spPr>
          <a:xfrm xmlns:a="http://schemas.openxmlformats.org/drawingml/2006/main">
            <a:off x="7054850" y="52959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3" name="shape-135">
            <a:extLst xmlns:a="http://schemas.openxmlformats.org/drawingml/2006/main">
              <a:ext uri="{FF2B5EF4-FFF2-40B4-BE49-F238E27FC236}">
                <a16:creationId xmlns:a16="http://schemas.microsoft.com/office/drawing/2014/main" id="{7EFF41B9-5376-41E1-BEEA-360E3DA0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924050"/>
            <a:ext cx="3594100" cy="401955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24" name="text-136">
            <a:extLst xmlns:a="http://schemas.openxmlformats.org/drawingml/2006/main">
              <a:ext uri="{FF2B5EF4-FFF2-40B4-BE49-F238E27FC236}">
                <a16:creationId xmlns:a16="http://schemas.microsoft.com/office/drawing/2014/main" id="{716C70E4-3BBF-49E1-94AC-0005B1FE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133600"/>
            <a:ext cx="317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#11 · 互動網站</a:t>
            </a:r>
          </a:p>
        </p:txBody>
      </p:sp>
      <p:sp>
        <p:nvSpPr>
          <p:cNvPr id="25" name="text-137">
            <a:extLst xmlns:a="http://schemas.openxmlformats.org/drawingml/2006/main">
              <a:ext uri="{FF2B5EF4-FFF2-40B4-BE49-F238E27FC236}">
                <a16:creationId xmlns:a16="http://schemas.microsoft.com/office/drawing/2014/main" id="{11D84234-F8EA-41C1-B616-F2A774FA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571750"/>
            <a:ext cx="317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剛好學：課堂互動 so easy</a:t>
            </a:r>
          </a:p>
        </p:txBody>
      </p:sp>
      <p:sp>
        <p:nvSpPr>
          <p:cNvPr id="26" name="text-138">
            <a:extLst xmlns:a="http://schemas.openxmlformats.org/drawingml/2006/main">
              <a:ext uri="{FF2B5EF4-FFF2-40B4-BE49-F238E27FC236}">
                <a16:creationId xmlns:a16="http://schemas.microsoft.com/office/drawing/2014/main" id="{89B5B912-12FE-4CBE-B456-14914D3D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524250"/>
            <a:ext cx="317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13 種互動模式涵蓋投票、閱讀測驗、文字雲、繪圖題與作品牆。</a:t>
            </a:r>
          </a:p>
        </p:txBody>
      </p:sp>
      <p:sp>
        <p:nvSpPr>
          <p:cNvPr id="27" name="text-139">
            <a:extLst xmlns:a="http://schemas.openxmlformats.org/drawingml/2006/main">
              <a:ext uri="{FF2B5EF4-FFF2-40B4-BE49-F238E27FC236}">
                <a16:creationId xmlns:a16="http://schemas.microsoft.com/office/drawing/2014/main" id="{F42EA744-D30F-491D-9132-49529BB3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48768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349804ac83ac42f1"/>
              </a:rPr>
              <a:t>工具卡片介紹 ↗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fce0100c24965"/>
          <a:stretch xmlns:a="http://schemas.openxmlformats.org/drawingml/2006/main"/>
        </p:blipFill>
        <p:spPr>
          <a:xfrm xmlns:a="http://schemas.openxmlformats.org/drawingml/2006/main">
            <a:off x="10839450" y="46482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9" name="text-140">
            <a:extLst xmlns:a="http://schemas.openxmlformats.org/drawingml/2006/main">
              <a:ext uri="{FF2B5EF4-FFF2-40B4-BE49-F238E27FC236}">
                <a16:creationId xmlns:a16="http://schemas.microsoft.com/office/drawing/2014/main" id="{BB3EF014-AE8B-4F8E-8106-6E04E341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53340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786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7866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25a60fe2cf1f4332"/>
              </a:rPr>
              <a:t>直接開啟應用 ↗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c57fb66e0487f"/>
          <a:stretch xmlns:a="http://schemas.openxmlformats.org/drawingml/2006/main"/>
        </p:blipFill>
        <p:spPr>
          <a:xfrm xmlns:a="http://schemas.openxmlformats.org/drawingml/2006/main">
            <a:off x="10839450" y="52959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</p:spTree>
    <p:extLst>
      <p:ext uri="{BB962C8B-B14F-4D97-AF65-F5344CB8AC3E}">
        <p14:creationId xmlns:p14="http://schemas.microsoft.com/office/powerpoint/2010/main" val="12695359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41">
            <a:extLst xmlns:a="http://schemas.openxmlformats.org/drawingml/2006/main">
              <a:ext uri="{FF2B5EF4-FFF2-40B4-BE49-F238E27FC236}">
                <a16:creationId xmlns:a16="http://schemas.microsoft.com/office/drawing/2014/main" id="{73261EF5-28C1-4E3B-86AC-51627933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AKAI CASE NAVIGATION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89DB0E-7F2E-4D17-9FB2-4F728FA7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阿凱老師實戰案例導航｜評量與部署</a:t>
            </a:r>
          </a:p>
        </p:txBody>
      </p:sp>
      <p:cxnSp>
        <p:nvCxnSpPr>
          <p:cNvPr id="33" name="shape-142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143">
            <a:extLst xmlns:a="http://schemas.openxmlformats.org/drawingml/2006/main">
              <a:ext uri="{FF2B5EF4-FFF2-40B4-BE49-F238E27FC236}">
                <a16:creationId xmlns:a16="http://schemas.microsoft.com/office/drawing/2014/main" id="{F7DCD198-5CE9-4426-BF11-B0C0A3DE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5AE44A1-B6A3-4D47-AF0E-3F924B18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09</a:t>
            </a:r>
          </a:p>
        </p:txBody>
      </p:sp>
      <p:sp>
        <p:nvSpPr>
          <p:cNvPr id="6" name="text-144">
            <a:extLst xmlns:a="http://schemas.openxmlformats.org/drawingml/2006/main">
              <a:ext uri="{FF2B5EF4-FFF2-40B4-BE49-F238E27FC236}">
                <a16:creationId xmlns:a16="http://schemas.microsoft.com/office/drawing/2014/main" id="{DEF98878-62B4-4FF2-A7DD-6BB81C55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1116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比較同一個教學構想如何透過即時回饋、Google Sites 與 GitHub Pages 落地。</a:t>
            </a:r>
          </a:p>
        </p:txBody>
      </p:sp>
      <p:sp>
        <p:nvSpPr>
          <p:cNvPr id="7" name="shape-145">
            <a:extLst xmlns:a="http://schemas.openxmlformats.org/drawingml/2006/main">
              <a:ext uri="{FF2B5EF4-FFF2-40B4-BE49-F238E27FC236}">
                <a16:creationId xmlns:a16="http://schemas.microsoft.com/office/drawing/2014/main" id="{4EC76905-CE98-4038-8259-B99D9AED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3594100" cy="401955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8" name="text-146">
            <a:extLst xmlns:a="http://schemas.openxmlformats.org/drawingml/2006/main">
              <a:ext uri="{FF2B5EF4-FFF2-40B4-BE49-F238E27FC236}">
                <a16:creationId xmlns:a16="http://schemas.microsoft.com/office/drawing/2014/main" id="{33E07B1E-D27E-4E06-9E6E-A73E7278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317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#3 · 形成性評量</a:t>
            </a:r>
          </a:p>
        </p:txBody>
      </p:sp>
      <p:sp>
        <p:nvSpPr>
          <p:cNvPr id="9" name="text-147">
            <a:extLst xmlns:a="http://schemas.openxmlformats.org/drawingml/2006/main">
              <a:ext uri="{FF2B5EF4-FFF2-40B4-BE49-F238E27FC236}">
                <a16:creationId xmlns:a16="http://schemas.microsoft.com/office/drawing/2014/main" id="{0EE5C8CA-B6C5-41EE-B930-37DA94DF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317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學生即時投票系統</a:t>
            </a:r>
          </a:p>
        </p:txBody>
      </p:sp>
      <p:sp>
        <p:nvSpPr>
          <p:cNvPr id="10" name="text-148">
            <a:extLst xmlns:a="http://schemas.openxmlformats.org/drawingml/2006/main">
              <a:ext uri="{FF2B5EF4-FFF2-40B4-BE49-F238E27FC236}">
                <a16:creationId xmlns:a16="http://schemas.microsoft.com/office/drawing/2014/main" id="{89286CAB-E709-499B-9862-7DB2E26F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317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掃 QR Code 即時作答；連投影片上的題目也能快速轉成互動活動。</a:t>
            </a:r>
          </a:p>
        </p:txBody>
      </p:sp>
      <p:sp>
        <p:nvSpPr>
          <p:cNvPr id="11" name="text-149">
            <a:extLst xmlns:a="http://schemas.openxmlformats.org/drawingml/2006/main">
              <a:ext uri="{FF2B5EF4-FFF2-40B4-BE49-F238E27FC236}">
                <a16:creationId xmlns:a16="http://schemas.microsoft.com/office/drawing/2014/main" id="{C39422D2-3620-4A6E-8D72-93D7B155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5cb8adf452b42c5"/>
              </a:rPr>
              <a:t>工具卡片介紹 ↗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1622bbd6e44ab9"/>
          <a:stretch xmlns:a="http://schemas.openxmlformats.org/drawingml/2006/main"/>
        </p:blipFill>
        <p:spPr>
          <a:xfrm xmlns:a="http://schemas.openxmlformats.org/drawingml/2006/main">
            <a:off x="3270250" y="46482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3" name="text-150">
            <a:extLst xmlns:a="http://schemas.openxmlformats.org/drawingml/2006/main">
              <a:ext uri="{FF2B5EF4-FFF2-40B4-BE49-F238E27FC236}">
                <a16:creationId xmlns:a16="http://schemas.microsoft.com/office/drawing/2014/main" id="{2FB5081D-4D89-40A9-8180-070B87FB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786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7866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901e3c038acd41c7"/>
              </a:rPr>
              <a:t>直接開啟應用 ↗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68a513f41e45e7"/>
          <a:stretch xmlns:a="http://schemas.openxmlformats.org/drawingml/2006/main"/>
        </p:blipFill>
        <p:spPr>
          <a:xfrm xmlns:a="http://schemas.openxmlformats.org/drawingml/2006/main">
            <a:off x="3270250" y="52959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15" name="shape-151">
            <a:extLst xmlns:a="http://schemas.openxmlformats.org/drawingml/2006/main">
              <a:ext uri="{FF2B5EF4-FFF2-40B4-BE49-F238E27FC236}">
                <a16:creationId xmlns:a16="http://schemas.microsoft.com/office/drawing/2014/main" id="{EFC56012-02CD-4612-A9FA-015DC56E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1924050"/>
            <a:ext cx="3594100" cy="401955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6" name="text-152">
            <a:extLst xmlns:a="http://schemas.openxmlformats.org/drawingml/2006/main">
              <a:ext uri="{FF2B5EF4-FFF2-40B4-BE49-F238E27FC236}">
                <a16:creationId xmlns:a16="http://schemas.microsoft.com/office/drawing/2014/main" id="{45E3A138-6E32-4EDF-ACD7-6929F17C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133600"/>
            <a:ext cx="317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#24 · Google Sites</a:t>
            </a:r>
          </a:p>
        </p:txBody>
      </p:sp>
      <p:sp>
        <p:nvSpPr>
          <p:cNvPr id="17" name="text-153">
            <a:extLst xmlns:a="http://schemas.openxmlformats.org/drawingml/2006/main">
              <a:ext uri="{FF2B5EF4-FFF2-40B4-BE49-F238E27FC236}">
                <a16:creationId xmlns:a16="http://schemas.microsoft.com/office/drawing/2014/main" id="{DBD8066B-F8B6-40AA-A16A-75A5C897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571750"/>
            <a:ext cx="317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教師午會記錄報告站</a:t>
            </a:r>
          </a:p>
        </p:txBody>
      </p:sp>
      <p:sp>
        <p:nvSpPr>
          <p:cNvPr id="18" name="text-154">
            <a:extLst xmlns:a="http://schemas.openxmlformats.org/drawingml/2006/main">
              <a:ext uri="{FF2B5EF4-FFF2-40B4-BE49-F238E27FC236}">
                <a16:creationId xmlns:a16="http://schemas.microsoft.com/office/drawing/2014/main" id="{74F1B661-9E64-49AA-8D11-C3212E62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524250"/>
            <a:ext cx="317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以 Google Sites 承載會議紀錄與互動式報告，示範嵌入與分享。</a:t>
            </a:r>
          </a:p>
        </p:txBody>
      </p:sp>
      <p:sp>
        <p:nvSpPr>
          <p:cNvPr id="19" name="text-155">
            <a:extLst xmlns:a="http://schemas.openxmlformats.org/drawingml/2006/main">
              <a:ext uri="{FF2B5EF4-FFF2-40B4-BE49-F238E27FC236}">
                <a16:creationId xmlns:a16="http://schemas.microsoft.com/office/drawing/2014/main" id="{4F2B1C6D-7F8B-4B77-A803-D7E76C9A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8768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bae3a1e23c8e4791"/>
              </a:rPr>
              <a:t>工具卡片介紹 ↗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b46f786134f94"/>
          <a:stretch xmlns:a="http://schemas.openxmlformats.org/drawingml/2006/main"/>
        </p:blipFill>
        <p:spPr>
          <a:xfrm xmlns:a="http://schemas.openxmlformats.org/drawingml/2006/main">
            <a:off x="7054850" y="46482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1" name="text-156">
            <a:extLst xmlns:a="http://schemas.openxmlformats.org/drawingml/2006/main">
              <a:ext uri="{FF2B5EF4-FFF2-40B4-BE49-F238E27FC236}">
                <a16:creationId xmlns:a16="http://schemas.microsoft.com/office/drawing/2014/main" id="{77747D93-927A-4917-9A7A-5200C76F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53340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786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7866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2821442ffc034605"/>
              </a:rPr>
              <a:t>直接開啟應用 ↗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ee3cb18524452b"/>
          <a:stretch xmlns:a="http://schemas.openxmlformats.org/drawingml/2006/main"/>
        </p:blipFill>
        <p:spPr>
          <a:xfrm xmlns:a="http://schemas.openxmlformats.org/drawingml/2006/main">
            <a:off x="7054850" y="52959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3" name="shape-157">
            <a:extLst xmlns:a="http://schemas.openxmlformats.org/drawingml/2006/main">
              <a:ext uri="{FF2B5EF4-FFF2-40B4-BE49-F238E27FC236}">
                <a16:creationId xmlns:a16="http://schemas.microsoft.com/office/drawing/2014/main" id="{326C13BA-B302-4644-802E-D115C252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0" y="1924050"/>
            <a:ext cx="3594100" cy="4019550"/>
          </a:xfrm>
          <a:prstGeom xmlns:a="http://schemas.openxmlformats.org/drawingml/2006/main" prst="roundRect">
            <a:avLst>
              <a:gd name="adj" fmla="val 42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24" name="text-158">
            <a:extLst xmlns:a="http://schemas.openxmlformats.org/drawingml/2006/main">
              <a:ext uri="{FF2B5EF4-FFF2-40B4-BE49-F238E27FC236}">
                <a16:creationId xmlns:a16="http://schemas.microsoft.com/office/drawing/2014/main" id="{6E1B84A5-630B-441D-8412-8DC09BA3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133600"/>
            <a:ext cx="317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#81 · GitHub Pages</a:t>
            </a:r>
          </a:p>
        </p:txBody>
      </p:sp>
      <p:sp>
        <p:nvSpPr>
          <p:cNvPr id="25" name="text-159">
            <a:extLst xmlns:a="http://schemas.openxmlformats.org/drawingml/2006/main">
              <a:ext uri="{FF2B5EF4-FFF2-40B4-BE49-F238E27FC236}">
                <a16:creationId xmlns:a16="http://schemas.microsoft.com/office/drawing/2014/main" id="{1B6FA73D-234B-42BD-9BDE-66D78711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571750"/>
            <a:ext cx="317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國小資訊科技教學駕駛艙</a:t>
            </a:r>
          </a:p>
        </p:txBody>
      </p:sp>
      <p:sp>
        <p:nvSpPr>
          <p:cNvPr id="26" name="text-160">
            <a:extLst xmlns:a="http://schemas.openxmlformats.org/drawingml/2006/main">
              <a:ext uri="{FF2B5EF4-FFF2-40B4-BE49-F238E27FC236}">
                <a16:creationId xmlns:a16="http://schemas.microsoft.com/office/drawing/2014/main" id="{27661C9A-47FD-4652-B0D0-AB474CF7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524250"/>
            <a:ext cx="317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整合全學期課程、影片、Canvas 關卡與評量入口的一站式教學網站。</a:t>
            </a:r>
          </a:p>
        </p:txBody>
      </p:sp>
      <p:sp>
        <p:nvSpPr>
          <p:cNvPr id="27" name="text-161">
            <a:extLst xmlns:a="http://schemas.openxmlformats.org/drawingml/2006/main">
              <a:ext uri="{FF2B5EF4-FFF2-40B4-BE49-F238E27FC236}">
                <a16:creationId xmlns:a16="http://schemas.microsoft.com/office/drawing/2014/main" id="{0760F38B-CB36-498E-9951-1028C95A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48768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189c087771244654"/>
              </a:rPr>
              <a:t>工具卡片介紹 ↗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f30e48f2c40ac"/>
          <a:stretch xmlns:a="http://schemas.openxmlformats.org/drawingml/2006/main"/>
        </p:blipFill>
        <p:spPr>
          <a:xfrm xmlns:a="http://schemas.openxmlformats.org/drawingml/2006/main">
            <a:off x="10839450" y="46482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9" name="text-162">
            <a:extLst xmlns:a="http://schemas.openxmlformats.org/drawingml/2006/main">
              <a:ext uri="{FF2B5EF4-FFF2-40B4-BE49-F238E27FC236}">
                <a16:creationId xmlns:a16="http://schemas.microsoft.com/office/drawing/2014/main" id="{EB6A8BD0-9499-4A0C-BDC2-581FF03D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5334000"/>
            <a:ext cx="247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786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7866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a4a1b6c792cf4653"/>
              </a:rPr>
              <a:t>直接開啟應用 ↗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5122d67cfc4c28"/>
          <a:stretch xmlns:a="http://schemas.openxmlformats.org/drawingml/2006/main"/>
        </p:blipFill>
        <p:spPr>
          <a:xfrm xmlns:a="http://schemas.openxmlformats.org/drawingml/2006/main">
            <a:off x="10839450" y="52959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</p:spTree>
    <p:extLst>
      <p:ext uri="{BB962C8B-B14F-4D97-AF65-F5344CB8AC3E}">
        <p14:creationId xmlns:p14="http://schemas.microsoft.com/office/powerpoint/2010/main" val="3334069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-163">
            <a:extLst xmlns:a="http://schemas.openxmlformats.org/drawingml/2006/main">
              <a:ext uri="{FF2B5EF4-FFF2-40B4-BE49-F238E27FC236}">
                <a16:creationId xmlns:a16="http://schemas.microsoft.com/office/drawing/2014/main" id="{3776A621-28C3-4633-891C-CE29BF2F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THE TEACHING STUDIO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ABD3E0-0B3A-41C0-9851-6FB5944C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一條完整產線，四個工具各司其職</a:t>
            </a:r>
          </a:p>
        </p:txBody>
      </p:sp>
      <p:cxnSp>
        <p:nvCxnSpPr>
          <p:cNvPr id="38" name="shape-16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165">
            <a:extLst xmlns:a="http://schemas.openxmlformats.org/drawingml/2006/main">
              <a:ext uri="{FF2B5EF4-FFF2-40B4-BE49-F238E27FC236}">
                <a16:creationId xmlns:a16="http://schemas.microsoft.com/office/drawing/2014/main" id="{73999E0A-B2B5-463C-969A-CE7199B8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9A8F39A-9608-41F1-A3B8-4A6F8C73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10</a:t>
            </a:r>
          </a:p>
        </p:txBody>
      </p:sp>
      <p:sp>
        <p:nvSpPr>
          <p:cNvPr id="6" name="shape-166">
            <a:extLst xmlns:a="http://schemas.openxmlformats.org/drawingml/2006/main">
              <a:ext uri="{FF2B5EF4-FFF2-40B4-BE49-F238E27FC236}">
                <a16:creationId xmlns:a16="http://schemas.microsoft.com/office/drawing/2014/main" id="{38273E4D-6265-43ED-85AF-2839D152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shape-167">
            <a:extLst xmlns:a="http://schemas.openxmlformats.org/drawingml/2006/main">
              <a:ext uri="{FF2B5EF4-FFF2-40B4-BE49-F238E27FC236}">
                <a16:creationId xmlns:a16="http://schemas.microsoft.com/office/drawing/2014/main" id="{AC4713F2-467D-4854-BE99-5E30D9C1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68">
            <a:extLst xmlns:a="http://schemas.openxmlformats.org/drawingml/2006/main">
              <a:ext uri="{FF2B5EF4-FFF2-40B4-BE49-F238E27FC236}">
                <a16:creationId xmlns:a16="http://schemas.microsoft.com/office/drawing/2014/main" id="{7CC6C539-BAFA-4C77-8673-377C3347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169">
            <a:extLst xmlns:a="http://schemas.openxmlformats.org/drawingml/2006/main">
              <a:ext uri="{FF2B5EF4-FFF2-40B4-BE49-F238E27FC236}">
                <a16:creationId xmlns:a16="http://schemas.microsoft.com/office/drawing/2014/main" id="{BA5E0062-0EBE-4C8A-BCF6-056F2F43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來源</a:t>
            </a:r>
          </a:p>
        </p:txBody>
      </p:sp>
      <p:sp>
        <p:nvSpPr>
          <p:cNvPr id="10" name="text-170">
            <a:extLst xmlns:a="http://schemas.openxmlformats.org/drawingml/2006/main">
              <a:ext uri="{FF2B5EF4-FFF2-40B4-BE49-F238E27FC236}">
                <a16:creationId xmlns:a16="http://schemas.microsoft.com/office/drawing/2014/main" id="{C6327432-3F73-4B7C-9673-C8B7CCBE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課綱、論文、講義、網站</a:t>
            </a:r>
          </a:p>
        </p:txBody>
      </p:sp>
      <p:sp>
        <p:nvSpPr>
          <p:cNvPr id="11" name="text-171">
            <a:extLst xmlns:a="http://schemas.openxmlformats.org/drawingml/2006/main">
              <a:ext uri="{FF2B5EF4-FFF2-40B4-BE49-F238E27FC236}">
                <a16:creationId xmlns:a16="http://schemas.microsoft.com/office/drawing/2014/main" id="{B3F0672A-6558-46CC-8EB6-DC0C7535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172">
            <a:extLst xmlns:a="http://schemas.openxmlformats.org/drawingml/2006/main">
              <a:ext uri="{FF2B5EF4-FFF2-40B4-BE49-F238E27FC236}">
                <a16:creationId xmlns:a16="http://schemas.microsoft.com/office/drawing/2014/main" id="{EF3AF5D3-97BA-4AC6-87C2-063BEE82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shape-173">
            <a:extLst xmlns:a="http://schemas.openxmlformats.org/drawingml/2006/main">
              <a:ext uri="{FF2B5EF4-FFF2-40B4-BE49-F238E27FC236}">
                <a16:creationId xmlns:a16="http://schemas.microsoft.com/office/drawing/2014/main" id="{9671850F-15A9-46DB-866C-4AA21B87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74">
            <a:extLst xmlns:a="http://schemas.openxmlformats.org/drawingml/2006/main">
              <a:ext uri="{FF2B5EF4-FFF2-40B4-BE49-F238E27FC236}">
                <a16:creationId xmlns:a16="http://schemas.microsoft.com/office/drawing/2014/main" id="{345DFC91-9F62-45CD-ACA1-012BEFD6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175">
            <a:extLst xmlns:a="http://schemas.openxmlformats.org/drawingml/2006/main">
              <a:ext uri="{FF2B5EF4-FFF2-40B4-BE49-F238E27FC236}">
                <a16:creationId xmlns:a16="http://schemas.microsoft.com/office/drawing/2014/main" id="{64C6AC91-6F3D-404C-B533-B06C296A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Notebook</a:t>
            </a:r>
          </a:p>
        </p:txBody>
      </p:sp>
      <p:sp>
        <p:nvSpPr>
          <p:cNvPr id="16" name="text-176">
            <a:extLst xmlns:a="http://schemas.openxmlformats.org/drawingml/2006/main">
              <a:ext uri="{FF2B5EF4-FFF2-40B4-BE49-F238E27FC236}">
                <a16:creationId xmlns:a16="http://schemas.microsoft.com/office/drawing/2014/main" id="{B617AA3D-6A6F-4DBA-A02F-5BC6F22F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查證、整理、轉化</a:t>
            </a:r>
          </a:p>
        </p:txBody>
      </p:sp>
      <p:sp>
        <p:nvSpPr>
          <p:cNvPr id="17" name="text-177">
            <a:extLst xmlns:a="http://schemas.openxmlformats.org/drawingml/2006/main">
              <a:ext uri="{FF2B5EF4-FFF2-40B4-BE49-F238E27FC236}">
                <a16:creationId xmlns:a16="http://schemas.microsoft.com/office/drawing/2014/main" id="{4BAFA4E3-637A-4904-AB0E-FE440235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178">
            <a:extLst xmlns:a="http://schemas.openxmlformats.org/drawingml/2006/main">
              <a:ext uri="{FF2B5EF4-FFF2-40B4-BE49-F238E27FC236}">
                <a16:creationId xmlns:a16="http://schemas.microsoft.com/office/drawing/2014/main" id="{CDD11071-345D-48F8-9569-EDDCEFC1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shape-179">
            <a:extLst xmlns:a="http://schemas.openxmlformats.org/drawingml/2006/main">
              <a:ext uri="{FF2B5EF4-FFF2-40B4-BE49-F238E27FC236}">
                <a16:creationId xmlns:a16="http://schemas.microsoft.com/office/drawing/2014/main" id="{8FF02785-505F-4DE4-A452-B309C82A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80">
            <a:extLst xmlns:a="http://schemas.openxmlformats.org/drawingml/2006/main">
              <a:ext uri="{FF2B5EF4-FFF2-40B4-BE49-F238E27FC236}">
                <a16:creationId xmlns:a16="http://schemas.microsoft.com/office/drawing/2014/main" id="{969CECCD-4AE5-4827-AED3-C792933A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181">
            <a:extLst xmlns:a="http://schemas.openxmlformats.org/drawingml/2006/main">
              <a:ext uri="{FF2B5EF4-FFF2-40B4-BE49-F238E27FC236}">
                <a16:creationId xmlns:a16="http://schemas.microsoft.com/office/drawing/2014/main" id="{644578A6-207D-4A7E-890C-6C01AEBC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Gem</a:t>
            </a:r>
          </a:p>
        </p:txBody>
      </p:sp>
      <p:sp>
        <p:nvSpPr>
          <p:cNvPr id="22" name="text-182">
            <a:extLst xmlns:a="http://schemas.openxmlformats.org/drawingml/2006/main">
              <a:ext uri="{FF2B5EF4-FFF2-40B4-BE49-F238E27FC236}">
                <a16:creationId xmlns:a16="http://schemas.microsoft.com/office/drawing/2014/main" id="{7DAC7C4A-6064-4A77-B0A1-1E6F2338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固定角色與方法</a:t>
            </a:r>
          </a:p>
        </p:txBody>
      </p:sp>
      <p:sp>
        <p:nvSpPr>
          <p:cNvPr id="23" name="text-183">
            <a:extLst xmlns:a="http://schemas.openxmlformats.org/drawingml/2006/main">
              <a:ext uri="{FF2B5EF4-FFF2-40B4-BE49-F238E27FC236}">
                <a16:creationId xmlns:a16="http://schemas.microsoft.com/office/drawing/2014/main" id="{A4CF3161-6A2E-4B95-92CA-985EE762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184">
            <a:extLst xmlns:a="http://schemas.openxmlformats.org/drawingml/2006/main">
              <a:ext uri="{FF2B5EF4-FFF2-40B4-BE49-F238E27FC236}">
                <a16:creationId xmlns:a16="http://schemas.microsoft.com/office/drawing/2014/main" id="{296F2B9F-CB16-46E9-8F52-565023B2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shape-185">
            <a:extLst xmlns:a="http://schemas.openxmlformats.org/drawingml/2006/main">
              <a:ext uri="{FF2B5EF4-FFF2-40B4-BE49-F238E27FC236}">
                <a16:creationId xmlns:a16="http://schemas.microsoft.com/office/drawing/2014/main" id="{CCA6D8CF-52DD-4191-8241-4CA06319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186">
            <a:extLst xmlns:a="http://schemas.openxmlformats.org/drawingml/2006/main">
              <a:ext uri="{FF2B5EF4-FFF2-40B4-BE49-F238E27FC236}">
                <a16:creationId xmlns:a16="http://schemas.microsoft.com/office/drawing/2014/main" id="{96D9C0D1-0ADB-46C8-81D8-08D8E7E2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187">
            <a:extLst xmlns:a="http://schemas.openxmlformats.org/drawingml/2006/main">
              <a:ext uri="{FF2B5EF4-FFF2-40B4-BE49-F238E27FC236}">
                <a16:creationId xmlns:a16="http://schemas.microsoft.com/office/drawing/2014/main" id="{D5C97A84-FD82-442E-9AA4-970CCABE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Canvas</a:t>
            </a:r>
          </a:p>
        </p:txBody>
      </p:sp>
      <p:sp>
        <p:nvSpPr>
          <p:cNvPr id="28" name="text-188">
            <a:extLst xmlns:a="http://schemas.openxmlformats.org/drawingml/2006/main">
              <a:ext uri="{FF2B5EF4-FFF2-40B4-BE49-F238E27FC236}">
                <a16:creationId xmlns:a16="http://schemas.microsoft.com/office/drawing/2014/main" id="{F80BE6FE-7003-4A1A-9232-6342AC3D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做出互動作品</a:t>
            </a:r>
          </a:p>
        </p:txBody>
      </p:sp>
      <p:sp>
        <p:nvSpPr>
          <p:cNvPr id="29" name="text-189">
            <a:extLst xmlns:a="http://schemas.openxmlformats.org/drawingml/2006/main">
              <a:ext uri="{FF2B5EF4-FFF2-40B4-BE49-F238E27FC236}">
                <a16:creationId xmlns:a16="http://schemas.microsoft.com/office/drawing/2014/main" id="{A6F4CB4B-C7FA-4730-986C-493C4F17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30" name="shape-190">
            <a:extLst xmlns:a="http://schemas.openxmlformats.org/drawingml/2006/main">
              <a:ext uri="{FF2B5EF4-FFF2-40B4-BE49-F238E27FC236}">
                <a16:creationId xmlns:a16="http://schemas.microsoft.com/office/drawing/2014/main" id="{B39B3F4E-A811-4104-BBF5-92516ECB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76400"/>
            <a:ext cx="2247900" cy="3143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shape-191">
            <a:extLst xmlns:a="http://schemas.openxmlformats.org/drawingml/2006/main">
              <a:ext uri="{FF2B5EF4-FFF2-40B4-BE49-F238E27FC236}">
                <a16:creationId xmlns:a16="http://schemas.microsoft.com/office/drawing/2014/main" id="{B4D8C3C7-5FC3-4ADE-9836-B02DBFCC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90700"/>
            <a:ext cx="1905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192">
            <a:extLst xmlns:a="http://schemas.openxmlformats.org/drawingml/2006/main">
              <a:ext uri="{FF2B5EF4-FFF2-40B4-BE49-F238E27FC236}">
                <a16:creationId xmlns:a16="http://schemas.microsoft.com/office/drawing/2014/main" id="{2E792DE6-5331-4C41-BE9E-65A6F7E0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33" name="text-193">
            <a:extLst xmlns:a="http://schemas.openxmlformats.org/drawingml/2006/main">
              <a:ext uri="{FF2B5EF4-FFF2-40B4-BE49-F238E27FC236}">
                <a16:creationId xmlns:a16="http://schemas.microsoft.com/office/drawing/2014/main" id="{55B35BA9-4B57-4618-91C8-53799102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86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部署</a:t>
            </a:r>
          </a:p>
        </p:txBody>
      </p:sp>
      <p:sp>
        <p:nvSpPr>
          <p:cNvPr id="34" name="text-194">
            <a:extLst xmlns:a="http://schemas.openxmlformats.org/drawingml/2006/main">
              <a:ext uri="{FF2B5EF4-FFF2-40B4-BE49-F238E27FC236}">
                <a16:creationId xmlns:a16="http://schemas.microsoft.com/office/drawing/2014/main" id="{E682EBA9-107F-470B-8EA0-A1F2CADE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52800"/>
            <a:ext cx="182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分享、收集回饋</a:t>
            </a:r>
          </a:p>
        </p:txBody>
      </p:sp>
      <p:sp>
        <p:nvSpPr>
          <p:cNvPr id="35" name="text-195">
            <a:extLst xmlns:a="http://schemas.openxmlformats.org/drawingml/2006/main">
              <a:ext uri="{FF2B5EF4-FFF2-40B4-BE49-F238E27FC236}">
                <a16:creationId xmlns:a16="http://schemas.microsoft.com/office/drawing/2014/main" id="{DC30C547-E969-41F3-978C-389A22FC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</p:spTree>
    <p:extLst>
      <p:ext uri="{BB962C8B-B14F-4D97-AF65-F5344CB8AC3E}">
        <p14:creationId xmlns:p14="http://schemas.microsoft.com/office/powerpoint/2010/main" val="14861752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96">
            <a:extLst xmlns:a="http://schemas.openxmlformats.org/drawingml/2006/main">
              <a:ext uri="{FF2B5EF4-FFF2-40B4-BE49-F238E27FC236}">
                <a16:creationId xmlns:a16="http://schemas.microsoft.com/office/drawing/2014/main" id="{84FD6714-D402-4340-8EE2-893EB7C8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84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2" name="text-197">
            <a:extLst xmlns:a="http://schemas.openxmlformats.org/drawingml/2006/main">
              <a:ext uri="{FF2B5EF4-FFF2-40B4-BE49-F238E27FC236}">
                <a16:creationId xmlns:a16="http://schemas.microsoft.com/office/drawing/2014/main" id="{6223550F-2C38-48CE-9369-71BAB2DA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Gemini Notebook</a:t>
            </a:r>
          </a:p>
        </p:txBody>
      </p:sp>
      <p:sp>
        <p:nvSpPr>
          <p:cNvPr id="3" name="text-198">
            <a:extLst xmlns:a="http://schemas.openxmlformats.org/drawingml/2006/main">
              <a:ext uri="{FF2B5EF4-FFF2-40B4-BE49-F238E27FC236}">
                <a16:creationId xmlns:a16="http://schemas.microsoft.com/office/drawing/2014/main" id="{EE7E4BDD-D4CD-44B6-AED0-7046C4A3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8477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把 AI 的回答綁在你選定的來源上，讓文獻整理、觀點比較與教學轉化都有跡可循。</a:t>
            </a:r>
          </a:p>
        </p:txBody>
      </p:sp>
      <p:sp>
        <p:nvSpPr>
          <p:cNvPr id="4" name="shape-199">
            <a:extLst xmlns:a="http://schemas.openxmlformats.org/drawingml/2006/main">
              <a:ext uri="{FF2B5EF4-FFF2-40B4-BE49-F238E27FC236}">
                <a16:creationId xmlns:a16="http://schemas.microsoft.com/office/drawing/2014/main" id="{2950F949-47BA-4A20-971D-4EED3F83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10000"/>
            <a:ext cx="1524000" cy="1524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200">
            <a:extLst xmlns:a="http://schemas.openxmlformats.org/drawingml/2006/main">
              <a:ext uri="{FF2B5EF4-FFF2-40B4-BE49-F238E27FC236}">
                <a16:creationId xmlns:a16="http://schemas.microsoft.com/office/drawing/2014/main" id="{89122D4F-63DF-4088-A34B-E9E72A20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1480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動手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做</a:t>
            </a:r>
          </a:p>
        </p:txBody>
      </p:sp>
      <p:cxnSp>
        <p:nvCxnSpPr>
          <p:cNvPr id="18" name="shape-201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7" name="text-202">
            <a:extLst xmlns:a="http://schemas.openxmlformats.org/drawingml/2006/main">
              <a:ext uri="{FF2B5EF4-FFF2-40B4-BE49-F238E27FC236}">
                <a16:creationId xmlns:a16="http://schemas.microsoft.com/office/drawing/2014/main" id="{989EF9FD-D870-496D-BDCF-58E073B2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079B6C3-B267-4297-9D3C-366A33A0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11</a:t>
            </a:r>
          </a:p>
        </p:txBody>
      </p:sp>
      <p:sp>
        <p:nvSpPr>
          <p:cNvPr id="9" name="text-648">
            <a:extLst xmlns:a="http://schemas.openxmlformats.org/drawingml/2006/main">
              <a:ext uri="{FF2B5EF4-FFF2-40B4-BE49-F238E27FC236}">
                <a16:creationId xmlns:a16="http://schemas.microsoft.com/office/drawing/2014/main" id="{20A5EF25-64D5-4113-99A8-1C5F4497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4572c2d3d7c4658"/>
              </a:rPr>
              <a:t>開啟 Gemini Notebook ↗</a:t>
            </a:r>
          </a:p>
        </p:txBody>
      </p:sp>
      <p:sp>
        <p:nvSpPr>
          <p:cNvPr id="10" name="shape-674">
            <a:extLst xmlns:a="http://schemas.openxmlformats.org/drawingml/2006/main">
              <a:ext uri="{FF2B5EF4-FFF2-40B4-BE49-F238E27FC236}">
                <a16:creationId xmlns:a16="http://schemas.microsoft.com/office/drawing/2014/main" id="{2D257939-97B7-41B6-9816-38CB2156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c9bc2d4d64841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12" name="text-675">
            <a:extLst xmlns:a="http://schemas.openxmlformats.org/drawingml/2006/main">
              <a:ext uri="{FF2B5EF4-FFF2-40B4-BE49-F238E27FC236}">
                <a16:creationId xmlns:a16="http://schemas.microsoft.com/office/drawing/2014/main" id="{9B78AA9C-C7FD-43E3-840C-B73557B5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Notebook</a:t>
            </a:r>
          </a:p>
        </p:txBody>
      </p:sp>
    </p:spTree>
    <p:extLst>
      <p:ext uri="{BB962C8B-B14F-4D97-AF65-F5344CB8AC3E}">
        <p14:creationId xmlns:p14="http://schemas.microsoft.com/office/powerpoint/2010/main" val="722459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203">
            <a:extLst xmlns:a="http://schemas.openxmlformats.org/drawingml/2006/main">
              <a:ext uri="{FF2B5EF4-FFF2-40B4-BE49-F238E27FC236}">
                <a16:creationId xmlns:a16="http://schemas.microsoft.com/office/drawing/2014/main" id="{69E53136-87B0-427D-A710-3A29CC4F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SOURCE-GROUNDED WORKSPACE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26CC96-F3FE-487F-A2D8-FA18226C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Gemini Notebook：先管理證據，再生成內容</a:t>
            </a:r>
          </a:p>
        </p:txBody>
      </p:sp>
      <p:cxnSp>
        <p:nvCxnSpPr>
          <p:cNvPr id="24" name="shape-20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205">
            <a:extLst xmlns:a="http://schemas.openxmlformats.org/drawingml/2006/main">
              <a:ext uri="{FF2B5EF4-FFF2-40B4-BE49-F238E27FC236}">
                <a16:creationId xmlns:a16="http://schemas.microsoft.com/office/drawing/2014/main" id="{865EC41C-51E2-4809-95F7-0E2090AE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9A72B7E-33DD-46B0-BEC1-86444659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12</a:t>
            </a:r>
          </a:p>
        </p:txBody>
      </p:sp>
      <p:sp>
        <p:nvSpPr>
          <p:cNvPr id="6" name="shape-206">
            <a:extLst xmlns:a="http://schemas.openxmlformats.org/drawingml/2006/main">
              <a:ext uri="{FF2B5EF4-FFF2-40B4-BE49-F238E27FC236}">
                <a16:creationId xmlns:a16="http://schemas.microsoft.com/office/drawing/2014/main" id="{5DE2514E-4AE9-4383-B0B6-C1341299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3625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shape-207">
            <a:extLst xmlns:a="http://schemas.openxmlformats.org/drawingml/2006/main">
              <a:ext uri="{FF2B5EF4-FFF2-40B4-BE49-F238E27FC236}">
                <a16:creationId xmlns:a16="http://schemas.microsoft.com/office/drawing/2014/main" id="{A6BE8558-5BF5-40BF-941D-2A2AB1E8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76400"/>
            <a:ext cx="55911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8" name="text-208">
            <a:extLst xmlns:a="http://schemas.openxmlformats.org/drawingml/2006/main">
              <a:ext uri="{FF2B5EF4-FFF2-40B4-BE49-F238E27FC236}">
                <a16:creationId xmlns:a16="http://schemas.microsoft.com/office/drawing/2014/main" id="{58A7BCD7-4804-406C-92F6-9C891501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791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一般聊天</a:t>
            </a:r>
          </a:p>
        </p:txBody>
      </p:sp>
      <p:sp>
        <p:nvSpPr>
          <p:cNvPr id="9" name="text-209">
            <a:extLst xmlns:a="http://schemas.openxmlformats.org/drawingml/2006/main">
              <a:ext uri="{FF2B5EF4-FFF2-40B4-BE49-F238E27FC236}">
                <a16:creationId xmlns:a16="http://schemas.microsoft.com/office/drawing/2014/main" id="{5BA644D8-6D2F-420A-9EA8-FD7A2545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7910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問題先出現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來源可能來自模型既有知識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需要自行追查依據</a:t>
            </a:r>
          </a:p>
        </p:txBody>
      </p:sp>
      <p:sp>
        <p:nvSpPr>
          <p:cNvPr id="10" name="text-210">
            <a:extLst xmlns:a="http://schemas.openxmlformats.org/drawingml/2006/main">
              <a:ext uri="{FF2B5EF4-FFF2-40B4-BE49-F238E27FC236}">
                <a16:creationId xmlns:a16="http://schemas.microsoft.com/office/drawing/2014/main" id="{1D3D8291-C80F-4856-B609-76142091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00250"/>
            <a:ext cx="4981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Gemini Notebook</a:t>
            </a:r>
          </a:p>
        </p:txBody>
      </p:sp>
      <p:sp>
        <p:nvSpPr>
          <p:cNvPr id="11" name="text-211">
            <a:extLst xmlns:a="http://schemas.openxmlformats.org/drawingml/2006/main">
              <a:ext uri="{FF2B5EF4-FFF2-40B4-BE49-F238E27FC236}">
                <a16:creationId xmlns:a16="http://schemas.microsoft.com/office/drawing/2014/main" id="{6D7725D5-A037-4BB4-BDD5-0B94BC45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81300"/>
            <a:ext cx="49815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來源先進入筆記本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依使用者提供的來源回答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可回到引用位置檢查</a:t>
            </a:r>
          </a:p>
        </p:txBody>
      </p:sp>
      <p:sp>
        <p:nvSpPr>
          <p:cNvPr id="12" name="text-212">
            <a:extLst xmlns:a="http://schemas.openxmlformats.org/drawingml/2006/main">
              <a:ext uri="{FF2B5EF4-FFF2-40B4-BE49-F238E27FC236}">
                <a16:creationId xmlns:a16="http://schemas.microsoft.com/office/drawing/2014/main" id="{FD0F1B1C-2A6D-424C-969C-45C1D3D7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38700"/>
            <a:ext cx="1066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提問</a:t>
            </a:r>
          </a:p>
        </p:txBody>
      </p:sp>
      <p:sp>
        <p:nvSpPr>
          <p:cNvPr id="13" name="text-213">
            <a:extLst xmlns:a="http://schemas.openxmlformats.org/drawingml/2006/main">
              <a:ext uri="{FF2B5EF4-FFF2-40B4-BE49-F238E27FC236}">
                <a16:creationId xmlns:a16="http://schemas.microsoft.com/office/drawing/2014/main" id="{31B41071-81FD-4EDE-A839-C66FD239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1066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引用</a:t>
            </a:r>
          </a:p>
        </p:txBody>
      </p:sp>
      <p:sp>
        <p:nvSpPr>
          <p:cNvPr id="14" name="text-214">
            <a:extLst xmlns:a="http://schemas.openxmlformats.org/drawingml/2006/main">
              <a:ext uri="{FF2B5EF4-FFF2-40B4-BE49-F238E27FC236}">
                <a16:creationId xmlns:a16="http://schemas.microsoft.com/office/drawing/2014/main" id="{872BC93E-3A7C-4F0A-B825-354771B5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838700"/>
            <a:ext cx="1066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原文</a:t>
            </a:r>
          </a:p>
        </p:txBody>
      </p:sp>
      <p:cxnSp>
        <p:nvCxnSpPr>
          <p:cNvPr id="36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524750" y="50768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FE8"/>
            </a:solidFill>
            <a:prstDash val="solid"/>
            <a:tailEnd type="arrow" w="sm" len="sm"/>
          </a:ln>
        </p:spPr>
      </p:cxnSp>
      <p:cxnSp>
        <p:nvCxnSpPr>
          <p:cNvPr id="37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124950" y="50768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AFA4"/>
            </a:solidFill>
            <a:prstDash val="solid"/>
            <a:tailEnd type="arrow" w="sm" len="sm"/>
          </a:ln>
        </p:spPr>
      </p:cxnSp>
      <p:sp>
        <p:nvSpPr>
          <p:cNvPr id="17" name="text-215">
            <a:extLst xmlns:a="http://schemas.openxmlformats.org/drawingml/2006/main">
              <a:ext uri="{FF2B5EF4-FFF2-40B4-BE49-F238E27FC236}">
                <a16:creationId xmlns:a16="http://schemas.microsoft.com/office/drawing/2014/main" id="{815CA869-C776-4DD4-9545-276E2113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435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可追查鏈：回答 → 引用位置 → 原始段落</a:t>
            </a:r>
          </a:p>
        </p:txBody>
      </p:sp>
      <p:sp>
        <p:nvSpPr>
          <p:cNvPr id="18" name="text-649">
            <a:extLst xmlns:a="http://schemas.openxmlformats.org/drawingml/2006/main">
              <a:ext uri="{FF2B5EF4-FFF2-40B4-BE49-F238E27FC236}">
                <a16:creationId xmlns:a16="http://schemas.microsoft.com/office/drawing/2014/main" id="{C4B79AE9-1274-4EC8-8A6A-02C49E5C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6fe6858bf1634cc3"/>
              </a:rPr>
              <a:t>開啟 Gemini Notebook ↗</a:t>
            </a:r>
          </a:p>
        </p:txBody>
      </p:sp>
      <p:sp>
        <p:nvSpPr>
          <p:cNvPr id="19" name="shape-676">
            <a:extLst xmlns:a="http://schemas.openxmlformats.org/drawingml/2006/main">
              <a:ext uri="{FF2B5EF4-FFF2-40B4-BE49-F238E27FC236}">
                <a16:creationId xmlns:a16="http://schemas.microsoft.com/office/drawing/2014/main" id="{73BE543D-1EEB-4B11-9408-5E1EDAA3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bb9859194844e9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1" name="text-677">
            <a:extLst xmlns:a="http://schemas.openxmlformats.org/drawingml/2006/main">
              <a:ext uri="{FF2B5EF4-FFF2-40B4-BE49-F238E27FC236}">
                <a16:creationId xmlns:a16="http://schemas.microsoft.com/office/drawing/2014/main" id="{6CBCFD0D-D8DA-439B-8B44-90E4F343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Notebook</a:t>
            </a:r>
          </a:p>
        </p:txBody>
      </p:sp>
    </p:spTree>
    <p:extLst>
      <p:ext uri="{BB962C8B-B14F-4D97-AF65-F5344CB8AC3E}">
        <p14:creationId xmlns:p14="http://schemas.microsoft.com/office/powerpoint/2010/main" val="8522956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216">
            <a:extLst xmlns:a="http://schemas.openxmlformats.org/drawingml/2006/main">
              <a:ext uri="{FF2B5EF4-FFF2-40B4-BE49-F238E27FC236}">
                <a16:creationId xmlns:a16="http://schemas.microsoft.com/office/drawing/2014/main" id="{340E1FE9-89F9-424E-908B-A1B1FF37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SOURCE KIT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492627-BA2F-4C02-9573-C784C30E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來源包 3–2–1：小而精，先求可用</a:t>
            </a:r>
          </a:p>
        </p:txBody>
      </p:sp>
      <p:cxnSp>
        <p:nvCxnSpPr>
          <p:cNvPr id="24" name="shape-217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218">
            <a:extLst xmlns:a="http://schemas.openxmlformats.org/drawingml/2006/main">
              <a:ext uri="{FF2B5EF4-FFF2-40B4-BE49-F238E27FC236}">
                <a16:creationId xmlns:a16="http://schemas.microsoft.com/office/drawing/2014/main" id="{FE7E1645-0684-470D-84D5-4C2FB55C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A948FF7-85BA-40F6-90D4-0C84CABA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13</a:t>
            </a:r>
          </a:p>
        </p:txBody>
      </p:sp>
      <p:sp>
        <p:nvSpPr>
          <p:cNvPr id="6" name="shape-219">
            <a:extLst xmlns:a="http://schemas.openxmlformats.org/drawingml/2006/main">
              <a:ext uri="{FF2B5EF4-FFF2-40B4-BE49-F238E27FC236}">
                <a16:creationId xmlns:a16="http://schemas.microsoft.com/office/drawing/2014/main" id="{A0074152-67C3-45BC-B599-EE49C9AC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3581400" cy="43053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text-220">
            <a:extLst xmlns:a="http://schemas.openxmlformats.org/drawingml/2006/main">
              <a:ext uri="{FF2B5EF4-FFF2-40B4-BE49-F238E27FC236}">
                <a16:creationId xmlns:a16="http://schemas.microsoft.com/office/drawing/2014/main" id="{443451D9-6511-4DB2-8E9B-A5F034B9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8" name="text-221">
            <a:extLst xmlns:a="http://schemas.openxmlformats.org/drawingml/2006/main">
              <a:ext uri="{FF2B5EF4-FFF2-40B4-BE49-F238E27FC236}">
                <a16:creationId xmlns:a16="http://schemas.microsoft.com/office/drawing/2014/main" id="{CA26CCB2-8330-4D61-B04E-1B90E707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3 份核心來源</a:t>
            </a:r>
          </a:p>
        </p:txBody>
      </p:sp>
      <p:sp>
        <p:nvSpPr>
          <p:cNvPr id="9" name="text-222">
            <a:extLst xmlns:a="http://schemas.openxmlformats.org/drawingml/2006/main">
              <a:ext uri="{FF2B5EF4-FFF2-40B4-BE49-F238E27FC236}">
                <a16:creationId xmlns:a16="http://schemas.microsoft.com/office/drawing/2014/main" id="{E3F63EBF-25FD-4163-8C63-1F42FF3E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3162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課程大綱／授課講義／一篇可信研究或政策文件。</a:t>
            </a:r>
          </a:p>
        </p:txBody>
      </p:sp>
      <p:sp>
        <p:nvSpPr>
          <p:cNvPr id="10" name="shape-223">
            <a:extLst xmlns:a="http://schemas.openxmlformats.org/drawingml/2006/main">
              <a:ext uri="{FF2B5EF4-FFF2-40B4-BE49-F238E27FC236}">
                <a16:creationId xmlns:a16="http://schemas.microsoft.com/office/drawing/2014/main" id="{DA16AD39-E995-4552-85EC-74E73BB8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3581400" cy="43053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1" name="text-224">
            <a:extLst xmlns:a="http://schemas.openxmlformats.org/drawingml/2006/main">
              <a:ext uri="{FF2B5EF4-FFF2-40B4-BE49-F238E27FC236}">
                <a16:creationId xmlns:a16="http://schemas.microsoft.com/office/drawing/2014/main" id="{275FB69E-4AC0-41A5-B296-1D1F78D9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2AFA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2" name="text-225">
            <a:extLst xmlns:a="http://schemas.openxmlformats.org/drawingml/2006/main">
              <a:ext uri="{FF2B5EF4-FFF2-40B4-BE49-F238E27FC236}">
                <a16:creationId xmlns:a16="http://schemas.microsoft.com/office/drawing/2014/main" id="{40CBBC6C-079B-4E16-B8C6-22A3D94E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2 種觀點</a:t>
            </a:r>
          </a:p>
        </p:txBody>
      </p:sp>
      <p:sp>
        <p:nvSpPr>
          <p:cNvPr id="13" name="text-226">
            <a:extLst xmlns:a="http://schemas.openxmlformats.org/drawingml/2006/main">
              <a:ext uri="{FF2B5EF4-FFF2-40B4-BE49-F238E27FC236}">
                <a16:creationId xmlns:a16="http://schemas.microsoft.com/office/drawing/2014/main" id="{3C2E1BC1-4445-4049-8AB8-FA4B6EA7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3162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至少納入互補或相反觀點，避免只有單一聲音。</a:t>
            </a:r>
          </a:p>
        </p:txBody>
      </p:sp>
      <p:sp>
        <p:nvSpPr>
          <p:cNvPr id="14" name="shape-227">
            <a:extLst xmlns:a="http://schemas.openxmlformats.org/drawingml/2006/main">
              <a:ext uri="{FF2B5EF4-FFF2-40B4-BE49-F238E27FC236}">
                <a16:creationId xmlns:a16="http://schemas.microsoft.com/office/drawing/2014/main" id="{9C7D381C-2657-454A-AFDF-9BB9307C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581400" cy="43053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5" name="text-228">
            <a:extLst xmlns:a="http://schemas.openxmlformats.org/drawingml/2006/main">
              <a:ext uri="{FF2B5EF4-FFF2-40B4-BE49-F238E27FC236}">
                <a16:creationId xmlns:a16="http://schemas.microsoft.com/office/drawing/2014/main" id="{241482E6-118A-4477-8F1C-0831203D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786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6" name="text-229">
            <a:extLst xmlns:a="http://schemas.openxmlformats.org/drawingml/2006/main">
              <a:ext uri="{FF2B5EF4-FFF2-40B4-BE49-F238E27FC236}">
                <a16:creationId xmlns:a16="http://schemas.microsoft.com/office/drawing/2014/main" id="{E85D84B3-C7D5-4B61-A760-0E81C79C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1 個教學目的</a:t>
            </a:r>
          </a:p>
        </p:txBody>
      </p:sp>
      <p:sp>
        <p:nvSpPr>
          <p:cNvPr id="17" name="text-230">
            <a:extLst xmlns:a="http://schemas.openxmlformats.org/drawingml/2006/main">
              <a:ext uri="{FF2B5EF4-FFF2-40B4-BE49-F238E27FC236}">
                <a16:creationId xmlns:a16="http://schemas.microsoft.com/office/drawing/2014/main" id="{C08E01B1-D2BE-48B1-A603-FE6C60EF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3162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明確指定要產出導讀、活動、評量或回饋。</a:t>
            </a:r>
          </a:p>
        </p:txBody>
      </p:sp>
      <p:sp>
        <p:nvSpPr>
          <p:cNvPr id="18" name="text-650">
            <a:extLst xmlns:a="http://schemas.openxmlformats.org/drawingml/2006/main">
              <a:ext uri="{FF2B5EF4-FFF2-40B4-BE49-F238E27FC236}">
                <a16:creationId xmlns:a16="http://schemas.microsoft.com/office/drawing/2014/main" id="{FB47ABBF-4CBD-4844-ACFD-87801533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cc410a146e6e4922"/>
              </a:rPr>
              <a:t>開啟 Gemini Notebook ↗</a:t>
            </a:r>
          </a:p>
        </p:txBody>
      </p:sp>
      <p:sp>
        <p:nvSpPr>
          <p:cNvPr id="19" name="shape-678">
            <a:extLst xmlns:a="http://schemas.openxmlformats.org/drawingml/2006/main">
              <a:ext uri="{FF2B5EF4-FFF2-40B4-BE49-F238E27FC236}">
                <a16:creationId xmlns:a16="http://schemas.microsoft.com/office/drawing/2014/main" id="{3DDB5788-909F-42CA-B5C6-297FC5EE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bb701cdd34441c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1" name="text-679">
            <a:extLst xmlns:a="http://schemas.openxmlformats.org/drawingml/2006/main">
              <a:ext uri="{FF2B5EF4-FFF2-40B4-BE49-F238E27FC236}">
                <a16:creationId xmlns:a16="http://schemas.microsoft.com/office/drawing/2014/main" id="{879DEE1C-92D3-402D-AF6E-004E81B5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Notebook</a:t>
            </a:r>
          </a:p>
        </p:txBody>
      </p:sp>
    </p:spTree>
    <p:extLst>
      <p:ext uri="{BB962C8B-B14F-4D97-AF65-F5344CB8AC3E}">
        <p14:creationId xmlns:p14="http://schemas.microsoft.com/office/powerpoint/2010/main" val="8456307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ext-231">
            <a:extLst xmlns:a="http://schemas.openxmlformats.org/drawingml/2006/main">
              <a:ext uri="{FF2B5EF4-FFF2-40B4-BE49-F238E27FC236}">
                <a16:creationId xmlns:a16="http://schemas.microsoft.com/office/drawing/2014/main" id="{C322A12A-FB7C-4810-BDEE-428011A3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LIVE DEMO · GITHUB × GEMINI NOTEBOOK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2960B3-B9FE-42F4-8700-818166EF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示範：教學駕駛艙 × Gemini Notebook</a:t>
            </a:r>
          </a:p>
        </p:txBody>
      </p:sp>
      <p:cxnSp>
        <p:nvCxnSpPr>
          <p:cNvPr id="40" name="shape-232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233">
            <a:extLst xmlns:a="http://schemas.openxmlformats.org/drawingml/2006/main">
              <a:ext uri="{FF2B5EF4-FFF2-40B4-BE49-F238E27FC236}">
                <a16:creationId xmlns:a16="http://schemas.microsoft.com/office/drawing/2014/main" id="{0BED2423-5F68-464E-9A33-110E76BE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C09DD9B-495C-4A33-B9F6-18A0CE9A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14</a:t>
            </a:r>
          </a:p>
        </p:txBody>
      </p:sp>
      <p:sp>
        <p:nvSpPr>
          <p:cNvPr id="6" name="shape-234">
            <a:extLst xmlns:a="http://schemas.openxmlformats.org/drawingml/2006/main">
              <a:ext uri="{FF2B5EF4-FFF2-40B4-BE49-F238E27FC236}">
                <a16:creationId xmlns:a16="http://schemas.microsoft.com/office/drawing/2014/main" id="{A5C3C2C5-545B-45A3-9FB9-8B76C25F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shape-235">
            <a:extLst xmlns:a="http://schemas.openxmlformats.org/drawingml/2006/main">
              <a:ext uri="{FF2B5EF4-FFF2-40B4-BE49-F238E27FC236}">
                <a16:creationId xmlns:a16="http://schemas.microsoft.com/office/drawing/2014/main" id="{2B59651A-BA45-49C3-851A-AD3E1B64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236">
            <a:extLst xmlns:a="http://schemas.openxmlformats.org/drawingml/2006/main">
              <a:ext uri="{FF2B5EF4-FFF2-40B4-BE49-F238E27FC236}">
                <a16:creationId xmlns:a16="http://schemas.microsoft.com/office/drawing/2014/main" id="{52E20796-C373-4034-9E50-0D62950B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237">
            <a:extLst xmlns:a="http://schemas.openxmlformats.org/drawingml/2006/main">
              <a:ext uri="{FF2B5EF4-FFF2-40B4-BE49-F238E27FC236}">
                <a16:creationId xmlns:a16="http://schemas.microsoft.com/office/drawing/2014/main" id="{B514EEC4-D705-453F-847B-A37D6B5B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開啟資源</a:t>
            </a:r>
          </a:p>
        </p:txBody>
      </p:sp>
      <p:sp>
        <p:nvSpPr>
          <p:cNvPr id="10" name="text-238">
            <a:extLst xmlns:a="http://schemas.openxmlformats.org/drawingml/2006/main">
              <a:ext uri="{FF2B5EF4-FFF2-40B4-BE49-F238E27FC236}">
                <a16:creationId xmlns:a16="http://schemas.microsoft.com/office/drawing/2014/main" id="{9B3006C0-665D-42BA-9550-C1C5C558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先看 it-cockpit 的 README、目錄與單元頁</a:t>
            </a:r>
          </a:p>
        </p:txBody>
      </p:sp>
      <p:sp>
        <p:nvSpPr>
          <p:cNvPr id="11" name="text-239">
            <a:extLst xmlns:a="http://schemas.openxmlformats.org/drawingml/2006/main">
              <a:ext uri="{FF2B5EF4-FFF2-40B4-BE49-F238E27FC236}">
                <a16:creationId xmlns:a16="http://schemas.microsoft.com/office/drawing/2014/main" id="{B26D5F3A-9E6A-4590-B46A-49AA7900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240">
            <a:extLst xmlns:a="http://schemas.openxmlformats.org/drawingml/2006/main">
              <a:ext uri="{FF2B5EF4-FFF2-40B4-BE49-F238E27FC236}">
                <a16:creationId xmlns:a16="http://schemas.microsoft.com/office/drawing/2014/main" id="{930A498E-4F52-4081-BF83-C6DF0954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shape-241">
            <a:extLst xmlns:a="http://schemas.openxmlformats.org/drawingml/2006/main">
              <a:ext uri="{FF2B5EF4-FFF2-40B4-BE49-F238E27FC236}">
                <a16:creationId xmlns:a16="http://schemas.microsoft.com/office/drawing/2014/main" id="{CC7C6A18-85F1-431B-862E-85203BCE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242">
            <a:extLst xmlns:a="http://schemas.openxmlformats.org/drawingml/2006/main">
              <a:ext uri="{FF2B5EF4-FFF2-40B4-BE49-F238E27FC236}">
                <a16:creationId xmlns:a16="http://schemas.microsoft.com/office/drawing/2014/main" id="{FCCCE5A8-B06D-44B9-81F1-5BA65C8A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243">
            <a:extLst xmlns:a="http://schemas.openxmlformats.org/drawingml/2006/main">
              <a:ext uri="{FF2B5EF4-FFF2-40B4-BE49-F238E27FC236}">
                <a16:creationId xmlns:a16="http://schemas.microsoft.com/office/drawing/2014/main" id="{A87C1ACF-1934-4857-83D5-4EA8DA19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挑選來源</a:t>
            </a:r>
          </a:p>
        </p:txBody>
      </p:sp>
      <p:sp>
        <p:nvSpPr>
          <p:cNvPr id="16" name="text-244">
            <a:extLst xmlns:a="http://schemas.openxmlformats.org/drawingml/2006/main">
              <a:ext uri="{FF2B5EF4-FFF2-40B4-BE49-F238E27FC236}">
                <a16:creationId xmlns:a16="http://schemas.microsoft.com/office/drawing/2014/main" id="{8AA55E84-4FA0-499D-9782-EE95AA18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選教材、課程說明、影片或互動頁，組成小型來源包</a:t>
            </a:r>
          </a:p>
        </p:txBody>
      </p:sp>
      <p:sp>
        <p:nvSpPr>
          <p:cNvPr id="17" name="text-245">
            <a:extLst xmlns:a="http://schemas.openxmlformats.org/drawingml/2006/main">
              <a:ext uri="{FF2B5EF4-FFF2-40B4-BE49-F238E27FC236}">
                <a16:creationId xmlns:a16="http://schemas.microsoft.com/office/drawing/2014/main" id="{6CB00EEA-0D07-4640-A317-9965163A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246">
            <a:extLst xmlns:a="http://schemas.openxmlformats.org/drawingml/2006/main">
              <a:ext uri="{FF2B5EF4-FFF2-40B4-BE49-F238E27FC236}">
                <a16:creationId xmlns:a16="http://schemas.microsoft.com/office/drawing/2014/main" id="{A17F27EA-0495-4948-B57C-A0077ACE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shape-247">
            <a:extLst xmlns:a="http://schemas.openxmlformats.org/drawingml/2006/main">
              <a:ext uri="{FF2B5EF4-FFF2-40B4-BE49-F238E27FC236}">
                <a16:creationId xmlns:a16="http://schemas.microsoft.com/office/drawing/2014/main" id="{C91CC038-1646-4AEF-9ED6-13A4D824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248">
            <a:extLst xmlns:a="http://schemas.openxmlformats.org/drawingml/2006/main">
              <a:ext uri="{FF2B5EF4-FFF2-40B4-BE49-F238E27FC236}">
                <a16:creationId xmlns:a16="http://schemas.microsoft.com/office/drawing/2014/main" id="{9A51A6B2-061B-4574-B3A8-E0E3945D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249">
            <a:extLst xmlns:a="http://schemas.openxmlformats.org/drawingml/2006/main">
              <a:ext uri="{FF2B5EF4-FFF2-40B4-BE49-F238E27FC236}">
                <a16:creationId xmlns:a16="http://schemas.microsoft.com/office/drawing/2014/main" id="{2D28035A-8297-44D4-8BF8-E0A39BC3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提問查證</a:t>
            </a:r>
          </a:p>
        </p:txBody>
      </p:sp>
      <p:sp>
        <p:nvSpPr>
          <p:cNvPr id="22" name="text-250">
            <a:extLst xmlns:a="http://schemas.openxmlformats.org/drawingml/2006/main">
              <a:ext uri="{FF2B5EF4-FFF2-40B4-BE49-F238E27FC236}">
                <a16:creationId xmlns:a16="http://schemas.microsoft.com/office/drawing/2014/main" id="{A5D7246E-3333-4044-839B-2741536F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請列引用、找差異，也測一題來源中沒有答案的問題</a:t>
            </a:r>
          </a:p>
        </p:txBody>
      </p:sp>
      <p:sp>
        <p:nvSpPr>
          <p:cNvPr id="23" name="text-251">
            <a:extLst xmlns:a="http://schemas.openxmlformats.org/drawingml/2006/main">
              <a:ext uri="{FF2B5EF4-FFF2-40B4-BE49-F238E27FC236}">
                <a16:creationId xmlns:a16="http://schemas.microsoft.com/office/drawing/2014/main" id="{81690CCD-4C21-4AD9-9604-167406F8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252">
            <a:extLst xmlns:a="http://schemas.openxmlformats.org/drawingml/2006/main">
              <a:ext uri="{FF2B5EF4-FFF2-40B4-BE49-F238E27FC236}">
                <a16:creationId xmlns:a16="http://schemas.microsoft.com/office/drawing/2014/main" id="{A61E5B42-A727-4328-AEB1-E9BA7633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shape-253">
            <a:extLst xmlns:a="http://schemas.openxmlformats.org/drawingml/2006/main">
              <a:ext uri="{FF2B5EF4-FFF2-40B4-BE49-F238E27FC236}">
                <a16:creationId xmlns:a16="http://schemas.microsoft.com/office/drawing/2014/main" id="{35541F98-A3C6-4071-8D5A-179185A1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254">
            <a:extLst xmlns:a="http://schemas.openxmlformats.org/drawingml/2006/main">
              <a:ext uri="{FF2B5EF4-FFF2-40B4-BE49-F238E27FC236}">
                <a16:creationId xmlns:a16="http://schemas.microsoft.com/office/drawing/2014/main" id="{A792F9C6-5FBD-4B0F-8ECA-5446CC30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255">
            <a:extLst xmlns:a="http://schemas.openxmlformats.org/drawingml/2006/main">
              <a:ext uri="{FF2B5EF4-FFF2-40B4-BE49-F238E27FC236}">
                <a16:creationId xmlns:a16="http://schemas.microsoft.com/office/drawing/2014/main" id="{44A2826D-8CB4-4E8A-8EAA-5D19088E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轉成教學</a:t>
            </a:r>
          </a:p>
        </p:txBody>
      </p:sp>
      <p:sp>
        <p:nvSpPr>
          <p:cNvPr id="28" name="text-256">
            <a:extLst xmlns:a="http://schemas.openxmlformats.org/drawingml/2006/main">
              <a:ext uri="{FF2B5EF4-FFF2-40B4-BE49-F238E27FC236}">
                <a16:creationId xmlns:a16="http://schemas.microsoft.com/office/drawing/2014/main" id="{963A02A4-391B-4905-877F-9FF9F2C5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把整理結果轉成導讀、學習單、活動或共備摘要</a:t>
            </a:r>
          </a:p>
        </p:txBody>
      </p:sp>
      <p:sp>
        <p:nvSpPr>
          <p:cNvPr id="29" name="text-257">
            <a:extLst xmlns:a="http://schemas.openxmlformats.org/drawingml/2006/main">
              <a:ext uri="{FF2B5EF4-FFF2-40B4-BE49-F238E27FC236}">
                <a16:creationId xmlns:a16="http://schemas.microsoft.com/office/drawing/2014/main" id="{209667E7-FA7F-4A2A-9F1E-D4193B5A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  <p:sp>
        <p:nvSpPr>
          <p:cNvPr id="30" name="text-654">
            <a:extLst xmlns:a="http://schemas.openxmlformats.org/drawingml/2006/main">
              <a:ext uri="{FF2B5EF4-FFF2-40B4-BE49-F238E27FC236}">
                <a16:creationId xmlns:a16="http://schemas.microsoft.com/office/drawing/2014/main" id="{A47C43BE-A239-44E2-A950-72F73903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d264a8eda0a140cf"/>
              </a:rPr>
              <a:t>Notebook ↗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1d0e493e28d46f0"/>
              </a:rPr>
              <a:t>Cockpit GitHub ↗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39d3bc8745bf42c9"/>
              </a:rPr>
              <a:t>Cockpit ↗</a:t>
            </a:r>
          </a:p>
        </p:txBody>
      </p:sp>
      <p:sp>
        <p:nvSpPr>
          <p:cNvPr id="31" name="shape-686">
            <a:extLst xmlns:a="http://schemas.openxmlformats.org/drawingml/2006/main">
              <a:ext uri="{FF2B5EF4-FFF2-40B4-BE49-F238E27FC236}">
                <a16:creationId xmlns:a16="http://schemas.microsoft.com/office/drawing/2014/main" id="{BC4A8751-8CF9-455A-BEE6-865BD581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9da0ed352e4301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33" name="text-687">
            <a:extLst xmlns:a="http://schemas.openxmlformats.org/drawingml/2006/main">
              <a:ext uri="{FF2B5EF4-FFF2-40B4-BE49-F238E27FC236}">
                <a16:creationId xmlns:a16="http://schemas.microsoft.com/office/drawing/2014/main" id="{0C046118-6C71-42BC-88C9-120E9EC9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Notebook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40345ab4464ab7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35" name="text-688">
            <a:extLst xmlns:a="http://schemas.openxmlformats.org/drawingml/2006/main">
              <a:ext uri="{FF2B5EF4-FFF2-40B4-BE49-F238E27FC236}">
                <a16:creationId xmlns:a16="http://schemas.microsoft.com/office/drawing/2014/main" id="{1F7FA333-1970-478C-9A30-4A897235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Cockpit GitH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ac0673cd1481f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37" name="text-689">
            <a:extLst xmlns:a="http://schemas.openxmlformats.org/drawingml/2006/main">
              <a:ext uri="{FF2B5EF4-FFF2-40B4-BE49-F238E27FC236}">
                <a16:creationId xmlns:a16="http://schemas.microsoft.com/office/drawing/2014/main" id="{8D67DD72-0DCC-452F-B5AE-25E48E79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教學駕駛艙</a:t>
            </a:r>
          </a:p>
        </p:txBody>
      </p:sp>
    </p:spTree>
    <p:extLst>
      <p:ext uri="{BB962C8B-B14F-4D97-AF65-F5344CB8AC3E}">
        <p14:creationId xmlns:p14="http://schemas.microsoft.com/office/powerpoint/2010/main" val="3743078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258">
            <a:extLst xmlns:a="http://schemas.openxmlformats.org/drawingml/2006/main">
              <a:ext uri="{FF2B5EF4-FFF2-40B4-BE49-F238E27FC236}">
                <a16:creationId xmlns:a16="http://schemas.microsoft.com/office/drawing/2014/main" id="{634B2401-03F8-433F-9EBC-E721F73F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HANDS-ON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FA372B-DE00-4C71-9ACC-1108ACB8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實作一｜教學駕駛艙 × Gemini Notebook</a:t>
            </a:r>
          </a:p>
        </p:txBody>
      </p:sp>
      <p:cxnSp>
        <p:nvCxnSpPr>
          <p:cNvPr id="27" name="shape-259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260">
            <a:extLst xmlns:a="http://schemas.openxmlformats.org/drawingml/2006/main">
              <a:ext uri="{FF2B5EF4-FFF2-40B4-BE49-F238E27FC236}">
                <a16:creationId xmlns:a16="http://schemas.microsoft.com/office/drawing/2014/main" id="{7F367D0B-C42D-40CE-9FF7-5EE74DEB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FEB9DC4-77D7-46D9-8592-F7BC0704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15</a:t>
            </a:r>
          </a:p>
        </p:txBody>
      </p:sp>
      <p:sp>
        <p:nvSpPr>
          <p:cNvPr id="6" name="text-261">
            <a:extLst xmlns:a="http://schemas.openxmlformats.org/drawingml/2006/main">
              <a:ext uri="{FF2B5EF4-FFF2-40B4-BE49-F238E27FC236}">
                <a16:creationId xmlns:a16="http://schemas.microsoft.com/office/drawing/2014/main" id="{89F90B5F-FB45-4608-ABE9-4B245640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15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分鐘</a:t>
            </a:r>
          </a:p>
        </p:txBody>
      </p:sp>
      <p:sp>
        <p:nvSpPr>
          <p:cNvPr id="7" name="text-262">
            <a:extLst xmlns:a="http://schemas.openxmlformats.org/drawingml/2006/main">
              <a:ext uri="{FF2B5EF4-FFF2-40B4-BE49-F238E27FC236}">
                <a16:creationId xmlns:a16="http://schemas.microsoft.com/office/drawing/2014/main" id="{920C27F2-A484-4ABA-84A7-6C775915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操作步驟</a:t>
            </a:r>
          </a:p>
        </p:txBody>
      </p:sp>
      <p:sp>
        <p:nvSpPr>
          <p:cNvPr id="8" name="text-263">
            <a:extLst xmlns:a="http://schemas.openxmlformats.org/drawingml/2006/main">
              <a:ext uri="{FF2B5EF4-FFF2-40B4-BE49-F238E27FC236}">
                <a16:creationId xmlns:a16="http://schemas.microsoft.com/office/drawing/2014/main" id="{6EACB731-5A59-4FC3-B404-8CDD0BA5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264">
            <a:extLst xmlns:a="http://schemas.openxmlformats.org/drawingml/2006/main">
              <a:ext uri="{FF2B5EF4-FFF2-40B4-BE49-F238E27FC236}">
                <a16:creationId xmlns:a16="http://schemas.microsoft.com/office/drawing/2014/main" id="{DE62E21E-8AD6-47FA-8495-89223FC3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開啟 it-cockpit repo 或公開駕駛艙，選定一個單元</a:t>
            </a:r>
          </a:p>
        </p:txBody>
      </p:sp>
      <p:sp>
        <p:nvSpPr>
          <p:cNvPr id="10" name="text-265">
            <a:extLst xmlns:a="http://schemas.openxmlformats.org/drawingml/2006/main">
              <a:ext uri="{FF2B5EF4-FFF2-40B4-BE49-F238E27FC236}">
                <a16:creationId xmlns:a16="http://schemas.microsoft.com/office/drawing/2014/main" id="{1602D1DC-A345-403A-94CF-D3989893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05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266">
            <a:extLst xmlns:a="http://schemas.openxmlformats.org/drawingml/2006/main">
              <a:ext uri="{FF2B5EF4-FFF2-40B4-BE49-F238E27FC236}">
                <a16:creationId xmlns:a16="http://schemas.microsoft.com/office/drawing/2014/main" id="{B5ACC371-31B6-45DE-809D-1D9DAB5E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加入 2–3 份可公開、互相補充的來源</a:t>
            </a:r>
          </a:p>
        </p:txBody>
      </p:sp>
      <p:sp>
        <p:nvSpPr>
          <p:cNvPr id="12" name="text-267">
            <a:extLst xmlns:a="http://schemas.openxmlformats.org/drawingml/2006/main">
              <a:ext uri="{FF2B5EF4-FFF2-40B4-BE49-F238E27FC236}">
                <a16:creationId xmlns:a16="http://schemas.microsoft.com/office/drawing/2014/main" id="{06DC0786-9408-4FB6-BCE4-F3782F55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10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text-268">
            <a:extLst xmlns:a="http://schemas.openxmlformats.org/drawingml/2006/main">
              <a:ext uri="{FF2B5EF4-FFF2-40B4-BE49-F238E27FC236}">
                <a16:creationId xmlns:a16="http://schemas.microsoft.com/office/drawing/2014/main" id="{B11CC73D-2DFE-460E-8358-3F986572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提出 1 個理解題與 1 個轉化題</a:t>
            </a:r>
          </a:p>
        </p:txBody>
      </p:sp>
      <p:sp>
        <p:nvSpPr>
          <p:cNvPr id="14" name="text-269">
            <a:extLst xmlns:a="http://schemas.openxmlformats.org/drawingml/2006/main">
              <a:ext uri="{FF2B5EF4-FFF2-40B4-BE49-F238E27FC236}">
                <a16:creationId xmlns:a16="http://schemas.microsoft.com/office/drawing/2014/main" id="{D1A331E2-DA03-4724-B81B-98D148EB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14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5" name="text-270">
            <a:extLst xmlns:a="http://schemas.openxmlformats.org/drawingml/2006/main">
              <a:ext uri="{FF2B5EF4-FFF2-40B4-BE49-F238E27FC236}">
                <a16:creationId xmlns:a16="http://schemas.microsoft.com/office/drawing/2014/main" id="{7A7B965B-F8A1-43F2-8235-C6CE9FC8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148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點開引用，保存一個可用輸出與一個待修正處</a:t>
            </a:r>
          </a:p>
        </p:txBody>
      </p:sp>
      <p:sp>
        <p:nvSpPr>
          <p:cNvPr id="16" name="shape-271">
            <a:extLst xmlns:a="http://schemas.openxmlformats.org/drawingml/2006/main">
              <a:ext uri="{FF2B5EF4-FFF2-40B4-BE49-F238E27FC236}">
                <a16:creationId xmlns:a16="http://schemas.microsoft.com/office/drawing/2014/main" id="{0556601D-4C7E-42C6-A3AC-D068BA59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2362200" cy="39052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7" name="text-272">
            <a:extLst xmlns:a="http://schemas.openxmlformats.org/drawingml/2006/main">
              <a:ext uri="{FF2B5EF4-FFF2-40B4-BE49-F238E27FC236}">
                <a16:creationId xmlns:a16="http://schemas.microsoft.com/office/drawing/2014/main" id="{D666F93E-4727-4047-A260-EED3BE40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574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7866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7866"/>
                </a:solidFill>
                <a:latin typeface="Noto Sans TC"/>
                <a:ea typeface="Noto Sans TC"/>
                <a:cs typeface="Noto Sans TC"/>
              </a:rPr>
              <a:t>完成條件</a:t>
            </a:r>
          </a:p>
        </p:txBody>
      </p:sp>
      <p:sp>
        <p:nvSpPr>
          <p:cNvPr id="18" name="text-273">
            <a:extLst xmlns:a="http://schemas.openxmlformats.org/drawingml/2006/main">
              <a:ext uri="{FF2B5EF4-FFF2-40B4-BE49-F238E27FC236}">
                <a16:creationId xmlns:a16="http://schemas.microsoft.com/office/drawing/2014/main" id="{F699C8A5-0DC9-4628-825A-0DD0343C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186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來源來自 GitHub／公開教材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至少 1 個引用可追查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完成一個能進入課堂的輸出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記錄一個需人工修正的地方</a:t>
            </a:r>
          </a:p>
        </p:txBody>
      </p:sp>
      <p:sp>
        <p:nvSpPr>
          <p:cNvPr id="19" name="text-655">
            <a:extLst xmlns:a="http://schemas.openxmlformats.org/drawingml/2006/main">
              <a:ext uri="{FF2B5EF4-FFF2-40B4-BE49-F238E27FC236}">
                <a16:creationId xmlns:a16="http://schemas.microsoft.com/office/drawing/2014/main" id="{703ABA64-BD8C-44D3-9486-D1A600B2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c016480fcad44747"/>
              </a:rPr>
              <a:t>Notebook ↗</a:t>
            </a: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89c5b4a87efc41d8"/>
              </a:rPr>
              <a:t>Cockpit ↗</a:t>
            </a:r>
          </a:p>
        </p:txBody>
      </p:sp>
      <p:sp>
        <p:nvSpPr>
          <p:cNvPr id="20" name="shape-690">
            <a:extLst xmlns:a="http://schemas.openxmlformats.org/drawingml/2006/main">
              <a:ext uri="{FF2B5EF4-FFF2-40B4-BE49-F238E27FC236}">
                <a16:creationId xmlns:a16="http://schemas.microsoft.com/office/drawing/2014/main" id="{EDB98314-2468-4035-9ADF-49435DAD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c99e88556b486d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2" name="text-691">
            <a:extLst xmlns:a="http://schemas.openxmlformats.org/drawingml/2006/main">
              <a:ext uri="{FF2B5EF4-FFF2-40B4-BE49-F238E27FC236}">
                <a16:creationId xmlns:a16="http://schemas.microsoft.com/office/drawing/2014/main" id="{10E5460F-9F48-4AFF-8724-9E403211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Notebook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42d08a3444fb5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4" name="text-692">
            <a:extLst xmlns:a="http://schemas.openxmlformats.org/drawingml/2006/main">
              <a:ext uri="{FF2B5EF4-FFF2-40B4-BE49-F238E27FC236}">
                <a16:creationId xmlns:a16="http://schemas.microsoft.com/office/drawing/2014/main" id="{EC2CDC55-F5BC-44EF-A7A4-1404BFBF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教學駕駛艙</a:t>
            </a:r>
          </a:p>
        </p:txBody>
      </p:sp>
    </p:spTree>
    <p:extLst>
      <p:ext uri="{BB962C8B-B14F-4D97-AF65-F5344CB8AC3E}">
        <p14:creationId xmlns:p14="http://schemas.microsoft.com/office/powerpoint/2010/main" val="5288602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274">
            <a:extLst xmlns:a="http://schemas.openxmlformats.org/drawingml/2006/main">
              <a:ext uri="{FF2B5EF4-FFF2-40B4-BE49-F238E27FC236}">
                <a16:creationId xmlns:a16="http://schemas.microsoft.com/office/drawing/2014/main" id="{F8213309-44A6-421F-AD8E-2EFB15EF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PROMPT LADDER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7EF2BB-7EBF-4A07-AC1F-57FB43CB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三層提問法：從讀懂到能教</a:t>
            </a:r>
          </a:p>
        </p:txBody>
      </p:sp>
      <p:cxnSp>
        <p:nvCxnSpPr>
          <p:cNvPr id="24" name="shape-275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276">
            <a:extLst xmlns:a="http://schemas.openxmlformats.org/drawingml/2006/main">
              <a:ext uri="{FF2B5EF4-FFF2-40B4-BE49-F238E27FC236}">
                <a16:creationId xmlns:a16="http://schemas.microsoft.com/office/drawing/2014/main" id="{5A192D7D-3993-4878-AB37-A3E9B2E5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7D7D09A-2965-49D4-B5CF-64F73794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16</a:t>
            </a:r>
          </a:p>
        </p:txBody>
      </p:sp>
      <p:sp>
        <p:nvSpPr>
          <p:cNvPr id="6" name="shape-277">
            <a:extLst xmlns:a="http://schemas.openxmlformats.org/drawingml/2006/main">
              <a:ext uri="{FF2B5EF4-FFF2-40B4-BE49-F238E27FC236}">
                <a16:creationId xmlns:a16="http://schemas.microsoft.com/office/drawing/2014/main" id="{E7B1337A-33A7-4F15-B180-2B40637B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3581400" cy="43053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text-278">
            <a:extLst xmlns:a="http://schemas.openxmlformats.org/drawingml/2006/main">
              <a:ext uri="{FF2B5EF4-FFF2-40B4-BE49-F238E27FC236}">
                <a16:creationId xmlns:a16="http://schemas.microsoft.com/office/drawing/2014/main" id="{06A1DEBD-3FC3-48B8-9A73-AB320580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8" name="text-279">
            <a:extLst xmlns:a="http://schemas.openxmlformats.org/drawingml/2006/main">
              <a:ext uri="{FF2B5EF4-FFF2-40B4-BE49-F238E27FC236}">
                <a16:creationId xmlns:a16="http://schemas.microsoft.com/office/drawing/2014/main" id="{ED7B0587-C73F-42F2-B81F-060638D4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理解</a:t>
            </a:r>
          </a:p>
        </p:txBody>
      </p:sp>
      <p:sp>
        <p:nvSpPr>
          <p:cNvPr id="9" name="text-280">
            <a:extLst xmlns:a="http://schemas.openxmlformats.org/drawingml/2006/main">
              <a:ext uri="{FF2B5EF4-FFF2-40B4-BE49-F238E27FC236}">
                <a16:creationId xmlns:a16="http://schemas.microsoft.com/office/drawing/2014/main" id="{A381FE14-D732-4BA5-B5D0-995D5404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3162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只依來源，用 150 字解釋核心概念；列出 3 個關鍵詞與引用。</a:t>
            </a:r>
          </a:p>
        </p:txBody>
      </p:sp>
      <p:sp>
        <p:nvSpPr>
          <p:cNvPr id="10" name="shape-281">
            <a:extLst xmlns:a="http://schemas.openxmlformats.org/drawingml/2006/main">
              <a:ext uri="{FF2B5EF4-FFF2-40B4-BE49-F238E27FC236}">
                <a16:creationId xmlns:a16="http://schemas.microsoft.com/office/drawing/2014/main" id="{AA18FF3B-8693-4E04-AB54-554BFCA6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3581400" cy="43053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1" name="text-282">
            <a:extLst xmlns:a="http://schemas.openxmlformats.org/drawingml/2006/main">
              <a:ext uri="{FF2B5EF4-FFF2-40B4-BE49-F238E27FC236}">
                <a16:creationId xmlns:a16="http://schemas.microsoft.com/office/drawing/2014/main" id="{962F74CB-7F2A-4A2D-808E-1DAE8634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2AFA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2" name="text-283">
            <a:extLst xmlns:a="http://schemas.openxmlformats.org/drawingml/2006/main">
              <a:ext uri="{FF2B5EF4-FFF2-40B4-BE49-F238E27FC236}">
                <a16:creationId xmlns:a16="http://schemas.microsoft.com/office/drawing/2014/main" id="{307ED615-45DB-45C1-ACDC-9C7D6A8A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5745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比較</a:t>
            </a:r>
          </a:p>
        </p:txBody>
      </p:sp>
      <p:sp>
        <p:nvSpPr>
          <p:cNvPr id="13" name="text-284">
            <a:extLst xmlns:a="http://schemas.openxmlformats.org/drawingml/2006/main">
              <a:ext uri="{FF2B5EF4-FFF2-40B4-BE49-F238E27FC236}">
                <a16:creationId xmlns:a16="http://schemas.microsoft.com/office/drawing/2014/main" id="{DF68EA79-3963-4568-AAAD-AE3EE450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3162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比較來源 A、B 的主張、證據與限制；用表格呈現。</a:t>
            </a:r>
          </a:p>
        </p:txBody>
      </p:sp>
      <p:sp>
        <p:nvSpPr>
          <p:cNvPr id="14" name="shape-285">
            <a:extLst xmlns:a="http://schemas.openxmlformats.org/drawingml/2006/main">
              <a:ext uri="{FF2B5EF4-FFF2-40B4-BE49-F238E27FC236}">
                <a16:creationId xmlns:a16="http://schemas.microsoft.com/office/drawing/2014/main" id="{18001160-FA7F-44DA-BA6B-778E364B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581400" cy="43053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5" name="text-286">
            <a:extLst xmlns:a="http://schemas.openxmlformats.org/drawingml/2006/main">
              <a:ext uri="{FF2B5EF4-FFF2-40B4-BE49-F238E27FC236}">
                <a16:creationId xmlns:a16="http://schemas.microsoft.com/office/drawing/2014/main" id="{0A0B0727-D17E-4FA5-B3F3-74F87726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786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6" name="text-287">
            <a:extLst xmlns:a="http://schemas.openxmlformats.org/drawingml/2006/main">
              <a:ext uri="{FF2B5EF4-FFF2-40B4-BE49-F238E27FC236}">
                <a16:creationId xmlns:a16="http://schemas.microsoft.com/office/drawing/2014/main" id="{FC96F9C3-541D-4AED-8C88-6CCF4354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316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轉化</a:t>
            </a:r>
          </a:p>
        </p:txBody>
      </p:sp>
      <p:sp>
        <p:nvSpPr>
          <p:cNvPr id="17" name="text-288">
            <a:extLst xmlns:a="http://schemas.openxmlformats.org/drawingml/2006/main">
              <a:ext uri="{FF2B5EF4-FFF2-40B4-BE49-F238E27FC236}">
                <a16:creationId xmlns:a16="http://schemas.microsoft.com/office/drawing/2014/main" id="{780D1925-B3E0-4544-91BC-B67A74E5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31623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依來源設計 20 分鐘活動；包含目標、步驟、提問與檢核。</a:t>
            </a:r>
          </a:p>
        </p:txBody>
      </p:sp>
      <p:sp>
        <p:nvSpPr>
          <p:cNvPr id="18" name="text-651">
            <a:extLst xmlns:a="http://schemas.openxmlformats.org/drawingml/2006/main">
              <a:ext uri="{FF2B5EF4-FFF2-40B4-BE49-F238E27FC236}">
                <a16:creationId xmlns:a16="http://schemas.microsoft.com/office/drawing/2014/main" id="{057BDF9F-F3A0-41DF-8FB5-7044DE74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4f9ca48fac994ace"/>
              </a:rPr>
              <a:t>開啟 Gemini Notebook ↗</a:t>
            </a:r>
          </a:p>
        </p:txBody>
      </p:sp>
      <p:sp>
        <p:nvSpPr>
          <p:cNvPr id="19" name="shape-680">
            <a:extLst xmlns:a="http://schemas.openxmlformats.org/drawingml/2006/main">
              <a:ext uri="{FF2B5EF4-FFF2-40B4-BE49-F238E27FC236}">
                <a16:creationId xmlns:a16="http://schemas.microsoft.com/office/drawing/2014/main" id="{2574A376-AEA1-4B24-A0DF-BAAFA1C1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1d193d8dd54bc8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1" name="text-681">
            <a:extLst xmlns:a="http://schemas.openxmlformats.org/drawingml/2006/main">
              <a:ext uri="{FF2B5EF4-FFF2-40B4-BE49-F238E27FC236}">
                <a16:creationId xmlns:a16="http://schemas.microsoft.com/office/drawing/2014/main" id="{B907214F-A0EB-4F6B-8F0C-27812892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Notebook</a:t>
            </a:r>
          </a:p>
        </p:txBody>
      </p:sp>
    </p:spTree>
    <p:extLst>
      <p:ext uri="{BB962C8B-B14F-4D97-AF65-F5344CB8AC3E}">
        <p14:creationId xmlns:p14="http://schemas.microsoft.com/office/powerpoint/2010/main" val="12606054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289">
            <a:extLst xmlns:a="http://schemas.openxmlformats.org/drawingml/2006/main">
              <a:ext uri="{FF2B5EF4-FFF2-40B4-BE49-F238E27FC236}">
                <a16:creationId xmlns:a16="http://schemas.microsoft.com/office/drawing/2014/main" id="{D57A0BA7-4639-4975-A2A7-FF4E63CE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COCKPIT OUTPUTS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1FD363-028F-4F19-9EC1-C6C9BD4D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教學駕駛艙如何接住 Gemini Notebook 的產出</a:t>
            </a:r>
          </a:p>
        </p:txBody>
      </p:sp>
      <p:cxnSp>
        <p:nvCxnSpPr>
          <p:cNvPr id="28" name="shape-290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291">
            <a:extLst xmlns:a="http://schemas.openxmlformats.org/drawingml/2006/main">
              <a:ext uri="{FF2B5EF4-FFF2-40B4-BE49-F238E27FC236}">
                <a16:creationId xmlns:a16="http://schemas.microsoft.com/office/drawing/2014/main" id="{2103A412-52C9-426A-81BB-9D666B3D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036C57C-D7AE-40EF-9A0D-2036FDE9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17</a:t>
            </a:r>
          </a:p>
        </p:txBody>
      </p:sp>
      <p:sp>
        <p:nvSpPr>
          <p:cNvPr id="6" name="shape-292">
            <a:extLst xmlns:a="http://schemas.openxmlformats.org/drawingml/2006/main">
              <a:ext uri="{FF2B5EF4-FFF2-40B4-BE49-F238E27FC236}">
                <a16:creationId xmlns:a16="http://schemas.microsoft.com/office/drawing/2014/main" id="{C4735FFC-3721-4420-947B-5F033990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text-293">
            <a:extLst xmlns:a="http://schemas.openxmlformats.org/drawingml/2006/main">
              <a:ext uri="{FF2B5EF4-FFF2-40B4-BE49-F238E27FC236}">
                <a16:creationId xmlns:a16="http://schemas.microsoft.com/office/drawing/2014/main" id="{82D23C51-16D8-42DC-B7DC-6BB2469E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294">
            <a:extLst xmlns:a="http://schemas.openxmlformats.org/drawingml/2006/main">
              <a:ext uri="{FF2B5EF4-FFF2-40B4-BE49-F238E27FC236}">
                <a16:creationId xmlns:a16="http://schemas.microsoft.com/office/drawing/2014/main" id="{F7120F00-C055-4F13-AFD3-2D17DB90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課程導讀</a:t>
            </a:r>
          </a:p>
        </p:txBody>
      </p:sp>
      <p:sp>
        <p:nvSpPr>
          <p:cNvPr id="9" name="text-295">
            <a:extLst xmlns:a="http://schemas.openxmlformats.org/drawingml/2006/main">
              <a:ext uri="{FF2B5EF4-FFF2-40B4-BE49-F238E27FC236}">
                <a16:creationId xmlns:a16="http://schemas.microsoft.com/office/drawing/2014/main" id="{1B9A360A-1C8D-4982-85C5-17C85A6D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從 README 與單元頁整理學習目標、先備知識與學習路徑。</a:t>
            </a:r>
          </a:p>
        </p:txBody>
      </p:sp>
      <p:sp>
        <p:nvSpPr>
          <p:cNvPr id="10" name="shape-296">
            <a:extLst xmlns:a="http://schemas.openxmlformats.org/drawingml/2006/main">
              <a:ext uri="{FF2B5EF4-FFF2-40B4-BE49-F238E27FC236}">
                <a16:creationId xmlns:a16="http://schemas.microsoft.com/office/drawing/2014/main" id="{A5AF95F9-6D43-48BA-B618-41B87DB0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1" name="text-297">
            <a:extLst xmlns:a="http://schemas.openxmlformats.org/drawingml/2006/main">
              <a:ext uri="{FF2B5EF4-FFF2-40B4-BE49-F238E27FC236}">
                <a16:creationId xmlns:a16="http://schemas.microsoft.com/office/drawing/2014/main" id="{AE6D254C-376F-44BE-9376-B144F217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298">
            <a:extLst xmlns:a="http://schemas.openxmlformats.org/drawingml/2006/main">
              <a:ext uri="{FF2B5EF4-FFF2-40B4-BE49-F238E27FC236}">
                <a16:creationId xmlns:a16="http://schemas.microsoft.com/office/drawing/2014/main" id="{03DAAC7D-A7E2-4823-8619-CFE76041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影片／圖表</a:t>
            </a:r>
          </a:p>
        </p:txBody>
      </p:sp>
      <p:sp>
        <p:nvSpPr>
          <p:cNvPr id="13" name="text-299">
            <a:extLst xmlns:a="http://schemas.openxmlformats.org/drawingml/2006/main">
              <a:ext uri="{FF2B5EF4-FFF2-40B4-BE49-F238E27FC236}">
                <a16:creationId xmlns:a16="http://schemas.microsoft.com/office/drawing/2014/main" id="{6EF3C9FB-9A21-4F24-A5B8-07F1A1DF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把 Notebook 生成的內容轉成課前導讀、課中提問或視覺化摘要。</a:t>
            </a:r>
          </a:p>
        </p:txBody>
      </p:sp>
      <p:sp>
        <p:nvSpPr>
          <p:cNvPr id="14" name="shape-300">
            <a:extLst xmlns:a="http://schemas.openxmlformats.org/drawingml/2006/main">
              <a:ext uri="{FF2B5EF4-FFF2-40B4-BE49-F238E27FC236}">
                <a16:creationId xmlns:a16="http://schemas.microsoft.com/office/drawing/2014/main" id="{4CA5034F-D094-4505-8D64-F3D9DBB5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5" name="text-301">
            <a:extLst xmlns:a="http://schemas.openxmlformats.org/drawingml/2006/main">
              <a:ext uri="{FF2B5EF4-FFF2-40B4-BE49-F238E27FC236}">
                <a16:creationId xmlns:a16="http://schemas.microsoft.com/office/drawing/2014/main" id="{1B89DBD2-1AF1-4414-B086-A934ED63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302">
            <a:extLst xmlns:a="http://schemas.openxmlformats.org/drawingml/2006/main">
              <a:ext uri="{FF2B5EF4-FFF2-40B4-BE49-F238E27FC236}">
                <a16:creationId xmlns:a16="http://schemas.microsoft.com/office/drawing/2014/main" id="{46CE0D95-DCAF-4235-8E16-817AFC81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Canvas 關卡</a:t>
            </a:r>
          </a:p>
        </p:txBody>
      </p:sp>
      <p:sp>
        <p:nvSpPr>
          <p:cNvPr id="17" name="text-303">
            <a:extLst xmlns:a="http://schemas.openxmlformats.org/drawingml/2006/main">
              <a:ext uri="{FF2B5EF4-FFF2-40B4-BE49-F238E27FC236}">
                <a16:creationId xmlns:a16="http://schemas.microsoft.com/office/drawing/2014/main" id="{D38F26EA-F63C-49DB-9CDC-7F8DD6FE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將來源中的概念轉成互動任務腳本，再交給 Canvas 做原型。</a:t>
            </a:r>
          </a:p>
        </p:txBody>
      </p:sp>
      <p:sp>
        <p:nvSpPr>
          <p:cNvPr id="18" name="shape-304">
            <a:extLst xmlns:a="http://schemas.openxmlformats.org/drawingml/2006/main">
              <a:ext uri="{FF2B5EF4-FFF2-40B4-BE49-F238E27FC236}">
                <a16:creationId xmlns:a16="http://schemas.microsoft.com/office/drawing/2014/main" id="{03F52A39-7158-4575-8FC1-E18D00A2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9" name="text-305">
            <a:extLst xmlns:a="http://schemas.openxmlformats.org/drawingml/2006/main">
              <a:ext uri="{FF2B5EF4-FFF2-40B4-BE49-F238E27FC236}">
                <a16:creationId xmlns:a16="http://schemas.microsoft.com/office/drawing/2014/main" id="{CFF707AA-6F44-4D25-B611-9DA447D9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306">
            <a:extLst xmlns:a="http://schemas.openxmlformats.org/drawingml/2006/main">
              <a:ext uri="{FF2B5EF4-FFF2-40B4-BE49-F238E27FC236}">
                <a16:creationId xmlns:a16="http://schemas.microsoft.com/office/drawing/2014/main" id="{3578A6BA-D4C2-4DCB-8FF8-F2299508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教師共備</a:t>
            </a:r>
          </a:p>
        </p:txBody>
      </p:sp>
      <p:sp>
        <p:nvSpPr>
          <p:cNvPr id="21" name="text-307">
            <a:extLst xmlns:a="http://schemas.openxmlformats.org/drawingml/2006/main">
              <a:ext uri="{FF2B5EF4-FFF2-40B4-BE49-F238E27FC236}">
                <a16:creationId xmlns:a16="http://schemas.microsoft.com/office/drawing/2014/main" id="{33DC1C08-9A08-42C5-8903-4AEAC6DB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輸出可共編的備課摘要、活動流程與證據，回到駕駛艙持續更新。</a:t>
            </a:r>
          </a:p>
        </p:txBody>
      </p:sp>
      <p:sp>
        <p:nvSpPr>
          <p:cNvPr id="22" name="text-652">
            <a:extLst xmlns:a="http://schemas.openxmlformats.org/drawingml/2006/main">
              <a:ext uri="{FF2B5EF4-FFF2-40B4-BE49-F238E27FC236}">
                <a16:creationId xmlns:a16="http://schemas.microsoft.com/office/drawing/2014/main" id="{D13B92C4-92BF-4101-9EC3-1D99747B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10b7e76087b64399"/>
              </a:rPr>
              <a:t>開啟 Gemini Notebook ↗</a:t>
            </a:r>
          </a:p>
        </p:txBody>
      </p:sp>
      <p:sp>
        <p:nvSpPr>
          <p:cNvPr id="23" name="shape-682">
            <a:extLst xmlns:a="http://schemas.openxmlformats.org/drawingml/2006/main">
              <a:ext uri="{FF2B5EF4-FFF2-40B4-BE49-F238E27FC236}">
                <a16:creationId xmlns:a16="http://schemas.microsoft.com/office/drawing/2014/main" id="{905EA61A-5CE8-4560-98F5-440B79B1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1d0e6e52e4cbf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5" name="text-683">
            <a:extLst xmlns:a="http://schemas.openxmlformats.org/drawingml/2006/main">
              <a:ext uri="{FF2B5EF4-FFF2-40B4-BE49-F238E27FC236}">
                <a16:creationId xmlns:a16="http://schemas.microsoft.com/office/drawing/2014/main" id="{5CF0603C-9A07-46F0-8D65-0279D5CF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Notebook</a:t>
            </a:r>
          </a:p>
        </p:txBody>
      </p:sp>
    </p:spTree>
    <p:extLst>
      <p:ext uri="{BB962C8B-B14F-4D97-AF65-F5344CB8AC3E}">
        <p14:creationId xmlns:p14="http://schemas.microsoft.com/office/powerpoint/2010/main" val="646681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308">
            <a:extLst xmlns:a="http://schemas.openxmlformats.org/drawingml/2006/main">
              <a:ext uri="{FF2B5EF4-FFF2-40B4-BE49-F238E27FC236}">
                <a16:creationId xmlns:a16="http://schemas.microsoft.com/office/drawing/2014/main" id="{B9A38704-0855-4CB0-84CE-041A1C51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QUALITY GATE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CF3964-C824-43DD-BDAE-B743669F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Checkpoint｜Notebook 合格了嗎？</a:t>
            </a:r>
          </a:p>
        </p:txBody>
      </p:sp>
      <p:cxnSp>
        <p:nvCxnSpPr>
          <p:cNvPr id="28" name="shape-309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310">
            <a:extLst xmlns:a="http://schemas.openxmlformats.org/drawingml/2006/main">
              <a:ext uri="{FF2B5EF4-FFF2-40B4-BE49-F238E27FC236}">
                <a16:creationId xmlns:a16="http://schemas.microsoft.com/office/drawing/2014/main" id="{946FB9C4-8EDF-4740-8781-A3E65BD6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16CD337-5AE1-43DC-A920-DFD09EED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18</a:t>
            </a:r>
          </a:p>
        </p:txBody>
      </p:sp>
      <p:sp>
        <p:nvSpPr>
          <p:cNvPr id="6" name="shape-311">
            <a:extLst xmlns:a="http://schemas.openxmlformats.org/drawingml/2006/main">
              <a:ext uri="{FF2B5EF4-FFF2-40B4-BE49-F238E27FC236}">
                <a16:creationId xmlns:a16="http://schemas.microsoft.com/office/drawing/2014/main" id="{561C385D-456C-4947-8E38-057D848B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text-312">
            <a:extLst xmlns:a="http://schemas.openxmlformats.org/drawingml/2006/main">
              <a:ext uri="{FF2B5EF4-FFF2-40B4-BE49-F238E27FC236}">
                <a16:creationId xmlns:a16="http://schemas.microsoft.com/office/drawing/2014/main" id="{1C40E6DD-77EF-4BE0-B67F-FFEED455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313">
            <a:extLst xmlns:a="http://schemas.openxmlformats.org/drawingml/2006/main">
              <a:ext uri="{FF2B5EF4-FFF2-40B4-BE49-F238E27FC236}">
                <a16:creationId xmlns:a16="http://schemas.microsoft.com/office/drawing/2014/main" id="{A50FC3AB-3F0B-4648-A368-AECF729E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來源</a:t>
            </a:r>
          </a:p>
        </p:txBody>
      </p:sp>
      <p:sp>
        <p:nvSpPr>
          <p:cNvPr id="9" name="text-314">
            <a:extLst xmlns:a="http://schemas.openxmlformats.org/drawingml/2006/main">
              <a:ext uri="{FF2B5EF4-FFF2-40B4-BE49-F238E27FC236}">
                <a16:creationId xmlns:a16="http://schemas.microsoft.com/office/drawing/2014/main" id="{8601B451-8CD6-42F3-AEB7-EBD211AE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資料可信、可授權使用，且與教學目的直接相關。</a:t>
            </a:r>
          </a:p>
        </p:txBody>
      </p:sp>
      <p:sp>
        <p:nvSpPr>
          <p:cNvPr id="10" name="shape-315">
            <a:extLst xmlns:a="http://schemas.openxmlformats.org/drawingml/2006/main">
              <a:ext uri="{FF2B5EF4-FFF2-40B4-BE49-F238E27FC236}">
                <a16:creationId xmlns:a16="http://schemas.microsoft.com/office/drawing/2014/main" id="{865D84A4-F956-4840-B4AD-8619CE7C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1" name="text-316">
            <a:extLst xmlns:a="http://schemas.openxmlformats.org/drawingml/2006/main">
              <a:ext uri="{FF2B5EF4-FFF2-40B4-BE49-F238E27FC236}">
                <a16:creationId xmlns:a16="http://schemas.microsoft.com/office/drawing/2014/main" id="{03A8AA17-D5BF-437C-A317-E5D4A88C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317">
            <a:extLst xmlns:a="http://schemas.openxmlformats.org/drawingml/2006/main">
              <a:ext uri="{FF2B5EF4-FFF2-40B4-BE49-F238E27FC236}">
                <a16:creationId xmlns:a16="http://schemas.microsoft.com/office/drawing/2014/main" id="{7068B4F6-DD17-4DF8-9C4E-51C52515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引用</a:t>
            </a:r>
          </a:p>
        </p:txBody>
      </p:sp>
      <p:sp>
        <p:nvSpPr>
          <p:cNvPr id="13" name="text-318">
            <a:extLst xmlns:a="http://schemas.openxmlformats.org/drawingml/2006/main">
              <a:ext uri="{FF2B5EF4-FFF2-40B4-BE49-F238E27FC236}">
                <a16:creationId xmlns:a16="http://schemas.microsoft.com/office/drawing/2014/main" id="{DB99FA63-DF9B-41FC-BEC4-88E32CFB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至少抽查一個引用，原文確實支持回答。</a:t>
            </a:r>
          </a:p>
        </p:txBody>
      </p:sp>
      <p:sp>
        <p:nvSpPr>
          <p:cNvPr id="14" name="shape-319">
            <a:extLst xmlns:a="http://schemas.openxmlformats.org/drawingml/2006/main">
              <a:ext uri="{FF2B5EF4-FFF2-40B4-BE49-F238E27FC236}">
                <a16:creationId xmlns:a16="http://schemas.microsoft.com/office/drawing/2014/main" id="{8CE1A80E-6209-4FB7-B488-C2B89299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5" name="text-320">
            <a:extLst xmlns:a="http://schemas.openxmlformats.org/drawingml/2006/main">
              <a:ext uri="{FF2B5EF4-FFF2-40B4-BE49-F238E27FC236}">
                <a16:creationId xmlns:a16="http://schemas.microsoft.com/office/drawing/2014/main" id="{E67465DF-1228-463F-AE28-D7897350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321">
            <a:extLst xmlns:a="http://schemas.openxmlformats.org/drawingml/2006/main">
              <a:ext uri="{FF2B5EF4-FFF2-40B4-BE49-F238E27FC236}">
                <a16:creationId xmlns:a16="http://schemas.microsoft.com/office/drawing/2014/main" id="{A83A8BE0-0D28-418E-940D-C194997B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邊界</a:t>
            </a:r>
          </a:p>
        </p:txBody>
      </p:sp>
      <p:sp>
        <p:nvSpPr>
          <p:cNvPr id="17" name="text-322">
            <a:extLst xmlns:a="http://schemas.openxmlformats.org/drawingml/2006/main">
              <a:ext uri="{FF2B5EF4-FFF2-40B4-BE49-F238E27FC236}">
                <a16:creationId xmlns:a16="http://schemas.microsoft.com/office/drawing/2014/main" id="{57A5E2A2-559D-4CCA-ACA9-A1E39908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知道哪些問題來源回答不了，不把推測當事實。</a:t>
            </a:r>
          </a:p>
        </p:txBody>
      </p:sp>
      <p:sp>
        <p:nvSpPr>
          <p:cNvPr id="18" name="shape-323">
            <a:extLst xmlns:a="http://schemas.openxmlformats.org/drawingml/2006/main">
              <a:ext uri="{FF2B5EF4-FFF2-40B4-BE49-F238E27FC236}">
                <a16:creationId xmlns:a16="http://schemas.microsoft.com/office/drawing/2014/main" id="{85440A40-0244-45B2-A770-15C910AF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9" name="text-324">
            <a:extLst xmlns:a="http://schemas.openxmlformats.org/drawingml/2006/main">
              <a:ext uri="{FF2B5EF4-FFF2-40B4-BE49-F238E27FC236}">
                <a16:creationId xmlns:a16="http://schemas.microsoft.com/office/drawing/2014/main" id="{217E12A9-C721-4808-88AC-1445936F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325">
            <a:extLst xmlns:a="http://schemas.openxmlformats.org/drawingml/2006/main">
              <a:ext uri="{FF2B5EF4-FFF2-40B4-BE49-F238E27FC236}">
                <a16:creationId xmlns:a16="http://schemas.microsoft.com/office/drawing/2014/main" id="{B2AF9352-1698-41FE-9C8A-65CC3DE7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產出</a:t>
            </a:r>
          </a:p>
        </p:txBody>
      </p:sp>
      <p:sp>
        <p:nvSpPr>
          <p:cNvPr id="21" name="text-326">
            <a:extLst xmlns:a="http://schemas.openxmlformats.org/drawingml/2006/main">
              <a:ext uri="{FF2B5EF4-FFF2-40B4-BE49-F238E27FC236}">
                <a16:creationId xmlns:a16="http://schemas.microsoft.com/office/drawing/2014/main" id="{0D050F45-5754-4D89-9216-A951CBE6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結果已能進入下一步 Gem 或 Canvas。</a:t>
            </a:r>
          </a:p>
        </p:txBody>
      </p:sp>
      <p:sp>
        <p:nvSpPr>
          <p:cNvPr id="22" name="text-653">
            <a:extLst xmlns:a="http://schemas.openxmlformats.org/drawingml/2006/main">
              <a:ext uri="{FF2B5EF4-FFF2-40B4-BE49-F238E27FC236}">
                <a16:creationId xmlns:a16="http://schemas.microsoft.com/office/drawing/2014/main" id="{E401CC4B-6CF7-4F39-B96C-D562A92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40badd60871f41d0"/>
              </a:rPr>
              <a:t>開啟 Gemini Notebook ↗</a:t>
            </a:r>
          </a:p>
        </p:txBody>
      </p:sp>
      <p:sp>
        <p:nvSpPr>
          <p:cNvPr id="23" name="shape-684">
            <a:extLst xmlns:a="http://schemas.openxmlformats.org/drawingml/2006/main">
              <a:ext uri="{FF2B5EF4-FFF2-40B4-BE49-F238E27FC236}">
                <a16:creationId xmlns:a16="http://schemas.microsoft.com/office/drawing/2014/main" id="{BBE4DC93-8859-4F62-A423-1816AB97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f9561e62094046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5" name="text-685">
            <a:extLst xmlns:a="http://schemas.openxmlformats.org/drawingml/2006/main">
              <a:ext uri="{FF2B5EF4-FFF2-40B4-BE49-F238E27FC236}">
                <a16:creationId xmlns:a16="http://schemas.microsoft.com/office/drawing/2014/main" id="{08F17F0F-692F-45BA-81CB-0AE1F688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Notebook</a:t>
            </a:r>
          </a:p>
        </p:txBody>
      </p:sp>
    </p:spTree>
    <p:extLst>
      <p:ext uri="{BB962C8B-B14F-4D97-AF65-F5344CB8AC3E}">
        <p14:creationId xmlns:p14="http://schemas.microsoft.com/office/powerpoint/2010/main" val="73262023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327">
            <a:extLst xmlns:a="http://schemas.openxmlformats.org/drawingml/2006/main">
              <a:ext uri="{FF2B5EF4-FFF2-40B4-BE49-F238E27FC236}">
                <a16:creationId xmlns:a16="http://schemas.microsoft.com/office/drawing/2014/main" id="{968EE391-E395-49DB-BF50-B94F4F38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84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2" name="text-328">
            <a:extLst xmlns:a="http://schemas.openxmlformats.org/drawingml/2006/main">
              <a:ext uri="{FF2B5EF4-FFF2-40B4-BE49-F238E27FC236}">
                <a16:creationId xmlns:a16="http://schemas.microsoft.com/office/drawing/2014/main" id="{15D336D0-9769-415A-AC7C-E3871D7C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Gem</a:t>
            </a:r>
          </a:p>
        </p:txBody>
      </p:sp>
      <p:sp>
        <p:nvSpPr>
          <p:cNvPr id="3" name="text-329">
            <a:extLst xmlns:a="http://schemas.openxmlformats.org/drawingml/2006/main">
              <a:ext uri="{FF2B5EF4-FFF2-40B4-BE49-F238E27FC236}">
                <a16:creationId xmlns:a16="http://schemas.microsoft.com/office/drawing/2014/main" id="{86616746-849E-49B7-B571-FB70FAF5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8477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把一套教學角色、方法、語氣與輸出格式固定下來，成為可重複使用的專屬助理。</a:t>
            </a:r>
          </a:p>
        </p:txBody>
      </p:sp>
      <p:sp>
        <p:nvSpPr>
          <p:cNvPr id="4" name="shape-330">
            <a:extLst xmlns:a="http://schemas.openxmlformats.org/drawingml/2006/main">
              <a:ext uri="{FF2B5EF4-FFF2-40B4-BE49-F238E27FC236}">
                <a16:creationId xmlns:a16="http://schemas.microsoft.com/office/drawing/2014/main" id="{FF31172E-8958-46EC-8756-5F953488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10000"/>
            <a:ext cx="1524000" cy="1524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331">
            <a:extLst xmlns:a="http://schemas.openxmlformats.org/drawingml/2006/main">
              <a:ext uri="{FF2B5EF4-FFF2-40B4-BE49-F238E27FC236}">
                <a16:creationId xmlns:a16="http://schemas.microsoft.com/office/drawing/2014/main" id="{B88C9771-1837-4613-ABA0-A1BD7A99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1480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動手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做</a:t>
            </a:r>
          </a:p>
        </p:txBody>
      </p:sp>
      <p:cxnSp>
        <p:nvCxnSpPr>
          <p:cNvPr id="18" name="shape-332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7" name="text-333">
            <a:extLst xmlns:a="http://schemas.openxmlformats.org/drawingml/2006/main">
              <a:ext uri="{FF2B5EF4-FFF2-40B4-BE49-F238E27FC236}">
                <a16:creationId xmlns:a16="http://schemas.microsoft.com/office/drawing/2014/main" id="{9EE6EF1B-34DD-4CD9-8F43-DC9988DE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42A10B6-CDD7-423D-9C6D-F4A17740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19</a:t>
            </a:r>
          </a:p>
        </p:txBody>
      </p:sp>
      <p:sp>
        <p:nvSpPr>
          <p:cNvPr id="9" name="text-656">
            <a:extLst xmlns:a="http://schemas.openxmlformats.org/drawingml/2006/main">
              <a:ext uri="{FF2B5EF4-FFF2-40B4-BE49-F238E27FC236}">
                <a16:creationId xmlns:a16="http://schemas.microsoft.com/office/drawing/2014/main" id="{6CA545EF-9644-4D0E-ADA4-D4E97B27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7a9f95fabb7d432a"/>
              </a:rPr>
              <a:t>建立／查看 Gem ↗</a:t>
            </a:r>
          </a:p>
        </p:txBody>
      </p:sp>
      <p:sp>
        <p:nvSpPr>
          <p:cNvPr id="10" name="shape-693">
            <a:extLst xmlns:a="http://schemas.openxmlformats.org/drawingml/2006/main">
              <a:ext uri="{FF2B5EF4-FFF2-40B4-BE49-F238E27FC236}">
                <a16:creationId xmlns:a16="http://schemas.microsoft.com/office/drawing/2014/main" id="{87AC9D7A-CE7A-4496-9437-9367819A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752bfbfbdb4d79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12" name="text-694">
            <a:extLst xmlns:a="http://schemas.openxmlformats.org/drawingml/2006/main">
              <a:ext uri="{FF2B5EF4-FFF2-40B4-BE49-F238E27FC236}">
                <a16:creationId xmlns:a16="http://schemas.microsoft.com/office/drawing/2014/main" id="{AB32AD63-EB69-4FB8-B33C-DDC49555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自訂 Gem</a:t>
            </a:r>
          </a:p>
        </p:txBody>
      </p:sp>
    </p:spTree>
    <p:extLst>
      <p:ext uri="{BB962C8B-B14F-4D97-AF65-F5344CB8AC3E}">
        <p14:creationId xmlns:p14="http://schemas.microsoft.com/office/powerpoint/2010/main" val="79195495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334">
            <a:extLst xmlns:a="http://schemas.openxmlformats.org/drawingml/2006/main">
              <a:ext uri="{FF2B5EF4-FFF2-40B4-BE49-F238E27FC236}">
                <a16:creationId xmlns:a16="http://schemas.microsoft.com/office/drawing/2014/main" id="{C0523046-03BD-47D8-A2C6-E4697AEB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PERSISTENT ASSISTANT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E3011E-8E0F-4ABB-A758-CC2FE755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Gem 不是更長的提示詞，而是可持續使用的工作設定</a:t>
            </a:r>
          </a:p>
        </p:txBody>
      </p:sp>
      <p:cxnSp>
        <p:nvCxnSpPr>
          <p:cNvPr id="18" name="shape-335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336">
            <a:extLst xmlns:a="http://schemas.openxmlformats.org/drawingml/2006/main">
              <a:ext uri="{FF2B5EF4-FFF2-40B4-BE49-F238E27FC236}">
                <a16:creationId xmlns:a16="http://schemas.microsoft.com/office/drawing/2014/main" id="{37C6CCDA-79F1-411F-8B3C-237CB835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90C982A-4E1D-4FBD-A3F8-0800AC96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20</a:t>
            </a:r>
          </a:p>
        </p:txBody>
      </p:sp>
      <p:sp>
        <p:nvSpPr>
          <p:cNvPr id="6" name="shape-337">
            <a:extLst xmlns:a="http://schemas.openxmlformats.org/drawingml/2006/main">
              <a:ext uri="{FF2B5EF4-FFF2-40B4-BE49-F238E27FC236}">
                <a16:creationId xmlns:a16="http://schemas.microsoft.com/office/drawing/2014/main" id="{A702129F-EF04-4E23-9BBB-255CBFF2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3625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shape-338">
            <a:extLst xmlns:a="http://schemas.openxmlformats.org/drawingml/2006/main">
              <a:ext uri="{FF2B5EF4-FFF2-40B4-BE49-F238E27FC236}">
                <a16:creationId xmlns:a16="http://schemas.microsoft.com/office/drawing/2014/main" id="{3A538B39-E915-45A5-B78C-AFB916C2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76400"/>
            <a:ext cx="55911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8" name="text-339">
            <a:extLst xmlns:a="http://schemas.openxmlformats.org/drawingml/2006/main">
              <a:ext uri="{FF2B5EF4-FFF2-40B4-BE49-F238E27FC236}">
                <a16:creationId xmlns:a16="http://schemas.microsoft.com/office/drawing/2014/main" id="{4331BEBE-AA4C-4188-830A-7E5D92F5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791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單次對話</a:t>
            </a:r>
          </a:p>
        </p:txBody>
      </p:sp>
      <p:sp>
        <p:nvSpPr>
          <p:cNvPr id="9" name="text-340">
            <a:extLst xmlns:a="http://schemas.openxmlformats.org/drawingml/2006/main">
              <a:ext uri="{FF2B5EF4-FFF2-40B4-BE49-F238E27FC236}">
                <a16:creationId xmlns:a16="http://schemas.microsoft.com/office/drawing/2014/main" id="{F756A7AF-AE60-40A5-A247-232F0F09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7910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每次重新交代角色與格式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容易隨對話漂移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適合一次性探索</a:t>
            </a:r>
          </a:p>
        </p:txBody>
      </p:sp>
      <p:sp>
        <p:nvSpPr>
          <p:cNvPr id="10" name="text-341">
            <a:extLst xmlns:a="http://schemas.openxmlformats.org/drawingml/2006/main">
              <a:ext uri="{FF2B5EF4-FFF2-40B4-BE49-F238E27FC236}">
                <a16:creationId xmlns:a16="http://schemas.microsoft.com/office/drawing/2014/main" id="{08DA709E-1344-4178-ACB2-59C29CF8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00250"/>
            <a:ext cx="4981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專屬 Gem</a:t>
            </a:r>
          </a:p>
        </p:txBody>
      </p:sp>
      <p:sp>
        <p:nvSpPr>
          <p:cNvPr id="11" name="text-342">
            <a:extLst xmlns:a="http://schemas.openxmlformats.org/drawingml/2006/main">
              <a:ext uri="{FF2B5EF4-FFF2-40B4-BE49-F238E27FC236}">
                <a16:creationId xmlns:a16="http://schemas.microsoft.com/office/drawing/2014/main" id="{FD0BB603-BF6A-46CD-8D8F-468CE1DE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81300"/>
            <a:ext cx="49815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保存名稱與指令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可加入背景檔案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適合重複的教學任務</a:t>
            </a:r>
          </a:p>
        </p:txBody>
      </p:sp>
      <p:sp>
        <p:nvSpPr>
          <p:cNvPr id="12" name="text-657">
            <a:extLst xmlns:a="http://schemas.openxmlformats.org/drawingml/2006/main">
              <a:ext uri="{FF2B5EF4-FFF2-40B4-BE49-F238E27FC236}">
                <a16:creationId xmlns:a16="http://schemas.microsoft.com/office/drawing/2014/main" id="{2051000B-764E-445D-8DCA-A18CA179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e614219f51d34a52"/>
              </a:rPr>
              <a:t>建立／查看 Gem ↗</a:t>
            </a:r>
          </a:p>
        </p:txBody>
      </p:sp>
      <p:sp>
        <p:nvSpPr>
          <p:cNvPr id="13" name="shape-695">
            <a:extLst xmlns:a="http://schemas.openxmlformats.org/drawingml/2006/main">
              <a:ext uri="{FF2B5EF4-FFF2-40B4-BE49-F238E27FC236}">
                <a16:creationId xmlns:a16="http://schemas.microsoft.com/office/drawing/2014/main" id="{18A5D2ED-433E-4152-8DB5-740C2820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87680f78a4279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15" name="text-696">
            <a:extLst xmlns:a="http://schemas.openxmlformats.org/drawingml/2006/main">
              <a:ext uri="{FF2B5EF4-FFF2-40B4-BE49-F238E27FC236}">
                <a16:creationId xmlns:a16="http://schemas.microsoft.com/office/drawing/2014/main" id="{950BEC1A-BAB8-44FC-A40E-5DFF2F55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自訂 Gem</a:t>
            </a:r>
          </a:p>
        </p:txBody>
      </p:sp>
    </p:spTree>
    <p:extLst>
      <p:ext uri="{BB962C8B-B14F-4D97-AF65-F5344CB8AC3E}">
        <p14:creationId xmlns:p14="http://schemas.microsoft.com/office/powerpoint/2010/main" val="170415404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343">
            <a:extLst xmlns:a="http://schemas.openxmlformats.org/drawingml/2006/main">
              <a:ext uri="{FF2B5EF4-FFF2-40B4-BE49-F238E27FC236}">
                <a16:creationId xmlns:a16="http://schemas.microsoft.com/office/drawing/2014/main" id="{672CD165-BEC5-4D2C-B056-70268036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EXISTING GEM → REUSABLE DESIGN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F6D1D4-E06A-4AAE-AA0F-08E4E8E6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Gem 示範：從帳號既有 Gem 反向拆解</a:t>
            </a:r>
          </a:p>
        </p:txBody>
      </p:sp>
      <p:cxnSp>
        <p:nvCxnSpPr>
          <p:cNvPr id="28" name="shape-34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345">
            <a:extLst xmlns:a="http://schemas.openxmlformats.org/drawingml/2006/main">
              <a:ext uri="{FF2B5EF4-FFF2-40B4-BE49-F238E27FC236}">
                <a16:creationId xmlns:a16="http://schemas.microsoft.com/office/drawing/2014/main" id="{B734AA53-41B1-4ED9-91E1-0ACD5AB0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E21FCBE-3B64-483F-8CC1-EDDE7B94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21</a:t>
            </a:r>
          </a:p>
        </p:txBody>
      </p:sp>
      <p:sp>
        <p:nvSpPr>
          <p:cNvPr id="6" name="shape-346">
            <a:extLst xmlns:a="http://schemas.openxmlformats.org/drawingml/2006/main">
              <a:ext uri="{FF2B5EF4-FFF2-40B4-BE49-F238E27FC236}">
                <a16:creationId xmlns:a16="http://schemas.microsoft.com/office/drawing/2014/main" id="{E6DE6AC1-4E69-48A9-BDC3-D7007A1F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text-347">
            <a:extLst xmlns:a="http://schemas.openxmlformats.org/drawingml/2006/main">
              <a:ext uri="{FF2B5EF4-FFF2-40B4-BE49-F238E27FC236}">
                <a16:creationId xmlns:a16="http://schemas.microsoft.com/office/drawing/2014/main" id="{5D2E7ADA-ADA1-4AED-96F7-F9312B5E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8" name="text-348">
            <a:extLst xmlns:a="http://schemas.openxmlformats.org/drawingml/2006/main">
              <a:ext uri="{FF2B5EF4-FFF2-40B4-BE49-F238E27FC236}">
                <a16:creationId xmlns:a16="http://schemas.microsoft.com/office/drawing/2014/main" id="{6091F299-AB2D-4D0B-BBF5-D3C9B5AE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找到一個既有 Gem</a:t>
            </a:r>
          </a:p>
        </p:txBody>
      </p:sp>
      <p:sp>
        <p:nvSpPr>
          <p:cNvPr id="9" name="text-349">
            <a:extLst xmlns:a="http://schemas.openxmlformats.org/drawingml/2006/main">
              <a:ext uri="{FF2B5EF4-FFF2-40B4-BE49-F238E27FC236}">
                <a16:creationId xmlns:a16="http://schemas.microsoft.com/office/drawing/2014/main" id="{6645507E-A777-40D8-9A4A-582B8D52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先看名稱、用途與最常用的一次輸出；不把私人內容直接放進公開簡報。</a:t>
            </a:r>
          </a:p>
        </p:txBody>
      </p:sp>
      <p:sp>
        <p:nvSpPr>
          <p:cNvPr id="10" name="shape-350">
            <a:extLst xmlns:a="http://schemas.openxmlformats.org/drawingml/2006/main">
              <a:ext uri="{FF2B5EF4-FFF2-40B4-BE49-F238E27FC236}">
                <a16:creationId xmlns:a16="http://schemas.microsoft.com/office/drawing/2014/main" id="{D906BD8D-3910-40CB-8F50-A6DB1D87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1" name="text-351">
            <a:extLst xmlns:a="http://schemas.openxmlformats.org/drawingml/2006/main">
              <a:ext uri="{FF2B5EF4-FFF2-40B4-BE49-F238E27FC236}">
                <a16:creationId xmlns:a16="http://schemas.microsoft.com/office/drawing/2014/main" id="{EA314F52-CE11-4F2A-BDD7-F2E58DD6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2AFA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2" name="text-352">
            <a:extLst xmlns:a="http://schemas.openxmlformats.org/drawingml/2006/main">
              <a:ext uri="{FF2B5EF4-FFF2-40B4-BE49-F238E27FC236}">
                <a16:creationId xmlns:a16="http://schemas.microsoft.com/office/drawing/2014/main" id="{8BA4DD71-6A7F-4E3C-B34B-53D2E89B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拆出四格</a:t>
            </a:r>
          </a:p>
        </p:txBody>
      </p:sp>
      <p:sp>
        <p:nvSpPr>
          <p:cNvPr id="13" name="text-353">
            <a:extLst xmlns:a="http://schemas.openxmlformats.org/drawingml/2006/main">
              <a:ext uri="{FF2B5EF4-FFF2-40B4-BE49-F238E27FC236}">
                <a16:creationId xmlns:a16="http://schemas.microsoft.com/office/drawing/2014/main" id="{E5567835-DB5B-4746-854C-60A5DDC8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從既有指令辨認角色、任務、背景與格式，找出穩定與失敗的地方。</a:t>
            </a:r>
          </a:p>
        </p:txBody>
      </p:sp>
      <p:sp>
        <p:nvSpPr>
          <p:cNvPr id="14" name="shape-354">
            <a:extLst xmlns:a="http://schemas.openxmlformats.org/drawingml/2006/main">
              <a:ext uri="{FF2B5EF4-FFF2-40B4-BE49-F238E27FC236}">
                <a16:creationId xmlns:a16="http://schemas.microsoft.com/office/drawing/2014/main" id="{9E21E8D4-BC48-459C-94B5-D588C4AD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5" name="text-355">
            <a:extLst xmlns:a="http://schemas.openxmlformats.org/drawingml/2006/main">
              <a:ext uri="{FF2B5EF4-FFF2-40B4-BE49-F238E27FC236}">
                <a16:creationId xmlns:a16="http://schemas.microsoft.com/office/drawing/2014/main" id="{F359FBCE-07B1-4612-895C-ABA944B9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786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6" name="text-356">
            <a:extLst xmlns:a="http://schemas.openxmlformats.org/drawingml/2006/main">
              <a:ext uri="{FF2B5EF4-FFF2-40B4-BE49-F238E27FC236}">
                <a16:creationId xmlns:a16="http://schemas.microsoft.com/office/drawing/2014/main" id="{4630AA4F-FDB6-4331-A61F-777ADF2F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改成研習版本</a:t>
            </a:r>
          </a:p>
        </p:txBody>
      </p:sp>
      <p:sp>
        <p:nvSpPr>
          <p:cNvPr id="17" name="text-357">
            <a:extLst xmlns:a="http://schemas.openxmlformats.org/drawingml/2006/main">
              <a:ext uri="{FF2B5EF4-FFF2-40B4-BE49-F238E27FC236}">
                <a16:creationId xmlns:a16="http://schemas.microsoft.com/office/drawing/2014/main" id="{4E5D45A3-AA14-4A66-B294-DF48B5E1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保留有效步驟，再加入大學教師／研究社群的情境與安全邊界。</a:t>
            </a:r>
          </a:p>
        </p:txBody>
      </p:sp>
      <p:sp>
        <p:nvSpPr>
          <p:cNvPr id="18" name="shape-358">
            <a:extLst xmlns:a="http://schemas.openxmlformats.org/drawingml/2006/main">
              <a:ext uri="{FF2B5EF4-FFF2-40B4-BE49-F238E27FC236}">
                <a16:creationId xmlns:a16="http://schemas.microsoft.com/office/drawing/2014/main" id="{F4BFABC5-B202-4A8B-B6EB-403CFEBE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9" name="text-359">
            <a:extLst xmlns:a="http://schemas.openxmlformats.org/drawingml/2006/main">
              <a:ext uri="{FF2B5EF4-FFF2-40B4-BE49-F238E27FC236}">
                <a16:creationId xmlns:a16="http://schemas.microsoft.com/office/drawing/2014/main" id="{015A7BF0-7E9F-48F3-9939-80475BC0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0" name="text-360">
            <a:extLst xmlns:a="http://schemas.openxmlformats.org/drawingml/2006/main">
              <a:ext uri="{FF2B5EF4-FFF2-40B4-BE49-F238E27FC236}">
                <a16:creationId xmlns:a16="http://schemas.microsoft.com/office/drawing/2014/main" id="{A0C98375-94F1-49DE-9A0E-78F02E10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壓力測試</a:t>
            </a:r>
          </a:p>
        </p:txBody>
      </p:sp>
      <p:sp>
        <p:nvSpPr>
          <p:cNvPr id="21" name="text-361">
            <a:extLst xmlns:a="http://schemas.openxmlformats.org/drawingml/2006/main">
              <a:ext uri="{FF2B5EF4-FFF2-40B4-BE49-F238E27FC236}">
                <a16:creationId xmlns:a16="http://schemas.microsoft.com/office/drawing/2014/main" id="{53C8D1D4-0F27-4BD0-AD52-9F838FDB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用正常案例、資料不足與越界要求各測一次，留下可比較的證據。</a:t>
            </a:r>
          </a:p>
        </p:txBody>
      </p:sp>
      <p:sp>
        <p:nvSpPr>
          <p:cNvPr id="22" name="text-658">
            <a:extLst xmlns:a="http://schemas.openxmlformats.org/drawingml/2006/main">
              <a:ext uri="{FF2B5EF4-FFF2-40B4-BE49-F238E27FC236}">
                <a16:creationId xmlns:a16="http://schemas.microsoft.com/office/drawing/2014/main" id="{55A7AEE0-4E78-4C97-B9A6-E3593FDB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a73c9eaee2b745a1"/>
              </a:rPr>
              <a:t>建立／查看 Gem ↗</a:t>
            </a:r>
          </a:p>
        </p:txBody>
      </p:sp>
      <p:sp>
        <p:nvSpPr>
          <p:cNvPr id="23" name="shape-697">
            <a:extLst xmlns:a="http://schemas.openxmlformats.org/drawingml/2006/main">
              <a:ext uri="{FF2B5EF4-FFF2-40B4-BE49-F238E27FC236}">
                <a16:creationId xmlns:a16="http://schemas.microsoft.com/office/drawing/2014/main" id="{17516CA6-BA6D-420D-9B39-E0185EB7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96a6d95224a53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5" name="text-698">
            <a:extLst xmlns:a="http://schemas.openxmlformats.org/drawingml/2006/main">
              <a:ext uri="{FF2B5EF4-FFF2-40B4-BE49-F238E27FC236}">
                <a16:creationId xmlns:a16="http://schemas.microsoft.com/office/drawing/2014/main" id="{C6C6561A-B4B7-46DE-91B9-CFD5A09F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自訂 Gem</a:t>
            </a:r>
          </a:p>
        </p:txBody>
      </p:sp>
    </p:spTree>
    <p:extLst>
      <p:ext uri="{BB962C8B-B14F-4D97-AF65-F5344CB8AC3E}">
        <p14:creationId xmlns:p14="http://schemas.microsoft.com/office/powerpoint/2010/main" val="78825799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362">
            <a:extLst xmlns:a="http://schemas.openxmlformats.org/drawingml/2006/main">
              <a:ext uri="{FF2B5EF4-FFF2-40B4-BE49-F238E27FC236}">
                <a16:creationId xmlns:a16="http://schemas.microsoft.com/office/drawing/2014/main" id="{DCFB8AA5-5381-4F55-A6F5-2CC7D3C0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AGENT SKILL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C3617F-4713-4795-AA6E-E7C1FC60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範例｜把既有 Gem 改造成「教學與研究設計教練」</a:t>
            </a:r>
          </a:p>
        </p:txBody>
      </p:sp>
      <p:cxnSp>
        <p:nvCxnSpPr>
          <p:cNvPr id="19" name="shape-363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364">
            <a:extLst xmlns:a="http://schemas.openxmlformats.org/drawingml/2006/main">
              <a:ext uri="{FF2B5EF4-FFF2-40B4-BE49-F238E27FC236}">
                <a16:creationId xmlns:a16="http://schemas.microsoft.com/office/drawing/2014/main" id="{EE8FE2CA-2E06-4B16-906C-74BA492F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E1F2949-2233-40F4-8678-DD8EDFA6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22</a:t>
            </a:r>
          </a:p>
        </p:txBody>
      </p:sp>
      <p:sp>
        <p:nvSpPr>
          <p:cNvPr id="6" name="text-365">
            <a:extLst xmlns:a="http://schemas.openxmlformats.org/drawingml/2006/main">
              <a:ext uri="{FF2B5EF4-FFF2-40B4-BE49-F238E27FC236}">
                <a16:creationId xmlns:a16="http://schemas.microsoft.com/office/drawing/2014/main" id="{6B67887D-B5D0-482D-AC05-218BB3BC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6858000" cy="4324350"/>
          </a:xfrm>
          <a:prstGeom xmlns:a="http://schemas.openxmlformats.org/drawingml/2006/main" prst="roundRect">
            <a:avLst>
              <a:gd name="adj" fmla="val 3524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247650" tIns="247650" rIns="247650" bIns="2476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你是一位大學教學與研究設計教練。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請先讀取既有 Gem 的有效輸出習慣，再依以下規格工作。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角色與任務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1. 先問課程／研究目標、對象、資料與困難。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2. 保留有效步驟，提出 3 個可實作方案。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3. 不替教師或研究者做最終決定。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背景與格式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以上傳資料與 Gemini Notebook 引用為優先；資料不足要明確指出。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DCEBFF"/>
                </a:solidFill>
                <a:latin typeface="Cascadia Mono"/>
                <a:ea typeface="Cascadia Mono"/>
                <a:cs typeface="Cascadia Mono"/>
              </a:rPr>
              <a:t>輸出：摘要 → 可複製工作表 → 風險／人工確認。</a:t>
            </a:r>
          </a:p>
        </p:txBody>
      </p:sp>
      <p:sp>
        <p:nvSpPr>
          <p:cNvPr id="7" name="text-366">
            <a:extLst xmlns:a="http://schemas.openxmlformats.org/drawingml/2006/main">
              <a:ext uri="{FF2B5EF4-FFF2-40B4-BE49-F238E27FC236}">
                <a16:creationId xmlns:a16="http://schemas.microsoft.com/office/drawing/2014/main" id="{18BA54A2-660B-439C-AD85-AE9FF28E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先辨識既有資產</a:t>
            </a:r>
          </a:p>
        </p:txBody>
      </p:sp>
      <p:sp>
        <p:nvSpPr>
          <p:cNvPr id="8" name="text-367">
            <a:extLst xmlns:a="http://schemas.openxmlformats.org/drawingml/2006/main">
              <a:ext uri="{FF2B5EF4-FFF2-40B4-BE49-F238E27FC236}">
                <a16:creationId xmlns:a16="http://schemas.microsoft.com/office/drawing/2014/main" id="{0844F637-95B8-4A5F-9DF9-BB756FB7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90750"/>
            <a:ext cx="354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先找出原本已經穩定的步驟，只改一個變因。</a:t>
            </a:r>
          </a:p>
        </p:txBody>
      </p:sp>
      <p:sp>
        <p:nvSpPr>
          <p:cNvPr id="9" name="text-368">
            <a:extLst xmlns:a="http://schemas.openxmlformats.org/drawingml/2006/main">
              <a:ext uri="{FF2B5EF4-FFF2-40B4-BE49-F238E27FC236}">
                <a16:creationId xmlns:a16="http://schemas.microsoft.com/office/drawing/2014/main" id="{A6ADE336-8346-4D59-AE2F-FBB3EA94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0515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2AFA4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22AFA4"/>
                </a:solidFill>
                <a:latin typeface="Noto Sans TC"/>
                <a:ea typeface="Noto Sans TC"/>
                <a:cs typeface="Noto Sans TC"/>
              </a:rPr>
              <a:t>保留教師判斷</a:t>
            </a:r>
          </a:p>
        </p:txBody>
      </p:sp>
      <p:sp>
        <p:nvSpPr>
          <p:cNvPr id="10" name="text-369">
            <a:extLst xmlns:a="http://schemas.openxmlformats.org/drawingml/2006/main">
              <a:ext uri="{FF2B5EF4-FFF2-40B4-BE49-F238E27FC236}">
                <a16:creationId xmlns:a16="http://schemas.microsoft.com/office/drawing/2014/main" id="{8B00B899-A426-4DAD-B136-2046F697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43300"/>
            <a:ext cx="354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提供選項與證據，不替教師作高風險決定。</a:t>
            </a:r>
          </a:p>
        </p:txBody>
      </p:sp>
      <p:sp>
        <p:nvSpPr>
          <p:cNvPr id="11" name="text-370">
            <a:extLst xmlns:a="http://schemas.openxmlformats.org/drawingml/2006/main">
              <a:ext uri="{FF2B5EF4-FFF2-40B4-BE49-F238E27FC236}">
                <a16:creationId xmlns:a16="http://schemas.microsoft.com/office/drawing/2014/main" id="{993EC204-92B4-4944-B932-3A3C9CC3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57700"/>
            <a:ext cx="354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7866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7866"/>
                </a:solidFill>
                <a:latin typeface="Noto Sans TC"/>
                <a:ea typeface="Noto Sans TC"/>
                <a:cs typeface="Noto Sans TC"/>
              </a:rPr>
              <a:t>用反例驗收</a:t>
            </a:r>
          </a:p>
        </p:txBody>
      </p:sp>
      <p:sp>
        <p:nvSpPr>
          <p:cNvPr id="12" name="text-371">
            <a:extLst xmlns:a="http://schemas.openxmlformats.org/drawingml/2006/main">
              <a:ext uri="{FF2B5EF4-FFF2-40B4-BE49-F238E27FC236}">
                <a16:creationId xmlns:a16="http://schemas.microsoft.com/office/drawing/2014/main" id="{579BD539-D612-4DF5-A811-0DD8741E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95850"/>
            <a:ext cx="354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資料不足或要求越界時，也要能追問、拒絕或標記未確認。</a:t>
            </a:r>
          </a:p>
        </p:txBody>
      </p:sp>
      <p:sp>
        <p:nvSpPr>
          <p:cNvPr id="13" name="text-659">
            <a:extLst xmlns:a="http://schemas.openxmlformats.org/drawingml/2006/main">
              <a:ext uri="{FF2B5EF4-FFF2-40B4-BE49-F238E27FC236}">
                <a16:creationId xmlns:a16="http://schemas.microsoft.com/office/drawing/2014/main" id="{E3C32E3F-56A3-4C57-B83B-5F98AE53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01301950c9194b2e"/>
              </a:rPr>
              <a:t>建立／查看 Gem ↗</a:t>
            </a:r>
          </a:p>
        </p:txBody>
      </p:sp>
      <p:sp>
        <p:nvSpPr>
          <p:cNvPr id="14" name="shape-699">
            <a:extLst xmlns:a="http://schemas.openxmlformats.org/drawingml/2006/main">
              <a:ext uri="{FF2B5EF4-FFF2-40B4-BE49-F238E27FC236}">
                <a16:creationId xmlns:a16="http://schemas.microsoft.com/office/drawing/2014/main" id="{21E553C4-EF86-4128-9E5F-6E785537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6b9317d0940fb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16" name="text-700">
            <a:extLst xmlns:a="http://schemas.openxmlformats.org/drawingml/2006/main">
              <a:ext uri="{FF2B5EF4-FFF2-40B4-BE49-F238E27FC236}">
                <a16:creationId xmlns:a16="http://schemas.microsoft.com/office/drawing/2014/main" id="{D2EB109F-4177-4493-88CC-265D44C8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自訂 Gem</a:t>
            </a:r>
          </a:p>
        </p:txBody>
      </p:sp>
    </p:spTree>
    <p:extLst>
      <p:ext uri="{BB962C8B-B14F-4D97-AF65-F5344CB8AC3E}">
        <p14:creationId xmlns:p14="http://schemas.microsoft.com/office/powerpoint/2010/main" val="19510565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372">
            <a:extLst xmlns:a="http://schemas.openxmlformats.org/drawingml/2006/main">
              <a:ext uri="{FF2B5EF4-FFF2-40B4-BE49-F238E27FC236}">
                <a16:creationId xmlns:a16="http://schemas.microsoft.com/office/drawing/2014/main" id="{829C1FED-2013-4110-B231-97E8DBE1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HANDS-ON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1113EE-860C-44A4-B192-4E060FD8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實作二｜從既有 Gem 做一次改造與壓力測試</a:t>
            </a:r>
          </a:p>
        </p:txBody>
      </p:sp>
      <p:cxnSp>
        <p:nvCxnSpPr>
          <p:cNvPr id="25" name="shape-373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374">
            <a:extLst xmlns:a="http://schemas.openxmlformats.org/drawingml/2006/main">
              <a:ext uri="{FF2B5EF4-FFF2-40B4-BE49-F238E27FC236}">
                <a16:creationId xmlns:a16="http://schemas.microsoft.com/office/drawing/2014/main" id="{EB447F22-3151-4D5A-9119-91F3EE23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3F92FB2-663F-467D-BA89-44C7484C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23</a:t>
            </a:r>
          </a:p>
        </p:txBody>
      </p:sp>
      <p:sp>
        <p:nvSpPr>
          <p:cNvPr id="6" name="text-375">
            <a:extLst xmlns:a="http://schemas.openxmlformats.org/drawingml/2006/main">
              <a:ext uri="{FF2B5EF4-FFF2-40B4-BE49-F238E27FC236}">
                <a16:creationId xmlns:a16="http://schemas.microsoft.com/office/drawing/2014/main" id="{86463A23-9A21-4BBF-90EC-10BB60F0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18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分鐘</a:t>
            </a:r>
          </a:p>
        </p:txBody>
      </p:sp>
      <p:sp>
        <p:nvSpPr>
          <p:cNvPr id="7" name="text-376">
            <a:extLst xmlns:a="http://schemas.openxmlformats.org/drawingml/2006/main">
              <a:ext uri="{FF2B5EF4-FFF2-40B4-BE49-F238E27FC236}">
                <a16:creationId xmlns:a16="http://schemas.microsoft.com/office/drawing/2014/main" id="{4F58EB66-090E-44F6-AC3F-AC7E20AE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操作步驟</a:t>
            </a:r>
          </a:p>
        </p:txBody>
      </p:sp>
      <p:sp>
        <p:nvSpPr>
          <p:cNvPr id="8" name="text-377">
            <a:extLst xmlns:a="http://schemas.openxmlformats.org/drawingml/2006/main">
              <a:ext uri="{FF2B5EF4-FFF2-40B4-BE49-F238E27FC236}">
                <a16:creationId xmlns:a16="http://schemas.microsoft.com/office/drawing/2014/main" id="{367673EB-FADD-4044-86C6-4199BF6B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378">
            <a:extLst xmlns:a="http://schemas.openxmlformats.org/drawingml/2006/main">
              <a:ext uri="{FF2B5EF4-FFF2-40B4-BE49-F238E27FC236}">
                <a16:creationId xmlns:a16="http://schemas.microsoft.com/office/drawing/2014/main" id="{8D2663CD-DBBB-4C8D-9069-86CDFCBE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在自己的帳號中選一個既有 Gem，記下它原本的用途</a:t>
            </a:r>
          </a:p>
        </p:txBody>
      </p:sp>
      <p:sp>
        <p:nvSpPr>
          <p:cNvPr id="10" name="text-379">
            <a:extLst xmlns:a="http://schemas.openxmlformats.org/drawingml/2006/main">
              <a:ext uri="{FF2B5EF4-FFF2-40B4-BE49-F238E27FC236}">
                <a16:creationId xmlns:a16="http://schemas.microsoft.com/office/drawing/2014/main" id="{141B8854-94B7-4223-9ABD-720DF216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05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380">
            <a:extLst xmlns:a="http://schemas.openxmlformats.org/drawingml/2006/main">
              <a:ext uri="{FF2B5EF4-FFF2-40B4-BE49-F238E27FC236}">
                <a16:creationId xmlns:a16="http://schemas.microsoft.com/office/drawing/2014/main" id="{7D99DD73-7B7C-4F1F-A229-AAAD1980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拆出角色、任務、背景與格式，只改一個變因</a:t>
            </a:r>
          </a:p>
        </p:txBody>
      </p:sp>
      <p:sp>
        <p:nvSpPr>
          <p:cNvPr id="12" name="text-381">
            <a:extLst xmlns:a="http://schemas.openxmlformats.org/drawingml/2006/main">
              <a:ext uri="{FF2B5EF4-FFF2-40B4-BE49-F238E27FC236}">
                <a16:creationId xmlns:a16="http://schemas.microsoft.com/office/drawing/2014/main" id="{75206DB7-AE3A-4775-84AF-A5974BC5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10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text-382">
            <a:extLst xmlns:a="http://schemas.openxmlformats.org/drawingml/2006/main">
              <a:ext uri="{FF2B5EF4-FFF2-40B4-BE49-F238E27FC236}">
                <a16:creationId xmlns:a16="http://schemas.microsoft.com/office/drawing/2014/main" id="{93DA2EB8-BBE1-40D6-9513-CF1B762D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用正常案例測一次，再用資料不足／越界案例測一次</a:t>
            </a:r>
          </a:p>
        </p:txBody>
      </p:sp>
      <p:sp>
        <p:nvSpPr>
          <p:cNvPr id="14" name="text-383">
            <a:extLst xmlns:a="http://schemas.openxmlformats.org/drawingml/2006/main">
              <a:ext uri="{FF2B5EF4-FFF2-40B4-BE49-F238E27FC236}">
                <a16:creationId xmlns:a16="http://schemas.microsoft.com/office/drawing/2014/main" id="{E6501AEA-B1EB-402C-8A8A-6A1F590D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14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5" name="text-384">
            <a:extLst xmlns:a="http://schemas.openxmlformats.org/drawingml/2006/main">
              <a:ext uri="{FF2B5EF4-FFF2-40B4-BE49-F238E27FC236}">
                <a16:creationId xmlns:a16="http://schemas.microsoft.com/office/drawing/2014/main" id="{372DCE22-E52F-45AF-8C18-E0AC99E7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148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比較前後輸出，留下可重複使用的版本與限制</a:t>
            </a:r>
          </a:p>
        </p:txBody>
      </p:sp>
      <p:sp>
        <p:nvSpPr>
          <p:cNvPr id="16" name="shape-385">
            <a:extLst xmlns:a="http://schemas.openxmlformats.org/drawingml/2006/main">
              <a:ext uri="{FF2B5EF4-FFF2-40B4-BE49-F238E27FC236}">
                <a16:creationId xmlns:a16="http://schemas.microsoft.com/office/drawing/2014/main" id="{5E35D680-F119-494F-8043-5286D0FB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2362200" cy="39052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7" name="text-386">
            <a:extLst xmlns:a="http://schemas.openxmlformats.org/drawingml/2006/main">
              <a:ext uri="{FF2B5EF4-FFF2-40B4-BE49-F238E27FC236}">
                <a16:creationId xmlns:a16="http://schemas.microsoft.com/office/drawing/2014/main" id="{9FC0781C-3B37-4F0C-AD5B-8447BA03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574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7866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7866"/>
                </a:solidFill>
                <a:latin typeface="Noto Sans TC"/>
                <a:ea typeface="Noto Sans TC"/>
                <a:cs typeface="Noto Sans TC"/>
              </a:rPr>
              <a:t>完成條件</a:t>
            </a:r>
          </a:p>
        </p:txBody>
      </p:sp>
      <p:sp>
        <p:nvSpPr>
          <p:cNvPr id="18" name="text-387">
            <a:extLst xmlns:a="http://schemas.openxmlformats.org/drawingml/2006/main">
              <a:ext uri="{FF2B5EF4-FFF2-40B4-BE49-F238E27FC236}">
                <a16:creationId xmlns:a16="http://schemas.microsoft.com/office/drawing/2014/main" id="{6C03C491-338C-4B51-99DB-F287BEA1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186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用途與改動有記錄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輸出格式更穩定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遇資料不足會追問或標記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沒有捏造引用或課程事實</a:t>
            </a:r>
          </a:p>
        </p:txBody>
      </p:sp>
      <p:sp>
        <p:nvSpPr>
          <p:cNvPr id="19" name="text-660">
            <a:extLst xmlns:a="http://schemas.openxmlformats.org/drawingml/2006/main">
              <a:ext uri="{FF2B5EF4-FFF2-40B4-BE49-F238E27FC236}">
                <a16:creationId xmlns:a16="http://schemas.microsoft.com/office/drawing/2014/main" id="{46D7CC9D-DD92-479D-8DB4-BAF14D46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eb456d6c848c4b63"/>
              </a:rPr>
              <a:t>建立／查看 Gem ↗</a:t>
            </a:r>
          </a:p>
        </p:txBody>
      </p:sp>
      <p:sp>
        <p:nvSpPr>
          <p:cNvPr id="20" name="shape-701">
            <a:extLst xmlns:a="http://schemas.openxmlformats.org/drawingml/2006/main">
              <a:ext uri="{FF2B5EF4-FFF2-40B4-BE49-F238E27FC236}">
                <a16:creationId xmlns:a16="http://schemas.microsoft.com/office/drawing/2014/main" id="{5F59D248-B8AD-4A40-9F6C-57753F5F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8f9f9416d4883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2" name="text-702">
            <a:extLst xmlns:a="http://schemas.openxmlformats.org/drawingml/2006/main">
              <a:ext uri="{FF2B5EF4-FFF2-40B4-BE49-F238E27FC236}">
                <a16:creationId xmlns:a16="http://schemas.microsoft.com/office/drawing/2014/main" id="{D60692AD-871F-4152-9F78-90CF79BB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自訂 Gem</a:t>
            </a:r>
          </a:p>
        </p:txBody>
      </p:sp>
    </p:spTree>
    <p:extLst>
      <p:ext uri="{BB962C8B-B14F-4D97-AF65-F5344CB8AC3E}">
        <p14:creationId xmlns:p14="http://schemas.microsoft.com/office/powerpoint/2010/main" val="68444669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388">
            <a:extLst xmlns:a="http://schemas.openxmlformats.org/drawingml/2006/main">
              <a:ext uri="{FF2B5EF4-FFF2-40B4-BE49-F238E27FC236}">
                <a16:creationId xmlns:a16="http://schemas.microsoft.com/office/drawing/2014/main" id="{601B5AD1-2846-4BC5-B1B5-8EC61A3D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QUALITY GATE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AB1508-8F7C-4798-8C44-B3CE6DCC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Checkpoint｜你的 Gem 值得留下來嗎？</a:t>
            </a:r>
          </a:p>
        </p:txBody>
      </p:sp>
      <p:cxnSp>
        <p:nvCxnSpPr>
          <p:cNvPr id="28" name="shape-389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390">
            <a:extLst xmlns:a="http://schemas.openxmlformats.org/drawingml/2006/main">
              <a:ext uri="{FF2B5EF4-FFF2-40B4-BE49-F238E27FC236}">
                <a16:creationId xmlns:a16="http://schemas.microsoft.com/office/drawing/2014/main" id="{EDD47995-8A2F-48EC-8C1A-7F82D499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2A649EC-A962-4FDD-B41C-2F734626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24</a:t>
            </a:r>
          </a:p>
        </p:txBody>
      </p:sp>
      <p:sp>
        <p:nvSpPr>
          <p:cNvPr id="6" name="shape-391">
            <a:extLst xmlns:a="http://schemas.openxmlformats.org/drawingml/2006/main">
              <a:ext uri="{FF2B5EF4-FFF2-40B4-BE49-F238E27FC236}">
                <a16:creationId xmlns:a16="http://schemas.microsoft.com/office/drawing/2014/main" id="{8374A34E-67E0-4A6A-8644-974F5A49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text-392">
            <a:extLst xmlns:a="http://schemas.openxmlformats.org/drawingml/2006/main">
              <a:ext uri="{FF2B5EF4-FFF2-40B4-BE49-F238E27FC236}">
                <a16:creationId xmlns:a16="http://schemas.microsoft.com/office/drawing/2014/main" id="{A9164B52-64A6-4189-B900-018CE87B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393">
            <a:extLst xmlns:a="http://schemas.openxmlformats.org/drawingml/2006/main">
              <a:ext uri="{FF2B5EF4-FFF2-40B4-BE49-F238E27FC236}">
                <a16:creationId xmlns:a16="http://schemas.microsoft.com/office/drawing/2014/main" id="{81BEEC6F-E32F-4B44-8B48-D841B16D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重複</a:t>
            </a:r>
          </a:p>
        </p:txBody>
      </p:sp>
      <p:sp>
        <p:nvSpPr>
          <p:cNvPr id="9" name="text-394">
            <a:extLst xmlns:a="http://schemas.openxmlformats.org/drawingml/2006/main">
              <a:ext uri="{FF2B5EF4-FFF2-40B4-BE49-F238E27FC236}">
                <a16:creationId xmlns:a16="http://schemas.microsoft.com/office/drawing/2014/main" id="{21E51E94-8AF4-4936-BF54-6903BAB5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這個任務一學期會出現多次，而不是只做一次。</a:t>
            </a:r>
          </a:p>
        </p:txBody>
      </p:sp>
      <p:sp>
        <p:nvSpPr>
          <p:cNvPr id="10" name="shape-395">
            <a:extLst xmlns:a="http://schemas.openxmlformats.org/drawingml/2006/main">
              <a:ext uri="{FF2B5EF4-FFF2-40B4-BE49-F238E27FC236}">
                <a16:creationId xmlns:a16="http://schemas.microsoft.com/office/drawing/2014/main" id="{06135479-490C-448D-96C3-5BF2C078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1" name="text-396">
            <a:extLst xmlns:a="http://schemas.openxmlformats.org/drawingml/2006/main">
              <a:ext uri="{FF2B5EF4-FFF2-40B4-BE49-F238E27FC236}">
                <a16:creationId xmlns:a16="http://schemas.microsoft.com/office/drawing/2014/main" id="{230D3445-08AC-430E-9F31-2605201C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397">
            <a:extLst xmlns:a="http://schemas.openxmlformats.org/drawingml/2006/main">
              <a:ext uri="{FF2B5EF4-FFF2-40B4-BE49-F238E27FC236}">
                <a16:creationId xmlns:a16="http://schemas.microsoft.com/office/drawing/2014/main" id="{A338CF71-08D0-4053-AF1D-DC709869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一致</a:t>
            </a:r>
          </a:p>
        </p:txBody>
      </p:sp>
      <p:sp>
        <p:nvSpPr>
          <p:cNvPr id="13" name="text-398">
            <a:extLst xmlns:a="http://schemas.openxmlformats.org/drawingml/2006/main">
              <a:ext uri="{FF2B5EF4-FFF2-40B4-BE49-F238E27FC236}">
                <a16:creationId xmlns:a16="http://schemas.microsoft.com/office/drawing/2014/main" id="{02578EAF-29AD-4270-AAED-6903076E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不同輸入仍遵守相同流程、語氣與輸出欄位。</a:t>
            </a:r>
          </a:p>
        </p:txBody>
      </p:sp>
      <p:sp>
        <p:nvSpPr>
          <p:cNvPr id="14" name="shape-399">
            <a:extLst xmlns:a="http://schemas.openxmlformats.org/drawingml/2006/main">
              <a:ext uri="{FF2B5EF4-FFF2-40B4-BE49-F238E27FC236}">
                <a16:creationId xmlns:a16="http://schemas.microsoft.com/office/drawing/2014/main" id="{B3ACD42A-E652-4145-9402-0A5363ED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5" name="text-400">
            <a:extLst xmlns:a="http://schemas.openxmlformats.org/drawingml/2006/main">
              <a:ext uri="{FF2B5EF4-FFF2-40B4-BE49-F238E27FC236}">
                <a16:creationId xmlns:a16="http://schemas.microsoft.com/office/drawing/2014/main" id="{75AA97E5-FFDE-41E8-BAC2-62C10130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401">
            <a:extLst xmlns:a="http://schemas.openxmlformats.org/drawingml/2006/main">
              <a:ext uri="{FF2B5EF4-FFF2-40B4-BE49-F238E27FC236}">
                <a16:creationId xmlns:a16="http://schemas.microsoft.com/office/drawing/2014/main" id="{CC88DD60-C277-4972-A97B-A3084A6B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可教</a:t>
            </a:r>
          </a:p>
        </p:txBody>
      </p:sp>
      <p:sp>
        <p:nvSpPr>
          <p:cNvPr id="17" name="text-402">
            <a:extLst xmlns:a="http://schemas.openxmlformats.org/drawingml/2006/main">
              <a:ext uri="{FF2B5EF4-FFF2-40B4-BE49-F238E27FC236}">
                <a16:creationId xmlns:a16="http://schemas.microsoft.com/office/drawing/2014/main" id="{2A6BFCCA-EAA7-43C7-846B-35D528F6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同事看得懂它的用途，也知道何時不該使用。</a:t>
            </a:r>
          </a:p>
        </p:txBody>
      </p:sp>
      <p:sp>
        <p:nvSpPr>
          <p:cNvPr id="18" name="shape-403">
            <a:extLst xmlns:a="http://schemas.openxmlformats.org/drawingml/2006/main">
              <a:ext uri="{FF2B5EF4-FFF2-40B4-BE49-F238E27FC236}">
                <a16:creationId xmlns:a16="http://schemas.microsoft.com/office/drawing/2014/main" id="{79B9D1B7-5F04-46DC-9F3D-DADC540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9" name="text-404">
            <a:extLst xmlns:a="http://schemas.openxmlformats.org/drawingml/2006/main">
              <a:ext uri="{FF2B5EF4-FFF2-40B4-BE49-F238E27FC236}">
                <a16:creationId xmlns:a16="http://schemas.microsoft.com/office/drawing/2014/main" id="{04A34A9A-C185-41BF-985F-DE040E95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405">
            <a:extLst xmlns:a="http://schemas.openxmlformats.org/drawingml/2006/main">
              <a:ext uri="{FF2B5EF4-FFF2-40B4-BE49-F238E27FC236}">
                <a16:creationId xmlns:a16="http://schemas.microsoft.com/office/drawing/2014/main" id="{CE5CF51B-CA76-4408-8197-8CECB78F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可改</a:t>
            </a:r>
          </a:p>
        </p:txBody>
      </p:sp>
      <p:sp>
        <p:nvSpPr>
          <p:cNvPr id="21" name="text-406">
            <a:extLst xmlns:a="http://schemas.openxmlformats.org/drawingml/2006/main">
              <a:ext uri="{FF2B5EF4-FFF2-40B4-BE49-F238E27FC236}">
                <a16:creationId xmlns:a16="http://schemas.microsoft.com/office/drawing/2014/main" id="{6F7ECBD7-C2DF-4BC3-B5E1-6C8B9C41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指令與背景檔案能隨課程迭代，不被鎖死。</a:t>
            </a:r>
          </a:p>
        </p:txBody>
      </p:sp>
      <p:sp>
        <p:nvSpPr>
          <p:cNvPr id="22" name="text-661">
            <a:extLst xmlns:a="http://schemas.openxmlformats.org/drawingml/2006/main">
              <a:ext uri="{FF2B5EF4-FFF2-40B4-BE49-F238E27FC236}">
                <a16:creationId xmlns:a16="http://schemas.microsoft.com/office/drawing/2014/main" id="{1B3C5F6C-DE1C-4E42-882F-90D55023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9de6534a08904ce5"/>
              </a:rPr>
              <a:t>建立／查看 Gem ↗</a:t>
            </a:r>
          </a:p>
        </p:txBody>
      </p:sp>
      <p:sp>
        <p:nvSpPr>
          <p:cNvPr id="23" name="shape-703">
            <a:extLst xmlns:a="http://schemas.openxmlformats.org/drawingml/2006/main">
              <a:ext uri="{FF2B5EF4-FFF2-40B4-BE49-F238E27FC236}">
                <a16:creationId xmlns:a16="http://schemas.microsoft.com/office/drawing/2014/main" id="{218A246B-B500-45BF-BA96-5F602C5D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60080352e4c4f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5" name="text-704">
            <a:extLst xmlns:a="http://schemas.openxmlformats.org/drawingml/2006/main">
              <a:ext uri="{FF2B5EF4-FFF2-40B4-BE49-F238E27FC236}">
                <a16:creationId xmlns:a16="http://schemas.microsoft.com/office/drawing/2014/main" id="{C64F7794-E39B-4EA4-AE91-15D87CFE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自訂 Gem</a:t>
            </a:r>
          </a:p>
        </p:txBody>
      </p:sp>
    </p:spTree>
    <p:extLst>
      <p:ext uri="{BB962C8B-B14F-4D97-AF65-F5344CB8AC3E}">
        <p14:creationId xmlns:p14="http://schemas.microsoft.com/office/powerpoint/2010/main" val="172849394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407">
            <a:extLst xmlns:a="http://schemas.openxmlformats.org/drawingml/2006/main">
              <a:ext uri="{FF2B5EF4-FFF2-40B4-BE49-F238E27FC236}">
                <a16:creationId xmlns:a16="http://schemas.microsoft.com/office/drawing/2014/main" id="{81D6214B-357D-4753-94ED-6A8C7E26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4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84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2" name="text-408">
            <a:extLst xmlns:a="http://schemas.openxmlformats.org/drawingml/2006/main">
              <a:ext uri="{FF2B5EF4-FFF2-40B4-BE49-F238E27FC236}">
                <a16:creationId xmlns:a16="http://schemas.microsoft.com/office/drawing/2014/main" id="{F04557CF-AD7B-4C5F-80AD-0D926A10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Gemini Canvas</a:t>
            </a:r>
          </a:p>
        </p:txBody>
      </p:sp>
      <p:sp>
        <p:nvSpPr>
          <p:cNvPr id="3" name="text-409">
            <a:extLst xmlns:a="http://schemas.openxmlformats.org/drawingml/2006/main">
              <a:ext uri="{FF2B5EF4-FFF2-40B4-BE49-F238E27FC236}">
                <a16:creationId xmlns:a16="http://schemas.microsoft.com/office/drawing/2014/main" id="{835F0A0E-FA67-47AB-9B64-95A20C20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8477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把文字想法變成可預覽、可修改、可分享的文件、程式與互動教學作品。</a:t>
            </a:r>
          </a:p>
        </p:txBody>
      </p:sp>
      <p:sp>
        <p:nvSpPr>
          <p:cNvPr id="4" name="shape-410">
            <a:extLst xmlns:a="http://schemas.openxmlformats.org/drawingml/2006/main">
              <a:ext uri="{FF2B5EF4-FFF2-40B4-BE49-F238E27FC236}">
                <a16:creationId xmlns:a16="http://schemas.microsoft.com/office/drawing/2014/main" id="{901B28AC-CAA7-4E74-A542-9687917A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10000"/>
            <a:ext cx="1524000" cy="1524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11">
            <a:extLst xmlns:a="http://schemas.openxmlformats.org/drawingml/2006/main">
              <a:ext uri="{FF2B5EF4-FFF2-40B4-BE49-F238E27FC236}">
                <a16:creationId xmlns:a16="http://schemas.microsoft.com/office/drawing/2014/main" id="{4E19B5BE-74A3-4320-BDC8-657D78D0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14800"/>
            <a:ext cx="114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動手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做</a:t>
            </a:r>
          </a:p>
        </p:txBody>
      </p:sp>
      <p:cxnSp>
        <p:nvCxnSpPr>
          <p:cNvPr id="18" name="shape-412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7" name="text-413">
            <a:extLst xmlns:a="http://schemas.openxmlformats.org/drawingml/2006/main">
              <a:ext uri="{FF2B5EF4-FFF2-40B4-BE49-F238E27FC236}">
                <a16:creationId xmlns:a16="http://schemas.microsoft.com/office/drawing/2014/main" id="{6E5B5471-EE19-4301-9661-AFDD8FC1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797C273-2C84-46B9-B51B-B3E70D50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25</a:t>
            </a:r>
          </a:p>
        </p:txBody>
      </p:sp>
      <p:sp>
        <p:nvSpPr>
          <p:cNvPr id="9" name="text-662">
            <a:extLst xmlns:a="http://schemas.openxmlformats.org/drawingml/2006/main">
              <a:ext uri="{FF2B5EF4-FFF2-40B4-BE49-F238E27FC236}">
                <a16:creationId xmlns:a16="http://schemas.microsoft.com/office/drawing/2014/main" id="{89888227-5E8A-45FD-8135-39CC6E9A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7ac602eebfa14fe1"/>
              </a:rPr>
              <a:t>開啟 Gemini Canvas ↗</a:t>
            </a:r>
          </a:p>
        </p:txBody>
      </p:sp>
      <p:sp>
        <p:nvSpPr>
          <p:cNvPr id="10" name="shape-705">
            <a:extLst xmlns:a="http://schemas.openxmlformats.org/drawingml/2006/main">
              <a:ext uri="{FF2B5EF4-FFF2-40B4-BE49-F238E27FC236}">
                <a16:creationId xmlns:a16="http://schemas.microsoft.com/office/drawing/2014/main" id="{119B7A4E-FFD7-4D22-8DF6-F9822155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2a43251ef742db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12" name="text-706">
            <a:extLst xmlns:a="http://schemas.openxmlformats.org/drawingml/2006/main">
              <a:ext uri="{FF2B5EF4-FFF2-40B4-BE49-F238E27FC236}">
                <a16:creationId xmlns:a16="http://schemas.microsoft.com/office/drawing/2014/main" id="{7265C7D7-4AFB-43A5-96CC-B1C8D111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Canvas</a:t>
            </a:r>
          </a:p>
        </p:txBody>
      </p:sp>
    </p:spTree>
    <p:extLst>
      <p:ext uri="{BB962C8B-B14F-4D97-AF65-F5344CB8AC3E}">
        <p14:creationId xmlns:p14="http://schemas.microsoft.com/office/powerpoint/2010/main" val="62086549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414">
            <a:extLst xmlns:a="http://schemas.openxmlformats.org/drawingml/2006/main">
              <a:ext uri="{FF2B5EF4-FFF2-40B4-BE49-F238E27FC236}">
                <a16:creationId xmlns:a16="http://schemas.microsoft.com/office/drawing/2014/main" id="{1D52E322-C7CE-44F9-99E7-98643722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CANVAS PROMPT · MEETING SYSTEM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6F5670-CFAA-48DF-A2A7-D48C286A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教師會議紀錄系統的 Canvas 提示詞公式</a:t>
            </a:r>
          </a:p>
        </p:txBody>
      </p:sp>
      <p:cxnSp>
        <p:nvCxnSpPr>
          <p:cNvPr id="28" name="shape-415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416">
            <a:extLst xmlns:a="http://schemas.openxmlformats.org/drawingml/2006/main">
              <a:ext uri="{FF2B5EF4-FFF2-40B4-BE49-F238E27FC236}">
                <a16:creationId xmlns:a16="http://schemas.microsoft.com/office/drawing/2014/main" id="{D703BA82-537E-4337-9873-2CEF3065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58A95EA-05DE-47F1-BF40-9EA7C962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26</a:t>
            </a:r>
          </a:p>
        </p:txBody>
      </p:sp>
      <p:sp>
        <p:nvSpPr>
          <p:cNvPr id="6" name="shape-417">
            <a:extLst xmlns:a="http://schemas.openxmlformats.org/drawingml/2006/main">
              <a:ext uri="{FF2B5EF4-FFF2-40B4-BE49-F238E27FC236}">
                <a16:creationId xmlns:a16="http://schemas.microsoft.com/office/drawing/2014/main" id="{B49AE7A8-2A23-4242-9AF6-F2400990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text-418">
            <a:extLst xmlns:a="http://schemas.openxmlformats.org/drawingml/2006/main">
              <a:ext uri="{FF2B5EF4-FFF2-40B4-BE49-F238E27FC236}">
                <a16:creationId xmlns:a16="http://schemas.microsoft.com/office/drawing/2014/main" id="{E75ED83F-BF3F-4DE3-A30B-CCA3237F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8" name="text-419">
            <a:extLst xmlns:a="http://schemas.openxmlformats.org/drawingml/2006/main">
              <a:ext uri="{FF2B5EF4-FFF2-40B4-BE49-F238E27FC236}">
                <a16:creationId xmlns:a16="http://schemas.microsoft.com/office/drawing/2014/main" id="{1063D1A5-18CE-4986-A931-E2CE72ED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資料輸入</a:t>
            </a:r>
          </a:p>
        </p:txBody>
      </p:sp>
      <p:sp>
        <p:nvSpPr>
          <p:cNvPr id="9" name="text-420">
            <a:extLst xmlns:a="http://schemas.openxmlformats.org/drawingml/2006/main">
              <a:ext uri="{FF2B5EF4-FFF2-40B4-BE49-F238E27FC236}">
                <a16:creationId xmlns:a16="http://schemas.microsoft.com/office/drawing/2014/main" id="{53013864-4582-4DEC-93A6-6D6EF5C5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會議日期、議程、逐字稿或摘要；先用一筆合成資料示範。</a:t>
            </a:r>
          </a:p>
        </p:txBody>
      </p:sp>
      <p:sp>
        <p:nvSpPr>
          <p:cNvPr id="10" name="shape-421">
            <a:extLst xmlns:a="http://schemas.openxmlformats.org/drawingml/2006/main">
              <a:ext uri="{FF2B5EF4-FFF2-40B4-BE49-F238E27FC236}">
                <a16:creationId xmlns:a16="http://schemas.microsoft.com/office/drawing/2014/main" id="{5858B483-70ED-4D92-BB1D-F54ED116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1" name="text-422">
            <a:extLst xmlns:a="http://schemas.openxmlformats.org/drawingml/2006/main">
              <a:ext uri="{FF2B5EF4-FFF2-40B4-BE49-F238E27FC236}">
                <a16:creationId xmlns:a16="http://schemas.microsoft.com/office/drawing/2014/main" id="{C32FBCF0-C932-4591-9AC6-6E8F1E13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2AFA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2" name="text-423">
            <a:extLst xmlns:a="http://schemas.openxmlformats.org/drawingml/2006/main">
              <a:ext uri="{FF2B5EF4-FFF2-40B4-BE49-F238E27FC236}">
                <a16:creationId xmlns:a16="http://schemas.microsoft.com/office/drawing/2014/main" id="{5511FEFD-23AF-4B62-AF96-4C5356EC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工作流程</a:t>
            </a:r>
          </a:p>
        </p:txBody>
      </p:sp>
      <p:sp>
        <p:nvSpPr>
          <p:cNvPr id="13" name="text-424">
            <a:extLst xmlns:a="http://schemas.openxmlformats.org/drawingml/2006/main">
              <a:ext uri="{FF2B5EF4-FFF2-40B4-BE49-F238E27FC236}">
                <a16:creationId xmlns:a16="http://schemas.microsoft.com/office/drawing/2014/main" id="{A4F36EEB-C90E-4203-8A88-D37AE045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把重點、決議、待辦、承辦人與期限變成可查詢欄位。</a:t>
            </a:r>
          </a:p>
        </p:txBody>
      </p:sp>
      <p:sp>
        <p:nvSpPr>
          <p:cNvPr id="14" name="shape-425">
            <a:extLst xmlns:a="http://schemas.openxmlformats.org/drawingml/2006/main">
              <a:ext uri="{FF2B5EF4-FFF2-40B4-BE49-F238E27FC236}">
                <a16:creationId xmlns:a16="http://schemas.microsoft.com/office/drawing/2014/main" id="{F04B3790-8CD0-4972-82FF-341E008F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5" name="text-426">
            <a:extLst xmlns:a="http://schemas.openxmlformats.org/drawingml/2006/main">
              <a:ext uri="{FF2B5EF4-FFF2-40B4-BE49-F238E27FC236}">
                <a16:creationId xmlns:a16="http://schemas.microsoft.com/office/drawing/2014/main" id="{8F47BBFF-EF9A-4695-81A8-994A639A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786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6" name="text-427">
            <a:extLst xmlns:a="http://schemas.openxmlformats.org/drawingml/2006/main">
              <a:ext uri="{FF2B5EF4-FFF2-40B4-BE49-F238E27FC236}">
                <a16:creationId xmlns:a16="http://schemas.microsoft.com/office/drawing/2014/main" id="{AD1771A8-D731-4B9B-A0AE-B145CA06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互動介面</a:t>
            </a:r>
          </a:p>
        </p:txBody>
      </p:sp>
      <p:sp>
        <p:nvSpPr>
          <p:cNvPr id="17" name="text-428">
            <a:extLst xmlns:a="http://schemas.openxmlformats.org/drawingml/2006/main">
              <a:ext uri="{FF2B5EF4-FFF2-40B4-BE49-F238E27FC236}">
                <a16:creationId xmlns:a16="http://schemas.microsoft.com/office/drawing/2014/main" id="{DA4CECB9-97EC-4E81-8AE9-F07527DE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加入搜尋、篩選、展開、匯出與手機操作，讓紀錄真的能被使用。</a:t>
            </a:r>
          </a:p>
        </p:txBody>
      </p:sp>
      <p:sp>
        <p:nvSpPr>
          <p:cNvPr id="18" name="shape-429">
            <a:extLst xmlns:a="http://schemas.openxmlformats.org/drawingml/2006/main">
              <a:ext uri="{FF2B5EF4-FFF2-40B4-BE49-F238E27FC236}">
                <a16:creationId xmlns:a16="http://schemas.microsoft.com/office/drawing/2014/main" id="{5627E2AF-C2DC-4214-A71C-4F010628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9" name="text-430">
            <a:extLst xmlns:a="http://schemas.openxmlformats.org/drawingml/2006/main">
              <a:ext uri="{FF2B5EF4-FFF2-40B4-BE49-F238E27FC236}">
                <a16:creationId xmlns:a16="http://schemas.microsoft.com/office/drawing/2014/main" id="{63DF4173-2D63-4809-9952-5902B998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0" name="text-431">
            <a:extLst xmlns:a="http://schemas.openxmlformats.org/drawingml/2006/main">
              <a:ext uri="{FF2B5EF4-FFF2-40B4-BE49-F238E27FC236}">
                <a16:creationId xmlns:a16="http://schemas.microsoft.com/office/drawing/2014/main" id="{312034AC-74B6-4B74-ABF6-B4E6D447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部署驗收</a:t>
            </a:r>
          </a:p>
        </p:txBody>
      </p:sp>
      <p:sp>
        <p:nvSpPr>
          <p:cNvPr id="21" name="text-432">
            <a:extLst xmlns:a="http://schemas.openxmlformats.org/drawingml/2006/main">
              <a:ext uri="{FF2B5EF4-FFF2-40B4-BE49-F238E27FC236}">
                <a16:creationId xmlns:a16="http://schemas.microsoft.com/office/drawing/2014/main" id="{4345CDA7-1DE5-48FE-9D0D-C6D7257A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單檔 RWD、無個資、可嵌入 Google Sites，並列出權限與備援方案。</a:t>
            </a:r>
          </a:p>
        </p:txBody>
      </p:sp>
      <p:sp>
        <p:nvSpPr>
          <p:cNvPr id="22" name="text-663">
            <a:extLst xmlns:a="http://schemas.openxmlformats.org/drawingml/2006/main">
              <a:ext uri="{FF2B5EF4-FFF2-40B4-BE49-F238E27FC236}">
                <a16:creationId xmlns:a16="http://schemas.microsoft.com/office/drawing/2014/main" id="{44808F30-973D-4F25-AC78-F5B04152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357a1cd7d4eb4d3f"/>
              </a:rPr>
              <a:t>開啟 Gemini Canvas ↗</a:t>
            </a:r>
          </a:p>
        </p:txBody>
      </p:sp>
      <p:sp>
        <p:nvSpPr>
          <p:cNvPr id="23" name="shape-707">
            <a:extLst xmlns:a="http://schemas.openxmlformats.org/drawingml/2006/main">
              <a:ext uri="{FF2B5EF4-FFF2-40B4-BE49-F238E27FC236}">
                <a16:creationId xmlns:a16="http://schemas.microsoft.com/office/drawing/2014/main" id="{22069A3B-D338-4206-8371-CB36EFCE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ff6cde1fa4f49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25" name="text-708">
            <a:extLst xmlns:a="http://schemas.openxmlformats.org/drawingml/2006/main">
              <a:ext uri="{FF2B5EF4-FFF2-40B4-BE49-F238E27FC236}">
                <a16:creationId xmlns:a16="http://schemas.microsoft.com/office/drawing/2014/main" id="{6AD4638F-CA34-45C0-85DC-F75B32A2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Canvas</a:t>
            </a:r>
          </a:p>
        </p:txBody>
      </p:sp>
    </p:spTree>
    <p:extLst>
      <p:ext uri="{BB962C8B-B14F-4D97-AF65-F5344CB8AC3E}">
        <p14:creationId xmlns:p14="http://schemas.microsoft.com/office/powerpoint/2010/main" val="183482300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-433">
            <a:extLst xmlns:a="http://schemas.openxmlformats.org/drawingml/2006/main">
              <a:ext uri="{FF2B5EF4-FFF2-40B4-BE49-F238E27FC236}">
                <a16:creationId xmlns:a16="http://schemas.microsoft.com/office/drawing/2014/main" id="{128BA118-90D5-4F20-818D-FE817495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LIVE DEMO · CANVAS → GOOGLE SITES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4C3EB4-338A-4DE7-88A0-9015AAA1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Canvas 示範：教師會議紀錄線上系統</a:t>
            </a:r>
          </a:p>
        </p:txBody>
      </p:sp>
      <p:cxnSp>
        <p:nvCxnSpPr>
          <p:cNvPr id="38" name="shape-43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435">
            <a:extLst xmlns:a="http://schemas.openxmlformats.org/drawingml/2006/main">
              <a:ext uri="{FF2B5EF4-FFF2-40B4-BE49-F238E27FC236}">
                <a16:creationId xmlns:a16="http://schemas.microsoft.com/office/drawing/2014/main" id="{075B6094-E03C-46BB-B7A9-A7623C33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5B7E9BF-1873-4C68-841B-B9E42439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27</a:t>
            </a:r>
          </a:p>
        </p:txBody>
      </p:sp>
      <p:sp>
        <p:nvSpPr>
          <p:cNvPr id="6" name="shape-436">
            <a:extLst xmlns:a="http://schemas.openxmlformats.org/drawingml/2006/main">
              <a:ext uri="{FF2B5EF4-FFF2-40B4-BE49-F238E27FC236}">
                <a16:creationId xmlns:a16="http://schemas.microsoft.com/office/drawing/2014/main" id="{78E90132-D276-43D6-AEEF-AF62C42C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shape-437">
            <a:extLst xmlns:a="http://schemas.openxmlformats.org/drawingml/2006/main">
              <a:ext uri="{FF2B5EF4-FFF2-40B4-BE49-F238E27FC236}">
                <a16:creationId xmlns:a16="http://schemas.microsoft.com/office/drawing/2014/main" id="{160580E4-A90A-4793-99E2-E728D625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438">
            <a:extLst xmlns:a="http://schemas.openxmlformats.org/drawingml/2006/main">
              <a:ext uri="{FF2B5EF4-FFF2-40B4-BE49-F238E27FC236}">
                <a16:creationId xmlns:a16="http://schemas.microsoft.com/office/drawing/2014/main" id="{16CF08C4-A45B-4F83-9895-54B10C1A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439">
            <a:extLst xmlns:a="http://schemas.openxmlformats.org/drawingml/2006/main">
              <a:ext uri="{FF2B5EF4-FFF2-40B4-BE49-F238E27FC236}">
                <a16:creationId xmlns:a16="http://schemas.microsoft.com/office/drawing/2014/main" id="{0890CF20-17FB-4A97-9A75-25D00660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規格</a:t>
            </a:r>
          </a:p>
        </p:txBody>
      </p:sp>
      <p:sp>
        <p:nvSpPr>
          <p:cNvPr id="10" name="text-440">
            <a:extLst xmlns:a="http://schemas.openxmlformats.org/drawingml/2006/main">
              <a:ext uri="{FF2B5EF4-FFF2-40B4-BE49-F238E27FC236}">
                <a16:creationId xmlns:a16="http://schemas.microsoft.com/office/drawing/2014/main" id="{946C85A4-4165-49A8-BBD5-3CFB072E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先寫使用者、欄位與一筆合成會議資料</a:t>
            </a:r>
          </a:p>
        </p:txBody>
      </p:sp>
      <p:sp>
        <p:nvSpPr>
          <p:cNvPr id="11" name="text-441">
            <a:extLst xmlns:a="http://schemas.openxmlformats.org/drawingml/2006/main">
              <a:ext uri="{FF2B5EF4-FFF2-40B4-BE49-F238E27FC236}">
                <a16:creationId xmlns:a16="http://schemas.microsoft.com/office/drawing/2014/main" id="{DC76C716-3A06-43E5-A743-56182C74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442">
            <a:extLst xmlns:a="http://schemas.openxmlformats.org/drawingml/2006/main">
              <a:ext uri="{FF2B5EF4-FFF2-40B4-BE49-F238E27FC236}">
                <a16:creationId xmlns:a16="http://schemas.microsoft.com/office/drawing/2014/main" id="{D3624997-B8B4-4F84-B3A3-F01C3AE8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shape-443">
            <a:extLst xmlns:a="http://schemas.openxmlformats.org/drawingml/2006/main">
              <a:ext uri="{FF2B5EF4-FFF2-40B4-BE49-F238E27FC236}">
                <a16:creationId xmlns:a16="http://schemas.microsoft.com/office/drawing/2014/main" id="{68717F42-299F-478F-B506-11E5FA04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444">
            <a:extLst xmlns:a="http://schemas.openxmlformats.org/drawingml/2006/main">
              <a:ext uri="{FF2B5EF4-FFF2-40B4-BE49-F238E27FC236}">
                <a16:creationId xmlns:a16="http://schemas.microsoft.com/office/drawing/2014/main" id="{76DFEC86-2D7A-4DC6-BD93-68967FDF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445">
            <a:extLst xmlns:a="http://schemas.openxmlformats.org/drawingml/2006/main">
              <a:ext uri="{FF2B5EF4-FFF2-40B4-BE49-F238E27FC236}">
                <a16:creationId xmlns:a16="http://schemas.microsoft.com/office/drawing/2014/main" id="{8FBA1F14-A65B-44BE-907F-F5ED8A29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生成</a:t>
            </a:r>
          </a:p>
        </p:txBody>
      </p:sp>
      <p:sp>
        <p:nvSpPr>
          <p:cNvPr id="16" name="text-446">
            <a:extLst xmlns:a="http://schemas.openxmlformats.org/drawingml/2006/main">
              <a:ext uri="{FF2B5EF4-FFF2-40B4-BE49-F238E27FC236}">
                <a16:creationId xmlns:a16="http://schemas.microsoft.com/office/drawing/2014/main" id="{474CB963-161E-48D4-BA95-D532DEC5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做出重點、決議、待辦與搜尋的最小原型</a:t>
            </a:r>
          </a:p>
        </p:txBody>
      </p:sp>
      <p:sp>
        <p:nvSpPr>
          <p:cNvPr id="17" name="text-447">
            <a:extLst xmlns:a="http://schemas.openxmlformats.org/drawingml/2006/main">
              <a:ext uri="{FF2B5EF4-FFF2-40B4-BE49-F238E27FC236}">
                <a16:creationId xmlns:a16="http://schemas.microsoft.com/office/drawing/2014/main" id="{4BDC4E5C-A7E1-486D-973A-1CF0DE22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448">
            <a:extLst xmlns:a="http://schemas.openxmlformats.org/drawingml/2006/main">
              <a:ext uri="{FF2B5EF4-FFF2-40B4-BE49-F238E27FC236}">
                <a16:creationId xmlns:a16="http://schemas.microsoft.com/office/drawing/2014/main" id="{989A22F4-7670-4DEC-9DA5-27370F7E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shape-449">
            <a:extLst xmlns:a="http://schemas.openxmlformats.org/drawingml/2006/main">
              <a:ext uri="{FF2B5EF4-FFF2-40B4-BE49-F238E27FC236}">
                <a16:creationId xmlns:a16="http://schemas.microsoft.com/office/drawing/2014/main" id="{555E0194-3E2F-48E8-A68C-8BE22255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450">
            <a:extLst xmlns:a="http://schemas.openxmlformats.org/drawingml/2006/main">
              <a:ext uri="{FF2B5EF4-FFF2-40B4-BE49-F238E27FC236}">
                <a16:creationId xmlns:a16="http://schemas.microsoft.com/office/drawing/2014/main" id="{A73BEA57-19C1-4DD9-83F6-6E9B90BB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451">
            <a:extLst xmlns:a="http://schemas.openxmlformats.org/drawingml/2006/main">
              <a:ext uri="{FF2B5EF4-FFF2-40B4-BE49-F238E27FC236}">
                <a16:creationId xmlns:a16="http://schemas.microsoft.com/office/drawing/2014/main" id="{E53C001D-B6A6-40B5-9404-2712ACC0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預覽</a:t>
            </a:r>
          </a:p>
        </p:txBody>
      </p:sp>
      <p:sp>
        <p:nvSpPr>
          <p:cNvPr id="22" name="text-452">
            <a:extLst xmlns:a="http://schemas.openxmlformats.org/drawingml/2006/main">
              <a:ext uri="{FF2B5EF4-FFF2-40B4-BE49-F238E27FC236}">
                <a16:creationId xmlns:a16="http://schemas.microsoft.com/office/drawing/2014/main" id="{4471FB26-7384-4FD6-BCBB-D44FCB44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操作篩選、展開、匯出，檢查 RWD 與鍵盤路徑</a:t>
            </a:r>
          </a:p>
        </p:txBody>
      </p:sp>
      <p:sp>
        <p:nvSpPr>
          <p:cNvPr id="23" name="text-453">
            <a:extLst xmlns:a="http://schemas.openxmlformats.org/drawingml/2006/main">
              <a:ext uri="{FF2B5EF4-FFF2-40B4-BE49-F238E27FC236}">
                <a16:creationId xmlns:a16="http://schemas.microsoft.com/office/drawing/2014/main" id="{2D17BB0B-0E5B-4B6C-9C4B-FCD66A60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454">
            <a:extLst xmlns:a="http://schemas.openxmlformats.org/drawingml/2006/main">
              <a:ext uri="{FF2B5EF4-FFF2-40B4-BE49-F238E27FC236}">
                <a16:creationId xmlns:a16="http://schemas.microsoft.com/office/drawing/2014/main" id="{FFE8F66A-96D7-4D47-A417-C85AB144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shape-455">
            <a:extLst xmlns:a="http://schemas.openxmlformats.org/drawingml/2006/main">
              <a:ext uri="{FF2B5EF4-FFF2-40B4-BE49-F238E27FC236}">
                <a16:creationId xmlns:a16="http://schemas.microsoft.com/office/drawing/2014/main" id="{05E744A3-AC4F-4AEE-9BC8-799BD863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456">
            <a:extLst xmlns:a="http://schemas.openxmlformats.org/drawingml/2006/main">
              <a:ext uri="{FF2B5EF4-FFF2-40B4-BE49-F238E27FC236}">
                <a16:creationId xmlns:a16="http://schemas.microsoft.com/office/drawing/2014/main" id="{474E7E1A-0F12-42F1-88F3-A2A906EC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457">
            <a:extLst xmlns:a="http://schemas.openxmlformats.org/drawingml/2006/main">
              <a:ext uri="{FF2B5EF4-FFF2-40B4-BE49-F238E27FC236}">
                <a16:creationId xmlns:a16="http://schemas.microsoft.com/office/drawing/2014/main" id="{F2DA26A5-4680-402C-9E34-2BBC604B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迭代</a:t>
            </a:r>
          </a:p>
        </p:txBody>
      </p:sp>
      <p:sp>
        <p:nvSpPr>
          <p:cNvPr id="28" name="text-458">
            <a:extLst xmlns:a="http://schemas.openxmlformats.org/drawingml/2006/main">
              <a:ext uri="{FF2B5EF4-FFF2-40B4-BE49-F238E27FC236}">
                <a16:creationId xmlns:a16="http://schemas.microsoft.com/office/drawing/2014/main" id="{3F6FF478-C4C4-42AD-BB68-B3768745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修正權限、無障礙與嵌入限制，再交給 Google Sites</a:t>
            </a:r>
          </a:p>
        </p:txBody>
      </p:sp>
      <p:sp>
        <p:nvSpPr>
          <p:cNvPr id="29" name="text-459">
            <a:extLst xmlns:a="http://schemas.openxmlformats.org/drawingml/2006/main">
              <a:ext uri="{FF2B5EF4-FFF2-40B4-BE49-F238E27FC236}">
                <a16:creationId xmlns:a16="http://schemas.microsoft.com/office/drawing/2014/main" id="{5DE5CB13-1911-442A-85D7-796BB880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  <p:sp>
        <p:nvSpPr>
          <p:cNvPr id="30" name="text-664">
            <a:extLst xmlns:a="http://schemas.openxmlformats.org/drawingml/2006/main">
              <a:ext uri="{FF2B5EF4-FFF2-40B4-BE49-F238E27FC236}">
                <a16:creationId xmlns:a16="http://schemas.microsoft.com/office/drawing/2014/main" id="{0B98F4FC-F0C4-4108-A161-F8EEE1BC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f74dbb31e654328"/>
              </a:rPr>
              <a:t>Canvas ↗</a:t>
            </a: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0b24a743a83148fa"/>
              </a:rPr>
              <a:t>會議紀錄系統 ↗</a:t>
            </a:r>
          </a:p>
        </p:txBody>
      </p:sp>
      <p:sp>
        <p:nvSpPr>
          <p:cNvPr id="31" name="shape-709">
            <a:extLst xmlns:a="http://schemas.openxmlformats.org/drawingml/2006/main">
              <a:ext uri="{FF2B5EF4-FFF2-40B4-BE49-F238E27FC236}">
                <a16:creationId xmlns:a16="http://schemas.microsoft.com/office/drawing/2014/main" id="{562892D9-67EC-40CB-A565-939902A7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16eedcd7cf4ea6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33" name="text-710">
            <a:extLst xmlns:a="http://schemas.openxmlformats.org/drawingml/2006/main">
              <a:ext uri="{FF2B5EF4-FFF2-40B4-BE49-F238E27FC236}">
                <a16:creationId xmlns:a16="http://schemas.microsoft.com/office/drawing/2014/main" id="{BC5AC958-224B-4A8B-94C1-0CF9A01C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Canvas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6a1cd98a2449d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35" name="text-711">
            <a:extLst xmlns:a="http://schemas.openxmlformats.org/drawingml/2006/main">
              <a:ext uri="{FF2B5EF4-FFF2-40B4-BE49-F238E27FC236}">
                <a16:creationId xmlns:a16="http://schemas.microsoft.com/office/drawing/2014/main" id="{4A72B50F-5470-4A07-9877-67B4828C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會議紀錄系統</a:t>
            </a:r>
          </a:p>
        </p:txBody>
      </p:sp>
    </p:spTree>
    <p:extLst>
      <p:ext uri="{BB962C8B-B14F-4D97-AF65-F5344CB8AC3E}">
        <p14:creationId xmlns:p14="http://schemas.microsoft.com/office/powerpoint/2010/main" val="55163208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460">
            <a:extLst xmlns:a="http://schemas.openxmlformats.org/drawingml/2006/main">
              <a:ext uri="{FF2B5EF4-FFF2-40B4-BE49-F238E27FC236}">
                <a16:creationId xmlns:a16="http://schemas.microsoft.com/office/drawing/2014/main" id="{2CB625FA-3FE7-431F-A352-E866FB5F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HANDS-ON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2D41DB-E6BF-48DE-8D43-96D617E8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實作三｜Canvas 會議紀錄 × Google Sites</a:t>
            </a:r>
          </a:p>
        </p:txBody>
      </p:sp>
      <p:cxnSp>
        <p:nvCxnSpPr>
          <p:cNvPr id="29" name="shape-461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462">
            <a:extLst xmlns:a="http://schemas.openxmlformats.org/drawingml/2006/main">
              <a:ext uri="{FF2B5EF4-FFF2-40B4-BE49-F238E27FC236}">
                <a16:creationId xmlns:a16="http://schemas.microsoft.com/office/drawing/2014/main" id="{F8EB4676-9E9C-43C0-8028-6D46823A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19F5BA9-62DF-41AB-9CDC-7E46CCE8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28</a:t>
            </a:r>
          </a:p>
        </p:txBody>
      </p:sp>
      <p:sp>
        <p:nvSpPr>
          <p:cNvPr id="6" name="text-463">
            <a:extLst xmlns:a="http://schemas.openxmlformats.org/drawingml/2006/main">
              <a:ext uri="{FF2B5EF4-FFF2-40B4-BE49-F238E27FC236}">
                <a16:creationId xmlns:a16="http://schemas.microsoft.com/office/drawing/2014/main" id="{D09E5083-CDC6-4254-A057-C85C459E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28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分鐘</a:t>
            </a:r>
          </a:p>
        </p:txBody>
      </p:sp>
      <p:sp>
        <p:nvSpPr>
          <p:cNvPr id="7" name="text-464">
            <a:extLst xmlns:a="http://schemas.openxmlformats.org/drawingml/2006/main">
              <a:ext uri="{FF2B5EF4-FFF2-40B4-BE49-F238E27FC236}">
                <a16:creationId xmlns:a16="http://schemas.microsoft.com/office/drawing/2014/main" id="{58265DCB-D458-4C8D-9D60-5E26344F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操作步驟</a:t>
            </a:r>
          </a:p>
        </p:txBody>
      </p:sp>
      <p:sp>
        <p:nvSpPr>
          <p:cNvPr id="8" name="text-465">
            <a:extLst xmlns:a="http://schemas.openxmlformats.org/drawingml/2006/main">
              <a:ext uri="{FF2B5EF4-FFF2-40B4-BE49-F238E27FC236}">
                <a16:creationId xmlns:a16="http://schemas.microsoft.com/office/drawing/2014/main" id="{0669D54D-D21E-4317-ABF1-2A09E069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466">
            <a:extLst xmlns:a="http://schemas.openxmlformats.org/drawingml/2006/main">
              <a:ext uri="{FF2B5EF4-FFF2-40B4-BE49-F238E27FC236}">
                <a16:creationId xmlns:a16="http://schemas.microsoft.com/office/drawing/2014/main" id="{46EB7841-E427-4F80-9987-D7F72131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在 Canvas 生成含重點、決議、待辦與搜尋的最小原型</a:t>
            </a:r>
          </a:p>
        </p:txBody>
      </p:sp>
      <p:sp>
        <p:nvSpPr>
          <p:cNvPr id="10" name="text-467">
            <a:extLst xmlns:a="http://schemas.openxmlformats.org/drawingml/2006/main">
              <a:ext uri="{FF2B5EF4-FFF2-40B4-BE49-F238E27FC236}">
                <a16:creationId xmlns:a16="http://schemas.microsoft.com/office/drawing/2014/main" id="{25E1741F-DAF8-434C-8E18-14746382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05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468">
            <a:extLst xmlns:a="http://schemas.openxmlformats.org/drawingml/2006/main">
              <a:ext uri="{FF2B5EF4-FFF2-40B4-BE49-F238E27FC236}">
                <a16:creationId xmlns:a16="http://schemas.microsoft.com/office/drawing/2014/main" id="{0914FCE2-0A42-4DFB-9DCF-834517AD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用合成會議資料測試篩選、展開、匯出與手機版</a:t>
            </a:r>
          </a:p>
        </p:txBody>
      </p:sp>
      <p:sp>
        <p:nvSpPr>
          <p:cNvPr id="12" name="text-469">
            <a:extLst xmlns:a="http://schemas.openxmlformats.org/drawingml/2006/main">
              <a:ext uri="{FF2B5EF4-FFF2-40B4-BE49-F238E27FC236}">
                <a16:creationId xmlns:a16="http://schemas.microsoft.com/office/drawing/2014/main" id="{2DFBCB90-E24F-4AB5-B7C6-C4E296FD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10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text-470">
            <a:extLst xmlns:a="http://schemas.openxmlformats.org/drawingml/2006/main">
              <a:ext uri="{FF2B5EF4-FFF2-40B4-BE49-F238E27FC236}">
                <a16:creationId xmlns:a16="http://schemas.microsoft.com/office/drawing/2014/main" id="{A4FD7B58-57DA-4E07-A052-829240F5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複製分享網址或嵌入碼，於 Google Sites 插入 → 嵌入 → 預覽</a:t>
            </a:r>
          </a:p>
        </p:txBody>
      </p:sp>
      <p:sp>
        <p:nvSpPr>
          <p:cNvPr id="14" name="text-471">
            <a:extLst xmlns:a="http://schemas.openxmlformats.org/drawingml/2006/main">
              <a:ext uri="{FF2B5EF4-FFF2-40B4-BE49-F238E27FC236}">
                <a16:creationId xmlns:a16="http://schemas.microsoft.com/office/drawing/2014/main" id="{53877B01-C51A-4DA5-B7FF-8FEB50F0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14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5" name="text-472">
            <a:extLst xmlns:a="http://schemas.openxmlformats.org/drawingml/2006/main">
              <a:ext uri="{FF2B5EF4-FFF2-40B4-BE49-F238E27FC236}">
                <a16:creationId xmlns:a16="http://schemas.microsoft.com/office/drawing/2014/main" id="{89D49D93-554F-4B94-AACD-2C8C0C1B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148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發布前檢查權限；若 X-Frame 被阻擋，保留外開連結作備援</a:t>
            </a:r>
          </a:p>
        </p:txBody>
      </p:sp>
      <p:sp>
        <p:nvSpPr>
          <p:cNvPr id="16" name="shape-473">
            <a:extLst xmlns:a="http://schemas.openxmlformats.org/drawingml/2006/main">
              <a:ext uri="{FF2B5EF4-FFF2-40B4-BE49-F238E27FC236}">
                <a16:creationId xmlns:a16="http://schemas.microsoft.com/office/drawing/2014/main" id="{41E088BB-8094-4A67-9B32-59E5201B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2362200" cy="39052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7" name="text-474">
            <a:extLst xmlns:a="http://schemas.openxmlformats.org/drawingml/2006/main">
              <a:ext uri="{FF2B5EF4-FFF2-40B4-BE49-F238E27FC236}">
                <a16:creationId xmlns:a16="http://schemas.microsoft.com/office/drawing/2014/main" id="{EC147A01-B9F6-4686-A628-DC6ECFD3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574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7866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7866"/>
                </a:solidFill>
                <a:latin typeface="Noto Sans TC"/>
                <a:ea typeface="Noto Sans TC"/>
                <a:cs typeface="Noto Sans TC"/>
              </a:rPr>
              <a:t>完成條件</a:t>
            </a:r>
          </a:p>
        </p:txBody>
      </p:sp>
      <p:sp>
        <p:nvSpPr>
          <p:cNvPr id="18" name="text-475">
            <a:extLst xmlns:a="http://schemas.openxmlformats.org/drawingml/2006/main">
              <a:ext uri="{FF2B5EF4-FFF2-40B4-BE49-F238E27FC236}">
                <a16:creationId xmlns:a16="http://schemas.microsoft.com/office/drawing/2014/main" id="{40A8E7BE-24B6-4581-AA0B-0176A006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186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5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桌機／手機都能完成主要操作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至少一筆會議紀錄可查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Google Sites 預覽成功或有外開備援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不含個資且保留人工確認</a:t>
            </a:r>
          </a:p>
        </p:txBody>
      </p:sp>
      <p:sp>
        <p:nvSpPr>
          <p:cNvPr id="19" name="text-665">
            <a:extLst xmlns:a="http://schemas.openxmlformats.org/drawingml/2006/main">
              <a:ext uri="{FF2B5EF4-FFF2-40B4-BE49-F238E27FC236}">
                <a16:creationId xmlns:a16="http://schemas.microsoft.com/office/drawing/2014/main" id="{15CD54A3-CC76-4768-A805-288DF3DF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011fd5d81d254487"/>
              </a:rPr>
              <a:t>Canvas ↗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62d6f95042754267"/>
              </a:rPr>
              <a:t>會議紀錄 ↗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b44561238634f3b"/>
              </a:rPr>
              <a:t>Google Sites ↗</a:t>
            </a:r>
          </a:p>
        </p:txBody>
      </p:sp>
      <p:sp>
        <p:nvSpPr>
          <p:cNvPr id="20" name="shape-712">
            <a:extLst xmlns:a="http://schemas.openxmlformats.org/drawingml/2006/main">
              <a:ext uri="{FF2B5EF4-FFF2-40B4-BE49-F238E27FC236}">
                <a16:creationId xmlns:a16="http://schemas.microsoft.com/office/drawing/2014/main" id="{09B0B68F-7778-46E9-AB10-021C3438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2f585a8554198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2" name="text-713">
            <a:extLst xmlns:a="http://schemas.openxmlformats.org/drawingml/2006/main">
              <a:ext uri="{FF2B5EF4-FFF2-40B4-BE49-F238E27FC236}">
                <a16:creationId xmlns:a16="http://schemas.microsoft.com/office/drawing/2014/main" id="{C8132FC3-C929-45EE-AC75-D954A6A0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Canvas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ffe9aebc547b5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4" name="text-714">
            <a:extLst xmlns:a="http://schemas.openxmlformats.org/drawingml/2006/main">
              <a:ext uri="{FF2B5EF4-FFF2-40B4-BE49-F238E27FC236}">
                <a16:creationId xmlns:a16="http://schemas.microsoft.com/office/drawing/2014/main" id="{5731870C-D5A9-462A-9F4E-1447DF53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會議紀錄系統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36d185a6af417b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6" name="text-715">
            <a:extLst xmlns:a="http://schemas.openxmlformats.org/drawingml/2006/main">
              <a:ext uri="{FF2B5EF4-FFF2-40B4-BE49-F238E27FC236}">
                <a16:creationId xmlns:a16="http://schemas.microsoft.com/office/drawing/2014/main" id="{AEC8CA26-BD28-4DA7-88D8-E1A2E728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Google Sites</a:t>
            </a:r>
          </a:p>
        </p:txBody>
      </p:sp>
    </p:spTree>
    <p:extLst>
      <p:ext uri="{BB962C8B-B14F-4D97-AF65-F5344CB8AC3E}">
        <p14:creationId xmlns:p14="http://schemas.microsoft.com/office/powerpoint/2010/main" val="156161795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476">
            <a:extLst xmlns:a="http://schemas.openxmlformats.org/drawingml/2006/main">
              <a:ext uri="{FF2B5EF4-FFF2-40B4-BE49-F238E27FC236}">
                <a16:creationId xmlns:a16="http://schemas.microsoft.com/office/drawing/2014/main" id="{A6BB3B1E-E2C5-41B8-AFE1-789F3FFC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PRE-PUBLISH CHECK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193606-142E-44B0-B4EC-0BECB08C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上線前 4 道門：能用，不等於能公開</a:t>
            </a:r>
          </a:p>
        </p:txBody>
      </p:sp>
      <p:cxnSp>
        <p:nvCxnSpPr>
          <p:cNvPr id="30" name="shape-477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478">
            <a:extLst xmlns:a="http://schemas.openxmlformats.org/drawingml/2006/main">
              <a:ext uri="{FF2B5EF4-FFF2-40B4-BE49-F238E27FC236}">
                <a16:creationId xmlns:a16="http://schemas.microsoft.com/office/drawing/2014/main" id="{CD63DFC3-6392-4B56-9F7F-7E346892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974D882-90BE-4929-B2AA-2573DE9F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29</a:t>
            </a:r>
          </a:p>
        </p:txBody>
      </p:sp>
      <p:sp>
        <p:nvSpPr>
          <p:cNvPr id="6" name="shape-479">
            <a:extLst xmlns:a="http://schemas.openxmlformats.org/drawingml/2006/main">
              <a:ext uri="{FF2B5EF4-FFF2-40B4-BE49-F238E27FC236}">
                <a16:creationId xmlns:a16="http://schemas.microsoft.com/office/drawing/2014/main" id="{FAC084D7-0F43-413F-BE55-E9080CBF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text-480">
            <a:extLst xmlns:a="http://schemas.openxmlformats.org/drawingml/2006/main">
              <a:ext uri="{FF2B5EF4-FFF2-40B4-BE49-F238E27FC236}">
                <a16:creationId xmlns:a16="http://schemas.microsoft.com/office/drawing/2014/main" id="{941996D6-BCB0-4032-8F62-D5C3BADC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text-481">
            <a:extLst xmlns:a="http://schemas.openxmlformats.org/drawingml/2006/main">
              <a:ext uri="{FF2B5EF4-FFF2-40B4-BE49-F238E27FC236}">
                <a16:creationId xmlns:a16="http://schemas.microsoft.com/office/drawing/2014/main" id="{412AE281-635C-424D-A362-8B93CCAD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隱私</a:t>
            </a:r>
          </a:p>
        </p:txBody>
      </p:sp>
      <p:sp>
        <p:nvSpPr>
          <p:cNvPr id="9" name="text-482">
            <a:extLst xmlns:a="http://schemas.openxmlformats.org/drawingml/2006/main">
              <a:ext uri="{FF2B5EF4-FFF2-40B4-BE49-F238E27FC236}">
                <a16:creationId xmlns:a16="http://schemas.microsoft.com/office/drawing/2014/main" id="{3B420503-39AD-416E-A0D4-EFFE26AC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移除學生姓名、信箱、成績、研究參與者與敏感檔案。</a:t>
            </a:r>
          </a:p>
        </p:txBody>
      </p:sp>
      <p:sp>
        <p:nvSpPr>
          <p:cNvPr id="10" name="shape-483">
            <a:extLst xmlns:a="http://schemas.openxmlformats.org/drawingml/2006/main">
              <a:ext uri="{FF2B5EF4-FFF2-40B4-BE49-F238E27FC236}">
                <a16:creationId xmlns:a16="http://schemas.microsoft.com/office/drawing/2014/main" id="{93FD6AED-1A4D-48FF-A8D8-DC91244F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1" name="text-484">
            <a:extLst xmlns:a="http://schemas.openxmlformats.org/drawingml/2006/main">
              <a:ext uri="{FF2B5EF4-FFF2-40B4-BE49-F238E27FC236}">
                <a16:creationId xmlns:a16="http://schemas.microsoft.com/office/drawing/2014/main" id="{1B8C41EB-D24E-4474-94AF-59A817E0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text-485">
            <a:extLst xmlns:a="http://schemas.openxmlformats.org/drawingml/2006/main">
              <a:ext uri="{FF2B5EF4-FFF2-40B4-BE49-F238E27FC236}">
                <a16:creationId xmlns:a16="http://schemas.microsoft.com/office/drawing/2014/main" id="{F1E79CFF-1D11-4941-8A4A-A95B8B24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版權</a:t>
            </a:r>
          </a:p>
        </p:txBody>
      </p:sp>
      <p:sp>
        <p:nvSpPr>
          <p:cNvPr id="13" name="text-486">
            <a:extLst xmlns:a="http://schemas.openxmlformats.org/drawingml/2006/main">
              <a:ext uri="{FF2B5EF4-FFF2-40B4-BE49-F238E27FC236}">
                <a16:creationId xmlns:a16="http://schemas.microsoft.com/office/drawing/2014/main" id="{129B98CE-4BDB-4891-87E1-D74688DA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確認圖片、教材、論文與範例程式的授權與引用。</a:t>
            </a:r>
          </a:p>
        </p:txBody>
      </p:sp>
      <p:sp>
        <p:nvSpPr>
          <p:cNvPr id="14" name="shape-487">
            <a:extLst xmlns:a="http://schemas.openxmlformats.org/drawingml/2006/main">
              <a:ext uri="{FF2B5EF4-FFF2-40B4-BE49-F238E27FC236}">
                <a16:creationId xmlns:a16="http://schemas.microsoft.com/office/drawing/2014/main" id="{F0309680-2E09-43A1-B303-9F394488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5" name="text-488">
            <a:extLst xmlns:a="http://schemas.openxmlformats.org/drawingml/2006/main">
              <a:ext uri="{FF2B5EF4-FFF2-40B4-BE49-F238E27FC236}">
                <a16:creationId xmlns:a16="http://schemas.microsoft.com/office/drawing/2014/main" id="{DBDDB849-97DF-4C3B-8A8F-77C297A5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text-489">
            <a:extLst xmlns:a="http://schemas.openxmlformats.org/drawingml/2006/main">
              <a:ext uri="{FF2B5EF4-FFF2-40B4-BE49-F238E27FC236}">
                <a16:creationId xmlns:a16="http://schemas.microsoft.com/office/drawing/2014/main" id="{DD822366-6DF6-4A78-98E0-F77BD660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無障礙</a:t>
            </a:r>
          </a:p>
        </p:txBody>
      </p:sp>
      <p:sp>
        <p:nvSpPr>
          <p:cNvPr id="17" name="text-490">
            <a:extLst xmlns:a="http://schemas.openxmlformats.org/drawingml/2006/main">
              <a:ext uri="{FF2B5EF4-FFF2-40B4-BE49-F238E27FC236}">
                <a16:creationId xmlns:a16="http://schemas.microsoft.com/office/drawing/2014/main" id="{98F0337A-D2AD-4F80-9246-6D8C508A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文字可讀、對比足夠、鍵盤可操作、圖片有替代說明。</a:t>
            </a:r>
          </a:p>
        </p:txBody>
      </p:sp>
      <p:sp>
        <p:nvSpPr>
          <p:cNvPr id="18" name="shape-491">
            <a:extLst xmlns:a="http://schemas.openxmlformats.org/drawingml/2006/main">
              <a:ext uri="{FF2B5EF4-FFF2-40B4-BE49-F238E27FC236}">
                <a16:creationId xmlns:a16="http://schemas.microsoft.com/office/drawing/2014/main" id="{14105590-8078-4398-BAB3-AB9370D7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676400"/>
            <a:ext cx="2633663" cy="4305300"/>
          </a:xfrm>
          <a:prstGeom xmlns:a="http://schemas.openxmlformats.org/drawingml/2006/main" prst="roundRect">
            <a:avLst>
              <a:gd name="adj" fmla="val 57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9" name="text-492">
            <a:extLst xmlns:a="http://schemas.openxmlformats.org/drawingml/2006/main">
              <a:ext uri="{FF2B5EF4-FFF2-40B4-BE49-F238E27FC236}">
                <a16:creationId xmlns:a16="http://schemas.microsoft.com/office/drawing/2014/main" id="{1D19B0EB-8398-496B-B86F-8689CA8D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1866900"/>
            <a:ext cx="514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0" name="text-493">
            <a:extLst xmlns:a="http://schemas.openxmlformats.org/drawingml/2006/main">
              <a:ext uri="{FF2B5EF4-FFF2-40B4-BE49-F238E27FC236}">
                <a16:creationId xmlns:a16="http://schemas.microsoft.com/office/drawing/2014/main" id="{C7D90E07-7180-417B-AFD1-A9BBEBD2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22145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跨裝置</a:t>
            </a:r>
          </a:p>
        </p:txBody>
      </p:sp>
      <p:sp>
        <p:nvSpPr>
          <p:cNvPr id="21" name="text-494">
            <a:extLst xmlns:a="http://schemas.openxmlformats.org/drawingml/2006/main">
              <a:ext uri="{FF2B5EF4-FFF2-40B4-BE49-F238E27FC236}">
                <a16:creationId xmlns:a16="http://schemas.microsoft.com/office/drawing/2014/main" id="{2CD6A89F-B29B-4384-8935-A9615B48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28950"/>
            <a:ext cx="2214563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手機、平板、桌機都完成主要任務，不只看首頁。</a:t>
            </a:r>
          </a:p>
        </p:txBody>
      </p:sp>
      <p:sp>
        <p:nvSpPr>
          <p:cNvPr id="22" name="text-666">
            <a:extLst xmlns:a="http://schemas.openxmlformats.org/drawingml/2006/main">
              <a:ext uri="{FF2B5EF4-FFF2-40B4-BE49-F238E27FC236}">
                <a16:creationId xmlns:a16="http://schemas.microsoft.com/office/drawing/2014/main" id="{61624F5B-722B-4A63-83D5-07D0397D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befa48f2ecb04622"/>
              </a:rPr>
              <a:t>Google Sites ↗</a:t>
            </a: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a4a1363b3f0a43d6"/>
              </a:rPr>
              <a:t>會議紀錄 ↗</a:t>
            </a:r>
          </a:p>
        </p:txBody>
      </p:sp>
      <p:sp>
        <p:nvSpPr>
          <p:cNvPr id="23" name="shape-716">
            <a:extLst xmlns:a="http://schemas.openxmlformats.org/drawingml/2006/main">
              <a:ext uri="{FF2B5EF4-FFF2-40B4-BE49-F238E27FC236}">
                <a16:creationId xmlns:a16="http://schemas.microsoft.com/office/drawing/2014/main" id="{70306300-3291-45F0-977A-0001C2A7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0a600c57048d9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5" name="text-717">
            <a:extLst xmlns:a="http://schemas.openxmlformats.org/drawingml/2006/main">
              <a:ext uri="{FF2B5EF4-FFF2-40B4-BE49-F238E27FC236}">
                <a16:creationId xmlns:a16="http://schemas.microsoft.com/office/drawing/2014/main" id="{69489C7F-E417-4F10-AC24-0E57C11A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Google Sites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783fdfb5b24aad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7" name="text-718">
            <a:extLst xmlns:a="http://schemas.openxmlformats.org/drawingml/2006/main">
              <a:ext uri="{FF2B5EF4-FFF2-40B4-BE49-F238E27FC236}">
                <a16:creationId xmlns:a16="http://schemas.microsoft.com/office/drawing/2014/main" id="{ED17EF4C-F58A-4B83-96E4-25166163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會議紀錄系統</a:t>
            </a:r>
          </a:p>
        </p:txBody>
      </p:sp>
    </p:spTree>
    <p:extLst>
      <p:ext uri="{BB962C8B-B14F-4D97-AF65-F5344CB8AC3E}">
        <p14:creationId xmlns:p14="http://schemas.microsoft.com/office/powerpoint/2010/main" val="56054904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495">
            <a:extLst xmlns:a="http://schemas.openxmlformats.org/drawingml/2006/main">
              <a:ext uri="{FF2B5EF4-FFF2-40B4-BE49-F238E27FC236}">
                <a16:creationId xmlns:a16="http://schemas.microsoft.com/office/drawing/2014/main" id="{DD246B0B-51F4-4DF7-AABD-CC5A2B60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GOOGLE SITES · GITHUB PAGES · EZPAGE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953D14-3FEF-4231-8381-94074831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部署選擇：先看目的，再看技術</a:t>
            </a:r>
          </a:p>
        </p:txBody>
      </p:sp>
      <p:cxnSp>
        <p:nvCxnSpPr>
          <p:cNvPr id="28" name="shape-496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497">
            <a:extLst xmlns:a="http://schemas.openxmlformats.org/drawingml/2006/main">
              <a:ext uri="{FF2B5EF4-FFF2-40B4-BE49-F238E27FC236}">
                <a16:creationId xmlns:a16="http://schemas.microsoft.com/office/drawing/2014/main" id="{5F3DA341-D7D2-4831-A470-FA5A59E7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AC61CAC-1925-405B-BE4E-6BDEEBC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30</a:t>
            </a:r>
          </a:p>
        </p:txBody>
      </p:sp>
      <p:sp>
        <p:nvSpPr>
          <p:cNvPr id="6" name="shape-498">
            <a:extLst xmlns:a="http://schemas.openxmlformats.org/drawingml/2006/main">
              <a:ext uri="{FF2B5EF4-FFF2-40B4-BE49-F238E27FC236}">
                <a16:creationId xmlns:a16="http://schemas.microsoft.com/office/drawing/2014/main" id="{DBE72645-AB4F-479E-81E7-45C33ADF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3625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shape-499">
            <a:extLst xmlns:a="http://schemas.openxmlformats.org/drawingml/2006/main">
              <a:ext uri="{FF2B5EF4-FFF2-40B4-BE49-F238E27FC236}">
                <a16:creationId xmlns:a16="http://schemas.microsoft.com/office/drawing/2014/main" id="{9F710007-2A2C-4AC0-A254-C499AD67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76400"/>
            <a:ext cx="5591175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8" name="text-500">
            <a:extLst xmlns:a="http://schemas.openxmlformats.org/drawingml/2006/main">
              <a:ext uri="{FF2B5EF4-FFF2-40B4-BE49-F238E27FC236}">
                <a16:creationId xmlns:a16="http://schemas.microsoft.com/office/drawing/2014/main" id="{68A9CD62-BC8E-43D7-95F4-C2162212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791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Google Sites</a:t>
            </a:r>
          </a:p>
        </p:txBody>
      </p:sp>
      <p:sp>
        <p:nvSpPr>
          <p:cNvPr id="9" name="text-501">
            <a:extLst xmlns:a="http://schemas.openxmlformats.org/drawingml/2006/main">
              <a:ext uri="{FF2B5EF4-FFF2-40B4-BE49-F238E27FC236}">
                <a16:creationId xmlns:a16="http://schemas.microsoft.com/office/drawing/2014/main" id="{96DBF744-C1A2-4D13-A0AE-5AB04A31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7910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適合快速整理課程入口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可直接嵌入 Canvas 作品與會議紀錄系統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拖放編輯、多人協作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維護門檻較低</a:t>
            </a:r>
          </a:p>
        </p:txBody>
      </p:sp>
      <p:sp>
        <p:nvSpPr>
          <p:cNvPr id="10" name="text-502">
            <a:extLst xmlns:a="http://schemas.openxmlformats.org/drawingml/2006/main">
              <a:ext uri="{FF2B5EF4-FFF2-40B4-BE49-F238E27FC236}">
                <a16:creationId xmlns:a16="http://schemas.microsoft.com/office/drawing/2014/main" id="{C3B00ED0-2EA5-447C-A0E5-1812E4E5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00250"/>
            <a:ext cx="49815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GitHub Pages／EZPage</a:t>
            </a:r>
          </a:p>
        </p:txBody>
      </p:sp>
      <p:sp>
        <p:nvSpPr>
          <p:cNvPr id="11" name="text-503">
            <a:extLst xmlns:a="http://schemas.openxmlformats.org/drawingml/2006/main">
              <a:ext uri="{FF2B5EF4-FFF2-40B4-BE49-F238E27FC236}">
                <a16:creationId xmlns:a16="http://schemas.microsoft.com/office/drawing/2014/main" id="{C96D3F45-89B3-4F95-830B-DB5DE75E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81300"/>
            <a:ext cx="498157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原生流程保留版本與程式結構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Canvas 原型可改成可版本化網站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EZPage 可直接上傳 ZIP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仍要理解公開、授權與驗證</a:t>
            </a:r>
          </a:p>
        </p:txBody>
      </p:sp>
      <p:sp>
        <p:nvSpPr>
          <p:cNvPr id="12" name="text-504">
            <a:extLst xmlns:a="http://schemas.openxmlformats.org/drawingml/2006/main">
              <a:ext uri="{FF2B5EF4-FFF2-40B4-BE49-F238E27FC236}">
                <a16:creationId xmlns:a16="http://schemas.microsoft.com/office/drawing/2014/main" id="{5DC6A08A-2956-4ED1-8396-AB83F65E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2000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Google Sites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協作、嵌入、低門檻</a:t>
            </a:r>
          </a:p>
        </p:txBody>
      </p:sp>
      <p:sp>
        <p:nvSpPr>
          <p:cNvPr id="13" name="text-505">
            <a:extLst xmlns:a="http://schemas.openxmlformats.org/drawingml/2006/main">
              <a:ext uri="{FF2B5EF4-FFF2-40B4-BE49-F238E27FC236}">
                <a16:creationId xmlns:a16="http://schemas.microsoft.com/office/drawing/2014/main" id="{68011320-BED4-40FC-9581-B2942626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7680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先問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誰要維護？</a:t>
            </a:r>
          </a:p>
        </p:txBody>
      </p:sp>
      <p:sp>
        <p:nvSpPr>
          <p:cNvPr id="14" name="text-506">
            <a:extLst xmlns:a="http://schemas.openxmlformats.org/drawingml/2006/main">
              <a:ext uri="{FF2B5EF4-FFF2-40B4-BE49-F238E27FC236}">
                <a16:creationId xmlns:a16="http://schemas.microsoft.com/office/drawing/2014/main" id="{42C1941D-7507-4047-88D5-CB818F11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76800"/>
            <a:ext cx="2000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GitHub Pages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程式、版本、公開</a:t>
            </a:r>
          </a:p>
        </p:txBody>
      </p:sp>
      <p:cxnSp>
        <p:nvCxnSpPr>
          <p:cNvPr id="40" name=""/>
          <p:cNvCxnSpPr>
            <a:stCxn xmlns:a="http://schemas.openxmlformats.org/drawingml/2006/main" id="13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3067050" y="5181600"/>
            <a:ext cx="2028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FE8"/>
            </a:solidFill>
            <a:prstDash val="solid"/>
            <a:tailEnd type="arrow" w="sm" len="sm"/>
          </a:ln>
        </p:spPr>
      </p:cxnSp>
      <p:cxnSp>
        <p:nvCxnSpPr>
          <p:cNvPr id="41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905625" y="5181600"/>
            <a:ext cx="2219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866"/>
            </a:solidFill>
            <a:prstDash val="solid"/>
            <a:tailEnd type="arrow" w="sm" len="sm"/>
          </a:ln>
        </p:spPr>
      </p:cxnSp>
      <p:sp>
        <p:nvSpPr>
          <p:cNvPr id="17" name="text-507">
            <a:extLst xmlns:a="http://schemas.openxmlformats.org/drawingml/2006/main">
              <a:ext uri="{FF2B5EF4-FFF2-40B4-BE49-F238E27FC236}">
                <a16:creationId xmlns:a16="http://schemas.microsoft.com/office/drawing/2014/main" id="{00D9D227-6177-4952-9AD4-0DAB7B4F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6197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選部署條件，不先選品牌</a:t>
            </a:r>
          </a:p>
        </p:txBody>
      </p:sp>
      <p:sp>
        <p:nvSpPr>
          <p:cNvPr id="18" name="text-667">
            <a:extLst xmlns:a="http://schemas.openxmlformats.org/drawingml/2006/main">
              <a:ext uri="{FF2B5EF4-FFF2-40B4-BE49-F238E27FC236}">
                <a16:creationId xmlns:a16="http://schemas.microsoft.com/office/drawing/2014/main" id="{4BBD1CA3-D54F-4C07-BD55-5C0E422F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d2c278ac0d3d4ed7"/>
              </a:rPr>
              <a:t>Google Sites ↗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95531c4f0764b0d"/>
              </a:rPr>
              <a:t>GitHub Pages ↗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bee189ce229e49df"/>
              </a:rPr>
              <a:t>EZPage ↗</a:t>
            </a:r>
          </a:p>
        </p:txBody>
      </p:sp>
      <p:sp>
        <p:nvSpPr>
          <p:cNvPr id="19" name="shape-719">
            <a:extLst xmlns:a="http://schemas.openxmlformats.org/drawingml/2006/main">
              <a:ext uri="{FF2B5EF4-FFF2-40B4-BE49-F238E27FC236}">
                <a16:creationId xmlns:a16="http://schemas.microsoft.com/office/drawing/2014/main" id="{F11AE606-58EF-4DB8-80EC-C4337653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ffd7380e34aaa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1" name="text-720">
            <a:extLst xmlns:a="http://schemas.openxmlformats.org/drawingml/2006/main">
              <a:ext uri="{FF2B5EF4-FFF2-40B4-BE49-F238E27FC236}">
                <a16:creationId xmlns:a16="http://schemas.microsoft.com/office/drawing/2014/main" id="{CA83E92F-DB34-4471-980C-F413ED8B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Google Sites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50cc96f2e48b8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3" name="text-721">
            <a:extLst xmlns:a="http://schemas.openxmlformats.org/drawingml/2006/main">
              <a:ext uri="{FF2B5EF4-FFF2-40B4-BE49-F238E27FC236}">
                <a16:creationId xmlns:a16="http://schemas.microsoft.com/office/drawing/2014/main" id="{0E8574D1-9ADA-4925-A0CD-EB9C5825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GitHub Pages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ff23fea19490d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5" name="text-722">
            <a:extLst xmlns:a="http://schemas.openxmlformats.org/drawingml/2006/main">
              <a:ext uri="{FF2B5EF4-FFF2-40B4-BE49-F238E27FC236}">
                <a16:creationId xmlns:a16="http://schemas.microsoft.com/office/drawing/2014/main" id="{BD23ED38-7C39-446D-8099-85E86DB6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EZPage</a:t>
            </a:r>
          </a:p>
        </p:txBody>
      </p:sp>
    </p:spTree>
    <p:extLst>
      <p:ext uri="{BB962C8B-B14F-4D97-AF65-F5344CB8AC3E}">
        <p14:creationId xmlns:p14="http://schemas.microsoft.com/office/powerpoint/2010/main" val="150158113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-508">
            <a:extLst xmlns:a="http://schemas.openxmlformats.org/drawingml/2006/main">
              <a:ext uri="{FF2B5EF4-FFF2-40B4-BE49-F238E27FC236}">
                <a16:creationId xmlns:a16="http://schemas.microsoft.com/office/drawing/2014/main" id="{4BF991B5-F35C-451A-9190-C85E4E31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PUBLISH PATH A · EMBED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4B996F-D53C-441C-8E1A-2D8AF6E5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705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Google Sites：嵌入 Canvas 會議紀錄系統</a:t>
            </a:r>
          </a:p>
        </p:txBody>
      </p:sp>
      <p:cxnSp>
        <p:nvCxnSpPr>
          <p:cNvPr id="38" name="shape-509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510">
            <a:extLst xmlns:a="http://schemas.openxmlformats.org/drawingml/2006/main">
              <a:ext uri="{FF2B5EF4-FFF2-40B4-BE49-F238E27FC236}">
                <a16:creationId xmlns:a16="http://schemas.microsoft.com/office/drawing/2014/main" id="{11645630-63ED-49B5-B640-41496F77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A7F915B-9867-4599-AF9A-E42C1D52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31</a:t>
            </a:r>
          </a:p>
        </p:txBody>
      </p:sp>
      <p:sp>
        <p:nvSpPr>
          <p:cNvPr id="6" name="shape-511">
            <a:extLst xmlns:a="http://schemas.openxmlformats.org/drawingml/2006/main">
              <a:ext uri="{FF2B5EF4-FFF2-40B4-BE49-F238E27FC236}">
                <a16:creationId xmlns:a16="http://schemas.microsoft.com/office/drawing/2014/main" id="{95D757BD-6144-45C0-8374-55EF1711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shape-512">
            <a:extLst xmlns:a="http://schemas.openxmlformats.org/drawingml/2006/main">
              <a:ext uri="{FF2B5EF4-FFF2-40B4-BE49-F238E27FC236}">
                <a16:creationId xmlns:a16="http://schemas.microsoft.com/office/drawing/2014/main" id="{CC15A3D1-9A4E-48CF-8895-5FE0551E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513">
            <a:extLst xmlns:a="http://schemas.openxmlformats.org/drawingml/2006/main">
              <a:ext uri="{FF2B5EF4-FFF2-40B4-BE49-F238E27FC236}">
                <a16:creationId xmlns:a16="http://schemas.microsoft.com/office/drawing/2014/main" id="{502BE214-A074-4C1F-AF3A-E48B86DF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514">
            <a:extLst xmlns:a="http://schemas.openxmlformats.org/drawingml/2006/main">
              <a:ext uri="{FF2B5EF4-FFF2-40B4-BE49-F238E27FC236}">
                <a16:creationId xmlns:a16="http://schemas.microsoft.com/office/drawing/2014/main" id="{97456C5F-0ED9-433E-8A97-2B2F5989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準備網址</a:t>
            </a:r>
          </a:p>
        </p:txBody>
      </p:sp>
      <p:sp>
        <p:nvSpPr>
          <p:cNvPr id="10" name="text-515">
            <a:extLst xmlns:a="http://schemas.openxmlformats.org/drawingml/2006/main">
              <a:ext uri="{FF2B5EF4-FFF2-40B4-BE49-F238E27FC236}">
                <a16:creationId xmlns:a16="http://schemas.microsoft.com/office/drawing/2014/main" id="{1C7FFEB9-68FD-40E8-B4E3-EA6BCCF3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確認 Canvas 分享權限與公開範圍</a:t>
            </a:r>
          </a:p>
        </p:txBody>
      </p:sp>
      <p:sp>
        <p:nvSpPr>
          <p:cNvPr id="11" name="text-516">
            <a:extLst xmlns:a="http://schemas.openxmlformats.org/drawingml/2006/main">
              <a:ext uri="{FF2B5EF4-FFF2-40B4-BE49-F238E27FC236}">
                <a16:creationId xmlns:a16="http://schemas.microsoft.com/office/drawing/2014/main" id="{1BB75ADF-ACE5-43C3-B912-24E75CE9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517">
            <a:extLst xmlns:a="http://schemas.openxmlformats.org/drawingml/2006/main">
              <a:ext uri="{FF2B5EF4-FFF2-40B4-BE49-F238E27FC236}">
                <a16:creationId xmlns:a16="http://schemas.microsoft.com/office/drawing/2014/main" id="{F7D41376-F7A8-4C64-9E42-4E390F15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shape-518">
            <a:extLst xmlns:a="http://schemas.openxmlformats.org/drawingml/2006/main">
              <a:ext uri="{FF2B5EF4-FFF2-40B4-BE49-F238E27FC236}">
                <a16:creationId xmlns:a16="http://schemas.microsoft.com/office/drawing/2014/main" id="{062FE0A0-058C-4D69-963B-481550F3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19">
            <a:extLst xmlns:a="http://schemas.openxmlformats.org/drawingml/2006/main">
              <a:ext uri="{FF2B5EF4-FFF2-40B4-BE49-F238E27FC236}">
                <a16:creationId xmlns:a16="http://schemas.microsoft.com/office/drawing/2014/main" id="{258DF72D-4C6F-43ED-8A89-33B25B4C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520">
            <a:extLst xmlns:a="http://schemas.openxmlformats.org/drawingml/2006/main">
              <a:ext uri="{FF2B5EF4-FFF2-40B4-BE49-F238E27FC236}">
                <a16:creationId xmlns:a16="http://schemas.microsoft.com/office/drawing/2014/main" id="{9511EFD4-519D-4829-95EA-710883F5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插入嵌入</a:t>
            </a:r>
          </a:p>
        </p:txBody>
      </p:sp>
      <p:sp>
        <p:nvSpPr>
          <p:cNvPr id="16" name="text-521">
            <a:extLst xmlns:a="http://schemas.openxmlformats.org/drawingml/2006/main">
              <a:ext uri="{FF2B5EF4-FFF2-40B4-BE49-F238E27FC236}">
                <a16:creationId xmlns:a16="http://schemas.microsoft.com/office/drawing/2014/main" id="{AAD22FE1-D924-4D9B-B7F2-BCC3CEB8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頁面 → 插入 → 嵌入 → 網址／嵌入碼</a:t>
            </a:r>
          </a:p>
        </p:txBody>
      </p:sp>
      <p:sp>
        <p:nvSpPr>
          <p:cNvPr id="17" name="text-522">
            <a:extLst xmlns:a="http://schemas.openxmlformats.org/drawingml/2006/main">
              <a:ext uri="{FF2B5EF4-FFF2-40B4-BE49-F238E27FC236}">
                <a16:creationId xmlns:a16="http://schemas.microsoft.com/office/drawing/2014/main" id="{D989981C-89EC-4D88-80B9-4CA5AB54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523">
            <a:extLst xmlns:a="http://schemas.openxmlformats.org/drawingml/2006/main">
              <a:ext uri="{FF2B5EF4-FFF2-40B4-BE49-F238E27FC236}">
                <a16:creationId xmlns:a16="http://schemas.microsoft.com/office/drawing/2014/main" id="{F085D154-EECE-4E3B-8497-17607FF2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shape-524">
            <a:extLst xmlns:a="http://schemas.openxmlformats.org/drawingml/2006/main">
              <a:ext uri="{FF2B5EF4-FFF2-40B4-BE49-F238E27FC236}">
                <a16:creationId xmlns:a16="http://schemas.microsoft.com/office/drawing/2014/main" id="{217676ED-BF26-4E2D-A912-3C004A9E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525">
            <a:extLst xmlns:a="http://schemas.openxmlformats.org/drawingml/2006/main">
              <a:ext uri="{FF2B5EF4-FFF2-40B4-BE49-F238E27FC236}">
                <a16:creationId xmlns:a16="http://schemas.microsoft.com/office/drawing/2014/main" id="{76AD6C15-76AE-49B8-9235-F31D023A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526">
            <a:extLst xmlns:a="http://schemas.openxmlformats.org/drawingml/2006/main">
              <a:ext uri="{FF2B5EF4-FFF2-40B4-BE49-F238E27FC236}">
                <a16:creationId xmlns:a16="http://schemas.microsoft.com/office/drawing/2014/main" id="{3B050B13-89F7-40C4-B054-9F47861E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調整版面</a:t>
            </a:r>
          </a:p>
        </p:txBody>
      </p:sp>
      <p:sp>
        <p:nvSpPr>
          <p:cNvPr id="22" name="text-527">
            <a:extLst xmlns:a="http://schemas.openxmlformats.org/drawingml/2006/main">
              <a:ext uri="{FF2B5EF4-FFF2-40B4-BE49-F238E27FC236}">
                <a16:creationId xmlns:a16="http://schemas.microsoft.com/office/drawing/2014/main" id="{63875E7A-2DFE-43A6-B945-E2AFC5B4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設定寬度、說明文字，預覽手機版</a:t>
            </a:r>
          </a:p>
        </p:txBody>
      </p:sp>
      <p:sp>
        <p:nvSpPr>
          <p:cNvPr id="23" name="text-528">
            <a:extLst xmlns:a="http://schemas.openxmlformats.org/drawingml/2006/main">
              <a:ext uri="{FF2B5EF4-FFF2-40B4-BE49-F238E27FC236}">
                <a16:creationId xmlns:a16="http://schemas.microsoft.com/office/drawing/2014/main" id="{0193B5E3-FD74-4666-8D80-4B2F8094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529">
            <a:extLst xmlns:a="http://schemas.openxmlformats.org/drawingml/2006/main">
              <a:ext uri="{FF2B5EF4-FFF2-40B4-BE49-F238E27FC236}">
                <a16:creationId xmlns:a16="http://schemas.microsoft.com/office/drawing/2014/main" id="{F27EC134-E71F-437A-AA3C-5A8EB931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shape-530">
            <a:extLst xmlns:a="http://schemas.openxmlformats.org/drawingml/2006/main">
              <a:ext uri="{FF2B5EF4-FFF2-40B4-BE49-F238E27FC236}">
                <a16:creationId xmlns:a16="http://schemas.microsoft.com/office/drawing/2014/main" id="{ACE4FC09-0633-486C-9B51-01C3F044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531">
            <a:extLst xmlns:a="http://schemas.openxmlformats.org/drawingml/2006/main">
              <a:ext uri="{FF2B5EF4-FFF2-40B4-BE49-F238E27FC236}">
                <a16:creationId xmlns:a16="http://schemas.microsoft.com/office/drawing/2014/main" id="{01344556-CE88-4479-973A-3C41D6F5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532">
            <a:extLst xmlns:a="http://schemas.openxmlformats.org/drawingml/2006/main">
              <a:ext uri="{FF2B5EF4-FFF2-40B4-BE49-F238E27FC236}">
                <a16:creationId xmlns:a16="http://schemas.microsoft.com/office/drawing/2014/main" id="{1A9C9823-A958-4C3A-8B8E-793DF32E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發布驗證</a:t>
            </a:r>
          </a:p>
        </p:txBody>
      </p:sp>
      <p:sp>
        <p:nvSpPr>
          <p:cNvPr id="28" name="text-533">
            <a:extLst xmlns:a="http://schemas.openxmlformats.org/drawingml/2006/main">
              <a:ext uri="{FF2B5EF4-FFF2-40B4-BE49-F238E27FC236}">
                <a16:creationId xmlns:a16="http://schemas.microsoft.com/office/drawing/2014/main" id="{9ED13F9F-0252-42D1-B3B9-5D365AD9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檢查權限、連結、資料邊界與外開備援</a:t>
            </a:r>
          </a:p>
        </p:txBody>
      </p:sp>
      <p:sp>
        <p:nvSpPr>
          <p:cNvPr id="29" name="text-534">
            <a:extLst xmlns:a="http://schemas.openxmlformats.org/drawingml/2006/main">
              <a:ext uri="{FF2B5EF4-FFF2-40B4-BE49-F238E27FC236}">
                <a16:creationId xmlns:a16="http://schemas.microsoft.com/office/drawing/2014/main" id="{53ADA1DB-DAD8-4840-B6B2-682C877E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  <p:sp>
        <p:nvSpPr>
          <p:cNvPr id="30" name="text-669">
            <a:extLst xmlns:a="http://schemas.openxmlformats.org/drawingml/2006/main">
              <a:ext uri="{FF2B5EF4-FFF2-40B4-BE49-F238E27FC236}">
                <a16:creationId xmlns:a16="http://schemas.microsoft.com/office/drawing/2014/main" id="{1782554B-6C81-48CD-8E9D-20BDFD63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1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5fec29005e064a02"/>
              </a:rPr>
              <a:t>建立 Google Sites ↗</a:t>
            </a: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bb999da6dbe14a2d"/>
              </a:rPr>
              <a:t>會議報告站 ↗</a:t>
            </a:r>
          </a:p>
        </p:txBody>
      </p:sp>
      <p:sp>
        <p:nvSpPr>
          <p:cNvPr id="31" name="shape-727">
            <a:extLst xmlns:a="http://schemas.openxmlformats.org/drawingml/2006/main">
              <a:ext uri="{FF2B5EF4-FFF2-40B4-BE49-F238E27FC236}">
                <a16:creationId xmlns:a16="http://schemas.microsoft.com/office/drawing/2014/main" id="{8C07209A-744B-49A6-B47C-0E430EB4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7650"/>
            <a:ext cx="1828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2fb9dfa9524246"/>
          <a:stretch xmlns:a="http://schemas.openxmlformats.org/drawingml/2006/main"/>
        </p:blipFill>
        <p:spPr>
          <a:xfrm xmlns:a="http://schemas.openxmlformats.org/drawingml/2006/main">
            <a:off x="99250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33" name="text-728">
            <a:extLst xmlns:a="http://schemas.openxmlformats.org/drawingml/2006/main">
              <a:ext uri="{FF2B5EF4-FFF2-40B4-BE49-F238E27FC236}">
                <a16:creationId xmlns:a16="http://schemas.microsoft.com/office/drawing/2014/main" id="{3F558B12-DE9D-4F8D-8283-80BA813E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Google Sites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b605095f64fa0"/>
          <a:stretch xmlns:a="http://schemas.openxmlformats.org/drawingml/2006/main"/>
        </p:blipFill>
        <p:spPr>
          <a:xfrm xmlns:a="http://schemas.openxmlformats.org/drawingml/2006/main">
            <a:off x="10801350" y="31432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35" name="text-729">
            <a:extLst xmlns:a="http://schemas.openxmlformats.org/drawingml/2006/main">
              <a:ext uri="{FF2B5EF4-FFF2-40B4-BE49-F238E27FC236}">
                <a16:creationId xmlns:a16="http://schemas.microsoft.com/office/drawing/2014/main" id="{C8DE3903-BA7E-46D9-8CBC-9E70C7F4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1334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會議報告站</a:t>
            </a:r>
          </a:p>
        </p:txBody>
      </p:sp>
    </p:spTree>
    <p:extLst>
      <p:ext uri="{BB962C8B-B14F-4D97-AF65-F5344CB8AC3E}">
        <p14:creationId xmlns:p14="http://schemas.microsoft.com/office/powerpoint/2010/main" val="166493419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ext-535">
            <a:extLst xmlns:a="http://schemas.openxmlformats.org/drawingml/2006/main">
              <a:ext uri="{FF2B5EF4-FFF2-40B4-BE49-F238E27FC236}">
                <a16:creationId xmlns:a16="http://schemas.microsoft.com/office/drawing/2014/main" id="{C4CA05EE-E17E-4080-8FDF-3C9BE0B4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PUBLISH PATH B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726341-6A07-40E5-A75B-142F00DA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GitHub Pages：讓程式作品有公開網址</a:t>
            </a:r>
          </a:p>
        </p:txBody>
      </p:sp>
      <p:cxnSp>
        <p:nvCxnSpPr>
          <p:cNvPr id="40" name="shape-536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537">
            <a:extLst xmlns:a="http://schemas.openxmlformats.org/drawingml/2006/main">
              <a:ext uri="{FF2B5EF4-FFF2-40B4-BE49-F238E27FC236}">
                <a16:creationId xmlns:a16="http://schemas.microsoft.com/office/drawing/2014/main" id="{284B4CD0-8284-4EDB-9279-1DB5C46A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12E8412-7540-445E-9514-75645F93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32</a:t>
            </a:r>
          </a:p>
        </p:txBody>
      </p:sp>
      <p:sp>
        <p:nvSpPr>
          <p:cNvPr id="6" name="shape-538">
            <a:extLst xmlns:a="http://schemas.openxmlformats.org/drawingml/2006/main">
              <a:ext uri="{FF2B5EF4-FFF2-40B4-BE49-F238E27FC236}">
                <a16:creationId xmlns:a16="http://schemas.microsoft.com/office/drawing/2014/main" id="{79A5D898-CDA3-4E82-9891-4A1784B0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shape-539">
            <a:extLst xmlns:a="http://schemas.openxmlformats.org/drawingml/2006/main">
              <a:ext uri="{FF2B5EF4-FFF2-40B4-BE49-F238E27FC236}">
                <a16:creationId xmlns:a16="http://schemas.microsoft.com/office/drawing/2014/main" id="{AD2A1CC3-F182-4F77-854B-275D965E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540">
            <a:extLst xmlns:a="http://schemas.openxmlformats.org/drawingml/2006/main">
              <a:ext uri="{FF2B5EF4-FFF2-40B4-BE49-F238E27FC236}">
                <a16:creationId xmlns:a16="http://schemas.microsoft.com/office/drawing/2014/main" id="{92DC91FE-CC6C-413C-AFC1-AB784FAB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541">
            <a:extLst xmlns:a="http://schemas.openxmlformats.org/drawingml/2006/main">
              <a:ext uri="{FF2B5EF4-FFF2-40B4-BE49-F238E27FC236}">
                <a16:creationId xmlns:a16="http://schemas.microsoft.com/office/drawing/2014/main" id="{053FBBFC-364B-4095-87D1-B41576F9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建立 repo</a:t>
            </a:r>
          </a:p>
        </p:txBody>
      </p:sp>
      <p:sp>
        <p:nvSpPr>
          <p:cNvPr id="10" name="text-542">
            <a:extLst xmlns:a="http://schemas.openxmlformats.org/drawingml/2006/main">
              <a:ext uri="{FF2B5EF4-FFF2-40B4-BE49-F238E27FC236}">
                <a16:creationId xmlns:a16="http://schemas.microsoft.com/office/drawing/2014/main" id="{B5FD3AD4-82A3-4DFD-9772-3D29BD76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公開專案與 README</a:t>
            </a:r>
          </a:p>
        </p:txBody>
      </p:sp>
      <p:sp>
        <p:nvSpPr>
          <p:cNvPr id="11" name="text-543">
            <a:extLst xmlns:a="http://schemas.openxmlformats.org/drawingml/2006/main">
              <a:ext uri="{FF2B5EF4-FFF2-40B4-BE49-F238E27FC236}">
                <a16:creationId xmlns:a16="http://schemas.microsoft.com/office/drawing/2014/main" id="{A8C2FAF1-02C9-421C-B8E6-7A818A99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544">
            <a:extLst xmlns:a="http://schemas.openxmlformats.org/drawingml/2006/main">
              <a:ext uri="{FF2B5EF4-FFF2-40B4-BE49-F238E27FC236}">
                <a16:creationId xmlns:a16="http://schemas.microsoft.com/office/drawing/2014/main" id="{69E62010-7C7F-4D91-A8FE-43401B70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shape-545">
            <a:extLst xmlns:a="http://schemas.openxmlformats.org/drawingml/2006/main">
              <a:ext uri="{FF2B5EF4-FFF2-40B4-BE49-F238E27FC236}">
                <a16:creationId xmlns:a16="http://schemas.microsoft.com/office/drawing/2014/main" id="{C3E1BF96-EEFA-46C5-8CB1-38FA6021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46">
            <a:extLst xmlns:a="http://schemas.openxmlformats.org/drawingml/2006/main">
              <a:ext uri="{FF2B5EF4-FFF2-40B4-BE49-F238E27FC236}">
                <a16:creationId xmlns:a16="http://schemas.microsoft.com/office/drawing/2014/main" id="{EB6E2BE7-8230-4F73-8FFC-38002280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547">
            <a:extLst xmlns:a="http://schemas.openxmlformats.org/drawingml/2006/main">
              <a:ext uri="{FF2B5EF4-FFF2-40B4-BE49-F238E27FC236}">
                <a16:creationId xmlns:a16="http://schemas.microsoft.com/office/drawing/2014/main" id="{11A12E50-65CE-490C-8939-B5CA9BE9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上傳檔案</a:t>
            </a:r>
          </a:p>
        </p:txBody>
      </p:sp>
      <p:sp>
        <p:nvSpPr>
          <p:cNvPr id="16" name="text-548">
            <a:extLst xmlns:a="http://schemas.openxmlformats.org/drawingml/2006/main">
              <a:ext uri="{FF2B5EF4-FFF2-40B4-BE49-F238E27FC236}">
                <a16:creationId xmlns:a16="http://schemas.microsoft.com/office/drawing/2014/main" id="{46F9C141-7FAC-4E77-8B08-8F9531B7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index.html 與必要資產</a:t>
            </a:r>
          </a:p>
        </p:txBody>
      </p:sp>
      <p:sp>
        <p:nvSpPr>
          <p:cNvPr id="17" name="text-549">
            <a:extLst xmlns:a="http://schemas.openxmlformats.org/drawingml/2006/main">
              <a:ext uri="{FF2B5EF4-FFF2-40B4-BE49-F238E27FC236}">
                <a16:creationId xmlns:a16="http://schemas.microsoft.com/office/drawing/2014/main" id="{98153FBC-6EE0-4E8A-87CC-40CE02B1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550">
            <a:extLst xmlns:a="http://schemas.openxmlformats.org/drawingml/2006/main">
              <a:ext uri="{FF2B5EF4-FFF2-40B4-BE49-F238E27FC236}">
                <a16:creationId xmlns:a16="http://schemas.microsoft.com/office/drawing/2014/main" id="{81A5B88F-722B-4272-8EC7-6A3C5D93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shape-551">
            <a:extLst xmlns:a="http://schemas.openxmlformats.org/drawingml/2006/main">
              <a:ext uri="{FF2B5EF4-FFF2-40B4-BE49-F238E27FC236}">
                <a16:creationId xmlns:a16="http://schemas.microsoft.com/office/drawing/2014/main" id="{90C225FE-CE27-495F-9647-5E083755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552">
            <a:extLst xmlns:a="http://schemas.openxmlformats.org/drawingml/2006/main">
              <a:ext uri="{FF2B5EF4-FFF2-40B4-BE49-F238E27FC236}">
                <a16:creationId xmlns:a16="http://schemas.microsoft.com/office/drawing/2014/main" id="{EDAA0D2D-E428-40CC-A923-F29C3012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553">
            <a:extLst xmlns:a="http://schemas.openxmlformats.org/drawingml/2006/main">
              <a:ext uri="{FF2B5EF4-FFF2-40B4-BE49-F238E27FC236}">
                <a16:creationId xmlns:a16="http://schemas.microsoft.com/office/drawing/2014/main" id="{9F1BE768-E71C-4B4E-A2CE-F9AF18D6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設定 Pages</a:t>
            </a:r>
          </a:p>
        </p:txBody>
      </p:sp>
      <p:sp>
        <p:nvSpPr>
          <p:cNvPr id="22" name="text-554">
            <a:extLst xmlns:a="http://schemas.openxmlformats.org/drawingml/2006/main">
              <a:ext uri="{FF2B5EF4-FFF2-40B4-BE49-F238E27FC236}">
                <a16:creationId xmlns:a16="http://schemas.microsoft.com/office/drawing/2014/main" id="{FA68F66E-DA6F-44BD-AD1F-BEEB42A0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選分支與資料夾</a:t>
            </a:r>
          </a:p>
        </p:txBody>
      </p:sp>
      <p:sp>
        <p:nvSpPr>
          <p:cNvPr id="23" name="text-555">
            <a:extLst xmlns:a="http://schemas.openxmlformats.org/drawingml/2006/main">
              <a:ext uri="{FF2B5EF4-FFF2-40B4-BE49-F238E27FC236}">
                <a16:creationId xmlns:a16="http://schemas.microsoft.com/office/drawing/2014/main" id="{3604B267-35A3-4DC2-8121-B03C9CD5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556">
            <a:extLst xmlns:a="http://schemas.openxmlformats.org/drawingml/2006/main">
              <a:ext uri="{FF2B5EF4-FFF2-40B4-BE49-F238E27FC236}">
                <a16:creationId xmlns:a16="http://schemas.microsoft.com/office/drawing/2014/main" id="{F3600BB7-3523-46BB-AD14-CEE92220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shape-557">
            <a:extLst xmlns:a="http://schemas.openxmlformats.org/drawingml/2006/main">
              <a:ext uri="{FF2B5EF4-FFF2-40B4-BE49-F238E27FC236}">
                <a16:creationId xmlns:a16="http://schemas.microsoft.com/office/drawing/2014/main" id="{3FB377AF-A787-4B8B-B089-B7581380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558">
            <a:extLst xmlns:a="http://schemas.openxmlformats.org/drawingml/2006/main">
              <a:ext uri="{FF2B5EF4-FFF2-40B4-BE49-F238E27FC236}">
                <a16:creationId xmlns:a16="http://schemas.microsoft.com/office/drawing/2014/main" id="{0B8EC745-54C7-4E6F-B63A-F27D71E7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559">
            <a:extLst xmlns:a="http://schemas.openxmlformats.org/drawingml/2006/main">
              <a:ext uri="{FF2B5EF4-FFF2-40B4-BE49-F238E27FC236}">
                <a16:creationId xmlns:a16="http://schemas.microsoft.com/office/drawing/2014/main" id="{E1E65277-958C-4907-AB44-F983B09B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驗證網址</a:t>
            </a:r>
          </a:p>
        </p:txBody>
      </p:sp>
      <p:sp>
        <p:nvSpPr>
          <p:cNvPr id="28" name="text-560">
            <a:extLst xmlns:a="http://schemas.openxmlformats.org/drawingml/2006/main">
              <a:ext uri="{FF2B5EF4-FFF2-40B4-BE49-F238E27FC236}">
                <a16:creationId xmlns:a16="http://schemas.microsoft.com/office/drawing/2014/main" id="{0B16AD21-22E4-4E99-9A5F-36749270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等待部署並實際操作</a:t>
            </a:r>
          </a:p>
        </p:txBody>
      </p:sp>
      <p:sp>
        <p:nvSpPr>
          <p:cNvPr id="29" name="text-561">
            <a:extLst xmlns:a="http://schemas.openxmlformats.org/drawingml/2006/main">
              <a:ext uri="{FF2B5EF4-FFF2-40B4-BE49-F238E27FC236}">
                <a16:creationId xmlns:a16="http://schemas.microsoft.com/office/drawing/2014/main" id="{E5EC0BFB-3E43-4D3E-854C-6FBECACD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14950"/>
            <a:ext cx="56388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152400" tIns="57150" rIns="1524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每一步都留下可檢查的成果</a:t>
            </a:r>
          </a:p>
        </p:txBody>
      </p:sp>
      <p:sp>
        <p:nvSpPr>
          <p:cNvPr id="30" name="shape-562">
            <a:extLst xmlns:a="http://schemas.openxmlformats.org/drawingml/2006/main">
              <a:ext uri="{FF2B5EF4-FFF2-40B4-BE49-F238E27FC236}">
                <a16:creationId xmlns:a16="http://schemas.microsoft.com/office/drawing/2014/main" id="{A6CA9D15-94E9-41E5-921C-78B7286C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14950"/>
            <a:ext cx="242887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text-563">
            <a:extLst xmlns:a="http://schemas.openxmlformats.org/drawingml/2006/main">
              <a:ext uri="{FF2B5EF4-FFF2-40B4-BE49-F238E27FC236}">
                <a16:creationId xmlns:a16="http://schemas.microsoft.com/office/drawing/2014/main" id="{755AE8F9-4606-402F-9D6E-63ACDFA6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3816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4292F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GH</a:t>
            </a:r>
          </a:p>
        </p:txBody>
      </p:sp>
      <p:sp>
        <p:nvSpPr>
          <p:cNvPr id="32" name="text-564">
            <a:extLst xmlns:a="http://schemas.openxmlformats.org/drawingml/2006/main">
              <a:ext uri="{FF2B5EF4-FFF2-40B4-BE49-F238E27FC236}">
                <a16:creationId xmlns:a16="http://schemas.microsoft.com/office/drawing/2014/main" id="{7707C1AA-3392-41C9-B6B5-2E89FE41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391150"/>
            <a:ext cx="1781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GitHub Pages</a:t>
            </a:r>
          </a:p>
        </p:txBody>
      </p:sp>
      <p:sp>
        <p:nvSpPr>
          <p:cNvPr id="33" name="text-565">
            <a:extLst xmlns:a="http://schemas.openxmlformats.org/drawingml/2006/main">
              <a:ext uri="{FF2B5EF4-FFF2-40B4-BE49-F238E27FC236}">
                <a16:creationId xmlns:a16="http://schemas.microsoft.com/office/drawing/2014/main" id="{0C3E58AD-C288-4059-AE1A-8CB92081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591175"/>
            <a:ext cx="1781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版本・部署・公開網址</a:t>
            </a:r>
          </a:p>
        </p:txBody>
      </p:sp>
      <p:sp>
        <p:nvSpPr>
          <p:cNvPr id="34" name="text-670">
            <a:extLst xmlns:a="http://schemas.openxmlformats.org/drawingml/2006/main">
              <a:ext uri="{FF2B5EF4-FFF2-40B4-BE49-F238E27FC236}">
                <a16:creationId xmlns:a16="http://schemas.microsoft.com/office/drawing/2014/main" id="{FC7A785D-9172-4FD8-AB96-37D33535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ce66450be0d48b9"/>
              </a:rPr>
              <a:t>開啟 GitHub Pages ↗</a:t>
            </a:r>
          </a:p>
        </p:txBody>
      </p:sp>
      <p:sp>
        <p:nvSpPr>
          <p:cNvPr id="35" name="shape-730">
            <a:extLst xmlns:a="http://schemas.openxmlformats.org/drawingml/2006/main">
              <a:ext uri="{FF2B5EF4-FFF2-40B4-BE49-F238E27FC236}">
                <a16:creationId xmlns:a16="http://schemas.microsoft.com/office/drawing/2014/main" id="{1E3C4DE8-C948-4FDB-B421-3811AE60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d6169b7b64467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37" name="text-731">
            <a:extLst xmlns:a="http://schemas.openxmlformats.org/drawingml/2006/main">
              <a:ext uri="{FF2B5EF4-FFF2-40B4-BE49-F238E27FC236}">
                <a16:creationId xmlns:a16="http://schemas.microsoft.com/office/drawing/2014/main" id="{B473071E-C12E-473B-AAB3-22A18777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GitHub Pages</a:t>
            </a:r>
          </a:p>
        </p:txBody>
      </p:sp>
    </p:spTree>
    <p:extLst>
      <p:ext uri="{BB962C8B-B14F-4D97-AF65-F5344CB8AC3E}">
        <p14:creationId xmlns:p14="http://schemas.microsoft.com/office/powerpoint/2010/main" val="129566436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ext-566">
            <a:extLst xmlns:a="http://schemas.openxmlformats.org/drawingml/2006/main">
              <a:ext uri="{FF2B5EF4-FFF2-40B4-BE49-F238E27FC236}">
                <a16:creationId xmlns:a16="http://schemas.microsoft.com/office/drawing/2014/main" id="{70277759-7C40-4F5B-AAFD-5EC78EAC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PUBLISH PATH C · LOW-CODE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5C3776-1BFD-464C-A9B4-65E90780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9315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EZPage：把 GitHub 部署變成一鍵上傳</a:t>
            </a:r>
          </a:p>
        </p:txBody>
      </p:sp>
      <p:cxnSp>
        <p:nvCxnSpPr>
          <p:cNvPr id="43" name="shape-567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568">
            <a:extLst xmlns:a="http://schemas.openxmlformats.org/drawingml/2006/main">
              <a:ext uri="{FF2B5EF4-FFF2-40B4-BE49-F238E27FC236}">
                <a16:creationId xmlns:a16="http://schemas.microsoft.com/office/drawing/2014/main" id="{B3824152-1420-4608-8E0F-9A055372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481E118-FDD9-47F2-988E-65E29F3A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33</a:t>
            </a:r>
          </a:p>
        </p:txBody>
      </p:sp>
      <p:sp>
        <p:nvSpPr>
          <p:cNvPr id="6" name="shape-569">
            <a:extLst xmlns:a="http://schemas.openxmlformats.org/drawingml/2006/main">
              <a:ext uri="{FF2B5EF4-FFF2-40B4-BE49-F238E27FC236}">
                <a16:creationId xmlns:a16="http://schemas.microsoft.com/office/drawing/2014/main" id="{1A13D190-26F6-4210-9220-2EB84C97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shape-570">
            <a:extLst xmlns:a="http://schemas.openxmlformats.org/drawingml/2006/main">
              <a:ext uri="{FF2B5EF4-FFF2-40B4-BE49-F238E27FC236}">
                <a16:creationId xmlns:a16="http://schemas.microsoft.com/office/drawing/2014/main" id="{37210F36-6B94-465C-8CA0-13E8CBF7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571">
            <a:extLst xmlns:a="http://schemas.openxmlformats.org/drawingml/2006/main">
              <a:ext uri="{FF2B5EF4-FFF2-40B4-BE49-F238E27FC236}">
                <a16:creationId xmlns:a16="http://schemas.microsoft.com/office/drawing/2014/main" id="{FDF162C5-E9FC-475A-A1F8-60584A55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572">
            <a:extLst xmlns:a="http://schemas.openxmlformats.org/drawingml/2006/main">
              <a:ext uri="{FF2B5EF4-FFF2-40B4-BE49-F238E27FC236}">
                <a16:creationId xmlns:a16="http://schemas.microsoft.com/office/drawing/2014/main" id="{1EEA16CA-7D15-4F3A-9E35-0B305050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準備 ZIP</a:t>
            </a:r>
          </a:p>
        </p:txBody>
      </p:sp>
      <p:sp>
        <p:nvSpPr>
          <p:cNvPr id="10" name="text-573">
            <a:extLst xmlns:a="http://schemas.openxmlformats.org/drawingml/2006/main">
              <a:ext uri="{FF2B5EF4-FFF2-40B4-BE49-F238E27FC236}">
                <a16:creationId xmlns:a16="http://schemas.microsoft.com/office/drawing/2014/main" id="{D2F119AA-9379-43E7-856C-6FD30991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把 index.html、CSS、JS、圖片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打包成一個網站 ZIP</a:t>
            </a:r>
          </a:p>
        </p:txBody>
      </p:sp>
      <p:sp>
        <p:nvSpPr>
          <p:cNvPr id="11" name="text-574">
            <a:extLst xmlns:a="http://schemas.openxmlformats.org/drawingml/2006/main">
              <a:ext uri="{FF2B5EF4-FFF2-40B4-BE49-F238E27FC236}">
                <a16:creationId xmlns:a16="http://schemas.microsoft.com/office/drawing/2014/main" id="{48AE6006-6C36-4B00-A8C5-D24E5607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2" name="shape-575">
            <a:extLst xmlns:a="http://schemas.openxmlformats.org/drawingml/2006/main">
              <a:ext uri="{FF2B5EF4-FFF2-40B4-BE49-F238E27FC236}">
                <a16:creationId xmlns:a16="http://schemas.microsoft.com/office/drawing/2014/main" id="{65445B87-466A-4939-A54C-1BFAF7E7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1838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3" name="shape-576">
            <a:extLst xmlns:a="http://schemas.openxmlformats.org/drawingml/2006/main">
              <a:ext uri="{FF2B5EF4-FFF2-40B4-BE49-F238E27FC236}">
                <a16:creationId xmlns:a16="http://schemas.microsoft.com/office/drawing/2014/main" id="{3709204C-FFDB-421F-A0A0-BF8F355C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77">
            <a:extLst xmlns:a="http://schemas.openxmlformats.org/drawingml/2006/main">
              <a:ext uri="{FF2B5EF4-FFF2-40B4-BE49-F238E27FC236}">
                <a16:creationId xmlns:a16="http://schemas.microsoft.com/office/drawing/2014/main" id="{16DF62B4-DABD-4A9D-B9BA-FBFEFEAB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text-578">
            <a:extLst xmlns:a="http://schemas.openxmlformats.org/drawingml/2006/main">
              <a:ext uri="{FF2B5EF4-FFF2-40B4-BE49-F238E27FC236}">
                <a16:creationId xmlns:a16="http://schemas.microsoft.com/office/drawing/2014/main" id="{032E36CD-CB7D-408C-BE86-4B8B96C6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38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連結 GitHub</a:t>
            </a:r>
          </a:p>
        </p:txBody>
      </p:sp>
      <p:sp>
        <p:nvSpPr>
          <p:cNvPr id="16" name="text-579">
            <a:extLst xmlns:a="http://schemas.openxmlformats.org/drawingml/2006/main">
              <a:ext uri="{FF2B5EF4-FFF2-40B4-BE49-F238E27FC236}">
                <a16:creationId xmlns:a16="http://schemas.microsoft.com/office/drawing/2014/main" id="{55134098-ECA5-41B5-9B68-85588730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登入 EZPage，授權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選擇自己的 GitHub 帳號</a:t>
            </a:r>
          </a:p>
        </p:txBody>
      </p:sp>
      <p:sp>
        <p:nvSpPr>
          <p:cNvPr id="17" name="text-580">
            <a:extLst xmlns:a="http://schemas.openxmlformats.org/drawingml/2006/main">
              <a:ext uri="{FF2B5EF4-FFF2-40B4-BE49-F238E27FC236}">
                <a16:creationId xmlns:a16="http://schemas.microsoft.com/office/drawing/2014/main" id="{996B70F6-543D-4434-AE23-96E640FD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8" name="shape-581">
            <a:extLst xmlns:a="http://schemas.openxmlformats.org/drawingml/2006/main">
              <a:ext uri="{FF2B5EF4-FFF2-40B4-BE49-F238E27FC236}">
                <a16:creationId xmlns:a16="http://schemas.microsoft.com/office/drawing/2014/main" id="{0FDB7195-0014-4DCA-BC9E-D654AD7B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shape-582">
            <a:extLst xmlns:a="http://schemas.openxmlformats.org/drawingml/2006/main">
              <a:ext uri="{FF2B5EF4-FFF2-40B4-BE49-F238E27FC236}">
                <a16:creationId xmlns:a16="http://schemas.microsoft.com/office/drawing/2014/main" id="{130D7F55-5AF1-4B44-A47F-752AF7FB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583">
            <a:extLst xmlns:a="http://schemas.openxmlformats.org/drawingml/2006/main">
              <a:ext uri="{FF2B5EF4-FFF2-40B4-BE49-F238E27FC236}">
                <a16:creationId xmlns:a16="http://schemas.microsoft.com/office/drawing/2014/main" id="{716A9714-CA0E-4875-A385-A57211E8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text-584">
            <a:extLst xmlns:a="http://schemas.openxmlformats.org/drawingml/2006/main">
              <a:ext uri="{FF2B5EF4-FFF2-40B4-BE49-F238E27FC236}">
                <a16:creationId xmlns:a16="http://schemas.microsoft.com/office/drawing/2014/main" id="{F141AC13-11B1-4D43-B6F0-F5477887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上傳部署</a:t>
            </a:r>
          </a:p>
        </p:txBody>
      </p:sp>
      <p:sp>
        <p:nvSpPr>
          <p:cNvPr id="22" name="text-585">
            <a:extLst xmlns:a="http://schemas.openxmlformats.org/drawingml/2006/main">
              <a:ext uri="{FF2B5EF4-FFF2-40B4-BE49-F238E27FC236}">
                <a16:creationId xmlns:a16="http://schemas.microsoft.com/office/drawing/2014/main" id="{96A1ABCF-8F54-4D4E-9D5C-DCDA9ABD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拖曳 ZIP、填網站名稱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按「部署 ZIP 檔案」</a:t>
            </a:r>
          </a:p>
        </p:txBody>
      </p:sp>
      <p:sp>
        <p:nvSpPr>
          <p:cNvPr id="23" name="text-586">
            <a:extLst xmlns:a="http://schemas.openxmlformats.org/drawingml/2006/main">
              <a:ext uri="{FF2B5EF4-FFF2-40B4-BE49-F238E27FC236}">
                <a16:creationId xmlns:a16="http://schemas.microsoft.com/office/drawing/2014/main" id="{3242B9D1-8BA3-4E32-85E9-D4DC5A38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2038350"/>
            <a:ext cx="19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4" name="shape-587">
            <a:extLst xmlns:a="http://schemas.openxmlformats.org/drawingml/2006/main">
              <a:ext uri="{FF2B5EF4-FFF2-40B4-BE49-F238E27FC236}">
                <a16:creationId xmlns:a16="http://schemas.microsoft.com/office/drawing/2014/main" id="{C9903D0E-AF36-436A-8E2C-90A38777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1676400"/>
            <a:ext cx="2814638" cy="3143250"/>
          </a:xfrm>
          <a:prstGeom xmlns:a="http://schemas.openxmlformats.org/drawingml/2006/main" prst="roundRect">
            <a:avLst>
              <a:gd name="adj" fmla="val 54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shape-588">
            <a:extLst xmlns:a="http://schemas.openxmlformats.org/drawingml/2006/main">
              <a:ext uri="{FF2B5EF4-FFF2-40B4-BE49-F238E27FC236}">
                <a16:creationId xmlns:a16="http://schemas.microsoft.com/office/drawing/2014/main" id="{A9AE81AB-603A-4D65-94A6-47AAF145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1790700"/>
            <a:ext cx="2471738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589">
            <a:extLst xmlns:a="http://schemas.openxmlformats.org/drawingml/2006/main">
              <a:ext uri="{FF2B5EF4-FFF2-40B4-BE49-F238E27FC236}">
                <a16:creationId xmlns:a16="http://schemas.microsoft.com/office/drawing/2014/main" id="{2E3231D2-15BC-4DBA-AAA8-FAB86CFE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1981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7" name="text-590">
            <a:extLst xmlns:a="http://schemas.openxmlformats.org/drawingml/2006/main">
              <a:ext uri="{FF2B5EF4-FFF2-40B4-BE49-F238E27FC236}">
                <a16:creationId xmlns:a16="http://schemas.microsoft.com/office/drawing/2014/main" id="{F6F3A2A3-7027-4C0E-8B16-4BDCE8B0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86050"/>
            <a:ext cx="26622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驗證分享</a:t>
            </a:r>
          </a:p>
        </p:txBody>
      </p:sp>
      <p:sp>
        <p:nvSpPr>
          <p:cNvPr id="28" name="text-591">
            <a:extLst xmlns:a="http://schemas.openxmlformats.org/drawingml/2006/main">
              <a:ext uri="{FF2B5EF4-FFF2-40B4-BE49-F238E27FC236}">
                <a16:creationId xmlns:a16="http://schemas.microsoft.com/office/drawing/2014/main" id="{6C703F33-7D76-4B60-B0A2-AB0B9D74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352800"/>
            <a:ext cx="239553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取得 GitHub Pages 網址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用手機與桌機走一次流程</a:t>
            </a:r>
          </a:p>
        </p:txBody>
      </p:sp>
      <p:sp>
        <p:nvSpPr>
          <p:cNvPr id="29" name="text-592">
            <a:extLst xmlns:a="http://schemas.openxmlformats.org/drawingml/2006/main">
              <a:ext uri="{FF2B5EF4-FFF2-40B4-BE49-F238E27FC236}">
                <a16:creationId xmlns:a16="http://schemas.microsoft.com/office/drawing/2014/main" id="{C1293AAB-7D80-44AD-AF07-F2AD6E1E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2095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ZIP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index.html + assets</a:t>
            </a:r>
          </a:p>
        </p:txBody>
      </p:sp>
      <p:sp>
        <p:nvSpPr>
          <p:cNvPr id="30" name="text-593">
            <a:extLst xmlns:a="http://schemas.openxmlformats.org/drawingml/2006/main">
              <a:ext uri="{FF2B5EF4-FFF2-40B4-BE49-F238E27FC236}">
                <a16:creationId xmlns:a16="http://schemas.microsoft.com/office/drawing/2014/main" id="{8FD02060-F9C4-4B63-A166-B985F2B3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76800"/>
            <a:ext cx="2095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EZPage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圖形化上傳</a:t>
            </a:r>
          </a:p>
        </p:txBody>
      </p:sp>
      <p:sp>
        <p:nvSpPr>
          <p:cNvPr id="31" name="text-594">
            <a:extLst xmlns:a="http://schemas.openxmlformats.org/drawingml/2006/main">
              <a:ext uri="{FF2B5EF4-FFF2-40B4-BE49-F238E27FC236}">
                <a16:creationId xmlns:a16="http://schemas.microsoft.com/office/drawing/2014/main" id="{64CEDE34-C1E9-4A60-8473-AE6E4CE6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76800"/>
            <a:ext cx="2095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GitHub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repo + Pages</a:t>
            </a:r>
          </a:p>
        </p:txBody>
      </p:sp>
      <p:sp>
        <p:nvSpPr>
          <p:cNvPr id="32" name="text-595">
            <a:extLst xmlns:a="http://schemas.openxmlformats.org/drawingml/2006/main">
              <a:ext uri="{FF2B5EF4-FFF2-40B4-BE49-F238E27FC236}">
                <a16:creationId xmlns:a16="http://schemas.microsoft.com/office/drawing/2014/main" id="{2B10D777-56A0-46AD-9831-EAF89995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76800"/>
            <a:ext cx="2381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7866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公開網址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手機驗證</a:t>
            </a:r>
          </a:p>
        </p:txBody>
      </p:sp>
      <p:cxnSp>
        <p:nvCxnSpPr>
          <p:cNvPr id="73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2781300" y="51816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FE8"/>
            </a:solidFill>
            <a:prstDash val="solid"/>
            <a:tailEnd type="arrow" w="sm" len="sm"/>
          </a:ln>
        </p:spPr>
      </p:cxnSp>
      <p:cxnSp>
        <p:nvCxnSpPr>
          <p:cNvPr id="74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5429250" y="51816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AFA4"/>
            </a:solidFill>
            <a:prstDash val="solid"/>
            <a:tailEnd type="arrow" w="sm" len="sm"/>
          </a:ln>
        </p:spPr>
      </p:cxnSp>
      <p:cxnSp>
        <p:nvCxnSpPr>
          <p:cNvPr id="75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8077200" y="51816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866"/>
            </a:solidFill>
            <a:prstDash val="solid"/>
            <a:tailEnd type="arrow" w="sm" len="sm"/>
          </a:ln>
        </p:spPr>
      </p:cxnSp>
      <p:sp>
        <p:nvSpPr>
          <p:cNvPr id="36" name="text-596">
            <a:extLst xmlns:a="http://schemas.openxmlformats.org/drawingml/2006/main">
              <a:ext uri="{FF2B5EF4-FFF2-40B4-BE49-F238E27FC236}">
                <a16:creationId xmlns:a16="http://schemas.microsoft.com/office/drawing/2014/main" id="{9F438896-3E76-40B8-919F-3D9FA5C2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低門檻入口，不代表省略隱私、版權與 RWD 驗證</a:t>
            </a:r>
          </a:p>
        </p:txBody>
      </p:sp>
      <p:sp>
        <p:nvSpPr>
          <p:cNvPr id="37" name="text-671">
            <a:extLst xmlns:a="http://schemas.openxmlformats.org/drawingml/2006/main">
              <a:ext uri="{FF2B5EF4-FFF2-40B4-BE49-F238E27FC236}">
                <a16:creationId xmlns:a16="http://schemas.microsoft.com/office/drawing/2014/main" id="{5DCE9F94-35B3-4A3E-B3BF-298E8445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9a65cbe8bcc74ca3"/>
              </a:rPr>
              <a:t>開啟 EZPage ↗</a:t>
            </a:r>
          </a:p>
        </p:txBody>
      </p:sp>
      <p:sp>
        <p:nvSpPr>
          <p:cNvPr id="38" name="shape-732">
            <a:extLst xmlns:a="http://schemas.openxmlformats.org/drawingml/2006/main">
              <a:ext uri="{FF2B5EF4-FFF2-40B4-BE49-F238E27FC236}">
                <a16:creationId xmlns:a16="http://schemas.microsoft.com/office/drawing/2014/main" id="{9DA0C90D-B80A-4174-A982-5DB2980C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7650"/>
            <a:ext cx="1219200" cy="13906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ad292bc514e12"/>
          <a:stretch xmlns:a="http://schemas.openxmlformats.org/drawingml/2006/main"/>
        </p:blipFill>
        <p:spPr>
          <a:xfrm xmlns:a="http://schemas.openxmlformats.org/drawingml/2006/main">
            <a:off x="10534650" y="314325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40" name="text-733">
            <a:extLst xmlns:a="http://schemas.openxmlformats.org/drawingml/2006/main">
              <a:ext uri="{FF2B5EF4-FFF2-40B4-BE49-F238E27FC236}">
                <a16:creationId xmlns:a16="http://schemas.microsoft.com/office/drawing/2014/main" id="{9797F932-2DA4-4403-A859-2CE486F0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400175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EZPage</a:t>
            </a:r>
          </a:p>
        </p:txBody>
      </p:sp>
    </p:spTree>
    <p:extLst>
      <p:ext uri="{BB962C8B-B14F-4D97-AF65-F5344CB8AC3E}">
        <p14:creationId xmlns:p14="http://schemas.microsoft.com/office/powerpoint/2010/main" val="73322522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597">
            <a:extLst xmlns:a="http://schemas.openxmlformats.org/drawingml/2006/main">
              <a:ext uri="{FF2B5EF4-FFF2-40B4-BE49-F238E27FC236}">
                <a16:creationId xmlns:a16="http://schemas.microsoft.com/office/drawing/2014/main" id="{9932372C-5178-4206-A933-BE7E9562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HANDS-ON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3C07AD-1581-429D-B9DF-66860C35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28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上午整合挑戰｜會議紀錄從來源到分享</a:t>
            </a:r>
          </a:p>
        </p:txBody>
      </p:sp>
      <p:cxnSp>
        <p:nvCxnSpPr>
          <p:cNvPr id="29" name="shape-598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599">
            <a:extLst xmlns:a="http://schemas.openxmlformats.org/drawingml/2006/main">
              <a:ext uri="{FF2B5EF4-FFF2-40B4-BE49-F238E27FC236}">
                <a16:creationId xmlns:a16="http://schemas.microsoft.com/office/drawing/2014/main" id="{7EFD3A21-2481-4B42-8D02-7A92943A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A097AFD-5D7A-4EDA-8E0E-018148AA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34</a:t>
            </a:r>
          </a:p>
        </p:txBody>
      </p:sp>
      <p:sp>
        <p:nvSpPr>
          <p:cNvPr id="6" name="text-600">
            <a:extLst xmlns:a="http://schemas.openxmlformats.org/drawingml/2006/main">
              <a:ext uri="{FF2B5EF4-FFF2-40B4-BE49-F238E27FC236}">
                <a16:creationId xmlns:a16="http://schemas.microsoft.com/office/drawing/2014/main" id="{F97B3958-2C8C-41DA-AFD1-EECBCB7F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5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15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分鐘</a:t>
            </a:r>
          </a:p>
        </p:txBody>
      </p:sp>
      <p:sp>
        <p:nvSpPr>
          <p:cNvPr id="7" name="text-601">
            <a:extLst xmlns:a="http://schemas.openxmlformats.org/drawingml/2006/main">
              <a:ext uri="{FF2B5EF4-FFF2-40B4-BE49-F238E27FC236}">
                <a16:creationId xmlns:a16="http://schemas.microsoft.com/office/drawing/2014/main" id="{10835510-90A0-4F97-ADD4-C40872CE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操作步驟</a:t>
            </a:r>
          </a:p>
        </p:txBody>
      </p:sp>
      <p:sp>
        <p:nvSpPr>
          <p:cNvPr id="8" name="text-602">
            <a:extLst xmlns:a="http://schemas.openxmlformats.org/drawingml/2006/main">
              <a:ext uri="{FF2B5EF4-FFF2-40B4-BE49-F238E27FC236}">
                <a16:creationId xmlns:a16="http://schemas.microsoft.com/office/drawing/2014/main" id="{8A818E08-BAD3-46AE-BA02-C56E9190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text-603">
            <a:extLst xmlns:a="http://schemas.openxmlformats.org/drawingml/2006/main">
              <a:ext uri="{FF2B5EF4-FFF2-40B4-BE49-F238E27FC236}">
                <a16:creationId xmlns:a16="http://schemas.microsoft.com/office/drawing/2014/main" id="{A0C532CF-5E1E-4C4C-9053-A9D8EBAA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用 Gemini Notebook 整理會議來源與背景，留下可追查引用</a:t>
            </a:r>
          </a:p>
        </p:txBody>
      </p:sp>
      <p:sp>
        <p:nvSpPr>
          <p:cNvPr id="10" name="text-604">
            <a:extLst xmlns:a="http://schemas.openxmlformats.org/drawingml/2006/main">
              <a:ext uri="{FF2B5EF4-FFF2-40B4-BE49-F238E27FC236}">
                <a16:creationId xmlns:a16="http://schemas.microsoft.com/office/drawing/2014/main" id="{A146A8C0-B3C7-404D-BE61-238EDCED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05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1" name="text-605">
            <a:extLst xmlns:a="http://schemas.openxmlformats.org/drawingml/2006/main">
              <a:ext uri="{FF2B5EF4-FFF2-40B4-BE49-F238E27FC236}">
                <a16:creationId xmlns:a16="http://schemas.microsoft.com/office/drawing/2014/main" id="{6953D106-8689-4C1E-9CAA-BA3F35B4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用帳號既有 Gem 產出固定格式的重點、決議與待辦</a:t>
            </a:r>
          </a:p>
        </p:txBody>
      </p:sp>
      <p:sp>
        <p:nvSpPr>
          <p:cNvPr id="12" name="text-606">
            <a:extLst xmlns:a="http://schemas.openxmlformats.org/drawingml/2006/main">
              <a:ext uri="{FF2B5EF4-FFF2-40B4-BE49-F238E27FC236}">
                <a16:creationId xmlns:a16="http://schemas.microsoft.com/office/drawing/2014/main" id="{8984C167-086C-4E5D-A844-F5DC5BD3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10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text-607">
            <a:extLst xmlns:a="http://schemas.openxmlformats.org/drawingml/2006/main">
              <a:ext uri="{FF2B5EF4-FFF2-40B4-BE49-F238E27FC236}">
                <a16:creationId xmlns:a16="http://schemas.microsoft.com/office/drawing/2014/main" id="{D21BA95A-6298-4880-BA55-4E463979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用 Canvas 做可搜尋、可篩選的會議紀錄原型</a:t>
            </a:r>
          </a:p>
        </p:txBody>
      </p:sp>
      <p:sp>
        <p:nvSpPr>
          <p:cNvPr id="14" name="text-608">
            <a:extLst xmlns:a="http://schemas.openxmlformats.org/drawingml/2006/main">
              <a:ext uri="{FF2B5EF4-FFF2-40B4-BE49-F238E27FC236}">
                <a16:creationId xmlns:a16="http://schemas.microsoft.com/office/drawing/2014/main" id="{F29E8917-A226-4366-B514-3D584C4F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14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5" name="text-609">
            <a:extLst xmlns:a="http://schemas.openxmlformats.org/drawingml/2006/main">
              <a:ext uri="{FF2B5EF4-FFF2-40B4-BE49-F238E27FC236}">
                <a16:creationId xmlns:a16="http://schemas.microsoft.com/office/drawing/2014/main" id="{2F019C2A-1611-4CBE-BE57-F5BE8A3E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148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把 Canvas 網址嵌入 Google Sites，預覽手機版並說明備援</a:t>
            </a:r>
          </a:p>
        </p:txBody>
      </p:sp>
      <p:sp>
        <p:nvSpPr>
          <p:cNvPr id="16" name="shape-610">
            <a:extLst xmlns:a="http://schemas.openxmlformats.org/drawingml/2006/main">
              <a:ext uri="{FF2B5EF4-FFF2-40B4-BE49-F238E27FC236}">
                <a16:creationId xmlns:a16="http://schemas.microsoft.com/office/drawing/2014/main" id="{567DF936-8CE6-4D75-AC05-C9B5CA02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90700"/>
            <a:ext cx="2362200" cy="39052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7" name="text-611">
            <a:extLst xmlns:a="http://schemas.openxmlformats.org/drawingml/2006/main">
              <a:ext uri="{FF2B5EF4-FFF2-40B4-BE49-F238E27FC236}">
                <a16:creationId xmlns:a16="http://schemas.microsoft.com/office/drawing/2014/main" id="{E04F8863-140B-44A3-9E17-BB2B192A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574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7866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7866"/>
                </a:solidFill>
                <a:latin typeface="Noto Sans TC"/>
                <a:ea typeface="Noto Sans TC"/>
                <a:cs typeface="Noto Sans TC"/>
              </a:rPr>
              <a:t>完成條件</a:t>
            </a:r>
          </a:p>
        </p:txBody>
      </p:sp>
      <p:sp>
        <p:nvSpPr>
          <p:cNvPr id="18" name="text-612">
            <a:extLst xmlns:a="http://schemas.openxmlformats.org/drawingml/2006/main">
              <a:ext uri="{FF2B5EF4-FFF2-40B4-BE49-F238E27FC236}">
                <a16:creationId xmlns:a16="http://schemas.microsoft.com/office/drawing/2014/main" id="{F430B5F9-AD4F-4FB8-AD9E-FFE6B61B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05100"/>
            <a:ext cx="18669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來源與用途清楚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摘要格式可重複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作品真的能操作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✓ 知道權限與嵌入限制</a:t>
            </a:r>
          </a:p>
        </p:txBody>
      </p:sp>
      <p:sp>
        <p:nvSpPr>
          <p:cNvPr id="19" name="text-668">
            <a:extLst xmlns:a="http://schemas.openxmlformats.org/drawingml/2006/main">
              <a:ext uri="{FF2B5EF4-FFF2-40B4-BE49-F238E27FC236}">
                <a16:creationId xmlns:a16="http://schemas.microsoft.com/office/drawing/2014/main" id="{CB4A047E-2F69-43D2-8715-56A4C07B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688ca31a22da4ad4"/>
              </a:rPr>
              <a:t>Notebook ↗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96f6595757cc4ef1"/>
              </a:rPr>
              <a:t>會議紀錄 ↗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  ·  </a:t>
            </a: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  <a:hlinkClick xmlns:r="http://schemas.openxmlformats.org/officeDocument/2006/relationships" r:id="Rf8e9fbe4dfc34e87"/>
              </a:rPr>
              <a:t>Google Sites ↗</a:t>
            </a:r>
          </a:p>
        </p:txBody>
      </p:sp>
      <p:sp>
        <p:nvSpPr>
          <p:cNvPr id="20" name="shape-723">
            <a:extLst xmlns:a="http://schemas.openxmlformats.org/drawingml/2006/main">
              <a:ext uri="{FF2B5EF4-FFF2-40B4-BE49-F238E27FC236}">
                <a16:creationId xmlns:a16="http://schemas.microsoft.com/office/drawing/2014/main" id="{569149C6-A393-4F27-BA16-9D35B913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"/>
            <a:ext cx="2247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08346515af45de"/>
          <a:stretch xmlns:a="http://schemas.openxmlformats.org/drawingml/2006/main"/>
        </p:blipFill>
        <p:spPr>
          <a:xfrm xmlns:a="http://schemas.openxmlformats.org/drawingml/2006/main">
            <a:off x="95059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2" name="text-724">
            <a:extLst xmlns:a="http://schemas.openxmlformats.org/drawingml/2006/main">
              <a:ext uri="{FF2B5EF4-FFF2-40B4-BE49-F238E27FC236}">
                <a16:creationId xmlns:a16="http://schemas.microsoft.com/office/drawing/2014/main" id="{DB18B8CC-E586-48BA-827A-D96E104D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Notebook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5dda3a05a4ad2"/>
          <a:stretch xmlns:a="http://schemas.openxmlformats.org/drawingml/2006/main"/>
        </p:blipFill>
        <p:spPr>
          <a:xfrm xmlns:a="http://schemas.openxmlformats.org/drawingml/2006/main">
            <a:off x="102298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4" name="text-725">
            <a:extLst xmlns:a="http://schemas.openxmlformats.org/drawingml/2006/main">
              <a:ext uri="{FF2B5EF4-FFF2-40B4-BE49-F238E27FC236}">
                <a16:creationId xmlns:a16="http://schemas.microsoft.com/office/drawing/2014/main" id="{87A390DB-91C8-401F-9021-2F34D7B3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會議紀錄系統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c293712e48402e"/>
          <a:stretch xmlns:a="http://schemas.openxmlformats.org/drawingml/2006/main"/>
        </p:blipFill>
        <p:spPr>
          <a:xfrm xmlns:a="http://schemas.openxmlformats.org/drawingml/2006/main">
            <a:off x="10953750" y="314325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</p:spPr>
      </p:pic>
      <p:sp>
        <p:nvSpPr>
          <p:cNvPr id="26" name="text-726">
            <a:extLst xmlns:a="http://schemas.openxmlformats.org/drawingml/2006/main">
              <a:ext uri="{FF2B5EF4-FFF2-40B4-BE49-F238E27FC236}">
                <a16:creationId xmlns:a16="http://schemas.microsoft.com/office/drawing/2014/main" id="{15BAFBC6-5CA7-4FD4-AF97-12BEDDF2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10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675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Google Sites</a:t>
            </a:r>
          </a:p>
        </p:txBody>
      </p:sp>
    </p:spTree>
    <p:extLst>
      <p:ext uri="{BB962C8B-B14F-4D97-AF65-F5344CB8AC3E}">
        <p14:creationId xmlns:p14="http://schemas.microsoft.com/office/powerpoint/2010/main" val="47308722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text-613">
            <a:extLst xmlns:a="http://schemas.openxmlformats.org/drawingml/2006/main">
              <a:ext uri="{FF2B5EF4-FFF2-40B4-BE49-F238E27FC236}">
                <a16:creationId xmlns:a16="http://schemas.microsoft.com/office/drawing/2014/main" id="{5EB67A86-0C41-4BEC-B52E-9B603C44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56FE8"/>
                </a:solidFill>
                <a:latin typeface="Noto Sans TC"/>
                <a:ea typeface="Noto Sans TC"/>
                <a:cs typeface="Noto Sans TC"/>
              </a:rPr>
              <a:t>BOOKMARKS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3AF93C-0747-4D5E-A525-64D731FB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25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上午資源書籤</a:t>
            </a:r>
          </a:p>
        </p:txBody>
      </p:sp>
      <p:cxnSp>
        <p:nvCxnSpPr>
          <p:cNvPr id="49" name="shape-614"/>
          <p:cNvCxnSpPr/>
          <p:nvPr/>
        </p:nvCxnSpPr>
        <p:spPr>
          <a:xfrm xmlns:a="http://schemas.openxmlformats.org/drawingml/2006/main">
            <a:off x="514350" y="643890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B"/>
            </a:solidFill>
            <a:prstDash val="solid"/>
          </a:ln>
        </p:spPr>
      </p:cxnSp>
      <p:sp>
        <p:nvSpPr>
          <p:cNvPr id="4" name="text-615">
            <a:extLst xmlns:a="http://schemas.openxmlformats.org/drawingml/2006/main">
              <a:ext uri="{FF2B5EF4-FFF2-40B4-BE49-F238E27FC236}">
                <a16:creationId xmlns:a16="http://schemas.microsoft.com/office/drawing/2014/main" id="{847980C3-BE6C-463D-95B4-3DD4ACBE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上午場｜打造專屬 AI 教學與研究工作室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71D9B34-6E97-41B6-9B74-B3DEDF24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5F6873"/>
                </a:solidFill>
                <a:latin typeface="Noto Sans TC"/>
                <a:ea typeface="Noto Sans TC"/>
                <a:cs typeface="Noto Sans TC"/>
              </a:rPr>
              <a:t>35</a:t>
            </a:r>
          </a:p>
        </p:txBody>
      </p:sp>
      <p:sp>
        <p:nvSpPr>
          <p:cNvPr id="6" name="shape-616">
            <a:extLst xmlns:a="http://schemas.openxmlformats.org/drawingml/2006/main">
              <a:ext uri="{FF2B5EF4-FFF2-40B4-BE49-F238E27FC236}">
                <a16:creationId xmlns:a16="http://schemas.microsoft.com/office/drawing/2014/main" id="{320EAF9C-2EB0-4511-86D2-C54F95D9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7" name="text-617">
            <a:extLst xmlns:a="http://schemas.openxmlformats.org/drawingml/2006/main">
              <a:ext uri="{FF2B5EF4-FFF2-40B4-BE49-F238E27FC236}">
                <a16:creationId xmlns:a16="http://schemas.microsoft.com/office/drawing/2014/main" id="{AFE61758-1F35-46F8-9ECB-A3D5A23E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研習資源導航（同資料夾）</a:t>
            </a:r>
          </a:p>
        </p:txBody>
      </p:sp>
      <p:sp>
        <p:nvSpPr>
          <p:cNvPr id="8" name="text-618">
            <a:extLst xmlns:a="http://schemas.openxmlformats.org/drawingml/2006/main">
              <a:ext uri="{FF2B5EF4-FFF2-40B4-BE49-F238E27FC236}">
                <a16:creationId xmlns:a16="http://schemas.microsoft.com/office/drawing/2014/main" id="{2F34C4F3-5811-46CB-8E8A-46D0BBF8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  <a:hlinkClick xmlns:r="http://schemas.openxmlformats.org/officeDocument/2006/relationships" r:id="R0dc7b4e4fb68438c"/>
              </a:rPr>
              <a:t>../START_HERE_研習資源導航.html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3a04032344481"/>
          <a:stretch xmlns:a="http://schemas.openxmlformats.org/drawingml/2006/main"/>
        </p:blipFill>
        <p:spPr>
          <a:xfrm xmlns:a="http://schemas.openxmlformats.org/drawingml/2006/main">
            <a:off x="4953000" y="16097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10" name="shape-619">
            <a:extLst xmlns:a="http://schemas.openxmlformats.org/drawingml/2006/main">
              <a:ext uri="{FF2B5EF4-FFF2-40B4-BE49-F238E27FC236}">
                <a16:creationId xmlns:a16="http://schemas.microsoft.com/office/drawing/2014/main" id="{7D3A6466-D4E9-4061-9896-6BFF866E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1" name="text-620">
            <a:extLst xmlns:a="http://schemas.openxmlformats.org/drawingml/2006/main">
              <a:ext uri="{FF2B5EF4-FFF2-40B4-BE49-F238E27FC236}">
                <a16:creationId xmlns:a16="http://schemas.microsoft.com/office/drawing/2014/main" id="{FBE85D5E-B001-4ED2-AC07-D6D8C28E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開啟 Gemini Notebook</a:t>
            </a:r>
          </a:p>
        </p:txBody>
      </p:sp>
      <p:sp>
        <p:nvSpPr>
          <p:cNvPr id="12" name="text-621">
            <a:extLst xmlns:a="http://schemas.openxmlformats.org/drawingml/2006/main">
              <a:ext uri="{FF2B5EF4-FFF2-40B4-BE49-F238E27FC236}">
                <a16:creationId xmlns:a16="http://schemas.microsoft.com/office/drawing/2014/main" id="{5BE44310-2180-44EA-9368-78310337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  <a:hlinkClick xmlns:r="http://schemas.openxmlformats.org/officeDocument/2006/relationships" r:id="Rb1f70e3e1337429e"/>
              </a:rPr>
              <a:t>https://notebook.google.com/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e7283d9df4291"/>
          <a:stretch xmlns:a="http://schemas.openxmlformats.org/drawingml/2006/main"/>
        </p:blipFill>
        <p:spPr>
          <a:xfrm xmlns:a="http://schemas.openxmlformats.org/drawingml/2006/main">
            <a:off x="4953000" y="24860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14" name="shape-622">
            <a:extLst xmlns:a="http://schemas.openxmlformats.org/drawingml/2006/main">
              <a:ext uri="{FF2B5EF4-FFF2-40B4-BE49-F238E27FC236}">
                <a16:creationId xmlns:a16="http://schemas.microsoft.com/office/drawing/2014/main" id="{C1938194-47A8-4280-A6AF-33E7080B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5" name="text-623">
            <a:extLst xmlns:a="http://schemas.openxmlformats.org/drawingml/2006/main">
              <a:ext uri="{FF2B5EF4-FFF2-40B4-BE49-F238E27FC236}">
                <a16:creationId xmlns:a16="http://schemas.microsoft.com/office/drawing/2014/main" id="{C6199144-9DB5-4B3E-980E-D579982B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建立自訂 Gem</a:t>
            </a:r>
          </a:p>
        </p:txBody>
      </p:sp>
      <p:sp>
        <p:nvSpPr>
          <p:cNvPr id="16" name="text-624">
            <a:extLst xmlns:a="http://schemas.openxmlformats.org/drawingml/2006/main">
              <a:ext uri="{FF2B5EF4-FFF2-40B4-BE49-F238E27FC236}">
                <a16:creationId xmlns:a16="http://schemas.microsoft.com/office/drawing/2014/main" id="{369B2BAD-D1CB-4BB7-9C59-E981A528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  <a:hlinkClick xmlns:r="http://schemas.openxmlformats.org/officeDocument/2006/relationships" r:id="Rf5a8f5b39a7d403f"/>
              </a:rPr>
              <a:t>https://gemini.google.com/gems/create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52b266a334cd1"/>
          <a:stretch xmlns:a="http://schemas.openxmlformats.org/drawingml/2006/main"/>
        </p:blipFill>
        <p:spPr>
          <a:xfrm xmlns:a="http://schemas.openxmlformats.org/drawingml/2006/main">
            <a:off x="4953000" y="33623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18" name="shape-625">
            <a:extLst xmlns:a="http://schemas.openxmlformats.org/drawingml/2006/main">
              <a:ext uri="{FF2B5EF4-FFF2-40B4-BE49-F238E27FC236}">
                <a16:creationId xmlns:a16="http://schemas.microsoft.com/office/drawing/2014/main" id="{FB9B6784-65E6-48CF-B9B5-879A0E64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00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19" name="text-626">
            <a:extLst xmlns:a="http://schemas.openxmlformats.org/drawingml/2006/main">
              <a:ext uri="{FF2B5EF4-FFF2-40B4-BE49-F238E27FC236}">
                <a16:creationId xmlns:a16="http://schemas.microsoft.com/office/drawing/2014/main" id="{9D7325DA-E940-43C8-AA1E-F76DAF6C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開啟 Gemini Canvas</a:t>
            </a:r>
          </a:p>
        </p:txBody>
      </p:sp>
      <p:sp>
        <p:nvSpPr>
          <p:cNvPr id="20" name="text-627">
            <a:extLst xmlns:a="http://schemas.openxmlformats.org/drawingml/2006/main">
              <a:ext uri="{FF2B5EF4-FFF2-40B4-BE49-F238E27FC236}">
                <a16:creationId xmlns:a16="http://schemas.microsoft.com/office/drawing/2014/main" id="{097C379C-7F4D-4D5B-A57F-5819D442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  <a:hlinkClick xmlns:r="http://schemas.openxmlformats.org/officeDocument/2006/relationships" r:id="R80e331ca8ce24b6e"/>
              </a:rPr>
              <a:t>https://gemini.google.com/app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14fb05f2b4baf"/>
          <a:stretch xmlns:a="http://schemas.openxmlformats.org/drawingml/2006/main"/>
        </p:blipFill>
        <p:spPr>
          <a:xfrm xmlns:a="http://schemas.openxmlformats.org/drawingml/2006/main">
            <a:off x="4953000" y="42386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22" name="shape-628">
            <a:extLst xmlns:a="http://schemas.openxmlformats.org/drawingml/2006/main">
              <a:ext uri="{FF2B5EF4-FFF2-40B4-BE49-F238E27FC236}">
                <a16:creationId xmlns:a16="http://schemas.microsoft.com/office/drawing/2014/main" id="{B896ECF0-542F-4270-A5E1-D112C45E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23" name="text-629">
            <a:extLst xmlns:a="http://schemas.openxmlformats.org/drawingml/2006/main">
              <a:ext uri="{FF2B5EF4-FFF2-40B4-BE49-F238E27FC236}">
                <a16:creationId xmlns:a16="http://schemas.microsoft.com/office/drawing/2014/main" id="{52C721F9-FF72-4C77-A906-F189E8E3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教學駕駛艙 GitHub repo</a:t>
            </a:r>
          </a:p>
        </p:txBody>
      </p:sp>
      <p:sp>
        <p:nvSpPr>
          <p:cNvPr id="24" name="text-630">
            <a:extLst xmlns:a="http://schemas.openxmlformats.org/drawingml/2006/main">
              <a:ext uri="{FF2B5EF4-FFF2-40B4-BE49-F238E27FC236}">
                <a16:creationId xmlns:a16="http://schemas.microsoft.com/office/drawing/2014/main" id="{0AADF4B7-9106-4B81-B8B1-E3793A70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86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  <a:hlinkClick xmlns:r="http://schemas.openxmlformats.org/officeDocument/2006/relationships" r:id="Rcb657ddce8524872"/>
              </a:rPr>
              <a:t>https://github.com/cagoooo/it-cockpit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53ea37bcc426d"/>
          <a:stretch xmlns:a="http://schemas.openxmlformats.org/drawingml/2006/main"/>
        </p:blipFill>
        <p:spPr>
          <a:xfrm xmlns:a="http://schemas.openxmlformats.org/drawingml/2006/main">
            <a:off x="4953000" y="51149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26" name="shape-631">
            <a:extLst xmlns:a="http://schemas.openxmlformats.org/drawingml/2006/main">
              <a:ext uri="{FF2B5EF4-FFF2-40B4-BE49-F238E27FC236}">
                <a16:creationId xmlns:a16="http://schemas.microsoft.com/office/drawing/2014/main" id="{9B91C00D-D4A3-42BF-8127-79EDF1B7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811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27" name="text-632">
            <a:extLst xmlns:a="http://schemas.openxmlformats.org/drawingml/2006/main">
              <a:ext uri="{FF2B5EF4-FFF2-40B4-BE49-F238E27FC236}">
                <a16:creationId xmlns:a16="http://schemas.microsoft.com/office/drawing/2014/main" id="{4C2A2FC4-D8F6-43EE-9576-30B22155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764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教學駕駛艙公開網站</a:t>
            </a:r>
          </a:p>
        </p:txBody>
      </p:sp>
      <p:sp>
        <p:nvSpPr>
          <p:cNvPr id="28" name="text-633">
            <a:extLst xmlns:a="http://schemas.openxmlformats.org/drawingml/2006/main">
              <a:ext uri="{FF2B5EF4-FFF2-40B4-BE49-F238E27FC236}">
                <a16:creationId xmlns:a16="http://schemas.microsoft.com/office/drawing/2014/main" id="{004A6A68-F5A2-463E-AA78-71647E04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  <a:hlinkClick xmlns:r="http://schemas.openxmlformats.org/officeDocument/2006/relationships" r:id="R6bd0c25eaddc47de"/>
              </a:rPr>
              <a:t>https://cagoooo.github.io/it-cockpit/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51607a99846b2"/>
          <a:stretch xmlns:a="http://schemas.openxmlformats.org/drawingml/2006/main"/>
        </p:blipFill>
        <p:spPr>
          <a:xfrm xmlns:a="http://schemas.openxmlformats.org/drawingml/2006/main">
            <a:off x="10553700" y="16097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30" name="shape-634">
            <a:extLst xmlns:a="http://schemas.openxmlformats.org/drawingml/2006/main">
              <a:ext uri="{FF2B5EF4-FFF2-40B4-BE49-F238E27FC236}">
                <a16:creationId xmlns:a16="http://schemas.microsoft.com/office/drawing/2014/main" id="{45DBA94A-9C81-48EB-837C-E6A08E2C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574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31" name="text-635">
            <a:extLst xmlns:a="http://schemas.openxmlformats.org/drawingml/2006/main">
              <a:ext uri="{FF2B5EF4-FFF2-40B4-BE49-F238E27FC236}">
                <a16:creationId xmlns:a16="http://schemas.microsoft.com/office/drawing/2014/main" id="{0F4245F9-614B-47B3-A432-5841E19F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527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教師會議紀錄系統（#84）</a:t>
            </a:r>
          </a:p>
        </p:txBody>
      </p:sp>
      <p:sp>
        <p:nvSpPr>
          <p:cNvPr id="32" name="text-636">
            <a:extLst xmlns:a="http://schemas.openxmlformats.org/drawingml/2006/main">
              <a:ext uri="{FF2B5EF4-FFF2-40B4-BE49-F238E27FC236}">
                <a16:creationId xmlns:a16="http://schemas.microsoft.com/office/drawing/2014/main" id="{FAD7C290-4B80-42C0-9974-6B9E22B9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  <a:hlinkClick xmlns:r="http://schemas.openxmlformats.org/officeDocument/2006/relationships" r:id="R4fd52135fb6e4edc"/>
              </a:rPr>
              <a:t>https://cagoooo.github.io/domain-meeting-go/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52d9dfc4c4128"/>
          <a:stretch xmlns:a="http://schemas.openxmlformats.org/drawingml/2006/main"/>
        </p:blipFill>
        <p:spPr>
          <a:xfrm xmlns:a="http://schemas.openxmlformats.org/drawingml/2006/main">
            <a:off x="10553700" y="24860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34" name="shape-637">
            <a:extLst xmlns:a="http://schemas.openxmlformats.org/drawingml/2006/main">
              <a:ext uri="{FF2B5EF4-FFF2-40B4-BE49-F238E27FC236}">
                <a16:creationId xmlns:a16="http://schemas.microsoft.com/office/drawing/2014/main" id="{335D5159-1FF3-4EE4-B1AF-79A96A07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35" name="text-638">
            <a:extLst xmlns:a="http://schemas.openxmlformats.org/drawingml/2006/main">
              <a:ext uri="{FF2B5EF4-FFF2-40B4-BE49-F238E27FC236}">
                <a16:creationId xmlns:a16="http://schemas.microsoft.com/office/drawing/2014/main" id="{56CFD2CF-E802-4C90-B36D-18A56B55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建立 Google Sites</a:t>
            </a:r>
          </a:p>
        </p:txBody>
      </p:sp>
      <p:sp>
        <p:nvSpPr>
          <p:cNvPr id="36" name="text-639">
            <a:extLst xmlns:a="http://schemas.openxmlformats.org/drawingml/2006/main">
              <a:ext uri="{FF2B5EF4-FFF2-40B4-BE49-F238E27FC236}">
                <a16:creationId xmlns:a16="http://schemas.microsoft.com/office/drawing/2014/main" id="{D238D375-DD21-41B6-B6B2-2201031E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33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  <a:hlinkClick xmlns:r="http://schemas.openxmlformats.org/officeDocument/2006/relationships" r:id="Rba966fcfbe6340c7"/>
              </a:rPr>
              <a:t>https://sites.google.com/new</a:t>
            </a:r>
          </a:p>
        </p:txBody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6ba650c054648"/>
          <a:stretch xmlns:a="http://schemas.openxmlformats.org/drawingml/2006/main"/>
        </p:blipFill>
        <p:spPr>
          <a:xfrm xmlns:a="http://schemas.openxmlformats.org/drawingml/2006/main">
            <a:off x="10553700" y="33623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38" name="shape-640">
            <a:extLst xmlns:a="http://schemas.openxmlformats.org/drawingml/2006/main">
              <a:ext uri="{FF2B5EF4-FFF2-40B4-BE49-F238E27FC236}">
                <a16:creationId xmlns:a16="http://schemas.microsoft.com/office/drawing/2014/main" id="{B6311583-85DB-4089-A178-0865D9BD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100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39" name="text-641">
            <a:extLst xmlns:a="http://schemas.openxmlformats.org/drawingml/2006/main">
              <a:ext uri="{FF2B5EF4-FFF2-40B4-BE49-F238E27FC236}">
                <a16:creationId xmlns:a16="http://schemas.microsoft.com/office/drawing/2014/main" id="{E2B32A7D-F1DE-4DD6-BD83-2E6DC875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053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開啟 GitHub Pages</a:t>
            </a:r>
          </a:p>
        </p:txBody>
      </p:sp>
      <p:sp>
        <p:nvSpPr>
          <p:cNvPr id="40" name="text-642">
            <a:extLst xmlns:a="http://schemas.openxmlformats.org/drawingml/2006/main">
              <a:ext uri="{FF2B5EF4-FFF2-40B4-BE49-F238E27FC236}">
                <a16:creationId xmlns:a16="http://schemas.microsoft.com/office/drawing/2014/main" id="{04D8F6A4-CA3D-447F-8DE7-F43FBBF5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101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  <a:hlinkClick xmlns:r="http://schemas.openxmlformats.org/officeDocument/2006/relationships" r:id="Rc0c0432105e542ca"/>
              </a:rPr>
              <a:t>https://pages.github.com/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34f40ab204eea"/>
          <a:stretch xmlns:a="http://schemas.openxmlformats.org/drawingml/2006/main"/>
        </p:blipFill>
        <p:spPr>
          <a:xfrm xmlns:a="http://schemas.openxmlformats.org/drawingml/2006/main">
            <a:off x="10553700" y="42386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42" name="shape-643">
            <a:extLst xmlns:a="http://schemas.openxmlformats.org/drawingml/2006/main">
              <a:ext uri="{FF2B5EF4-FFF2-40B4-BE49-F238E27FC236}">
                <a16:creationId xmlns:a16="http://schemas.microsoft.com/office/drawing/2014/main" id="{DC05211E-9165-4BCA-AF2D-B369454D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86350"/>
            <a:ext cx="5314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DB"/>
            </a:solidFill>
            <a:prstDash val="solid"/>
          </a:ln>
        </p:spPr>
      </p:sp>
      <p:sp>
        <p:nvSpPr>
          <p:cNvPr id="43" name="text-644">
            <a:extLst xmlns:a="http://schemas.openxmlformats.org/drawingml/2006/main">
              <a:ext uri="{FF2B5EF4-FFF2-40B4-BE49-F238E27FC236}">
                <a16:creationId xmlns:a16="http://schemas.microsoft.com/office/drawing/2014/main" id="{09267F75-B655-4DD6-B935-B5383BAD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816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EZPage 一鍵部署</a:t>
            </a:r>
          </a:p>
        </p:txBody>
      </p:sp>
      <p:sp>
        <p:nvSpPr>
          <p:cNvPr id="44" name="text-645">
            <a:extLst xmlns:a="http://schemas.openxmlformats.org/drawingml/2006/main">
              <a:ext uri="{FF2B5EF4-FFF2-40B4-BE49-F238E27FC236}">
                <a16:creationId xmlns:a16="http://schemas.microsoft.com/office/drawing/2014/main" id="{C4689457-EDFF-4CB3-B363-9F84450E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86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</a:defRPr>
            </a:pPr>
            <a:r>
              <a:rPr sz="825" b="0">
                <a:solidFill>
                  <a:srgbClr val="256FE8"/>
                </a:solidFill>
                <a:latin typeface="Cascadia Mono"/>
                <a:ea typeface="Cascadia Mono"/>
                <a:cs typeface="Cascadia Mono"/>
                <a:hlinkClick xmlns:r="http://schemas.openxmlformats.org/officeDocument/2006/relationships" r:id="R94df66c6432f405d"/>
              </a:rPr>
              <a:t>https://gg90052.github.io/ezpage/</a:t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f512767714499"/>
          <a:stretch xmlns:a="http://schemas.openxmlformats.org/drawingml/2006/main"/>
        </p:blipFill>
        <p:spPr>
          <a:xfrm xmlns:a="http://schemas.openxmlformats.org/drawingml/2006/main">
            <a:off x="10553700" y="5114925"/>
            <a:ext cx="685800" cy="685800"/>
          </a:xfrm>
          <a:prstGeom xmlns:a="http://schemas.openxmlformats.org/drawingml/2006/main" prst="roundRect">
            <a:avLst>
              <a:gd name="adj" fmla="val 11111"/>
            </a:avLst>
          </a:prstGeom>
        </p:spPr>
      </p:pic>
      <p:sp>
        <p:nvSpPr>
          <p:cNvPr id="46" name="text-646">
            <a:extLst xmlns:a="http://schemas.openxmlformats.org/drawingml/2006/main">
              <a:ext uri="{FF2B5EF4-FFF2-40B4-BE49-F238E27FC236}">
                <a16:creationId xmlns:a16="http://schemas.microsoft.com/office/drawing/2014/main" id="{1263E9B1-AE45-418F-975F-8D9D89E1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11163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5191F"/>
                </a:solidFill>
                <a:latin typeface="Noto Sans TC"/>
                <a:ea typeface="Noto Sans TC"/>
                <a:cs typeface="Noto Sans TC"/>
              </a:rPr>
              <a:t>上午的終點不是『學會每個工具』，而是完成一條能重複使用的教學與研究產線。</a:t>
            </a:r>
          </a:p>
        </p:txBody>
      </p:sp>
    </p:spTree>
    <p:extLst>
      <p:ext uri="{BB962C8B-B14F-4D97-AF65-F5344CB8AC3E}">
        <p14:creationId xmlns:p14="http://schemas.microsoft.com/office/powerpoint/2010/main" val="1611753134"/>
      </p:ext>
    </p:extLst>
  </p:cSld>
</p:sld>
</file>

<file path=ppt/theme/theme1.xml><?xml version="1.0" encoding="utf-8"?>
<a:theme xmlns:a="http://schemas.openxmlformats.org/drawingml/2006/main" name="ChatGPT">
  <a:themeElements>
    <a:clrScheme name="NCU Morning">
      <a:dk1>
        <a:srgbClr val="000000"/>
      </a:dk1>
      <a:lt1>
        <a:srgbClr val="FFFFFF"/>
      </a:lt1>
      <a:dk2>
        <a:srgbClr val="15191F"/>
      </a:dk2>
      <a:lt2>
        <a:srgbClr val="EAF3FF"/>
      </a:lt2>
      <a:accent1>
        <a:srgbClr val="256FE8"/>
      </a:accent1>
      <a:accent2>
        <a:srgbClr val="FF7866"/>
      </a:accent2>
      <a:accent3>
        <a:srgbClr val="22AFA4"/>
      </a:accent3>
      <a:accent4>
        <a:srgbClr val="8B5CF6"/>
      </a:accent4>
      <a:accent5>
        <a:srgbClr val="F4B942"/>
      </a:accent5>
      <a:accent6>
        <a:srgbClr val="36A269"/>
      </a:accent6>
      <a:hlink>
        <a:srgbClr val="256FE8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CU Morning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2026-08-13T09:18:23.5980000Z</dcterms:created>
  <dcterms:modified xsi:type="dcterms:W3CDTF">2026-08-13T09:18:23.5980000Z</dcterms:modified>
</coreProperties>
</file>
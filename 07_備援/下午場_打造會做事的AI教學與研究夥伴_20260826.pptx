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581d78792546ef" /><Relationship Type="http://schemas.openxmlformats.org/officeDocument/2006/relationships/extended-properties" Target="/docProps/app.xml" Id="R7f0be866039b4b56" /><Relationship Type="http://schemas.openxmlformats.org/officeDocument/2006/relationships/officeDocument" Target="/ppt/presentation.xml" Id="R28c83c1d8c264b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2d9bf528b7482e"/>
  </p:sldMasterIdLst>
  <p:notesMasterIdLst>
    <p:notesMasterId xmlns:r="http://schemas.openxmlformats.org/officeDocument/2006/relationships" r:id="R8e9e00918a144188"/>
  </p:notesMasterIdLst>
  <p:sldIdLst>
    <p:sldId xmlns:r="http://schemas.openxmlformats.org/officeDocument/2006/relationships" id="256" r:id="R273e666f6381418e"/>
    <p:sldId xmlns:r="http://schemas.openxmlformats.org/officeDocument/2006/relationships" id="257" r:id="R35826f2f6a6342aa"/>
    <p:sldId xmlns:r="http://schemas.openxmlformats.org/officeDocument/2006/relationships" id="258" r:id="R839e3dee553847d6"/>
    <p:sldId xmlns:r="http://schemas.openxmlformats.org/officeDocument/2006/relationships" id="259" r:id="Rf85e939243744601"/>
    <p:sldId xmlns:r="http://schemas.openxmlformats.org/officeDocument/2006/relationships" id="260" r:id="R1150ac0dfb4245c9"/>
    <p:sldId xmlns:r="http://schemas.openxmlformats.org/officeDocument/2006/relationships" id="261" r:id="R9761b3f9710346bb"/>
    <p:sldId xmlns:r="http://schemas.openxmlformats.org/officeDocument/2006/relationships" id="262" r:id="R73457ff509e84c52"/>
    <p:sldId xmlns:r="http://schemas.openxmlformats.org/officeDocument/2006/relationships" id="263" r:id="R04d16b8258a74528"/>
    <p:sldId xmlns:r="http://schemas.openxmlformats.org/officeDocument/2006/relationships" id="264" r:id="R4b674311dc224dec"/>
    <p:sldId xmlns:r="http://schemas.openxmlformats.org/officeDocument/2006/relationships" id="265" r:id="R3ea2c4682b444b7d"/>
    <p:sldId xmlns:r="http://schemas.openxmlformats.org/officeDocument/2006/relationships" id="266" r:id="Rb4c7c3d25db4459f"/>
    <p:sldId xmlns:r="http://schemas.openxmlformats.org/officeDocument/2006/relationships" id="267" r:id="R70f6697c728140ed"/>
    <p:sldId xmlns:r="http://schemas.openxmlformats.org/officeDocument/2006/relationships" id="268" r:id="Rb683187057c34192"/>
    <p:sldId xmlns:r="http://schemas.openxmlformats.org/officeDocument/2006/relationships" id="269" r:id="R250334d38df54e4f"/>
    <p:sldId xmlns:r="http://schemas.openxmlformats.org/officeDocument/2006/relationships" id="270" r:id="R9387bf32c3e240b1"/>
    <p:sldId xmlns:r="http://schemas.openxmlformats.org/officeDocument/2006/relationships" id="271" r:id="Rdb30fadab1a64ff0"/>
    <p:sldId xmlns:r="http://schemas.openxmlformats.org/officeDocument/2006/relationships" id="272" r:id="Red8adfc67f434838"/>
    <p:sldId xmlns:r="http://schemas.openxmlformats.org/officeDocument/2006/relationships" id="273" r:id="R75ed927f76cc4e0a"/>
    <p:sldId xmlns:r="http://schemas.openxmlformats.org/officeDocument/2006/relationships" id="274" r:id="R68e111a696b2489b"/>
    <p:sldId xmlns:r="http://schemas.openxmlformats.org/officeDocument/2006/relationships" id="275" r:id="R9756253374d14b50"/>
    <p:sldId xmlns:r="http://schemas.openxmlformats.org/officeDocument/2006/relationships" id="276" r:id="R4b1089d324b24a24"/>
    <p:sldId xmlns:r="http://schemas.openxmlformats.org/officeDocument/2006/relationships" id="277" r:id="R066655b91aac4ce6"/>
    <p:sldId xmlns:r="http://schemas.openxmlformats.org/officeDocument/2006/relationships" id="278" r:id="R944625818a294cdc"/>
    <p:sldId xmlns:r="http://schemas.openxmlformats.org/officeDocument/2006/relationships" id="279" r:id="R1f27b79403f1403f"/>
    <p:sldId xmlns:r="http://schemas.openxmlformats.org/officeDocument/2006/relationships" id="280" r:id="R23f7bb6f9f014ca5"/>
    <p:sldId xmlns:r="http://schemas.openxmlformats.org/officeDocument/2006/relationships" id="281" r:id="R949ba9f5d730455c"/>
    <p:sldId xmlns:r="http://schemas.openxmlformats.org/officeDocument/2006/relationships" id="282" r:id="R1b4318700d7347fb"/>
    <p:sldId xmlns:r="http://schemas.openxmlformats.org/officeDocument/2006/relationships" id="283" r:id="R1af222e4b9db4ca1"/>
    <p:sldId xmlns:r="http://schemas.openxmlformats.org/officeDocument/2006/relationships" id="284" r:id="R1a29bbe7bb62405a"/>
    <p:sldId xmlns:r="http://schemas.openxmlformats.org/officeDocument/2006/relationships" id="285" r:id="R2a32e3e108b947f2"/>
    <p:sldId xmlns:r="http://schemas.openxmlformats.org/officeDocument/2006/relationships" id="286" r:id="R033757df2eac41a9"/>
    <p:sldId xmlns:r="http://schemas.openxmlformats.org/officeDocument/2006/relationships" id="287" r:id="R96bf1fe10b9343db"/>
    <p:sldId xmlns:r="http://schemas.openxmlformats.org/officeDocument/2006/relationships" id="288" r:id="R0cd812a0cdf64fc7"/>
    <p:sldId xmlns:r="http://schemas.openxmlformats.org/officeDocument/2006/relationships" id="289" r:id="R14991d8eec39476f"/>
    <p:sldId xmlns:r="http://schemas.openxmlformats.org/officeDocument/2006/relationships" id="290" r:id="Ra43c41f75d044301"/>
    <p:sldId xmlns:r="http://schemas.openxmlformats.org/officeDocument/2006/relationships" id="291" r:id="R2c6b787a4fea4cca"/>
    <p:sldId xmlns:r="http://schemas.openxmlformats.org/officeDocument/2006/relationships" id="292" r:id="Rf7babfbe20834466"/>
    <p:sldId xmlns:r="http://schemas.openxmlformats.org/officeDocument/2006/relationships" id="293" r:id="R2bd7949b03244202"/>
    <p:sldId xmlns:r="http://schemas.openxmlformats.org/officeDocument/2006/relationships" id="294" r:id="R7e5880673a814699"/>
    <p:sldId xmlns:r="http://schemas.openxmlformats.org/officeDocument/2006/relationships" id="295" r:id="R81ed1b1e98e648a2"/>
    <p:sldId xmlns:r="http://schemas.openxmlformats.org/officeDocument/2006/relationships" id="296" r:id="R0d7df7e30b7e4c52"/>
    <p:sldId xmlns:r="http://schemas.openxmlformats.org/officeDocument/2006/relationships" id="297" r:id="Ra2475385df4746ad"/>
    <p:sldId xmlns:r="http://schemas.openxmlformats.org/officeDocument/2006/relationships" id="298" r:id="R14a42ea2f8374469"/>
    <p:sldId xmlns:r="http://schemas.openxmlformats.org/officeDocument/2006/relationships" id="299" r:id="R3d288f21c5754777"/>
    <p:sldId xmlns:r="http://schemas.openxmlformats.org/officeDocument/2006/relationships" id="300" r:id="R28384a5694854232"/>
    <p:sldId xmlns:r="http://schemas.openxmlformats.org/officeDocument/2006/relationships" id="301" r:id="Ra7648d4596284e38"/>
    <p:sldId xmlns:r="http://schemas.openxmlformats.org/officeDocument/2006/relationships" id="302" r:id="R62c8cb4bfd424d4c"/>
    <p:sldId xmlns:r="http://schemas.openxmlformats.org/officeDocument/2006/relationships" id="303" r:id="Rbc3f13d44b494077"/>
    <p:sldId xmlns:r="http://schemas.openxmlformats.org/officeDocument/2006/relationships" id="304" r:id="R5076bcd1773d41df"/>
    <p:sldId xmlns:r="http://schemas.openxmlformats.org/officeDocument/2006/relationships" id="305" r:id="Re75a818e39044eaa"/>
    <p:sldId xmlns:r="http://schemas.openxmlformats.org/officeDocument/2006/relationships" id="306" r:id="Rbfbb4561558344ac"/>
    <p:sldId xmlns:r="http://schemas.openxmlformats.org/officeDocument/2006/relationships" id="307" r:id="R2790cffb72114451"/>
    <p:sldId xmlns:r="http://schemas.openxmlformats.org/officeDocument/2006/relationships" id="308" r:id="R1a28b085cd5941f8"/>
    <p:sldId xmlns:r="http://schemas.openxmlformats.org/officeDocument/2006/relationships" id="309" r:id="R552ec75699134473"/>
    <p:sldId xmlns:r="http://schemas.openxmlformats.org/officeDocument/2006/relationships" id="310" r:id="R59fa2d7abcd54828"/>
    <p:sldId xmlns:r="http://schemas.openxmlformats.org/officeDocument/2006/relationships" id="311" r:id="R685878a69cb04f1a"/>
    <p:sldId xmlns:r="http://schemas.openxmlformats.org/officeDocument/2006/relationships" id="312" r:id="R69d4dfea75444e86"/>
    <p:sldId xmlns:r="http://schemas.openxmlformats.org/officeDocument/2006/relationships" id="313" r:id="R229a4e99baa54439"/>
    <p:sldId xmlns:r="http://schemas.openxmlformats.org/officeDocument/2006/relationships" id="314" r:id="Rfb54b3c62365451a"/>
    <p:sldId xmlns:r="http://schemas.openxmlformats.org/officeDocument/2006/relationships" id="315" r:id="R8d62bf49ffca483f"/>
    <p:sldId xmlns:r="http://schemas.openxmlformats.org/officeDocument/2006/relationships" id="316" r:id="R384539f604f34b91"/>
    <p:sldId xmlns:r="http://schemas.openxmlformats.org/officeDocument/2006/relationships" id="317" r:id="R5fd1e05c581647fd"/>
    <p:sldId xmlns:r="http://schemas.openxmlformats.org/officeDocument/2006/relationships" id="318" r:id="R2376c6a114da4fe0"/>
    <p:sldId xmlns:r="http://schemas.openxmlformats.org/officeDocument/2006/relationships" id="319" r:id="Ra2e78afcdd274096"/>
    <p:sldId xmlns:r="http://schemas.openxmlformats.org/officeDocument/2006/relationships" id="320" r:id="R092cd111318e4874"/>
    <p:sldId xmlns:r="http://schemas.openxmlformats.org/officeDocument/2006/relationships" id="321" r:id="R7adb2dd59ec34019"/>
    <p:sldId xmlns:r="http://schemas.openxmlformats.org/officeDocument/2006/relationships" id="322" r:id="Rd12598007ba14c8e"/>
    <p:sldId xmlns:r="http://schemas.openxmlformats.org/officeDocument/2006/relationships" id="323" r:id="Rdbff2667f2eb46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d2e32198bc471f" /><Relationship Type="http://schemas.openxmlformats.org/officeDocument/2006/relationships/slideMaster" Target="/ppt/slideMasters/slideMaster1.xml" Id="R0a2d9bf528b7482e" /><Relationship Type="http://schemas.openxmlformats.org/officeDocument/2006/relationships/notesMaster" Target="/ppt/notesMasters/notesMaster1.xml" Id="R8e9e00918a144188" /><Relationship Type="http://schemas.openxmlformats.org/officeDocument/2006/relationships/presProps" Target="/ppt/presProps.xml" Id="Rb46a3b7f267e4d54" /><Relationship Type="http://schemas.openxmlformats.org/officeDocument/2006/relationships/tableStyles" Target="/ppt/tableStyles.xml" Id="R938f1749742b4b9c" /><Relationship Type="http://schemas.openxmlformats.org/officeDocument/2006/relationships/slide" Target="/ppt/slides/slide1.xml" Id="R273e666f6381418e" /><Relationship Type="http://schemas.openxmlformats.org/officeDocument/2006/relationships/slide" Target="/ppt/slides/slide2.xml" Id="R35826f2f6a6342aa" /><Relationship Type="http://schemas.openxmlformats.org/officeDocument/2006/relationships/slide" Target="/ppt/slides/slide3.xml" Id="R839e3dee553847d6" /><Relationship Type="http://schemas.openxmlformats.org/officeDocument/2006/relationships/slide" Target="/ppt/slides/slide4.xml" Id="Rf85e939243744601" /><Relationship Type="http://schemas.openxmlformats.org/officeDocument/2006/relationships/slide" Target="/ppt/slides/slide5.xml" Id="R1150ac0dfb4245c9" /><Relationship Type="http://schemas.openxmlformats.org/officeDocument/2006/relationships/slide" Target="/ppt/slides/slide6.xml" Id="R9761b3f9710346bb" /><Relationship Type="http://schemas.openxmlformats.org/officeDocument/2006/relationships/slide" Target="/ppt/slides/slide7.xml" Id="R73457ff509e84c52" /><Relationship Type="http://schemas.openxmlformats.org/officeDocument/2006/relationships/slide" Target="/ppt/slides/slide8.xml" Id="R04d16b8258a74528" /><Relationship Type="http://schemas.openxmlformats.org/officeDocument/2006/relationships/slide" Target="/ppt/slides/slide9.xml" Id="R4b674311dc224dec" /><Relationship Type="http://schemas.openxmlformats.org/officeDocument/2006/relationships/slide" Target="/ppt/slides/slide10.xml" Id="R3ea2c4682b444b7d" /><Relationship Type="http://schemas.openxmlformats.org/officeDocument/2006/relationships/slide" Target="/ppt/slides/slide11.xml" Id="Rb4c7c3d25db4459f" /><Relationship Type="http://schemas.openxmlformats.org/officeDocument/2006/relationships/slide" Target="/ppt/slides/slide12.xml" Id="R70f6697c728140ed" /><Relationship Type="http://schemas.openxmlformats.org/officeDocument/2006/relationships/slide" Target="/ppt/slides/slide13.xml" Id="Rb683187057c34192" /><Relationship Type="http://schemas.openxmlformats.org/officeDocument/2006/relationships/slide" Target="/ppt/slides/slide14.xml" Id="R250334d38df54e4f" /><Relationship Type="http://schemas.openxmlformats.org/officeDocument/2006/relationships/slide" Target="/ppt/slides/slide15.xml" Id="R9387bf32c3e240b1" /><Relationship Type="http://schemas.openxmlformats.org/officeDocument/2006/relationships/slide" Target="/ppt/slides/slide16.xml" Id="Rdb30fadab1a64ff0" /><Relationship Type="http://schemas.openxmlformats.org/officeDocument/2006/relationships/slide" Target="/ppt/slides/slide17.xml" Id="Red8adfc67f434838" /><Relationship Type="http://schemas.openxmlformats.org/officeDocument/2006/relationships/slide" Target="/ppt/slides/slide18.xml" Id="R75ed927f76cc4e0a" /><Relationship Type="http://schemas.openxmlformats.org/officeDocument/2006/relationships/slide" Target="/ppt/slides/slide19.xml" Id="R68e111a696b2489b" /><Relationship Type="http://schemas.openxmlformats.org/officeDocument/2006/relationships/slide" Target="/ppt/slides/slide20.xml" Id="R9756253374d14b50" /><Relationship Type="http://schemas.openxmlformats.org/officeDocument/2006/relationships/slide" Target="/ppt/slides/slide21.xml" Id="R4b1089d324b24a24" /><Relationship Type="http://schemas.openxmlformats.org/officeDocument/2006/relationships/slide" Target="/ppt/slides/slide22.xml" Id="R066655b91aac4ce6" /><Relationship Type="http://schemas.openxmlformats.org/officeDocument/2006/relationships/slide" Target="/ppt/slides/slide23.xml" Id="R944625818a294cdc" /><Relationship Type="http://schemas.openxmlformats.org/officeDocument/2006/relationships/slide" Target="/ppt/slides/slide24.xml" Id="R1f27b79403f1403f" /><Relationship Type="http://schemas.openxmlformats.org/officeDocument/2006/relationships/slide" Target="/ppt/slides/slide25.xml" Id="R23f7bb6f9f014ca5" /><Relationship Type="http://schemas.openxmlformats.org/officeDocument/2006/relationships/slide" Target="/ppt/slides/slide26.xml" Id="R949ba9f5d730455c" /><Relationship Type="http://schemas.openxmlformats.org/officeDocument/2006/relationships/slide" Target="/ppt/slides/slide27.xml" Id="R1b4318700d7347fb" /><Relationship Type="http://schemas.openxmlformats.org/officeDocument/2006/relationships/slide" Target="/ppt/slides/slide28.xml" Id="R1af222e4b9db4ca1" /><Relationship Type="http://schemas.openxmlformats.org/officeDocument/2006/relationships/slide" Target="/ppt/slides/slide29.xml" Id="R1a29bbe7bb62405a" /><Relationship Type="http://schemas.openxmlformats.org/officeDocument/2006/relationships/slide" Target="/ppt/slides/slide30.xml" Id="R2a32e3e108b947f2" /><Relationship Type="http://schemas.openxmlformats.org/officeDocument/2006/relationships/slide" Target="/ppt/slides/slide31.xml" Id="R033757df2eac41a9" /><Relationship Type="http://schemas.openxmlformats.org/officeDocument/2006/relationships/slide" Target="/ppt/slides/slide32.xml" Id="R96bf1fe10b9343db" /><Relationship Type="http://schemas.openxmlformats.org/officeDocument/2006/relationships/slide" Target="/ppt/slides/slide33.xml" Id="R0cd812a0cdf64fc7" /><Relationship Type="http://schemas.openxmlformats.org/officeDocument/2006/relationships/slide" Target="/ppt/slides/slide34.xml" Id="R14991d8eec39476f" /><Relationship Type="http://schemas.openxmlformats.org/officeDocument/2006/relationships/slide" Target="/ppt/slides/slide35.xml" Id="Ra43c41f75d044301" /><Relationship Type="http://schemas.openxmlformats.org/officeDocument/2006/relationships/slide" Target="/ppt/slides/slide36.xml" Id="R2c6b787a4fea4cca" /><Relationship Type="http://schemas.openxmlformats.org/officeDocument/2006/relationships/slide" Target="/ppt/slides/slide37.xml" Id="Rf7babfbe20834466" /><Relationship Type="http://schemas.openxmlformats.org/officeDocument/2006/relationships/slide" Target="/ppt/slides/slide38.xml" Id="R2bd7949b03244202" /><Relationship Type="http://schemas.openxmlformats.org/officeDocument/2006/relationships/slide" Target="/ppt/slides/slide39.xml" Id="R7e5880673a814699" /><Relationship Type="http://schemas.openxmlformats.org/officeDocument/2006/relationships/slide" Target="/ppt/slides/slide40.xml" Id="R81ed1b1e98e648a2" /><Relationship Type="http://schemas.openxmlformats.org/officeDocument/2006/relationships/slide" Target="/ppt/slides/slide41.xml" Id="R0d7df7e30b7e4c52" /><Relationship Type="http://schemas.openxmlformats.org/officeDocument/2006/relationships/slide" Target="/ppt/slides/slide42.xml" Id="Ra2475385df4746ad" /><Relationship Type="http://schemas.openxmlformats.org/officeDocument/2006/relationships/slide" Target="/ppt/slides/slide43.xml" Id="R14a42ea2f8374469" /><Relationship Type="http://schemas.openxmlformats.org/officeDocument/2006/relationships/slide" Target="/ppt/slides/slide44.xml" Id="R3d288f21c5754777" /><Relationship Type="http://schemas.openxmlformats.org/officeDocument/2006/relationships/slide" Target="/ppt/slides/slide45.xml" Id="R28384a5694854232" /><Relationship Type="http://schemas.openxmlformats.org/officeDocument/2006/relationships/slide" Target="/ppt/slides/slide46.xml" Id="Ra7648d4596284e38" /><Relationship Type="http://schemas.openxmlformats.org/officeDocument/2006/relationships/slide" Target="/ppt/slides/slide47.xml" Id="R62c8cb4bfd424d4c" /><Relationship Type="http://schemas.openxmlformats.org/officeDocument/2006/relationships/slide" Target="/ppt/slides/slide48.xml" Id="Rbc3f13d44b494077" /><Relationship Type="http://schemas.openxmlformats.org/officeDocument/2006/relationships/slide" Target="/ppt/slides/slide49.xml" Id="R5076bcd1773d41df" /><Relationship Type="http://schemas.openxmlformats.org/officeDocument/2006/relationships/slide" Target="/ppt/slides/slide50.xml" Id="Re75a818e39044eaa" /><Relationship Type="http://schemas.openxmlformats.org/officeDocument/2006/relationships/slide" Target="/ppt/slides/slide51.xml" Id="Rbfbb4561558344ac" /><Relationship Type="http://schemas.openxmlformats.org/officeDocument/2006/relationships/slide" Target="/ppt/slides/slide52.xml" Id="R2790cffb72114451" /><Relationship Type="http://schemas.openxmlformats.org/officeDocument/2006/relationships/slide" Target="/ppt/slides/slide53.xml" Id="R1a28b085cd5941f8" /><Relationship Type="http://schemas.openxmlformats.org/officeDocument/2006/relationships/slide" Target="/ppt/slides/slide54.xml" Id="R552ec75699134473" /><Relationship Type="http://schemas.openxmlformats.org/officeDocument/2006/relationships/slide" Target="/ppt/slides/slide55.xml" Id="R59fa2d7abcd54828" /><Relationship Type="http://schemas.openxmlformats.org/officeDocument/2006/relationships/slide" Target="/ppt/slides/slide56.xml" Id="R685878a69cb04f1a" /><Relationship Type="http://schemas.openxmlformats.org/officeDocument/2006/relationships/slide" Target="/ppt/slides/slide57.xml" Id="R69d4dfea75444e86" /><Relationship Type="http://schemas.openxmlformats.org/officeDocument/2006/relationships/slide" Target="/ppt/slides/slide58.xml" Id="R229a4e99baa54439" /><Relationship Type="http://schemas.openxmlformats.org/officeDocument/2006/relationships/slide" Target="/ppt/slides/slide59.xml" Id="Rfb54b3c62365451a" /><Relationship Type="http://schemas.openxmlformats.org/officeDocument/2006/relationships/slide" Target="/ppt/slides/slide60.xml" Id="R8d62bf49ffca483f" /><Relationship Type="http://schemas.openxmlformats.org/officeDocument/2006/relationships/slide" Target="/ppt/slides/slide61.xml" Id="R384539f604f34b91" /><Relationship Type="http://schemas.openxmlformats.org/officeDocument/2006/relationships/slide" Target="/ppt/slides/slide62.xml" Id="R5fd1e05c581647fd" /><Relationship Type="http://schemas.openxmlformats.org/officeDocument/2006/relationships/slide" Target="/ppt/slides/slide63.xml" Id="R2376c6a114da4fe0" /><Relationship Type="http://schemas.openxmlformats.org/officeDocument/2006/relationships/slide" Target="/ppt/slides/slide64.xml" Id="Ra2e78afcdd274096" /><Relationship Type="http://schemas.openxmlformats.org/officeDocument/2006/relationships/slide" Target="/ppt/slides/slide65.xml" Id="R092cd111318e4874" /><Relationship Type="http://schemas.openxmlformats.org/officeDocument/2006/relationships/slide" Target="/ppt/slides/slide66.xml" Id="R7adb2dd59ec34019" /><Relationship Type="http://schemas.openxmlformats.org/officeDocument/2006/relationships/slide" Target="/ppt/slides/slide67.xml" Id="Rd12598007ba14c8e" /><Relationship Type="http://schemas.openxmlformats.org/officeDocument/2006/relationships/slide" Target="/ppt/slides/slide68.xml" Id="Rdbff2667f2eb46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152f08502343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NCU Afternoon">
      <a:dk1>
        <a:srgbClr val="0F1E2E"/>
      </a:dk1>
      <a:lt1>
        <a:srgbClr val="FFFFFF"/>
      </a:lt1>
      <a:dk2>
        <a:srgbClr val="F0F4F8"/>
      </a:dk2>
      <a:lt2>
        <a:srgbClr val="E2EDF8"/>
      </a:lt2>
      <a:accent1>
        <a:srgbClr val="1B64DA"/>
      </a:accent1>
      <a:accent2>
        <a:srgbClr val="FF6B4A"/>
      </a:accent2>
      <a:accent3>
        <a:srgbClr val="0E9F94"/>
      </a:accent3>
      <a:accent4>
        <a:srgbClr val="6366F1"/>
      </a:accent4>
      <a:accent5>
        <a:srgbClr val="F59E0B"/>
      </a:accent5>
      <a:accent6>
        <a:srgbClr val="10B981"/>
      </a:accent6>
      <a:hlink>
        <a:srgbClr val="1B64DA"/>
      </a:hlink>
      <a:folHlink>
        <a:srgbClr val="6366F1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CU Afterno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d05dc101bb4321" /><Relationship Type="http://schemas.openxmlformats.org/officeDocument/2006/relationships/notesMaster" Target="/ppt/notesMasters/notesMaster1.xml" Id="Rbfffd7253d894a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852b06a4e54d9a" /><Relationship Type="http://schemas.openxmlformats.org/officeDocument/2006/relationships/notesMaster" Target="/ppt/notesMasters/notesMaster1.xml" Id="R06e38d23a22547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94a2d7887b47df" /><Relationship Type="http://schemas.openxmlformats.org/officeDocument/2006/relationships/notesMaster" Target="/ppt/notesMasters/notesMaster1.xml" Id="R2c92c5a533c14b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511416de2d4de8" /><Relationship Type="http://schemas.openxmlformats.org/officeDocument/2006/relationships/notesMaster" Target="/ppt/notesMasters/notesMaster1.xml" Id="R1610a9edfae64f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89caf0775c46b2" /><Relationship Type="http://schemas.openxmlformats.org/officeDocument/2006/relationships/notesMaster" Target="/ppt/notesMasters/notesMaster1.xml" Id="R30db3f7200324e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bfd8afe4c649e9" /><Relationship Type="http://schemas.openxmlformats.org/officeDocument/2006/relationships/notesMaster" Target="/ppt/notesMasters/notesMaster1.xml" Id="Rbcd193d03ca948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770625714942b6" /><Relationship Type="http://schemas.openxmlformats.org/officeDocument/2006/relationships/notesMaster" Target="/ppt/notesMasters/notesMaster1.xml" Id="Rf0fa6f38f5b649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ac65d2c77648df" /><Relationship Type="http://schemas.openxmlformats.org/officeDocument/2006/relationships/notesMaster" Target="/ppt/notesMasters/notesMaster1.xml" Id="Ra093a3e11d2d44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d6b9640f194ee6" /><Relationship Type="http://schemas.openxmlformats.org/officeDocument/2006/relationships/notesMaster" Target="/ppt/notesMasters/notesMaster1.xml" Id="Re31c255b241f4f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aff6f7f2b140cc" /><Relationship Type="http://schemas.openxmlformats.org/officeDocument/2006/relationships/notesMaster" Target="/ppt/notesMasters/notesMaster1.xml" Id="R48be317eaa19487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8b4f94d247f425b" /><Relationship Type="http://schemas.openxmlformats.org/officeDocument/2006/relationships/notesMaster" Target="/ppt/notesMasters/notesMaster1.xml" Id="Rc195d61ca40a417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e943723e9e54bec" /><Relationship Type="http://schemas.openxmlformats.org/officeDocument/2006/relationships/notesMaster" Target="/ppt/notesMasters/notesMaster1.xml" Id="R0eaf6bd68ce9490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8b2cdeb29094b3e" /><Relationship Type="http://schemas.openxmlformats.org/officeDocument/2006/relationships/notesMaster" Target="/ppt/notesMasters/notesMaster1.xml" Id="R4de53c3818fb413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efaeddb53304287" /><Relationship Type="http://schemas.openxmlformats.org/officeDocument/2006/relationships/notesMaster" Target="/ppt/notesMasters/notesMaster1.xml" Id="R6826fbc2a6c94dc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97186f5c0224cb6" /><Relationship Type="http://schemas.openxmlformats.org/officeDocument/2006/relationships/notesMaster" Target="/ppt/notesMasters/notesMaster1.xml" Id="R31929950c5e44d6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ef9c6e40ab04313" /><Relationship Type="http://schemas.openxmlformats.org/officeDocument/2006/relationships/notesMaster" Target="/ppt/notesMasters/notesMaster1.xml" Id="Re013f0995abb41a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d25fabeb95c4b07" /><Relationship Type="http://schemas.openxmlformats.org/officeDocument/2006/relationships/notesMaster" Target="/ppt/notesMasters/notesMaster1.xml" Id="R2a31793929e34b6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9e6a43123c64d7a" /><Relationship Type="http://schemas.openxmlformats.org/officeDocument/2006/relationships/notesMaster" Target="/ppt/notesMasters/notesMaster1.xml" Id="R6879a27df29a401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437c219716e4de7" /><Relationship Type="http://schemas.openxmlformats.org/officeDocument/2006/relationships/notesMaster" Target="/ppt/notesMasters/notesMaster1.xml" Id="Rd426fe3719fa41b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465f313d5674272" /><Relationship Type="http://schemas.openxmlformats.org/officeDocument/2006/relationships/notesMaster" Target="/ppt/notesMasters/notesMaster1.xml" Id="Ra76837da6da246c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aa4f2ed09314700" /><Relationship Type="http://schemas.openxmlformats.org/officeDocument/2006/relationships/notesMaster" Target="/ppt/notesMasters/notesMaster1.xml" Id="R6509d0742a2649a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875d70dece6465d" /><Relationship Type="http://schemas.openxmlformats.org/officeDocument/2006/relationships/notesMaster" Target="/ppt/notesMasters/notesMaster1.xml" Id="R29b12ad0f8834f5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1114856acf54d56" /><Relationship Type="http://schemas.openxmlformats.org/officeDocument/2006/relationships/notesMaster" Target="/ppt/notesMasters/notesMaster1.xml" Id="Raa9dca9b5f484c6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c2a3591880e4b56" /><Relationship Type="http://schemas.openxmlformats.org/officeDocument/2006/relationships/notesMaster" Target="/ppt/notesMasters/notesMaster1.xml" Id="R56d6d5cb0f6b4e2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3e91685d977471d" /><Relationship Type="http://schemas.openxmlformats.org/officeDocument/2006/relationships/notesMaster" Target="/ppt/notesMasters/notesMaster1.xml" Id="Rb02b2c15bfd445d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66c7df0493d46f8" /><Relationship Type="http://schemas.openxmlformats.org/officeDocument/2006/relationships/notesMaster" Target="/ppt/notesMasters/notesMaster1.xml" Id="R2d7c3f5ee5b44bd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ada46d588c34b79" /><Relationship Type="http://schemas.openxmlformats.org/officeDocument/2006/relationships/notesMaster" Target="/ppt/notesMasters/notesMaster1.xml" Id="Rd3c57b8df9e74ca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a1a8af99eb440ca" /><Relationship Type="http://schemas.openxmlformats.org/officeDocument/2006/relationships/notesMaster" Target="/ppt/notesMasters/notesMaster1.xml" Id="R9d4e03e7692e44f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b47cbbcaf2b4135" /><Relationship Type="http://schemas.openxmlformats.org/officeDocument/2006/relationships/notesMaster" Target="/ppt/notesMasters/notesMaster1.xml" Id="R14f209dff5144b0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a025bf12e2546ce" /><Relationship Type="http://schemas.openxmlformats.org/officeDocument/2006/relationships/notesMaster" Target="/ppt/notesMasters/notesMaster1.xml" Id="Rf2d0b279098b48d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dc2fbb6aa9d4189" /><Relationship Type="http://schemas.openxmlformats.org/officeDocument/2006/relationships/notesMaster" Target="/ppt/notesMasters/notesMaster1.xml" Id="Rb96e4df9c927434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870c5b9f27f4213" /><Relationship Type="http://schemas.openxmlformats.org/officeDocument/2006/relationships/notesMaster" Target="/ppt/notesMasters/notesMaster1.xml" Id="Rcce1dfc96d08447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5a96b04797449fb" /><Relationship Type="http://schemas.openxmlformats.org/officeDocument/2006/relationships/notesMaster" Target="/ppt/notesMasters/notesMaster1.xml" Id="R11da826741d944b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c73c1c344ea4036" /><Relationship Type="http://schemas.openxmlformats.org/officeDocument/2006/relationships/notesMaster" Target="/ppt/notesMasters/notesMaster1.xml" Id="R57f291df9fdd46a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73cc1c39f4a4658" /><Relationship Type="http://schemas.openxmlformats.org/officeDocument/2006/relationships/notesMaster" Target="/ppt/notesMasters/notesMaster1.xml" Id="R03ce6c3e21b0462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2bb8b1de4be432f" /><Relationship Type="http://schemas.openxmlformats.org/officeDocument/2006/relationships/notesMaster" Target="/ppt/notesMasters/notesMaster1.xml" Id="R02a1d701595149c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bc023aef9dd4bc0" /><Relationship Type="http://schemas.openxmlformats.org/officeDocument/2006/relationships/notesMaster" Target="/ppt/notesMasters/notesMaster1.xml" Id="R1a17fadc0f7c4de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33242327d8d4d1c" /><Relationship Type="http://schemas.openxmlformats.org/officeDocument/2006/relationships/notesMaster" Target="/ppt/notesMasters/notesMaster1.xml" Id="R98be02594bbc4ca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651e897ac704407" /><Relationship Type="http://schemas.openxmlformats.org/officeDocument/2006/relationships/notesMaster" Target="/ppt/notesMasters/notesMaster1.xml" Id="R505b9e4fbeea4b7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bb7ef55d31b4241" /><Relationship Type="http://schemas.openxmlformats.org/officeDocument/2006/relationships/notesMaster" Target="/ppt/notesMasters/notesMaster1.xml" Id="Rc114e4d8cc5e42e6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592ecd323c1408f" /><Relationship Type="http://schemas.openxmlformats.org/officeDocument/2006/relationships/notesMaster" Target="/ppt/notesMasters/notesMaster1.xml" Id="R15895568338d40f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68e53874c184fa0" /><Relationship Type="http://schemas.openxmlformats.org/officeDocument/2006/relationships/notesMaster" Target="/ppt/notesMasters/notesMaster1.xml" Id="R114efe962fa44d61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f806318424a43c7" /><Relationship Type="http://schemas.openxmlformats.org/officeDocument/2006/relationships/notesMaster" Target="/ppt/notesMasters/notesMaster1.xml" Id="Rec902a7a02d1442b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492e1f2f15324f75" /><Relationship Type="http://schemas.openxmlformats.org/officeDocument/2006/relationships/notesMaster" Target="/ppt/notesMasters/notesMaster1.xml" Id="Rcf4f28078f064b02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1495f1c9437049ca" /><Relationship Type="http://schemas.openxmlformats.org/officeDocument/2006/relationships/notesMaster" Target="/ppt/notesMasters/notesMaster1.xml" Id="R5e6bd9ef808647cc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b8c0a79b420f4268" /><Relationship Type="http://schemas.openxmlformats.org/officeDocument/2006/relationships/notesMaster" Target="/ppt/notesMasters/notesMaster1.xml" Id="Rdaeeb3f5afb24dd5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8136d18c74f849f5" /><Relationship Type="http://schemas.openxmlformats.org/officeDocument/2006/relationships/notesMaster" Target="/ppt/notesMasters/notesMaster1.xml" Id="R48a2e624aef94341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9775096a938a40bb" /><Relationship Type="http://schemas.openxmlformats.org/officeDocument/2006/relationships/notesMaster" Target="/ppt/notesMasters/notesMaster1.xml" Id="Rcea7d3fd72194e11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2325eed382ae4c6a" /><Relationship Type="http://schemas.openxmlformats.org/officeDocument/2006/relationships/notesMaster" Target="/ppt/notesMasters/notesMaster1.xml" Id="R1a983da26b2b455a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db6216cc20b94800" /><Relationship Type="http://schemas.openxmlformats.org/officeDocument/2006/relationships/notesMaster" Target="/ppt/notesMasters/notesMaster1.xml" Id="R8f44ebc80d5b483c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8a5e3e47abae4ad7" /><Relationship Type="http://schemas.openxmlformats.org/officeDocument/2006/relationships/notesMaster" Target="/ppt/notesMasters/notesMaster1.xml" Id="R6a60e337e9ab43d6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6cc2fbacfca14081" /><Relationship Type="http://schemas.openxmlformats.org/officeDocument/2006/relationships/notesMaster" Target="/ppt/notesMasters/notesMaster1.xml" Id="Rc4d7d7f5e1c641c6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d85af0b7736942c7" /><Relationship Type="http://schemas.openxmlformats.org/officeDocument/2006/relationships/notesMaster" Target="/ppt/notesMasters/notesMaster1.xml" Id="R788bab1a773d41a2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5db332d294394c54" /><Relationship Type="http://schemas.openxmlformats.org/officeDocument/2006/relationships/notesMaster" Target="/ppt/notesMasters/notesMaster1.xml" Id="R8bd1d5b233504a2e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a5a27ddc4dbd454e" /><Relationship Type="http://schemas.openxmlformats.org/officeDocument/2006/relationships/notesMaster" Target="/ppt/notesMasters/notesMaster1.xml" Id="R0da2dc62b8f54e21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6c4960eb5f4c4d72" /><Relationship Type="http://schemas.openxmlformats.org/officeDocument/2006/relationships/notesMaster" Target="/ppt/notesMasters/notesMaster1.xml" Id="Rfb00ab09cf4e4543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fa9118370275413f" /><Relationship Type="http://schemas.openxmlformats.org/officeDocument/2006/relationships/notesMaster" Target="/ppt/notesMasters/notesMaster1.xml" Id="Rad5bca3af7bc484a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cfca359b124e4f1a" /><Relationship Type="http://schemas.openxmlformats.org/officeDocument/2006/relationships/notesMaster" Target="/ppt/notesMasters/notesMaster1.xml" Id="Rad12832a4a8c42cc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32c0d3c5bf804e89" /><Relationship Type="http://schemas.openxmlformats.org/officeDocument/2006/relationships/notesMaster" Target="/ppt/notesMasters/notesMaster1.xml" Id="R63c93d2a2ad84629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1b078b26cf9e4b60" /><Relationship Type="http://schemas.openxmlformats.org/officeDocument/2006/relationships/notesMaster" Target="/ppt/notesMasters/notesMaster1.xml" Id="R399f2e3a51bd444b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43b503109b8249f7" /><Relationship Type="http://schemas.openxmlformats.org/officeDocument/2006/relationships/notesMaster" Target="/ppt/notesMasters/notesMaster1.xml" Id="R1dbede45eb254a81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9482c25a90264fdb" /><Relationship Type="http://schemas.openxmlformats.org/officeDocument/2006/relationships/notesMaster" Target="/ppt/notesMasters/notesMaster1.xml" Id="Rf736224bd9de49e7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99c36a933c604b4d" /><Relationship Type="http://schemas.openxmlformats.org/officeDocument/2006/relationships/notesMaster" Target="/ppt/notesMasters/notesMaster1.xml" Id="R07ed7816f66b4efa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7c874222ad2f45aa" /><Relationship Type="http://schemas.openxmlformats.org/officeDocument/2006/relationships/notesMaster" Target="/ppt/notesMasters/notesMaster1.xml" Id="Rf7ab4d1a913c47b6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fd2242efa43b4a92" /><Relationship Type="http://schemas.openxmlformats.org/officeDocument/2006/relationships/notesMaster" Target="/ppt/notesMasters/notesMaster1.xml" Id="Re8c836a7ae8f4149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40469bf2add440da" /><Relationship Type="http://schemas.openxmlformats.org/officeDocument/2006/relationships/notesMaster" Target="/ppt/notesMasters/notesMaster1.xml" Id="R5b3a71f7e79d4484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34738f1d41d24e89" /><Relationship Type="http://schemas.openxmlformats.org/officeDocument/2006/relationships/notesMaster" Target="/ppt/notesMasters/notesMaster1.xml" Id="R18dea65547364d71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c0a7f0f5560f4492" /><Relationship Type="http://schemas.openxmlformats.org/officeDocument/2006/relationships/notesMaster" Target="/ppt/notesMasters/notesMaster1.xml" Id="R985e5cd54c8d4a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開場先說明：今天的重點不是把所有按鈕看過一遍，而是每位參與者都完成可帶回課堂的成果。邀請大家先選定一門課程，以及一個真實的教學／研究痛點與問題。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提醒：本簡報已全面採用現行名稱「Gemini Notebook」。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說明下午不是程式設計課，而是任務設計、權限判斷與成果驗證課。沒有 Google 訂閱的參與者可在 Codex 完成主要任務，Antigravity 採同組共作。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提醒每一段都沿用上午作品與同一個教學／研究痛點與問題。參與者不需要重新發想題目。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這是一個真實的網站 DNS 遷移痛點：公告頁裡累積大量會計室 PDF，原本的下載連結仍指向 www.smes.tyc.edu.tw；當 DNS 與站台調整後，逐一打開、改網址、下載與確認，會變成重複又毫無效率的工作。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這一頁先不急著講工具，而是先讓大家看見「值得被自動化」的痛點：高頻、規則明確、數量很大，而且每一個檔案都需要留下結果。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https://web.smes.tyc.edu.tw/modules/tadnews/index.php?nsn=3187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我把需求交給 Agent：讀取 https://web.smes.tyc.edu.tw/modules/tadnews/index.php?nsn=3187，找出頁面中的全部 PDF；因為 DNS 遷移，下載連結前綴要把 www.smes.tyc.edu.tw 改成 web.smes.tyc.edu.tw。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舊格式的連結會依 files_sn 改寫成 /uploads/tadnews/tmp/{files_sn}/檔名.pdf；例如 files_sn=2544 的檔案，就改成 web.smes.tyc.edu.tw/uploads/tadnews/tmp/2544/檔名.pdf。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提示詞不能只說「幫我下載」，還要交代來源、轉換規則、保存資料夾與驗收條件：總數、成功數、有效 PDF、失敗數、總大小，以及是否留下 .part 殘檔。截圖中的結果面板就是 Agent 回報的可檢查證據。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https://web.smes.tyc.edu.tw/modules/tadnews/index.php?nsn=3187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這是同一個任務的最終交付畫面：147 個 PDF 已批次下載到本地資料夾，檔案數量與結果面板一致，後續可以再逐檔檢查、保存，並上傳到新校網公告。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這個案例的重點不是「AI 幫忙點了 147 次」，而是 Agent 把規則、執行、統計與驗收串成一個可重跑、可檢查的流程。最後發布到新校網前，仍由人確認公告內容、檔案授權與正式上傳範圍。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https://www.smes.tyc.edu.tw/modules/school/index.php?department_id=6&amp;zone_id=0&amp;page_id=46&amp;content_id=119&amp;type=news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用一個例子說明：『告訴我如何改網站』是對話；『依我的規則產出設計建議』是助理；『讀取專案、修改、測試、交付』才是 Agent 任務。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要求參與者之後每次都問：Agent 的完成證據在哪裡？若只有一段漂亮說明，工作還沒有完成。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為什麼 Agent 會在 2026 年初開始紅起來？OpenClaw（小龍蝦）是一個很適合拿來說明轉折的案例：大家原本把 AI 想成聊天機器人，但 OpenClaw 讓人更直觀地看到，模型可以透過 Gateway 連接模型、工具、訊息渠道與裝置，從回答問題進一步變成執行任務。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OpenClaw 官方文件與原始碼說明，它可以使用主機上的工具，也能透過 companion apps／nodes 執行裝置端行動；官方 CLI 有 agent exec，MCP 也能把外部工具納入執行面。這就是「長了手腳」的比喻：模型不只輸出文字，還能讀取環境、呼叫軟體、執行命令、操作瀏覽器或串接其他工具。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這頁的「爆紅」是社群現象與教學脈絡，不宣稱 OpenClaw 單獨造成三大公司的路線轉向；比較精準的說法是，OpenClaw 讓一條產業共同注意的道路變得可見：模型強度已經足以開始調用工具、串接 MCP／CLI，並把人類交代的事情推進成閉環任務。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最後提醒：本地端工具權限越大，風險也越高。使用 Agent 前要限定工作區、權限、可用工具與停止條件，這正好銜接後面的 Harness 與 Human-in-the-loop。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https://openclaw.ai/</a:t>
            </a:r>
          </a:p>
          <a:p xmlns:a="http://schemas.openxmlformats.org/drawingml/2006/main">
            <a:r>
              <a:t>- https://github.com/openclaw/openclaw</a:t>
            </a:r>
          </a:p>
          <a:p xmlns:a="http://schemas.openxmlformats.org/drawingml/2006/main">
            <a:r>
              <a:t>- https://docs.openclaw.ai/cli/agent</a:t>
            </a:r>
          </a:p>
          <a:p xmlns:a="http://schemas.openxmlformats.org/drawingml/2006/main">
            <a:r>
              <a:t>- https://github.com/openclaw/openclaw/blob/main/docs/cli/mcp.md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先把 Agent 想成一個可以自己跑的工作閉環：給定指令後，它能理解目標、規劃步驟、使用工具、驗證結果，最後交付成品，甚至長時間不中斷地工作。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Human-in-the-loop 的意思不是人類把每一步都代做，而是人仍然在 loop 裡設定目標、授權範圍、監控方向，並在關鍵節點做決策。人要看 Agent 有沒有做錯、做歪，是否偏離真正目的。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全自動通常更快，但難以保證每一個中間決策都正確；加入人類介入可能慢一點，卻能換取更高的可信度、可追查性與責任清楚。請大家把「何時必須停下來問人？」寫進自己的任務簡報。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阿凱老師的『人生交往學』選型心法（下午場核心概論）：</a:t>
            </a:r>
          </a:p>
          <a:p xmlns:a="http://schemas.openxmlformats.org/drawingml/2006/main">
            <a:r>
              <a:t>1. Gemini 3.7 Flash 是 Google 目前面向複雜 coding 與 Agent 工作流的工作馬，適合放進 Antigravity 長鏈執行。講者個人使用體感是：相較其他家 Agent，執行速度快 20 倍以上，很像熱血年輕人；這是個人工作流觀察，不是官方 benchmark，也不代表所有任務固定如此。</a:t>
            </a:r>
          </a:p>
          <a:p xmlns:a="http://schemas.openxmlformats.org/drawingml/2006/main">
            <a:r>
              <a:t>2. Claude 就像成熟穩重的伴侶進入婚姻生活，極度沉穩可靠；仍要依現場模型、額度與方案確認實際可用性。</a:t>
            </a:r>
          </a:p>
          <a:p xmlns:a="http://schemas.openxmlformats.org/drawingml/2006/main">
            <a:r>
              <a:t>3. Codex 介於不同工作風格之間，適合語音協作、檔案操作與頻繁試錯。</a:t>
            </a:r>
          </a:p>
          <a:p xmlns:a="http://schemas.openxmlformats.org/drawingml/2006/main">
            <a:r>
              <a:t>選 Agent 不是看名氣，而是依當下的任務緊急度、複雜度、權限與驗收證據挑選合適的夥伴。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https://www.anthropic.com/news/claude-sonnet-5</a:t>
            </a:r>
          </a:p>
          <a:p xmlns:a="http://schemas.openxmlformats.org/drawingml/2006/main">
            <a:r>
              <a:t>- https://www.anthropic.com/news/claude-opus-4-8</a:t>
            </a:r>
          </a:p>
          <a:p xmlns:a="http://schemas.openxmlformats.org/drawingml/2006/main">
            <a:r>
              <a:t>- https://www.anthropic.com/news/claude-fable-5-mythos-5</a:t>
            </a:r>
          </a:p>
          <a:p xmlns:a="http://schemas.openxmlformats.org/drawingml/2006/main">
            <a:r>
              <a:t>- https://openai.com/index/gpt-5-6/</a:t>
            </a:r>
          </a:p>
          <a:p xmlns:a="http://schemas.openxmlformats.org/drawingml/2006/main">
            <a:r>
              <a:t>- https://developers.openai.com/api/docs/models/gpt-5.6-luna</a:t>
            </a:r>
          </a:p>
          <a:p xmlns:a="http://schemas.openxmlformats.org/drawingml/2006/main">
            <a:r>
              <a:t>- https://ai.google.dev/gemini-api/docs/models/gemini-3.7-flash</a:t>
            </a:r>
          </a:p>
          <a:p xmlns:a="http://schemas.openxmlformats.org/drawingml/2006/main">
            <a:r>
              <a:t>- https://blog.google/innovation-and-ai/models-and-research/gemini-models/introducing-gemini-3-7-flash/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請每組建立一個專案資料夾，放入上午成果、需求說明與素材。Agent 需要可讀的工作區，不要只靠聊天記憶。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這三個案例分別支援學生資料、PIRLS 評量與 Agent Skills 的實作討論。先判斷輸入資料、規則與驗收，再決定交給哪個 Agent。本次資料依據案例公開版本與測試結果稽核。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https://cagoooo.github.io/Akai/tool/73/</a:t>
            </a:r>
          </a:p>
          <a:p xmlns:a="http://schemas.openxmlformats.org/drawingml/2006/main">
            <a:r>
              <a:t>- https://cagoooo.github.io/filter/</a:t>
            </a:r>
          </a:p>
          <a:p xmlns:a="http://schemas.openxmlformats.org/drawingml/2006/main">
            <a:r>
              <a:t>- https://cagoooo.github.io/Akai/tool/87/</a:t>
            </a:r>
          </a:p>
          <a:p xmlns:a="http://schemas.openxmlformats.org/drawingml/2006/main">
            <a:r>
              <a:t>- https://cagoooo.github.io/pirls-questioncraft/</a:t>
            </a:r>
          </a:p>
          <a:p xmlns:a="http://schemas.openxmlformats.org/drawingml/2006/main">
            <a:r>
              <a:t>- https://cagoooo.github.io/Akai/tool/103/</a:t>
            </a:r>
          </a:p>
          <a:p xmlns:a="http://schemas.openxmlformats.org/drawingml/2006/main">
            <a:r>
              <a:t>- https://cagoooo.github.io/PlayRight/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三個案例分別對應研究資料、無障礙檢核與規準式 AI 審查。請參與者比較：哪些步驟能交給 Agent，哪些判斷必須保留人工責任。本次資料依據案例公開版本與測試結果稽核。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https://cagoooo.github.io/Akai/tool/105/</a:t>
            </a:r>
          </a:p>
          <a:p xmlns:a="http://schemas.openxmlformats.org/drawingml/2006/main">
            <a:r>
              <a:t>- https://cagoooo.github.io/taic-edu/</a:t>
            </a:r>
          </a:p>
          <a:p xmlns:a="http://schemas.openxmlformats.org/drawingml/2006/main">
            <a:r>
              <a:t>- https://cagoooo.github.io/Akai/tool/123/</a:t>
            </a:r>
          </a:p>
          <a:p xmlns:a="http://schemas.openxmlformats.org/drawingml/2006/main">
            <a:r>
              <a:t>- https://cagoooo.github.io/smes-web-migration/</a:t>
            </a:r>
          </a:p>
          <a:p xmlns:a="http://schemas.openxmlformats.org/drawingml/2006/main">
            <a:r>
              <a:t>- https://cagoooo.github.io/Akai/tool/88/</a:t>
            </a:r>
          </a:p>
          <a:p xmlns:a="http://schemas.openxmlformats.org/drawingml/2006/main">
            <a:r>
              <a:t>- https://cagoooo.github.io/JHScurriculum/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把網頁做出來只是開始。當工具要保存表單、多人同步、管理登入或累積研究紀錄，就需要把『資料放哪裡、誰能讀寫、如何驗證』說清楚。這一段先建立前端、Agent 與後端的共同語言，再進入三條常見的資料路線。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https://developers.google.com/apps-script</a:t>
            </a:r>
          </a:p>
          <a:p xmlns:a="http://schemas.openxmlformats.org/drawingml/2006/main">
            <a:r>
              <a:t>- https://firebase.google.com/docs</a:t>
            </a:r>
          </a:p>
          <a:p xmlns:a="http://schemas.openxmlformats.org/drawingml/2006/main">
            <a:r>
              <a:t>- https://supabase.com/docs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Google Apps Script 是雲端 JavaScript 平台，可以整合與自動化 Google 產品；Google 官方也把按鈕、使用者行動與時間排程列為常見自動化入口。工作坊可先用 Sheets 當資料後臺，再用 Apps Script 處理表單、通知、排程與 Web App 介面。公開案例中，#90『繪本→Google表單一條龍工作坊』與 #106『石門國小第103屆畢業典禮』可作為 GAS 路線的觀察入口。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https://developers.google.com/apps-script</a:t>
            </a:r>
          </a:p>
          <a:p xmlns:a="http://schemas.openxmlformats.org/drawingml/2006/main">
            <a:r>
              <a:t>- https://cagoooo.github.io/Akai/tool/90/</a:t>
            </a:r>
          </a:p>
          <a:p xmlns:a="http://schemas.openxmlformats.org/drawingml/2006/main">
            <a:r>
              <a:t>- https://cagoooo.github.io/storytell/</a:t>
            </a:r>
          </a:p>
          <a:p xmlns:a="http://schemas.openxmlformats.org/drawingml/2006/main">
            <a:r>
              <a:t>- https://cagoooo.github.io/Akai/tool/106/</a:t>
            </a:r>
          </a:p>
          <a:p xmlns:a="http://schemas.openxmlformats.org/drawingml/2006/main">
            <a:r>
              <a:t>- https://cagoooo.github.io/smes-graduation-103/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CLASP Skill 的教學重點不是背指令，而是把 GAS 的建立、更新、部署與驗收變成可重複的工作流：先說清資料欄位與權限，再讓 Agent 產出程式，最後留下測試結果與可重跑的 Skill。這樣下次換一個表單或班級，不必從零開始。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https://developers.google.com/apps-script</a:t>
            </a:r>
          </a:p>
          <a:p xmlns:a="http://schemas.openxmlformats.org/drawingml/2006/main">
            <a:r>
              <a:t>- https://github.com/mathruffian-dot/opencode-lazy-packs/tree/main/skills/05-sheets-gas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Firebase 可把資料同步、使用者身分、伺服器端邏輯與部署放進同一套 Google 生態系。公開案例中，#48、#93、#109 都可作為 Firebase 應用的入口；教學時要把『資料表結構、權限規則、錯誤回報』一起看，而不是只看畫面是否能動。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https://firebase.google.com/docs</a:t>
            </a:r>
          </a:p>
          <a:p xmlns:a="http://schemas.openxmlformats.org/drawingml/2006/main">
            <a:r>
              <a:t>- https://cagoooo.github.io/Akai/tool/48/</a:t>
            </a:r>
          </a:p>
          <a:p xmlns:a="http://schemas.openxmlformats.org/drawingml/2006/main">
            <a:r>
              <a:t>- https://cagoooo.github.io/form/</a:t>
            </a:r>
          </a:p>
          <a:p xmlns:a="http://schemas.openxmlformats.org/drawingml/2006/main">
            <a:r>
              <a:t>- https://cagoooo.github.io/Akai/tool/93/</a:t>
            </a:r>
          </a:p>
          <a:p xmlns:a="http://schemas.openxmlformats.org/drawingml/2006/main">
            <a:r>
              <a:t>- https://cagoooo.github.io/Little-Mayer/</a:t>
            </a:r>
          </a:p>
          <a:p xmlns:a="http://schemas.openxmlformats.org/drawingml/2006/main">
            <a:r>
              <a:t>- https://cagoooo.github.io/Akai/tool/109/</a:t>
            </a:r>
          </a:p>
          <a:p xmlns:a="http://schemas.openxmlformats.org/drawingml/2006/main">
            <a:r>
              <a:t>- https://cagoooo.github.io/smes-soft-survey/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Supabase 可以作為另一條後端選擇：以 Postgres 為核心，搭配 Auth、Storage、API 與 Realtime。這裡刻意標示資料界線：目前公開的 123 個案例資料沒有找到明確標示 Supabase 的阿凱工具卡片，因此不捏造案例；先讓參與者認識官方路線，之後若確認到具體工具，再補上對應卡片。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https://supabase.com/</a:t>
            </a:r>
          </a:p>
          <a:p xmlns:a="http://schemas.openxmlformats.org/drawingml/2006/main">
            <a:r>
              <a:t>- https://supabase.com/docs</a:t>
            </a:r>
          </a:p>
          <a:p xmlns:a="http://schemas.openxmlformats.org/drawingml/2006/main">
            <a:r>
              <a:t>- https://cagoooo.github.io/Akai/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選後端不是選流行品牌，而是先問四件事：資料是否需要關聯查詢？是否需要多人即時同步？誰負責登入與權限？未來由誰維護與驗收？GAS 適合 Google 原生與快速自動化；Firebase 適合即時同步、登入與託管；Supabase 適合 Postgres 與 SQL 型資料設計。三者都要搭配 Human-in-the-loop 與最小權限。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https://developers.google.com/apps-script</a:t>
            </a:r>
          </a:p>
          <a:p xmlns:a="http://schemas.openxmlformats.org/drawingml/2006/main">
            <a:r>
              <a:t>- https://firebase.google.com/docs</a:t>
            </a:r>
          </a:p>
          <a:p xmlns:a="http://schemas.openxmlformats.org/drawingml/2006/main">
            <a:r>
              <a:t>- https://supabase.com/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章節轉場。Antigravity 實作以同組共作為主，實際可用功能依現場帳號方案與管理政策為準。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https://codelabs.developers.google.com/getting-started-with-antigravity-skills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Google Codelab 將 Antigravity 描述為可啟動、監看與協調 AI agents 活動的中央指揮中心。教學上最重要的是任務與驗收，而不是介面按鈕。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https://codelabs.developers.google.com/getting-started-with-antigravity-skills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Gemini 3.7 Flash 是本次 Antigravity 區段要特別認識的新模型。Google 官方將它定位為面向 coding 與 Agent 工作的 workhorse；官方文件也列出它適合複雜 coding、agentic workflows 與可靠的多步驟執行。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這裡的「可以工作、可以 harness」不是把所有責任交給模型，而是把模型放進一個清楚的 Agent Harness：目標要明確、素材與工具要限定、權限要分級、完成條件要可驗收，還要寫出什麼情況必須停止並請人決定。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因此可以鼓勵大家把 Gemini 3.7 Flash 當成一匹值得期待的工作馬，但不要把「更能長時間完成任務」誤解成「每次都不需要人檢查」。可信任的交付仍然來自模型能力、Harness 設計與 Human-in-the-loop 三者一起工作。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https://ai.google.dev/gemini-api/docs/models/gemini-3.7-flash</a:t>
            </a:r>
          </a:p>
          <a:p xmlns:a="http://schemas.openxmlformats.org/drawingml/2006/main">
            <a:r>
              <a:t>- https://ai.google.dev/gemini-api/docs/latest-model</a:t>
            </a:r>
          </a:p>
          <a:p xmlns:a="http://schemas.openxmlformats.org/drawingml/2006/main">
            <a:r>
              <a:t>- https://blog.google/innovation-and-ai/models-and-research/gemini-models/introducing-gemini-3-7-flash/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示範先請 Agent 閱讀並摘要專案，不立即修改。讓參與者建立『先觀察，再授權』的操作節奏。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請每組照四句話改成自己的任務。若任務無法在 20 分鐘內驗收，先縮小範圍。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示範任務可選：修正 RWD、加入一個形成性回饋、改善無障礙標籤。刻意要求 Agent 不要發布，讓權限邊界可見。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請參與者對示範結果追問：『你實際跑了什麼？』『哪一項沒有驗證？』培養證據導向，而不是相信完成宣告。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每組只做一項改善。若工具不可用，觀察員可用任務簡報與驗收規準進行紙上模擬，之後在 Codex 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 Gemini Spark 想成會按時上工的 Agent：任務不只在當下對話中完成，也可以依排程或監控條件在背景啟動。影片示範了用 Gemini Notebook 作為知識來源，再搭配 Skill 讓工作遵循固定規則。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官方說明將這類功能拆成任務、排程與 Skill；可用自然語言建立，也可在任務中用「/」選取既有 Skill。排程的實際可用性依帳號、方案、地區與 Google 政策而變，不能把功能狀態或完成時間當成所有人都相同。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https://gemini.google.com/app</a:t>
            </a:r>
          </a:p>
          <a:p xmlns:a="http://schemas.openxmlformats.org/drawingml/2006/main">
            <a:r>
              <a:t>- https://support.google.com/gemini/answer/17094710?hl=zh-HK</a:t>
            </a:r>
          </a:p>
          <a:p xmlns:a="http://schemas.openxmlformats.org/drawingml/2006/main">
            <a:r>
              <a:t>- https://youtu.be/kbAgdV__8Mc?si=b9NH1NDr67lf5CZ_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影片的教學路徑很適合轉成現場方法：先用 Gemini Notebook 整理政府公文寫作指南、採購法與單位補充規則，再建立公文寫作 Skill，最後在 Spark 任務中選取 Skill 產生草稿，打開 Google 文件人工修訂。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影片也清楚提醒：AI 產出是第一版，不是直接發布的正式文件。把「Review」保留在流程中，才能讓來源、格式、語氣與單位情境真正對齊。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https://youtu.be/kbAgdV__8Mc?si=b9NH1NDr67lf5CZ_</a:t>
            </a:r>
          </a:p>
          <a:p xmlns:a="http://schemas.openxmlformats.org/drawingml/2006/main">
            <a:r>
              <a:t>- https://support.google.com/gemini/answer/17094710?hl=zh-HK</a:t>
            </a:r>
          </a:p>
          <a:p xmlns:a="http://schemas.openxmlformats.org/drawingml/2006/main">
            <a:r>
              <a:t>- https://notebook.google.com/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用四個問題拆解一個 Spark 工作：要做什麼？什麼時候做？遵循什麼方法？可以使用哪些資料與應用程式？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 官方文件將 Task、Schedule、Skill 分別對應 what、when、how；連結應用程式則是實際執行時的資料與工具邊界。拆開後，任務比較容易重複、檢查與交接。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https://support.google.com/gemini/answer/17094710?hl=zh-HK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請把自己的高頻痛點縮成一個每週任務：例如整理課程新知、彙整研究摘要或產出下週備課提醒。先用公開或合成資料練習，不放入學生個資。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排程建立後，第一次執行要檢查來源、格式、時間與結果。把「哪裡需要人工確認」寫進 Skill 或任務簡報，讓下一次執行不必重新猜測。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https://youtu.be/kbAgdV__8Mc?si=b9NH1NDr67lf5CZ_</a:t>
            </a:r>
          </a:p>
          <a:p xmlns:a="http://schemas.openxmlformats.org/drawingml/2006/main">
            <a:r>
              <a:t>- https://support.google.com/gemini/answer/17094710?hl=zh-HK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這是從影片延伸出的學習歷程：先用一次任務找到痛點，再把成功做法與錯誤案例整理成 Skill，接著交給排程反覆執行，每次都由人回顧並改良。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下載大神或社群公開的 Skill 只是起點；真正有價值的是把它調整成自己的資料、規則、語氣、工作場域與生活節奏。Skill 不是一次安裝就結束，而是會隨著使用與回饋進化的工作資產。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https://youtu.be/kbAgdV__8Mc?si=b9NH1NDr67lf5CZ_</a:t>
            </a:r>
          </a:p>
          <a:p xmlns:a="http://schemas.openxmlformats.org/drawingml/2006/main">
            <a:r>
              <a:t>- https://support.google.com/gemini/answer/17094710?hl=zh-HK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 Antigravity 今日最值得補進工作方式的更新：官方 Remote Control 可讓使用者從任何網頁瀏覽器連線並操作 Antigravity 2.0 的桌面工作階段，查看對話、開始新 Agent 任務、檢視計畫與 artifacts。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官方文件目前標示功能正在逐步開放，Google AI Ultra 方案優先取得；因此現場要先確認自己的帳號是否看得到 Enable Remote Control。主機也要保持開機、未睡眠並連線。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https://antigravity.google/docs/remote-control/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現場示範口訣：啟用、連線、選機、修正。若設定中沒有 Enable Remote Control，不要自行猜測或改設定檔，先確認功能是否已 rollout 到帳號／方案；可改用 Codex 或 Claude 的既有遠端流程完成同一個教學目標。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https://antigravity.google/docs/remote-control/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轉場：下午用同一個任務進入 Codex，比較工作方式與成果證據，而不是比較誰的回答比較像人。桌面版 ChatGPT Voice 可在 Work／Codex 中直接口述、插話與追問進度；模型與方案會變動，本次仍以 GPT-5.6 Luna＋Max 作為講師的成本效益示範取向。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https://help.openai.com/en/articles/20001275-chatgpt-work-and-codex</a:t>
            </a:r>
          </a:p>
          <a:p xmlns:a="http://schemas.openxmlformats.org/drawingml/2006/main">
            <a:r>
              <a:t>- https://learn.chatgpt.com/docs/build-skills</a:t>
            </a:r>
          </a:p>
          <a:p xmlns:a="http://schemas.openxmlformats.org/drawingml/2006/main">
            <a:r>
              <a:t>- https://openai.com/index/gpt-5-6/</a:t>
            </a:r>
          </a:p>
          <a:p xmlns:a="http://schemas.openxmlformats.org/drawingml/2006/main">
            <a:r>
              <a:t>- https://developers.openai.com/api/docs/models/gpt-5.6-luna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示範如何把一個模糊要求改成可驗證任務。強調 Codex 可以處理檔案與專案工作，桌面版也能用 Voice 口述任務；使用者仍需界定範圍、麥克風與工作區權限。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https://help.openai.com/en/articles/20001275-chatgpt-work-and-codex</a:t>
            </a:r>
          </a:p>
          <a:p xmlns:a="http://schemas.openxmlformats.org/drawingml/2006/main">
            <a:r>
              <a:t>- https://learn.chatgpt.com/docs/build-skills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這段可直接複製給 Codex，再把目標換成各組需求。若 Agent 建議超出範圍，先縮小任務，不要一路追加。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六欄不是要寫長文，而是讓 Agent 有足夠上下文完成閉環。請每組把剛才四句任務補成六欄。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若不希望修改原檔，先複製到練習資料夾或明確要求只讀分析。可用 GPT-5.6 Luna 並開啟 Max 強度作為成本效益示範；操作完用一句話回答：哪個工具的工作回報最容易查證？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https://openai.com/index/gpt-5-6/</a:t>
            </a:r>
          </a:p>
          <a:p xmlns:a="http://schemas.openxmlformats.org/drawingml/2006/main">
            <a:r>
              <a:t>- https://developers.openai.com/api/docs/models/gpt-5.6-luna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轉場：提示詞解決這一次；Skill 保存一套可重複、可維護、可驗證的做法。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https://codelabs.developers.google.com/getting-started-with-antigravity-skills</a:t>
            </a:r>
          </a:p>
          <a:p xmlns:a="http://schemas.openxmlformats.org/drawingml/2006/main">
            <a:r>
              <a:t>- https://learn.chatgpt.com/docs/build-skills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用電影與遊戲把抽象概念變具體：Skill 很像《駭客任務》裡可以載入的能力模組，也像寶可夢取得技能卡或道具後學會新招式。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但「安裝」不是結束，也不是保證完全符合需求。可以先從大神、官方團隊或社群公開的 Skill 開始，再和 Agent 持續對話，補上自己的資料、規則、輸出格式、授權邊界與驗收方式。每一輪修正都會讓 Skill 更貼合自己的課程、研究、工作場域與生活習慣。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 Skill 會進化，而且每個人的版本都可以不同：下載的是起點，能否變成自己的工作方法，才是最有趣的地方。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https://agentskills.io/home</a:t>
            </a:r>
          </a:p>
          <a:p xmlns:a="http://schemas.openxmlformats.org/drawingml/2006/main">
            <a:r>
              <a:t>- https://github.com/anthropics/skills</a:t>
            </a:r>
          </a:p>
          <a:p xmlns:a="http://schemas.openxmlformats.org/drawingml/2006/main">
            <a:r>
              <a:t>- https://github.com/mathruffian-dot/opencode-lazy-packs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這是使用者提供的真實提示詞庫：目前畫面顯示 51 筆、9 大分類。現場每組先挑一筆最常用的，不從空白開始。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https://cagoooo.github.io/ncu-ai-agent-workshop-20260826/04_%E5%AF%A6%E4%BD%9C%E5%B7%A5%E5%85%B7/%E6%8F%90%E7%A4%BA%E8%A9%9E%E5%BF%AB%E6%8D%B7%E9%9D%A2%E6%9D%BF_%E7%A0%94%E7%BF%92%E7%94%A8.html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四問有三個『是』就值得做 Skill；只有一個『是』，先留在提示詞面板。避免把每句常用語都包成 Skill。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每組從六例或完整提示詞庫選一個。升級時一定要補上：輸入材料、步驟、禁止事項、驗收條件與需要人工確認的動作。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不是每個 Skill 都要四個資料夾。先從 SKILL.md 開始，只有當內容能降低重複、提高穩定性時才增加 references、scripts 或 assets。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https://codelabs.developers.google.com/getting-started-with-antigravity-skills</a:t>
            </a:r>
          </a:p>
          <a:p xmlns:a="http://schemas.openxmlformats.org/drawingml/2006/main">
            <a:r>
              <a:t>- https://learn.chatgpt.com/docs/build-skills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本工作坊採跨平台相容規格：YAML frontmatter 只放 name 與 description。正文用命令式步驟，並把人工授權邊界寫明。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https://codelabs.developers.google.com/getting-started-with-antigravity-skills</a:t>
            </a:r>
          </a:p>
          <a:p xmlns:a="http://schemas.openxmlformats.org/drawingml/2006/main">
            <a:r>
              <a:t>- https://learn.chatgpt.com/docs/build-skills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比喻成課程平台：首頁只放導航，進入單元才讀教學內容，需要時才下載附件。Skill 不應把整個知識庫一次塞進主文。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https://codelabs.developers.google.com/getting-started-with-antigravity-skills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建議兩人分工：一人當 Skill 作者，一人當陌生使用者。測試者不看原提示詞，只用自然語句提出需求，觀察 Agent 是否正確啟用流程。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把測試結果記成兩欄，不要求輸出一模一樣；要求核心規則、授權邊界與驗收一致。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這一段使用工作坊自製的 PIRLS 風格合成資料，不是真實學生資料，也不是正式 PIRLS 題目。重點是 AI 輔助研究流程、編碼可靠性與資料治理。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https://www.iea.nl/sites/default/files/2025-10/GA66_PIRLS%202026.pdf</a:t>
            </a:r>
          </a:p>
          <a:p xmlns:a="http://schemas.openxmlformats.org/drawingml/2006/main">
            <a:r>
              <a:t>- https://www.iea.nl/sites/default/files/2024-04/Operational-Automatic-Scoring-of-Text-Responses-ePIRLS.pdf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選擇題與簡答題需要不同分析方法。不要讓 AI 先自由閱讀所有回覆再自行發明分類；先建立資料字典、答案鍵與逐題 scoring guide。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https://www.iea.nl/publications/teachers-resources/putting-pirls-use-classrooms-across-globe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要求每一步保留輸入、輸出與狀態。簡答初編的輸出至少包含 student_id、ai_code、evidence_excerpt、rationale、confidence、needs_human_review。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這張不是主張直接把正式評分交給 AI，而是說明國際評量也採『人工主流程＋AI 平行研究』的審慎路徑。工作坊內只做研究性初編與群體分析。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https://www.iea.nl/sites/default/files/2025-10/GA66_PIRLS%202026.pdf</a:t>
            </a:r>
          </a:p>
          <a:p xmlns:a="http://schemas.openxmlformats.org/drawingml/2006/main">
            <a:r>
              <a:t>- https://www.iea.nl/sites/default/files/2024-04/Operational-Automatic-Scoring-of-Text-Responses-ePIRLS.pdf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正式研究可再加入雙評分者、抽樣比例與一致性統計。PIRLS／TIMSS 技術流程重視明確 scoring guides、評分訓練與獨立雙評以記錄 reliability。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https://timssandpirls.bc.edu/timss2019/methods/pdf/TIMSS-2019-MP-Technical-Report.pdf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練習檔位於成果資料夾：PIRLS風格_學生資料_AI分析練習.csv、PIRLS風格_簡答題編碼規準.txt；最後才提供講師用人工參考編碼。禁止一開始把參考答案交給 AI。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請每位教授圈一個 30 天內最想驗證的領域。選擇標準是高頻、耗時、可檢查，不是最炫。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請各組在自己的 Skill 加上一條最重要的安全規則。學生資料 Skill 必須明確要求去識別化、資料最小化、人工複核與用途限制。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可選任務：課程網站上線前總檢、閱讀資料互動導讀、字幕品質檢查、GitHub Pages 部署計畫、PIRLS 風格學生資料分析。今天不要求公開發布。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每組 90 秒展示，回饋者用四項各給一個勾或問號。若是學生資料案例，再加問：資料是否去識別？AI 編碼是否有人工複核？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請每位教授寫下：哪一門課、哪一個任務、成功的量化或質化證據、哪一天回顧。學生資料任務要先用合成或去識別資料驗證。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這一段把 Agent 放回人的感受來談。講者覺得 Agent 讓自己完成很多以前想不到能做到的事，能力變得非常強大，就像擁有超能力一樣；在 Agent 時代，常會產生「沒有你做不到的事，只有你想不到的事」的感覺。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這不是要把 Agent 神化，而是說明能力被放大後，個人可以同時處理研究、教學、設計、程式、部署與驗證等過去需要多人分工的工作。也因此，社會上越來越常談一人公司、一人獨角獸公司；本頁將它當成工作型態的觀察與想像，不把它當作人人都必須追求的目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以前沒有 AI 的時候，我們會覺得做到這裡就好；但有了 AI Agent 之後，我們像發現了新大陸，因為原來這些事自己都能做到，會分泌大量的多巴胺與腦內啡，產生強烈的成就感與興奮感。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也是為什麼講者會感覺一人公司、一人獨角獸公司越來越多：不是每個人真的都要獨自承擔一切，而是工具讓一個人可以召集多種能力、把想法推進成作品。反思點是：新能力帶來的興奮感很珍貴，但不能讓每一個新大陸都變成自己必須開發的疆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很多人會發現，Agent 到來後反而更累、更忙。以前自己完成一件事就結束了；現在有 AI 和 Agent 幫忙，只要 1/10 甚至 1/20 的時間就能做完，效率提升至少 20 倍，省下來的時間卻讓人開始想：還能做哪些優化與改良？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為效率越來越高，人就想做更多，給自己排了更多任務，反而越不得休息。這一頁不是否定效率，而是請教授們辨識「能做」與「值得做」的差異：如果每次省下時間都換成更多工作，生產力就不會自動帶來更好的生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我們好像有點反過來被 Agent 駕馭了——明明說是 harness（駕馭）Agent，結果卻變成它讓我們攬了更多事情在身上。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請把這張當成下午的控制權檢查：Agent 可以長時間不中斷地執行，也可以比我們更快、更完整地處理某些工作；但它不應該替我們決定人生要塞多少任務。每一次委派前都可以多問一句：這件事真的值得被完成嗎？完成之後，我想把時間用在哪裡？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在這個時代，你不用是主管；即使只是基層員工或基層教師，有了 Agent 就好像成為很厲害的主管，可以吩咐它做事、分派任務給它。它做不好時，你甚至可以要求它重做或修正。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最特別的是，AI 常帶來很強的正面情緒價值。使用者會感覺它像一個不會離職、不會抱怨、隨時提供陪伴感與鼓勵的屬下，讓自己覺得能做成好多事。講者原話是「AI 永遠會給你正面的情緒價值」；本頁保留這個體感，同時提醒這不是對所有模型、所有情境的保證，也不能取代真實的人際關係與專業責任。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這份陪伴感可以成為行動的支撐，但最後的價值判斷、倫理責任與關係經營仍要由人承擔。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所以我們需要反思初衷：省下來的這些時間，我們到底該拿來做什麼？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現在我們解放了雙手，只要透過說話或打字指派任務，AI Agent 就能長時間不中斷地把事情做好，甚至做得比我們還好。多出來的時間，我們是不是應該好好拿來做人生中真正重要的事？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可以是：</a:t>
            </a:r>
          </a:p>
          <a:p xmlns:a="http://schemas.openxmlformats.org/drawingml/2006/main">
            <a:r>
              <a:t>• 培養自己的興趣與未來志向，探索以前在工作或教學中沒時間嘗試的路。</a:t>
            </a:r>
          </a:p>
          <a:p xmlns:a="http://schemas.openxmlformats.org/drawingml/2006/main">
            <a:r>
              <a:t>• 陪伴孩子與家人，建立更好的家庭關係，參與孩子的成長過程。</a:t>
            </a:r>
          </a:p>
          <a:p xmlns:a="http://schemas.openxmlformats.org/drawingml/2006/main">
            <a:r>
              <a:t>• 促進與同儕、同事之間的人際互動，好好聊聊天、深入溝通，找回人生更重要的意義。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未來 AI Agent 一定會越來越強，強到我們只要動動嘴巴，它就能一路執行到最好。但剩下的這些時間，更應該好好規劃在人際關係、家人陪伴，以及個人的職涯發展與興趣上。這就是素養教育的所在：不只會用工具，而是能把工具帶來的自由內化成更好的生活選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請參與者先把資源頁加入書籤，再用手機拍下最後一句。若現場時間不足，部署與 Skill 擴寫可依此清單回家續作。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本頁資源皆為公開網站入口，請依卡片名稱點擊或掃描 QR Code 開啟。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公開資源：研習資源導航</a:t>
            </a:r>
          </a:p>
          <a:p xmlns:a="http://schemas.openxmlformats.org/drawingml/2006/main">
            <a:r>
              <a:t>- 公開資源：開啟 Google Antigravity</a:t>
            </a:r>
          </a:p>
          <a:p xmlns:a="http://schemas.openxmlformats.org/drawingml/2006/main">
            <a:r>
              <a:t>- 公開資源：開啟 Codex</a:t>
            </a:r>
          </a:p>
          <a:p xmlns:a="http://schemas.openxmlformats.org/drawingml/2006/main">
            <a:r>
              <a:t>- 公開資源：開啟 Claude</a:t>
            </a:r>
          </a:p>
          <a:p xmlns:a="http://schemas.openxmlformats.org/drawingml/2006/main">
            <a:r>
              <a:t>- 公開資源：Agent Skills 官方教學</a:t>
            </a:r>
          </a:p>
          <a:p xmlns:a="http://schemas.openxmlformats.org/drawingml/2006/main">
            <a:r>
              <a:t>- 公開資源：Agent Skills 資源庫：三師爸與國際公開 Skills</a:t>
            </a:r>
          </a:p>
          <a:p xmlns:a="http://schemas.openxmlformats.org/drawingml/2006/main">
            <a:r>
              <a:t>- 公開資源：提示詞快捷面板</a:t>
            </a:r>
          </a:p>
          <a:p xmlns:a="http://schemas.openxmlformats.org/drawingml/2006/main">
            <a:r>
              <a:t>- 公開資源：教育科技創新專區</a:t>
            </a:r>
          </a:p>
          <a:p xmlns:a="http://schemas.openxmlformats.org/drawingml/2006/main">
            <a:r>
              <a:t>- 公開資源：PIRLS 2026 評分規劃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1bed0aea5b42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57f1e2ebcb4833" /><Relationship Type="http://schemas.openxmlformats.org/officeDocument/2006/relationships/slideLayout" Target="/ppt/slideLayouts/slideLayout1.xml" Id="Rf3ba46eff52b41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ba46eff52b41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NCU Afternoon">
      <a:dk1>
        <a:srgbClr val="0F1E2E"/>
      </a:dk1>
      <a:lt1>
        <a:srgbClr val="FFFFFF"/>
      </a:lt1>
      <a:dk2>
        <a:srgbClr val="F0F4F8"/>
      </a:dk2>
      <a:lt2>
        <a:srgbClr val="E2EDF8"/>
      </a:lt2>
      <a:accent1>
        <a:srgbClr val="1B64DA"/>
      </a:accent1>
      <a:accent2>
        <a:srgbClr val="FF6B4A"/>
      </a:accent2>
      <a:accent3>
        <a:srgbClr val="0E9F94"/>
      </a:accent3>
      <a:accent4>
        <a:srgbClr val="6366F1"/>
      </a:accent4>
      <a:accent5>
        <a:srgbClr val="F59E0B"/>
      </a:accent5>
      <a:accent6>
        <a:srgbClr val="10B981"/>
      </a:accent6>
      <a:hlink>
        <a:srgbClr val="1B64DA"/>
      </a:hlink>
      <a:folHlink>
        <a:srgbClr val="6366F1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CU Afterno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0e76c1bfb1458c" /><Relationship Type="http://schemas.openxmlformats.org/officeDocument/2006/relationships/image" Target="/ppt/media/image.png" Id="Rec3da7ccf01a459e" /><Relationship Type="http://schemas.openxmlformats.org/officeDocument/2006/relationships/notesSlide" Target="/ppt/notesSlides/notesSlide1.xml" Id="R00978d5d848646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40c266c7b4ea1" /><Relationship Type="http://schemas.openxmlformats.org/officeDocument/2006/relationships/notesSlide" Target="/ppt/notesSlides/notesSlide2.xml" Id="R0218c2131c0846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80e3c9ccf403e" /><Relationship Type="http://schemas.openxmlformats.org/officeDocument/2006/relationships/notesSlide" Target="/ppt/notesSlides/notesSlide3.xml" Id="Rbd55357a4d4a46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f49fb073c0473e" /><Relationship Type="http://schemas.openxmlformats.org/officeDocument/2006/relationships/image" Target="/ppt/media/image2.png" Id="R3caf4dafeb5c402b" /><Relationship Type="http://schemas.openxmlformats.org/officeDocument/2006/relationships/notesSlide" Target="/ppt/notesSlides/notesSlide4.xml" Id="R5d570c7cd4c649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3502f63584189" /><Relationship Type="http://schemas.openxmlformats.org/officeDocument/2006/relationships/image" Target="/ppt/media/image3.png" Id="Rc5290ffeaacc46d3" /><Relationship Type="http://schemas.openxmlformats.org/officeDocument/2006/relationships/notesSlide" Target="/ppt/notesSlides/notesSlide5.xml" Id="Rd0a7a252f5b349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1c406632b4d67" /><Relationship Type="http://schemas.openxmlformats.org/officeDocument/2006/relationships/image" Target="/ppt/media/image4.png" Id="R837a0ece373b4688" /><Relationship Type="http://schemas.openxmlformats.org/officeDocument/2006/relationships/hyperlink" Target="https://www.smes.tyc.edu.tw/modules/school/index.php?department_id=6&amp;zone_id=0&amp;page_id=46&amp;content_id=119&amp;type=news" TargetMode="External" Id="Rbd85008eb74845b1" /><Relationship Type="http://schemas.openxmlformats.org/officeDocument/2006/relationships/notesSlide" Target="/ppt/notesSlides/notesSlide6.xml" Id="R8dcfb07dc5024a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b011783884eb4" /><Relationship Type="http://schemas.openxmlformats.org/officeDocument/2006/relationships/notesSlide" Target="/ppt/notesSlides/notesSlide7.xml" Id="R133a4ef5610044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f195fcf6e4059" /><Relationship Type="http://schemas.openxmlformats.org/officeDocument/2006/relationships/notesSlide" Target="/ppt/notesSlides/notesSlide8.xml" Id="R108a519322854f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05d170d6c457d" /><Relationship Type="http://schemas.openxmlformats.org/officeDocument/2006/relationships/hyperlink" Target="https://openclaw.ai/" TargetMode="External" Id="R11de8e699c7646c8" /><Relationship Type="http://schemas.openxmlformats.org/officeDocument/2006/relationships/hyperlink" Target="https://github.com/openclaw/openclaw" TargetMode="External" Id="Rc741a497939b445e" /><Relationship Type="http://schemas.openxmlformats.org/officeDocument/2006/relationships/image" Target="/ppt/media/image5.png" Id="Rcc8bb3f5869c47dc" /><Relationship Type="http://schemas.openxmlformats.org/officeDocument/2006/relationships/image" Target="/ppt/media/image6.png" Id="Rb494776091c34caf" /><Relationship Type="http://schemas.openxmlformats.org/officeDocument/2006/relationships/notesSlide" Target="/ppt/notesSlides/notesSlide9.xml" Id="Ra67b36f6763949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18be1d02f41db" /><Relationship Type="http://schemas.openxmlformats.org/officeDocument/2006/relationships/notesSlide" Target="/ppt/notesSlides/notesSlide10.xml" Id="Rdef1adfca1114b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c76d533484fe4" /><Relationship Type="http://schemas.openxmlformats.org/officeDocument/2006/relationships/hyperlink" Target="https://antigravity.google/" TargetMode="External" Id="Rae7013fec7274533" /><Relationship Type="http://schemas.openxmlformats.org/officeDocument/2006/relationships/hyperlink" Target="https://chatgpt.com/codex/" TargetMode="External" Id="R584fa776b1ca4fdb" /><Relationship Type="http://schemas.openxmlformats.org/officeDocument/2006/relationships/hyperlink" Target="https://claude.ai/" TargetMode="External" Id="R91db1964814d41e5" /><Relationship Type="http://schemas.openxmlformats.org/officeDocument/2006/relationships/image" Target="/ppt/media/image7.png" Id="R14f86e60b3f844df" /><Relationship Type="http://schemas.openxmlformats.org/officeDocument/2006/relationships/image" Target="/ppt/media/image8.png" Id="Rdbe2f58d39a0408f" /><Relationship Type="http://schemas.openxmlformats.org/officeDocument/2006/relationships/image" Target="/ppt/media/image9.png" Id="R29000dbf215841dd" /><Relationship Type="http://schemas.openxmlformats.org/officeDocument/2006/relationships/notesSlide" Target="/ppt/notesSlides/notesSlide11.xml" Id="R02cd8d2e7f89454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ccccd96924703" /><Relationship Type="http://schemas.openxmlformats.org/officeDocument/2006/relationships/notesSlide" Target="/ppt/notesSlides/notesSlide12.xml" Id="R3bce4b5c0644444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d19010b9640f5" /><Relationship Type="http://schemas.openxmlformats.org/officeDocument/2006/relationships/hyperlink" Target="https://cagoooo.github.io/Akai/tool/73/" TargetMode="External" Id="Rdd8c463ef27444db" /><Relationship Type="http://schemas.openxmlformats.org/officeDocument/2006/relationships/image" Target="/ppt/media/image10.png" Id="R926b6e216f924499" /><Relationship Type="http://schemas.openxmlformats.org/officeDocument/2006/relationships/hyperlink" Target="https://cagoooo.github.io/filter/" TargetMode="External" Id="R2441549214254ab8" /><Relationship Type="http://schemas.openxmlformats.org/officeDocument/2006/relationships/image" Target="/ppt/media/image11.png" Id="R1b0347037d7141e4" /><Relationship Type="http://schemas.openxmlformats.org/officeDocument/2006/relationships/hyperlink" Target="https://cagoooo.github.io/Akai/tool/87/" TargetMode="External" Id="Rcf7035f8225d446c" /><Relationship Type="http://schemas.openxmlformats.org/officeDocument/2006/relationships/image" Target="/ppt/media/image12.png" Id="Rc3466400a5644347" /><Relationship Type="http://schemas.openxmlformats.org/officeDocument/2006/relationships/hyperlink" Target="https://cagoooo.github.io/pirls-questioncraft/" TargetMode="External" Id="R346788ea229048a0" /><Relationship Type="http://schemas.openxmlformats.org/officeDocument/2006/relationships/image" Target="/ppt/media/image13.png" Id="Rfca3795160794608" /><Relationship Type="http://schemas.openxmlformats.org/officeDocument/2006/relationships/hyperlink" Target="https://cagoooo.github.io/Akai/tool/103/" TargetMode="External" Id="R1b8406a8ef604545" /><Relationship Type="http://schemas.openxmlformats.org/officeDocument/2006/relationships/image" Target="/ppt/media/image14.png" Id="R0aa63d3ecac348b1" /><Relationship Type="http://schemas.openxmlformats.org/officeDocument/2006/relationships/hyperlink" Target="https://cagoooo.github.io/PlayRight/" TargetMode="External" Id="Re960b8655b3046bb" /><Relationship Type="http://schemas.openxmlformats.org/officeDocument/2006/relationships/image" Target="/ppt/media/image15.png" Id="Rc1ea7da19ab34268" /><Relationship Type="http://schemas.openxmlformats.org/officeDocument/2006/relationships/notesSlide" Target="/ppt/notesSlides/notesSlide13.xml" Id="Rc77bb6e9fdd446a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70d15b7b643b2" /><Relationship Type="http://schemas.openxmlformats.org/officeDocument/2006/relationships/hyperlink" Target="https://cagoooo.github.io/Akai/tool/105/" TargetMode="External" Id="Rf9a779439d68445f" /><Relationship Type="http://schemas.openxmlformats.org/officeDocument/2006/relationships/image" Target="/ppt/media/image16.png" Id="Rd12985a159934ffd" /><Relationship Type="http://schemas.openxmlformats.org/officeDocument/2006/relationships/hyperlink" Target="https://cagoooo.github.io/taic-edu/" TargetMode="External" Id="R10ffbb9fc44f4436" /><Relationship Type="http://schemas.openxmlformats.org/officeDocument/2006/relationships/image" Target="/ppt/media/image17.png" Id="R4f54664adb204044" /><Relationship Type="http://schemas.openxmlformats.org/officeDocument/2006/relationships/hyperlink" Target="https://cagoooo.github.io/Akai/tool/123/" TargetMode="External" Id="R7ad0d950957c45f8" /><Relationship Type="http://schemas.openxmlformats.org/officeDocument/2006/relationships/image" Target="/ppt/media/image18.png" Id="R3b4821c7d95242cc" /><Relationship Type="http://schemas.openxmlformats.org/officeDocument/2006/relationships/hyperlink" Target="https://cagoooo.github.io/smes-web-migration/" TargetMode="External" Id="R7e066a931ff5444b" /><Relationship Type="http://schemas.openxmlformats.org/officeDocument/2006/relationships/image" Target="/ppt/media/image19.png" Id="Rf08d5582675e4460" /><Relationship Type="http://schemas.openxmlformats.org/officeDocument/2006/relationships/hyperlink" Target="https://cagoooo.github.io/Akai/tool/88/" TargetMode="External" Id="Rab565f3ed00745ba" /><Relationship Type="http://schemas.openxmlformats.org/officeDocument/2006/relationships/image" Target="/ppt/media/image20.png" Id="Rc4f359b78efe48c0" /><Relationship Type="http://schemas.openxmlformats.org/officeDocument/2006/relationships/hyperlink" Target="https://cagoooo.github.io/JHScurriculum/" TargetMode="External" Id="Rff7ffcb36d4b42dc" /><Relationship Type="http://schemas.openxmlformats.org/officeDocument/2006/relationships/image" Target="/ppt/media/image21.png" Id="R9117d4b125c94fe1" /><Relationship Type="http://schemas.openxmlformats.org/officeDocument/2006/relationships/notesSlide" Target="/ppt/notesSlides/notesSlide14.xml" Id="R454916f23c80418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ddad2ae09a491f" /><Relationship Type="http://schemas.openxmlformats.org/officeDocument/2006/relationships/notesSlide" Target="/ppt/notesSlides/notesSlide15.xml" Id="Rac6d62ee9bf846a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98db710f248fa" /><Relationship Type="http://schemas.openxmlformats.org/officeDocument/2006/relationships/hyperlink" Target="https://cagoooo.github.io/Akai/tool/90/" TargetMode="External" Id="Rb68fc11f90d84171" /><Relationship Type="http://schemas.openxmlformats.org/officeDocument/2006/relationships/hyperlink" Target="https://cagoooo.github.io/Akai/tool/106/" TargetMode="External" Id="Ra031b77ec7e34138" /><Relationship Type="http://schemas.openxmlformats.org/officeDocument/2006/relationships/hyperlink" Target="https://github.com/mathruffian-dot/opencode-lazy-packs/tree/main/skills/05-sheets-gas" TargetMode="External" Id="R1d67c5bc8c3646d8" /><Relationship Type="http://schemas.openxmlformats.org/officeDocument/2006/relationships/image" Target="/ppt/media/image22.png" Id="Rbefb1324361749b5" /><Relationship Type="http://schemas.openxmlformats.org/officeDocument/2006/relationships/image" Target="/ppt/media/image23.png" Id="R02b6169da9c74a2b" /><Relationship Type="http://schemas.openxmlformats.org/officeDocument/2006/relationships/image" Target="/ppt/media/image24.png" Id="Rca39ceed018e4504" /><Relationship Type="http://schemas.openxmlformats.org/officeDocument/2006/relationships/notesSlide" Target="/ppt/notesSlides/notesSlide16.xml" Id="Rfe4b7ded86af46e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e89cb97274075" /><Relationship Type="http://schemas.openxmlformats.org/officeDocument/2006/relationships/hyperlink" Target="https://github.com/mathruffian-dot/opencode-lazy-packs/tree/main/skills/05-sheets-gas" TargetMode="External" Id="R596b567d160d4872" /><Relationship Type="http://schemas.openxmlformats.org/officeDocument/2006/relationships/hyperlink" Target="https://developers.google.com/apps-script" TargetMode="External" Id="R2457b9df8d6a40c0" /><Relationship Type="http://schemas.openxmlformats.org/officeDocument/2006/relationships/image" Target="/ppt/media/image25.png" Id="R0d4aca55bf734a77" /><Relationship Type="http://schemas.openxmlformats.org/officeDocument/2006/relationships/image" Target="/ppt/media/image26.png" Id="R6cfa92c39c17465e" /><Relationship Type="http://schemas.openxmlformats.org/officeDocument/2006/relationships/notesSlide" Target="/ppt/notesSlides/notesSlide17.xml" Id="R63850ccca78c4d6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a71bd7bab4e6d" /><Relationship Type="http://schemas.openxmlformats.org/officeDocument/2006/relationships/hyperlink" Target="https://cagoooo.github.io/Akai/tool/48/" TargetMode="External" Id="R3d631d93356349f7" /><Relationship Type="http://schemas.openxmlformats.org/officeDocument/2006/relationships/hyperlink" Target="https://cagoooo.github.io/Akai/tool/93/" TargetMode="External" Id="R3b99a7ecd478486a" /><Relationship Type="http://schemas.openxmlformats.org/officeDocument/2006/relationships/hyperlink" Target="https://cagoooo.github.io/Akai/tool/109/" TargetMode="External" Id="R5b4f89f63f89427d" /><Relationship Type="http://schemas.openxmlformats.org/officeDocument/2006/relationships/image" Target="/ppt/media/image27.png" Id="R901b568287d14ae4" /><Relationship Type="http://schemas.openxmlformats.org/officeDocument/2006/relationships/image" Target="/ppt/media/image28.png" Id="Ree1e93134e754e16" /><Relationship Type="http://schemas.openxmlformats.org/officeDocument/2006/relationships/image" Target="/ppt/media/image29.png" Id="Rca2a4d9347cb4ddc" /><Relationship Type="http://schemas.openxmlformats.org/officeDocument/2006/relationships/notesSlide" Target="/ppt/notesSlides/notesSlide18.xml" Id="R6fbe33e721544cb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aa310a31849e0" /><Relationship Type="http://schemas.openxmlformats.org/officeDocument/2006/relationships/hyperlink" Target="https://supabase.com/" TargetMode="External" Id="Rf7e645b0ed0a48f6" /><Relationship Type="http://schemas.openxmlformats.org/officeDocument/2006/relationships/hyperlink" Target="https://cagoooo.github.io/Akai/" TargetMode="External" Id="Rf2731cd02b124b3b" /><Relationship Type="http://schemas.openxmlformats.org/officeDocument/2006/relationships/image" Target="/ppt/media/image30.png" Id="R14486ceac71049a6" /><Relationship Type="http://schemas.openxmlformats.org/officeDocument/2006/relationships/image" Target="/ppt/media/image31.png" Id="R5efeb64079684a00" /><Relationship Type="http://schemas.openxmlformats.org/officeDocument/2006/relationships/notesSlide" Target="/ppt/notesSlides/notesSlide19.xml" Id="R9784261618544bd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a56b413584263" /><Relationship Type="http://schemas.openxmlformats.org/officeDocument/2006/relationships/hyperlink" Target="https://developers.google.com/apps-script" TargetMode="External" Id="Rc27fe782a48c4279" /><Relationship Type="http://schemas.openxmlformats.org/officeDocument/2006/relationships/hyperlink" Target="https://firebase.google.com/docs" TargetMode="External" Id="R1dcb70d1f7a64f8b" /><Relationship Type="http://schemas.openxmlformats.org/officeDocument/2006/relationships/hyperlink" Target="https://supabase.com/" TargetMode="External" Id="R85a53bf3085844d8" /><Relationship Type="http://schemas.openxmlformats.org/officeDocument/2006/relationships/image" Target="/ppt/media/image32.png" Id="R0bf1d17d4fbd4d2f" /><Relationship Type="http://schemas.openxmlformats.org/officeDocument/2006/relationships/image" Target="/ppt/media/image33.png" Id="R422dac320333404c" /><Relationship Type="http://schemas.openxmlformats.org/officeDocument/2006/relationships/image" Target="/ppt/media/image34.png" Id="R9ca2872f59fb4910" /><Relationship Type="http://schemas.openxmlformats.org/officeDocument/2006/relationships/notesSlide" Target="/ppt/notesSlides/notesSlide20.xml" Id="R51c69049ab22476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c69c5fccb4ab4" /><Relationship Type="http://schemas.openxmlformats.org/officeDocument/2006/relationships/hyperlink" Target="https://antigravity.google/" TargetMode="External" Id="R50d86a18b28b4518" /><Relationship Type="http://schemas.openxmlformats.org/officeDocument/2006/relationships/image" Target="/ppt/media/image35.png" Id="R0c151d17b7e84116" /><Relationship Type="http://schemas.openxmlformats.org/officeDocument/2006/relationships/notesSlide" Target="/ppt/notesSlides/notesSlide21.xml" Id="Re9073e469ca5457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71a46ea554360" /><Relationship Type="http://schemas.openxmlformats.org/officeDocument/2006/relationships/hyperlink" Target="https://antigravity.google/" TargetMode="External" Id="R52619a1378d04cf4" /><Relationship Type="http://schemas.openxmlformats.org/officeDocument/2006/relationships/image" Target="/ppt/media/image36.png" Id="R8edbbe088d85452c" /><Relationship Type="http://schemas.openxmlformats.org/officeDocument/2006/relationships/notesSlide" Target="/ppt/notesSlides/notesSlide22.xml" Id="Rc21d5c3dfe6d473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7d2823e6c4c70" /><Relationship Type="http://schemas.openxmlformats.org/officeDocument/2006/relationships/hyperlink" Target="https://ai.google.dev/gemini-api/docs/models/gemini-3.7-flash" TargetMode="External" Id="R803a570f8afe4ca0" /><Relationship Type="http://schemas.openxmlformats.org/officeDocument/2006/relationships/hyperlink" Target="https://blog.google/innovation-and-ai/models-and-research/gemini-models/introducing-gemini-3-7-flash/" TargetMode="External" Id="R64cbe315b8664307" /><Relationship Type="http://schemas.openxmlformats.org/officeDocument/2006/relationships/image" Target="/ppt/media/image37.png" Id="Rfa448428b8504be0" /><Relationship Type="http://schemas.openxmlformats.org/officeDocument/2006/relationships/image" Target="/ppt/media/image38.png" Id="Rffd33e1e740f4c37" /><Relationship Type="http://schemas.openxmlformats.org/officeDocument/2006/relationships/notesSlide" Target="/ppt/notesSlides/notesSlide23.xml" Id="R4c2178e7905a41b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bc3bf0a6d4f04" /><Relationship Type="http://schemas.openxmlformats.org/officeDocument/2006/relationships/hyperlink" Target="https://antigravity.google/" TargetMode="External" Id="Rce9b8e2863844182" /><Relationship Type="http://schemas.openxmlformats.org/officeDocument/2006/relationships/image" Target="/ppt/media/image39.png" Id="R8df6b857e0ee43c0" /><Relationship Type="http://schemas.openxmlformats.org/officeDocument/2006/relationships/notesSlide" Target="/ppt/notesSlides/notesSlide24.xml" Id="R8ce33b2e041b427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9f835776a45e0" /><Relationship Type="http://schemas.openxmlformats.org/officeDocument/2006/relationships/hyperlink" Target="https://antigravity.google/" TargetMode="External" Id="Rcf24cd677748416a" /><Relationship Type="http://schemas.openxmlformats.org/officeDocument/2006/relationships/image" Target="/ppt/media/image40.png" Id="R95ef18baeaf241c3" /><Relationship Type="http://schemas.openxmlformats.org/officeDocument/2006/relationships/notesSlide" Target="/ppt/notesSlides/notesSlide25.xml" Id="Rf8ce8ba00c4d4f7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5eb7927e04f9e" /><Relationship Type="http://schemas.openxmlformats.org/officeDocument/2006/relationships/hyperlink" Target="https://antigravity.google/" TargetMode="External" Id="R7909d6d0d54840e9" /><Relationship Type="http://schemas.openxmlformats.org/officeDocument/2006/relationships/image" Target="/ppt/media/image41.png" Id="R0bb65ecfd8ae4aab" /><Relationship Type="http://schemas.openxmlformats.org/officeDocument/2006/relationships/notesSlide" Target="/ppt/notesSlides/notesSlide26.xml" Id="Redf44505dbfd451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9f6096dc647d1" /><Relationship Type="http://schemas.openxmlformats.org/officeDocument/2006/relationships/hyperlink" Target="https://antigravity.google/" TargetMode="External" Id="R50b51f598bd44df5" /><Relationship Type="http://schemas.openxmlformats.org/officeDocument/2006/relationships/image" Target="/ppt/media/image42.png" Id="Ra07c365ecef1432a" /><Relationship Type="http://schemas.openxmlformats.org/officeDocument/2006/relationships/notesSlide" Target="/ppt/notesSlides/notesSlide27.xml" Id="Rb3f49368ef574e0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af060cd0c439b" /><Relationship Type="http://schemas.openxmlformats.org/officeDocument/2006/relationships/hyperlink" Target="https://antigravity.google/" TargetMode="External" Id="R4d7294d4fa7c4b4d" /><Relationship Type="http://schemas.openxmlformats.org/officeDocument/2006/relationships/image" Target="/ppt/media/image43.png" Id="R4a14e56076654034" /><Relationship Type="http://schemas.openxmlformats.org/officeDocument/2006/relationships/notesSlide" Target="/ppt/notesSlides/notesSlide28.xml" Id="Rabee5f32a22c4a5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45e29378c4cea" /><Relationship Type="http://schemas.openxmlformats.org/officeDocument/2006/relationships/hyperlink" Target="https://gemini.google.com/app" TargetMode="External" Id="Ra52fe25a72db4e64" /><Relationship Type="http://schemas.openxmlformats.org/officeDocument/2006/relationships/hyperlink" Target="https://support.google.com/gemini/answer/17094710?hl=zh-HK" TargetMode="External" Id="Rc77a0e61bdc342e6" /><Relationship Type="http://schemas.openxmlformats.org/officeDocument/2006/relationships/hyperlink" Target="https://youtu.be/kbAgdV__8Mc?si=b9NH1NDr67lf5CZ_" TargetMode="External" Id="R7160c06b9a754fd2" /><Relationship Type="http://schemas.openxmlformats.org/officeDocument/2006/relationships/image" Target="/ppt/media/image44.png" Id="Rf47a9790aec84b1b" /><Relationship Type="http://schemas.openxmlformats.org/officeDocument/2006/relationships/image" Target="/ppt/media/image45.png" Id="Reb016406a6fb4f30" /><Relationship Type="http://schemas.openxmlformats.org/officeDocument/2006/relationships/image" Target="/ppt/media/image46.png" Id="R2aef58813b8c434e" /><Relationship Type="http://schemas.openxmlformats.org/officeDocument/2006/relationships/notesSlide" Target="/ppt/notesSlides/notesSlide29.xml" Id="R417a41c41ec34ac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b7fedcaf84901" /><Relationship Type="http://schemas.openxmlformats.org/officeDocument/2006/relationships/hyperlink" Target="https://support.google.com/gemini/answer/17094710?hl=zh-HK" TargetMode="External" Id="Rf932b7efeef743e6" /><Relationship Type="http://schemas.openxmlformats.org/officeDocument/2006/relationships/hyperlink" Target="https://youtu.be/kbAgdV__8Mc?si=b9NH1NDr67lf5CZ_" TargetMode="External" Id="R6e71e300fa0548d8" /><Relationship Type="http://schemas.openxmlformats.org/officeDocument/2006/relationships/image" Target="/ppt/media/image47.png" Id="R88e073bfeac44dad" /><Relationship Type="http://schemas.openxmlformats.org/officeDocument/2006/relationships/image" Target="/ppt/media/image48.png" Id="R51a1e55648fc4840" /><Relationship Type="http://schemas.openxmlformats.org/officeDocument/2006/relationships/notesSlide" Target="/ppt/notesSlides/notesSlide30.xml" Id="Re4e274777c964f3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57c027dcd4be8" /><Relationship Type="http://schemas.openxmlformats.org/officeDocument/2006/relationships/hyperlink" Target="https://support.google.com/gemini/answer/17094710?hl=zh-HK" TargetMode="External" Id="R5eb74df6fcf044c6" /><Relationship Type="http://schemas.openxmlformats.org/officeDocument/2006/relationships/image" Target="/ppt/media/image49.png" Id="Rb6699a35203c4498" /><Relationship Type="http://schemas.openxmlformats.org/officeDocument/2006/relationships/notesSlide" Target="/ppt/notesSlides/notesSlide31.xml" Id="R8ee1699280f34ad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3f176f9da4f92" /><Relationship Type="http://schemas.openxmlformats.org/officeDocument/2006/relationships/hyperlink" Target="https://support.google.com/gemini/answer/17094710?hl=zh-HK" TargetMode="External" Id="R1de3c57f96bb49bd" /><Relationship Type="http://schemas.openxmlformats.org/officeDocument/2006/relationships/hyperlink" Target="https://youtu.be/kbAgdV__8Mc?si=b9NH1NDr67lf5CZ_" TargetMode="External" Id="R4cfa20d662344197" /><Relationship Type="http://schemas.openxmlformats.org/officeDocument/2006/relationships/image" Target="/ppt/media/image50.png" Id="Rc5589178380340b3" /><Relationship Type="http://schemas.openxmlformats.org/officeDocument/2006/relationships/notesSlide" Target="/ppt/notesSlides/notesSlide32.xml" Id="Rceab2af95d5945f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919516a0a4a77" /><Relationship Type="http://schemas.openxmlformats.org/officeDocument/2006/relationships/hyperlink" Target="https://support.google.com/gemini/answer/17094710?hl=zh-HK" TargetMode="External" Id="Rb6689dedae734f7c" /><Relationship Type="http://schemas.openxmlformats.org/officeDocument/2006/relationships/hyperlink" Target="https://youtu.be/kbAgdV__8Mc?si=b9NH1NDr67lf5CZ_" TargetMode="External" Id="Rffbad8bf8d7245f7" /><Relationship Type="http://schemas.openxmlformats.org/officeDocument/2006/relationships/image" Target="/ppt/media/image51.png" Id="R66c375ecc87249db" /><Relationship Type="http://schemas.openxmlformats.org/officeDocument/2006/relationships/image" Target="/ppt/media/image52.png" Id="R411ce9c92ebd4721" /><Relationship Type="http://schemas.openxmlformats.org/officeDocument/2006/relationships/notesSlide" Target="/ppt/notesSlides/notesSlide33.xml" Id="Rf35118353f23462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aa3a85f0e4546" /><Relationship Type="http://schemas.openxmlformats.org/officeDocument/2006/relationships/hyperlink" Target="https://antigravity.google/docs/remote-control/" TargetMode="External" Id="R4c6141e962174611" /><Relationship Type="http://schemas.openxmlformats.org/officeDocument/2006/relationships/image" Target="/ppt/media/image53.png" Id="R29433b8ede294c91" /><Relationship Type="http://schemas.openxmlformats.org/officeDocument/2006/relationships/notesSlide" Target="/ppt/notesSlides/notesSlide34.xml" Id="R78ba6c36e44f4fd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a720ea96a4217" /><Relationship Type="http://schemas.openxmlformats.org/officeDocument/2006/relationships/hyperlink" Target="https://antigravity.google/docs/remote-control/" TargetMode="External" Id="Rb83640087b154af8" /><Relationship Type="http://schemas.openxmlformats.org/officeDocument/2006/relationships/image" Target="/ppt/media/image54.png" Id="R81deecd536ed46c1" /><Relationship Type="http://schemas.openxmlformats.org/officeDocument/2006/relationships/notesSlide" Target="/ppt/notesSlides/notesSlide35.xml" Id="Rd7414351bcd0402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8f9f63d164efb" /><Relationship Type="http://schemas.openxmlformats.org/officeDocument/2006/relationships/hyperlink" Target="https://chatgpt.com/codex/" TargetMode="External" Id="Rdde636173ebe495e" /><Relationship Type="http://schemas.openxmlformats.org/officeDocument/2006/relationships/image" Target="/ppt/media/image55.png" Id="R64779778ea214b1f" /><Relationship Type="http://schemas.openxmlformats.org/officeDocument/2006/relationships/notesSlide" Target="/ppt/notesSlides/notesSlide36.xml" Id="Rb93ae2de97cd4d1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74cf23dff4ece" /><Relationship Type="http://schemas.openxmlformats.org/officeDocument/2006/relationships/hyperlink" Target="https://chatgpt.com/codex/" TargetMode="External" Id="R32b83e7660ee447e" /><Relationship Type="http://schemas.openxmlformats.org/officeDocument/2006/relationships/image" Target="/ppt/media/image56.png" Id="R6a0a33cedc734c31" /><Relationship Type="http://schemas.openxmlformats.org/officeDocument/2006/relationships/notesSlide" Target="/ppt/notesSlides/notesSlide37.xml" Id="R02cb6dbe8a75477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b1481670a4eac" /><Relationship Type="http://schemas.openxmlformats.org/officeDocument/2006/relationships/hyperlink" Target="https://chatgpt.com/codex/" TargetMode="External" Id="R7aa09064715649ff" /><Relationship Type="http://schemas.openxmlformats.org/officeDocument/2006/relationships/image" Target="/ppt/media/image57.png" Id="R091760d35570495e" /><Relationship Type="http://schemas.openxmlformats.org/officeDocument/2006/relationships/notesSlide" Target="/ppt/notesSlides/notesSlide38.xml" Id="Rcc27410c59fb49e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96a4bfc724ea5" /><Relationship Type="http://schemas.openxmlformats.org/officeDocument/2006/relationships/hyperlink" Target="https://chatgpt.com/codex/" TargetMode="External" Id="R512a716cd20a4bce" /><Relationship Type="http://schemas.openxmlformats.org/officeDocument/2006/relationships/image" Target="/ppt/media/image58.png" Id="Ra591b6a0a38045eb" /><Relationship Type="http://schemas.openxmlformats.org/officeDocument/2006/relationships/notesSlide" Target="/ppt/notesSlides/notesSlide39.xml" Id="R41c2454147ee406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fe1bccad1443f" /><Relationship Type="http://schemas.openxmlformats.org/officeDocument/2006/relationships/hyperlink" Target="https://chatgpt.com/codex/" TargetMode="External" Id="R00b026db9c4049b4" /><Relationship Type="http://schemas.openxmlformats.org/officeDocument/2006/relationships/image" Target="/ppt/media/image59.png" Id="Rd9221af529104573" /><Relationship Type="http://schemas.openxmlformats.org/officeDocument/2006/relationships/notesSlide" Target="/ppt/notesSlides/notesSlide40.xml" Id="R0a02cdb161d34857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daf5207574d24" /><Relationship Type="http://schemas.openxmlformats.org/officeDocument/2006/relationships/hyperlink" Target="https://codelabs.developers.google.com/getting-started-with-antigravity-skills" TargetMode="External" Id="R17c5063fb5d348c1" /><Relationship Type="http://schemas.openxmlformats.org/officeDocument/2006/relationships/hyperlink" Target="https://learn.chatgpt.com/docs/build-skills" TargetMode="External" Id="R0ef2888ef1524290" /><Relationship Type="http://schemas.openxmlformats.org/officeDocument/2006/relationships/hyperlink" Target="https://cagoooo.github.io/ncu-ai-agent-workshop-20260826/04_%E5%AF%A6%E4%BD%9C%E5%B7%A5%E5%85%B7/07_Agent_Skills%E8%B3%87%E6%BA%90%E5%BA%AB.html" TargetMode="External" Id="R7a4c8c97ee0643ba" /><Relationship Type="http://schemas.openxmlformats.org/officeDocument/2006/relationships/image" Target="/ppt/media/image60.png" Id="Rc88c748c70744928" /><Relationship Type="http://schemas.openxmlformats.org/officeDocument/2006/relationships/image" Target="/ppt/media/image61.png" Id="R653a7ed3df9e4cfa" /><Relationship Type="http://schemas.openxmlformats.org/officeDocument/2006/relationships/image" Target="/ppt/media/image62.png" Id="R5d8b968a775f4d4d" /><Relationship Type="http://schemas.openxmlformats.org/officeDocument/2006/relationships/notesSlide" Target="/ppt/notesSlides/notesSlide41.xml" Id="R2046107a1bd94ee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f27c83fd743df" /><Relationship Type="http://schemas.openxmlformats.org/officeDocument/2006/relationships/hyperlink" Target="https://codelabs.developers.google.com/getting-started-with-antigravity-skills" TargetMode="External" Id="Rea6359dce0eb4fe0" /><Relationship Type="http://schemas.openxmlformats.org/officeDocument/2006/relationships/hyperlink" Target="https://learn.chatgpt.com/docs/build-skills" TargetMode="External" Id="Rf0b57b7a2c1b4d79" /><Relationship Type="http://schemas.openxmlformats.org/officeDocument/2006/relationships/hyperlink" Target="https://cagoooo.github.io/ncu-ai-agent-workshop-20260826/04_%E5%AF%A6%E4%BD%9C%E5%B7%A5%E5%85%B7/07_Agent_Skills%E8%B3%87%E6%BA%90%E5%BA%AB.html" TargetMode="External" Id="R4bd92c99e825416c" /><Relationship Type="http://schemas.openxmlformats.org/officeDocument/2006/relationships/image" Target="/ppt/media/image63.png" Id="R62eb216316344865" /><Relationship Type="http://schemas.openxmlformats.org/officeDocument/2006/relationships/image" Target="/ppt/media/image64.png" Id="R5cdc930f10ba48d3" /><Relationship Type="http://schemas.openxmlformats.org/officeDocument/2006/relationships/image" Target="/ppt/media/image65.png" Id="Ra37cce507cc7494e" /><Relationship Type="http://schemas.openxmlformats.org/officeDocument/2006/relationships/notesSlide" Target="/ppt/notesSlides/notesSlide42.xml" Id="R85ce98c0383043e8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ce7689a5e489f" /><Relationship Type="http://schemas.openxmlformats.org/officeDocument/2006/relationships/image" Target="/ppt/media/image66.png" Id="R194eaf5b461c4fa1" /><Relationship Type="http://schemas.openxmlformats.org/officeDocument/2006/relationships/hyperlink" Target="https://cagoooo.github.io/ncu-ai-agent-workshop-20260826/04_%E5%AF%A6%E4%BD%9C%E5%B7%A5%E5%85%B7/%E6%8F%90%E7%A4%BA%E8%A9%9E%E5%BF%AB%E6%8D%B7%E9%9D%A2%E6%9D%BF_%E7%A0%94%E7%BF%92%E7%94%A8.html" TargetMode="External" Id="Rfe488dd4891d4cdb" /><Relationship Type="http://schemas.openxmlformats.org/officeDocument/2006/relationships/image" Target="/ppt/media/image67.png" Id="R23036279dfa14677" /><Relationship Type="http://schemas.openxmlformats.org/officeDocument/2006/relationships/notesSlide" Target="/ppt/notesSlides/notesSlide43.xml" Id="R882476d722ef4c34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10fe0212b42d0" /><Relationship Type="http://schemas.openxmlformats.org/officeDocument/2006/relationships/hyperlink" Target="https://codelabs.developers.google.com/getting-started-with-antigravity-skills" TargetMode="External" Id="R9f3e17f755094a86" /><Relationship Type="http://schemas.openxmlformats.org/officeDocument/2006/relationships/hyperlink" Target="https://learn.chatgpt.com/docs/build-skills" TargetMode="External" Id="R8d63baf23bcf4ec7" /><Relationship Type="http://schemas.openxmlformats.org/officeDocument/2006/relationships/hyperlink" Target="https://cagoooo.github.io/ncu-ai-agent-workshop-20260826/04_%E5%AF%A6%E4%BD%9C%E5%B7%A5%E5%85%B7/07_Agent_Skills%E8%B3%87%E6%BA%90%E5%BA%AB.html" TargetMode="External" Id="R7f49cf78f2da4f15" /><Relationship Type="http://schemas.openxmlformats.org/officeDocument/2006/relationships/image" Target="/ppt/media/image68.png" Id="R8b9c518fd63a47eb" /><Relationship Type="http://schemas.openxmlformats.org/officeDocument/2006/relationships/image" Target="/ppt/media/image69.png" Id="R7bfaed2926534493" /><Relationship Type="http://schemas.openxmlformats.org/officeDocument/2006/relationships/image" Target="/ppt/media/image70.png" Id="Rf077460fb0f842f6" /><Relationship Type="http://schemas.openxmlformats.org/officeDocument/2006/relationships/notesSlide" Target="/ppt/notesSlides/notesSlide44.xml" Id="R1d80203f38d04c09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730b27f0d43d1" /><Relationship Type="http://schemas.openxmlformats.org/officeDocument/2006/relationships/hyperlink" Target="https://codelabs.developers.google.com/getting-started-with-antigravity-skills" TargetMode="External" Id="R4c01b04e3c354f3c" /><Relationship Type="http://schemas.openxmlformats.org/officeDocument/2006/relationships/hyperlink" Target="https://learn.chatgpt.com/docs/build-skills" TargetMode="External" Id="Rac57dcd39c07422f" /><Relationship Type="http://schemas.openxmlformats.org/officeDocument/2006/relationships/hyperlink" Target="https://cagoooo.github.io/ncu-ai-agent-workshop-20260826/04_%E5%AF%A6%E4%BD%9C%E5%B7%A5%E5%85%B7/07_Agent_Skills%E8%B3%87%E6%BA%90%E5%BA%AB.html" TargetMode="External" Id="R02dda7a63ca54ec5" /><Relationship Type="http://schemas.openxmlformats.org/officeDocument/2006/relationships/image" Target="/ppt/media/image71.png" Id="R781e94bda6304810" /><Relationship Type="http://schemas.openxmlformats.org/officeDocument/2006/relationships/image" Target="/ppt/media/image72.png" Id="R0e867ed27419427a" /><Relationship Type="http://schemas.openxmlformats.org/officeDocument/2006/relationships/image" Target="/ppt/media/image73.png" Id="R12b63af1268a49d1" /><Relationship Type="http://schemas.openxmlformats.org/officeDocument/2006/relationships/notesSlide" Target="/ppt/notesSlides/notesSlide45.xml" Id="R9c6e2cc21f784f3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400f3e8c684098" /><Relationship Type="http://schemas.openxmlformats.org/officeDocument/2006/relationships/hyperlink" Target="https://codelabs.developers.google.com/getting-started-with-antigravity-skills" TargetMode="External" Id="Rda12b342cf574f37" /><Relationship Type="http://schemas.openxmlformats.org/officeDocument/2006/relationships/hyperlink" Target="https://learn.chatgpt.com/docs/build-skills" TargetMode="External" Id="R1c03c545f3014e26" /><Relationship Type="http://schemas.openxmlformats.org/officeDocument/2006/relationships/hyperlink" Target="https://cagoooo.github.io/ncu-ai-agent-workshop-20260826/04_%E5%AF%A6%E4%BD%9C%E5%B7%A5%E5%85%B7/07_Agent_Skills%E8%B3%87%E6%BA%90%E5%BA%AB.html" TargetMode="External" Id="R2d907b40fbb647a6" /><Relationship Type="http://schemas.openxmlformats.org/officeDocument/2006/relationships/image" Target="/ppt/media/image74.png" Id="R29188a8ed6254489" /><Relationship Type="http://schemas.openxmlformats.org/officeDocument/2006/relationships/image" Target="/ppt/media/image75.png" Id="R57ef6d1609ec4e27" /><Relationship Type="http://schemas.openxmlformats.org/officeDocument/2006/relationships/image" Target="/ppt/media/image76.png" Id="R7af9544d28af4571" /><Relationship Type="http://schemas.openxmlformats.org/officeDocument/2006/relationships/notesSlide" Target="/ppt/notesSlides/notesSlide46.xml" Id="R6715197ac16e4a03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bd55e34684e88" /><Relationship Type="http://schemas.openxmlformats.org/officeDocument/2006/relationships/hyperlink" Target="https://codelabs.developers.google.com/getting-started-with-antigravity-skills" TargetMode="External" Id="Rc9e6df5ed8a7464d" /><Relationship Type="http://schemas.openxmlformats.org/officeDocument/2006/relationships/hyperlink" Target="https://learn.chatgpt.com/docs/build-skills" TargetMode="External" Id="Rc625465c75d44f41" /><Relationship Type="http://schemas.openxmlformats.org/officeDocument/2006/relationships/hyperlink" Target="https://cagoooo.github.io/ncu-ai-agent-workshop-20260826/04_%E5%AF%A6%E4%BD%9C%E5%B7%A5%E5%85%B7/07_Agent_Skills%E8%B3%87%E6%BA%90%E5%BA%AB.html" TargetMode="External" Id="R234f898ccbe34634" /><Relationship Type="http://schemas.openxmlformats.org/officeDocument/2006/relationships/image" Target="/ppt/media/image77.png" Id="R6f40c892f69c45c3" /><Relationship Type="http://schemas.openxmlformats.org/officeDocument/2006/relationships/image" Target="/ppt/media/image78.png" Id="Rd230fe18ca8e47bc" /><Relationship Type="http://schemas.openxmlformats.org/officeDocument/2006/relationships/image" Target="/ppt/media/image79.png" Id="Rac9eb484993c4906" /><Relationship Type="http://schemas.openxmlformats.org/officeDocument/2006/relationships/notesSlide" Target="/ppt/notesSlides/notesSlide47.xml" Id="Re11aa62025844ed4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3ee2785324127" /><Relationship Type="http://schemas.openxmlformats.org/officeDocument/2006/relationships/hyperlink" Target="https://codelabs.developers.google.com/getting-started-with-antigravity-skills" TargetMode="External" Id="Rcb49e7365c2546f8" /><Relationship Type="http://schemas.openxmlformats.org/officeDocument/2006/relationships/hyperlink" Target="https://learn.chatgpt.com/docs/build-skills" TargetMode="External" Id="R246795a1d7344c1b" /><Relationship Type="http://schemas.openxmlformats.org/officeDocument/2006/relationships/hyperlink" Target="https://cagoooo.github.io/ncu-ai-agent-workshop-20260826/04_%E5%AF%A6%E4%BD%9C%E5%B7%A5%E5%85%B7/07_Agent_Skills%E8%B3%87%E6%BA%90%E5%BA%AB.html" TargetMode="External" Id="R250d5f3243fd42bc" /><Relationship Type="http://schemas.openxmlformats.org/officeDocument/2006/relationships/image" Target="/ppt/media/image80.png" Id="R6ab689b022d6407f" /><Relationship Type="http://schemas.openxmlformats.org/officeDocument/2006/relationships/image" Target="/ppt/media/image81.png" Id="R79e3066a84e148c0" /><Relationship Type="http://schemas.openxmlformats.org/officeDocument/2006/relationships/image" Target="/ppt/media/image82.png" Id="Rc9a401101d4c49db" /><Relationship Type="http://schemas.openxmlformats.org/officeDocument/2006/relationships/notesSlide" Target="/ppt/notesSlides/notesSlide48.xml" Id="Rf37971cb104b4f6c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8efdcdf6d4e52" /><Relationship Type="http://schemas.openxmlformats.org/officeDocument/2006/relationships/hyperlink" Target="https://codelabs.developers.google.com/getting-started-with-antigravity-skills" TargetMode="External" Id="R890f871eca0f4848" /><Relationship Type="http://schemas.openxmlformats.org/officeDocument/2006/relationships/hyperlink" Target="https://learn.chatgpt.com/docs/build-skills" TargetMode="External" Id="R2c1c4816983c4509" /><Relationship Type="http://schemas.openxmlformats.org/officeDocument/2006/relationships/hyperlink" Target="https://cagoooo.github.io/ncu-ai-agent-workshop-20260826/04_%E5%AF%A6%E4%BD%9C%E5%B7%A5%E5%85%B7/07_Agent_Skills%E8%B3%87%E6%BA%90%E5%BA%AB.html" TargetMode="External" Id="R099e89fd90d14082" /><Relationship Type="http://schemas.openxmlformats.org/officeDocument/2006/relationships/image" Target="/ppt/media/image83.png" Id="Rb7f72d1940ed4015" /><Relationship Type="http://schemas.openxmlformats.org/officeDocument/2006/relationships/image" Target="/ppt/media/image84.png" Id="R109aee244e014cd5" /><Relationship Type="http://schemas.openxmlformats.org/officeDocument/2006/relationships/image" Target="/ppt/media/image85.png" Id="Rc9cab33836f2497f" /><Relationship Type="http://schemas.openxmlformats.org/officeDocument/2006/relationships/notesSlide" Target="/ppt/notesSlides/notesSlide49.xml" Id="R9fac07817a314501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b154f92024fde" /><Relationship Type="http://schemas.openxmlformats.org/officeDocument/2006/relationships/hyperlink" Target="https://codelabs.developers.google.com/getting-started-with-antigravity-skills" TargetMode="External" Id="R6e3103b61e194dd0" /><Relationship Type="http://schemas.openxmlformats.org/officeDocument/2006/relationships/hyperlink" Target="https://learn.chatgpt.com/docs/build-skills" TargetMode="External" Id="R7cd69db930ad4bb4" /><Relationship Type="http://schemas.openxmlformats.org/officeDocument/2006/relationships/hyperlink" Target="https://cagoooo.github.io/ncu-ai-agent-workshop-20260826/04_%E5%AF%A6%E4%BD%9C%E5%B7%A5%E5%85%B7/07_Agent_Skills%E8%B3%87%E6%BA%90%E5%BA%AB.html" TargetMode="External" Id="R269a1605de89438a" /><Relationship Type="http://schemas.openxmlformats.org/officeDocument/2006/relationships/image" Target="/ppt/media/image86.png" Id="R79e4967fc58b48db" /><Relationship Type="http://schemas.openxmlformats.org/officeDocument/2006/relationships/image" Target="/ppt/media/image87.png" Id="R3ad7f7b7e5864ffe" /><Relationship Type="http://schemas.openxmlformats.org/officeDocument/2006/relationships/image" Target="/ppt/media/image88.png" Id="Rffc28f7334e94fa8" /><Relationship Type="http://schemas.openxmlformats.org/officeDocument/2006/relationships/notesSlide" Target="/ppt/notesSlides/notesSlide50.xml" Id="R3270bef253514975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92f8102db427b" /><Relationship Type="http://schemas.openxmlformats.org/officeDocument/2006/relationships/hyperlink" Target="https://antigravity.google/" TargetMode="External" Id="R2ab125ac45024054" /><Relationship Type="http://schemas.openxmlformats.org/officeDocument/2006/relationships/hyperlink" Target="https://chatgpt.com/codex/" TargetMode="External" Id="Rb014e1a888b546b2" /><Relationship Type="http://schemas.openxmlformats.org/officeDocument/2006/relationships/image" Target="/ppt/media/image89.png" Id="R7505576e691e4226" /><Relationship Type="http://schemas.openxmlformats.org/officeDocument/2006/relationships/image" Target="/ppt/media/image90.png" Id="R7089201a2b444494" /><Relationship Type="http://schemas.openxmlformats.org/officeDocument/2006/relationships/notesSlide" Target="/ppt/notesSlides/notesSlide51.xml" Id="R75cc940d277143bc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0301e8cd34b3a" /><Relationship Type="http://schemas.openxmlformats.org/officeDocument/2006/relationships/hyperlink" Target="https://antigravity.google/" TargetMode="External" Id="Rfe27144886c343d5" /><Relationship Type="http://schemas.openxmlformats.org/officeDocument/2006/relationships/hyperlink" Target="https://chatgpt.com/codex/" TargetMode="External" Id="R28a3f1f496664320" /><Relationship Type="http://schemas.openxmlformats.org/officeDocument/2006/relationships/image" Target="/ppt/media/image91.png" Id="R013339ba3a5c4441" /><Relationship Type="http://schemas.openxmlformats.org/officeDocument/2006/relationships/image" Target="/ppt/media/image92.png" Id="R03e8d35a1fcf414e" /><Relationship Type="http://schemas.openxmlformats.org/officeDocument/2006/relationships/notesSlide" Target="/ppt/notesSlides/notesSlide52.xml" Id="R9ed929b655974762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2d1410803a452c" /><Relationship Type="http://schemas.openxmlformats.org/officeDocument/2006/relationships/hyperlink" Target="https://antigravity.google/" TargetMode="External" Id="R949196592c4a47ac" /><Relationship Type="http://schemas.openxmlformats.org/officeDocument/2006/relationships/hyperlink" Target="https://chatgpt.com/codex/" TargetMode="External" Id="Ra1f2e60a028c4332" /><Relationship Type="http://schemas.openxmlformats.org/officeDocument/2006/relationships/image" Target="/ppt/media/image93.png" Id="R892969b5024646e6" /><Relationship Type="http://schemas.openxmlformats.org/officeDocument/2006/relationships/image" Target="/ppt/media/image94.png" Id="Rbcc8e1191cb1475b" /><Relationship Type="http://schemas.openxmlformats.org/officeDocument/2006/relationships/notesSlide" Target="/ppt/notesSlides/notesSlide53.xml" Id="R0e19264e86dd446d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74c20c3b745a7" /><Relationship Type="http://schemas.openxmlformats.org/officeDocument/2006/relationships/hyperlink" Target="https://antigravity.google/" TargetMode="External" Id="Rcec6ee6d897d4245" /><Relationship Type="http://schemas.openxmlformats.org/officeDocument/2006/relationships/hyperlink" Target="https://chatgpt.com/codex/" TargetMode="External" Id="Rc222b8f342d4493f" /><Relationship Type="http://schemas.openxmlformats.org/officeDocument/2006/relationships/image" Target="/ppt/media/image95.png" Id="R6c4aa78f85e04273" /><Relationship Type="http://schemas.openxmlformats.org/officeDocument/2006/relationships/image" Target="/ppt/media/image96.png" Id="R241adf9a11154c3e" /><Relationship Type="http://schemas.openxmlformats.org/officeDocument/2006/relationships/notesSlide" Target="/ppt/notesSlides/notesSlide54.xml" Id="R0dcf4f54d45b45cd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0c3feb6aa4860" /><Relationship Type="http://schemas.openxmlformats.org/officeDocument/2006/relationships/hyperlink" Target="https://antigravity.google/" TargetMode="External" Id="Ree391e8ead184e87" /><Relationship Type="http://schemas.openxmlformats.org/officeDocument/2006/relationships/hyperlink" Target="https://chatgpt.com/codex/" TargetMode="External" Id="R3ab57e32f6e54a2c" /><Relationship Type="http://schemas.openxmlformats.org/officeDocument/2006/relationships/image" Target="/ppt/media/image97.png" Id="Rd852ffbbf83d4fb7" /><Relationship Type="http://schemas.openxmlformats.org/officeDocument/2006/relationships/image" Target="/ppt/media/image98.png" Id="R50b00a468a6b4452" /><Relationship Type="http://schemas.openxmlformats.org/officeDocument/2006/relationships/notesSlide" Target="/ppt/notesSlides/notesSlide55.xml" Id="R967da3fe737146e4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7347abe8441bd" /><Relationship Type="http://schemas.openxmlformats.org/officeDocument/2006/relationships/hyperlink" Target="https://antigravity.google/" TargetMode="External" Id="R16355f8be34f4afe" /><Relationship Type="http://schemas.openxmlformats.org/officeDocument/2006/relationships/hyperlink" Target="https://chatgpt.com/codex/" TargetMode="External" Id="Rd7715e0c0ca24e84" /><Relationship Type="http://schemas.openxmlformats.org/officeDocument/2006/relationships/image" Target="/ppt/media/image99.png" Id="R0ce1c8ba8cbf4ce9" /><Relationship Type="http://schemas.openxmlformats.org/officeDocument/2006/relationships/image" Target="/ppt/media/image100.png" Id="R1419c1684ae842e6" /><Relationship Type="http://schemas.openxmlformats.org/officeDocument/2006/relationships/notesSlide" Target="/ppt/notesSlides/notesSlide56.xml" Id="R5bc621034bf540c8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67833c71c489c" /><Relationship Type="http://schemas.openxmlformats.org/officeDocument/2006/relationships/hyperlink" Target="https://antigravity.google/" TargetMode="External" Id="R66a8d5a68d7f428f" /><Relationship Type="http://schemas.openxmlformats.org/officeDocument/2006/relationships/hyperlink" Target="https://chatgpt.com/codex/" TargetMode="External" Id="Ree0a997ab9d94d02" /><Relationship Type="http://schemas.openxmlformats.org/officeDocument/2006/relationships/image" Target="/ppt/media/image101.png" Id="R1d45b9a728c84220" /><Relationship Type="http://schemas.openxmlformats.org/officeDocument/2006/relationships/image" Target="/ppt/media/image102.png" Id="Rd35d63e0e92c434a" /><Relationship Type="http://schemas.openxmlformats.org/officeDocument/2006/relationships/notesSlide" Target="/ppt/notesSlides/notesSlide57.xml" Id="R5cf7f65816264817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6353da054446a" /><Relationship Type="http://schemas.openxmlformats.org/officeDocument/2006/relationships/hyperlink" Target="https://antigravity.google/" TargetMode="External" Id="R60cf0267b356454a" /><Relationship Type="http://schemas.openxmlformats.org/officeDocument/2006/relationships/hyperlink" Target="https://chatgpt.com/codex/" TargetMode="External" Id="Ra06f9613dd7c4c44" /><Relationship Type="http://schemas.openxmlformats.org/officeDocument/2006/relationships/image" Target="/ppt/media/image103.png" Id="R2c737adfbbc549e8" /><Relationship Type="http://schemas.openxmlformats.org/officeDocument/2006/relationships/image" Target="/ppt/media/image104.png" Id="R6f6356b933a24908" /><Relationship Type="http://schemas.openxmlformats.org/officeDocument/2006/relationships/notesSlide" Target="/ppt/notesSlides/notesSlide58.xml" Id="Rc6cccd2b7d6c493a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1dffa58eb4519" /><Relationship Type="http://schemas.openxmlformats.org/officeDocument/2006/relationships/hyperlink" Target="https://antigravity.google/" TargetMode="External" Id="R4bab88bfac594822" /><Relationship Type="http://schemas.openxmlformats.org/officeDocument/2006/relationships/hyperlink" Target="https://chatgpt.com/codex/" TargetMode="External" Id="Rd080f72e3099472c" /><Relationship Type="http://schemas.openxmlformats.org/officeDocument/2006/relationships/image" Target="/ppt/media/image105.png" Id="R25f20f6be63d4edf" /><Relationship Type="http://schemas.openxmlformats.org/officeDocument/2006/relationships/image" Target="/ppt/media/image106.png" Id="Rc4e4844077614c48" /><Relationship Type="http://schemas.openxmlformats.org/officeDocument/2006/relationships/notesSlide" Target="/ppt/notesSlides/notesSlide59.xml" Id="Rd4f2ce7aea344bda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e6f67670d4402" /><Relationship Type="http://schemas.openxmlformats.org/officeDocument/2006/relationships/hyperlink" Target="https://antigravity.google/" TargetMode="External" Id="R38cf35faa0414b1c" /><Relationship Type="http://schemas.openxmlformats.org/officeDocument/2006/relationships/hyperlink" Target="https://chatgpt.com/codex/" TargetMode="External" Id="R148048683e0c4045" /><Relationship Type="http://schemas.openxmlformats.org/officeDocument/2006/relationships/image" Target="/ppt/media/image107.png" Id="R9cb4bf27abbf43a9" /><Relationship Type="http://schemas.openxmlformats.org/officeDocument/2006/relationships/image" Target="/ppt/media/image108.png" Id="Rdaa1387fb55546b2" /><Relationship Type="http://schemas.openxmlformats.org/officeDocument/2006/relationships/notesSlide" Target="/ppt/notesSlides/notesSlide60.xml" Id="Rf17b300d240a4873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96ad723d74d66" /><Relationship Type="http://schemas.openxmlformats.org/officeDocument/2006/relationships/hyperlink" Target="https://antigravity.google/" TargetMode="External" Id="R27f4c1ad0de24ae4" /><Relationship Type="http://schemas.openxmlformats.org/officeDocument/2006/relationships/hyperlink" Target="https://chatgpt.com/codex/" TargetMode="External" Id="R08dd751b7fc84123" /><Relationship Type="http://schemas.openxmlformats.org/officeDocument/2006/relationships/image" Target="/ppt/media/image109.png" Id="R9adabc7a679646ae" /><Relationship Type="http://schemas.openxmlformats.org/officeDocument/2006/relationships/image" Target="/ppt/media/image110.png" Id="R546cf67e429f42f6" /><Relationship Type="http://schemas.openxmlformats.org/officeDocument/2006/relationships/notesSlide" Target="/ppt/notesSlides/notesSlide61.xml" Id="Rdf1fd42553584527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ecca1832cb4311" /><Relationship Type="http://schemas.openxmlformats.org/officeDocument/2006/relationships/notesSlide" Target="/ppt/notesSlides/notesSlide62.xml" Id="R5747cdd793a54aa8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71bb9947d40f1" /><Relationship Type="http://schemas.openxmlformats.org/officeDocument/2006/relationships/notesSlide" Target="/ppt/notesSlides/notesSlide63.xml" Id="R944e5d25755d445c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324664af674bcb" /><Relationship Type="http://schemas.openxmlformats.org/officeDocument/2006/relationships/notesSlide" Target="/ppt/notesSlides/notesSlide64.xml" Id="R211f9add4de645da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c583351934135" /><Relationship Type="http://schemas.openxmlformats.org/officeDocument/2006/relationships/notesSlide" Target="/ppt/notesSlides/notesSlide65.xml" Id="Rdb32b8ab3a7c4597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fa46a96ec24f35" /><Relationship Type="http://schemas.openxmlformats.org/officeDocument/2006/relationships/notesSlide" Target="/ppt/notesSlides/notesSlide66.xml" Id="R9f787bc8e8ca4a2c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fe420533144f2" /><Relationship Type="http://schemas.openxmlformats.org/officeDocument/2006/relationships/notesSlide" Target="/ppt/notesSlides/notesSlide67.xml" Id="Rd2d84f20cf9b417d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a4cdad3484632" /><Relationship Type="http://schemas.openxmlformats.org/officeDocument/2006/relationships/hyperlink" Target="https://cagoooo.github.io/ncu-ai-agent-workshop-20260826/START_HERE_%E7%A0%94%E7%BF%92%E8%B3%87%E6%BA%90%E5%B0%8E%E8%88%AA.html" TargetMode="External" Id="R442a8e9a21494daf" /><Relationship Type="http://schemas.openxmlformats.org/officeDocument/2006/relationships/image" Target="/ppt/media/image111.png" Id="R63ffd3c480f5464b" /><Relationship Type="http://schemas.openxmlformats.org/officeDocument/2006/relationships/hyperlink" Target="https://antigravity.google/" TargetMode="External" Id="R4b7130b385df423c" /><Relationship Type="http://schemas.openxmlformats.org/officeDocument/2006/relationships/image" Target="/ppt/media/image112.png" Id="Rb2a02865017047fd" /><Relationship Type="http://schemas.openxmlformats.org/officeDocument/2006/relationships/hyperlink" Target="https://chatgpt.com/codex/" TargetMode="External" Id="R1342625e34dd4c6d" /><Relationship Type="http://schemas.openxmlformats.org/officeDocument/2006/relationships/image" Target="/ppt/media/image113.png" Id="Rc0d0e4482e5244dd" /><Relationship Type="http://schemas.openxmlformats.org/officeDocument/2006/relationships/hyperlink" Target="https://claude.ai/" TargetMode="External" Id="R5100c1a582b34c8f" /><Relationship Type="http://schemas.openxmlformats.org/officeDocument/2006/relationships/image" Target="/ppt/media/image114.png" Id="R5adcd2a531424f1f" /><Relationship Type="http://schemas.openxmlformats.org/officeDocument/2006/relationships/hyperlink" Target="https://codelabs.developers.google.com/getting-started-with-antigravity-skills" TargetMode="External" Id="R4766486cd06c4a0e" /><Relationship Type="http://schemas.openxmlformats.org/officeDocument/2006/relationships/image" Target="/ppt/media/image115.png" Id="R8c772df9c66a44e5" /><Relationship Type="http://schemas.openxmlformats.org/officeDocument/2006/relationships/hyperlink" Target="https://cagoooo.github.io/ncu-ai-agent-workshop-20260826/04_%E5%AF%A6%E4%BD%9C%E5%B7%A5%E5%85%B7/07_Agent_Skills%E8%B3%87%E6%BA%90%E5%BA%AB.html" TargetMode="External" Id="R8adfcf5807074a69" /><Relationship Type="http://schemas.openxmlformats.org/officeDocument/2006/relationships/image" Target="/ppt/media/image116.png" Id="R2b9bb736a7d94cbd" /><Relationship Type="http://schemas.openxmlformats.org/officeDocument/2006/relationships/hyperlink" Target="https://cagoooo.github.io/ncu-ai-agent-workshop-20260826/04_%E5%AF%A6%E4%BD%9C%E5%B7%A5%E5%85%B7/%E6%8F%90%E7%A4%BA%E8%A9%9E%E5%BF%AB%E6%8D%B7%E9%9D%A2%E6%9D%BF_%E7%A0%94%E7%BF%92%E7%94%A8.html" TargetMode="External" Id="Rbb8a9a35f5a74f79" /><Relationship Type="http://schemas.openxmlformats.org/officeDocument/2006/relationships/image" Target="/ppt/media/image117.png" Id="R537e6a7f228a474e" /><Relationship Type="http://schemas.openxmlformats.org/officeDocument/2006/relationships/hyperlink" Target="https://cagoooo.github.io/Akai/" TargetMode="External" Id="R1070c90204e54b28" /><Relationship Type="http://schemas.openxmlformats.org/officeDocument/2006/relationships/image" Target="/ppt/media/image118.png" Id="R7bf93e18a0e94e96" /><Relationship Type="http://schemas.openxmlformats.org/officeDocument/2006/relationships/hyperlink" Target="https://www.iea.nl/sites/default/files/2025-10/GA66_PIRLS%202026.pdf" TargetMode="External" Id="R8cd901c342204466" /><Relationship Type="http://schemas.openxmlformats.org/officeDocument/2006/relationships/image" Target="/ppt/media/image119.png" Id="R9da2817f2b5942d2" /><Relationship Type="http://schemas.openxmlformats.org/officeDocument/2006/relationships/notesSlide" Target="/ppt/notesSlides/notesSlide68.xml" Id="R498b0fc47e0645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3da7ccf01a459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hape-1061">
            <a:extLst xmlns:a="http://schemas.openxmlformats.org/drawingml/2006/main">
              <a:ext uri="{FF2B5EF4-FFF2-40B4-BE49-F238E27FC236}">
                <a16:creationId xmlns:a16="http://schemas.microsoft.com/office/drawing/2014/main" id="{18F5F029-46E9-4902-A915-BF2C29B4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1062">
            <a:extLst xmlns:a="http://schemas.openxmlformats.org/drawingml/2006/main">
              <a:ext uri="{FF2B5EF4-FFF2-40B4-BE49-F238E27FC236}">
                <a16:creationId xmlns:a16="http://schemas.microsoft.com/office/drawing/2014/main" id="{54FFC00C-0617-406D-8155-3C0D5C44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143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國立中央大學｜2026.08.26</a:t>
            </a:r>
          </a:p>
        </p:txBody>
      </p:sp>
      <p:sp>
        <p:nvSpPr>
          <p:cNvPr id="4" name="text-1063">
            <a:extLst xmlns:a="http://schemas.openxmlformats.org/drawingml/2006/main">
              <a:ext uri="{FF2B5EF4-FFF2-40B4-BE49-F238E27FC236}">
                <a16:creationId xmlns:a16="http://schemas.microsoft.com/office/drawing/2014/main" id="{DBE6465A-985D-4BD5-BCB3-56871E4B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000125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下午場｜13:00–16:00</a:t>
            </a:r>
          </a:p>
        </p:txBody>
      </p:sp>
      <p:sp>
        <p:nvSpPr>
          <p:cNvPr id="5" name="text-1064">
            <a:extLst xmlns:a="http://schemas.openxmlformats.org/drawingml/2006/main">
              <a:ext uri="{FF2B5EF4-FFF2-40B4-BE49-F238E27FC236}">
                <a16:creationId xmlns:a16="http://schemas.microsoft.com/office/drawing/2014/main" id="{8C89F204-1CF2-46CA-8ED9-55A64850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04950"/>
            <a:ext cx="46291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打造會做事的 AI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教學與研究夥伴：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Antigravity／Codex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Claude／Agent Skills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資料分析實戰</a:t>
            </a:r>
          </a:p>
        </p:txBody>
      </p:sp>
      <p:sp>
        <p:nvSpPr>
          <p:cNvPr id="6" name="shape-1065">
            <a:extLst xmlns:a="http://schemas.openxmlformats.org/drawingml/2006/main">
              <a:ext uri="{FF2B5EF4-FFF2-40B4-BE49-F238E27FC236}">
                <a16:creationId xmlns:a16="http://schemas.microsoft.com/office/drawing/2014/main" id="{D895B0F3-F0EB-44F6-8058-B5E6D4BF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05300"/>
            <a:ext cx="723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1066">
            <a:extLst xmlns:a="http://schemas.openxmlformats.org/drawingml/2006/main">
              <a:ext uri="{FF2B5EF4-FFF2-40B4-BE49-F238E27FC236}">
                <a16:creationId xmlns:a16="http://schemas.microsoft.com/office/drawing/2014/main" id="{BAB3B10C-5656-407B-BB83-96C8BF64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29150"/>
            <a:ext cx="4629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從 AI 教學與研究助理到 AI Agent：大學教師的生成式 AI 實作工作坊</a:t>
            </a:r>
          </a:p>
        </p:txBody>
      </p:sp>
      <p:sp>
        <p:nvSpPr>
          <p:cNvPr id="8" name="text-1067">
            <a:extLst xmlns:a="http://schemas.openxmlformats.org/drawingml/2006/main">
              <a:ext uri="{FF2B5EF4-FFF2-40B4-BE49-F238E27FC236}">
                <a16:creationId xmlns:a16="http://schemas.microsoft.com/office/drawing/2014/main" id="{74DE8014-1DC3-431D-974F-91880981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88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黃凱揚（阿凱老師）｜桃園市龍潭區石門國小資訊組長｜教學年資第 11 年</a:t>
            </a:r>
          </a:p>
        </p:txBody>
      </p:sp>
    </p:spTree>
    <p:extLst>
      <p:ext uri="{BB962C8B-B14F-4D97-AF65-F5344CB8AC3E}">
        <p14:creationId xmlns:p14="http://schemas.microsoft.com/office/powerpoint/2010/main" val="1022462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1068">
            <a:extLst xmlns:a="http://schemas.openxmlformats.org/drawingml/2006/main">
              <a:ext uri="{FF2B5EF4-FFF2-40B4-BE49-F238E27FC236}">
                <a16:creationId xmlns:a16="http://schemas.microsoft.com/office/drawing/2014/main" id="{AEE069EF-1726-412B-9BE5-49E9F2C1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LEARNING OUTCOMES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A8C067-EF70-4BCF-9D23-AD2C55A3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下午離開前，你會有四項成果</a:t>
            </a:r>
          </a:p>
        </p:txBody>
      </p:sp>
      <p:cxnSp>
        <p:nvCxnSpPr>
          <p:cNvPr id="24" name="shape-1069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070">
            <a:extLst xmlns:a="http://schemas.openxmlformats.org/drawingml/2006/main">
              <a:ext uri="{FF2B5EF4-FFF2-40B4-BE49-F238E27FC236}">
                <a16:creationId xmlns:a16="http://schemas.microsoft.com/office/drawing/2014/main" id="{057DC098-B50F-40C9-A6E2-6948B6F2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9FE57CA-DAA7-481E-8BD8-BEAB761A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6" name="shape-1071">
            <a:extLst xmlns:a="http://schemas.openxmlformats.org/drawingml/2006/main">
              <a:ext uri="{FF2B5EF4-FFF2-40B4-BE49-F238E27FC236}">
                <a16:creationId xmlns:a16="http://schemas.microsoft.com/office/drawing/2014/main" id="{4AF669BF-EA17-4687-A76E-39127E8E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1072">
            <a:extLst xmlns:a="http://schemas.openxmlformats.org/drawingml/2006/main">
              <a:ext uri="{FF2B5EF4-FFF2-40B4-BE49-F238E27FC236}">
                <a16:creationId xmlns:a16="http://schemas.microsoft.com/office/drawing/2014/main" id="{7902E0A8-181E-46D4-8076-FF289345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1073">
            <a:extLst xmlns:a="http://schemas.openxmlformats.org/drawingml/2006/main">
              <a:ext uri="{FF2B5EF4-FFF2-40B4-BE49-F238E27FC236}">
                <a16:creationId xmlns:a16="http://schemas.microsoft.com/office/drawing/2014/main" id="{0B54FBBD-830E-44E8-9541-05863037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看懂 Agent</a:t>
            </a:r>
          </a:p>
        </p:txBody>
      </p:sp>
      <p:sp>
        <p:nvSpPr>
          <p:cNvPr id="9" name="text-1074">
            <a:extLst xmlns:a="http://schemas.openxmlformats.org/drawingml/2006/main">
              <a:ext uri="{FF2B5EF4-FFF2-40B4-BE49-F238E27FC236}">
                <a16:creationId xmlns:a16="http://schemas.microsoft.com/office/drawing/2014/main" id="{C6AB4C71-67EC-4005-B1BE-43F63C63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能分辨對話、助理與 Agent，知道何時必須人在迴路。</a:t>
            </a:r>
          </a:p>
        </p:txBody>
      </p:sp>
      <p:sp>
        <p:nvSpPr>
          <p:cNvPr id="10" name="shape-1075">
            <a:extLst xmlns:a="http://schemas.openxmlformats.org/drawingml/2006/main">
              <a:ext uri="{FF2B5EF4-FFF2-40B4-BE49-F238E27FC236}">
                <a16:creationId xmlns:a16="http://schemas.microsoft.com/office/drawing/2014/main" id="{5CF0945E-5BC7-4BF3-B1ED-C3789AD3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1076">
            <a:extLst xmlns:a="http://schemas.openxmlformats.org/drawingml/2006/main">
              <a:ext uri="{FF2B5EF4-FFF2-40B4-BE49-F238E27FC236}">
                <a16:creationId xmlns:a16="http://schemas.microsoft.com/office/drawing/2014/main" id="{759C8807-288D-4589-835C-7C477844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1077">
            <a:extLst xmlns:a="http://schemas.openxmlformats.org/drawingml/2006/main">
              <a:ext uri="{FF2B5EF4-FFF2-40B4-BE49-F238E27FC236}">
                <a16:creationId xmlns:a16="http://schemas.microsoft.com/office/drawing/2014/main" id="{0634EBC9-C4D0-47D5-8222-3D3E2473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建立工具策略</a:t>
            </a:r>
          </a:p>
        </p:txBody>
      </p:sp>
      <p:sp>
        <p:nvSpPr>
          <p:cNvPr id="13" name="text-1078">
            <a:extLst xmlns:a="http://schemas.openxmlformats.org/drawingml/2006/main">
              <a:ext uri="{FF2B5EF4-FFF2-40B4-BE49-F238E27FC236}">
                <a16:creationId xmlns:a16="http://schemas.microsoft.com/office/drawing/2014/main" id="{8FD15F29-49B9-4F40-BB24-F7C6B69F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比較 Antigravity／Gemini 3.7 Flash、Codex 與 Claude，依任務、權限與驗收證據選擇工具。</a:t>
            </a:r>
          </a:p>
        </p:txBody>
      </p:sp>
      <p:sp>
        <p:nvSpPr>
          <p:cNvPr id="14" name="shape-1079">
            <a:extLst xmlns:a="http://schemas.openxmlformats.org/drawingml/2006/main">
              <a:ext uri="{FF2B5EF4-FFF2-40B4-BE49-F238E27FC236}">
                <a16:creationId xmlns:a16="http://schemas.microsoft.com/office/drawing/2014/main" id="{DF3DBA47-CBCF-4F54-8D57-46372C40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1080">
            <a:extLst xmlns:a="http://schemas.openxmlformats.org/drawingml/2006/main">
              <a:ext uri="{FF2B5EF4-FFF2-40B4-BE49-F238E27FC236}">
                <a16:creationId xmlns:a16="http://schemas.microsoft.com/office/drawing/2014/main" id="{2A77DA5D-AD5F-455C-944F-0EBBF055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1081">
            <a:extLst xmlns:a="http://schemas.openxmlformats.org/drawingml/2006/main">
              <a:ext uri="{FF2B5EF4-FFF2-40B4-BE49-F238E27FC236}">
                <a16:creationId xmlns:a16="http://schemas.microsoft.com/office/drawing/2014/main" id="{1AF36C9C-9D35-4351-990B-D81B4AAF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完成一個 Skill</a:t>
            </a:r>
          </a:p>
        </p:txBody>
      </p:sp>
      <p:sp>
        <p:nvSpPr>
          <p:cNvPr id="17" name="text-1082">
            <a:extLst xmlns:a="http://schemas.openxmlformats.org/drawingml/2006/main">
              <a:ext uri="{FF2B5EF4-FFF2-40B4-BE49-F238E27FC236}">
                <a16:creationId xmlns:a16="http://schemas.microsoft.com/office/drawing/2014/main" id="{09FCD3BB-B730-4AC6-9A43-DF6ACDAD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把教學或研究提示詞升級成可重複、可測試的工作流程。</a:t>
            </a:r>
          </a:p>
        </p:txBody>
      </p:sp>
      <p:sp>
        <p:nvSpPr>
          <p:cNvPr id="18" name="shape-1083">
            <a:extLst xmlns:a="http://schemas.openxmlformats.org/drawingml/2006/main">
              <a:ext uri="{FF2B5EF4-FFF2-40B4-BE49-F238E27FC236}">
                <a16:creationId xmlns:a16="http://schemas.microsoft.com/office/drawing/2014/main" id="{EA1353AB-DE7C-4047-8A88-81FE22DE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1084">
            <a:extLst xmlns:a="http://schemas.openxmlformats.org/drawingml/2006/main">
              <a:ext uri="{FF2B5EF4-FFF2-40B4-BE49-F238E27FC236}">
                <a16:creationId xmlns:a16="http://schemas.microsoft.com/office/drawing/2014/main" id="{D7F05BF4-8197-416F-AD84-FDC2285C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1085">
            <a:extLst xmlns:a="http://schemas.openxmlformats.org/drawingml/2006/main">
              <a:ext uri="{FF2B5EF4-FFF2-40B4-BE49-F238E27FC236}">
                <a16:creationId xmlns:a16="http://schemas.microsoft.com/office/drawing/2014/main" id="{41702CF2-1A24-488D-9690-A916424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完成資料分析</a:t>
            </a:r>
          </a:p>
        </p:txBody>
      </p:sp>
      <p:sp>
        <p:nvSpPr>
          <p:cNvPr id="21" name="text-1086">
            <a:extLst xmlns:a="http://schemas.openxmlformats.org/drawingml/2006/main">
              <a:ext uri="{FF2B5EF4-FFF2-40B4-BE49-F238E27FC236}">
                <a16:creationId xmlns:a16="http://schemas.microsoft.com/office/drawing/2014/main" id="{CECF9A7A-0D74-4C7F-9125-22F5164D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以合成資料練習選擇題統計、簡答初編與人工複核。</a:t>
            </a:r>
          </a:p>
        </p:txBody>
      </p:sp>
    </p:spTree>
    <p:extLst>
      <p:ext uri="{BB962C8B-B14F-4D97-AF65-F5344CB8AC3E}">
        <p14:creationId xmlns:p14="http://schemas.microsoft.com/office/powerpoint/2010/main" val="3365678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ext-1087">
            <a:extLst xmlns:a="http://schemas.openxmlformats.org/drawingml/2006/main">
              <a:ext uri="{FF2B5EF4-FFF2-40B4-BE49-F238E27FC236}">
                <a16:creationId xmlns:a16="http://schemas.microsoft.com/office/drawing/2014/main" id="{54F96854-0B3D-45C0-A0BA-F33D19DA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RUN OF SHOW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4774D0-A9FC-4670-A26D-6E4C1DE8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下午 180 分鐘：從操作到可重複流程</a:t>
            </a:r>
          </a:p>
        </p:txBody>
      </p:sp>
      <p:cxnSp>
        <p:nvCxnSpPr>
          <p:cNvPr id="41" name="shape-1088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089">
            <a:extLst xmlns:a="http://schemas.openxmlformats.org/drawingml/2006/main">
              <a:ext uri="{FF2B5EF4-FFF2-40B4-BE49-F238E27FC236}">
                <a16:creationId xmlns:a16="http://schemas.microsoft.com/office/drawing/2014/main" id="{648BDF63-4092-4B3C-84B9-A1939D50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7454563-1E6E-4449-99FD-B9D85A1A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6" name="shape-1090">
            <a:extLst xmlns:a="http://schemas.openxmlformats.org/drawingml/2006/main">
              <a:ext uri="{FF2B5EF4-FFF2-40B4-BE49-F238E27FC236}">
                <a16:creationId xmlns:a16="http://schemas.microsoft.com/office/drawing/2014/main" id="{3D5D98C3-4BC2-4B2B-B7D3-98757546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10591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-1091">
            <a:extLst xmlns:a="http://schemas.openxmlformats.org/drawingml/2006/main">
              <a:ext uri="{FF2B5EF4-FFF2-40B4-BE49-F238E27FC236}">
                <a16:creationId xmlns:a16="http://schemas.microsoft.com/office/drawing/2014/main" id="{096E4A19-707F-4E6E-905B-56B29EB9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092">
            <a:extLst xmlns:a="http://schemas.openxmlformats.org/drawingml/2006/main">
              <a:ext uri="{FF2B5EF4-FFF2-40B4-BE49-F238E27FC236}">
                <a16:creationId xmlns:a16="http://schemas.microsoft.com/office/drawing/2014/main" id="{635369BF-6CB3-496B-8E94-D842D1EC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00–20</a:t>
            </a:r>
          </a:p>
        </p:txBody>
      </p:sp>
      <p:sp>
        <p:nvSpPr>
          <p:cNvPr id="9" name="text-1093">
            <a:extLst xmlns:a="http://schemas.openxmlformats.org/drawingml/2006/main">
              <a:ext uri="{FF2B5EF4-FFF2-40B4-BE49-F238E27FC236}">
                <a16:creationId xmlns:a16="http://schemas.microsoft.com/office/drawing/2014/main" id="{684E90BE-C27A-48D9-9FE4-033ED735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Agent 觀念</a:t>
            </a:r>
          </a:p>
        </p:txBody>
      </p:sp>
      <p:sp>
        <p:nvSpPr>
          <p:cNvPr id="10" name="text-1094">
            <a:extLst xmlns:a="http://schemas.openxmlformats.org/drawingml/2006/main">
              <a:ext uri="{FF2B5EF4-FFF2-40B4-BE49-F238E27FC236}">
                <a16:creationId xmlns:a16="http://schemas.microsoft.com/office/drawing/2014/main" id="{E2DC7B21-223D-4E6C-A856-B1040985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能力與風險</a:t>
            </a:r>
          </a:p>
        </p:txBody>
      </p:sp>
      <p:sp>
        <p:nvSpPr>
          <p:cNvPr id="11" name="shape-1095">
            <a:extLst xmlns:a="http://schemas.openxmlformats.org/drawingml/2006/main">
              <a:ext uri="{FF2B5EF4-FFF2-40B4-BE49-F238E27FC236}">
                <a16:creationId xmlns:a16="http://schemas.microsoft.com/office/drawing/2014/main" id="{4389583A-3A74-4CF5-A5FA-AFA92405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6064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1096">
            <a:extLst xmlns:a="http://schemas.openxmlformats.org/drawingml/2006/main">
              <a:ext uri="{FF2B5EF4-FFF2-40B4-BE49-F238E27FC236}">
                <a16:creationId xmlns:a16="http://schemas.microsoft.com/office/drawing/2014/main" id="{506909B4-0046-4B4D-BA60-C74E9710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614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20–45</a:t>
            </a:r>
          </a:p>
        </p:txBody>
      </p:sp>
      <p:sp>
        <p:nvSpPr>
          <p:cNvPr id="13" name="text-1097">
            <a:extLst xmlns:a="http://schemas.openxmlformats.org/drawingml/2006/main">
              <a:ext uri="{FF2B5EF4-FFF2-40B4-BE49-F238E27FC236}">
                <a16:creationId xmlns:a16="http://schemas.microsoft.com/office/drawing/2014/main" id="{72C93D3B-AF9A-4B48-9B27-A37AF64A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014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Antigravity＋Spark</a:t>
            </a:r>
          </a:p>
        </p:txBody>
      </p:sp>
      <p:sp>
        <p:nvSpPr>
          <p:cNvPr id="14" name="text-1098">
            <a:extLst xmlns:a="http://schemas.openxmlformats.org/drawingml/2006/main">
              <a:ext uri="{FF2B5EF4-FFF2-40B4-BE49-F238E27FC236}">
                <a16:creationId xmlns:a16="http://schemas.microsoft.com/office/drawing/2014/main" id="{4AA55A33-B114-48CF-B79D-B57893B2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014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任務、排程與證據</a:t>
            </a:r>
          </a:p>
        </p:txBody>
      </p:sp>
      <p:sp>
        <p:nvSpPr>
          <p:cNvPr id="15" name="shape-1099">
            <a:extLst xmlns:a="http://schemas.openxmlformats.org/drawingml/2006/main">
              <a:ext uri="{FF2B5EF4-FFF2-40B4-BE49-F238E27FC236}">
                <a16:creationId xmlns:a16="http://schemas.microsoft.com/office/drawing/2014/main" id="{A12E935F-362D-4330-BE25-7AB67A33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1100">
            <a:extLst xmlns:a="http://schemas.openxmlformats.org/drawingml/2006/main">
              <a:ext uri="{FF2B5EF4-FFF2-40B4-BE49-F238E27FC236}">
                <a16:creationId xmlns:a16="http://schemas.microsoft.com/office/drawing/2014/main" id="{A4DCFB00-CD9A-472F-B307-0BE58FF4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729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45–70</a:t>
            </a:r>
          </a:p>
        </p:txBody>
      </p:sp>
      <p:sp>
        <p:nvSpPr>
          <p:cNvPr id="17" name="text-1101">
            <a:extLst xmlns:a="http://schemas.openxmlformats.org/drawingml/2006/main">
              <a:ext uri="{FF2B5EF4-FFF2-40B4-BE49-F238E27FC236}">
                <a16:creationId xmlns:a16="http://schemas.microsoft.com/office/drawing/2014/main" id="{4F34C20F-3497-4F55-84BE-97C0C432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8129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Claude</a:t>
            </a:r>
          </a:p>
        </p:txBody>
      </p:sp>
      <p:sp>
        <p:nvSpPr>
          <p:cNvPr id="18" name="text-1102">
            <a:extLst xmlns:a="http://schemas.openxmlformats.org/drawingml/2006/main">
              <a:ext uri="{FF2B5EF4-FFF2-40B4-BE49-F238E27FC236}">
                <a16:creationId xmlns:a16="http://schemas.microsoft.com/office/drawing/2014/main" id="{FA4065C6-F306-43B0-84C4-4ED0C305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8129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模型與成本</a:t>
            </a:r>
          </a:p>
        </p:txBody>
      </p:sp>
      <p:sp>
        <p:nvSpPr>
          <p:cNvPr id="19" name="shape-1103">
            <a:extLst xmlns:a="http://schemas.openxmlformats.org/drawingml/2006/main">
              <a:ext uri="{FF2B5EF4-FFF2-40B4-BE49-F238E27FC236}">
                <a16:creationId xmlns:a16="http://schemas.microsoft.com/office/drawing/2014/main" id="{1C32D0C6-4F2E-4FD4-BE09-1EA63EFF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2293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104">
            <a:extLst xmlns:a="http://schemas.openxmlformats.org/drawingml/2006/main">
              <a:ext uri="{FF2B5EF4-FFF2-40B4-BE49-F238E27FC236}">
                <a16:creationId xmlns:a16="http://schemas.microsoft.com/office/drawing/2014/main" id="{C0B0CA56-29A3-444D-8BA3-B9FF535B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843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70–95</a:t>
            </a:r>
          </a:p>
        </p:txBody>
      </p:sp>
      <p:sp>
        <p:nvSpPr>
          <p:cNvPr id="21" name="text-1105">
            <a:extLst xmlns:a="http://schemas.openxmlformats.org/drawingml/2006/main">
              <a:ext uri="{FF2B5EF4-FFF2-40B4-BE49-F238E27FC236}">
                <a16:creationId xmlns:a16="http://schemas.microsoft.com/office/drawing/2014/main" id="{933D69AC-AE07-4ED0-BE08-7249C6E1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243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Codex</a:t>
            </a:r>
          </a:p>
        </p:txBody>
      </p:sp>
      <p:sp>
        <p:nvSpPr>
          <p:cNvPr id="22" name="text-1106">
            <a:extLst xmlns:a="http://schemas.openxmlformats.org/drawingml/2006/main">
              <a:ext uri="{FF2B5EF4-FFF2-40B4-BE49-F238E27FC236}">
                <a16:creationId xmlns:a16="http://schemas.microsoft.com/office/drawing/2014/main" id="{1C18EAB0-EADC-4C44-9C77-C3A50B99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243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實作工作流</a:t>
            </a:r>
          </a:p>
        </p:txBody>
      </p:sp>
      <p:sp>
        <p:nvSpPr>
          <p:cNvPr id="23" name="shape-1107">
            <a:extLst xmlns:a="http://schemas.openxmlformats.org/drawingml/2006/main">
              <a:ext uri="{FF2B5EF4-FFF2-40B4-BE49-F238E27FC236}">
                <a16:creationId xmlns:a16="http://schemas.microsoft.com/office/drawing/2014/main" id="{236F03CD-6B46-4EA4-8E49-065DE60B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5407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1108">
            <a:extLst xmlns:a="http://schemas.openxmlformats.org/drawingml/2006/main">
              <a:ext uri="{FF2B5EF4-FFF2-40B4-BE49-F238E27FC236}">
                <a16:creationId xmlns:a16="http://schemas.microsoft.com/office/drawing/2014/main" id="{3B190E5F-5A1B-4AF9-A7D9-568BA50F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957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95–105</a:t>
            </a:r>
          </a:p>
        </p:txBody>
      </p:sp>
      <p:sp>
        <p:nvSpPr>
          <p:cNvPr id="25" name="text-1109">
            <a:extLst xmlns:a="http://schemas.openxmlformats.org/drawingml/2006/main">
              <a:ext uri="{FF2B5EF4-FFF2-40B4-BE49-F238E27FC236}">
                <a16:creationId xmlns:a16="http://schemas.microsoft.com/office/drawing/2014/main" id="{3F240988-1481-476A-B86A-7C9E350D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4357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休息</a:t>
            </a:r>
          </a:p>
        </p:txBody>
      </p:sp>
      <p:sp>
        <p:nvSpPr>
          <p:cNvPr id="26" name="text-1110">
            <a:extLst xmlns:a="http://schemas.openxmlformats.org/drawingml/2006/main">
              <a:ext uri="{FF2B5EF4-FFF2-40B4-BE49-F238E27FC236}">
                <a16:creationId xmlns:a16="http://schemas.microsoft.com/office/drawing/2014/main" id="{381E5169-962B-43CF-88B4-9C87BF67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4357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整理成果</a:t>
            </a:r>
          </a:p>
        </p:txBody>
      </p:sp>
      <p:sp>
        <p:nvSpPr>
          <p:cNvPr id="27" name="shape-1111">
            <a:extLst xmlns:a="http://schemas.openxmlformats.org/drawingml/2006/main">
              <a:ext uri="{FF2B5EF4-FFF2-40B4-BE49-F238E27FC236}">
                <a16:creationId xmlns:a16="http://schemas.microsoft.com/office/drawing/2014/main" id="{64BF8D1B-E6D4-47CE-95C7-D79D61C7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8521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1112">
            <a:extLst xmlns:a="http://schemas.openxmlformats.org/drawingml/2006/main">
              <a:ext uri="{FF2B5EF4-FFF2-40B4-BE49-F238E27FC236}">
                <a16:creationId xmlns:a16="http://schemas.microsoft.com/office/drawing/2014/main" id="{4EF77B2D-7441-4E93-BD50-55D5D798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6071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105–140</a:t>
            </a:r>
          </a:p>
        </p:txBody>
      </p:sp>
      <p:sp>
        <p:nvSpPr>
          <p:cNvPr id="29" name="text-1113">
            <a:extLst xmlns:a="http://schemas.openxmlformats.org/drawingml/2006/main">
              <a:ext uri="{FF2B5EF4-FFF2-40B4-BE49-F238E27FC236}">
                <a16:creationId xmlns:a16="http://schemas.microsoft.com/office/drawing/2014/main" id="{7BE85653-39AA-44FC-B6A5-33B14765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71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Agent Skills</a:t>
            </a:r>
          </a:p>
        </p:txBody>
      </p:sp>
      <p:sp>
        <p:nvSpPr>
          <p:cNvPr id="30" name="text-1114">
            <a:extLst xmlns:a="http://schemas.openxmlformats.org/drawingml/2006/main">
              <a:ext uri="{FF2B5EF4-FFF2-40B4-BE49-F238E27FC236}">
                <a16:creationId xmlns:a16="http://schemas.microsoft.com/office/drawing/2014/main" id="{54B2105A-312A-493E-99AC-F3FE8055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71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提示詞升級</a:t>
            </a:r>
          </a:p>
        </p:txBody>
      </p:sp>
      <p:sp>
        <p:nvSpPr>
          <p:cNvPr id="31" name="shape-1115">
            <a:extLst xmlns:a="http://schemas.openxmlformats.org/drawingml/2006/main">
              <a:ext uri="{FF2B5EF4-FFF2-40B4-BE49-F238E27FC236}">
                <a16:creationId xmlns:a16="http://schemas.microsoft.com/office/drawing/2014/main" id="{DC3C2436-2AB6-4D67-8233-BCD056B0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636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1116">
            <a:extLst xmlns:a="http://schemas.openxmlformats.org/drawingml/2006/main">
              <a:ext uri="{FF2B5EF4-FFF2-40B4-BE49-F238E27FC236}">
                <a16:creationId xmlns:a16="http://schemas.microsoft.com/office/drawing/2014/main" id="{19CB942E-8D21-4FAE-BE28-5BB2691B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9186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140–160</a:t>
            </a:r>
          </a:p>
        </p:txBody>
      </p:sp>
      <p:sp>
        <p:nvSpPr>
          <p:cNvPr id="33" name="text-1117">
            <a:extLst xmlns:a="http://schemas.openxmlformats.org/drawingml/2006/main">
              <a:ext uri="{FF2B5EF4-FFF2-40B4-BE49-F238E27FC236}">
                <a16:creationId xmlns:a16="http://schemas.microsoft.com/office/drawing/2014/main" id="{8C3FB81E-7599-4407-8761-312D9086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586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學生資料</a:t>
            </a:r>
          </a:p>
        </p:txBody>
      </p:sp>
      <p:sp>
        <p:nvSpPr>
          <p:cNvPr id="34" name="text-1118">
            <a:extLst xmlns:a="http://schemas.openxmlformats.org/drawingml/2006/main">
              <a:ext uri="{FF2B5EF4-FFF2-40B4-BE49-F238E27FC236}">
                <a16:creationId xmlns:a16="http://schemas.microsoft.com/office/drawing/2014/main" id="{64F1BBAB-B49D-4EA6-8E30-E4FF387E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586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PIRLS 風格分析</a:t>
            </a:r>
          </a:p>
        </p:txBody>
      </p:sp>
      <p:sp>
        <p:nvSpPr>
          <p:cNvPr id="35" name="shape-1119">
            <a:extLst xmlns:a="http://schemas.openxmlformats.org/drawingml/2006/main">
              <a:ext uri="{FF2B5EF4-FFF2-40B4-BE49-F238E27FC236}">
                <a16:creationId xmlns:a16="http://schemas.microsoft.com/office/drawing/2014/main" id="{35722B97-B52A-412F-9C2D-97DF3AD3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ext-1120">
            <a:extLst xmlns:a="http://schemas.openxmlformats.org/drawingml/2006/main">
              <a:ext uri="{FF2B5EF4-FFF2-40B4-BE49-F238E27FC236}">
                <a16:creationId xmlns:a16="http://schemas.microsoft.com/office/drawing/2014/main" id="{82698674-11C8-411A-95D2-23098FF7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160–180</a:t>
            </a:r>
          </a:p>
        </p:txBody>
      </p:sp>
      <p:sp>
        <p:nvSpPr>
          <p:cNvPr id="37" name="text-1121">
            <a:extLst xmlns:a="http://schemas.openxmlformats.org/drawingml/2006/main">
              <a:ext uri="{FF2B5EF4-FFF2-40B4-BE49-F238E27FC236}">
                <a16:creationId xmlns:a16="http://schemas.microsoft.com/office/drawing/2014/main" id="{716A16FE-B4E2-4874-A148-23849525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整合分享</a:t>
            </a:r>
          </a:p>
        </p:txBody>
      </p:sp>
      <p:sp>
        <p:nvSpPr>
          <p:cNvPr id="38" name="text-1122">
            <a:extLst xmlns:a="http://schemas.openxmlformats.org/drawingml/2006/main">
              <a:ext uri="{FF2B5EF4-FFF2-40B4-BE49-F238E27FC236}">
                <a16:creationId xmlns:a16="http://schemas.microsoft.com/office/drawing/2014/main" id="{E59578E3-C9FA-4CDE-B238-2E8C2F82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可驗證交付</a:t>
            </a:r>
          </a:p>
        </p:txBody>
      </p:sp>
    </p:spTree>
    <p:extLst>
      <p:ext uri="{BB962C8B-B14F-4D97-AF65-F5344CB8AC3E}">
        <p14:creationId xmlns:p14="http://schemas.microsoft.com/office/powerpoint/2010/main" val="2816796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1123">
            <a:extLst xmlns:a="http://schemas.openxmlformats.org/drawingml/2006/main">
              <a:ext uri="{FF2B5EF4-FFF2-40B4-BE49-F238E27FC236}">
                <a16:creationId xmlns:a16="http://schemas.microsoft.com/office/drawing/2014/main" id="{58F966FB-D578-45C1-ADE0-F2E4E0E2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REAL PAIN · DNS MIGRATION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DB6451B-DCDC-45C4-A475-22DBE96A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147 個 PDF：DNS 遷移留下的重複性痛點</a:t>
            </a:r>
          </a:p>
        </p:txBody>
      </p:sp>
      <p:cxnSp>
        <p:nvCxnSpPr>
          <p:cNvPr id="13" name="shape-1124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125">
            <a:extLst xmlns:a="http://schemas.openxmlformats.org/drawingml/2006/main">
              <a:ext uri="{FF2B5EF4-FFF2-40B4-BE49-F238E27FC236}">
                <a16:creationId xmlns:a16="http://schemas.microsoft.com/office/drawing/2014/main" id="{4F2C368E-DD70-44D4-BF11-B1BFA31F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A9C8669-0B8A-40AC-B07B-76475DCB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6" name="shape-1126">
            <a:extLst xmlns:a="http://schemas.openxmlformats.org/drawingml/2006/main">
              <a:ext uri="{FF2B5EF4-FFF2-40B4-BE49-F238E27FC236}">
                <a16:creationId xmlns:a16="http://schemas.microsoft.com/office/drawing/2014/main" id="{14B49BCA-A3A8-4564-8D7E-526BE718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6934200" cy="453390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af4dafeb5c402b"/>
          <a:stretch xmlns:a="http://schemas.openxmlformats.org/drawingml/2006/main"/>
        </p:blipFill>
        <p:spPr>
          <a:xfrm xmlns:a="http://schemas.openxmlformats.org/drawingml/2006/main">
            <a:off x="647700" y="1818770"/>
            <a:ext cx="6667500" cy="4020559"/>
          </a:xfrm>
          <a:prstGeom xmlns:a="http://schemas.openxmlformats.org/drawingml/2006/main" prst="roundRect">
            <a:avLst>
              <a:gd name="adj" fmla="val 2679"/>
            </a:avLst>
          </a:prstGeom>
        </p:spPr>
      </p:pic>
      <p:sp>
        <p:nvSpPr>
          <p:cNvPr id="8" name="shape-1127">
            <a:extLst xmlns:a="http://schemas.openxmlformats.org/drawingml/2006/main">
              <a:ext uri="{FF2B5EF4-FFF2-40B4-BE49-F238E27FC236}">
                <a16:creationId xmlns:a16="http://schemas.microsoft.com/office/drawing/2014/main" id="{987FA9E8-80E3-4D5A-BF50-FBCA2508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562100"/>
            <a:ext cx="3886200" cy="45339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9" name="text-1128">
            <a:extLst xmlns:a="http://schemas.openxmlformats.org/drawingml/2006/main">
              <a:ext uri="{FF2B5EF4-FFF2-40B4-BE49-F238E27FC236}">
                <a16:creationId xmlns:a16="http://schemas.microsoft.com/office/drawing/2014/main" id="{8678DCA8-CD4D-414F-A5C1-A0A5D3DB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39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痛點：排山倒海的 PDF</a:t>
            </a:r>
          </a:p>
        </p:txBody>
      </p:sp>
      <p:sp>
        <p:nvSpPr>
          <p:cNvPr id="10" name="text-1129">
            <a:extLst xmlns:a="http://schemas.openxmlformats.org/drawingml/2006/main">
              <a:ext uri="{FF2B5EF4-FFF2-40B4-BE49-F238E27FC236}">
                <a16:creationId xmlns:a16="http://schemas.microsoft.com/office/drawing/2014/main" id="{4951C8B8-80AD-4434-BEFA-215FC4A4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24150"/>
            <a:ext cx="339090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• 舊站連結仍指向 www，DNS 遷移後無法直接下載。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• 人工逐一找檔、改網址、下載，重複又毫無效率。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• 做到懷疑人生：這正是 Agent 值得接手的工作。</a:t>
            </a:r>
          </a:p>
        </p:txBody>
      </p:sp>
    </p:spTree>
    <p:extLst>
      <p:ext uri="{BB962C8B-B14F-4D97-AF65-F5344CB8AC3E}">
        <p14:creationId xmlns:p14="http://schemas.microsoft.com/office/powerpoint/2010/main" val="19753405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1130">
            <a:extLst xmlns:a="http://schemas.openxmlformats.org/drawingml/2006/main">
              <a:ext uri="{FF2B5EF4-FFF2-40B4-BE49-F238E27FC236}">
                <a16:creationId xmlns:a16="http://schemas.microsoft.com/office/drawing/2014/main" id="{028AC205-C211-4732-AC4E-59797766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PROMPT → PLAN → VERIFY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5C373F-66FD-4E43-8A55-4FE6E695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把規則說清楚，Agent 就能一次接手</a:t>
            </a:r>
          </a:p>
        </p:txBody>
      </p:sp>
      <p:cxnSp>
        <p:nvCxnSpPr>
          <p:cNvPr id="13" name="shape-1131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132">
            <a:extLst xmlns:a="http://schemas.openxmlformats.org/drawingml/2006/main">
              <a:ext uri="{FF2B5EF4-FFF2-40B4-BE49-F238E27FC236}">
                <a16:creationId xmlns:a16="http://schemas.microsoft.com/office/drawing/2014/main" id="{9157362A-9CCA-4FD9-8210-D526039A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C7970E0-F206-4EB6-B7E2-EB593EE3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05</a:t>
            </a:r>
          </a:p>
        </p:txBody>
      </p:sp>
      <p:sp>
        <p:nvSpPr>
          <p:cNvPr id="6" name="shape-1133">
            <a:extLst xmlns:a="http://schemas.openxmlformats.org/drawingml/2006/main">
              <a:ext uri="{FF2B5EF4-FFF2-40B4-BE49-F238E27FC236}">
                <a16:creationId xmlns:a16="http://schemas.microsoft.com/office/drawing/2014/main" id="{D40A0EAE-FFA8-4FBE-A29E-BA440A1F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6934200" cy="453390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290ffeaacc46d3"/>
          <a:stretch xmlns:a="http://schemas.openxmlformats.org/drawingml/2006/main"/>
        </p:blipFill>
        <p:spPr>
          <a:xfrm xmlns:a="http://schemas.openxmlformats.org/drawingml/2006/main">
            <a:off x="843445" y="1695450"/>
            <a:ext cx="6276010" cy="4267200"/>
          </a:xfrm>
          <a:prstGeom xmlns:a="http://schemas.openxmlformats.org/drawingml/2006/main" prst="roundRect">
            <a:avLst>
              <a:gd name="adj" fmla="val 2679"/>
            </a:avLst>
          </a:prstGeom>
        </p:spPr>
      </p:pic>
      <p:sp>
        <p:nvSpPr>
          <p:cNvPr id="8" name="shape-1134">
            <a:extLst xmlns:a="http://schemas.openxmlformats.org/drawingml/2006/main">
              <a:ext uri="{FF2B5EF4-FFF2-40B4-BE49-F238E27FC236}">
                <a16:creationId xmlns:a16="http://schemas.microsoft.com/office/drawing/2014/main" id="{B4845D9D-6032-4F6A-8909-41C3035F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562100"/>
            <a:ext cx="3886200" cy="45339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9" name="text-1135">
            <a:extLst xmlns:a="http://schemas.openxmlformats.org/drawingml/2006/main">
              <a:ext uri="{FF2B5EF4-FFF2-40B4-BE49-F238E27FC236}">
                <a16:creationId xmlns:a16="http://schemas.microsoft.com/office/drawing/2014/main" id="{892F4578-2A76-42A7-B0FF-657EFEA1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39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提示詞：來源 → 轉換 → 驗收</a:t>
            </a:r>
          </a:p>
        </p:txBody>
      </p:sp>
      <p:sp>
        <p:nvSpPr>
          <p:cNvPr id="10" name="text-1136">
            <a:extLst xmlns:a="http://schemas.openxmlformats.org/drawingml/2006/main">
              <a:ext uri="{FF2B5EF4-FFF2-40B4-BE49-F238E27FC236}">
                <a16:creationId xmlns:a16="http://schemas.microsoft.com/office/drawing/2014/main" id="{88478E60-4D33-4FDF-9DFB-DF602409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24150"/>
            <a:ext cx="339090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• 來源：讀取公告 nsn=3187，找出頁面中的全部 PDF。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• 轉換：www.smes.tyc.edu.tw → web.smes.tyc.edu.tw，依 files_sn 組出新路徑。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• 驗收：逐一下載、確認 PDF 有效，統計成功／失敗與殘檔。</a:t>
            </a:r>
          </a:p>
        </p:txBody>
      </p:sp>
    </p:spTree>
    <p:extLst>
      <p:ext uri="{BB962C8B-B14F-4D97-AF65-F5344CB8AC3E}">
        <p14:creationId xmlns:p14="http://schemas.microsoft.com/office/powerpoint/2010/main" val="6408398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137">
            <a:extLst xmlns:a="http://schemas.openxmlformats.org/drawingml/2006/main">
              <a:ext uri="{FF2B5EF4-FFF2-40B4-BE49-F238E27FC236}">
                <a16:creationId xmlns:a16="http://schemas.microsoft.com/office/drawing/2014/main" id="{202537C4-16BA-4685-A090-C42FE731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AGENT RESULT · CLOSED LOOP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1AD526-D262-46CB-BDDC-50D480CA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4 分 6 秒：147 個檔案一次到位</a:t>
            </a:r>
          </a:p>
        </p:txBody>
      </p:sp>
      <p:cxnSp>
        <p:nvCxnSpPr>
          <p:cNvPr id="14" name="shape-1138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139">
            <a:extLst xmlns:a="http://schemas.openxmlformats.org/drawingml/2006/main">
              <a:ext uri="{FF2B5EF4-FFF2-40B4-BE49-F238E27FC236}">
                <a16:creationId xmlns:a16="http://schemas.microsoft.com/office/drawing/2014/main" id="{7BFFD5A9-1F8D-48F1-823E-C1D2AB6D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6EB5A57-F359-463E-9BAE-F033AA7A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06</a:t>
            </a:r>
          </a:p>
        </p:txBody>
      </p:sp>
      <p:sp>
        <p:nvSpPr>
          <p:cNvPr id="6" name="shape-1140">
            <a:extLst xmlns:a="http://schemas.openxmlformats.org/drawingml/2006/main">
              <a:ext uri="{FF2B5EF4-FFF2-40B4-BE49-F238E27FC236}">
                <a16:creationId xmlns:a16="http://schemas.microsoft.com/office/drawing/2014/main" id="{6D422D1A-679F-4C29-A378-0116EA21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6934200" cy="453390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a0ece373b4688"/>
          <a:stretch xmlns:a="http://schemas.openxmlformats.org/drawingml/2006/main"/>
        </p:blipFill>
        <p:spPr>
          <a:xfrm xmlns:a="http://schemas.openxmlformats.org/drawingml/2006/main">
            <a:off x="647700" y="1836931"/>
            <a:ext cx="6667500" cy="3984238"/>
          </a:xfrm>
          <a:prstGeom xmlns:a="http://schemas.openxmlformats.org/drawingml/2006/main" prst="roundRect">
            <a:avLst>
              <a:gd name="adj" fmla="val 2679"/>
            </a:avLst>
          </a:prstGeom>
        </p:spPr>
      </p:pic>
      <p:sp>
        <p:nvSpPr>
          <p:cNvPr id="8" name="shape-1141">
            <a:extLst xmlns:a="http://schemas.openxmlformats.org/drawingml/2006/main">
              <a:ext uri="{FF2B5EF4-FFF2-40B4-BE49-F238E27FC236}">
                <a16:creationId xmlns:a16="http://schemas.microsoft.com/office/drawing/2014/main" id="{27FEF06D-3F75-4DE6-9755-BE8FF1CF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562100"/>
            <a:ext cx="3886200" cy="45339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9" name="text-1142">
            <a:extLst xmlns:a="http://schemas.openxmlformats.org/drawingml/2006/main">
              <a:ext uri="{FF2B5EF4-FFF2-40B4-BE49-F238E27FC236}">
                <a16:creationId xmlns:a16="http://schemas.microsoft.com/office/drawing/2014/main" id="{A02F0F8A-97B6-48AE-804C-5ABE865D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39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成果：147 / 147 成功</a:t>
            </a:r>
          </a:p>
        </p:txBody>
      </p:sp>
      <p:sp>
        <p:nvSpPr>
          <p:cNvPr id="10" name="text-1143">
            <a:extLst xmlns:a="http://schemas.openxmlformats.org/drawingml/2006/main">
              <a:ext uri="{FF2B5EF4-FFF2-40B4-BE49-F238E27FC236}">
                <a16:creationId xmlns:a16="http://schemas.microsoft.com/office/drawing/2014/main" id="{5C47026E-599A-4D4C-94D2-87BDB35A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24150"/>
            <a:ext cx="33909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• 處理時間 4 分 6 秒；解析 147 份 PDF，成功 147/147。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• 有效 PDF 147/147、失敗 0，資料夾內可逐檔檢查與保存。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• 最後上傳到新校網公告，完成從遷移、驗收到發布的閉環。</a:t>
            </a:r>
          </a:p>
        </p:txBody>
      </p:sp>
      <p:sp>
        <p:nvSpPr>
          <p:cNvPr id="11" name="text-1144">
            <a:extLst xmlns:a="http://schemas.openxmlformats.org/drawingml/2006/main">
              <a:ext uri="{FF2B5EF4-FFF2-40B4-BE49-F238E27FC236}">
                <a16:creationId xmlns:a16="http://schemas.microsoft.com/office/drawing/2014/main" id="{38E66850-E91D-47B0-A188-7F20B5CC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505450"/>
            <a:ext cx="33909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1B64DA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rmAutofit fontScale="867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bd85008eb74845b1"/>
              </a:rPr>
              <a:t>查看新校網公告最終成果 ↗</a:t>
            </a:r>
          </a:p>
        </p:txBody>
      </p:sp>
    </p:spTree>
    <p:extLst>
      <p:ext uri="{BB962C8B-B14F-4D97-AF65-F5344CB8AC3E}">
        <p14:creationId xmlns:p14="http://schemas.microsoft.com/office/powerpoint/2010/main" val="21231488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-1145">
            <a:extLst xmlns:a="http://schemas.openxmlformats.org/drawingml/2006/main">
              <a:ext uri="{FF2B5EF4-FFF2-40B4-BE49-F238E27FC236}">
                <a16:creationId xmlns:a16="http://schemas.microsoft.com/office/drawing/2014/main" id="{F2AAD24E-A121-4A99-A27B-84963A02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CAPABILITY LADDER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78F32B-FAEE-4041-A7E6-91F72F69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對話、助理、Agent：差別在能否推進工作</a:t>
            </a:r>
          </a:p>
        </p:txBody>
      </p:sp>
      <p:cxnSp>
        <p:nvCxnSpPr>
          <p:cNvPr id="32" name="shape-1146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147">
            <a:extLst xmlns:a="http://schemas.openxmlformats.org/drawingml/2006/main">
              <a:ext uri="{FF2B5EF4-FFF2-40B4-BE49-F238E27FC236}">
                <a16:creationId xmlns:a16="http://schemas.microsoft.com/office/drawing/2014/main" id="{C5245763-CE16-4431-9D5E-D8C25580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8F3F1C5-93CD-4BB0-BB66-1F3E87C5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07</a:t>
            </a:r>
          </a:p>
        </p:txBody>
      </p:sp>
      <p:sp>
        <p:nvSpPr>
          <p:cNvPr id="6" name="shape-1148">
            <a:extLst xmlns:a="http://schemas.openxmlformats.org/drawingml/2006/main">
              <a:ext uri="{FF2B5EF4-FFF2-40B4-BE49-F238E27FC236}">
                <a16:creationId xmlns:a16="http://schemas.microsoft.com/office/drawing/2014/main" id="{E6808513-77F5-4968-A2CC-82210BAC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shape-1149">
            <a:extLst xmlns:a="http://schemas.openxmlformats.org/drawingml/2006/main">
              <a:ext uri="{FF2B5EF4-FFF2-40B4-BE49-F238E27FC236}">
                <a16:creationId xmlns:a16="http://schemas.microsoft.com/office/drawing/2014/main" id="{A31AB72B-8242-48AF-88A1-8689FA94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150">
            <a:extLst xmlns:a="http://schemas.openxmlformats.org/drawingml/2006/main">
              <a:ext uri="{FF2B5EF4-FFF2-40B4-BE49-F238E27FC236}">
                <a16:creationId xmlns:a16="http://schemas.microsoft.com/office/drawing/2014/main" id="{93FE2BDA-92C5-4F4D-9FBF-C686BC0F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1151">
            <a:extLst xmlns:a="http://schemas.openxmlformats.org/drawingml/2006/main">
              <a:ext uri="{FF2B5EF4-FFF2-40B4-BE49-F238E27FC236}">
                <a16:creationId xmlns:a16="http://schemas.microsoft.com/office/drawing/2014/main" id="{7876C720-8AEA-4532-BF3E-55830C9F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對話</a:t>
            </a:r>
          </a:p>
        </p:txBody>
      </p:sp>
      <p:sp>
        <p:nvSpPr>
          <p:cNvPr id="10" name="text-1152">
            <a:extLst xmlns:a="http://schemas.openxmlformats.org/drawingml/2006/main">
              <a:ext uri="{FF2B5EF4-FFF2-40B4-BE49-F238E27FC236}">
                <a16:creationId xmlns:a16="http://schemas.microsoft.com/office/drawing/2014/main" id="{C3AC65D6-6BDB-4749-AC40-7B0A9BEB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回答、解釋、發想</a:t>
            </a:r>
          </a:p>
        </p:txBody>
      </p:sp>
      <p:sp>
        <p:nvSpPr>
          <p:cNvPr id="11" name="text-1153">
            <a:extLst xmlns:a="http://schemas.openxmlformats.org/drawingml/2006/main">
              <a:ext uri="{FF2B5EF4-FFF2-40B4-BE49-F238E27FC236}">
                <a16:creationId xmlns:a16="http://schemas.microsoft.com/office/drawing/2014/main" id="{D0B25217-0076-4455-9971-4827EEBD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113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2" name="shape-1154">
            <a:extLst xmlns:a="http://schemas.openxmlformats.org/drawingml/2006/main">
              <a:ext uri="{FF2B5EF4-FFF2-40B4-BE49-F238E27FC236}">
                <a16:creationId xmlns:a16="http://schemas.microsoft.com/office/drawing/2014/main" id="{22D38381-5DA8-4CBC-8997-8532A008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838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3" name="shape-1155">
            <a:extLst xmlns:a="http://schemas.openxmlformats.org/drawingml/2006/main">
              <a:ext uri="{FF2B5EF4-FFF2-40B4-BE49-F238E27FC236}">
                <a16:creationId xmlns:a16="http://schemas.microsoft.com/office/drawing/2014/main" id="{806BDE0A-0201-4313-862D-7927DCE6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156">
            <a:extLst xmlns:a="http://schemas.openxmlformats.org/drawingml/2006/main">
              <a:ext uri="{FF2B5EF4-FFF2-40B4-BE49-F238E27FC236}">
                <a16:creationId xmlns:a16="http://schemas.microsoft.com/office/drawing/2014/main" id="{466A21BC-C2D6-4088-A7BF-03794237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5" name="text-1157">
            <a:extLst xmlns:a="http://schemas.openxmlformats.org/drawingml/2006/main">
              <a:ext uri="{FF2B5EF4-FFF2-40B4-BE49-F238E27FC236}">
                <a16:creationId xmlns:a16="http://schemas.microsoft.com/office/drawing/2014/main" id="{BF7EA4C7-714A-4797-8AAC-1D3D965E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助理</a:t>
            </a:r>
          </a:p>
        </p:txBody>
      </p:sp>
      <p:sp>
        <p:nvSpPr>
          <p:cNvPr id="16" name="text-1158">
            <a:extLst xmlns:a="http://schemas.openxmlformats.org/drawingml/2006/main">
              <a:ext uri="{FF2B5EF4-FFF2-40B4-BE49-F238E27FC236}">
                <a16:creationId xmlns:a16="http://schemas.microsoft.com/office/drawing/2014/main" id="{932268F9-1B86-42F3-9957-0B4D69B8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固定角色與格式</a:t>
            </a:r>
          </a:p>
        </p:txBody>
      </p:sp>
      <p:sp>
        <p:nvSpPr>
          <p:cNvPr id="17" name="text-1159">
            <a:extLst xmlns:a="http://schemas.openxmlformats.org/drawingml/2006/main">
              <a:ext uri="{FF2B5EF4-FFF2-40B4-BE49-F238E27FC236}">
                <a16:creationId xmlns:a16="http://schemas.microsoft.com/office/drawing/2014/main" id="{C28BCE9B-E4FB-48B0-84AB-9C4FE29C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8" name="shape-1160">
            <a:extLst xmlns:a="http://schemas.openxmlformats.org/drawingml/2006/main">
              <a:ext uri="{FF2B5EF4-FFF2-40B4-BE49-F238E27FC236}">
                <a16:creationId xmlns:a16="http://schemas.microsoft.com/office/drawing/2014/main" id="{5D3013D6-E098-4F75-A986-89006E33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shape-1161">
            <a:extLst xmlns:a="http://schemas.openxmlformats.org/drawingml/2006/main">
              <a:ext uri="{FF2B5EF4-FFF2-40B4-BE49-F238E27FC236}">
                <a16:creationId xmlns:a16="http://schemas.microsoft.com/office/drawing/2014/main" id="{B998195C-E176-407D-92E5-399AE673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162">
            <a:extLst xmlns:a="http://schemas.openxmlformats.org/drawingml/2006/main">
              <a:ext uri="{FF2B5EF4-FFF2-40B4-BE49-F238E27FC236}">
                <a16:creationId xmlns:a16="http://schemas.microsoft.com/office/drawing/2014/main" id="{756E9C21-16EC-440D-BC73-7EA9FF3C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text-1163">
            <a:extLst xmlns:a="http://schemas.openxmlformats.org/drawingml/2006/main">
              <a:ext uri="{FF2B5EF4-FFF2-40B4-BE49-F238E27FC236}">
                <a16:creationId xmlns:a16="http://schemas.microsoft.com/office/drawing/2014/main" id="{DCABE4DF-41FD-439B-A2DA-6E2652B7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Agent</a:t>
            </a:r>
          </a:p>
        </p:txBody>
      </p:sp>
      <p:sp>
        <p:nvSpPr>
          <p:cNvPr id="22" name="text-1164">
            <a:extLst xmlns:a="http://schemas.openxmlformats.org/drawingml/2006/main">
              <a:ext uri="{FF2B5EF4-FFF2-40B4-BE49-F238E27FC236}">
                <a16:creationId xmlns:a16="http://schemas.microsoft.com/office/drawing/2014/main" id="{6B477CE9-7FDA-491F-A364-51B8F893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讀取環境、規劃、使用工具</a:t>
            </a:r>
          </a:p>
        </p:txBody>
      </p:sp>
      <p:sp>
        <p:nvSpPr>
          <p:cNvPr id="23" name="text-1165">
            <a:extLst xmlns:a="http://schemas.openxmlformats.org/drawingml/2006/main">
              <a:ext uri="{FF2B5EF4-FFF2-40B4-BE49-F238E27FC236}">
                <a16:creationId xmlns:a16="http://schemas.microsoft.com/office/drawing/2014/main" id="{CDD1E4E8-58EE-4AA4-A992-21DD5614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24" name="shape-1166">
            <a:extLst xmlns:a="http://schemas.openxmlformats.org/drawingml/2006/main">
              <a:ext uri="{FF2B5EF4-FFF2-40B4-BE49-F238E27FC236}">
                <a16:creationId xmlns:a16="http://schemas.microsoft.com/office/drawing/2014/main" id="{474A26BC-FC7E-4BC6-AC7E-1D419E7D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25" name="shape-1167">
            <a:extLst xmlns:a="http://schemas.openxmlformats.org/drawingml/2006/main">
              <a:ext uri="{FF2B5EF4-FFF2-40B4-BE49-F238E27FC236}">
                <a16:creationId xmlns:a16="http://schemas.microsoft.com/office/drawing/2014/main" id="{DC69BB9B-7126-4D9E-8551-B360DA69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1168">
            <a:extLst xmlns:a="http://schemas.openxmlformats.org/drawingml/2006/main">
              <a:ext uri="{FF2B5EF4-FFF2-40B4-BE49-F238E27FC236}">
                <a16:creationId xmlns:a16="http://schemas.microsoft.com/office/drawing/2014/main" id="{026D77CA-CC72-4BD9-BBB2-888B4F1B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7" name="text-1169">
            <a:extLst xmlns:a="http://schemas.openxmlformats.org/drawingml/2006/main">
              <a:ext uri="{FF2B5EF4-FFF2-40B4-BE49-F238E27FC236}">
                <a16:creationId xmlns:a16="http://schemas.microsoft.com/office/drawing/2014/main" id="{F500E30C-206B-43D4-84C5-AB40DDD7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可信 Agent</a:t>
            </a:r>
          </a:p>
        </p:txBody>
      </p:sp>
      <p:sp>
        <p:nvSpPr>
          <p:cNvPr id="28" name="text-1170">
            <a:extLst xmlns:a="http://schemas.openxmlformats.org/drawingml/2006/main">
              <a:ext uri="{FF2B5EF4-FFF2-40B4-BE49-F238E27FC236}">
                <a16:creationId xmlns:a16="http://schemas.microsoft.com/office/drawing/2014/main" id="{9EC0EDB5-683F-4318-A052-5D209AC0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驗證結果、回報限制、等待授權</a:t>
            </a:r>
          </a:p>
        </p:txBody>
      </p:sp>
      <p:sp>
        <p:nvSpPr>
          <p:cNvPr id="29" name="text-1171">
            <a:extLst xmlns:a="http://schemas.openxmlformats.org/drawingml/2006/main">
              <a:ext uri="{FF2B5EF4-FFF2-40B4-BE49-F238E27FC236}">
                <a16:creationId xmlns:a16="http://schemas.microsoft.com/office/drawing/2014/main" id="{BDB7ECF6-0012-457D-9002-AF3F3D5A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14950"/>
            <a:ext cx="5638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152400" tIns="57150" rIns="1524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每一步都留下可檢查的成果</a:t>
            </a:r>
          </a:p>
        </p:txBody>
      </p:sp>
    </p:spTree>
    <p:extLst>
      <p:ext uri="{BB962C8B-B14F-4D97-AF65-F5344CB8AC3E}">
        <p14:creationId xmlns:p14="http://schemas.microsoft.com/office/powerpoint/2010/main" val="16505821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-1172">
            <a:extLst xmlns:a="http://schemas.openxmlformats.org/drawingml/2006/main">
              <a:ext uri="{FF2B5EF4-FFF2-40B4-BE49-F238E27FC236}">
                <a16:creationId xmlns:a16="http://schemas.microsoft.com/office/drawing/2014/main" id="{E659B91F-FD32-424F-A901-A94249BD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AGENT LOOP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A0A438-A255-43EF-9318-D3C904DD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Agent 五步循環：完成，不是只產生</a:t>
            </a:r>
          </a:p>
        </p:txBody>
      </p:sp>
      <p:cxnSp>
        <p:nvCxnSpPr>
          <p:cNvPr id="38" name="shape-1173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174">
            <a:extLst xmlns:a="http://schemas.openxmlformats.org/drawingml/2006/main">
              <a:ext uri="{FF2B5EF4-FFF2-40B4-BE49-F238E27FC236}">
                <a16:creationId xmlns:a16="http://schemas.microsoft.com/office/drawing/2014/main" id="{F1CBC6C6-E2D3-4426-8A07-3FB28211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82E265E-CBCD-4681-BA83-F3A9B6E9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08</a:t>
            </a:r>
          </a:p>
        </p:txBody>
      </p:sp>
      <p:sp>
        <p:nvSpPr>
          <p:cNvPr id="6" name="shape-1175">
            <a:extLst xmlns:a="http://schemas.openxmlformats.org/drawingml/2006/main">
              <a:ext uri="{FF2B5EF4-FFF2-40B4-BE49-F238E27FC236}">
                <a16:creationId xmlns:a16="http://schemas.microsoft.com/office/drawing/2014/main" id="{3000A1D8-B129-4AC4-B0AE-F6D2C2A9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shape-1176">
            <a:extLst xmlns:a="http://schemas.openxmlformats.org/drawingml/2006/main">
              <a:ext uri="{FF2B5EF4-FFF2-40B4-BE49-F238E27FC236}">
                <a16:creationId xmlns:a16="http://schemas.microsoft.com/office/drawing/2014/main" id="{5957C801-2E45-4213-8F37-842E4B73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177">
            <a:extLst xmlns:a="http://schemas.openxmlformats.org/drawingml/2006/main">
              <a:ext uri="{FF2B5EF4-FFF2-40B4-BE49-F238E27FC236}">
                <a16:creationId xmlns:a16="http://schemas.microsoft.com/office/drawing/2014/main" id="{AFA5A9D5-596C-4EE8-B940-19F77AD5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1178">
            <a:extLst xmlns:a="http://schemas.openxmlformats.org/drawingml/2006/main">
              <a:ext uri="{FF2B5EF4-FFF2-40B4-BE49-F238E27FC236}">
                <a16:creationId xmlns:a16="http://schemas.microsoft.com/office/drawing/2014/main" id="{6EE8FE82-7D7A-4360-BD91-34A6EC3E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理解</a:t>
            </a:r>
          </a:p>
        </p:txBody>
      </p:sp>
      <p:sp>
        <p:nvSpPr>
          <p:cNvPr id="10" name="text-1179">
            <a:extLst xmlns:a="http://schemas.openxmlformats.org/drawingml/2006/main">
              <a:ext uri="{FF2B5EF4-FFF2-40B4-BE49-F238E27FC236}">
                <a16:creationId xmlns:a16="http://schemas.microsoft.com/office/drawing/2014/main" id="{4AEB8C43-5B96-482E-9BDB-7702FE02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確認目標與環境</a:t>
            </a:r>
          </a:p>
        </p:txBody>
      </p:sp>
      <p:sp>
        <p:nvSpPr>
          <p:cNvPr id="11" name="text-1180">
            <a:extLst xmlns:a="http://schemas.openxmlformats.org/drawingml/2006/main">
              <a:ext uri="{FF2B5EF4-FFF2-40B4-BE49-F238E27FC236}">
                <a16:creationId xmlns:a16="http://schemas.microsoft.com/office/drawing/2014/main" id="{754ACB3B-C49C-4A9B-BB6F-77F5C3F2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2" name="shape-1181">
            <a:extLst xmlns:a="http://schemas.openxmlformats.org/drawingml/2006/main">
              <a:ext uri="{FF2B5EF4-FFF2-40B4-BE49-F238E27FC236}">
                <a16:creationId xmlns:a16="http://schemas.microsoft.com/office/drawing/2014/main" id="{86C66139-4596-402D-B738-5032FCF4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3" name="shape-1182">
            <a:extLst xmlns:a="http://schemas.openxmlformats.org/drawingml/2006/main">
              <a:ext uri="{FF2B5EF4-FFF2-40B4-BE49-F238E27FC236}">
                <a16:creationId xmlns:a16="http://schemas.microsoft.com/office/drawing/2014/main" id="{5171328B-F667-449B-B725-8FB59ED3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183">
            <a:extLst xmlns:a="http://schemas.openxmlformats.org/drawingml/2006/main">
              <a:ext uri="{FF2B5EF4-FFF2-40B4-BE49-F238E27FC236}">
                <a16:creationId xmlns:a16="http://schemas.microsoft.com/office/drawing/2014/main" id="{25C8D148-36C4-4D06-8ABA-5CB574C3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5" name="text-1184">
            <a:extLst xmlns:a="http://schemas.openxmlformats.org/drawingml/2006/main">
              <a:ext uri="{FF2B5EF4-FFF2-40B4-BE49-F238E27FC236}">
                <a16:creationId xmlns:a16="http://schemas.microsoft.com/office/drawing/2014/main" id="{14E6C8F1-B752-4E26-908C-C86BE196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規劃</a:t>
            </a:r>
          </a:p>
        </p:txBody>
      </p:sp>
      <p:sp>
        <p:nvSpPr>
          <p:cNvPr id="16" name="text-1185">
            <a:extLst xmlns:a="http://schemas.openxmlformats.org/drawingml/2006/main">
              <a:ext uri="{FF2B5EF4-FFF2-40B4-BE49-F238E27FC236}">
                <a16:creationId xmlns:a16="http://schemas.microsoft.com/office/drawing/2014/main" id="{65422224-1C92-4DE1-8C96-19A09D0F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拆解步驟與風險</a:t>
            </a:r>
          </a:p>
        </p:txBody>
      </p:sp>
      <p:sp>
        <p:nvSpPr>
          <p:cNvPr id="17" name="text-1186">
            <a:extLst xmlns:a="http://schemas.openxmlformats.org/drawingml/2006/main">
              <a:ext uri="{FF2B5EF4-FFF2-40B4-BE49-F238E27FC236}">
                <a16:creationId xmlns:a16="http://schemas.microsoft.com/office/drawing/2014/main" id="{9051C018-E434-4B5C-9567-EE73A54A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8" name="shape-1187">
            <a:extLst xmlns:a="http://schemas.openxmlformats.org/drawingml/2006/main">
              <a:ext uri="{FF2B5EF4-FFF2-40B4-BE49-F238E27FC236}">
                <a16:creationId xmlns:a16="http://schemas.microsoft.com/office/drawing/2014/main" id="{ED524EEE-C64C-4F69-9337-063C02D8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shape-1188">
            <a:extLst xmlns:a="http://schemas.openxmlformats.org/drawingml/2006/main">
              <a:ext uri="{FF2B5EF4-FFF2-40B4-BE49-F238E27FC236}">
                <a16:creationId xmlns:a16="http://schemas.microsoft.com/office/drawing/2014/main" id="{28D01C0C-3FFF-40CD-8932-1A8FA129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189">
            <a:extLst xmlns:a="http://schemas.openxmlformats.org/drawingml/2006/main">
              <a:ext uri="{FF2B5EF4-FFF2-40B4-BE49-F238E27FC236}">
                <a16:creationId xmlns:a16="http://schemas.microsoft.com/office/drawing/2014/main" id="{56732FD2-1DED-45D5-9BCF-025F4E04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text-1190">
            <a:extLst xmlns:a="http://schemas.openxmlformats.org/drawingml/2006/main">
              <a:ext uri="{FF2B5EF4-FFF2-40B4-BE49-F238E27FC236}">
                <a16:creationId xmlns:a16="http://schemas.microsoft.com/office/drawing/2014/main" id="{051C2024-0D51-4105-8D7D-0F8912B1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執行</a:t>
            </a:r>
          </a:p>
        </p:txBody>
      </p:sp>
      <p:sp>
        <p:nvSpPr>
          <p:cNvPr id="22" name="text-1191">
            <a:extLst xmlns:a="http://schemas.openxmlformats.org/drawingml/2006/main">
              <a:ext uri="{FF2B5EF4-FFF2-40B4-BE49-F238E27FC236}">
                <a16:creationId xmlns:a16="http://schemas.microsoft.com/office/drawing/2014/main" id="{E387B5A8-BCE3-42BE-9FDC-F61664F2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讀檔、寫檔、使用工具</a:t>
            </a:r>
          </a:p>
        </p:txBody>
      </p:sp>
      <p:sp>
        <p:nvSpPr>
          <p:cNvPr id="23" name="text-1192">
            <a:extLst xmlns:a="http://schemas.openxmlformats.org/drawingml/2006/main">
              <a:ext uri="{FF2B5EF4-FFF2-40B4-BE49-F238E27FC236}">
                <a16:creationId xmlns:a16="http://schemas.microsoft.com/office/drawing/2014/main" id="{0408FE8D-D16D-4183-B470-5FC53DD0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24" name="shape-1193">
            <a:extLst xmlns:a="http://schemas.openxmlformats.org/drawingml/2006/main">
              <a:ext uri="{FF2B5EF4-FFF2-40B4-BE49-F238E27FC236}">
                <a16:creationId xmlns:a16="http://schemas.microsoft.com/office/drawing/2014/main" id="{056C96B1-6B0A-4148-9D3E-43726BDD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25" name="shape-1194">
            <a:extLst xmlns:a="http://schemas.openxmlformats.org/drawingml/2006/main">
              <a:ext uri="{FF2B5EF4-FFF2-40B4-BE49-F238E27FC236}">
                <a16:creationId xmlns:a16="http://schemas.microsoft.com/office/drawing/2014/main" id="{6A96DAA8-9792-44EC-A2D5-2EBC5DD6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1195">
            <a:extLst xmlns:a="http://schemas.openxmlformats.org/drawingml/2006/main">
              <a:ext uri="{FF2B5EF4-FFF2-40B4-BE49-F238E27FC236}">
                <a16:creationId xmlns:a16="http://schemas.microsoft.com/office/drawing/2014/main" id="{EED4A2F2-20C8-474F-8ADB-DEA51630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7" name="text-1196">
            <a:extLst xmlns:a="http://schemas.openxmlformats.org/drawingml/2006/main">
              <a:ext uri="{FF2B5EF4-FFF2-40B4-BE49-F238E27FC236}">
                <a16:creationId xmlns:a16="http://schemas.microsoft.com/office/drawing/2014/main" id="{91297CF2-DE6A-4D1C-9896-CDAABB2F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驗證</a:t>
            </a:r>
          </a:p>
        </p:txBody>
      </p:sp>
      <p:sp>
        <p:nvSpPr>
          <p:cNvPr id="28" name="text-1197">
            <a:extLst xmlns:a="http://schemas.openxmlformats.org/drawingml/2006/main">
              <a:ext uri="{FF2B5EF4-FFF2-40B4-BE49-F238E27FC236}">
                <a16:creationId xmlns:a16="http://schemas.microsoft.com/office/drawing/2014/main" id="{D4BD2468-983A-4D13-8595-95C5BB01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測試、畫面、差異</a:t>
            </a:r>
          </a:p>
        </p:txBody>
      </p:sp>
      <p:sp>
        <p:nvSpPr>
          <p:cNvPr id="29" name="text-1198">
            <a:extLst xmlns:a="http://schemas.openxmlformats.org/drawingml/2006/main">
              <a:ext uri="{FF2B5EF4-FFF2-40B4-BE49-F238E27FC236}">
                <a16:creationId xmlns:a16="http://schemas.microsoft.com/office/drawing/2014/main" id="{2D159A58-A421-4BA2-B6D7-0534DA6C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30" name="shape-1199">
            <a:extLst xmlns:a="http://schemas.openxmlformats.org/drawingml/2006/main">
              <a:ext uri="{FF2B5EF4-FFF2-40B4-BE49-F238E27FC236}">
                <a16:creationId xmlns:a16="http://schemas.microsoft.com/office/drawing/2014/main" id="{4974DC39-F705-4407-97EE-C1A4615E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31" name="shape-1200">
            <a:extLst xmlns:a="http://schemas.openxmlformats.org/drawingml/2006/main">
              <a:ext uri="{FF2B5EF4-FFF2-40B4-BE49-F238E27FC236}">
                <a16:creationId xmlns:a16="http://schemas.microsoft.com/office/drawing/2014/main" id="{B384141F-1A05-4A31-8858-023DA987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1201">
            <a:extLst xmlns:a="http://schemas.openxmlformats.org/drawingml/2006/main">
              <a:ext uri="{FF2B5EF4-FFF2-40B4-BE49-F238E27FC236}">
                <a16:creationId xmlns:a16="http://schemas.microsoft.com/office/drawing/2014/main" id="{702CE35F-A017-499A-9D88-213B8681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33" name="text-1202">
            <a:extLst xmlns:a="http://schemas.openxmlformats.org/drawingml/2006/main">
              <a:ext uri="{FF2B5EF4-FFF2-40B4-BE49-F238E27FC236}">
                <a16:creationId xmlns:a16="http://schemas.microsoft.com/office/drawing/2014/main" id="{3A586A01-268B-47C0-8932-CB6D3DAB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交付</a:t>
            </a:r>
          </a:p>
        </p:txBody>
      </p:sp>
      <p:sp>
        <p:nvSpPr>
          <p:cNvPr id="34" name="text-1203">
            <a:extLst xmlns:a="http://schemas.openxmlformats.org/drawingml/2006/main">
              <a:ext uri="{FF2B5EF4-FFF2-40B4-BE49-F238E27FC236}">
                <a16:creationId xmlns:a16="http://schemas.microsoft.com/office/drawing/2014/main" id="{8C9D6951-8B27-49B8-9A10-D1108500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成果、限制、下一步</a:t>
            </a:r>
          </a:p>
        </p:txBody>
      </p:sp>
      <p:sp>
        <p:nvSpPr>
          <p:cNvPr id="35" name="text-1204">
            <a:extLst xmlns:a="http://schemas.openxmlformats.org/drawingml/2006/main">
              <a:ext uri="{FF2B5EF4-FFF2-40B4-BE49-F238E27FC236}">
                <a16:creationId xmlns:a16="http://schemas.microsoft.com/office/drawing/2014/main" id="{40A6B272-AFF8-4908-BF36-709D194C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14950"/>
            <a:ext cx="5638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152400" tIns="57150" rIns="1524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每一步都留下可檢查的成果</a:t>
            </a:r>
          </a:p>
        </p:txBody>
      </p:sp>
    </p:spTree>
    <p:extLst>
      <p:ext uri="{BB962C8B-B14F-4D97-AF65-F5344CB8AC3E}">
        <p14:creationId xmlns:p14="http://schemas.microsoft.com/office/powerpoint/2010/main" val="6668053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1205">
            <a:extLst xmlns:a="http://schemas.openxmlformats.org/drawingml/2006/main">
              <a:ext uri="{FF2B5EF4-FFF2-40B4-BE49-F238E27FC236}">
                <a16:creationId xmlns:a16="http://schemas.microsoft.com/office/drawing/2014/main" id="{3A1E592B-3D52-430E-98A6-AB7AB51F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WHY AGENTS NOW · OPENCLAW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844230-DA47-4B5B-B1DC-3406E515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為什麼 Agent 會紅起來？從 OpenClaw 看見「長了手腳」</a:t>
            </a:r>
          </a:p>
        </p:txBody>
      </p:sp>
      <p:cxnSp>
        <p:nvCxnSpPr>
          <p:cNvPr id="30" name="shape-1206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207">
            <a:extLst xmlns:a="http://schemas.openxmlformats.org/drawingml/2006/main">
              <a:ext uri="{FF2B5EF4-FFF2-40B4-BE49-F238E27FC236}">
                <a16:creationId xmlns:a16="http://schemas.microsoft.com/office/drawing/2014/main" id="{985268BB-123A-4F8B-A4FF-95712EA6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8DB5B52-004C-41E0-BE88-805A96A1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09</a:t>
            </a:r>
          </a:p>
        </p:txBody>
      </p:sp>
      <p:sp>
        <p:nvSpPr>
          <p:cNvPr id="6" name="shape-1208">
            <a:extLst xmlns:a="http://schemas.openxmlformats.org/drawingml/2006/main">
              <a:ext uri="{FF2B5EF4-FFF2-40B4-BE49-F238E27FC236}">
                <a16:creationId xmlns:a16="http://schemas.microsoft.com/office/drawing/2014/main" id="{C04A94D8-4DA5-4EA9-AEA4-A19AAFCB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1209">
            <a:extLst xmlns:a="http://schemas.openxmlformats.org/drawingml/2006/main">
              <a:ext uri="{FF2B5EF4-FFF2-40B4-BE49-F238E27FC236}">
                <a16:creationId xmlns:a16="http://schemas.microsoft.com/office/drawing/2014/main" id="{22FC1A53-C0F1-4647-BD9C-A58F85E4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1210">
            <a:extLst xmlns:a="http://schemas.openxmlformats.org/drawingml/2006/main">
              <a:ext uri="{FF2B5EF4-FFF2-40B4-BE49-F238E27FC236}">
                <a16:creationId xmlns:a16="http://schemas.microsoft.com/office/drawing/2014/main" id="{C1303A70-2DAE-4A04-87A8-243CB423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聊天機器人的邊界</a:t>
            </a:r>
          </a:p>
        </p:txBody>
      </p:sp>
      <p:sp>
        <p:nvSpPr>
          <p:cNvPr id="9" name="text-1211">
            <a:extLst xmlns:a="http://schemas.openxmlformats.org/drawingml/2006/main">
              <a:ext uri="{FF2B5EF4-FFF2-40B4-BE49-F238E27FC236}">
                <a16:creationId xmlns:a16="http://schemas.microsoft.com/office/drawing/2014/main" id="{7FC80F3F-574B-4A19-860C-B8AAB558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原本以為 AI 只會回答、摘要與生成文字；Agent 開始接手的是「做事」。</a:t>
            </a:r>
          </a:p>
        </p:txBody>
      </p:sp>
      <p:sp>
        <p:nvSpPr>
          <p:cNvPr id="10" name="shape-1212">
            <a:extLst xmlns:a="http://schemas.openxmlformats.org/drawingml/2006/main">
              <a:ext uri="{FF2B5EF4-FFF2-40B4-BE49-F238E27FC236}">
                <a16:creationId xmlns:a16="http://schemas.microsoft.com/office/drawing/2014/main" id="{4BBFEDE4-C9E8-4A98-A69C-C29B9C67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1213">
            <a:extLst xmlns:a="http://schemas.openxmlformats.org/drawingml/2006/main">
              <a:ext uri="{FF2B5EF4-FFF2-40B4-BE49-F238E27FC236}">
                <a16:creationId xmlns:a16="http://schemas.microsoft.com/office/drawing/2014/main" id="{B43E9C4B-7886-4F8B-9745-80631BC1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1214">
            <a:extLst xmlns:a="http://schemas.openxmlformats.org/drawingml/2006/main">
              <a:ext uri="{FF2B5EF4-FFF2-40B4-BE49-F238E27FC236}">
                <a16:creationId xmlns:a16="http://schemas.microsoft.com/office/drawing/2014/main" id="{E24E56D4-BC38-450A-8D58-88B7E9F6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OpenClaw 的觸發</a:t>
            </a:r>
          </a:p>
        </p:txBody>
      </p:sp>
      <p:sp>
        <p:nvSpPr>
          <p:cNvPr id="13" name="text-1215">
            <a:extLst xmlns:a="http://schemas.openxmlformats.org/drawingml/2006/main">
              <a:ext uri="{FF2B5EF4-FFF2-40B4-BE49-F238E27FC236}">
                <a16:creationId xmlns:a16="http://schemas.microsoft.com/office/drawing/2014/main" id="{7327364A-DB3A-4D16-A928-0BE3D7FE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2026 年初 OpenClaw（小龍蝦）受到高度關注，讓更多人直觀看到模型可以連到裝置、工具與訊息渠道。</a:t>
            </a:r>
          </a:p>
        </p:txBody>
      </p:sp>
      <p:sp>
        <p:nvSpPr>
          <p:cNvPr id="14" name="shape-1216">
            <a:extLst xmlns:a="http://schemas.openxmlformats.org/drawingml/2006/main">
              <a:ext uri="{FF2B5EF4-FFF2-40B4-BE49-F238E27FC236}">
                <a16:creationId xmlns:a16="http://schemas.microsoft.com/office/drawing/2014/main" id="{ECE70B9C-D443-4ABB-A02A-D87EB44C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1217">
            <a:extLst xmlns:a="http://schemas.openxmlformats.org/drawingml/2006/main">
              <a:ext uri="{FF2B5EF4-FFF2-40B4-BE49-F238E27FC236}">
                <a16:creationId xmlns:a16="http://schemas.microsoft.com/office/drawing/2014/main" id="{A445BB39-310C-40B7-AAFF-E6E475F0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1218">
            <a:extLst xmlns:a="http://schemas.openxmlformats.org/drawingml/2006/main">
              <a:ext uri="{FF2B5EF4-FFF2-40B4-BE49-F238E27FC236}">
                <a16:creationId xmlns:a16="http://schemas.microsoft.com/office/drawing/2014/main" id="{27935186-4839-42FE-B3B0-F5B81563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手腳是工具鏈</a:t>
            </a:r>
          </a:p>
        </p:txBody>
      </p:sp>
      <p:sp>
        <p:nvSpPr>
          <p:cNvPr id="17" name="text-1219">
            <a:extLst xmlns:a="http://schemas.openxmlformats.org/drawingml/2006/main">
              <a:ext uri="{FF2B5EF4-FFF2-40B4-BE49-F238E27FC236}">
                <a16:creationId xmlns:a16="http://schemas.microsoft.com/office/drawing/2014/main" id="{1E4AAA37-8CF1-45B4-8906-D9459FFA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透過 MCP、CLI、瀏覽器、檔案與主機工具，Agent 能讀取環境、呼叫軟體、執行命令並回報結果。</a:t>
            </a:r>
          </a:p>
        </p:txBody>
      </p:sp>
      <p:sp>
        <p:nvSpPr>
          <p:cNvPr id="18" name="shape-1220">
            <a:extLst xmlns:a="http://schemas.openxmlformats.org/drawingml/2006/main">
              <a:ext uri="{FF2B5EF4-FFF2-40B4-BE49-F238E27FC236}">
                <a16:creationId xmlns:a16="http://schemas.microsoft.com/office/drawing/2014/main" id="{0C5035D1-341A-454F-899C-372DD5CE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1221">
            <a:extLst xmlns:a="http://schemas.openxmlformats.org/drawingml/2006/main">
              <a:ext uri="{FF2B5EF4-FFF2-40B4-BE49-F238E27FC236}">
                <a16:creationId xmlns:a16="http://schemas.microsoft.com/office/drawing/2014/main" id="{1BBC17F6-CA43-4F9C-A005-06D5921C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1222">
            <a:extLst xmlns:a="http://schemas.openxmlformats.org/drawingml/2006/main">
              <a:ext uri="{FF2B5EF4-FFF2-40B4-BE49-F238E27FC236}">
                <a16:creationId xmlns:a16="http://schemas.microsoft.com/office/drawing/2014/main" id="{AAEF4380-EDD4-425A-B1A8-362B8AD5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產業共同轉向</a:t>
            </a:r>
          </a:p>
        </p:txBody>
      </p:sp>
      <p:sp>
        <p:nvSpPr>
          <p:cNvPr id="21" name="text-1223">
            <a:extLst xmlns:a="http://schemas.openxmlformats.org/drawingml/2006/main">
              <a:ext uri="{FF2B5EF4-FFF2-40B4-BE49-F238E27FC236}">
                <a16:creationId xmlns:a16="http://schemas.microsoft.com/office/drawing/2014/main" id="{4281D5F5-79FE-4F5F-A312-256A56BB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OpenAI、Anthropic、Google 都把工具呼叫、電腦使用與 Agent 工作流推到前線；OpenClaw 讓這條路變得具體可感。</a:t>
            </a:r>
          </a:p>
        </p:txBody>
      </p:sp>
      <p:sp>
        <p:nvSpPr>
          <p:cNvPr id="22" name="text-2377">
            <a:extLst xmlns:a="http://schemas.openxmlformats.org/drawingml/2006/main">
              <a:ext uri="{FF2B5EF4-FFF2-40B4-BE49-F238E27FC236}">
                <a16:creationId xmlns:a16="http://schemas.microsoft.com/office/drawing/2014/main" id="{B5FC746A-A45A-4676-8FEA-BE916778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716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11de8e699c7646c8"/>
              </a:rPr>
              <a:t>OpenClaw 官方網站 ↗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c741a497939b445e"/>
              </a:rPr>
              <a:t>OpenClaw GitHub ↗</a:t>
            </a:r>
          </a:p>
        </p:txBody>
      </p:sp>
      <p:sp>
        <p:nvSpPr>
          <p:cNvPr id="23" name="shape-2428">
            <a:extLst xmlns:a="http://schemas.openxmlformats.org/drawingml/2006/main">
              <a:ext uri="{FF2B5EF4-FFF2-40B4-BE49-F238E27FC236}">
                <a16:creationId xmlns:a16="http://schemas.microsoft.com/office/drawing/2014/main" id="{CE15FBC8-D709-456D-B842-09D882D7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8bb3f5869c47dc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5" name="text-2429">
            <a:extLst xmlns:a="http://schemas.openxmlformats.org/drawingml/2006/main">
              <a:ext uri="{FF2B5EF4-FFF2-40B4-BE49-F238E27FC236}">
                <a16:creationId xmlns:a16="http://schemas.microsoft.com/office/drawing/2014/main" id="{47418692-147F-4700-A8F5-7883B51D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OpenClaw 官方網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94776091c34caf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7" name="text-2430">
            <a:extLst xmlns:a="http://schemas.openxmlformats.org/drawingml/2006/main">
              <a:ext uri="{FF2B5EF4-FFF2-40B4-BE49-F238E27FC236}">
                <a16:creationId xmlns:a16="http://schemas.microsoft.com/office/drawing/2014/main" id="{1AF471EA-7BFC-4D86-A04C-C1D9D629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OpenClaw Git</a:t>
            </a:r>
          </a:p>
        </p:txBody>
      </p:sp>
    </p:spTree>
    <p:extLst>
      <p:ext uri="{BB962C8B-B14F-4D97-AF65-F5344CB8AC3E}">
        <p14:creationId xmlns:p14="http://schemas.microsoft.com/office/powerpoint/2010/main" val="9389178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1224">
            <a:extLst xmlns:a="http://schemas.openxmlformats.org/drawingml/2006/main">
              <a:ext uri="{FF2B5EF4-FFF2-40B4-BE49-F238E27FC236}">
                <a16:creationId xmlns:a16="http://schemas.microsoft.com/office/drawing/2014/main" id="{75A04CA7-1B0A-4A9C-8D19-64CEB6EF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HUMAN-IN-THE-LOOP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4018DF-4831-482B-93C8-78CE9597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Human-in-the-loop：人在 Agent 閉環裡做決策</a:t>
            </a:r>
          </a:p>
        </p:txBody>
      </p:sp>
      <p:cxnSp>
        <p:nvCxnSpPr>
          <p:cNvPr id="24" name="shape-1225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226">
            <a:extLst xmlns:a="http://schemas.openxmlformats.org/drawingml/2006/main">
              <a:ext uri="{FF2B5EF4-FFF2-40B4-BE49-F238E27FC236}">
                <a16:creationId xmlns:a16="http://schemas.microsoft.com/office/drawing/2014/main" id="{7937BA02-CDD4-4E6A-9941-8BA24F6A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FB98F33-8BFD-437D-A391-7FBBF725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10</a:t>
            </a:r>
          </a:p>
        </p:txBody>
      </p:sp>
      <p:sp>
        <p:nvSpPr>
          <p:cNvPr id="6" name="shape-1227">
            <a:extLst xmlns:a="http://schemas.openxmlformats.org/drawingml/2006/main">
              <a:ext uri="{FF2B5EF4-FFF2-40B4-BE49-F238E27FC236}">
                <a16:creationId xmlns:a16="http://schemas.microsoft.com/office/drawing/2014/main" id="{0DF04550-3E60-4FFE-BAFA-32BAC248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1228">
            <a:extLst xmlns:a="http://schemas.openxmlformats.org/drawingml/2006/main">
              <a:ext uri="{FF2B5EF4-FFF2-40B4-BE49-F238E27FC236}">
                <a16:creationId xmlns:a16="http://schemas.microsoft.com/office/drawing/2014/main" id="{A552DCDF-86EF-440F-83B8-8A8028D1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RUN</a:t>
            </a:r>
          </a:p>
        </p:txBody>
      </p:sp>
      <p:sp>
        <p:nvSpPr>
          <p:cNvPr id="8" name="text-1229">
            <a:extLst xmlns:a="http://schemas.openxmlformats.org/drawingml/2006/main">
              <a:ext uri="{FF2B5EF4-FFF2-40B4-BE49-F238E27FC236}">
                <a16:creationId xmlns:a16="http://schemas.microsoft.com/office/drawing/2014/main" id="{06041C93-D540-40BA-96AF-D2437D45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Agent 的閉環</a:t>
            </a:r>
          </a:p>
        </p:txBody>
      </p:sp>
      <p:sp>
        <p:nvSpPr>
          <p:cNvPr id="9" name="text-1230">
            <a:extLst xmlns:a="http://schemas.openxmlformats.org/drawingml/2006/main">
              <a:ext uri="{FF2B5EF4-FFF2-40B4-BE49-F238E27FC236}">
                <a16:creationId xmlns:a16="http://schemas.microsoft.com/office/drawing/2014/main" id="{716D47FF-785F-4D70-9A20-C3FCD8D8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給定目標後，Agent 可以理解、規劃、執行、驗證與交付，長時間不中斷地推進。</a:t>
            </a:r>
          </a:p>
        </p:txBody>
      </p:sp>
      <p:sp>
        <p:nvSpPr>
          <p:cNvPr id="10" name="shape-1231">
            <a:extLst xmlns:a="http://schemas.openxmlformats.org/drawingml/2006/main">
              <a:ext uri="{FF2B5EF4-FFF2-40B4-BE49-F238E27FC236}">
                <a16:creationId xmlns:a16="http://schemas.microsoft.com/office/drawing/2014/main" id="{21541D5C-6B93-490C-A66D-71847B08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1232">
            <a:extLst xmlns:a="http://schemas.openxmlformats.org/drawingml/2006/main">
              <a:ext uri="{FF2B5EF4-FFF2-40B4-BE49-F238E27FC236}">
                <a16:creationId xmlns:a16="http://schemas.microsoft.com/office/drawing/2014/main" id="{800E7895-EEF4-478D-BFE9-38EE63DA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15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LOOK</a:t>
            </a:r>
          </a:p>
        </p:txBody>
      </p:sp>
      <p:sp>
        <p:nvSpPr>
          <p:cNvPr id="12" name="text-1233">
            <a:extLst xmlns:a="http://schemas.openxmlformats.org/drawingml/2006/main">
              <a:ext uri="{FF2B5EF4-FFF2-40B4-BE49-F238E27FC236}">
                <a16:creationId xmlns:a16="http://schemas.microsoft.com/office/drawing/2014/main" id="{8E4DF580-34DD-4F0A-9A35-90D882B2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人監控方向</a:t>
            </a:r>
          </a:p>
        </p:txBody>
      </p:sp>
      <p:sp>
        <p:nvSpPr>
          <p:cNvPr id="13" name="text-1234">
            <a:extLst xmlns:a="http://schemas.openxmlformats.org/drawingml/2006/main">
              <a:ext uri="{FF2B5EF4-FFF2-40B4-BE49-F238E27FC236}">
                <a16:creationId xmlns:a16="http://schemas.microsoft.com/office/drawing/2014/main" id="{6F2317C7-FDB0-42B0-A89D-DFACFEC8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人仍在 loop 裡看計畫、看證據，確認 Agent 沒有做錯、做歪或偏離真正目的。</a:t>
            </a:r>
          </a:p>
        </p:txBody>
      </p:sp>
      <p:sp>
        <p:nvSpPr>
          <p:cNvPr id="14" name="shape-1235">
            <a:extLst xmlns:a="http://schemas.openxmlformats.org/drawingml/2006/main">
              <a:ext uri="{FF2B5EF4-FFF2-40B4-BE49-F238E27FC236}">
                <a16:creationId xmlns:a16="http://schemas.microsoft.com/office/drawing/2014/main" id="{97DBFF29-AA46-40BD-B8F1-0625F145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1236">
            <a:extLst xmlns:a="http://schemas.openxmlformats.org/drawingml/2006/main">
              <a:ext uri="{FF2B5EF4-FFF2-40B4-BE49-F238E27FC236}">
                <a16:creationId xmlns:a16="http://schemas.microsoft.com/office/drawing/2014/main" id="{AE34AA1A-3FC9-420A-9F95-9100CAD8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STOP</a:t>
            </a:r>
          </a:p>
        </p:txBody>
      </p:sp>
      <p:sp>
        <p:nvSpPr>
          <p:cNvPr id="16" name="text-1237">
            <a:extLst xmlns:a="http://schemas.openxmlformats.org/drawingml/2006/main">
              <a:ext uri="{FF2B5EF4-FFF2-40B4-BE49-F238E27FC236}">
                <a16:creationId xmlns:a16="http://schemas.microsoft.com/office/drawing/2014/main" id="{879947DE-6034-44BB-8390-ADF80BAD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關鍵節點停下</a:t>
            </a:r>
          </a:p>
        </p:txBody>
      </p:sp>
      <p:sp>
        <p:nvSpPr>
          <p:cNvPr id="17" name="text-1238">
            <a:extLst xmlns:a="http://schemas.openxmlformats.org/drawingml/2006/main">
              <a:ext uri="{FF2B5EF4-FFF2-40B4-BE49-F238E27FC236}">
                <a16:creationId xmlns:a16="http://schemas.microsoft.com/office/drawing/2014/main" id="{DAA44D77-F5F7-43AB-8011-85D715F5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遇到刪除、公開、上傳、敏感資料或高影響決策，必須停下來請人確認。</a:t>
            </a:r>
          </a:p>
        </p:txBody>
      </p:sp>
      <p:sp>
        <p:nvSpPr>
          <p:cNvPr id="18" name="shape-1239">
            <a:extLst xmlns:a="http://schemas.openxmlformats.org/drawingml/2006/main">
              <a:ext uri="{FF2B5EF4-FFF2-40B4-BE49-F238E27FC236}">
                <a16:creationId xmlns:a16="http://schemas.microsoft.com/office/drawing/2014/main" id="{825D3964-28E2-4261-BC2E-A6A78C03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1240">
            <a:extLst xmlns:a="http://schemas.openxmlformats.org/drawingml/2006/main">
              <a:ext uri="{FF2B5EF4-FFF2-40B4-BE49-F238E27FC236}">
                <a16:creationId xmlns:a16="http://schemas.microsoft.com/office/drawing/2014/main" id="{AF7835A9-6D3B-43CC-8F15-4F9DEEF0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6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TRUST</a:t>
            </a:r>
          </a:p>
        </p:txBody>
      </p:sp>
      <p:sp>
        <p:nvSpPr>
          <p:cNvPr id="20" name="text-1241">
            <a:extLst xmlns:a="http://schemas.openxmlformats.org/drawingml/2006/main">
              <a:ext uri="{FF2B5EF4-FFF2-40B4-BE49-F238E27FC236}">
                <a16:creationId xmlns:a16="http://schemas.microsoft.com/office/drawing/2014/main" id="{F2B69762-8188-4B3E-B803-E7E2B789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慢一點更可信</a:t>
            </a:r>
          </a:p>
        </p:txBody>
      </p:sp>
      <p:sp>
        <p:nvSpPr>
          <p:cNvPr id="21" name="text-1242">
            <a:extLst xmlns:a="http://schemas.openxmlformats.org/drawingml/2006/main">
              <a:ext uri="{FF2B5EF4-FFF2-40B4-BE49-F238E27FC236}">
                <a16:creationId xmlns:a16="http://schemas.microsoft.com/office/drawing/2014/main" id="{9A7D1E0B-332D-4D5A-ACF4-A803BB88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人類介入可能降低純自動化速度，卻能換取正確性、可追查性與責任清楚。</a:t>
            </a:r>
          </a:p>
        </p:txBody>
      </p:sp>
    </p:spTree>
    <p:extLst>
      <p:ext uri="{BB962C8B-B14F-4D97-AF65-F5344CB8AC3E}">
        <p14:creationId xmlns:p14="http://schemas.microsoft.com/office/powerpoint/2010/main" val="12176649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1243">
            <a:extLst xmlns:a="http://schemas.openxmlformats.org/drawingml/2006/main">
              <a:ext uri="{FF2B5EF4-FFF2-40B4-BE49-F238E27FC236}">
                <a16:creationId xmlns:a16="http://schemas.microsoft.com/office/drawing/2014/main" id="{26128878-9E4A-4438-A800-E00FB0A5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AGENT PERSONALITY &amp; STRATEGY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D9D25E-7058-44FD-B2E9-71566BF0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28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三大 Agent 的人生交往學：看個性、選伴侶、配任務</a:t>
            </a:r>
          </a:p>
        </p:txBody>
      </p:sp>
      <p:cxnSp>
        <p:nvCxnSpPr>
          <p:cNvPr id="31" name="shape-1244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245">
            <a:extLst xmlns:a="http://schemas.openxmlformats.org/drawingml/2006/main">
              <a:ext uri="{FF2B5EF4-FFF2-40B4-BE49-F238E27FC236}">
                <a16:creationId xmlns:a16="http://schemas.microsoft.com/office/drawing/2014/main" id="{5C558F23-CD3B-45A8-AED4-CC349C9D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8D9E6CB-3893-49D2-801C-48EECB5B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11</a:t>
            </a:r>
          </a:p>
        </p:txBody>
      </p:sp>
      <p:sp>
        <p:nvSpPr>
          <p:cNvPr id="6" name="shape-1246">
            <a:extLst xmlns:a="http://schemas.openxmlformats.org/drawingml/2006/main">
              <a:ext uri="{FF2B5EF4-FFF2-40B4-BE49-F238E27FC236}">
                <a16:creationId xmlns:a16="http://schemas.microsoft.com/office/drawing/2014/main" id="{8BA5965B-09BA-4253-A3B3-4CC4783B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3594100" cy="426720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shape-1247">
            <a:extLst xmlns:a="http://schemas.openxmlformats.org/drawingml/2006/main">
              <a:ext uri="{FF2B5EF4-FFF2-40B4-BE49-F238E27FC236}">
                <a16:creationId xmlns:a16="http://schemas.microsoft.com/office/drawing/2014/main" id="{354865CD-136F-4A73-ADDF-E22E951E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3175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248">
            <a:extLst xmlns:a="http://schemas.openxmlformats.org/drawingml/2006/main">
              <a:ext uri="{FF2B5EF4-FFF2-40B4-BE49-F238E27FC236}">
                <a16:creationId xmlns:a16="http://schemas.microsoft.com/office/drawing/2014/main" id="{8EDD5DCA-8158-4769-A2E0-9D78BABB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G</a:t>
            </a:r>
          </a:p>
        </p:txBody>
      </p:sp>
      <p:sp>
        <p:nvSpPr>
          <p:cNvPr id="9" name="text-1249">
            <a:extLst xmlns:a="http://schemas.openxmlformats.org/drawingml/2006/main">
              <a:ext uri="{FF2B5EF4-FFF2-40B4-BE49-F238E27FC236}">
                <a16:creationId xmlns:a16="http://schemas.microsoft.com/office/drawing/2014/main" id="{C8931F98-374B-4A2A-A807-85434D24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317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5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Antigravity／Gemini 3.7 Flash</a:t>
            </a:r>
          </a:p>
        </p:txBody>
      </p:sp>
      <p:sp>
        <p:nvSpPr>
          <p:cNvPr id="10" name="text-1250">
            <a:extLst xmlns:a="http://schemas.openxmlformats.org/drawingml/2006/main">
              <a:ext uri="{FF2B5EF4-FFF2-40B4-BE49-F238E27FC236}">
                <a16:creationId xmlns:a16="http://schemas.microsoft.com/office/drawing/2014/main" id="{A736C661-6DB8-424C-BBF0-E9CBD32E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31750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• 定位：Google 最新 GA 的 Agent 工作馬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• 個人體感：相較其他家 Agent，速度快 20 倍以上，像熱血年輕人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• 優勢：複雜 coding、工具規劃、長鏈任務與可靠多步驟執行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• 邊界：仍要設定 Harness、權限與驗收</a:t>
            </a:r>
          </a:p>
        </p:txBody>
      </p:sp>
      <p:sp>
        <p:nvSpPr>
          <p:cNvPr id="11" name="shape-1251">
            <a:extLst xmlns:a="http://schemas.openxmlformats.org/drawingml/2006/main">
              <a:ext uri="{FF2B5EF4-FFF2-40B4-BE49-F238E27FC236}">
                <a16:creationId xmlns:a16="http://schemas.microsoft.com/office/drawing/2014/main" id="{F2CE237C-DA13-4A8F-BF1C-828DF0BF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1676400"/>
            <a:ext cx="3594100" cy="426720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2" name="shape-1252">
            <a:extLst xmlns:a="http://schemas.openxmlformats.org/drawingml/2006/main">
              <a:ext uri="{FF2B5EF4-FFF2-40B4-BE49-F238E27FC236}">
                <a16:creationId xmlns:a16="http://schemas.microsoft.com/office/drawing/2014/main" id="{B45A2463-8971-4E51-8D1B-D4D28C3B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885950"/>
            <a:ext cx="3175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1253">
            <a:extLst xmlns:a="http://schemas.openxmlformats.org/drawingml/2006/main">
              <a:ext uri="{FF2B5EF4-FFF2-40B4-BE49-F238E27FC236}">
                <a16:creationId xmlns:a16="http://schemas.microsoft.com/office/drawing/2014/main" id="{39377003-F4E5-4FAC-ADA4-31B98B4F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1336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9775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C</a:t>
            </a:r>
          </a:p>
        </p:txBody>
      </p:sp>
      <p:sp>
        <p:nvSpPr>
          <p:cNvPr id="14" name="text-1254">
            <a:extLst xmlns:a="http://schemas.openxmlformats.org/drawingml/2006/main">
              <a:ext uri="{FF2B5EF4-FFF2-40B4-BE49-F238E27FC236}">
                <a16:creationId xmlns:a16="http://schemas.microsoft.com/office/drawing/2014/main" id="{EC71DEEB-B384-4FE1-B913-CA87B182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705100"/>
            <a:ext cx="317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Claude</a:t>
            </a:r>
          </a:p>
        </p:txBody>
      </p:sp>
      <p:sp>
        <p:nvSpPr>
          <p:cNvPr id="15" name="text-1255">
            <a:extLst xmlns:a="http://schemas.openxmlformats.org/drawingml/2006/main">
              <a:ext uri="{FF2B5EF4-FFF2-40B4-BE49-F238E27FC236}">
                <a16:creationId xmlns:a16="http://schemas.microsoft.com/office/drawing/2014/main" id="{20CCD754-C8ED-4DDB-854D-AC05F408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467100"/>
            <a:ext cx="31750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2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• 人設：成熟穩重的終身伴侶，進入細水長流的婚姻穩定期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• 優勢：極致沉穩可靠，代碼與長鏈任務完全不用擔心翻車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• 特性：少突發驚喜，Token 燒完必須耐心等每週週期重置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• 最適合：大型系統重構、複雜多檔分析、關鍵高難度任務</a:t>
            </a:r>
          </a:p>
        </p:txBody>
      </p:sp>
      <p:sp>
        <p:nvSpPr>
          <p:cNvPr id="16" name="shape-1256">
            <a:extLst xmlns:a="http://schemas.openxmlformats.org/drawingml/2006/main">
              <a:ext uri="{FF2B5EF4-FFF2-40B4-BE49-F238E27FC236}">
                <a16:creationId xmlns:a16="http://schemas.microsoft.com/office/drawing/2014/main" id="{354C53BC-CE64-40BA-BA53-5952958B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1676400"/>
            <a:ext cx="3594100" cy="426720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7" name="shape-1257">
            <a:extLst xmlns:a="http://schemas.openxmlformats.org/drawingml/2006/main">
              <a:ext uri="{FF2B5EF4-FFF2-40B4-BE49-F238E27FC236}">
                <a16:creationId xmlns:a16="http://schemas.microsoft.com/office/drawing/2014/main" id="{11BB602B-6561-44CB-8B13-94842573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1885950"/>
            <a:ext cx="3175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1258">
            <a:extLst xmlns:a="http://schemas.openxmlformats.org/drawingml/2006/main">
              <a:ext uri="{FF2B5EF4-FFF2-40B4-BE49-F238E27FC236}">
                <a16:creationId xmlns:a16="http://schemas.microsoft.com/office/drawing/2014/main" id="{D26E7757-C02C-448F-9336-0AF71956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1336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X</a:t>
            </a:r>
          </a:p>
        </p:txBody>
      </p:sp>
      <p:sp>
        <p:nvSpPr>
          <p:cNvPr id="19" name="text-1259">
            <a:extLst xmlns:a="http://schemas.openxmlformats.org/drawingml/2006/main">
              <a:ext uri="{FF2B5EF4-FFF2-40B4-BE49-F238E27FC236}">
                <a16:creationId xmlns:a16="http://schemas.microsoft.com/office/drawing/2014/main" id="{6510922C-2AA3-42A5-AED3-0F0FF37C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705100"/>
            <a:ext cx="317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Codex／ChatGPT</a:t>
            </a:r>
          </a:p>
        </p:txBody>
      </p:sp>
      <p:sp>
        <p:nvSpPr>
          <p:cNvPr id="20" name="text-1260">
            <a:extLst xmlns:a="http://schemas.openxmlformats.org/drawingml/2006/main">
              <a:ext uri="{FF2B5EF4-FFF2-40B4-BE49-F238E27FC236}">
                <a16:creationId xmlns:a16="http://schemas.microsoft.com/office/drawing/2014/main" id="{74A50632-9F76-4392-A595-D3377F23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467100"/>
            <a:ext cx="31750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6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• 人設：變化性最大、彈性極高的情人，可切換 1.5 倍速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• 優勢：支援原生語音流暢口述，要快要穩隨心所欲靈活切換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• 亮點：常有重置驚喜與 100% 回檔彈性，讓你隨時接關做下去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• 最適合：日常研究輔助、互動工具、語音實作、頻繁試錯</a:t>
            </a:r>
          </a:p>
        </p:txBody>
      </p:sp>
      <p:sp>
        <p:nvSpPr>
          <p:cNvPr id="21" name="text-2376">
            <a:extLst xmlns:a="http://schemas.openxmlformats.org/drawingml/2006/main">
              <a:ext uri="{FF2B5EF4-FFF2-40B4-BE49-F238E27FC236}">
                <a16:creationId xmlns:a16="http://schemas.microsoft.com/office/drawing/2014/main" id="{E8FE9A78-01AA-4F62-9DE1-4E89E78C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0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ae7013fec7274533"/>
              </a:rPr>
              <a:t>Antigravity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584fa776b1ca4fdb"/>
              </a:rPr>
              <a:t>Codex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91db1964814d41e5"/>
              </a:rPr>
              <a:t>Claude ↗</a:t>
            </a:r>
          </a:p>
        </p:txBody>
      </p:sp>
      <p:sp>
        <p:nvSpPr>
          <p:cNvPr id="22" name="shape-2424">
            <a:extLst xmlns:a="http://schemas.openxmlformats.org/drawingml/2006/main">
              <a:ext uri="{FF2B5EF4-FFF2-40B4-BE49-F238E27FC236}">
                <a16:creationId xmlns:a16="http://schemas.microsoft.com/office/drawing/2014/main" id="{17A4FA61-ABF4-4C9E-AC41-DEE647B7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"/>
            <a:ext cx="2247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f86e60b3f844df"/>
          <a:stretch xmlns:a="http://schemas.openxmlformats.org/drawingml/2006/main"/>
        </p:blipFill>
        <p:spPr>
          <a:xfrm xmlns:a="http://schemas.openxmlformats.org/drawingml/2006/main">
            <a:off x="95059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4" name="text-2425">
            <a:extLst xmlns:a="http://schemas.openxmlformats.org/drawingml/2006/main">
              <a:ext uri="{FF2B5EF4-FFF2-40B4-BE49-F238E27FC236}">
                <a16:creationId xmlns:a16="http://schemas.microsoft.com/office/drawing/2014/main" id="{FE5521EA-338C-4E8C-9F67-02446BF9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e2f58d39a0408f"/>
          <a:stretch xmlns:a="http://schemas.openxmlformats.org/drawingml/2006/main"/>
        </p:blipFill>
        <p:spPr>
          <a:xfrm xmlns:a="http://schemas.openxmlformats.org/drawingml/2006/main">
            <a:off x="102298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6" name="text-2426">
            <a:extLst xmlns:a="http://schemas.openxmlformats.org/drawingml/2006/main">
              <a:ext uri="{FF2B5EF4-FFF2-40B4-BE49-F238E27FC236}">
                <a16:creationId xmlns:a16="http://schemas.microsoft.com/office/drawing/2014/main" id="{6294609A-AE9F-49C9-893E-0E4573C0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000dbf215841dd"/>
          <a:stretch xmlns:a="http://schemas.openxmlformats.org/drawingml/2006/main"/>
        </p:blipFill>
        <p:spPr>
          <a:xfrm xmlns:a="http://schemas.openxmlformats.org/drawingml/2006/main">
            <a:off x="109537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8" name="text-2427">
            <a:extLst xmlns:a="http://schemas.openxmlformats.org/drawingml/2006/main">
              <a:ext uri="{FF2B5EF4-FFF2-40B4-BE49-F238E27FC236}">
                <a16:creationId xmlns:a16="http://schemas.microsoft.com/office/drawing/2014/main" id="{88D0D5BE-75C4-4BF2-A3BF-8D3A9E5A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Claude</a:t>
            </a:r>
          </a:p>
        </p:txBody>
      </p:sp>
    </p:spTree>
    <p:extLst>
      <p:ext uri="{BB962C8B-B14F-4D97-AF65-F5344CB8AC3E}">
        <p14:creationId xmlns:p14="http://schemas.microsoft.com/office/powerpoint/2010/main" val="7091301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1261">
            <a:extLst xmlns:a="http://schemas.openxmlformats.org/drawingml/2006/main">
              <a:ext uri="{FF2B5EF4-FFF2-40B4-BE49-F238E27FC236}">
                <a16:creationId xmlns:a16="http://schemas.microsoft.com/office/drawing/2014/main" id="{6370732A-412B-41C1-B9BB-98B715EF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CONTINUITY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8F7477-A41F-4530-8A3F-4C6C1E54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下午不重做：直接升級上午成果</a:t>
            </a:r>
          </a:p>
        </p:txBody>
      </p:sp>
      <p:cxnSp>
        <p:nvCxnSpPr>
          <p:cNvPr id="20" name="shape-1262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263">
            <a:extLst xmlns:a="http://schemas.openxmlformats.org/drawingml/2006/main">
              <a:ext uri="{FF2B5EF4-FFF2-40B4-BE49-F238E27FC236}">
                <a16:creationId xmlns:a16="http://schemas.microsoft.com/office/drawing/2014/main" id="{1BE4C6E0-1E4C-436D-A31A-E90A5B62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F2A4F82-9B5E-44F9-B6EC-81E8EC90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12</a:t>
            </a:r>
          </a:p>
        </p:txBody>
      </p:sp>
      <p:sp>
        <p:nvSpPr>
          <p:cNvPr id="6" name="shape-1264">
            <a:extLst xmlns:a="http://schemas.openxmlformats.org/drawingml/2006/main">
              <a:ext uri="{FF2B5EF4-FFF2-40B4-BE49-F238E27FC236}">
                <a16:creationId xmlns:a16="http://schemas.microsoft.com/office/drawing/2014/main" id="{FA84F814-FF65-403F-8DCE-A471336D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3625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shape-1265">
            <a:extLst xmlns:a="http://schemas.openxmlformats.org/drawingml/2006/main">
              <a:ext uri="{FF2B5EF4-FFF2-40B4-BE49-F238E27FC236}">
                <a16:creationId xmlns:a16="http://schemas.microsoft.com/office/drawing/2014/main" id="{E2AADC1E-C82E-4C90-90E2-D1C066B5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676400"/>
            <a:ext cx="55911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8" name="text-1266">
            <a:extLst xmlns:a="http://schemas.openxmlformats.org/drawingml/2006/main">
              <a:ext uri="{FF2B5EF4-FFF2-40B4-BE49-F238E27FC236}">
                <a16:creationId xmlns:a16="http://schemas.microsoft.com/office/drawing/2014/main" id="{DD956E9C-17E3-4EFE-911C-ACC97B67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791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上午已有</a:t>
            </a:r>
          </a:p>
        </p:txBody>
      </p:sp>
      <p:sp>
        <p:nvSpPr>
          <p:cNvPr id="9" name="text-1267">
            <a:extLst xmlns:a="http://schemas.openxmlformats.org/drawingml/2006/main">
              <a:ext uri="{FF2B5EF4-FFF2-40B4-BE49-F238E27FC236}">
                <a16:creationId xmlns:a16="http://schemas.microsoft.com/office/drawing/2014/main" id="{C22AD16D-6936-441C-B056-AC2692AA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47910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Gemini Notebook 來源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Gem 教學方法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Canvas 互動原型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部署或分享連結</a:t>
            </a:r>
          </a:p>
        </p:txBody>
      </p:sp>
      <p:sp>
        <p:nvSpPr>
          <p:cNvPr id="10" name="text-1268">
            <a:extLst xmlns:a="http://schemas.openxmlformats.org/drawingml/2006/main">
              <a:ext uri="{FF2B5EF4-FFF2-40B4-BE49-F238E27FC236}">
                <a16:creationId xmlns:a16="http://schemas.microsoft.com/office/drawing/2014/main" id="{E6DAF96E-5383-414A-B51D-E0C54A2A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00250"/>
            <a:ext cx="4981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下午新增</a:t>
            </a:r>
          </a:p>
        </p:txBody>
      </p:sp>
      <p:sp>
        <p:nvSpPr>
          <p:cNvPr id="11" name="text-1269">
            <a:extLst xmlns:a="http://schemas.openxmlformats.org/drawingml/2006/main">
              <a:ext uri="{FF2B5EF4-FFF2-40B4-BE49-F238E27FC236}">
                <a16:creationId xmlns:a16="http://schemas.microsoft.com/office/drawing/2014/main" id="{2D7ED87D-BE3A-4EF1-A955-2B8E4655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81300"/>
            <a:ext cx="49815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專案資料夾與任務簡報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Agent 修改與測試證據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可重複使用的 Skill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跨工具驗證紀錄</a:t>
            </a:r>
          </a:p>
        </p:txBody>
      </p:sp>
      <p:sp>
        <p:nvSpPr>
          <p:cNvPr id="12" name="text-1270">
            <a:extLst xmlns:a="http://schemas.openxmlformats.org/drawingml/2006/main">
              <a:ext uri="{FF2B5EF4-FFF2-40B4-BE49-F238E27FC236}">
                <a16:creationId xmlns:a16="http://schemas.microsoft.com/office/drawing/2014/main" id="{D5CFA3E8-187A-400F-A9CA-EB54946C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2381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上午成果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來源、Gem、Canvas、連結</a:t>
            </a:r>
          </a:p>
        </p:txBody>
      </p:sp>
      <p:sp>
        <p:nvSpPr>
          <p:cNvPr id="13" name="text-1271">
            <a:extLst xmlns:a="http://schemas.openxmlformats.org/drawingml/2006/main">
              <a:ext uri="{FF2B5EF4-FFF2-40B4-BE49-F238E27FC236}">
                <a16:creationId xmlns:a16="http://schemas.microsoft.com/office/drawing/2014/main" id="{AB70DC4B-2372-44F2-844B-A35059E1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876800"/>
            <a:ext cx="2381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同一個問題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繼續往下做</a:t>
            </a:r>
          </a:p>
        </p:txBody>
      </p:sp>
      <p:sp>
        <p:nvSpPr>
          <p:cNvPr id="14" name="text-1272">
            <a:extLst xmlns:a="http://schemas.openxmlformats.org/drawingml/2006/main">
              <a:ext uri="{FF2B5EF4-FFF2-40B4-BE49-F238E27FC236}">
                <a16:creationId xmlns:a16="http://schemas.microsoft.com/office/drawing/2014/main" id="{B5514D42-0A76-4AF5-9BF6-9CC882FB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876800"/>
            <a:ext cx="2381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EECE7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下午升級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任務、Skill、證據、驗證</a:t>
            </a:r>
          </a:p>
        </p:txBody>
      </p:sp>
      <p:cxnSp>
        <p:nvCxnSpPr>
          <p:cNvPr id="32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81350" y="5181600"/>
            <a:ext cx="1724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B64DA"/>
            </a:solidFill>
            <a:prstDash val="solid"/>
            <a:tailEnd type="arrow" w="sm" len="sm"/>
          </a:ln>
        </p:spPr>
      </p:cxnSp>
      <p:cxnSp>
        <p:nvCxnSpPr>
          <p:cNvPr id="33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286625" y="5181600"/>
            <a:ext cx="1724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6B4A"/>
            </a:solidFill>
            <a:prstDash val="solid"/>
            <a:tailEnd type="arrow" w="sm" len="sm"/>
          </a:ln>
        </p:spPr>
      </p:cxnSp>
      <p:sp>
        <p:nvSpPr>
          <p:cNvPr id="17" name="text-1273">
            <a:extLst xmlns:a="http://schemas.openxmlformats.org/drawingml/2006/main">
              <a:ext uri="{FF2B5EF4-FFF2-40B4-BE49-F238E27FC236}">
                <a16:creationId xmlns:a16="http://schemas.microsoft.com/office/drawing/2014/main" id="{837B7C13-8478-4738-9D36-B2BCE443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619750"/>
            <a:ext cx="598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不是重做，而是把作品變成可重複流程</a:t>
            </a:r>
          </a:p>
        </p:txBody>
      </p:sp>
    </p:spTree>
    <p:extLst>
      <p:ext uri="{BB962C8B-B14F-4D97-AF65-F5344CB8AC3E}">
        <p14:creationId xmlns:p14="http://schemas.microsoft.com/office/powerpoint/2010/main" val="6443349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1274">
            <a:extLst xmlns:a="http://schemas.openxmlformats.org/drawingml/2006/main">
              <a:ext uri="{FF2B5EF4-FFF2-40B4-BE49-F238E27FC236}">
                <a16:creationId xmlns:a16="http://schemas.microsoft.com/office/drawing/2014/main" id="{9A56A13A-5DEF-4E4B-B390-A2220B48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AKAI CASE NAVIGATION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7C9DC9-478C-4E00-9C1A-3643713B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阿凱老師實戰案例導航｜資料與 Agent Skills</a:t>
            </a:r>
          </a:p>
        </p:txBody>
      </p:sp>
      <p:cxnSp>
        <p:nvCxnSpPr>
          <p:cNvPr id="33" name="shape-1275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276">
            <a:extLst xmlns:a="http://schemas.openxmlformats.org/drawingml/2006/main">
              <a:ext uri="{FF2B5EF4-FFF2-40B4-BE49-F238E27FC236}">
                <a16:creationId xmlns:a16="http://schemas.microsoft.com/office/drawing/2014/main" id="{94CEE61E-6F53-464F-AF66-F6C1CFF0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4C20516-299A-48D8-BD0B-A83A7874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13</a:t>
            </a:r>
          </a:p>
        </p:txBody>
      </p:sp>
      <p:sp>
        <p:nvSpPr>
          <p:cNvPr id="6" name="text-1277">
            <a:extLst xmlns:a="http://schemas.openxmlformats.org/drawingml/2006/main">
              <a:ext uri="{FF2B5EF4-FFF2-40B4-BE49-F238E27FC236}">
                <a16:creationId xmlns:a16="http://schemas.microsoft.com/office/drawing/2014/main" id="{E3FB01E5-2112-4F50-8EE8-F8922283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1116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從學生表現分析、PIRLS 評量設計到 Web Agent 技能，觀察可驗證的工作流程。</a:t>
            </a:r>
          </a:p>
        </p:txBody>
      </p:sp>
      <p:sp>
        <p:nvSpPr>
          <p:cNvPr id="7" name="shape-1278">
            <a:extLst xmlns:a="http://schemas.openxmlformats.org/drawingml/2006/main">
              <a:ext uri="{FF2B5EF4-FFF2-40B4-BE49-F238E27FC236}">
                <a16:creationId xmlns:a16="http://schemas.microsoft.com/office/drawing/2014/main" id="{70374384-1B4A-4A61-ADED-43B429C8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3594100" cy="401955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8" name="text-1279">
            <a:extLst xmlns:a="http://schemas.openxmlformats.org/drawingml/2006/main">
              <a:ext uri="{FF2B5EF4-FFF2-40B4-BE49-F238E27FC236}">
                <a16:creationId xmlns:a16="http://schemas.microsoft.com/office/drawing/2014/main" id="{FC1B493D-86C0-4364-B450-F4A9221A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317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#73 · 學生資料分析</a:t>
            </a:r>
          </a:p>
        </p:txBody>
      </p:sp>
      <p:sp>
        <p:nvSpPr>
          <p:cNvPr id="9" name="text-1280">
            <a:extLst xmlns:a="http://schemas.openxmlformats.org/drawingml/2006/main">
              <a:ext uri="{FF2B5EF4-FFF2-40B4-BE49-F238E27FC236}">
                <a16:creationId xmlns:a16="http://schemas.microsoft.com/office/drawing/2014/main" id="{B8348F71-B429-457D-9A41-C17C07AE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317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國小期中考成績篩選工具</a:t>
            </a:r>
          </a:p>
        </p:txBody>
      </p:sp>
      <p:sp>
        <p:nvSpPr>
          <p:cNvPr id="10" name="text-1281">
            <a:extLst xmlns:a="http://schemas.openxmlformats.org/drawingml/2006/main">
              <a:ext uri="{FF2B5EF4-FFF2-40B4-BE49-F238E27FC236}">
                <a16:creationId xmlns:a16="http://schemas.microsoft.com/office/drawing/2014/main" id="{6F6A7920-9DC2-425F-9C0A-7CB68D64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317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快速查看成績分布與篩選結果，作為結構化學生資料分析的入門案例。</a:t>
            </a:r>
          </a:p>
        </p:txBody>
      </p:sp>
      <p:sp>
        <p:nvSpPr>
          <p:cNvPr id="11" name="text-1282">
            <a:extLst xmlns:a="http://schemas.openxmlformats.org/drawingml/2006/main">
              <a:ext uri="{FF2B5EF4-FFF2-40B4-BE49-F238E27FC236}">
                <a16:creationId xmlns:a16="http://schemas.microsoft.com/office/drawing/2014/main" id="{49FAD523-0AA3-4146-BB12-713D966B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dd8c463ef27444db"/>
              </a:rPr>
              <a:t>工具卡片介紹 ↗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6b6e216f924499"/>
          <a:stretch xmlns:a="http://schemas.openxmlformats.org/drawingml/2006/main"/>
        </p:blipFill>
        <p:spPr>
          <a:xfrm xmlns:a="http://schemas.openxmlformats.org/drawingml/2006/main">
            <a:off x="3270250" y="46482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13" name="text-1283">
            <a:extLst xmlns:a="http://schemas.openxmlformats.org/drawingml/2006/main">
              <a:ext uri="{FF2B5EF4-FFF2-40B4-BE49-F238E27FC236}">
                <a16:creationId xmlns:a16="http://schemas.microsoft.com/office/drawing/2014/main" id="{6C043256-C53E-43C1-9B48-7E6728FF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6B4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F6B4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2441549214254ab8"/>
              </a:rPr>
              <a:t>直接開啟應用 ↗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347037d7141e4"/>
          <a:stretch xmlns:a="http://schemas.openxmlformats.org/drawingml/2006/main"/>
        </p:blipFill>
        <p:spPr>
          <a:xfrm xmlns:a="http://schemas.openxmlformats.org/drawingml/2006/main">
            <a:off x="3270250" y="52959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15" name="shape-1284">
            <a:extLst xmlns:a="http://schemas.openxmlformats.org/drawingml/2006/main">
              <a:ext uri="{FF2B5EF4-FFF2-40B4-BE49-F238E27FC236}">
                <a16:creationId xmlns:a16="http://schemas.microsoft.com/office/drawing/2014/main" id="{FDB73CAB-83DA-4F75-A713-68FAD627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1924050"/>
            <a:ext cx="3594100" cy="401955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6" name="text-1285">
            <a:extLst xmlns:a="http://schemas.openxmlformats.org/drawingml/2006/main">
              <a:ext uri="{FF2B5EF4-FFF2-40B4-BE49-F238E27FC236}">
                <a16:creationId xmlns:a16="http://schemas.microsoft.com/office/drawing/2014/main" id="{CA835E53-3C7E-475E-9373-6151B37A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133600"/>
            <a:ext cx="317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#87 · PIRLS 評量</a:t>
            </a:r>
          </a:p>
        </p:txBody>
      </p:sp>
      <p:sp>
        <p:nvSpPr>
          <p:cNvPr id="17" name="text-1286">
            <a:extLst xmlns:a="http://schemas.openxmlformats.org/drawingml/2006/main">
              <a:ext uri="{FF2B5EF4-FFF2-40B4-BE49-F238E27FC236}">
                <a16:creationId xmlns:a16="http://schemas.microsoft.com/office/drawing/2014/main" id="{5FECD906-8AA7-4F5F-AE73-B4302B2D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571750"/>
            <a:ext cx="317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PIRLS 閱讀理解生成站 PRO</a:t>
            </a:r>
          </a:p>
        </p:txBody>
      </p:sp>
      <p:sp>
        <p:nvSpPr>
          <p:cNvPr id="18" name="text-1287">
            <a:extLst xmlns:a="http://schemas.openxmlformats.org/drawingml/2006/main">
              <a:ext uri="{FF2B5EF4-FFF2-40B4-BE49-F238E27FC236}">
                <a16:creationId xmlns:a16="http://schemas.microsoft.com/office/drawing/2014/main" id="{DC9B82E1-2E95-47A2-BF25-E3519609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524250"/>
            <a:ext cx="317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依四層次生成提問與答案說明，銜接評量設計、規準與人工檢核。</a:t>
            </a:r>
          </a:p>
        </p:txBody>
      </p:sp>
      <p:sp>
        <p:nvSpPr>
          <p:cNvPr id="19" name="text-1288">
            <a:extLst xmlns:a="http://schemas.openxmlformats.org/drawingml/2006/main">
              <a:ext uri="{FF2B5EF4-FFF2-40B4-BE49-F238E27FC236}">
                <a16:creationId xmlns:a16="http://schemas.microsoft.com/office/drawing/2014/main" id="{FA86C64B-F0DD-4A57-AAFA-08AE7D74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8768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cf7035f8225d446c"/>
              </a:rPr>
              <a:t>工具卡片介紹 ↗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466400a5644347"/>
          <a:stretch xmlns:a="http://schemas.openxmlformats.org/drawingml/2006/main"/>
        </p:blipFill>
        <p:spPr>
          <a:xfrm xmlns:a="http://schemas.openxmlformats.org/drawingml/2006/main">
            <a:off x="7054850" y="46482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1" name="text-1289">
            <a:extLst xmlns:a="http://schemas.openxmlformats.org/drawingml/2006/main">
              <a:ext uri="{FF2B5EF4-FFF2-40B4-BE49-F238E27FC236}">
                <a16:creationId xmlns:a16="http://schemas.microsoft.com/office/drawing/2014/main" id="{A41E8388-C9B7-46D0-A94B-01498AA9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53340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6B4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F6B4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346788ea229048a0"/>
              </a:rPr>
              <a:t>直接開啟應用 ↗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a3795160794608"/>
          <a:stretch xmlns:a="http://schemas.openxmlformats.org/drawingml/2006/main"/>
        </p:blipFill>
        <p:spPr>
          <a:xfrm xmlns:a="http://schemas.openxmlformats.org/drawingml/2006/main">
            <a:off x="7054850" y="52959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3" name="shape-1290">
            <a:extLst xmlns:a="http://schemas.openxmlformats.org/drawingml/2006/main">
              <a:ext uri="{FF2B5EF4-FFF2-40B4-BE49-F238E27FC236}">
                <a16:creationId xmlns:a16="http://schemas.microsoft.com/office/drawing/2014/main" id="{0048B803-832B-4DDE-B6B8-894629DE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1924050"/>
            <a:ext cx="3594100" cy="401955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24" name="text-1291">
            <a:extLst xmlns:a="http://schemas.openxmlformats.org/drawingml/2006/main">
              <a:ext uri="{FF2B5EF4-FFF2-40B4-BE49-F238E27FC236}">
                <a16:creationId xmlns:a16="http://schemas.microsoft.com/office/drawing/2014/main" id="{47A48B8B-FF63-4495-87E0-E3CD949C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133600"/>
            <a:ext cx="317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#103 · 提示詞與 Skill</a:t>
            </a:r>
          </a:p>
        </p:txBody>
      </p:sp>
      <p:sp>
        <p:nvSpPr>
          <p:cNvPr id="25" name="text-1292">
            <a:extLst xmlns:a="http://schemas.openxmlformats.org/drawingml/2006/main">
              <a:ext uri="{FF2B5EF4-FFF2-40B4-BE49-F238E27FC236}">
                <a16:creationId xmlns:a16="http://schemas.microsoft.com/office/drawing/2014/main" id="{A145C7AE-F8B7-4854-B5A8-9F9F03B2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571750"/>
            <a:ext cx="317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AI Agent 的 Web 技能雙引擎</a:t>
            </a:r>
          </a:p>
        </p:txBody>
      </p:sp>
      <p:sp>
        <p:nvSpPr>
          <p:cNvPr id="26" name="text-1293">
            <a:extLst xmlns:a="http://schemas.openxmlformats.org/drawingml/2006/main">
              <a:ext uri="{FF2B5EF4-FFF2-40B4-BE49-F238E27FC236}">
                <a16:creationId xmlns:a16="http://schemas.microsoft.com/office/drawing/2014/main" id="{9740F699-50CF-44A0-9D48-398C53B9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524250"/>
            <a:ext cx="317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用 Playwright × Webwright 解釋 Agent 如何規劃、操作並回報證據。</a:t>
            </a:r>
          </a:p>
        </p:txBody>
      </p:sp>
      <p:sp>
        <p:nvSpPr>
          <p:cNvPr id="27" name="text-1294">
            <a:extLst xmlns:a="http://schemas.openxmlformats.org/drawingml/2006/main">
              <a:ext uri="{FF2B5EF4-FFF2-40B4-BE49-F238E27FC236}">
                <a16:creationId xmlns:a16="http://schemas.microsoft.com/office/drawing/2014/main" id="{EEE55804-144C-4F86-8C09-A4527C16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48768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1b8406a8ef604545"/>
              </a:rPr>
              <a:t>工具卡片介紹 ↗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a63d3ecac348b1"/>
          <a:stretch xmlns:a="http://schemas.openxmlformats.org/drawingml/2006/main"/>
        </p:blipFill>
        <p:spPr>
          <a:xfrm xmlns:a="http://schemas.openxmlformats.org/drawingml/2006/main">
            <a:off x="10839450" y="46482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9" name="text-1295">
            <a:extLst xmlns:a="http://schemas.openxmlformats.org/drawingml/2006/main">
              <a:ext uri="{FF2B5EF4-FFF2-40B4-BE49-F238E27FC236}">
                <a16:creationId xmlns:a16="http://schemas.microsoft.com/office/drawing/2014/main" id="{5091909D-B276-4DEE-8AFC-237F6E12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53340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6B4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F6B4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e960b8655b3046bb"/>
              </a:rPr>
              <a:t>直接開啟應用 ↗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ea7da19ab34268"/>
          <a:stretch xmlns:a="http://schemas.openxmlformats.org/drawingml/2006/main"/>
        </p:blipFill>
        <p:spPr>
          <a:xfrm xmlns:a="http://schemas.openxmlformats.org/drawingml/2006/main">
            <a:off x="10839450" y="52959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</p:spTree>
    <p:extLst>
      <p:ext uri="{BB962C8B-B14F-4D97-AF65-F5344CB8AC3E}">
        <p14:creationId xmlns:p14="http://schemas.microsoft.com/office/powerpoint/2010/main" val="19346613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1296">
            <a:extLst xmlns:a="http://schemas.openxmlformats.org/drawingml/2006/main">
              <a:ext uri="{FF2B5EF4-FFF2-40B4-BE49-F238E27FC236}">
                <a16:creationId xmlns:a16="http://schemas.microsoft.com/office/drawing/2014/main" id="{EA06F608-2ED0-4216-8BC7-E73993D0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AKAI CASE NAVIGATION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504088-8AF9-48CA-BEE1-635965EA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阿凱老師實戰案例導航｜研究與驗證</a:t>
            </a:r>
          </a:p>
        </p:txBody>
      </p:sp>
      <p:cxnSp>
        <p:nvCxnSpPr>
          <p:cNvPr id="33" name="shape-1297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298">
            <a:extLst xmlns:a="http://schemas.openxmlformats.org/drawingml/2006/main">
              <a:ext uri="{FF2B5EF4-FFF2-40B4-BE49-F238E27FC236}">
                <a16:creationId xmlns:a16="http://schemas.microsoft.com/office/drawing/2014/main" id="{ABB35984-2403-4227-9D07-A6F7A754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DD5A5F3-E714-4586-9F4E-6ABFD3A9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14</a:t>
            </a:r>
          </a:p>
        </p:txBody>
      </p:sp>
      <p:sp>
        <p:nvSpPr>
          <p:cNvPr id="6" name="text-1299">
            <a:extLst xmlns:a="http://schemas.openxmlformats.org/drawingml/2006/main">
              <a:ext uri="{FF2B5EF4-FFF2-40B4-BE49-F238E27FC236}">
                <a16:creationId xmlns:a16="http://schemas.microsoft.com/office/drawing/2014/main" id="{03640999-E182-4E43-BB12-BB01D17D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1116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把資料來源、審查規準、無障礙檢測與人工覆核組成可追查的 Agent 流程。</a:t>
            </a:r>
          </a:p>
        </p:txBody>
      </p:sp>
      <p:sp>
        <p:nvSpPr>
          <p:cNvPr id="7" name="shape-1300">
            <a:extLst xmlns:a="http://schemas.openxmlformats.org/drawingml/2006/main">
              <a:ext uri="{FF2B5EF4-FFF2-40B4-BE49-F238E27FC236}">
                <a16:creationId xmlns:a16="http://schemas.microsoft.com/office/drawing/2014/main" id="{8A67AF39-D84C-4368-9800-CA590939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3594100" cy="401955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8" name="text-1301">
            <a:extLst xmlns:a="http://schemas.openxmlformats.org/drawingml/2006/main">
              <a:ext uri="{FF2B5EF4-FFF2-40B4-BE49-F238E27FC236}">
                <a16:creationId xmlns:a16="http://schemas.microsoft.com/office/drawing/2014/main" id="{698FB7EF-F672-4890-AC8B-A492DAD4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317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#105 · 研究工作流程</a:t>
            </a:r>
          </a:p>
        </p:txBody>
      </p:sp>
      <p:sp>
        <p:nvSpPr>
          <p:cNvPr id="9" name="text-1302">
            <a:extLst xmlns:a="http://schemas.openxmlformats.org/drawingml/2006/main">
              <a:ext uri="{FF2B5EF4-FFF2-40B4-BE49-F238E27FC236}">
                <a16:creationId xmlns:a16="http://schemas.microsoft.com/office/drawing/2014/main" id="{51BE5540-32CB-4FFA-A020-F14220A6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317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臺灣主權 AI 訓練語料庫</a:t>
            </a:r>
          </a:p>
        </p:txBody>
      </p:sp>
      <p:sp>
        <p:nvSpPr>
          <p:cNvPr id="10" name="text-1303">
            <a:extLst xmlns:a="http://schemas.openxmlformats.org/drawingml/2006/main">
              <a:ext uri="{FF2B5EF4-FFF2-40B4-BE49-F238E27FC236}">
                <a16:creationId xmlns:a16="http://schemas.microsoft.com/office/drawing/2014/main" id="{6FDD69BA-B42B-4E47-95A7-C3CF85F3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317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4,554 筆開放語料依主題、課綱與授權整理，再轉化成教學研究素材。</a:t>
            </a:r>
          </a:p>
        </p:txBody>
      </p:sp>
      <p:sp>
        <p:nvSpPr>
          <p:cNvPr id="11" name="text-1304">
            <a:extLst xmlns:a="http://schemas.openxmlformats.org/drawingml/2006/main">
              <a:ext uri="{FF2B5EF4-FFF2-40B4-BE49-F238E27FC236}">
                <a16:creationId xmlns:a16="http://schemas.microsoft.com/office/drawing/2014/main" id="{CFFD7776-1A09-45E0-AF69-BCD5532F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f9a779439d68445f"/>
              </a:rPr>
              <a:t>工具卡片介紹 ↗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2985a159934ffd"/>
          <a:stretch xmlns:a="http://schemas.openxmlformats.org/drawingml/2006/main"/>
        </p:blipFill>
        <p:spPr>
          <a:xfrm xmlns:a="http://schemas.openxmlformats.org/drawingml/2006/main">
            <a:off x="3270250" y="46482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13" name="text-1305">
            <a:extLst xmlns:a="http://schemas.openxmlformats.org/drawingml/2006/main">
              <a:ext uri="{FF2B5EF4-FFF2-40B4-BE49-F238E27FC236}">
                <a16:creationId xmlns:a16="http://schemas.microsoft.com/office/drawing/2014/main" id="{1EE093B7-F4EE-4B53-9A51-B194674F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6B4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F6B4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10ffbb9fc44f4436"/>
              </a:rPr>
              <a:t>直接開啟應用 ↗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54664adb204044"/>
          <a:stretch xmlns:a="http://schemas.openxmlformats.org/drawingml/2006/main"/>
        </p:blipFill>
        <p:spPr>
          <a:xfrm xmlns:a="http://schemas.openxmlformats.org/drawingml/2006/main">
            <a:off x="3270250" y="52959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15" name="shape-1306">
            <a:extLst xmlns:a="http://schemas.openxmlformats.org/drawingml/2006/main">
              <a:ext uri="{FF2B5EF4-FFF2-40B4-BE49-F238E27FC236}">
                <a16:creationId xmlns:a16="http://schemas.microsoft.com/office/drawing/2014/main" id="{357DA2F5-3F05-4382-8CB8-3E9E81F3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1924050"/>
            <a:ext cx="3594100" cy="401955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6" name="text-1307">
            <a:extLst xmlns:a="http://schemas.openxmlformats.org/drawingml/2006/main">
              <a:ext uri="{FF2B5EF4-FFF2-40B4-BE49-F238E27FC236}">
                <a16:creationId xmlns:a16="http://schemas.microsoft.com/office/drawing/2014/main" id="{E1AFDBEB-1D6D-4201-9C30-6D0C5093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133600"/>
            <a:ext cx="317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#123 · RWD／無障礙</a:t>
            </a:r>
          </a:p>
        </p:txBody>
      </p:sp>
      <p:sp>
        <p:nvSpPr>
          <p:cNvPr id="17" name="text-1308">
            <a:extLst xmlns:a="http://schemas.openxmlformats.org/drawingml/2006/main">
              <a:ext uri="{FF2B5EF4-FFF2-40B4-BE49-F238E27FC236}">
                <a16:creationId xmlns:a16="http://schemas.microsoft.com/office/drawing/2014/main" id="{3E8D0324-4F71-48C4-B4F0-6ABA060F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571750"/>
            <a:ext cx="317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校網無障礙 AA 遷移操作平台</a:t>
            </a:r>
          </a:p>
        </p:txBody>
      </p:sp>
      <p:sp>
        <p:nvSpPr>
          <p:cNvPr id="18" name="text-1309">
            <a:extLst xmlns:a="http://schemas.openxmlformats.org/drawingml/2006/main">
              <a:ext uri="{FF2B5EF4-FFF2-40B4-BE49-F238E27FC236}">
                <a16:creationId xmlns:a16="http://schemas.microsoft.com/office/drawing/2014/main" id="{F068A91B-8AB0-48E6-BC1F-F0D833AA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524250"/>
            <a:ext cx="317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12 步遷移清單、對比度檢查與送審雷區，示範可驗證工作流程。</a:t>
            </a:r>
          </a:p>
        </p:txBody>
      </p:sp>
      <p:sp>
        <p:nvSpPr>
          <p:cNvPr id="19" name="text-1310">
            <a:extLst xmlns:a="http://schemas.openxmlformats.org/drawingml/2006/main">
              <a:ext uri="{FF2B5EF4-FFF2-40B4-BE49-F238E27FC236}">
                <a16:creationId xmlns:a16="http://schemas.microsoft.com/office/drawing/2014/main" id="{34073665-D7C1-4922-9C91-236F4075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8768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7ad0d950957c45f8"/>
              </a:rPr>
              <a:t>工具卡片介紹 ↗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4821c7d95242cc"/>
          <a:stretch xmlns:a="http://schemas.openxmlformats.org/drawingml/2006/main"/>
        </p:blipFill>
        <p:spPr>
          <a:xfrm xmlns:a="http://schemas.openxmlformats.org/drawingml/2006/main">
            <a:off x="7054850" y="46482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1" name="text-1311">
            <a:extLst xmlns:a="http://schemas.openxmlformats.org/drawingml/2006/main">
              <a:ext uri="{FF2B5EF4-FFF2-40B4-BE49-F238E27FC236}">
                <a16:creationId xmlns:a16="http://schemas.microsoft.com/office/drawing/2014/main" id="{870D93C1-EC74-403A-BB9E-24A4B702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53340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6B4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F6B4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7e066a931ff5444b"/>
              </a:rPr>
              <a:t>直接開啟應用 ↗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8d5582675e4460"/>
          <a:stretch xmlns:a="http://schemas.openxmlformats.org/drawingml/2006/main"/>
        </p:blipFill>
        <p:spPr>
          <a:xfrm xmlns:a="http://schemas.openxmlformats.org/drawingml/2006/main">
            <a:off x="7054850" y="52959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3" name="shape-1312">
            <a:extLst xmlns:a="http://schemas.openxmlformats.org/drawingml/2006/main">
              <a:ext uri="{FF2B5EF4-FFF2-40B4-BE49-F238E27FC236}">
                <a16:creationId xmlns:a16="http://schemas.microsoft.com/office/drawing/2014/main" id="{4617256C-CFF2-478D-A543-922D7A82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1924050"/>
            <a:ext cx="3594100" cy="401955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24" name="text-1313">
            <a:extLst xmlns:a="http://schemas.openxmlformats.org/drawingml/2006/main">
              <a:ext uri="{FF2B5EF4-FFF2-40B4-BE49-F238E27FC236}">
                <a16:creationId xmlns:a16="http://schemas.microsoft.com/office/drawing/2014/main" id="{7600D988-570C-4EBC-AE3E-ADD6ECB5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133600"/>
            <a:ext cx="317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#88 · Agent 驗證</a:t>
            </a:r>
          </a:p>
        </p:txBody>
      </p:sp>
      <p:sp>
        <p:nvSpPr>
          <p:cNvPr id="25" name="text-1314">
            <a:extLst xmlns:a="http://schemas.openxmlformats.org/drawingml/2006/main">
              <a:ext uri="{FF2B5EF4-FFF2-40B4-BE49-F238E27FC236}">
                <a16:creationId xmlns:a16="http://schemas.microsoft.com/office/drawing/2014/main" id="{C82D1106-60AB-46F0-A9ED-CEFA82C3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571750"/>
            <a:ext cx="317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國中課程計畫 AI 審查工具</a:t>
            </a:r>
          </a:p>
        </p:txBody>
      </p:sp>
      <p:sp>
        <p:nvSpPr>
          <p:cNvPr id="26" name="text-1315">
            <a:extLst xmlns:a="http://schemas.openxmlformats.org/drawingml/2006/main">
              <a:ext uri="{FF2B5EF4-FFF2-40B4-BE49-F238E27FC236}">
                <a16:creationId xmlns:a16="http://schemas.microsoft.com/office/drawing/2014/main" id="{375C1B86-8321-42E1-9000-0414CC14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524250"/>
            <a:ext cx="317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依 40+ 審查標準逐項比對 PDF，示範規則、證據與人工覆核。</a:t>
            </a:r>
          </a:p>
        </p:txBody>
      </p:sp>
      <p:sp>
        <p:nvSpPr>
          <p:cNvPr id="27" name="text-1316">
            <a:extLst xmlns:a="http://schemas.openxmlformats.org/drawingml/2006/main">
              <a:ext uri="{FF2B5EF4-FFF2-40B4-BE49-F238E27FC236}">
                <a16:creationId xmlns:a16="http://schemas.microsoft.com/office/drawing/2014/main" id="{30F450BB-D15C-4F6B-A21C-380B4BDB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48768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ab565f3ed00745ba"/>
              </a:rPr>
              <a:t>工具卡片介紹 ↗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f359b78efe48c0"/>
          <a:stretch xmlns:a="http://schemas.openxmlformats.org/drawingml/2006/main"/>
        </p:blipFill>
        <p:spPr>
          <a:xfrm xmlns:a="http://schemas.openxmlformats.org/drawingml/2006/main">
            <a:off x="10839450" y="46482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9" name="text-1317">
            <a:extLst xmlns:a="http://schemas.openxmlformats.org/drawingml/2006/main">
              <a:ext uri="{FF2B5EF4-FFF2-40B4-BE49-F238E27FC236}">
                <a16:creationId xmlns:a16="http://schemas.microsoft.com/office/drawing/2014/main" id="{5F5B3036-FA9F-44DF-8413-DB6A9504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53340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6B4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F6B4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ff7ffcb36d4b42dc"/>
              </a:rPr>
              <a:t>直接開啟應用 ↗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17d4b125c94fe1"/>
          <a:stretch xmlns:a="http://schemas.openxmlformats.org/drawingml/2006/main"/>
        </p:blipFill>
        <p:spPr>
          <a:xfrm xmlns:a="http://schemas.openxmlformats.org/drawingml/2006/main">
            <a:off x="10839450" y="52959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</p:spTree>
    <p:extLst>
      <p:ext uri="{BB962C8B-B14F-4D97-AF65-F5344CB8AC3E}">
        <p14:creationId xmlns:p14="http://schemas.microsoft.com/office/powerpoint/2010/main" val="11459545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1318">
            <a:extLst xmlns:a="http://schemas.openxmlformats.org/drawingml/2006/main">
              <a:ext uri="{FF2B5EF4-FFF2-40B4-BE49-F238E27FC236}">
                <a16:creationId xmlns:a16="http://schemas.microsoft.com/office/drawing/2014/main" id="{FD80DF88-A017-48B6-8348-787DF707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BACKEND FOUNDATIONS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0DB053-035D-43F0-9BEE-DEF5E4A3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Agent 做事之外，還要把資料留下來</a:t>
            </a:r>
          </a:p>
        </p:txBody>
      </p:sp>
      <p:cxnSp>
        <p:nvCxnSpPr>
          <p:cNvPr id="26" name="shape-1319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320">
            <a:extLst xmlns:a="http://schemas.openxmlformats.org/drawingml/2006/main">
              <a:ext uri="{FF2B5EF4-FFF2-40B4-BE49-F238E27FC236}">
                <a16:creationId xmlns:a16="http://schemas.microsoft.com/office/drawing/2014/main" id="{66A06FA3-AF63-4A77-83AA-DD7E096D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BFB0591-5420-4209-B1EA-3148F334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15</a:t>
            </a:r>
          </a:p>
        </p:txBody>
      </p:sp>
      <p:sp>
        <p:nvSpPr>
          <p:cNvPr id="6" name="shape-1321">
            <a:extLst xmlns:a="http://schemas.openxmlformats.org/drawingml/2006/main">
              <a:ext uri="{FF2B5EF4-FFF2-40B4-BE49-F238E27FC236}">
                <a16:creationId xmlns:a16="http://schemas.microsoft.com/office/drawing/2014/main" id="{ED582450-C8BE-4D71-8317-FA3761A4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76400"/>
            <a:ext cx="37592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shape-1322">
            <a:extLst xmlns:a="http://schemas.openxmlformats.org/drawingml/2006/main">
              <a:ext uri="{FF2B5EF4-FFF2-40B4-BE49-F238E27FC236}">
                <a16:creationId xmlns:a16="http://schemas.microsoft.com/office/drawing/2014/main" id="{23388953-B1EA-4EE9-84A6-11FBFA57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4163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323">
            <a:extLst xmlns:a="http://schemas.openxmlformats.org/drawingml/2006/main">
              <a:ext uri="{FF2B5EF4-FFF2-40B4-BE49-F238E27FC236}">
                <a16:creationId xmlns:a16="http://schemas.microsoft.com/office/drawing/2014/main" id="{9AD7EB71-A40A-4016-BC32-1C615BAA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1324">
            <a:extLst xmlns:a="http://schemas.openxmlformats.org/drawingml/2006/main">
              <a:ext uri="{FF2B5EF4-FFF2-40B4-BE49-F238E27FC236}">
                <a16:creationId xmlns:a16="http://schemas.microsoft.com/office/drawing/2014/main" id="{C1148E45-9FA5-43DD-92F0-858A928B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360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前端</a:t>
            </a:r>
          </a:p>
        </p:txBody>
      </p:sp>
      <p:sp>
        <p:nvSpPr>
          <p:cNvPr id="10" name="text-1325">
            <a:extLst xmlns:a="http://schemas.openxmlformats.org/drawingml/2006/main">
              <a:ext uri="{FF2B5EF4-FFF2-40B4-BE49-F238E27FC236}">
                <a16:creationId xmlns:a16="http://schemas.microsoft.com/office/drawing/2014/main" id="{9D2745A4-1FFD-4034-9AAB-A0F292D3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3340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人看見、操作與回饋</a:t>
            </a:r>
          </a:p>
        </p:txBody>
      </p:sp>
      <p:sp>
        <p:nvSpPr>
          <p:cNvPr id="11" name="text-1326">
            <a:extLst xmlns:a="http://schemas.openxmlformats.org/drawingml/2006/main">
              <a:ext uri="{FF2B5EF4-FFF2-40B4-BE49-F238E27FC236}">
                <a16:creationId xmlns:a16="http://schemas.microsoft.com/office/drawing/2014/main" id="{E7A6FF80-1B15-4D14-9182-2CD3059C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067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2" name="shape-1327">
            <a:extLst xmlns:a="http://schemas.openxmlformats.org/drawingml/2006/main">
              <a:ext uri="{FF2B5EF4-FFF2-40B4-BE49-F238E27FC236}">
                <a16:creationId xmlns:a16="http://schemas.microsoft.com/office/drawing/2014/main" id="{CC668E34-0E61-4DBA-9D9B-4111D61D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400" y="1676400"/>
            <a:ext cx="37592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3" name="shape-1328">
            <a:extLst xmlns:a="http://schemas.openxmlformats.org/drawingml/2006/main">
              <a:ext uri="{FF2B5EF4-FFF2-40B4-BE49-F238E27FC236}">
                <a16:creationId xmlns:a16="http://schemas.microsoft.com/office/drawing/2014/main" id="{E40227BC-6305-44C8-8B7E-8D463041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1790700"/>
            <a:ext cx="34163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329">
            <a:extLst xmlns:a="http://schemas.openxmlformats.org/drawingml/2006/main">
              <a:ext uri="{FF2B5EF4-FFF2-40B4-BE49-F238E27FC236}">
                <a16:creationId xmlns:a16="http://schemas.microsoft.com/office/drawing/2014/main" id="{EAD40784-52EF-4388-830D-77632922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5" name="text-1330">
            <a:extLst xmlns:a="http://schemas.openxmlformats.org/drawingml/2006/main">
              <a:ext uri="{FF2B5EF4-FFF2-40B4-BE49-F238E27FC236}">
                <a16:creationId xmlns:a16="http://schemas.microsoft.com/office/drawing/2014/main" id="{0F49681D-BEE3-4A4B-87D0-C0464A03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2686050"/>
            <a:ext cx="360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Agent</a:t>
            </a:r>
          </a:p>
        </p:txBody>
      </p:sp>
      <p:sp>
        <p:nvSpPr>
          <p:cNvPr id="16" name="text-1331">
            <a:extLst xmlns:a="http://schemas.openxmlformats.org/drawingml/2006/main">
              <a:ext uri="{FF2B5EF4-FFF2-40B4-BE49-F238E27FC236}">
                <a16:creationId xmlns:a16="http://schemas.microsoft.com/office/drawing/2014/main" id="{ABAD201D-4EC8-4FAB-B959-BA614D75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3352800"/>
            <a:ext cx="3340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理解、規劃、使用工具</a:t>
            </a:r>
          </a:p>
        </p:txBody>
      </p:sp>
      <p:sp>
        <p:nvSpPr>
          <p:cNvPr id="17" name="text-1332">
            <a:extLst xmlns:a="http://schemas.openxmlformats.org/drawingml/2006/main">
              <a:ext uri="{FF2B5EF4-FFF2-40B4-BE49-F238E27FC236}">
                <a16:creationId xmlns:a16="http://schemas.microsoft.com/office/drawing/2014/main" id="{DED489A1-04E6-4A40-AC0A-D64DC4D8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892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8" name="shape-1333">
            <a:extLst xmlns:a="http://schemas.openxmlformats.org/drawingml/2006/main">
              <a:ext uri="{FF2B5EF4-FFF2-40B4-BE49-F238E27FC236}">
                <a16:creationId xmlns:a16="http://schemas.microsoft.com/office/drawing/2014/main" id="{361D2846-F64E-4816-829F-B1CF4B86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1676400"/>
            <a:ext cx="37592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shape-1334">
            <a:extLst xmlns:a="http://schemas.openxmlformats.org/drawingml/2006/main">
              <a:ext uri="{FF2B5EF4-FFF2-40B4-BE49-F238E27FC236}">
                <a16:creationId xmlns:a16="http://schemas.microsoft.com/office/drawing/2014/main" id="{CABAC356-CDE7-4188-A45D-65599DDC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00" y="1790700"/>
            <a:ext cx="34163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335">
            <a:extLst xmlns:a="http://schemas.openxmlformats.org/drawingml/2006/main">
              <a:ext uri="{FF2B5EF4-FFF2-40B4-BE49-F238E27FC236}">
                <a16:creationId xmlns:a16="http://schemas.microsoft.com/office/drawing/2014/main" id="{C293E91D-19D3-4CF4-882B-F7A08279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text-1336">
            <a:extLst xmlns:a="http://schemas.openxmlformats.org/drawingml/2006/main">
              <a:ext uri="{FF2B5EF4-FFF2-40B4-BE49-F238E27FC236}">
                <a16:creationId xmlns:a16="http://schemas.microsoft.com/office/drawing/2014/main" id="{4205B063-892E-478A-8F4E-AFAB559A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2686050"/>
            <a:ext cx="360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後端</a:t>
            </a:r>
          </a:p>
        </p:txBody>
      </p:sp>
      <p:sp>
        <p:nvSpPr>
          <p:cNvPr id="22" name="text-1337">
            <a:extLst xmlns:a="http://schemas.openxmlformats.org/drawingml/2006/main">
              <a:ext uri="{FF2B5EF4-FFF2-40B4-BE49-F238E27FC236}">
                <a16:creationId xmlns:a16="http://schemas.microsoft.com/office/drawing/2014/main" id="{32742922-A2B6-4328-BB89-6E375371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352800"/>
            <a:ext cx="3340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資料、權限、同步與長期記憶</a:t>
            </a:r>
          </a:p>
        </p:txBody>
      </p:sp>
      <p:sp>
        <p:nvSpPr>
          <p:cNvPr id="23" name="text-1338">
            <a:extLst xmlns:a="http://schemas.openxmlformats.org/drawingml/2006/main">
              <a:ext uri="{FF2B5EF4-FFF2-40B4-BE49-F238E27FC236}">
                <a16:creationId xmlns:a16="http://schemas.microsoft.com/office/drawing/2014/main" id="{D7C732DF-5920-4FF5-9208-18ABFC46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14950"/>
            <a:ext cx="5638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152400" tIns="57150" rIns="1524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每一步都留下可檢查的成果</a:t>
            </a:r>
          </a:p>
        </p:txBody>
      </p:sp>
    </p:spTree>
    <p:extLst>
      <p:ext uri="{BB962C8B-B14F-4D97-AF65-F5344CB8AC3E}">
        <p14:creationId xmlns:p14="http://schemas.microsoft.com/office/powerpoint/2010/main" val="204508226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1339">
            <a:extLst xmlns:a="http://schemas.openxmlformats.org/drawingml/2006/main">
              <a:ext uri="{FF2B5EF4-FFF2-40B4-BE49-F238E27FC236}">
                <a16:creationId xmlns:a16="http://schemas.microsoft.com/office/drawing/2014/main" id="{3A8020CF-6AF8-4DEE-AF60-CC866BBC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GOOGLE APPS SCRIPT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06D84B-F6D9-4E82-B30F-B2435D95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28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GAS：Google 生態系的原生後端</a:t>
            </a:r>
          </a:p>
        </p:txBody>
      </p:sp>
      <p:cxnSp>
        <p:nvCxnSpPr>
          <p:cNvPr id="28" name="shape-1340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341">
            <a:extLst xmlns:a="http://schemas.openxmlformats.org/drawingml/2006/main">
              <a:ext uri="{FF2B5EF4-FFF2-40B4-BE49-F238E27FC236}">
                <a16:creationId xmlns:a16="http://schemas.microsoft.com/office/drawing/2014/main" id="{1FFD551A-4023-415B-AC79-5E2F9159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759F745-0384-4EF0-A224-9D91E14B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16</a:t>
            </a:r>
          </a:p>
        </p:txBody>
      </p:sp>
      <p:sp>
        <p:nvSpPr>
          <p:cNvPr id="6" name="shape-1342">
            <a:extLst xmlns:a="http://schemas.openxmlformats.org/drawingml/2006/main">
              <a:ext uri="{FF2B5EF4-FFF2-40B4-BE49-F238E27FC236}">
                <a16:creationId xmlns:a16="http://schemas.microsoft.com/office/drawing/2014/main" id="{4B792EDC-73D6-4532-A834-43A31C1E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3581400" cy="43053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1343">
            <a:extLst xmlns:a="http://schemas.openxmlformats.org/drawingml/2006/main">
              <a:ext uri="{FF2B5EF4-FFF2-40B4-BE49-F238E27FC236}">
                <a16:creationId xmlns:a16="http://schemas.microsoft.com/office/drawing/2014/main" id="{AB414879-6ECB-4191-9491-7F84AA37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1344">
            <a:extLst xmlns:a="http://schemas.openxmlformats.org/drawingml/2006/main">
              <a:ext uri="{FF2B5EF4-FFF2-40B4-BE49-F238E27FC236}">
                <a16:creationId xmlns:a16="http://schemas.microsoft.com/office/drawing/2014/main" id="{489FCBC9-6F39-4103-837B-CBE4A1B1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Sheets 當資料後臺</a:t>
            </a:r>
          </a:p>
        </p:txBody>
      </p:sp>
      <p:sp>
        <p:nvSpPr>
          <p:cNvPr id="9" name="text-1345">
            <a:extLst xmlns:a="http://schemas.openxmlformats.org/drawingml/2006/main">
              <a:ext uri="{FF2B5EF4-FFF2-40B4-BE49-F238E27FC236}">
                <a16:creationId xmlns:a16="http://schemas.microsoft.com/office/drawing/2014/main" id="{E1A82DD8-981F-40CC-8AD7-6BC97BBE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31623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先用熟悉的試算表保存欄位、紀錄與狀態；小型教學工具很快就能開始。</a:t>
            </a:r>
          </a:p>
        </p:txBody>
      </p:sp>
      <p:sp>
        <p:nvSpPr>
          <p:cNvPr id="10" name="shape-1346">
            <a:extLst xmlns:a="http://schemas.openxmlformats.org/drawingml/2006/main">
              <a:ext uri="{FF2B5EF4-FFF2-40B4-BE49-F238E27FC236}">
                <a16:creationId xmlns:a16="http://schemas.microsoft.com/office/drawing/2014/main" id="{CE331235-5CD0-4832-BA19-4F6AAD5F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76400"/>
            <a:ext cx="3581400" cy="43053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1347">
            <a:extLst xmlns:a="http://schemas.openxmlformats.org/drawingml/2006/main">
              <a:ext uri="{FF2B5EF4-FFF2-40B4-BE49-F238E27FC236}">
                <a16:creationId xmlns:a16="http://schemas.microsoft.com/office/drawing/2014/main" id="{51397E07-3CFA-472A-8B72-045FF157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1348">
            <a:extLst xmlns:a="http://schemas.openxmlformats.org/drawingml/2006/main">
              <a:ext uri="{FF2B5EF4-FFF2-40B4-BE49-F238E27FC236}">
                <a16:creationId xmlns:a16="http://schemas.microsoft.com/office/drawing/2014/main" id="{7BF8A6F0-1297-4F76-811A-DD1D36A1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5745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Apps Script 接流程</a:t>
            </a:r>
          </a:p>
        </p:txBody>
      </p:sp>
      <p:sp>
        <p:nvSpPr>
          <p:cNvPr id="13" name="text-1349">
            <a:extLst xmlns:a="http://schemas.openxmlformats.org/drawingml/2006/main">
              <a:ext uri="{FF2B5EF4-FFF2-40B4-BE49-F238E27FC236}">
                <a16:creationId xmlns:a16="http://schemas.microsoft.com/office/drawing/2014/main" id="{340BFFD3-DBD1-4BFD-9AC5-7DA9FC09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28950"/>
            <a:ext cx="31623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用表單、通知、排程與 doGet／doPost 串起 Google 工具，讓資料不只停在畫面上。</a:t>
            </a:r>
          </a:p>
        </p:txBody>
      </p:sp>
      <p:sp>
        <p:nvSpPr>
          <p:cNvPr id="14" name="shape-1350">
            <a:extLst xmlns:a="http://schemas.openxmlformats.org/drawingml/2006/main">
              <a:ext uri="{FF2B5EF4-FFF2-40B4-BE49-F238E27FC236}">
                <a16:creationId xmlns:a16="http://schemas.microsoft.com/office/drawing/2014/main" id="{C5C5F2A4-690D-4B52-A03A-E3816FB0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3581400" cy="43053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1351">
            <a:extLst xmlns:a="http://schemas.openxmlformats.org/drawingml/2006/main">
              <a:ext uri="{FF2B5EF4-FFF2-40B4-BE49-F238E27FC236}">
                <a16:creationId xmlns:a16="http://schemas.microsoft.com/office/drawing/2014/main" id="{E6FF478D-214C-4E66-9E5E-FE5EE3AF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1352">
            <a:extLst xmlns:a="http://schemas.openxmlformats.org/drawingml/2006/main">
              <a:ext uri="{FF2B5EF4-FFF2-40B4-BE49-F238E27FC236}">
                <a16:creationId xmlns:a16="http://schemas.microsoft.com/office/drawing/2014/main" id="{606787E8-E937-426D-ABE7-86744628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5745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從公開案例學架構</a:t>
            </a:r>
          </a:p>
        </p:txBody>
      </p:sp>
      <p:sp>
        <p:nvSpPr>
          <p:cNvPr id="17" name="text-1353">
            <a:extLst xmlns:a="http://schemas.openxmlformats.org/drawingml/2006/main">
              <a:ext uri="{FF2B5EF4-FFF2-40B4-BE49-F238E27FC236}">
                <a16:creationId xmlns:a16="http://schemas.microsoft.com/office/drawing/2014/main" id="{D590DDF3-ADCC-4AE6-B93E-48B9BA5F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28950"/>
            <a:ext cx="31623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繪本→Google 表單一條龍、畢業祝福牆都是可觀察的 GAS 路線；先看資料流，再決定要不要升級。</a:t>
            </a:r>
          </a:p>
        </p:txBody>
      </p:sp>
      <p:sp>
        <p:nvSpPr>
          <p:cNvPr id="18" name="text-2385">
            <a:extLst xmlns:a="http://schemas.openxmlformats.org/drawingml/2006/main">
              <a:ext uri="{FF2B5EF4-FFF2-40B4-BE49-F238E27FC236}">
                <a16:creationId xmlns:a16="http://schemas.microsoft.com/office/drawing/2014/main" id="{80EF2E53-D7E4-468B-BE58-6F57AA42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065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b68fc11f90d84171"/>
              </a:rPr>
              <a:t>繪本→Google表單一條龍 · 工具卡片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a031b77ec7e34138"/>
              </a:rPr>
              <a:t>畢業祝福牆 · 工具卡片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1d67c5bc8c3646d8"/>
              </a:rPr>
              <a:t>CLASP／GAS Skill ↗</a:t>
            </a:r>
          </a:p>
        </p:txBody>
      </p:sp>
      <p:sp>
        <p:nvSpPr>
          <p:cNvPr id="19" name="shape-2445">
            <a:extLst xmlns:a="http://schemas.openxmlformats.org/drawingml/2006/main">
              <a:ext uri="{FF2B5EF4-FFF2-40B4-BE49-F238E27FC236}">
                <a16:creationId xmlns:a16="http://schemas.microsoft.com/office/drawing/2014/main" id="{8008513B-A3D5-4910-BA10-C41D5D8A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"/>
            <a:ext cx="2247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fb1324361749b5"/>
          <a:stretch xmlns:a="http://schemas.openxmlformats.org/drawingml/2006/main"/>
        </p:blipFill>
        <p:spPr>
          <a:xfrm xmlns:a="http://schemas.openxmlformats.org/drawingml/2006/main">
            <a:off x="95059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1" name="text-2446">
            <a:extLst xmlns:a="http://schemas.openxmlformats.org/drawingml/2006/main">
              <a:ext uri="{FF2B5EF4-FFF2-40B4-BE49-F238E27FC236}">
                <a16:creationId xmlns:a16="http://schemas.microsoft.com/office/drawing/2014/main" id="{B34A1DDC-5FEE-4995-B08D-80ABAF2D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047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繪本→Google表單一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b6169da9c74a2b"/>
          <a:stretch xmlns:a="http://schemas.openxmlformats.org/drawingml/2006/main"/>
        </p:blipFill>
        <p:spPr>
          <a:xfrm xmlns:a="http://schemas.openxmlformats.org/drawingml/2006/main">
            <a:off x="102298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3" name="text-2447">
            <a:extLst xmlns:a="http://schemas.openxmlformats.org/drawingml/2006/main">
              <a:ext uri="{FF2B5EF4-FFF2-40B4-BE49-F238E27FC236}">
                <a16:creationId xmlns:a16="http://schemas.microsoft.com/office/drawing/2014/main" id="{9D2B4133-9866-48B3-9017-C762D592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畢業祝福牆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39ceed018e4504"/>
          <a:stretch xmlns:a="http://schemas.openxmlformats.org/drawingml/2006/main"/>
        </p:blipFill>
        <p:spPr>
          <a:xfrm xmlns:a="http://schemas.openxmlformats.org/drawingml/2006/main">
            <a:off x="109537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5" name="text-2448">
            <a:extLst xmlns:a="http://schemas.openxmlformats.org/drawingml/2006/main">
              <a:ext uri="{FF2B5EF4-FFF2-40B4-BE49-F238E27FC236}">
                <a16:creationId xmlns:a16="http://schemas.microsoft.com/office/drawing/2014/main" id="{253C986D-1748-43D0-9D1E-88C0BC8A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5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CLASP／GAS Sk</a:t>
            </a:r>
          </a:p>
        </p:txBody>
      </p:sp>
    </p:spTree>
    <p:extLst>
      <p:ext uri="{BB962C8B-B14F-4D97-AF65-F5344CB8AC3E}">
        <p14:creationId xmlns:p14="http://schemas.microsoft.com/office/powerpoint/2010/main" val="2536717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-1354">
            <a:extLst xmlns:a="http://schemas.openxmlformats.org/drawingml/2006/main">
              <a:ext uri="{FF2B5EF4-FFF2-40B4-BE49-F238E27FC236}">
                <a16:creationId xmlns:a16="http://schemas.microsoft.com/office/drawing/2014/main" id="{3D2563AC-35C8-4DBA-926F-7398228C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GAS SKILL WORKFLOW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A8CE34-36BF-44A4-BE5A-6BC9C5DE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CLASP Skill：把 GAS 開發變成可重複工作流</a:t>
            </a:r>
          </a:p>
        </p:txBody>
      </p:sp>
      <p:cxnSp>
        <p:nvCxnSpPr>
          <p:cNvPr id="44" name="shape-1355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356">
            <a:extLst xmlns:a="http://schemas.openxmlformats.org/drawingml/2006/main">
              <a:ext uri="{FF2B5EF4-FFF2-40B4-BE49-F238E27FC236}">
                <a16:creationId xmlns:a16="http://schemas.microsoft.com/office/drawing/2014/main" id="{6CB87BEE-B5A0-4FF3-9614-6F0F1640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377CBE2-9B46-4DF1-9C97-01AB6E56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17</a:t>
            </a:r>
          </a:p>
        </p:txBody>
      </p:sp>
      <p:sp>
        <p:nvSpPr>
          <p:cNvPr id="6" name="shape-1357">
            <a:extLst xmlns:a="http://schemas.openxmlformats.org/drawingml/2006/main">
              <a:ext uri="{FF2B5EF4-FFF2-40B4-BE49-F238E27FC236}">
                <a16:creationId xmlns:a16="http://schemas.microsoft.com/office/drawing/2014/main" id="{D75FE438-42EC-429A-A8A6-6B680F44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shape-1358">
            <a:extLst xmlns:a="http://schemas.openxmlformats.org/drawingml/2006/main">
              <a:ext uri="{FF2B5EF4-FFF2-40B4-BE49-F238E27FC236}">
                <a16:creationId xmlns:a16="http://schemas.microsoft.com/office/drawing/2014/main" id="{72E078F4-E7CB-412A-B5BD-2D485F5A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359">
            <a:extLst xmlns:a="http://schemas.openxmlformats.org/drawingml/2006/main">
              <a:ext uri="{FF2B5EF4-FFF2-40B4-BE49-F238E27FC236}">
                <a16:creationId xmlns:a16="http://schemas.microsoft.com/office/drawing/2014/main" id="{08F6B02B-0890-45D0-BDCF-6D24C36E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1360">
            <a:extLst xmlns:a="http://schemas.openxmlformats.org/drawingml/2006/main">
              <a:ext uri="{FF2B5EF4-FFF2-40B4-BE49-F238E27FC236}">
                <a16:creationId xmlns:a16="http://schemas.microsoft.com/office/drawing/2014/main" id="{35DA3DB7-DCD7-4487-B0A4-A439C09F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說清需求</a:t>
            </a:r>
          </a:p>
        </p:txBody>
      </p:sp>
      <p:sp>
        <p:nvSpPr>
          <p:cNvPr id="10" name="text-1361">
            <a:extLst xmlns:a="http://schemas.openxmlformats.org/drawingml/2006/main">
              <a:ext uri="{FF2B5EF4-FFF2-40B4-BE49-F238E27FC236}">
                <a16:creationId xmlns:a16="http://schemas.microsoft.com/office/drawing/2014/main" id="{CA1F608C-FF6A-4E1F-BD38-AA070603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欄位、使用者、規則</a:t>
            </a:r>
          </a:p>
        </p:txBody>
      </p:sp>
      <p:sp>
        <p:nvSpPr>
          <p:cNvPr id="11" name="text-1362">
            <a:extLst xmlns:a="http://schemas.openxmlformats.org/drawingml/2006/main">
              <a:ext uri="{FF2B5EF4-FFF2-40B4-BE49-F238E27FC236}">
                <a16:creationId xmlns:a16="http://schemas.microsoft.com/office/drawing/2014/main" id="{EE03F207-2D7B-48B9-B1E5-5A720821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2" name="shape-1363">
            <a:extLst xmlns:a="http://schemas.openxmlformats.org/drawingml/2006/main">
              <a:ext uri="{FF2B5EF4-FFF2-40B4-BE49-F238E27FC236}">
                <a16:creationId xmlns:a16="http://schemas.microsoft.com/office/drawing/2014/main" id="{D9957A31-D0B0-4941-8179-A4D42CC9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3" name="shape-1364">
            <a:extLst xmlns:a="http://schemas.openxmlformats.org/drawingml/2006/main">
              <a:ext uri="{FF2B5EF4-FFF2-40B4-BE49-F238E27FC236}">
                <a16:creationId xmlns:a16="http://schemas.microsoft.com/office/drawing/2014/main" id="{E8B491C9-919D-4B74-A095-1EB89B5B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365">
            <a:extLst xmlns:a="http://schemas.openxmlformats.org/drawingml/2006/main">
              <a:ext uri="{FF2B5EF4-FFF2-40B4-BE49-F238E27FC236}">
                <a16:creationId xmlns:a16="http://schemas.microsoft.com/office/drawing/2014/main" id="{CFBD134E-7F17-4000-9AE1-E10F58F3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5" name="text-1366">
            <a:extLst xmlns:a="http://schemas.openxmlformats.org/drawingml/2006/main">
              <a:ext uri="{FF2B5EF4-FFF2-40B4-BE49-F238E27FC236}">
                <a16:creationId xmlns:a16="http://schemas.microsoft.com/office/drawing/2014/main" id="{12599352-71C9-4308-8FB1-F2AD91B0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產出程式</a:t>
            </a:r>
          </a:p>
        </p:txBody>
      </p:sp>
      <p:sp>
        <p:nvSpPr>
          <p:cNvPr id="16" name="text-1367">
            <a:extLst xmlns:a="http://schemas.openxmlformats.org/drawingml/2006/main">
              <a:ext uri="{FF2B5EF4-FFF2-40B4-BE49-F238E27FC236}">
                <a16:creationId xmlns:a16="http://schemas.microsoft.com/office/drawing/2014/main" id="{1F3220DD-017A-4B6C-90D9-07C77B65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GAS／API／觸發器</a:t>
            </a:r>
          </a:p>
        </p:txBody>
      </p:sp>
      <p:sp>
        <p:nvSpPr>
          <p:cNvPr id="17" name="text-1368">
            <a:extLst xmlns:a="http://schemas.openxmlformats.org/drawingml/2006/main">
              <a:ext uri="{FF2B5EF4-FFF2-40B4-BE49-F238E27FC236}">
                <a16:creationId xmlns:a16="http://schemas.microsoft.com/office/drawing/2014/main" id="{209F6B0C-BCCD-46F9-A260-9A2B2B48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8" name="shape-1369">
            <a:extLst xmlns:a="http://schemas.openxmlformats.org/drawingml/2006/main">
              <a:ext uri="{FF2B5EF4-FFF2-40B4-BE49-F238E27FC236}">
                <a16:creationId xmlns:a16="http://schemas.microsoft.com/office/drawing/2014/main" id="{C3B1AAE3-6194-4556-9872-8ECD22ED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shape-1370">
            <a:extLst xmlns:a="http://schemas.openxmlformats.org/drawingml/2006/main">
              <a:ext uri="{FF2B5EF4-FFF2-40B4-BE49-F238E27FC236}">
                <a16:creationId xmlns:a16="http://schemas.microsoft.com/office/drawing/2014/main" id="{F100E688-C67A-40CC-9405-AEC6C8A8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371">
            <a:extLst xmlns:a="http://schemas.openxmlformats.org/drawingml/2006/main">
              <a:ext uri="{FF2B5EF4-FFF2-40B4-BE49-F238E27FC236}">
                <a16:creationId xmlns:a16="http://schemas.microsoft.com/office/drawing/2014/main" id="{08CF1EF5-77DE-46B8-8E45-93A8FCCB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text-1372">
            <a:extLst xmlns:a="http://schemas.openxmlformats.org/drawingml/2006/main">
              <a:ext uri="{FF2B5EF4-FFF2-40B4-BE49-F238E27FC236}">
                <a16:creationId xmlns:a16="http://schemas.microsoft.com/office/drawing/2014/main" id="{0D171309-E18F-4938-8B36-A6DAD9E4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連動資料</a:t>
            </a:r>
          </a:p>
        </p:txBody>
      </p:sp>
      <p:sp>
        <p:nvSpPr>
          <p:cNvPr id="22" name="text-1373">
            <a:extLst xmlns:a="http://schemas.openxmlformats.org/drawingml/2006/main">
              <a:ext uri="{FF2B5EF4-FFF2-40B4-BE49-F238E27FC236}">
                <a16:creationId xmlns:a16="http://schemas.microsoft.com/office/drawing/2014/main" id="{21C54E3C-1F30-4B29-AB5C-4DB3BED7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Sheets 作資料表</a:t>
            </a:r>
          </a:p>
        </p:txBody>
      </p:sp>
      <p:sp>
        <p:nvSpPr>
          <p:cNvPr id="23" name="text-1374">
            <a:extLst xmlns:a="http://schemas.openxmlformats.org/drawingml/2006/main">
              <a:ext uri="{FF2B5EF4-FFF2-40B4-BE49-F238E27FC236}">
                <a16:creationId xmlns:a16="http://schemas.microsoft.com/office/drawing/2014/main" id="{DFE2971D-C061-40E3-916B-E727E646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24" name="shape-1375">
            <a:extLst xmlns:a="http://schemas.openxmlformats.org/drawingml/2006/main">
              <a:ext uri="{FF2B5EF4-FFF2-40B4-BE49-F238E27FC236}">
                <a16:creationId xmlns:a16="http://schemas.microsoft.com/office/drawing/2014/main" id="{BD93D181-A06E-4206-BACE-6486C6AA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25" name="shape-1376">
            <a:extLst xmlns:a="http://schemas.openxmlformats.org/drawingml/2006/main">
              <a:ext uri="{FF2B5EF4-FFF2-40B4-BE49-F238E27FC236}">
                <a16:creationId xmlns:a16="http://schemas.microsoft.com/office/drawing/2014/main" id="{28C394E6-FA40-4E57-A00A-FA6F1E7E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1377">
            <a:extLst xmlns:a="http://schemas.openxmlformats.org/drawingml/2006/main">
              <a:ext uri="{FF2B5EF4-FFF2-40B4-BE49-F238E27FC236}">
                <a16:creationId xmlns:a16="http://schemas.microsoft.com/office/drawing/2014/main" id="{A9FE05F5-1AC4-4FDC-9BF5-561DB780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7" name="text-1378">
            <a:extLst xmlns:a="http://schemas.openxmlformats.org/drawingml/2006/main">
              <a:ext uri="{FF2B5EF4-FFF2-40B4-BE49-F238E27FC236}">
                <a16:creationId xmlns:a16="http://schemas.microsoft.com/office/drawing/2014/main" id="{676AA8DA-B22C-48AC-971E-F0DC8EA9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部署驗收</a:t>
            </a:r>
          </a:p>
        </p:txBody>
      </p:sp>
      <p:sp>
        <p:nvSpPr>
          <p:cNvPr id="28" name="text-1379">
            <a:extLst xmlns:a="http://schemas.openxmlformats.org/drawingml/2006/main">
              <a:ext uri="{FF2B5EF4-FFF2-40B4-BE49-F238E27FC236}">
                <a16:creationId xmlns:a16="http://schemas.microsoft.com/office/drawing/2014/main" id="{B19198B4-AABB-4796-B6A6-CE8A5FA7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權限、網址、測試</a:t>
            </a:r>
          </a:p>
        </p:txBody>
      </p:sp>
      <p:sp>
        <p:nvSpPr>
          <p:cNvPr id="29" name="text-1380">
            <a:extLst xmlns:a="http://schemas.openxmlformats.org/drawingml/2006/main">
              <a:ext uri="{FF2B5EF4-FFF2-40B4-BE49-F238E27FC236}">
                <a16:creationId xmlns:a16="http://schemas.microsoft.com/office/drawing/2014/main" id="{0F554F94-B9F5-4CE4-8F56-C2B78963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30" name="shape-1381">
            <a:extLst xmlns:a="http://schemas.openxmlformats.org/drawingml/2006/main">
              <a:ext uri="{FF2B5EF4-FFF2-40B4-BE49-F238E27FC236}">
                <a16:creationId xmlns:a16="http://schemas.microsoft.com/office/drawing/2014/main" id="{FB8101C8-CDD5-4F62-AF8F-7264EF12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31" name="shape-1382">
            <a:extLst xmlns:a="http://schemas.openxmlformats.org/drawingml/2006/main">
              <a:ext uri="{FF2B5EF4-FFF2-40B4-BE49-F238E27FC236}">
                <a16:creationId xmlns:a16="http://schemas.microsoft.com/office/drawing/2014/main" id="{04DFB869-03B3-4691-A089-C13787C8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1383">
            <a:extLst xmlns:a="http://schemas.openxmlformats.org/drawingml/2006/main">
              <a:ext uri="{FF2B5EF4-FFF2-40B4-BE49-F238E27FC236}">
                <a16:creationId xmlns:a16="http://schemas.microsoft.com/office/drawing/2014/main" id="{83F2B740-60B3-4475-ABD2-F53DD3ED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33" name="text-1384">
            <a:extLst xmlns:a="http://schemas.openxmlformats.org/drawingml/2006/main">
              <a:ext uri="{FF2B5EF4-FFF2-40B4-BE49-F238E27FC236}">
                <a16:creationId xmlns:a16="http://schemas.microsoft.com/office/drawing/2014/main" id="{3382CEC8-804C-45C8-83B8-7AD705F6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留下 Skill</a:t>
            </a:r>
          </a:p>
        </p:txBody>
      </p:sp>
      <p:sp>
        <p:nvSpPr>
          <p:cNvPr id="34" name="text-1385">
            <a:extLst xmlns:a="http://schemas.openxmlformats.org/drawingml/2006/main">
              <a:ext uri="{FF2B5EF4-FFF2-40B4-BE49-F238E27FC236}">
                <a16:creationId xmlns:a16="http://schemas.microsoft.com/office/drawing/2014/main" id="{A06BAE38-7EAB-46CE-A342-EF639AC2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下次可重跑、可修改</a:t>
            </a:r>
          </a:p>
        </p:txBody>
      </p:sp>
      <p:sp>
        <p:nvSpPr>
          <p:cNvPr id="35" name="text-1386">
            <a:extLst xmlns:a="http://schemas.openxmlformats.org/drawingml/2006/main">
              <a:ext uri="{FF2B5EF4-FFF2-40B4-BE49-F238E27FC236}">
                <a16:creationId xmlns:a16="http://schemas.microsoft.com/office/drawing/2014/main" id="{B37F6303-26EB-4F0E-8AB4-CE190675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14950"/>
            <a:ext cx="5638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152400" tIns="57150" rIns="1524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每一步都留下可檢查的成果</a:t>
            </a:r>
          </a:p>
        </p:txBody>
      </p:sp>
      <p:sp>
        <p:nvSpPr>
          <p:cNvPr id="36" name="text-2386">
            <a:extLst xmlns:a="http://schemas.openxmlformats.org/drawingml/2006/main">
              <a:ext uri="{FF2B5EF4-FFF2-40B4-BE49-F238E27FC236}">
                <a16:creationId xmlns:a16="http://schemas.microsoft.com/office/drawing/2014/main" id="{DEEE9AB7-B51F-4DCF-92DA-BBEAB86D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716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596b567d160d4872"/>
              </a:rPr>
              <a:t>CLASP／GAS Skill ↗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2457b9df8d6a40c0"/>
              </a:rPr>
              <a:t>Google Apps Script 官方 ↗</a:t>
            </a:r>
          </a:p>
        </p:txBody>
      </p:sp>
      <p:sp>
        <p:nvSpPr>
          <p:cNvPr id="37" name="shape-2449">
            <a:extLst xmlns:a="http://schemas.openxmlformats.org/drawingml/2006/main">
              <a:ext uri="{FF2B5EF4-FFF2-40B4-BE49-F238E27FC236}">
                <a16:creationId xmlns:a16="http://schemas.microsoft.com/office/drawing/2014/main" id="{6BF454D1-A457-41F2-ADED-A265FA53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aca55bf734a77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39" name="text-2450">
            <a:extLst xmlns:a="http://schemas.openxmlformats.org/drawingml/2006/main">
              <a:ext uri="{FF2B5EF4-FFF2-40B4-BE49-F238E27FC236}">
                <a16:creationId xmlns:a16="http://schemas.microsoft.com/office/drawing/2014/main" id="{C5DD5999-EAC4-4433-BCBC-11E715B4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CLASP／GAS Sk</a:t>
            </a:r>
          </a:p>
        </p:txBody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fa92c39c17465e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41" name="text-2451">
            <a:extLst xmlns:a="http://schemas.openxmlformats.org/drawingml/2006/main">
              <a:ext uri="{FF2B5EF4-FFF2-40B4-BE49-F238E27FC236}">
                <a16:creationId xmlns:a16="http://schemas.microsoft.com/office/drawing/2014/main" id="{55C9C4FE-4EF2-4D1C-B4EE-EAC95701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Apps Script </a:t>
            </a:r>
          </a:p>
        </p:txBody>
      </p:sp>
    </p:spTree>
    <p:extLst>
      <p:ext uri="{BB962C8B-B14F-4D97-AF65-F5344CB8AC3E}">
        <p14:creationId xmlns:p14="http://schemas.microsoft.com/office/powerpoint/2010/main" val="26867425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1387">
            <a:extLst xmlns:a="http://schemas.openxmlformats.org/drawingml/2006/main">
              <a:ext uri="{FF2B5EF4-FFF2-40B4-BE49-F238E27FC236}">
                <a16:creationId xmlns:a16="http://schemas.microsoft.com/office/drawing/2014/main" id="{330CD5A3-FB61-46CA-8796-9C65EEE5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FIREBASE BACKEND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1AAAB6-D585-4E2E-89C2-E9B47381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28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Firebase：即時同步、登入與權限管理</a:t>
            </a:r>
          </a:p>
        </p:txBody>
      </p:sp>
      <p:cxnSp>
        <p:nvCxnSpPr>
          <p:cNvPr id="31" name="shape-1388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389">
            <a:extLst xmlns:a="http://schemas.openxmlformats.org/drawingml/2006/main">
              <a:ext uri="{FF2B5EF4-FFF2-40B4-BE49-F238E27FC236}">
                <a16:creationId xmlns:a16="http://schemas.microsoft.com/office/drawing/2014/main" id="{B38494FE-E699-4D1F-9179-0059B4E8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EEE7C25-6249-4456-9805-1A602607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18</a:t>
            </a:r>
          </a:p>
        </p:txBody>
      </p:sp>
      <p:sp>
        <p:nvSpPr>
          <p:cNvPr id="6" name="shape-1390">
            <a:extLst xmlns:a="http://schemas.openxmlformats.org/drawingml/2006/main">
              <a:ext uri="{FF2B5EF4-FFF2-40B4-BE49-F238E27FC236}">
                <a16:creationId xmlns:a16="http://schemas.microsoft.com/office/drawing/2014/main" id="{94EADAFB-F5E7-4F3E-BB7C-92503BB3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3594100" cy="426720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shape-1391">
            <a:extLst xmlns:a="http://schemas.openxmlformats.org/drawingml/2006/main">
              <a:ext uri="{FF2B5EF4-FFF2-40B4-BE49-F238E27FC236}">
                <a16:creationId xmlns:a16="http://schemas.microsoft.com/office/drawing/2014/main" id="{553575D4-F736-4EE8-84C5-177571EE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3175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392">
            <a:extLst xmlns:a="http://schemas.openxmlformats.org/drawingml/2006/main">
              <a:ext uri="{FF2B5EF4-FFF2-40B4-BE49-F238E27FC236}">
                <a16:creationId xmlns:a16="http://schemas.microsoft.com/office/drawing/2014/main" id="{AB59FC36-7DD7-4816-B911-7A769529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DATA</a:t>
            </a:r>
          </a:p>
        </p:txBody>
      </p:sp>
      <p:sp>
        <p:nvSpPr>
          <p:cNvPr id="9" name="text-1393">
            <a:extLst xmlns:a="http://schemas.openxmlformats.org/drawingml/2006/main">
              <a:ext uri="{FF2B5EF4-FFF2-40B4-BE49-F238E27FC236}">
                <a16:creationId xmlns:a16="http://schemas.microsoft.com/office/drawing/2014/main" id="{694EA31F-AD4B-4F49-AD4A-4303FD69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317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Firestore</a:t>
            </a:r>
          </a:p>
        </p:txBody>
      </p:sp>
      <p:sp>
        <p:nvSpPr>
          <p:cNvPr id="10" name="text-1394">
            <a:extLst xmlns:a="http://schemas.openxmlformats.org/drawingml/2006/main">
              <a:ext uri="{FF2B5EF4-FFF2-40B4-BE49-F238E27FC236}">
                <a16:creationId xmlns:a16="http://schemas.microsoft.com/office/drawing/2014/main" id="{760F5A25-0938-45E3-BAE2-D3F6B0A7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31750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適合即時同步的資料與狀態。可觀察案例：動態表單自動回報、自治小市長即時計票，以及數位內容需求調查。</a:t>
            </a:r>
          </a:p>
        </p:txBody>
      </p:sp>
      <p:sp>
        <p:nvSpPr>
          <p:cNvPr id="11" name="shape-1395">
            <a:extLst xmlns:a="http://schemas.openxmlformats.org/drawingml/2006/main">
              <a:ext uri="{FF2B5EF4-FFF2-40B4-BE49-F238E27FC236}">
                <a16:creationId xmlns:a16="http://schemas.microsoft.com/office/drawing/2014/main" id="{31C8A9BF-6F63-452C-AD71-52C69366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1676400"/>
            <a:ext cx="3594100" cy="426720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2" name="shape-1396">
            <a:extLst xmlns:a="http://schemas.openxmlformats.org/drawingml/2006/main">
              <a:ext uri="{FF2B5EF4-FFF2-40B4-BE49-F238E27FC236}">
                <a16:creationId xmlns:a16="http://schemas.microsoft.com/office/drawing/2014/main" id="{367CC26F-139F-4474-BB6A-D5240048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885950"/>
            <a:ext cx="3175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1397">
            <a:extLst xmlns:a="http://schemas.openxmlformats.org/drawingml/2006/main">
              <a:ext uri="{FF2B5EF4-FFF2-40B4-BE49-F238E27FC236}">
                <a16:creationId xmlns:a16="http://schemas.microsoft.com/office/drawing/2014/main" id="{A0C27A9C-780D-4C33-94A4-2179495C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1336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AUTH</a:t>
            </a:r>
          </a:p>
        </p:txBody>
      </p:sp>
      <p:sp>
        <p:nvSpPr>
          <p:cNvPr id="14" name="text-1398">
            <a:extLst xmlns:a="http://schemas.openxmlformats.org/drawingml/2006/main">
              <a:ext uri="{FF2B5EF4-FFF2-40B4-BE49-F238E27FC236}">
                <a16:creationId xmlns:a16="http://schemas.microsoft.com/office/drawing/2014/main" id="{9525D388-86C6-4A2E-85C8-62C43994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705100"/>
            <a:ext cx="317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登入與規則</a:t>
            </a:r>
          </a:p>
        </p:txBody>
      </p:sp>
      <p:sp>
        <p:nvSpPr>
          <p:cNvPr id="15" name="text-1399">
            <a:extLst xmlns:a="http://schemas.openxmlformats.org/drawingml/2006/main">
              <a:ext uri="{FF2B5EF4-FFF2-40B4-BE49-F238E27FC236}">
                <a16:creationId xmlns:a16="http://schemas.microsoft.com/office/drawing/2014/main" id="{A2465E00-4A11-4033-96B1-3910BD6E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467100"/>
            <a:ext cx="31750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把使用者身分、角色與讀寫規則納入設計；先定義誰能看、誰能改，再談功能。</a:t>
            </a:r>
          </a:p>
        </p:txBody>
      </p:sp>
      <p:sp>
        <p:nvSpPr>
          <p:cNvPr id="16" name="shape-1400">
            <a:extLst xmlns:a="http://schemas.openxmlformats.org/drawingml/2006/main">
              <a:ext uri="{FF2B5EF4-FFF2-40B4-BE49-F238E27FC236}">
                <a16:creationId xmlns:a16="http://schemas.microsoft.com/office/drawing/2014/main" id="{26914A74-31FB-480B-A648-D2BE4060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1676400"/>
            <a:ext cx="3594100" cy="426720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7" name="shape-1401">
            <a:extLst xmlns:a="http://schemas.openxmlformats.org/drawingml/2006/main">
              <a:ext uri="{FF2B5EF4-FFF2-40B4-BE49-F238E27FC236}">
                <a16:creationId xmlns:a16="http://schemas.microsoft.com/office/drawing/2014/main" id="{67ECD0BF-30BB-44D7-B5F6-CBE25AC6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1885950"/>
            <a:ext cx="3175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1402">
            <a:extLst xmlns:a="http://schemas.openxmlformats.org/drawingml/2006/main">
              <a:ext uri="{FF2B5EF4-FFF2-40B4-BE49-F238E27FC236}">
                <a16:creationId xmlns:a16="http://schemas.microsoft.com/office/drawing/2014/main" id="{FBC123D4-2DB9-4815-A92A-CEB19245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1336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RUN</a:t>
            </a:r>
          </a:p>
        </p:txBody>
      </p:sp>
      <p:sp>
        <p:nvSpPr>
          <p:cNvPr id="19" name="text-1403">
            <a:extLst xmlns:a="http://schemas.openxmlformats.org/drawingml/2006/main">
              <a:ext uri="{FF2B5EF4-FFF2-40B4-BE49-F238E27FC236}">
                <a16:creationId xmlns:a16="http://schemas.microsoft.com/office/drawing/2014/main" id="{6A8E7302-72EC-4905-80F2-7C673F20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705100"/>
            <a:ext cx="317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Functions／部署</a:t>
            </a:r>
          </a:p>
        </p:txBody>
      </p:sp>
      <p:sp>
        <p:nvSpPr>
          <p:cNvPr id="20" name="text-1404">
            <a:extLst xmlns:a="http://schemas.openxmlformats.org/drawingml/2006/main">
              <a:ext uri="{FF2B5EF4-FFF2-40B4-BE49-F238E27FC236}">
                <a16:creationId xmlns:a16="http://schemas.microsoft.com/office/drawing/2014/main" id="{48134F9A-6671-4CD9-93B9-3CEAE36E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467100"/>
            <a:ext cx="31750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把後端邏輯與部署交給託管服務，適合需要多人同步、事件觸發與可擴充流程的工具。</a:t>
            </a:r>
          </a:p>
        </p:txBody>
      </p:sp>
      <p:sp>
        <p:nvSpPr>
          <p:cNvPr id="21" name="text-2387">
            <a:extLst xmlns:a="http://schemas.openxmlformats.org/drawingml/2006/main">
              <a:ext uri="{FF2B5EF4-FFF2-40B4-BE49-F238E27FC236}">
                <a16:creationId xmlns:a16="http://schemas.microsoft.com/office/drawing/2014/main" id="{36CA4B9D-C5AF-403E-ABEB-3E9C8FE9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471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3d631d93356349f7"/>
              </a:rPr>
              <a:t>動態表單自動回報 · 工具卡片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3b99a7ecd478486a"/>
              </a:rPr>
              <a:t>自治小市長即時計票 · 工具卡片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5b4f89f63f89427d"/>
              </a:rPr>
              <a:t>數位內容需求調查 · 工具卡片 ↗</a:t>
            </a:r>
          </a:p>
        </p:txBody>
      </p:sp>
      <p:sp>
        <p:nvSpPr>
          <p:cNvPr id="22" name="shape-2452">
            <a:extLst xmlns:a="http://schemas.openxmlformats.org/drawingml/2006/main">
              <a:ext uri="{FF2B5EF4-FFF2-40B4-BE49-F238E27FC236}">
                <a16:creationId xmlns:a16="http://schemas.microsoft.com/office/drawing/2014/main" id="{579FC0CF-22C3-48CE-8DEC-D2458722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"/>
            <a:ext cx="2247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1b568287d14ae4"/>
          <a:stretch xmlns:a="http://schemas.openxmlformats.org/drawingml/2006/main"/>
        </p:blipFill>
        <p:spPr>
          <a:xfrm xmlns:a="http://schemas.openxmlformats.org/drawingml/2006/main">
            <a:off x="95059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4" name="text-2453">
            <a:extLst xmlns:a="http://schemas.openxmlformats.org/drawingml/2006/main">
              <a:ext uri="{FF2B5EF4-FFF2-40B4-BE49-F238E27FC236}">
                <a16:creationId xmlns:a16="http://schemas.microsoft.com/office/drawing/2014/main" id="{229055B7-1EAC-4C05-B2EC-7433AD6C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3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動態表單自動回報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1e93134e754e16"/>
          <a:stretch xmlns:a="http://schemas.openxmlformats.org/drawingml/2006/main"/>
        </p:blipFill>
        <p:spPr>
          <a:xfrm xmlns:a="http://schemas.openxmlformats.org/drawingml/2006/main">
            <a:off x="102298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6" name="text-2454">
            <a:extLst xmlns:a="http://schemas.openxmlformats.org/drawingml/2006/main">
              <a:ext uri="{FF2B5EF4-FFF2-40B4-BE49-F238E27FC236}">
                <a16:creationId xmlns:a16="http://schemas.microsoft.com/office/drawing/2014/main" id="{59F749AE-394A-45E1-BD55-A88EE394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2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自治小市長即時計票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2a4d9347cb4ddc"/>
          <a:stretch xmlns:a="http://schemas.openxmlformats.org/drawingml/2006/main"/>
        </p:blipFill>
        <p:spPr>
          <a:xfrm xmlns:a="http://schemas.openxmlformats.org/drawingml/2006/main">
            <a:off x="109537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8" name="text-2455">
            <a:extLst xmlns:a="http://schemas.openxmlformats.org/drawingml/2006/main">
              <a:ext uri="{FF2B5EF4-FFF2-40B4-BE49-F238E27FC236}">
                <a16:creationId xmlns:a16="http://schemas.microsoft.com/office/drawing/2014/main" id="{E519E0D0-C9A7-4567-83BA-47E55747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3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數位內容需求調查</a:t>
            </a:r>
          </a:p>
        </p:txBody>
      </p:sp>
    </p:spTree>
    <p:extLst>
      <p:ext uri="{BB962C8B-B14F-4D97-AF65-F5344CB8AC3E}">
        <p14:creationId xmlns:p14="http://schemas.microsoft.com/office/powerpoint/2010/main" val="77052682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1405">
            <a:extLst xmlns:a="http://schemas.openxmlformats.org/drawingml/2006/main">
              <a:ext uri="{FF2B5EF4-FFF2-40B4-BE49-F238E27FC236}">
                <a16:creationId xmlns:a16="http://schemas.microsoft.com/office/drawing/2014/main" id="{9F49A1DD-D67C-446C-8E7E-3AE217ED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SUPABASE BACKEND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C364E1-167F-43A0-91D4-DA62AA6D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Supabase：Postgres 型的另一條後端路線</a:t>
            </a:r>
          </a:p>
        </p:txBody>
      </p:sp>
      <p:cxnSp>
        <p:nvCxnSpPr>
          <p:cNvPr id="29" name="shape-1406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407">
            <a:extLst xmlns:a="http://schemas.openxmlformats.org/drawingml/2006/main">
              <a:ext uri="{FF2B5EF4-FFF2-40B4-BE49-F238E27FC236}">
                <a16:creationId xmlns:a16="http://schemas.microsoft.com/office/drawing/2014/main" id="{CDD121F2-4049-41F7-B89A-3BE964DB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5D82075-EE64-4972-9BCF-1C700751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19</a:t>
            </a:r>
          </a:p>
        </p:txBody>
      </p:sp>
      <p:sp>
        <p:nvSpPr>
          <p:cNvPr id="6" name="shape-1408">
            <a:extLst xmlns:a="http://schemas.openxmlformats.org/drawingml/2006/main">
              <a:ext uri="{FF2B5EF4-FFF2-40B4-BE49-F238E27FC236}">
                <a16:creationId xmlns:a16="http://schemas.microsoft.com/office/drawing/2014/main" id="{1BD4D96E-D40B-48A8-86EC-D211BA9D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3594100" cy="426720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shape-1409">
            <a:extLst xmlns:a="http://schemas.openxmlformats.org/drawingml/2006/main">
              <a:ext uri="{FF2B5EF4-FFF2-40B4-BE49-F238E27FC236}">
                <a16:creationId xmlns:a16="http://schemas.microsoft.com/office/drawing/2014/main" id="{E902D969-D857-4F0A-B234-6E41636D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3175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410">
            <a:extLst xmlns:a="http://schemas.openxmlformats.org/drawingml/2006/main">
              <a:ext uri="{FF2B5EF4-FFF2-40B4-BE49-F238E27FC236}">
                <a16:creationId xmlns:a16="http://schemas.microsoft.com/office/drawing/2014/main" id="{F56C5E5F-F45B-4B96-A888-E075A89D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DB</a:t>
            </a:r>
          </a:p>
        </p:txBody>
      </p:sp>
      <p:sp>
        <p:nvSpPr>
          <p:cNvPr id="9" name="text-1411">
            <a:extLst xmlns:a="http://schemas.openxmlformats.org/drawingml/2006/main">
              <a:ext uri="{FF2B5EF4-FFF2-40B4-BE49-F238E27FC236}">
                <a16:creationId xmlns:a16="http://schemas.microsoft.com/office/drawing/2014/main" id="{98A91F74-79D0-4C5C-9425-94A639D7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317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Postgres 資料庫</a:t>
            </a:r>
          </a:p>
        </p:txBody>
      </p:sp>
      <p:sp>
        <p:nvSpPr>
          <p:cNvPr id="10" name="text-1412">
            <a:extLst xmlns:a="http://schemas.openxmlformats.org/drawingml/2006/main">
              <a:ext uri="{FF2B5EF4-FFF2-40B4-BE49-F238E27FC236}">
                <a16:creationId xmlns:a16="http://schemas.microsoft.com/office/drawing/2014/main" id="{DAD64D14-6736-42D0-9D76-35124D5F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31750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適合需要關聯資料、查詢與清楚 schema 的教學或研究工具；資料結構先設計，後續比較好分析。</a:t>
            </a:r>
          </a:p>
        </p:txBody>
      </p:sp>
      <p:sp>
        <p:nvSpPr>
          <p:cNvPr id="11" name="shape-1413">
            <a:extLst xmlns:a="http://schemas.openxmlformats.org/drawingml/2006/main">
              <a:ext uri="{FF2B5EF4-FFF2-40B4-BE49-F238E27FC236}">
                <a16:creationId xmlns:a16="http://schemas.microsoft.com/office/drawing/2014/main" id="{61B6CD24-1EC1-4157-B575-3BF4C15A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1676400"/>
            <a:ext cx="3594100" cy="426720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2" name="shape-1414">
            <a:extLst xmlns:a="http://schemas.openxmlformats.org/drawingml/2006/main">
              <a:ext uri="{FF2B5EF4-FFF2-40B4-BE49-F238E27FC236}">
                <a16:creationId xmlns:a16="http://schemas.microsoft.com/office/drawing/2014/main" id="{A0DAAA04-CB1B-4D99-9A9B-19D7C77B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885950"/>
            <a:ext cx="3175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1415">
            <a:extLst xmlns:a="http://schemas.openxmlformats.org/drawingml/2006/main">
              <a:ext uri="{FF2B5EF4-FFF2-40B4-BE49-F238E27FC236}">
                <a16:creationId xmlns:a16="http://schemas.microsoft.com/office/drawing/2014/main" id="{FAD6F2B1-ECB4-4B9F-B2E8-CEAFC0D1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1336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API</a:t>
            </a:r>
          </a:p>
        </p:txBody>
      </p:sp>
      <p:sp>
        <p:nvSpPr>
          <p:cNvPr id="14" name="text-1416">
            <a:extLst xmlns:a="http://schemas.openxmlformats.org/drawingml/2006/main">
              <a:ext uri="{FF2B5EF4-FFF2-40B4-BE49-F238E27FC236}">
                <a16:creationId xmlns:a16="http://schemas.microsoft.com/office/drawing/2014/main" id="{AFF66F81-FC00-4BCA-8AEC-2CBF48D6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705100"/>
            <a:ext cx="317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Auth／Storage／API</a:t>
            </a:r>
          </a:p>
        </p:txBody>
      </p:sp>
      <p:sp>
        <p:nvSpPr>
          <p:cNvPr id="15" name="text-1417">
            <a:extLst xmlns:a="http://schemas.openxmlformats.org/drawingml/2006/main">
              <a:ext uri="{FF2B5EF4-FFF2-40B4-BE49-F238E27FC236}">
                <a16:creationId xmlns:a16="http://schemas.microsoft.com/office/drawing/2014/main" id="{A38CC452-1CD5-4645-B93A-5DCB11EA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467100"/>
            <a:ext cx="31750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登入、檔案與資料 API 可一起規劃，讓前端與 Agent 有明確的資料契約。</a:t>
            </a:r>
          </a:p>
        </p:txBody>
      </p:sp>
      <p:sp>
        <p:nvSpPr>
          <p:cNvPr id="16" name="shape-1418">
            <a:extLst xmlns:a="http://schemas.openxmlformats.org/drawingml/2006/main">
              <a:ext uri="{FF2B5EF4-FFF2-40B4-BE49-F238E27FC236}">
                <a16:creationId xmlns:a16="http://schemas.microsoft.com/office/drawing/2014/main" id="{152CC442-2D52-4EA1-AB1D-A6A1480B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1676400"/>
            <a:ext cx="3594100" cy="426720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7" name="shape-1419">
            <a:extLst xmlns:a="http://schemas.openxmlformats.org/drawingml/2006/main">
              <a:ext uri="{FF2B5EF4-FFF2-40B4-BE49-F238E27FC236}">
                <a16:creationId xmlns:a16="http://schemas.microsoft.com/office/drawing/2014/main" id="{835F60B4-A3FD-4E42-A961-1C9A7489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1885950"/>
            <a:ext cx="3175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1420">
            <a:extLst xmlns:a="http://schemas.openxmlformats.org/drawingml/2006/main">
              <a:ext uri="{FF2B5EF4-FFF2-40B4-BE49-F238E27FC236}">
                <a16:creationId xmlns:a16="http://schemas.microsoft.com/office/drawing/2014/main" id="{1D648CA4-8985-49F9-9494-70D83EB8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1336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NOTE</a:t>
            </a:r>
          </a:p>
        </p:txBody>
      </p:sp>
      <p:sp>
        <p:nvSpPr>
          <p:cNvPr id="19" name="text-1421">
            <a:extLst xmlns:a="http://schemas.openxmlformats.org/drawingml/2006/main">
              <a:ext uri="{FF2B5EF4-FFF2-40B4-BE49-F238E27FC236}">
                <a16:creationId xmlns:a16="http://schemas.microsoft.com/office/drawing/2014/main" id="{3B4D3270-004A-477B-9890-29FF1E0B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705100"/>
            <a:ext cx="317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先確認公開案例</a:t>
            </a:r>
          </a:p>
        </p:txBody>
      </p:sp>
      <p:sp>
        <p:nvSpPr>
          <p:cNvPr id="20" name="text-1422">
            <a:extLst xmlns:a="http://schemas.openxmlformats.org/drawingml/2006/main">
              <a:ext uri="{FF2B5EF4-FFF2-40B4-BE49-F238E27FC236}">
                <a16:creationId xmlns:a16="http://schemas.microsoft.com/office/drawing/2014/main" id="{A77CE07B-8C58-42F2-8D1F-94AE1AD6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467100"/>
            <a:ext cx="31750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目前公開 123 個案例資料未找到明確標示 Supabase 的阿凱工具卡片；本頁先提供官方入口與阿凱專區，確認卡片後再補入。</a:t>
            </a:r>
          </a:p>
        </p:txBody>
      </p:sp>
      <p:sp>
        <p:nvSpPr>
          <p:cNvPr id="21" name="text-2388">
            <a:extLst xmlns:a="http://schemas.openxmlformats.org/drawingml/2006/main">
              <a:ext uri="{FF2B5EF4-FFF2-40B4-BE49-F238E27FC236}">
                <a16:creationId xmlns:a16="http://schemas.microsoft.com/office/drawing/2014/main" id="{44568AC9-96D7-45E9-B878-FC06E2A4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058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f7e645b0ed0a48f6"/>
              </a:rPr>
              <a:t>Supabase 官方 ↗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f2731cd02b124b3b"/>
              </a:rPr>
              <a:t>阿凱教育科技創新專區 ↗</a:t>
            </a:r>
          </a:p>
        </p:txBody>
      </p:sp>
      <p:sp>
        <p:nvSpPr>
          <p:cNvPr id="22" name="shape-2456">
            <a:extLst xmlns:a="http://schemas.openxmlformats.org/drawingml/2006/main">
              <a:ext uri="{FF2B5EF4-FFF2-40B4-BE49-F238E27FC236}">
                <a16:creationId xmlns:a16="http://schemas.microsoft.com/office/drawing/2014/main" id="{81C97029-4EEE-49E7-9D57-FCFFCD77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486ceac71049a6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4" name="text-2457">
            <a:extLst xmlns:a="http://schemas.openxmlformats.org/drawingml/2006/main">
              <a:ext uri="{FF2B5EF4-FFF2-40B4-BE49-F238E27FC236}">
                <a16:creationId xmlns:a16="http://schemas.microsoft.com/office/drawing/2014/main" id="{1991EAC7-8924-4BBD-9CF8-5E452EF8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Supabase 官方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feb64079684a00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6" name="text-2458">
            <a:extLst xmlns:a="http://schemas.openxmlformats.org/drawingml/2006/main">
              <a:ext uri="{FF2B5EF4-FFF2-40B4-BE49-F238E27FC236}">
                <a16:creationId xmlns:a16="http://schemas.microsoft.com/office/drawing/2014/main" id="{A20273A5-A0CA-4996-A989-F288AF92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阿凱教育科技專區</a:t>
            </a:r>
          </a:p>
        </p:txBody>
      </p:sp>
    </p:spTree>
    <p:extLst>
      <p:ext uri="{BB962C8B-B14F-4D97-AF65-F5344CB8AC3E}">
        <p14:creationId xmlns:p14="http://schemas.microsoft.com/office/powerpoint/2010/main" val="197592078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1423">
            <a:extLst xmlns:a="http://schemas.openxmlformats.org/drawingml/2006/main">
              <a:ext uri="{FF2B5EF4-FFF2-40B4-BE49-F238E27FC236}">
                <a16:creationId xmlns:a16="http://schemas.microsoft.com/office/drawing/2014/main" id="{E425E20B-FF6D-4AED-A026-68C65A87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BACKEND DECISION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428352-D899-4101-94A3-AC6A82C2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28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GAS／Firebase／Supabase 怎麼選？</a:t>
            </a:r>
          </a:p>
        </p:txBody>
      </p:sp>
      <p:cxnSp>
        <p:nvCxnSpPr>
          <p:cNvPr id="31" name="shape-1424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425">
            <a:extLst xmlns:a="http://schemas.openxmlformats.org/drawingml/2006/main">
              <a:ext uri="{FF2B5EF4-FFF2-40B4-BE49-F238E27FC236}">
                <a16:creationId xmlns:a16="http://schemas.microsoft.com/office/drawing/2014/main" id="{6FF1D938-40CA-4DFB-B44D-BFEDCE78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A931613-2FB9-4886-BA58-1DBD2F6F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20</a:t>
            </a:r>
          </a:p>
        </p:txBody>
      </p:sp>
      <p:sp>
        <p:nvSpPr>
          <p:cNvPr id="6" name="shape-1426">
            <a:extLst xmlns:a="http://schemas.openxmlformats.org/drawingml/2006/main">
              <a:ext uri="{FF2B5EF4-FFF2-40B4-BE49-F238E27FC236}">
                <a16:creationId xmlns:a16="http://schemas.microsoft.com/office/drawing/2014/main" id="{46190317-3D43-415F-B863-752AB6E6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3594100" cy="426720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shape-1427">
            <a:extLst xmlns:a="http://schemas.openxmlformats.org/drawingml/2006/main">
              <a:ext uri="{FF2B5EF4-FFF2-40B4-BE49-F238E27FC236}">
                <a16:creationId xmlns:a16="http://schemas.microsoft.com/office/drawing/2014/main" id="{3A07F2CC-B6B0-46B0-8567-8C63E648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3175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428">
            <a:extLst xmlns:a="http://schemas.openxmlformats.org/drawingml/2006/main">
              <a:ext uri="{FF2B5EF4-FFF2-40B4-BE49-F238E27FC236}">
                <a16:creationId xmlns:a16="http://schemas.microsoft.com/office/drawing/2014/main" id="{CCE61BAB-5E8F-4DBC-9BB7-EC9DB994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GAS</a:t>
            </a:r>
          </a:p>
        </p:txBody>
      </p:sp>
      <p:sp>
        <p:nvSpPr>
          <p:cNvPr id="9" name="text-1429">
            <a:extLst xmlns:a="http://schemas.openxmlformats.org/drawingml/2006/main">
              <a:ext uri="{FF2B5EF4-FFF2-40B4-BE49-F238E27FC236}">
                <a16:creationId xmlns:a16="http://schemas.microsoft.com/office/drawing/2014/main" id="{F4129999-5CA3-4552-97BC-45BCA5AB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317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Google 原生、快速起步</a:t>
            </a:r>
          </a:p>
        </p:txBody>
      </p:sp>
      <p:sp>
        <p:nvSpPr>
          <p:cNvPr id="10" name="text-1430">
            <a:extLst xmlns:a="http://schemas.openxmlformats.org/drawingml/2006/main">
              <a:ext uri="{FF2B5EF4-FFF2-40B4-BE49-F238E27FC236}">
                <a16:creationId xmlns:a16="http://schemas.microsoft.com/office/drawing/2014/main" id="{0F9C5A9E-3FC9-429A-957C-E84666B8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31750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已有 Sheets／Forms／Drive，想快速做內部工具、排程與通知：先選 GAS。</a:t>
            </a:r>
          </a:p>
        </p:txBody>
      </p:sp>
      <p:sp>
        <p:nvSpPr>
          <p:cNvPr id="11" name="shape-1431">
            <a:extLst xmlns:a="http://schemas.openxmlformats.org/drawingml/2006/main">
              <a:ext uri="{FF2B5EF4-FFF2-40B4-BE49-F238E27FC236}">
                <a16:creationId xmlns:a16="http://schemas.microsoft.com/office/drawing/2014/main" id="{50C78D9C-82B9-4619-AFDD-5E787BEB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1676400"/>
            <a:ext cx="3594100" cy="426720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2" name="shape-1432">
            <a:extLst xmlns:a="http://schemas.openxmlformats.org/drawingml/2006/main">
              <a:ext uri="{FF2B5EF4-FFF2-40B4-BE49-F238E27FC236}">
                <a16:creationId xmlns:a16="http://schemas.microsoft.com/office/drawing/2014/main" id="{35ADF766-CEAD-4ECE-BD5C-1C06A6E9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885950"/>
            <a:ext cx="3175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1433">
            <a:extLst xmlns:a="http://schemas.openxmlformats.org/drawingml/2006/main">
              <a:ext uri="{FF2B5EF4-FFF2-40B4-BE49-F238E27FC236}">
                <a16:creationId xmlns:a16="http://schemas.microsoft.com/office/drawing/2014/main" id="{D5E5CFEA-1266-4863-822E-0169946B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1336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6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FIREBASE</a:t>
            </a:r>
          </a:p>
        </p:txBody>
      </p:sp>
      <p:sp>
        <p:nvSpPr>
          <p:cNvPr id="14" name="text-1434">
            <a:extLst xmlns:a="http://schemas.openxmlformats.org/drawingml/2006/main">
              <a:ext uri="{FF2B5EF4-FFF2-40B4-BE49-F238E27FC236}">
                <a16:creationId xmlns:a16="http://schemas.microsoft.com/office/drawing/2014/main" id="{62E1262A-51D9-4BC4-8E14-4B886A02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705100"/>
            <a:ext cx="317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即時同步、Google 服務</a:t>
            </a:r>
          </a:p>
        </p:txBody>
      </p:sp>
      <p:sp>
        <p:nvSpPr>
          <p:cNvPr id="15" name="text-1435">
            <a:extLst xmlns:a="http://schemas.openxmlformats.org/drawingml/2006/main">
              <a:ext uri="{FF2B5EF4-FFF2-40B4-BE49-F238E27FC236}">
                <a16:creationId xmlns:a16="http://schemas.microsoft.com/office/drawing/2014/main" id="{C72B4192-0668-4510-957C-9483D763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467100"/>
            <a:ext cx="31750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需要登入、多人即時狀態、事件觸發與託管部署：優先評估 Firebase。</a:t>
            </a:r>
          </a:p>
        </p:txBody>
      </p:sp>
      <p:sp>
        <p:nvSpPr>
          <p:cNvPr id="16" name="shape-1436">
            <a:extLst xmlns:a="http://schemas.openxmlformats.org/drawingml/2006/main">
              <a:ext uri="{FF2B5EF4-FFF2-40B4-BE49-F238E27FC236}">
                <a16:creationId xmlns:a16="http://schemas.microsoft.com/office/drawing/2014/main" id="{CEB6F019-E035-491D-BCC9-6407C4F9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1676400"/>
            <a:ext cx="3594100" cy="426720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7" name="shape-1437">
            <a:extLst xmlns:a="http://schemas.openxmlformats.org/drawingml/2006/main">
              <a:ext uri="{FF2B5EF4-FFF2-40B4-BE49-F238E27FC236}">
                <a16:creationId xmlns:a16="http://schemas.microsoft.com/office/drawing/2014/main" id="{A8565B8E-D039-4974-A6E7-B8A28F2A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1885950"/>
            <a:ext cx="3175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1438">
            <a:extLst xmlns:a="http://schemas.openxmlformats.org/drawingml/2006/main">
              <a:ext uri="{FF2B5EF4-FFF2-40B4-BE49-F238E27FC236}">
                <a16:creationId xmlns:a16="http://schemas.microsoft.com/office/drawing/2014/main" id="{BA9C6912-C704-4202-9E75-47546738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1336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6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SUPABASE</a:t>
            </a:r>
          </a:p>
        </p:txBody>
      </p:sp>
      <p:sp>
        <p:nvSpPr>
          <p:cNvPr id="19" name="text-1439">
            <a:extLst xmlns:a="http://schemas.openxmlformats.org/drawingml/2006/main">
              <a:ext uri="{FF2B5EF4-FFF2-40B4-BE49-F238E27FC236}">
                <a16:creationId xmlns:a16="http://schemas.microsoft.com/office/drawing/2014/main" id="{9A78D663-2A6A-47DB-99D3-89B15BD6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705100"/>
            <a:ext cx="317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關聯資料、SQL 彈性</a:t>
            </a:r>
          </a:p>
        </p:txBody>
      </p:sp>
      <p:sp>
        <p:nvSpPr>
          <p:cNvPr id="20" name="text-1440">
            <a:extLst xmlns:a="http://schemas.openxmlformats.org/drawingml/2006/main">
              <a:ext uri="{FF2B5EF4-FFF2-40B4-BE49-F238E27FC236}">
                <a16:creationId xmlns:a16="http://schemas.microsoft.com/office/drawing/2014/main" id="{A73511F0-4AE5-4132-9DC6-FBFC4B3D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467100"/>
            <a:ext cx="31750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需要 Postgres、關聯查詢與清楚 schema：評估 Supabase；最後仍用權限、成本與驗收證據決定。</a:t>
            </a:r>
          </a:p>
        </p:txBody>
      </p:sp>
      <p:sp>
        <p:nvSpPr>
          <p:cNvPr id="21" name="text-2389">
            <a:extLst xmlns:a="http://schemas.openxmlformats.org/drawingml/2006/main">
              <a:ext uri="{FF2B5EF4-FFF2-40B4-BE49-F238E27FC236}">
                <a16:creationId xmlns:a16="http://schemas.microsoft.com/office/drawing/2014/main" id="{8567EC4B-A37A-4D46-A224-4143FDC0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0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c27fe782a48c4279"/>
              </a:rPr>
              <a:t>Google Apps Script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1dcb70d1f7a64f8b"/>
              </a:rPr>
              <a:t>Firebase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85a53bf3085844d8"/>
              </a:rPr>
              <a:t>Supabase ↗</a:t>
            </a:r>
          </a:p>
        </p:txBody>
      </p:sp>
      <p:sp>
        <p:nvSpPr>
          <p:cNvPr id="22" name="shape-2459">
            <a:extLst xmlns:a="http://schemas.openxmlformats.org/drawingml/2006/main">
              <a:ext uri="{FF2B5EF4-FFF2-40B4-BE49-F238E27FC236}">
                <a16:creationId xmlns:a16="http://schemas.microsoft.com/office/drawing/2014/main" id="{D73B2C14-E3A5-4AD0-AD2E-02C45290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"/>
            <a:ext cx="2247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f1d17d4fbd4d2f"/>
          <a:stretch xmlns:a="http://schemas.openxmlformats.org/drawingml/2006/main"/>
        </p:blipFill>
        <p:spPr>
          <a:xfrm xmlns:a="http://schemas.openxmlformats.org/drawingml/2006/main">
            <a:off x="95059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4" name="text-2460">
            <a:extLst xmlns:a="http://schemas.openxmlformats.org/drawingml/2006/main">
              <a:ext uri="{FF2B5EF4-FFF2-40B4-BE49-F238E27FC236}">
                <a16:creationId xmlns:a16="http://schemas.microsoft.com/office/drawing/2014/main" id="{F27B5C3B-ED19-4EAC-A334-45A78411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Apps Script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2dac320333404c"/>
          <a:stretch xmlns:a="http://schemas.openxmlformats.org/drawingml/2006/main"/>
        </p:blipFill>
        <p:spPr>
          <a:xfrm xmlns:a="http://schemas.openxmlformats.org/drawingml/2006/main">
            <a:off x="102298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6" name="text-2461">
            <a:extLst xmlns:a="http://schemas.openxmlformats.org/drawingml/2006/main">
              <a:ext uri="{FF2B5EF4-FFF2-40B4-BE49-F238E27FC236}">
                <a16:creationId xmlns:a16="http://schemas.microsoft.com/office/drawing/2014/main" id="{C4155B54-E0AC-4441-9026-F628D2C5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Firebase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a2872f59fb4910"/>
          <a:stretch xmlns:a="http://schemas.openxmlformats.org/drawingml/2006/main"/>
        </p:blipFill>
        <p:spPr>
          <a:xfrm xmlns:a="http://schemas.openxmlformats.org/drawingml/2006/main">
            <a:off x="109537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8" name="text-2462">
            <a:extLst xmlns:a="http://schemas.openxmlformats.org/drawingml/2006/main">
              <a:ext uri="{FF2B5EF4-FFF2-40B4-BE49-F238E27FC236}">
                <a16:creationId xmlns:a16="http://schemas.microsoft.com/office/drawing/2014/main" id="{AA0B4913-3960-4590-8E44-DFBED3B7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Supabase</a:t>
            </a:r>
          </a:p>
        </p:txBody>
      </p:sp>
    </p:spTree>
    <p:extLst>
      <p:ext uri="{BB962C8B-B14F-4D97-AF65-F5344CB8AC3E}">
        <p14:creationId xmlns:p14="http://schemas.microsoft.com/office/powerpoint/2010/main" val="112359429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1441">
            <a:extLst xmlns:a="http://schemas.openxmlformats.org/drawingml/2006/main">
              <a:ext uri="{FF2B5EF4-FFF2-40B4-BE49-F238E27FC236}">
                <a16:creationId xmlns:a16="http://schemas.microsoft.com/office/drawing/2014/main" id="{89A9CD13-13C6-4A7A-972F-B1356D03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4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84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2" name="text-1442">
            <a:extLst xmlns:a="http://schemas.openxmlformats.org/drawingml/2006/main">
              <a:ext uri="{FF2B5EF4-FFF2-40B4-BE49-F238E27FC236}">
                <a16:creationId xmlns:a16="http://schemas.microsoft.com/office/drawing/2014/main" id="{18286BBB-ED84-48F2-B799-6063C6DF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40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  <p:sp>
        <p:nvSpPr>
          <p:cNvPr id="3" name="text-1443">
            <a:extLst xmlns:a="http://schemas.openxmlformats.org/drawingml/2006/main">
              <a:ext uri="{FF2B5EF4-FFF2-40B4-BE49-F238E27FC236}">
                <a16:creationId xmlns:a16="http://schemas.microsoft.com/office/drawing/2014/main" id="{2E767F68-1F42-401C-B4F4-03DA2D14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8477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把工作區變成 Agent 的中央指揮中心：交付任務、監看計畫、檢查產物與驗證證據。</a:t>
            </a:r>
          </a:p>
        </p:txBody>
      </p:sp>
      <p:sp>
        <p:nvSpPr>
          <p:cNvPr id="4" name="shape-1444">
            <a:extLst xmlns:a="http://schemas.openxmlformats.org/drawingml/2006/main">
              <a:ext uri="{FF2B5EF4-FFF2-40B4-BE49-F238E27FC236}">
                <a16:creationId xmlns:a16="http://schemas.microsoft.com/office/drawing/2014/main" id="{B1D67FD0-BE1D-4684-9B0E-AF5A8C50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810000"/>
            <a:ext cx="1524000" cy="1524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1445">
            <a:extLst xmlns:a="http://schemas.openxmlformats.org/drawingml/2006/main">
              <a:ext uri="{FF2B5EF4-FFF2-40B4-BE49-F238E27FC236}">
                <a16:creationId xmlns:a16="http://schemas.microsoft.com/office/drawing/2014/main" id="{DB0ACB95-0FED-4AA1-ACC5-098BC3D9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114800"/>
            <a:ext cx="114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動手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做</a:t>
            </a:r>
          </a:p>
        </p:txBody>
      </p:sp>
      <p:sp>
        <p:nvSpPr>
          <p:cNvPr id="6" name="shape-1446">
            <a:extLst xmlns:a="http://schemas.openxmlformats.org/drawingml/2006/main">
              <a:ext uri="{FF2B5EF4-FFF2-40B4-BE49-F238E27FC236}">
                <a16:creationId xmlns:a16="http://schemas.microsoft.com/office/drawing/2014/main" id="{A27659DD-4A74-4626-96C7-CBE977B8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52450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1447">
            <a:extLst xmlns:a="http://schemas.openxmlformats.org/drawingml/2006/main">
              <a:ext uri="{FF2B5EF4-FFF2-40B4-BE49-F238E27FC236}">
                <a16:creationId xmlns:a16="http://schemas.microsoft.com/office/drawing/2014/main" id="{B93BDD62-2DE4-4531-AADE-1C9C0062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55911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✦</a:t>
            </a:r>
          </a:p>
        </p:txBody>
      </p:sp>
      <p:sp>
        <p:nvSpPr>
          <p:cNvPr id="8" name="text-1448">
            <a:extLst xmlns:a="http://schemas.openxmlformats.org/drawingml/2006/main">
              <a:ext uri="{FF2B5EF4-FFF2-40B4-BE49-F238E27FC236}">
                <a16:creationId xmlns:a16="http://schemas.microsoft.com/office/drawing/2014/main" id="{D0374EF5-C4A9-4F73-9EBB-61CE408D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600700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  <p:sp>
        <p:nvSpPr>
          <p:cNvPr id="9" name="text-1449">
            <a:extLst xmlns:a="http://schemas.openxmlformats.org/drawingml/2006/main">
              <a:ext uri="{FF2B5EF4-FFF2-40B4-BE49-F238E27FC236}">
                <a16:creationId xmlns:a16="http://schemas.microsoft.com/office/drawing/2014/main" id="{CFA5743F-4B50-4AD8-BF0D-B8067CFD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800725"/>
            <a:ext cx="1733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Google Agent 工作區</a:t>
            </a:r>
          </a:p>
        </p:txBody>
      </p:sp>
      <p:cxnSp>
        <p:nvCxnSpPr>
          <p:cNvPr id="26" name="shape-1450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11" name="text-1451">
            <a:extLst xmlns:a="http://schemas.openxmlformats.org/drawingml/2006/main">
              <a:ext uri="{FF2B5EF4-FFF2-40B4-BE49-F238E27FC236}">
                <a16:creationId xmlns:a16="http://schemas.microsoft.com/office/drawing/2014/main" id="{E45C641F-EF07-4CBB-8561-6E48E10B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52EA10D-7394-4096-AFD4-A3929FB2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21</a:t>
            </a:r>
          </a:p>
        </p:txBody>
      </p:sp>
      <p:sp>
        <p:nvSpPr>
          <p:cNvPr id="13" name="text-2378">
            <a:extLst xmlns:a="http://schemas.openxmlformats.org/drawingml/2006/main">
              <a:ext uri="{FF2B5EF4-FFF2-40B4-BE49-F238E27FC236}">
                <a16:creationId xmlns:a16="http://schemas.microsoft.com/office/drawing/2014/main" id="{444AFD0B-03CC-4BD9-BC58-6DB12AB7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50d86a18b28b4518"/>
              </a:rPr>
              <a:t>開啟 Antigravity ↗</a:t>
            </a:r>
          </a:p>
        </p:txBody>
      </p:sp>
      <p:sp>
        <p:nvSpPr>
          <p:cNvPr id="14" name="shape-2431">
            <a:extLst xmlns:a="http://schemas.openxmlformats.org/drawingml/2006/main">
              <a:ext uri="{FF2B5EF4-FFF2-40B4-BE49-F238E27FC236}">
                <a16:creationId xmlns:a16="http://schemas.microsoft.com/office/drawing/2014/main" id="{EB732DB3-8E89-40A9-87E8-085DA83B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151d17b7e84116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16" name="text-2432">
            <a:extLst xmlns:a="http://schemas.openxmlformats.org/drawingml/2006/main">
              <a:ext uri="{FF2B5EF4-FFF2-40B4-BE49-F238E27FC236}">
                <a16:creationId xmlns:a16="http://schemas.microsoft.com/office/drawing/2014/main" id="{CAE5531D-7C09-4FF5-87DA-D5506420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</p:spTree>
    <p:extLst>
      <p:ext uri="{BB962C8B-B14F-4D97-AF65-F5344CB8AC3E}">
        <p14:creationId xmlns:p14="http://schemas.microsoft.com/office/powerpoint/2010/main" val="171336336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452">
            <a:extLst xmlns:a="http://schemas.openxmlformats.org/drawingml/2006/main">
              <a:ext uri="{FF2B5EF4-FFF2-40B4-BE49-F238E27FC236}">
                <a16:creationId xmlns:a16="http://schemas.microsoft.com/office/drawing/2014/main" id="{3911BA7A-D998-43C0-8342-8E7D03F3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AGENTIC DEVELOPMENT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BFCDFB-EE5F-4D31-9F22-F27FA03B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Antigravity：不是更大的聊天框</a:t>
            </a:r>
          </a:p>
        </p:txBody>
      </p:sp>
      <p:cxnSp>
        <p:nvCxnSpPr>
          <p:cNvPr id="18" name="shape-1453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454">
            <a:extLst xmlns:a="http://schemas.openxmlformats.org/drawingml/2006/main">
              <a:ext uri="{FF2B5EF4-FFF2-40B4-BE49-F238E27FC236}">
                <a16:creationId xmlns:a16="http://schemas.microsoft.com/office/drawing/2014/main" id="{6188B84E-888D-40B0-9991-A22379A4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490470E-0F89-4792-A032-11BBACE9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22</a:t>
            </a:r>
          </a:p>
        </p:txBody>
      </p:sp>
      <p:sp>
        <p:nvSpPr>
          <p:cNvPr id="6" name="shape-1455">
            <a:extLst xmlns:a="http://schemas.openxmlformats.org/drawingml/2006/main">
              <a:ext uri="{FF2B5EF4-FFF2-40B4-BE49-F238E27FC236}">
                <a16:creationId xmlns:a16="http://schemas.microsoft.com/office/drawing/2014/main" id="{6C874133-4BF6-4470-8EC9-7C6B3481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3625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shape-1456">
            <a:extLst xmlns:a="http://schemas.openxmlformats.org/drawingml/2006/main">
              <a:ext uri="{FF2B5EF4-FFF2-40B4-BE49-F238E27FC236}">
                <a16:creationId xmlns:a16="http://schemas.microsoft.com/office/drawing/2014/main" id="{B685ACA6-087D-4DB8-BEFF-5C630A04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676400"/>
            <a:ext cx="55911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8" name="text-1457">
            <a:extLst xmlns:a="http://schemas.openxmlformats.org/drawingml/2006/main">
              <a:ext uri="{FF2B5EF4-FFF2-40B4-BE49-F238E27FC236}">
                <a16:creationId xmlns:a16="http://schemas.microsoft.com/office/drawing/2014/main" id="{B8ECEE68-CB01-48AE-8C8D-737C505E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791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你提供</a:t>
            </a:r>
          </a:p>
        </p:txBody>
      </p:sp>
      <p:sp>
        <p:nvSpPr>
          <p:cNvPr id="9" name="text-1458">
            <a:extLst xmlns:a="http://schemas.openxmlformats.org/drawingml/2006/main">
              <a:ext uri="{FF2B5EF4-FFF2-40B4-BE49-F238E27FC236}">
                <a16:creationId xmlns:a16="http://schemas.microsoft.com/office/drawing/2014/main" id="{663D4EDF-68B3-456A-8C3C-FBBDA86C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47910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工作區與檔案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清楚的任務與限制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可驗收的完成條件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必要的授權</a:t>
            </a:r>
          </a:p>
        </p:txBody>
      </p:sp>
      <p:sp>
        <p:nvSpPr>
          <p:cNvPr id="10" name="text-1459">
            <a:extLst xmlns:a="http://schemas.openxmlformats.org/drawingml/2006/main">
              <a:ext uri="{FF2B5EF4-FFF2-40B4-BE49-F238E27FC236}">
                <a16:creationId xmlns:a16="http://schemas.microsoft.com/office/drawing/2014/main" id="{0D5FAC9D-E4FF-4B7B-AA68-8C07214D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00250"/>
            <a:ext cx="4981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Agent 推進</a:t>
            </a:r>
          </a:p>
        </p:txBody>
      </p:sp>
      <p:sp>
        <p:nvSpPr>
          <p:cNvPr id="11" name="text-1460">
            <a:extLst xmlns:a="http://schemas.openxmlformats.org/drawingml/2006/main">
              <a:ext uri="{FF2B5EF4-FFF2-40B4-BE49-F238E27FC236}">
                <a16:creationId xmlns:a16="http://schemas.microsoft.com/office/drawing/2014/main" id="{2A28BD2F-AAFF-42E7-ABE3-2255351D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81300"/>
            <a:ext cx="49815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建立計畫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使用檔案與工具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修改、執行與檢查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回報成果與阻礙</a:t>
            </a:r>
          </a:p>
        </p:txBody>
      </p:sp>
      <p:sp>
        <p:nvSpPr>
          <p:cNvPr id="12" name="text-2379">
            <a:extLst xmlns:a="http://schemas.openxmlformats.org/drawingml/2006/main">
              <a:ext uri="{FF2B5EF4-FFF2-40B4-BE49-F238E27FC236}">
                <a16:creationId xmlns:a16="http://schemas.microsoft.com/office/drawing/2014/main" id="{0E58EA45-705F-4C49-B497-5FB13C0E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52619a1378d04cf4"/>
              </a:rPr>
              <a:t>開啟 Antigravity ↗</a:t>
            </a:r>
          </a:p>
        </p:txBody>
      </p:sp>
      <p:sp>
        <p:nvSpPr>
          <p:cNvPr id="13" name="shape-2433">
            <a:extLst xmlns:a="http://schemas.openxmlformats.org/drawingml/2006/main">
              <a:ext uri="{FF2B5EF4-FFF2-40B4-BE49-F238E27FC236}">
                <a16:creationId xmlns:a16="http://schemas.microsoft.com/office/drawing/2014/main" id="{BAA5DE99-5DE1-4C34-9E6E-C148ED0A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dbbe088d85452c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15" name="text-2434">
            <a:extLst xmlns:a="http://schemas.openxmlformats.org/drawingml/2006/main">
              <a:ext uri="{FF2B5EF4-FFF2-40B4-BE49-F238E27FC236}">
                <a16:creationId xmlns:a16="http://schemas.microsoft.com/office/drawing/2014/main" id="{60A4FCC1-744C-4E2E-ABCC-1679460B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</p:spTree>
    <p:extLst>
      <p:ext uri="{BB962C8B-B14F-4D97-AF65-F5344CB8AC3E}">
        <p14:creationId xmlns:p14="http://schemas.microsoft.com/office/powerpoint/2010/main" val="153520537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1461">
            <a:extLst xmlns:a="http://schemas.openxmlformats.org/drawingml/2006/main">
              <a:ext uri="{FF2B5EF4-FFF2-40B4-BE49-F238E27FC236}">
                <a16:creationId xmlns:a16="http://schemas.microsoft.com/office/drawing/2014/main" id="{D89797DD-BC53-4901-8CF8-3CEA7C22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WORKHORSE MODEL · NEW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76674E-C162-47D6-9155-6143D884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Gemini 3.7 Flash：Antigravity 的工作馬</a:t>
            </a:r>
          </a:p>
        </p:txBody>
      </p:sp>
      <p:cxnSp>
        <p:nvCxnSpPr>
          <p:cNvPr id="30" name="shape-1462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463">
            <a:extLst xmlns:a="http://schemas.openxmlformats.org/drawingml/2006/main">
              <a:ext uri="{FF2B5EF4-FFF2-40B4-BE49-F238E27FC236}">
                <a16:creationId xmlns:a16="http://schemas.microsoft.com/office/drawing/2014/main" id="{4ABD691C-E907-44D6-BAC6-95EFBEFF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39F6F65-911A-465D-B117-EF08BA30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23</a:t>
            </a:r>
          </a:p>
        </p:txBody>
      </p:sp>
      <p:sp>
        <p:nvSpPr>
          <p:cNvPr id="6" name="shape-1464">
            <a:extLst xmlns:a="http://schemas.openxmlformats.org/drawingml/2006/main">
              <a:ext uri="{FF2B5EF4-FFF2-40B4-BE49-F238E27FC236}">
                <a16:creationId xmlns:a16="http://schemas.microsoft.com/office/drawing/2014/main" id="{8BCB4E28-8C20-464F-AAB4-EE3ECE27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1465">
            <a:extLst xmlns:a="http://schemas.openxmlformats.org/drawingml/2006/main">
              <a:ext uri="{FF2B5EF4-FFF2-40B4-BE49-F238E27FC236}">
                <a16:creationId xmlns:a16="http://schemas.microsoft.com/office/drawing/2014/main" id="{49FC00E0-4EB0-494C-92FD-F59B664F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1466">
            <a:extLst xmlns:a="http://schemas.openxmlformats.org/drawingml/2006/main">
              <a:ext uri="{FF2B5EF4-FFF2-40B4-BE49-F238E27FC236}">
                <a16:creationId xmlns:a16="http://schemas.microsoft.com/office/drawing/2014/main" id="{C3715455-AE85-4DDC-ACEE-9E0B7A3A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官方定位</a:t>
            </a:r>
          </a:p>
        </p:txBody>
      </p:sp>
      <p:sp>
        <p:nvSpPr>
          <p:cNvPr id="9" name="text-1467">
            <a:extLst xmlns:a="http://schemas.openxmlformats.org/drawingml/2006/main">
              <a:ext uri="{FF2B5EF4-FFF2-40B4-BE49-F238E27FC236}">
                <a16:creationId xmlns:a16="http://schemas.microsoft.com/office/drawing/2014/main" id="{20584D34-144B-43B2-B6AE-B37E4D8C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Gemini 3.7 Flash 已正式 GA，針對複雜 coding、Agent 工作流與可靠的多步驟執行設計。</a:t>
            </a:r>
          </a:p>
        </p:txBody>
      </p:sp>
      <p:sp>
        <p:nvSpPr>
          <p:cNvPr id="10" name="shape-1468">
            <a:extLst xmlns:a="http://schemas.openxmlformats.org/drawingml/2006/main">
              <a:ext uri="{FF2B5EF4-FFF2-40B4-BE49-F238E27FC236}">
                <a16:creationId xmlns:a16="http://schemas.microsoft.com/office/drawing/2014/main" id="{1C6FCBED-E3E9-4125-A2E4-75903B0D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1469">
            <a:extLst xmlns:a="http://schemas.openxmlformats.org/drawingml/2006/main">
              <a:ext uri="{FF2B5EF4-FFF2-40B4-BE49-F238E27FC236}">
                <a16:creationId xmlns:a16="http://schemas.microsoft.com/office/drawing/2014/main" id="{C56A5E82-8D7D-48F6-A645-49993D73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1470">
            <a:extLst xmlns:a="http://schemas.openxmlformats.org/drawingml/2006/main">
              <a:ext uri="{FF2B5EF4-FFF2-40B4-BE49-F238E27FC236}">
                <a16:creationId xmlns:a16="http://schemas.microsoft.com/office/drawing/2014/main" id="{B7A88E32-AC24-4E29-A360-ADF09FBD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為何適合長鏈</a:t>
            </a:r>
          </a:p>
        </p:txBody>
      </p:sp>
      <p:sp>
        <p:nvSpPr>
          <p:cNvPr id="13" name="text-1471">
            <a:extLst xmlns:a="http://schemas.openxmlformats.org/drawingml/2006/main">
              <a:ext uri="{FF2B5EF4-FFF2-40B4-BE49-F238E27FC236}">
                <a16:creationId xmlns:a16="http://schemas.microsoft.com/office/drawing/2014/main" id="{797692B8-54F5-486C-AFEA-84B1F4C5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更重視長程規劃、工具使用與任務推進，適合把完整工作交給它持續執行。</a:t>
            </a:r>
          </a:p>
        </p:txBody>
      </p:sp>
      <p:sp>
        <p:nvSpPr>
          <p:cNvPr id="14" name="shape-1472">
            <a:extLst xmlns:a="http://schemas.openxmlformats.org/drawingml/2006/main">
              <a:ext uri="{FF2B5EF4-FFF2-40B4-BE49-F238E27FC236}">
                <a16:creationId xmlns:a16="http://schemas.microsoft.com/office/drawing/2014/main" id="{89F35E1F-60AB-43D9-98D8-5507C390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1473">
            <a:extLst xmlns:a="http://schemas.openxmlformats.org/drawingml/2006/main">
              <a:ext uri="{FF2B5EF4-FFF2-40B4-BE49-F238E27FC236}">
                <a16:creationId xmlns:a16="http://schemas.microsoft.com/office/drawing/2014/main" id="{BDD49531-BB40-4449-B5AB-F9CA737A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1474">
            <a:extLst xmlns:a="http://schemas.openxmlformats.org/drawingml/2006/main">
              <a:ext uri="{FF2B5EF4-FFF2-40B4-BE49-F238E27FC236}">
                <a16:creationId xmlns:a16="http://schemas.microsoft.com/office/drawing/2014/main" id="{4D62891C-711D-4866-B021-C13149A9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放進 Harness</a:t>
            </a:r>
          </a:p>
        </p:txBody>
      </p:sp>
      <p:sp>
        <p:nvSpPr>
          <p:cNvPr id="17" name="text-1475">
            <a:extLst xmlns:a="http://schemas.openxmlformats.org/drawingml/2006/main">
              <a:ext uri="{FF2B5EF4-FFF2-40B4-BE49-F238E27FC236}">
                <a16:creationId xmlns:a16="http://schemas.microsoft.com/office/drawing/2014/main" id="{6EC49946-C6CC-44A8-AD6D-1AE0EF58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先寫清楚目標、素材、可用工具、權限範圍與完成條件，再讓模型成為可監督的工作馬。</a:t>
            </a:r>
          </a:p>
        </p:txBody>
      </p:sp>
      <p:sp>
        <p:nvSpPr>
          <p:cNvPr id="18" name="shape-1476">
            <a:extLst xmlns:a="http://schemas.openxmlformats.org/drawingml/2006/main">
              <a:ext uri="{FF2B5EF4-FFF2-40B4-BE49-F238E27FC236}">
                <a16:creationId xmlns:a16="http://schemas.microsoft.com/office/drawing/2014/main" id="{6328782B-E251-4446-A8B2-DC25223C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1477">
            <a:extLst xmlns:a="http://schemas.openxmlformats.org/drawingml/2006/main">
              <a:ext uri="{FF2B5EF4-FFF2-40B4-BE49-F238E27FC236}">
                <a16:creationId xmlns:a16="http://schemas.microsoft.com/office/drawing/2014/main" id="{3422BCF7-2FE3-41D9-B449-0198A883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1478">
            <a:extLst xmlns:a="http://schemas.openxmlformats.org/drawingml/2006/main">
              <a:ext uri="{FF2B5EF4-FFF2-40B4-BE49-F238E27FC236}">
                <a16:creationId xmlns:a16="http://schemas.microsoft.com/office/drawing/2014/main" id="{C4776CF4-A0C2-4EA0-8D08-5B63E73D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信任仍要驗收</a:t>
            </a:r>
          </a:p>
        </p:txBody>
      </p:sp>
      <p:sp>
        <p:nvSpPr>
          <p:cNvPr id="21" name="text-1479">
            <a:extLst xmlns:a="http://schemas.openxmlformats.org/drawingml/2006/main">
              <a:ext uri="{FF2B5EF4-FFF2-40B4-BE49-F238E27FC236}">
                <a16:creationId xmlns:a16="http://schemas.microsoft.com/office/drawing/2014/main" id="{FA65292A-14F4-45E1-8CD6-85763E8A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模型能力提升不等於放任自動化；人要看計畫、測試與證據，遇到關鍵節點要能停下來決策。</a:t>
            </a:r>
          </a:p>
        </p:txBody>
      </p:sp>
      <p:sp>
        <p:nvSpPr>
          <p:cNvPr id="22" name="text-2390">
            <a:extLst xmlns:a="http://schemas.openxmlformats.org/drawingml/2006/main">
              <a:ext uri="{FF2B5EF4-FFF2-40B4-BE49-F238E27FC236}">
                <a16:creationId xmlns:a16="http://schemas.microsoft.com/office/drawing/2014/main" id="{665D5C61-928A-45F4-8F5B-C8F560C2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716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803a570f8afe4ca0"/>
              </a:rPr>
              <a:t>Gemini 3.7 Flash 官方模型 ↗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64cbe315b8664307"/>
              </a:rPr>
              <a:t>Google 官方介紹 ↗</a:t>
            </a:r>
          </a:p>
        </p:txBody>
      </p:sp>
      <p:sp>
        <p:nvSpPr>
          <p:cNvPr id="23" name="shape-2463">
            <a:extLst xmlns:a="http://schemas.openxmlformats.org/drawingml/2006/main">
              <a:ext uri="{FF2B5EF4-FFF2-40B4-BE49-F238E27FC236}">
                <a16:creationId xmlns:a16="http://schemas.microsoft.com/office/drawing/2014/main" id="{E652DF9A-1BA2-46BE-B7C6-C65524ED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448428b8504be0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5" name="text-2464">
            <a:extLst xmlns:a="http://schemas.openxmlformats.org/drawingml/2006/main">
              <a:ext uri="{FF2B5EF4-FFF2-40B4-BE49-F238E27FC236}">
                <a16:creationId xmlns:a16="http://schemas.microsoft.com/office/drawing/2014/main" id="{E8337674-4858-4095-A0B0-ABADA487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3.7 Flash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d33e1e740f4c37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7" name="text-2465">
            <a:extLst xmlns:a="http://schemas.openxmlformats.org/drawingml/2006/main">
              <a:ext uri="{FF2B5EF4-FFF2-40B4-BE49-F238E27FC236}">
                <a16:creationId xmlns:a16="http://schemas.microsoft.com/office/drawing/2014/main" id="{0BDF6E4C-0BED-467D-88E1-7E1A596E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Google 官方介紹</a:t>
            </a:r>
          </a:p>
        </p:txBody>
      </p:sp>
    </p:spTree>
    <p:extLst>
      <p:ext uri="{BB962C8B-B14F-4D97-AF65-F5344CB8AC3E}">
        <p14:creationId xmlns:p14="http://schemas.microsoft.com/office/powerpoint/2010/main" val="162857285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1480">
            <a:extLst xmlns:a="http://schemas.openxmlformats.org/drawingml/2006/main">
              <a:ext uri="{FF2B5EF4-FFF2-40B4-BE49-F238E27FC236}">
                <a16:creationId xmlns:a16="http://schemas.microsoft.com/office/drawing/2014/main" id="{53C82C5B-5C0A-402D-B0DE-0C1596E2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WORKSPACE ORIENTATION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448CDB-C19B-4549-8DDC-78F74D41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進入工作區，先看四個地方</a:t>
            </a:r>
          </a:p>
        </p:txBody>
      </p:sp>
      <p:cxnSp>
        <p:nvCxnSpPr>
          <p:cNvPr id="28" name="shape-1481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482">
            <a:extLst xmlns:a="http://schemas.openxmlformats.org/drawingml/2006/main">
              <a:ext uri="{FF2B5EF4-FFF2-40B4-BE49-F238E27FC236}">
                <a16:creationId xmlns:a16="http://schemas.microsoft.com/office/drawing/2014/main" id="{AC3E6054-0133-4D12-AB22-14D4A68B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3592883-C9A8-4BE7-A9BC-5B67E80F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24</a:t>
            </a:r>
          </a:p>
        </p:txBody>
      </p:sp>
      <p:sp>
        <p:nvSpPr>
          <p:cNvPr id="6" name="shape-1483">
            <a:extLst xmlns:a="http://schemas.openxmlformats.org/drawingml/2006/main">
              <a:ext uri="{FF2B5EF4-FFF2-40B4-BE49-F238E27FC236}">
                <a16:creationId xmlns:a16="http://schemas.microsoft.com/office/drawing/2014/main" id="{26C35F31-A43C-4439-8EFA-DCF13856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1484">
            <a:extLst xmlns:a="http://schemas.openxmlformats.org/drawingml/2006/main">
              <a:ext uri="{FF2B5EF4-FFF2-40B4-BE49-F238E27FC236}">
                <a16:creationId xmlns:a16="http://schemas.microsoft.com/office/drawing/2014/main" id="{6468A633-9B1C-41DA-8192-73C707F3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1485">
            <a:extLst xmlns:a="http://schemas.openxmlformats.org/drawingml/2006/main">
              <a:ext uri="{FF2B5EF4-FFF2-40B4-BE49-F238E27FC236}">
                <a16:creationId xmlns:a16="http://schemas.microsoft.com/office/drawing/2014/main" id="{9C6CB5B1-E0A2-4D1D-A8A1-18B7FA3E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檔案</a:t>
            </a:r>
          </a:p>
        </p:txBody>
      </p:sp>
      <p:sp>
        <p:nvSpPr>
          <p:cNvPr id="9" name="text-1486">
            <a:extLst xmlns:a="http://schemas.openxmlformats.org/drawingml/2006/main">
              <a:ext uri="{FF2B5EF4-FFF2-40B4-BE49-F238E27FC236}">
                <a16:creationId xmlns:a16="http://schemas.microsoft.com/office/drawing/2014/main" id="{BDAAF46C-0FCE-40FF-B195-D46F03D7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Agent 能看到哪些素材？是否把敏感檔案放錯位置？</a:t>
            </a:r>
          </a:p>
        </p:txBody>
      </p:sp>
      <p:sp>
        <p:nvSpPr>
          <p:cNvPr id="10" name="shape-1487">
            <a:extLst xmlns:a="http://schemas.openxmlformats.org/drawingml/2006/main">
              <a:ext uri="{FF2B5EF4-FFF2-40B4-BE49-F238E27FC236}">
                <a16:creationId xmlns:a16="http://schemas.microsoft.com/office/drawing/2014/main" id="{12181E9E-35AE-4885-B799-885D3512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1488">
            <a:extLst xmlns:a="http://schemas.openxmlformats.org/drawingml/2006/main">
              <a:ext uri="{FF2B5EF4-FFF2-40B4-BE49-F238E27FC236}">
                <a16:creationId xmlns:a16="http://schemas.microsoft.com/office/drawing/2014/main" id="{16412359-2B3F-4E3C-BB94-92D45712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1489">
            <a:extLst xmlns:a="http://schemas.openxmlformats.org/drawingml/2006/main">
              <a:ext uri="{FF2B5EF4-FFF2-40B4-BE49-F238E27FC236}">
                <a16:creationId xmlns:a16="http://schemas.microsoft.com/office/drawing/2014/main" id="{25CE7775-2057-4AA7-9818-D8119B83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任務</a:t>
            </a:r>
          </a:p>
        </p:txBody>
      </p:sp>
      <p:sp>
        <p:nvSpPr>
          <p:cNvPr id="13" name="text-1490">
            <a:extLst xmlns:a="http://schemas.openxmlformats.org/drawingml/2006/main">
              <a:ext uri="{FF2B5EF4-FFF2-40B4-BE49-F238E27FC236}">
                <a16:creationId xmlns:a16="http://schemas.microsoft.com/office/drawing/2014/main" id="{442C58B1-ED20-4CED-8177-0C9E96D0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目標是否單一、具體，且能在本工作區完成？</a:t>
            </a:r>
          </a:p>
        </p:txBody>
      </p:sp>
      <p:sp>
        <p:nvSpPr>
          <p:cNvPr id="14" name="shape-1491">
            <a:extLst xmlns:a="http://schemas.openxmlformats.org/drawingml/2006/main">
              <a:ext uri="{FF2B5EF4-FFF2-40B4-BE49-F238E27FC236}">
                <a16:creationId xmlns:a16="http://schemas.microsoft.com/office/drawing/2014/main" id="{8CC5091B-79F4-4C3F-A771-7DD96CD2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1492">
            <a:extLst xmlns:a="http://schemas.openxmlformats.org/drawingml/2006/main">
              <a:ext uri="{FF2B5EF4-FFF2-40B4-BE49-F238E27FC236}">
                <a16:creationId xmlns:a16="http://schemas.microsoft.com/office/drawing/2014/main" id="{35587E56-407D-4EBD-8F84-FD1D11B7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1493">
            <a:extLst xmlns:a="http://schemas.openxmlformats.org/drawingml/2006/main">
              <a:ext uri="{FF2B5EF4-FFF2-40B4-BE49-F238E27FC236}">
                <a16:creationId xmlns:a16="http://schemas.microsoft.com/office/drawing/2014/main" id="{B6988138-17F3-4887-BE2D-540ADEAB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計畫</a:t>
            </a:r>
          </a:p>
        </p:txBody>
      </p:sp>
      <p:sp>
        <p:nvSpPr>
          <p:cNvPr id="17" name="text-1494">
            <a:extLst xmlns:a="http://schemas.openxmlformats.org/drawingml/2006/main">
              <a:ext uri="{FF2B5EF4-FFF2-40B4-BE49-F238E27FC236}">
                <a16:creationId xmlns:a16="http://schemas.microsoft.com/office/drawing/2014/main" id="{B8DD5698-BBB1-41C8-A594-E41A098C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步驟是否合理？哪一步需要授權或外部資訊？</a:t>
            </a:r>
          </a:p>
        </p:txBody>
      </p:sp>
      <p:sp>
        <p:nvSpPr>
          <p:cNvPr id="18" name="shape-1495">
            <a:extLst xmlns:a="http://schemas.openxmlformats.org/drawingml/2006/main">
              <a:ext uri="{FF2B5EF4-FFF2-40B4-BE49-F238E27FC236}">
                <a16:creationId xmlns:a16="http://schemas.microsoft.com/office/drawing/2014/main" id="{DC1514FF-3CD8-4B7B-880B-F6B59D02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1496">
            <a:extLst xmlns:a="http://schemas.openxmlformats.org/drawingml/2006/main">
              <a:ext uri="{FF2B5EF4-FFF2-40B4-BE49-F238E27FC236}">
                <a16:creationId xmlns:a16="http://schemas.microsoft.com/office/drawing/2014/main" id="{B848584B-83CA-4E87-87B4-3D13FE68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1497">
            <a:extLst xmlns:a="http://schemas.openxmlformats.org/drawingml/2006/main">
              <a:ext uri="{FF2B5EF4-FFF2-40B4-BE49-F238E27FC236}">
                <a16:creationId xmlns:a16="http://schemas.microsoft.com/office/drawing/2014/main" id="{3C8C3FEE-429C-4CB0-A621-F2731A20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結果</a:t>
            </a:r>
          </a:p>
        </p:txBody>
      </p:sp>
      <p:sp>
        <p:nvSpPr>
          <p:cNvPr id="21" name="text-1498">
            <a:extLst xmlns:a="http://schemas.openxmlformats.org/drawingml/2006/main">
              <a:ext uri="{FF2B5EF4-FFF2-40B4-BE49-F238E27FC236}">
                <a16:creationId xmlns:a16="http://schemas.microsoft.com/office/drawing/2014/main" id="{7350CCB7-F787-4774-9E24-988F3E20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有哪些變更、測試、畫面與仍未確認的項目？</a:t>
            </a:r>
          </a:p>
        </p:txBody>
      </p:sp>
      <p:sp>
        <p:nvSpPr>
          <p:cNvPr id="22" name="text-2380">
            <a:extLst xmlns:a="http://schemas.openxmlformats.org/drawingml/2006/main">
              <a:ext uri="{FF2B5EF4-FFF2-40B4-BE49-F238E27FC236}">
                <a16:creationId xmlns:a16="http://schemas.microsoft.com/office/drawing/2014/main" id="{3068E5C9-BDA9-4D91-85BB-6142E978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ce9b8e2863844182"/>
              </a:rPr>
              <a:t>開啟 Antigravity ↗</a:t>
            </a:r>
          </a:p>
        </p:txBody>
      </p:sp>
      <p:sp>
        <p:nvSpPr>
          <p:cNvPr id="23" name="shape-2435">
            <a:extLst xmlns:a="http://schemas.openxmlformats.org/drawingml/2006/main">
              <a:ext uri="{FF2B5EF4-FFF2-40B4-BE49-F238E27FC236}">
                <a16:creationId xmlns:a16="http://schemas.microsoft.com/office/drawing/2014/main" id="{E4DCF15E-AF2D-42E6-BEAC-F686D4FF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6b857e0ee43c0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25" name="text-2436">
            <a:extLst xmlns:a="http://schemas.openxmlformats.org/drawingml/2006/main">
              <a:ext uri="{FF2B5EF4-FFF2-40B4-BE49-F238E27FC236}">
                <a16:creationId xmlns:a16="http://schemas.microsoft.com/office/drawing/2014/main" id="{A5475627-BF71-4D4F-AA11-968D13C6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</p:spTree>
    <p:extLst>
      <p:ext uri="{BB962C8B-B14F-4D97-AF65-F5344CB8AC3E}">
        <p14:creationId xmlns:p14="http://schemas.microsoft.com/office/powerpoint/2010/main" val="59250129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1499">
            <a:extLst xmlns:a="http://schemas.openxmlformats.org/drawingml/2006/main">
              <a:ext uri="{FF2B5EF4-FFF2-40B4-BE49-F238E27FC236}">
                <a16:creationId xmlns:a16="http://schemas.microsoft.com/office/drawing/2014/main" id="{B500CE5A-AAE8-40E8-A876-AD7D2D64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TASK BRIEF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0A9E85-BB1B-4421-A803-584CF063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第一個 Agent 任務：四句話就能清楚</a:t>
            </a:r>
          </a:p>
        </p:txBody>
      </p:sp>
      <p:cxnSp>
        <p:nvCxnSpPr>
          <p:cNvPr id="28" name="shape-1500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501">
            <a:extLst xmlns:a="http://schemas.openxmlformats.org/drawingml/2006/main">
              <a:ext uri="{FF2B5EF4-FFF2-40B4-BE49-F238E27FC236}">
                <a16:creationId xmlns:a16="http://schemas.microsoft.com/office/drawing/2014/main" id="{3D4082BE-0226-4567-B78F-483881E0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F9F635D-078B-41DE-8D6C-02537293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25</a:t>
            </a:r>
          </a:p>
        </p:txBody>
      </p:sp>
      <p:sp>
        <p:nvSpPr>
          <p:cNvPr id="6" name="shape-1502">
            <a:extLst xmlns:a="http://schemas.openxmlformats.org/drawingml/2006/main">
              <a:ext uri="{FF2B5EF4-FFF2-40B4-BE49-F238E27FC236}">
                <a16:creationId xmlns:a16="http://schemas.microsoft.com/office/drawing/2014/main" id="{850B4447-6F56-406A-BB96-E782BCDD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1503">
            <a:extLst xmlns:a="http://schemas.openxmlformats.org/drawingml/2006/main">
              <a:ext uri="{FF2B5EF4-FFF2-40B4-BE49-F238E27FC236}">
                <a16:creationId xmlns:a16="http://schemas.microsoft.com/office/drawing/2014/main" id="{84D1FDB2-7A5C-4385-8B5A-9F089252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1504">
            <a:extLst xmlns:a="http://schemas.openxmlformats.org/drawingml/2006/main">
              <a:ext uri="{FF2B5EF4-FFF2-40B4-BE49-F238E27FC236}">
                <a16:creationId xmlns:a16="http://schemas.microsoft.com/office/drawing/2014/main" id="{A44F201C-CA1B-4FE6-A638-AA02FC5C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目標</a:t>
            </a:r>
          </a:p>
        </p:txBody>
      </p:sp>
      <p:sp>
        <p:nvSpPr>
          <p:cNvPr id="9" name="text-1505">
            <a:extLst xmlns:a="http://schemas.openxmlformats.org/drawingml/2006/main">
              <a:ext uri="{FF2B5EF4-FFF2-40B4-BE49-F238E27FC236}">
                <a16:creationId xmlns:a16="http://schemas.microsoft.com/office/drawing/2014/main" id="{D2B994B5-A478-4D2C-A406-8C3D1485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把上午 Canvas 原型改善成可在手機使用的教學活動。</a:t>
            </a:r>
          </a:p>
        </p:txBody>
      </p:sp>
      <p:sp>
        <p:nvSpPr>
          <p:cNvPr id="10" name="shape-1506">
            <a:extLst xmlns:a="http://schemas.openxmlformats.org/drawingml/2006/main">
              <a:ext uri="{FF2B5EF4-FFF2-40B4-BE49-F238E27FC236}">
                <a16:creationId xmlns:a16="http://schemas.microsoft.com/office/drawing/2014/main" id="{05AC0FD7-1D7F-498E-846E-1E49DBF8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1507">
            <a:extLst xmlns:a="http://schemas.openxmlformats.org/drawingml/2006/main">
              <a:ext uri="{FF2B5EF4-FFF2-40B4-BE49-F238E27FC236}">
                <a16:creationId xmlns:a16="http://schemas.microsoft.com/office/drawing/2014/main" id="{19BDCA88-4D28-4570-A289-F68F67FF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1508">
            <a:extLst xmlns:a="http://schemas.openxmlformats.org/drawingml/2006/main">
              <a:ext uri="{FF2B5EF4-FFF2-40B4-BE49-F238E27FC236}">
                <a16:creationId xmlns:a16="http://schemas.microsoft.com/office/drawing/2014/main" id="{473017CD-5C5E-4D76-A503-8609E8CA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素材</a:t>
            </a:r>
          </a:p>
        </p:txBody>
      </p:sp>
      <p:sp>
        <p:nvSpPr>
          <p:cNvPr id="13" name="text-1509">
            <a:extLst xmlns:a="http://schemas.openxmlformats.org/drawingml/2006/main">
              <a:ext uri="{FF2B5EF4-FFF2-40B4-BE49-F238E27FC236}">
                <a16:creationId xmlns:a16="http://schemas.microsoft.com/office/drawing/2014/main" id="{D0F95A59-EB20-45E0-8C7A-4421B962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使用指定資料夾、截圖、課程文字與現有程式碼。</a:t>
            </a:r>
          </a:p>
        </p:txBody>
      </p:sp>
      <p:sp>
        <p:nvSpPr>
          <p:cNvPr id="14" name="shape-1510">
            <a:extLst xmlns:a="http://schemas.openxmlformats.org/drawingml/2006/main">
              <a:ext uri="{FF2B5EF4-FFF2-40B4-BE49-F238E27FC236}">
                <a16:creationId xmlns:a16="http://schemas.microsoft.com/office/drawing/2014/main" id="{0D8988C8-3BAD-42A9-B0FC-E3D8589B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1511">
            <a:extLst xmlns:a="http://schemas.openxmlformats.org/drawingml/2006/main">
              <a:ext uri="{FF2B5EF4-FFF2-40B4-BE49-F238E27FC236}">
                <a16:creationId xmlns:a16="http://schemas.microsoft.com/office/drawing/2014/main" id="{0DFF1C04-83A0-46D4-B049-0FA80D02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1512">
            <a:extLst xmlns:a="http://schemas.openxmlformats.org/drawingml/2006/main">
              <a:ext uri="{FF2B5EF4-FFF2-40B4-BE49-F238E27FC236}">
                <a16:creationId xmlns:a16="http://schemas.microsoft.com/office/drawing/2014/main" id="{1EF97865-9881-4978-B7EE-05DC976A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限制</a:t>
            </a:r>
          </a:p>
        </p:txBody>
      </p:sp>
      <p:sp>
        <p:nvSpPr>
          <p:cNvPr id="17" name="text-1513">
            <a:extLst xmlns:a="http://schemas.openxmlformats.org/drawingml/2006/main">
              <a:ext uri="{FF2B5EF4-FFF2-40B4-BE49-F238E27FC236}">
                <a16:creationId xmlns:a16="http://schemas.microsoft.com/office/drawing/2014/main" id="{226CD7B4-F0F4-4505-B2C7-CF81C0EB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不改核心內容、不放個資、不新增付費服務、不直接公開。</a:t>
            </a:r>
          </a:p>
        </p:txBody>
      </p:sp>
      <p:sp>
        <p:nvSpPr>
          <p:cNvPr id="18" name="shape-1514">
            <a:extLst xmlns:a="http://schemas.openxmlformats.org/drawingml/2006/main">
              <a:ext uri="{FF2B5EF4-FFF2-40B4-BE49-F238E27FC236}">
                <a16:creationId xmlns:a16="http://schemas.microsoft.com/office/drawing/2014/main" id="{AC5A9D83-7FE2-44A5-ABE8-82BB1CA5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1515">
            <a:extLst xmlns:a="http://schemas.openxmlformats.org/drawingml/2006/main">
              <a:ext uri="{FF2B5EF4-FFF2-40B4-BE49-F238E27FC236}">
                <a16:creationId xmlns:a16="http://schemas.microsoft.com/office/drawing/2014/main" id="{055E8EA7-5B1B-4857-B3EE-DFEA3238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1516">
            <a:extLst xmlns:a="http://schemas.openxmlformats.org/drawingml/2006/main">
              <a:ext uri="{FF2B5EF4-FFF2-40B4-BE49-F238E27FC236}">
                <a16:creationId xmlns:a16="http://schemas.microsoft.com/office/drawing/2014/main" id="{30E4C655-DC5F-4831-B83D-04304886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驗收</a:t>
            </a:r>
          </a:p>
        </p:txBody>
      </p:sp>
      <p:sp>
        <p:nvSpPr>
          <p:cNvPr id="21" name="text-1517">
            <a:extLst xmlns:a="http://schemas.openxmlformats.org/drawingml/2006/main">
              <a:ext uri="{FF2B5EF4-FFF2-40B4-BE49-F238E27FC236}">
                <a16:creationId xmlns:a16="http://schemas.microsoft.com/office/drawing/2014/main" id="{C85363F3-36CE-4C22-A9BB-B725EAE6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完成桌機與手機測試，提供修改摘要與畫面證據。</a:t>
            </a:r>
          </a:p>
        </p:txBody>
      </p:sp>
      <p:sp>
        <p:nvSpPr>
          <p:cNvPr id="22" name="text-2381">
            <a:extLst xmlns:a="http://schemas.openxmlformats.org/drawingml/2006/main">
              <a:ext uri="{FF2B5EF4-FFF2-40B4-BE49-F238E27FC236}">
                <a16:creationId xmlns:a16="http://schemas.microsoft.com/office/drawing/2014/main" id="{DCAD96C6-4CCF-4837-962A-FF66A283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cf24cd677748416a"/>
              </a:rPr>
              <a:t>開啟 Antigravity ↗</a:t>
            </a:r>
          </a:p>
        </p:txBody>
      </p:sp>
      <p:sp>
        <p:nvSpPr>
          <p:cNvPr id="23" name="shape-2437">
            <a:extLst xmlns:a="http://schemas.openxmlformats.org/drawingml/2006/main">
              <a:ext uri="{FF2B5EF4-FFF2-40B4-BE49-F238E27FC236}">
                <a16:creationId xmlns:a16="http://schemas.microsoft.com/office/drawing/2014/main" id="{F075BEA5-5918-4305-9406-286050F7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ef18baeaf241c3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25" name="text-2438">
            <a:extLst xmlns:a="http://schemas.openxmlformats.org/drawingml/2006/main">
              <a:ext uri="{FF2B5EF4-FFF2-40B4-BE49-F238E27FC236}">
                <a16:creationId xmlns:a16="http://schemas.microsoft.com/office/drawing/2014/main" id="{AE01A373-90DA-4786-BE1B-A9D974ED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</p:spTree>
    <p:extLst>
      <p:ext uri="{BB962C8B-B14F-4D97-AF65-F5344CB8AC3E}">
        <p14:creationId xmlns:p14="http://schemas.microsoft.com/office/powerpoint/2010/main" val="151175275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text-1518">
            <a:extLst xmlns:a="http://schemas.openxmlformats.org/drawingml/2006/main">
              <a:ext uri="{FF2B5EF4-FFF2-40B4-BE49-F238E27FC236}">
                <a16:creationId xmlns:a16="http://schemas.microsoft.com/office/drawing/2014/main" id="{7639F8AE-C1B3-49BF-AA2B-8857F799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LIVE DEMO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9E4D39-3B26-4B36-8941-0A49F5FF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示範：請 Agent 改作品，但保留控制權</a:t>
            </a:r>
          </a:p>
        </p:txBody>
      </p:sp>
      <p:cxnSp>
        <p:nvCxnSpPr>
          <p:cNvPr id="59" name="shape-1519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520">
            <a:extLst xmlns:a="http://schemas.openxmlformats.org/drawingml/2006/main">
              <a:ext uri="{FF2B5EF4-FFF2-40B4-BE49-F238E27FC236}">
                <a16:creationId xmlns:a16="http://schemas.microsoft.com/office/drawing/2014/main" id="{7F149EDE-8AC7-46A2-904D-8E05A657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F5724B2-1E66-4B85-98D1-0A7C85F0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26</a:t>
            </a:r>
          </a:p>
        </p:txBody>
      </p:sp>
      <p:sp>
        <p:nvSpPr>
          <p:cNvPr id="6" name="shape-1521">
            <a:extLst xmlns:a="http://schemas.openxmlformats.org/drawingml/2006/main">
              <a:ext uri="{FF2B5EF4-FFF2-40B4-BE49-F238E27FC236}">
                <a16:creationId xmlns:a16="http://schemas.microsoft.com/office/drawing/2014/main" id="{249DC4B0-B14B-4A43-9325-367F6A6D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shape-1522">
            <a:extLst xmlns:a="http://schemas.openxmlformats.org/drawingml/2006/main">
              <a:ext uri="{FF2B5EF4-FFF2-40B4-BE49-F238E27FC236}">
                <a16:creationId xmlns:a16="http://schemas.microsoft.com/office/drawing/2014/main" id="{46F01741-C054-441D-8652-DD5E7E2F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523">
            <a:extLst xmlns:a="http://schemas.openxmlformats.org/drawingml/2006/main">
              <a:ext uri="{FF2B5EF4-FFF2-40B4-BE49-F238E27FC236}">
                <a16:creationId xmlns:a16="http://schemas.microsoft.com/office/drawing/2014/main" id="{E5F7B603-E510-4947-89C1-3F2BBA22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1524">
            <a:extLst xmlns:a="http://schemas.openxmlformats.org/drawingml/2006/main">
              <a:ext uri="{FF2B5EF4-FFF2-40B4-BE49-F238E27FC236}">
                <a16:creationId xmlns:a16="http://schemas.microsoft.com/office/drawing/2014/main" id="{CB78ABB0-80BE-4246-A0BA-B54D395E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先檢查</a:t>
            </a:r>
          </a:p>
        </p:txBody>
      </p:sp>
      <p:sp>
        <p:nvSpPr>
          <p:cNvPr id="10" name="text-1525">
            <a:extLst xmlns:a="http://schemas.openxmlformats.org/drawingml/2006/main">
              <a:ext uri="{FF2B5EF4-FFF2-40B4-BE49-F238E27FC236}">
                <a16:creationId xmlns:a16="http://schemas.microsoft.com/office/drawing/2014/main" id="{AC07DB5E-D200-4ADB-9165-3B23ECF9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說明結構與問題</a:t>
            </a:r>
          </a:p>
        </p:txBody>
      </p:sp>
      <p:sp>
        <p:nvSpPr>
          <p:cNvPr id="11" name="text-1526">
            <a:extLst xmlns:a="http://schemas.openxmlformats.org/drawingml/2006/main">
              <a:ext uri="{FF2B5EF4-FFF2-40B4-BE49-F238E27FC236}">
                <a16:creationId xmlns:a16="http://schemas.microsoft.com/office/drawing/2014/main" id="{3AB35B2A-5584-45AD-9328-B4D0A238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2" name="shape-1527">
            <a:extLst xmlns:a="http://schemas.openxmlformats.org/drawingml/2006/main">
              <a:ext uri="{FF2B5EF4-FFF2-40B4-BE49-F238E27FC236}">
                <a16:creationId xmlns:a16="http://schemas.microsoft.com/office/drawing/2014/main" id="{3A851A54-BE3D-412D-A35D-4F98DFD2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3" name="shape-1528">
            <a:extLst xmlns:a="http://schemas.openxmlformats.org/drawingml/2006/main">
              <a:ext uri="{FF2B5EF4-FFF2-40B4-BE49-F238E27FC236}">
                <a16:creationId xmlns:a16="http://schemas.microsoft.com/office/drawing/2014/main" id="{2497518E-37B9-4520-ACF2-5A5F6638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529">
            <a:extLst xmlns:a="http://schemas.openxmlformats.org/drawingml/2006/main">
              <a:ext uri="{FF2B5EF4-FFF2-40B4-BE49-F238E27FC236}">
                <a16:creationId xmlns:a16="http://schemas.microsoft.com/office/drawing/2014/main" id="{C260FD8B-40A5-4EF7-A75A-8D42EA88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5" name="text-1530">
            <a:extLst xmlns:a="http://schemas.openxmlformats.org/drawingml/2006/main">
              <a:ext uri="{FF2B5EF4-FFF2-40B4-BE49-F238E27FC236}">
                <a16:creationId xmlns:a16="http://schemas.microsoft.com/office/drawing/2014/main" id="{373FD3CA-3212-4D86-92E2-55DAB2A8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提計畫</a:t>
            </a:r>
          </a:p>
        </p:txBody>
      </p:sp>
      <p:sp>
        <p:nvSpPr>
          <p:cNvPr id="16" name="text-1531">
            <a:extLst xmlns:a="http://schemas.openxmlformats.org/drawingml/2006/main">
              <a:ext uri="{FF2B5EF4-FFF2-40B4-BE49-F238E27FC236}">
                <a16:creationId xmlns:a16="http://schemas.microsoft.com/office/drawing/2014/main" id="{6A1B3CBF-FA13-441B-A67F-88CE037A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列修改與不修改</a:t>
            </a:r>
          </a:p>
        </p:txBody>
      </p:sp>
      <p:sp>
        <p:nvSpPr>
          <p:cNvPr id="17" name="text-1532">
            <a:extLst xmlns:a="http://schemas.openxmlformats.org/drawingml/2006/main">
              <a:ext uri="{FF2B5EF4-FFF2-40B4-BE49-F238E27FC236}">
                <a16:creationId xmlns:a16="http://schemas.microsoft.com/office/drawing/2014/main" id="{91D4E6DD-19E4-4470-9407-6330BA9F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8" name="shape-1533">
            <a:extLst xmlns:a="http://schemas.openxmlformats.org/drawingml/2006/main">
              <a:ext uri="{FF2B5EF4-FFF2-40B4-BE49-F238E27FC236}">
                <a16:creationId xmlns:a16="http://schemas.microsoft.com/office/drawing/2014/main" id="{BB12C2D5-52BB-4203-B32A-0D686AAC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shape-1534">
            <a:extLst xmlns:a="http://schemas.openxmlformats.org/drawingml/2006/main">
              <a:ext uri="{FF2B5EF4-FFF2-40B4-BE49-F238E27FC236}">
                <a16:creationId xmlns:a16="http://schemas.microsoft.com/office/drawing/2014/main" id="{8DA41053-12C7-42D6-B931-D4711F72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535">
            <a:extLst xmlns:a="http://schemas.openxmlformats.org/drawingml/2006/main">
              <a:ext uri="{FF2B5EF4-FFF2-40B4-BE49-F238E27FC236}">
                <a16:creationId xmlns:a16="http://schemas.microsoft.com/office/drawing/2014/main" id="{EFEC176A-1054-4192-A6E9-27B7C34C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text-1536">
            <a:extLst xmlns:a="http://schemas.openxmlformats.org/drawingml/2006/main">
              <a:ext uri="{FF2B5EF4-FFF2-40B4-BE49-F238E27FC236}">
                <a16:creationId xmlns:a16="http://schemas.microsoft.com/office/drawing/2014/main" id="{81EB985D-5877-4AB5-98BD-6DC41FF6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實作</a:t>
            </a:r>
          </a:p>
        </p:txBody>
      </p:sp>
      <p:sp>
        <p:nvSpPr>
          <p:cNvPr id="22" name="text-1537">
            <a:extLst xmlns:a="http://schemas.openxmlformats.org/drawingml/2006/main">
              <a:ext uri="{FF2B5EF4-FFF2-40B4-BE49-F238E27FC236}">
                <a16:creationId xmlns:a16="http://schemas.microsoft.com/office/drawing/2014/main" id="{4A172BDE-CBDE-4032-8B54-2AC04668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只改同意範圍</a:t>
            </a:r>
          </a:p>
        </p:txBody>
      </p:sp>
      <p:sp>
        <p:nvSpPr>
          <p:cNvPr id="23" name="text-1538">
            <a:extLst xmlns:a="http://schemas.openxmlformats.org/drawingml/2006/main">
              <a:ext uri="{FF2B5EF4-FFF2-40B4-BE49-F238E27FC236}">
                <a16:creationId xmlns:a16="http://schemas.microsoft.com/office/drawing/2014/main" id="{B21C39E4-06E5-4176-8F44-C804ADE4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24" name="shape-1539">
            <a:extLst xmlns:a="http://schemas.openxmlformats.org/drawingml/2006/main">
              <a:ext uri="{FF2B5EF4-FFF2-40B4-BE49-F238E27FC236}">
                <a16:creationId xmlns:a16="http://schemas.microsoft.com/office/drawing/2014/main" id="{B6B5E6A3-56C7-41D6-9FFC-4C3064BD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25" name="shape-1540">
            <a:extLst xmlns:a="http://schemas.openxmlformats.org/drawingml/2006/main">
              <a:ext uri="{FF2B5EF4-FFF2-40B4-BE49-F238E27FC236}">
                <a16:creationId xmlns:a16="http://schemas.microsoft.com/office/drawing/2014/main" id="{AF79CCCC-8950-49A2-B8FB-807A1257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1541">
            <a:extLst xmlns:a="http://schemas.openxmlformats.org/drawingml/2006/main">
              <a:ext uri="{FF2B5EF4-FFF2-40B4-BE49-F238E27FC236}">
                <a16:creationId xmlns:a16="http://schemas.microsoft.com/office/drawing/2014/main" id="{5F894E93-0EB7-4410-B889-1ADFBF3B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7" name="text-1542">
            <a:extLst xmlns:a="http://schemas.openxmlformats.org/drawingml/2006/main">
              <a:ext uri="{FF2B5EF4-FFF2-40B4-BE49-F238E27FC236}">
                <a16:creationId xmlns:a16="http://schemas.microsoft.com/office/drawing/2014/main" id="{7323EC5E-1DDA-4829-ADB2-0A822D91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測試</a:t>
            </a:r>
          </a:p>
        </p:txBody>
      </p:sp>
      <p:sp>
        <p:nvSpPr>
          <p:cNvPr id="28" name="text-1543">
            <a:extLst xmlns:a="http://schemas.openxmlformats.org/drawingml/2006/main">
              <a:ext uri="{FF2B5EF4-FFF2-40B4-BE49-F238E27FC236}">
                <a16:creationId xmlns:a16="http://schemas.microsoft.com/office/drawing/2014/main" id="{2E4E65A4-35B3-4FD5-AB79-6073AF01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桌機與手機流程</a:t>
            </a:r>
          </a:p>
        </p:txBody>
      </p:sp>
      <p:sp>
        <p:nvSpPr>
          <p:cNvPr id="29" name="text-1544">
            <a:extLst xmlns:a="http://schemas.openxmlformats.org/drawingml/2006/main">
              <a:ext uri="{FF2B5EF4-FFF2-40B4-BE49-F238E27FC236}">
                <a16:creationId xmlns:a16="http://schemas.microsoft.com/office/drawing/2014/main" id="{13FC1376-1F0C-4422-96DC-C12D9428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30" name="shape-1545">
            <a:extLst xmlns:a="http://schemas.openxmlformats.org/drawingml/2006/main">
              <a:ext uri="{FF2B5EF4-FFF2-40B4-BE49-F238E27FC236}">
                <a16:creationId xmlns:a16="http://schemas.microsoft.com/office/drawing/2014/main" id="{46E9D8EF-0F8A-4C12-881C-391137C5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31" name="shape-1546">
            <a:extLst xmlns:a="http://schemas.openxmlformats.org/drawingml/2006/main">
              <a:ext uri="{FF2B5EF4-FFF2-40B4-BE49-F238E27FC236}">
                <a16:creationId xmlns:a16="http://schemas.microsoft.com/office/drawing/2014/main" id="{5B688B18-0F92-446D-BB52-B3CF0E6E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1547">
            <a:extLst xmlns:a="http://schemas.openxmlformats.org/drawingml/2006/main">
              <a:ext uri="{FF2B5EF4-FFF2-40B4-BE49-F238E27FC236}">
                <a16:creationId xmlns:a16="http://schemas.microsoft.com/office/drawing/2014/main" id="{6C7AAB81-CFFB-4DAB-BA21-93E0CB88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33" name="text-1548">
            <a:extLst xmlns:a="http://schemas.openxmlformats.org/drawingml/2006/main">
              <a:ext uri="{FF2B5EF4-FFF2-40B4-BE49-F238E27FC236}">
                <a16:creationId xmlns:a16="http://schemas.microsoft.com/office/drawing/2014/main" id="{F8F1046A-FBD4-443D-B36C-75D6E8F2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交付</a:t>
            </a:r>
          </a:p>
        </p:txBody>
      </p:sp>
      <p:sp>
        <p:nvSpPr>
          <p:cNvPr id="34" name="text-1549">
            <a:extLst xmlns:a="http://schemas.openxmlformats.org/drawingml/2006/main">
              <a:ext uri="{FF2B5EF4-FFF2-40B4-BE49-F238E27FC236}">
                <a16:creationId xmlns:a16="http://schemas.microsoft.com/office/drawing/2014/main" id="{9A6900BB-CBF7-49C6-8E3A-654A01C2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差異、證據、限制</a:t>
            </a:r>
          </a:p>
        </p:txBody>
      </p:sp>
      <p:sp>
        <p:nvSpPr>
          <p:cNvPr id="35" name="shape-1550">
            <a:extLst xmlns:a="http://schemas.openxmlformats.org/drawingml/2006/main">
              <a:ext uri="{FF2B5EF4-FFF2-40B4-BE49-F238E27FC236}">
                <a16:creationId xmlns:a16="http://schemas.microsoft.com/office/drawing/2014/main" id="{114E6DEF-4B71-464F-950B-B4CC07BC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67300"/>
            <a:ext cx="111633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36" name="text-1551">
            <a:extLst xmlns:a="http://schemas.openxmlformats.org/drawingml/2006/main">
              <a:ext uri="{FF2B5EF4-FFF2-40B4-BE49-F238E27FC236}">
                <a16:creationId xmlns:a16="http://schemas.microsoft.com/office/drawing/2014/main" id="{3A72C898-4FC4-47AA-A940-4D7C06F8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rPr>
              <a:t>人在迴路</a:t>
            </a:r>
          </a:p>
        </p:txBody>
      </p:sp>
      <p:sp>
        <p:nvSpPr>
          <p:cNvPr id="37" name="text-1552">
            <a:extLst xmlns:a="http://schemas.openxmlformats.org/drawingml/2006/main">
              <a:ext uri="{FF2B5EF4-FFF2-40B4-BE49-F238E27FC236}">
                <a16:creationId xmlns:a16="http://schemas.microsoft.com/office/drawing/2014/main" id="{8914A74F-0321-4AF5-A1DA-11E473A9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1497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77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Agent 可以推進，但最後的範圍與發布決定仍由人保留</a:t>
            </a:r>
          </a:p>
        </p:txBody>
      </p:sp>
      <p:sp>
        <p:nvSpPr>
          <p:cNvPr id="38" name="shape-1553">
            <a:extLst xmlns:a="http://schemas.openxmlformats.org/drawingml/2006/main">
              <a:ext uri="{FF2B5EF4-FFF2-40B4-BE49-F238E27FC236}">
                <a16:creationId xmlns:a16="http://schemas.microsoft.com/office/drawing/2014/main" id="{4A02335F-DD8F-475F-BFE8-24A8A519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10175"/>
            <a:ext cx="2000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1B64DA"/>
            </a:solidFill>
            <a:prstDash val="solid"/>
          </a:ln>
        </p:spPr>
      </p:sp>
      <p:sp>
        <p:nvSpPr>
          <p:cNvPr id="39" name="text-1554">
            <a:extLst xmlns:a="http://schemas.openxmlformats.org/drawingml/2006/main">
              <a:ext uri="{FF2B5EF4-FFF2-40B4-BE49-F238E27FC236}">
                <a16:creationId xmlns:a16="http://schemas.microsoft.com/office/drawing/2014/main" id="{AEB09043-BBA8-45BC-A7CA-20DA9932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57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Agent 提案</a:t>
            </a:r>
          </a:p>
        </p:txBody>
      </p:sp>
      <p:sp>
        <p:nvSpPr>
          <p:cNvPr id="40" name="text-1555">
            <a:extLst xmlns:a="http://schemas.openxmlformats.org/drawingml/2006/main">
              <a:ext uri="{FF2B5EF4-FFF2-40B4-BE49-F238E27FC236}">
                <a16:creationId xmlns:a16="http://schemas.microsoft.com/office/drawing/2014/main" id="{80A36930-1D5F-48FE-90BE-3E470B3A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054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先看計畫</a:t>
            </a:r>
          </a:p>
        </p:txBody>
      </p:sp>
      <p:sp>
        <p:nvSpPr>
          <p:cNvPr id="41" name="text-1556">
            <a:extLst xmlns:a="http://schemas.openxmlformats.org/drawingml/2006/main">
              <a:ext uri="{FF2B5EF4-FFF2-40B4-BE49-F238E27FC236}">
                <a16:creationId xmlns:a16="http://schemas.microsoft.com/office/drawing/2014/main" id="{9B15CBD8-057C-49B7-878E-4B4085B2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324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22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CD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CCD8E5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42" name="shape-1557">
            <a:extLst xmlns:a="http://schemas.openxmlformats.org/drawingml/2006/main">
              <a:ext uri="{FF2B5EF4-FFF2-40B4-BE49-F238E27FC236}">
                <a16:creationId xmlns:a16="http://schemas.microsoft.com/office/drawing/2014/main" id="{50F245AA-B608-4E90-84D5-73B62F40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10175"/>
            <a:ext cx="2000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0E9F94"/>
            </a:solidFill>
            <a:prstDash val="solid"/>
          </a:ln>
        </p:spPr>
      </p:sp>
      <p:sp>
        <p:nvSpPr>
          <p:cNvPr id="43" name="text-1558">
            <a:extLst xmlns:a="http://schemas.openxmlformats.org/drawingml/2006/main">
              <a:ext uri="{FF2B5EF4-FFF2-40B4-BE49-F238E27FC236}">
                <a16:creationId xmlns:a16="http://schemas.microsoft.com/office/drawing/2014/main" id="{D2A79926-D082-49A6-AAF8-0474D24F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57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E9F94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E9F94"/>
                </a:solidFill>
                <a:latin typeface="Noto Sans TC"/>
                <a:ea typeface="Noto Sans TC"/>
                <a:cs typeface="Noto Sans TC"/>
              </a:rPr>
              <a:t>教師核准</a:t>
            </a:r>
          </a:p>
        </p:txBody>
      </p:sp>
      <p:sp>
        <p:nvSpPr>
          <p:cNvPr id="44" name="text-1559">
            <a:extLst xmlns:a="http://schemas.openxmlformats.org/drawingml/2006/main">
              <a:ext uri="{FF2B5EF4-FFF2-40B4-BE49-F238E27FC236}">
                <a16:creationId xmlns:a16="http://schemas.microsoft.com/office/drawing/2014/main" id="{6ECE2925-3B32-43F1-AE99-6A376787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054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確認範圍</a:t>
            </a:r>
          </a:p>
        </p:txBody>
      </p:sp>
      <p:sp>
        <p:nvSpPr>
          <p:cNvPr id="45" name="text-1560">
            <a:extLst xmlns:a="http://schemas.openxmlformats.org/drawingml/2006/main">
              <a:ext uri="{FF2B5EF4-FFF2-40B4-BE49-F238E27FC236}">
                <a16:creationId xmlns:a16="http://schemas.microsoft.com/office/drawing/2014/main" id="{BB6DA05B-FD4B-4A5C-B39D-AF1BD7D8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5324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22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CD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CCD8E5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46" name="shape-1561">
            <a:extLst xmlns:a="http://schemas.openxmlformats.org/drawingml/2006/main">
              <a:ext uri="{FF2B5EF4-FFF2-40B4-BE49-F238E27FC236}">
                <a16:creationId xmlns:a16="http://schemas.microsoft.com/office/drawing/2014/main" id="{B0E1F0A7-AA79-4D1C-92BE-0DF982D6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10175"/>
            <a:ext cx="2000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FF6B4A"/>
            </a:solidFill>
            <a:prstDash val="solid"/>
          </a:ln>
        </p:spPr>
      </p:sp>
      <p:sp>
        <p:nvSpPr>
          <p:cNvPr id="47" name="text-1562">
            <a:extLst xmlns:a="http://schemas.openxmlformats.org/drawingml/2006/main">
              <a:ext uri="{FF2B5EF4-FFF2-40B4-BE49-F238E27FC236}">
                <a16:creationId xmlns:a16="http://schemas.microsoft.com/office/drawing/2014/main" id="{E9F5F358-23E9-4A70-A481-1C320F95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257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rPr>
              <a:t>測試驗證</a:t>
            </a:r>
          </a:p>
        </p:txBody>
      </p:sp>
      <p:sp>
        <p:nvSpPr>
          <p:cNvPr id="48" name="text-1563">
            <a:extLst xmlns:a="http://schemas.openxmlformats.org/drawingml/2006/main">
              <a:ext uri="{FF2B5EF4-FFF2-40B4-BE49-F238E27FC236}">
                <a16:creationId xmlns:a16="http://schemas.microsoft.com/office/drawing/2014/main" id="{296A2F8F-4FA0-4255-9C4C-4D8DE869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5054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桌機 × 手機</a:t>
            </a:r>
          </a:p>
        </p:txBody>
      </p:sp>
      <p:sp>
        <p:nvSpPr>
          <p:cNvPr id="49" name="text-1564">
            <a:extLst xmlns:a="http://schemas.openxmlformats.org/drawingml/2006/main">
              <a:ext uri="{FF2B5EF4-FFF2-40B4-BE49-F238E27FC236}">
                <a16:creationId xmlns:a16="http://schemas.microsoft.com/office/drawing/2014/main" id="{8936D1E9-A454-47D5-9D0D-F7A6D53D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324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22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CD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CCD8E5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50" name="shape-1565">
            <a:extLst xmlns:a="http://schemas.openxmlformats.org/drawingml/2006/main">
              <a:ext uri="{FF2B5EF4-FFF2-40B4-BE49-F238E27FC236}">
                <a16:creationId xmlns:a16="http://schemas.microsoft.com/office/drawing/2014/main" id="{195DBBF7-0E71-4765-96D0-CD34A0CB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210175"/>
            <a:ext cx="2000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51" name="text-1566">
            <a:extLst xmlns:a="http://schemas.openxmlformats.org/drawingml/2006/main">
              <a:ext uri="{FF2B5EF4-FFF2-40B4-BE49-F238E27FC236}">
                <a16:creationId xmlns:a16="http://schemas.microsoft.com/office/drawing/2014/main" id="{A3054DAC-62E8-4049-B785-6BEEA198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57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再決定交付</a:t>
            </a:r>
          </a:p>
        </p:txBody>
      </p:sp>
      <p:sp>
        <p:nvSpPr>
          <p:cNvPr id="52" name="text-1567">
            <a:extLst xmlns:a="http://schemas.openxmlformats.org/drawingml/2006/main">
              <a:ext uri="{FF2B5EF4-FFF2-40B4-BE49-F238E27FC236}">
                <a16:creationId xmlns:a16="http://schemas.microsoft.com/office/drawing/2014/main" id="{18F31F56-4F34-46CA-922C-051C5C65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054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差異・證據・限制</a:t>
            </a:r>
          </a:p>
        </p:txBody>
      </p:sp>
      <p:sp>
        <p:nvSpPr>
          <p:cNvPr id="53" name="text-2382">
            <a:extLst xmlns:a="http://schemas.openxmlformats.org/drawingml/2006/main">
              <a:ext uri="{FF2B5EF4-FFF2-40B4-BE49-F238E27FC236}">
                <a16:creationId xmlns:a16="http://schemas.microsoft.com/office/drawing/2014/main" id="{0CEC0556-98D4-438B-B7CD-8CF5CA41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7909d6d0d54840e9"/>
              </a:rPr>
              <a:t>開啟 Antigravity ↗</a:t>
            </a:r>
          </a:p>
        </p:txBody>
      </p:sp>
      <p:sp>
        <p:nvSpPr>
          <p:cNvPr id="54" name="shape-2439">
            <a:extLst xmlns:a="http://schemas.openxmlformats.org/drawingml/2006/main">
              <a:ext uri="{FF2B5EF4-FFF2-40B4-BE49-F238E27FC236}">
                <a16:creationId xmlns:a16="http://schemas.microsoft.com/office/drawing/2014/main" id="{4CC68380-334F-4499-93C4-E8191777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1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b65ecfd8ae4aab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56" name="text-2440">
            <a:extLst xmlns:a="http://schemas.openxmlformats.org/drawingml/2006/main">
              <a:ext uri="{FF2B5EF4-FFF2-40B4-BE49-F238E27FC236}">
                <a16:creationId xmlns:a16="http://schemas.microsoft.com/office/drawing/2014/main" id="{0AFB37F7-6CF6-440B-9FC1-52D2E34E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</p:spTree>
    <p:extLst>
      <p:ext uri="{BB962C8B-B14F-4D97-AF65-F5344CB8AC3E}">
        <p14:creationId xmlns:p14="http://schemas.microsoft.com/office/powerpoint/2010/main" val="95779878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1568">
            <a:extLst xmlns:a="http://schemas.openxmlformats.org/drawingml/2006/main">
              <a:ext uri="{FF2B5EF4-FFF2-40B4-BE49-F238E27FC236}">
                <a16:creationId xmlns:a16="http://schemas.microsoft.com/office/drawing/2014/main" id="{DD1EAB33-DCCA-47C5-86AD-A23FA61F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EVIDENCE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D57504-959F-434D-8B03-31A4DE30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Agent 的完成證據：四樣少一樣就要追問</a:t>
            </a:r>
          </a:p>
        </p:txBody>
      </p:sp>
      <p:cxnSp>
        <p:nvCxnSpPr>
          <p:cNvPr id="28" name="shape-1569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570">
            <a:extLst xmlns:a="http://schemas.openxmlformats.org/drawingml/2006/main">
              <a:ext uri="{FF2B5EF4-FFF2-40B4-BE49-F238E27FC236}">
                <a16:creationId xmlns:a16="http://schemas.microsoft.com/office/drawing/2014/main" id="{D42600C7-2DB3-465F-9890-A9688F6E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282CA10-D3AB-4250-BBDC-4A39DFEB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27</a:t>
            </a:r>
          </a:p>
        </p:txBody>
      </p:sp>
      <p:sp>
        <p:nvSpPr>
          <p:cNvPr id="6" name="shape-1571">
            <a:extLst xmlns:a="http://schemas.openxmlformats.org/drawingml/2006/main">
              <a:ext uri="{FF2B5EF4-FFF2-40B4-BE49-F238E27FC236}">
                <a16:creationId xmlns:a16="http://schemas.microsoft.com/office/drawing/2014/main" id="{D7CB24E4-6D43-4BAC-A310-7E22F7A4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1572">
            <a:extLst xmlns:a="http://schemas.openxmlformats.org/drawingml/2006/main">
              <a:ext uri="{FF2B5EF4-FFF2-40B4-BE49-F238E27FC236}">
                <a16:creationId xmlns:a16="http://schemas.microsoft.com/office/drawing/2014/main" id="{39C76208-93C9-487A-A311-7CDF02DF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1573">
            <a:extLst xmlns:a="http://schemas.openxmlformats.org/drawingml/2006/main">
              <a:ext uri="{FF2B5EF4-FFF2-40B4-BE49-F238E27FC236}">
                <a16:creationId xmlns:a16="http://schemas.microsoft.com/office/drawing/2014/main" id="{E5257B1D-3B9F-4F41-9D6E-EBF60B19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變更摘要</a:t>
            </a:r>
          </a:p>
        </p:txBody>
      </p:sp>
      <p:sp>
        <p:nvSpPr>
          <p:cNvPr id="9" name="text-1574">
            <a:extLst xmlns:a="http://schemas.openxmlformats.org/drawingml/2006/main">
              <a:ext uri="{FF2B5EF4-FFF2-40B4-BE49-F238E27FC236}">
                <a16:creationId xmlns:a16="http://schemas.microsoft.com/office/drawing/2014/main" id="{B155E5D0-0EAF-47A3-8944-B3949765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改了哪些檔案、為什麼改、沒有改什麼。</a:t>
            </a:r>
          </a:p>
        </p:txBody>
      </p:sp>
      <p:sp>
        <p:nvSpPr>
          <p:cNvPr id="10" name="shape-1575">
            <a:extLst xmlns:a="http://schemas.openxmlformats.org/drawingml/2006/main">
              <a:ext uri="{FF2B5EF4-FFF2-40B4-BE49-F238E27FC236}">
                <a16:creationId xmlns:a16="http://schemas.microsoft.com/office/drawing/2014/main" id="{79A1FDAB-9263-445D-AFD9-86B886A2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1576">
            <a:extLst xmlns:a="http://schemas.openxmlformats.org/drawingml/2006/main">
              <a:ext uri="{FF2B5EF4-FFF2-40B4-BE49-F238E27FC236}">
                <a16:creationId xmlns:a16="http://schemas.microsoft.com/office/drawing/2014/main" id="{76A1438A-E895-4BEC-BD58-1FA66F7A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1577">
            <a:extLst xmlns:a="http://schemas.openxmlformats.org/drawingml/2006/main">
              <a:ext uri="{FF2B5EF4-FFF2-40B4-BE49-F238E27FC236}">
                <a16:creationId xmlns:a16="http://schemas.microsoft.com/office/drawing/2014/main" id="{423A7742-D641-4DEF-A963-E237AF6E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測試結果</a:t>
            </a:r>
          </a:p>
        </p:txBody>
      </p:sp>
      <p:sp>
        <p:nvSpPr>
          <p:cNvPr id="13" name="text-1578">
            <a:extLst xmlns:a="http://schemas.openxmlformats.org/drawingml/2006/main">
              <a:ext uri="{FF2B5EF4-FFF2-40B4-BE49-F238E27FC236}">
                <a16:creationId xmlns:a16="http://schemas.microsoft.com/office/drawing/2014/main" id="{325815E1-8BE5-4385-A215-B0D451F9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實際執行哪些檢查，結果是通過、失敗或未執行。</a:t>
            </a:r>
          </a:p>
        </p:txBody>
      </p:sp>
      <p:sp>
        <p:nvSpPr>
          <p:cNvPr id="14" name="shape-1579">
            <a:extLst xmlns:a="http://schemas.openxmlformats.org/drawingml/2006/main">
              <a:ext uri="{FF2B5EF4-FFF2-40B4-BE49-F238E27FC236}">
                <a16:creationId xmlns:a16="http://schemas.microsoft.com/office/drawing/2014/main" id="{FF5D2960-2F25-485A-8912-F28EB540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1580">
            <a:extLst xmlns:a="http://schemas.openxmlformats.org/drawingml/2006/main">
              <a:ext uri="{FF2B5EF4-FFF2-40B4-BE49-F238E27FC236}">
                <a16:creationId xmlns:a16="http://schemas.microsoft.com/office/drawing/2014/main" id="{2636F1F2-0880-426C-8B1B-435E2420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1581">
            <a:extLst xmlns:a="http://schemas.openxmlformats.org/drawingml/2006/main">
              <a:ext uri="{FF2B5EF4-FFF2-40B4-BE49-F238E27FC236}">
                <a16:creationId xmlns:a16="http://schemas.microsoft.com/office/drawing/2014/main" id="{C83E0964-B822-4EC7-9E2C-7421BC40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畫面證據</a:t>
            </a:r>
          </a:p>
        </p:txBody>
      </p:sp>
      <p:sp>
        <p:nvSpPr>
          <p:cNvPr id="17" name="text-1582">
            <a:extLst xmlns:a="http://schemas.openxmlformats.org/drawingml/2006/main">
              <a:ext uri="{FF2B5EF4-FFF2-40B4-BE49-F238E27FC236}">
                <a16:creationId xmlns:a16="http://schemas.microsoft.com/office/drawing/2014/main" id="{1CC756B0-CCD3-4797-8AA9-9AB39D73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用實際截圖或預覽驗證，不只描述應該長什麼樣。</a:t>
            </a:r>
          </a:p>
        </p:txBody>
      </p:sp>
      <p:sp>
        <p:nvSpPr>
          <p:cNvPr id="18" name="shape-1583">
            <a:extLst xmlns:a="http://schemas.openxmlformats.org/drawingml/2006/main">
              <a:ext uri="{FF2B5EF4-FFF2-40B4-BE49-F238E27FC236}">
                <a16:creationId xmlns:a16="http://schemas.microsoft.com/office/drawing/2014/main" id="{15F0B6B4-48AF-4531-987D-38A9FD27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1584">
            <a:extLst xmlns:a="http://schemas.openxmlformats.org/drawingml/2006/main">
              <a:ext uri="{FF2B5EF4-FFF2-40B4-BE49-F238E27FC236}">
                <a16:creationId xmlns:a16="http://schemas.microsoft.com/office/drawing/2014/main" id="{3A5DB9D9-0309-4DCA-A8EE-CABD0EEA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1585">
            <a:extLst xmlns:a="http://schemas.openxmlformats.org/drawingml/2006/main">
              <a:ext uri="{FF2B5EF4-FFF2-40B4-BE49-F238E27FC236}">
                <a16:creationId xmlns:a16="http://schemas.microsoft.com/office/drawing/2014/main" id="{109218B1-8F9E-423E-8B6A-9B7D48B8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已知限制</a:t>
            </a:r>
          </a:p>
        </p:txBody>
      </p:sp>
      <p:sp>
        <p:nvSpPr>
          <p:cNvPr id="21" name="text-1586">
            <a:extLst xmlns:a="http://schemas.openxmlformats.org/drawingml/2006/main">
              <a:ext uri="{FF2B5EF4-FFF2-40B4-BE49-F238E27FC236}">
                <a16:creationId xmlns:a16="http://schemas.microsoft.com/office/drawing/2014/main" id="{BCE36480-5D4D-4EB9-BEBE-382964E6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哪些仍未確認、需要帳號、需要人工判斷或下一輪處理。</a:t>
            </a:r>
          </a:p>
        </p:txBody>
      </p:sp>
      <p:sp>
        <p:nvSpPr>
          <p:cNvPr id="22" name="text-2383">
            <a:extLst xmlns:a="http://schemas.openxmlformats.org/drawingml/2006/main">
              <a:ext uri="{FF2B5EF4-FFF2-40B4-BE49-F238E27FC236}">
                <a16:creationId xmlns:a16="http://schemas.microsoft.com/office/drawing/2014/main" id="{E5826F37-EBFE-4FF2-82CB-315A2171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50b51f598bd44df5"/>
              </a:rPr>
              <a:t>開啟 Antigravity ↗</a:t>
            </a:r>
          </a:p>
        </p:txBody>
      </p:sp>
      <p:sp>
        <p:nvSpPr>
          <p:cNvPr id="23" name="shape-2441">
            <a:extLst xmlns:a="http://schemas.openxmlformats.org/drawingml/2006/main">
              <a:ext uri="{FF2B5EF4-FFF2-40B4-BE49-F238E27FC236}">
                <a16:creationId xmlns:a16="http://schemas.microsoft.com/office/drawing/2014/main" id="{4998BDAA-F86A-4C0D-A483-D0929FE6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7c365ecef1432a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25" name="text-2442">
            <a:extLst xmlns:a="http://schemas.openxmlformats.org/drawingml/2006/main">
              <a:ext uri="{FF2B5EF4-FFF2-40B4-BE49-F238E27FC236}">
                <a16:creationId xmlns:a16="http://schemas.microsoft.com/office/drawing/2014/main" id="{186FC2B9-979B-41C3-9417-509138B3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</p:spTree>
    <p:extLst>
      <p:ext uri="{BB962C8B-B14F-4D97-AF65-F5344CB8AC3E}">
        <p14:creationId xmlns:p14="http://schemas.microsoft.com/office/powerpoint/2010/main" val="69846261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1587">
            <a:extLst xmlns:a="http://schemas.openxmlformats.org/drawingml/2006/main">
              <a:ext uri="{FF2B5EF4-FFF2-40B4-BE49-F238E27FC236}">
                <a16:creationId xmlns:a16="http://schemas.microsoft.com/office/drawing/2014/main" id="{06251F06-4FF7-49A5-B978-F7E20BBC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HANDS-ON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60442D-7E3F-4202-8B78-97B82005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實作 A｜Antigravity 完成一個小而完整的任務</a:t>
            </a:r>
          </a:p>
        </p:txBody>
      </p:sp>
      <p:cxnSp>
        <p:nvCxnSpPr>
          <p:cNvPr id="25" name="shape-1588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589">
            <a:extLst xmlns:a="http://schemas.openxmlformats.org/drawingml/2006/main">
              <a:ext uri="{FF2B5EF4-FFF2-40B4-BE49-F238E27FC236}">
                <a16:creationId xmlns:a16="http://schemas.microsoft.com/office/drawing/2014/main" id="{492DEC96-2454-41DA-80B0-A2EBE5D9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36220C6-7E13-4AAF-8C78-75DEA565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28</a:t>
            </a:r>
          </a:p>
        </p:txBody>
      </p:sp>
      <p:sp>
        <p:nvSpPr>
          <p:cNvPr id="6" name="text-1590">
            <a:extLst xmlns:a="http://schemas.openxmlformats.org/drawingml/2006/main">
              <a:ext uri="{FF2B5EF4-FFF2-40B4-BE49-F238E27FC236}">
                <a16:creationId xmlns:a16="http://schemas.microsoft.com/office/drawing/2014/main" id="{EED1C631-9463-44C0-8706-6090DFC6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0002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18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分鐘</a:t>
            </a:r>
          </a:p>
        </p:txBody>
      </p:sp>
      <p:sp>
        <p:nvSpPr>
          <p:cNvPr id="7" name="text-1591">
            <a:extLst xmlns:a="http://schemas.openxmlformats.org/drawingml/2006/main">
              <a:ext uri="{FF2B5EF4-FFF2-40B4-BE49-F238E27FC236}">
                <a16:creationId xmlns:a16="http://schemas.microsoft.com/office/drawing/2014/main" id="{5EA9F382-A84D-43BC-8618-0DA5E827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335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操作步驟</a:t>
            </a:r>
          </a:p>
        </p:txBody>
      </p:sp>
      <p:sp>
        <p:nvSpPr>
          <p:cNvPr id="8" name="text-1592">
            <a:extLst xmlns:a="http://schemas.openxmlformats.org/drawingml/2006/main">
              <a:ext uri="{FF2B5EF4-FFF2-40B4-BE49-F238E27FC236}">
                <a16:creationId xmlns:a16="http://schemas.microsoft.com/office/drawing/2014/main" id="{AF9C13C6-4689-432B-8C84-8A603524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00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1593">
            <a:extLst xmlns:a="http://schemas.openxmlformats.org/drawingml/2006/main">
              <a:ext uri="{FF2B5EF4-FFF2-40B4-BE49-F238E27FC236}">
                <a16:creationId xmlns:a16="http://schemas.microsoft.com/office/drawing/2014/main" id="{8CD220CF-5920-4F5C-A44B-DB7B0338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003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交付四句任務簡報</a:t>
            </a:r>
          </a:p>
        </p:txBody>
      </p:sp>
      <p:sp>
        <p:nvSpPr>
          <p:cNvPr id="10" name="text-1594">
            <a:extLst xmlns:a="http://schemas.openxmlformats.org/drawingml/2006/main">
              <a:ext uri="{FF2B5EF4-FFF2-40B4-BE49-F238E27FC236}">
                <a16:creationId xmlns:a16="http://schemas.microsoft.com/office/drawing/2014/main" id="{A8F56829-D6F2-4A9E-910E-DFFC81E4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05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1" name="text-1595">
            <a:extLst xmlns:a="http://schemas.openxmlformats.org/drawingml/2006/main">
              <a:ext uri="{FF2B5EF4-FFF2-40B4-BE49-F238E27FC236}">
                <a16:creationId xmlns:a16="http://schemas.microsoft.com/office/drawing/2014/main" id="{E83BF00F-B931-423D-BB2A-FD79CD03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051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先請 Agent 檢查並提出計畫</a:t>
            </a:r>
          </a:p>
        </p:txBody>
      </p:sp>
      <p:sp>
        <p:nvSpPr>
          <p:cNvPr id="12" name="text-1596">
            <a:extLst xmlns:a="http://schemas.openxmlformats.org/drawingml/2006/main">
              <a:ext uri="{FF2B5EF4-FFF2-40B4-BE49-F238E27FC236}">
                <a16:creationId xmlns:a16="http://schemas.microsoft.com/office/drawing/2014/main" id="{924ED071-0E7E-4578-A736-F00EFBD9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810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3" name="text-1597">
            <a:extLst xmlns:a="http://schemas.openxmlformats.org/drawingml/2006/main">
              <a:ext uri="{FF2B5EF4-FFF2-40B4-BE49-F238E27FC236}">
                <a16:creationId xmlns:a16="http://schemas.microsoft.com/office/drawing/2014/main" id="{80F07576-73F2-4F5F-AA4D-2D1724F4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100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確認範圍後執行</a:t>
            </a:r>
          </a:p>
        </p:txBody>
      </p:sp>
      <p:sp>
        <p:nvSpPr>
          <p:cNvPr id="14" name="text-1598">
            <a:extLst xmlns:a="http://schemas.openxmlformats.org/drawingml/2006/main">
              <a:ext uri="{FF2B5EF4-FFF2-40B4-BE49-F238E27FC236}">
                <a16:creationId xmlns:a16="http://schemas.microsoft.com/office/drawing/2014/main" id="{944D8882-B6CB-4962-9C13-82B810C5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14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15" name="text-1599">
            <a:extLst xmlns:a="http://schemas.openxmlformats.org/drawingml/2006/main">
              <a:ext uri="{FF2B5EF4-FFF2-40B4-BE49-F238E27FC236}">
                <a16:creationId xmlns:a16="http://schemas.microsoft.com/office/drawing/2014/main" id="{E9426496-1D2B-4C82-A95E-0B507277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148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取得變更、測試與限制</a:t>
            </a:r>
          </a:p>
        </p:txBody>
      </p:sp>
      <p:sp>
        <p:nvSpPr>
          <p:cNvPr id="16" name="shape-1600">
            <a:extLst xmlns:a="http://schemas.openxmlformats.org/drawingml/2006/main">
              <a:ext uri="{FF2B5EF4-FFF2-40B4-BE49-F238E27FC236}">
                <a16:creationId xmlns:a16="http://schemas.microsoft.com/office/drawing/2014/main" id="{E7342BE4-7D9F-4024-890B-6DC32C71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90700"/>
            <a:ext cx="2362200" cy="39052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7" name="text-1601">
            <a:extLst xmlns:a="http://schemas.openxmlformats.org/drawingml/2006/main">
              <a:ext uri="{FF2B5EF4-FFF2-40B4-BE49-F238E27FC236}">
                <a16:creationId xmlns:a16="http://schemas.microsoft.com/office/drawing/2014/main" id="{12FD723B-8AC9-4DAD-8963-ACA651A7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5740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rPr>
              <a:t>完成條件</a:t>
            </a:r>
          </a:p>
        </p:txBody>
      </p:sp>
      <p:sp>
        <p:nvSpPr>
          <p:cNvPr id="18" name="text-1602">
            <a:extLst xmlns:a="http://schemas.openxmlformats.org/drawingml/2006/main">
              <a:ext uri="{FF2B5EF4-FFF2-40B4-BE49-F238E27FC236}">
                <a16:creationId xmlns:a16="http://schemas.microsoft.com/office/drawing/2014/main" id="{66C26572-6B3C-4351-B432-7C972C49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05100"/>
            <a:ext cx="18669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任務單一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有實際產物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有至少一項驗證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沒有未授權發布</a:t>
            </a:r>
          </a:p>
        </p:txBody>
      </p:sp>
      <p:sp>
        <p:nvSpPr>
          <p:cNvPr id="19" name="text-2384">
            <a:extLst xmlns:a="http://schemas.openxmlformats.org/drawingml/2006/main">
              <a:ext uri="{FF2B5EF4-FFF2-40B4-BE49-F238E27FC236}">
                <a16:creationId xmlns:a16="http://schemas.microsoft.com/office/drawing/2014/main" id="{BACDF9AC-FB30-44D5-A8C8-4D7AFAB9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4d7294d4fa7c4b4d"/>
              </a:rPr>
              <a:t>開啟 Antigravity ↗</a:t>
            </a:r>
          </a:p>
        </p:txBody>
      </p:sp>
      <p:sp>
        <p:nvSpPr>
          <p:cNvPr id="20" name="shape-2443">
            <a:extLst xmlns:a="http://schemas.openxmlformats.org/drawingml/2006/main">
              <a:ext uri="{FF2B5EF4-FFF2-40B4-BE49-F238E27FC236}">
                <a16:creationId xmlns:a16="http://schemas.microsoft.com/office/drawing/2014/main" id="{06CCE725-0FF1-40DD-BD01-04151BD4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4e56076654034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22" name="text-2444">
            <a:extLst xmlns:a="http://schemas.openxmlformats.org/drawingml/2006/main">
              <a:ext uri="{FF2B5EF4-FFF2-40B4-BE49-F238E27FC236}">
                <a16:creationId xmlns:a16="http://schemas.microsoft.com/office/drawing/2014/main" id="{23A4F558-A2A9-442F-A381-7845EBA8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</p:spTree>
    <p:extLst>
      <p:ext uri="{BB962C8B-B14F-4D97-AF65-F5344CB8AC3E}">
        <p14:creationId xmlns:p14="http://schemas.microsoft.com/office/powerpoint/2010/main" val="164642864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-1603">
            <a:extLst xmlns:a="http://schemas.openxmlformats.org/drawingml/2006/main">
              <a:ext uri="{FF2B5EF4-FFF2-40B4-BE49-F238E27FC236}">
                <a16:creationId xmlns:a16="http://schemas.microsoft.com/office/drawing/2014/main" id="{902658EA-83C8-4B70-AE25-C26B86F6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SCHEDULED AGENT · GEMINI SPARK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1E77E0-D673-412B-844A-BBF47A7F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28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Gemini Spark：讓 Agent 按時上工</a:t>
            </a:r>
          </a:p>
        </p:txBody>
      </p:sp>
      <p:cxnSp>
        <p:nvCxnSpPr>
          <p:cNvPr id="32" name="shape-1604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605">
            <a:extLst xmlns:a="http://schemas.openxmlformats.org/drawingml/2006/main">
              <a:ext uri="{FF2B5EF4-FFF2-40B4-BE49-F238E27FC236}">
                <a16:creationId xmlns:a16="http://schemas.microsoft.com/office/drawing/2014/main" id="{308B825E-ECC1-4DC6-B84C-0E45C939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53AEDF6-5FF7-43CA-8A57-BD61A88B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29</a:t>
            </a:r>
          </a:p>
        </p:txBody>
      </p:sp>
      <p:sp>
        <p:nvSpPr>
          <p:cNvPr id="6" name="shape-1606">
            <a:extLst xmlns:a="http://schemas.openxmlformats.org/drawingml/2006/main">
              <a:ext uri="{FF2B5EF4-FFF2-40B4-BE49-F238E27FC236}">
                <a16:creationId xmlns:a16="http://schemas.microsoft.com/office/drawing/2014/main" id="{AB41C1BA-2E7C-438E-A3EC-277C5A4E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1607">
            <a:extLst xmlns:a="http://schemas.openxmlformats.org/drawingml/2006/main">
              <a:ext uri="{FF2B5EF4-FFF2-40B4-BE49-F238E27FC236}">
                <a16:creationId xmlns:a16="http://schemas.microsoft.com/office/drawing/2014/main" id="{7E391054-7B16-49C2-A32A-F24C06C1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1608">
            <a:extLst xmlns:a="http://schemas.openxmlformats.org/drawingml/2006/main">
              <a:ext uri="{FF2B5EF4-FFF2-40B4-BE49-F238E27FC236}">
                <a16:creationId xmlns:a16="http://schemas.microsoft.com/office/drawing/2014/main" id="{8252363C-EF6E-49C9-A2BC-78D62995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一次任務</a:t>
            </a:r>
          </a:p>
        </p:txBody>
      </p:sp>
      <p:sp>
        <p:nvSpPr>
          <p:cNvPr id="9" name="text-1609">
            <a:extLst xmlns:a="http://schemas.openxmlformats.org/drawingml/2006/main">
              <a:ext uri="{FF2B5EF4-FFF2-40B4-BE49-F238E27FC236}">
                <a16:creationId xmlns:a16="http://schemas.microsoft.com/office/drawing/2014/main" id="{A948FFD1-9C72-4D6C-B1A2-C8DFBFDA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先說清楚目標、素材、限制與驗收，讓 Spark 完成一個可檢查的工作。</a:t>
            </a:r>
          </a:p>
        </p:txBody>
      </p:sp>
      <p:sp>
        <p:nvSpPr>
          <p:cNvPr id="10" name="shape-1610">
            <a:extLst xmlns:a="http://schemas.openxmlformats.org/drawingml/2006/main">
              <a:ext uri="{FF2B5EF4-FFF2-40B4-BE49-F238E27FC236}">
                <a16:creationId xmlns:a16="http://schemas.microsoft.com/office/drawing/2014/main" id="{44C2141E-F649-4F81-8A07-0E9DC1E8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1611">
            <a:extLst xmlns:a="http://schemas.openxmlformats.org/drawingml/2006/main">
              <a:ext uri="{FF2B5EF4-FFF2-40B4-BE49-F238E27FC236}">
                <a16:creationId xmlns:a16="http://schemas.microsoft.com/office/drawing/2014/main" id="{131970B8-FE6F-46EF-B4AD-EC3E75D3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1612">
            <a:extLst xmlns:a="http://schemas.openxmlformats.org/drawingml/2006/main">
              <a:ext uri="{FF2B5EF4-FFF2-40B4-BE49-F238E27FC236}">
                <a16:creationId xmlns:a16="http://schemas.microsoft.com/office/drawing/2014/main" id="{1555FDC4-D735-46B1-99A5-FAF82BEB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背景排程</a:t>
            </a:r>
          </a:p>
        </p:txBody>
      </p:sp>
      <p:sp>
        <p:nvSpPr>
          <p:cNvPr id="13" name="text-1613">
            <a:extLst xmlns:a="http://schemas.openxmlformats.org/drawingml/2006/main">
              <a:ext uri="{FF2B5EF4-FFF2-40B4-BE49-F238E27FC236}">
                <a16:creationId xmlns:a16="http://schemas.microsoft.com/office/drawing/2014/main" id="{AB5DD987-1571-427B-8904-2664A67F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把任務交給雲端，在指定時間或符合條件時啟動，不必一直守在聊天室前。</a:t>
            </a:r>
          </a:p>
        </p:txBody>
      </p:sp>
      <p:sp>
        <p:nvSpPr>
          <p:cNvPr id="14" name="shape-1614">
            <a:extLst xmlns:a="http://schemas.openxmlformats.org/drawingml/2006/main">
              <a:ext uri="{FF2B5EF4-FFF2-40B4-BE49-F238E27FC236}">
                <a16:creationId xmlns:a16="http://schemas.microsoft.com/office/drawing/2014/main" id="{61087948-3737-45EE-A9B2-E30F9506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1615">
            <a:extLst xmlns:a="http://schemas.openxmlformats.org/drawingml/2006/main">
              <a:ext uri="{FF2B5EF4-FFF2-40B4-BE49-F238E27FC236}">
                <a16:creationId xmlns:a16="http://schemas.microsoft.com/office/drawing/2014/main" id="{478C9D6B-D7FD-46C6-9A33-D6ECEDF0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1616">
            <a:extLst xmlns:a="http://schemas.openxmlformats.org/drawingml/2006/main">
              <a:ext uri="{FF2B5EF4-FFF2-40B4-BE49-F238E27FC236}">
                <a16:creationId xmlns:a16="http://schemas.microsoft.com/office/drawing/2014/main" id="{2B512270-407F-4E58-88E5-368AE434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重複工作</a:t>
            </a:r>
          </a:p>
        </p:txBody>
      </p:sp>
      <p:sp>
        <p:nvSpPr>
          <p:cNvPr id="17" name="text-1617">
            <a:extLst xmlns:a="http://schemas.openxmlformats.org/drawingml/2006/main">
              <a:ext uri="{FF2B5EF4-FFF2-40B4-BE49-F238E27FC236}">
                <a16:creationId xmlns:a16="http://schemas.microsoft.com/office/drawing/2014/main" id="{EC753F64-FCAB-4605-83AB-C4B4AC68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每週整理教學資料、追蹤研究主題、彙整待辦，讓高頻流程按表運行。</a:t>
            </a:r>
          </a:p>
        </p:txBody>
      </p:sp>
      <p:sp>
        <p:nvSpPr>
          <p:cNvPr id="18" name="shape-1618">
            <a:extLst xmlns:a="http://schemas.openxmlformats.org/drawingml/2006/main">
              <a:ext uri="{FF2B5EF4-FFF2-40B4-BE49-F238E27FC236}">
                <a16:creationId xmlns:a16="http://schemas.microsoft.com/office/drawing/2014/main" id="{70C34D70-CC4D-4199-8BE4-7487D61F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1619">
            <a:extLst xmlns:a="http://schemas.openxmlformats.org/drawingml/2006/main">
              <a:ext uri="{FF2B5EF4-FFF2-40B4-BE49-F238E27FC236}">
                <a16:creationId xmlns:a16="http://schemas.microsoft.com/office/drawing/2014/main" id="{C7D6C2C0-DE1B-485F-9FC8-2F091048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1620">
            <a:extLst xmlns:a="http://schemas.openxmlformats.org/drawingml/2006/main">
              <a:ext uri="{FF2B5EF4-FFF2-40B4-BE49-F238E27FC236}">
                <a16:creationId xmlns:a16="http://schemas.microsoft.com/office/drawing/2014/main" id="{C6EA065B-41E7-47A7-8FA2-80200B2A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人仍在迴路</a:t>
            </a:r>
          </a:p>
        </p:txBody>
      </p:sp>
      <p:sp>
        <p:nvSpPr>
          <p:cNvPr id="21" name="text-1621">
            <a:extLst xmlns:a="http://schemas.openxmlformats.org/drawingml/2006/main">
              <a:ext uri="{FF2B5EF4-FFF2-40B4-BE49-F238E27FC236}">
                <a16:creationId xmlns:a16="http://schemas.microsoft.com/office/drawing/2014/main" id="{EA1A8149-F366-45BC-8032-52FEE68C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產出先進草稿與待確認區；公開、寄送、評分與敏感決策仍由人確認。</a:t>
            </a:r>
          </a:p>
        </p:txBody>
      </p:sp>
      <p:sp>
        <p:nvSpPr>
          <p:cNvPr id="22" name="text-2391">
            <a:extLst xmlns:a="http://schemas.openxmlformats.org/drawingml/2006/main">
              <a:ext uri="{FF2B5EF4-FFF2-40B4-BE49-F238E27FC236}">
                <a16:creationId xmlns:a16="http://schemas.microsoft.com/office/drawing/2014/main" id="{86103256-0A6F-410D-98B6-4D3B6256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0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a52fe25a72db4e64"/>
              </a:rPr>
              <a:t>Gemini Spark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c77a0e61bdc342e6"/>
              </a:rPr>
              <a:t>Google 排程說明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7160c06b9a754fd2"/>
              </a:rPr>
              <a:t>影片教學 ↗</a:t>
            </a:r>
          </a:p>
        </p:txBody>
      </p:sp>
      <p:sp>
        <p:nvSpPr>
          <p:cNvPr id="23" name="shape-2466">
            <a:extLst xmlns:a="http://schemas.openxmlformats.org/drawingml/2006/main">
              <a:ext uri="{FF2B5EF4-FFF2-40B4-BE49-F238E27FC236}">
                <a16:creationId xmlns:a16="http://schemas.microsoft.com/office/drawing/2014/main" id="{6E19AE4E-A27D-42F4-BA51-3EFF541B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"/>
            <a:ext cx="2247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7a9790aec84b1b"/>
          <a:stretch xmlns:a="http://schemas.openxmlformats.org/drawingml/2006/main"/>
        </p:blipFill>
        <p:spPr>
          <a:xfrm xmlns:a="http://schemas.openxmlformats.org/drawingml/2006/main">
            <a:off x="95059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5" name="text-2467">
            <a:extLst xmlns:a="http://schemas.openxmlformats.org/drawingml/2006/main">
              <a:ext uri="{FF2B5EF4-FFF2-40B4-BE49-F238E27FC236}">
                <a16:creationId xmlns:a16="http://schemas.microsoft.com/office/drawing/2014/main" id="{44E733BF-AB96-4701-9F88-CED17C80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Spark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16406a6fb4f30"/>
          <a:stretch xmlns:a="http://schemas.openxmlformats.org/drawingml/2006/main"/>
        </p:blipFill>
        <p:spPr>
          <a:xfrm xmlns:a="http://schemas.openxmlformats.org/drawingml/2006/main">
            <a:off x="102298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7" name="text-2468">
            <a:extLst xmlns:a="http://schemas.openxmlformats.org/drawingml/2006/main">
              <a:ext uri="{FF2B5EF4-FFF2-40B4-BE49-F238E27FC236}">
                <a16:creationId xmlns:a16="http://schemas.microsoft.com/office/drawing/2014/main" id="{9E70B55F-7668-4FE0-BB90-9BA4C467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02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Google 排程說明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ef58813b8c434e"/>
          <a:stretch xmlns:a="http://schemas.openxmlformats.org/drawingml/2006/main"/>
        </p:blipFill>
        <p:spPr>
          <a:xfrm xmlns:a="http://schemas.openxmlformats.org/drawingml/2006/main">
            <a:off x="109537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9" name="text-2469">
            <a:extLst xmlns:a="http://schemas.openxmlformats.org/drawingml/2006/main">
              <a:ext uri="{FF2B5EF4-FFF2-40B4-BE49-F238E27FC236}">
                <a16:creationId xmlns:a16="http://schemas.microsoft.com/office/drawing/2014/main" id="{993FB1BF-9B61-4AAE-825F-84AB3CEE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影片教學</a:t>
            </a:r>
          </a:p>
        </p:txBody>
      </p:sp>
    </p:spTree>
    <p:extLst>
      <p:ext uri="{BB962C8B-B14F-4D97-AF65-F5344CB8AC3E}">
        <p14:creationId xmlns:p14="http://schemas.microsoft.com/office/powerpoint/2010/main" val="69109856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-1622">
            <a:extLst xmlns:a="http://schemas.openxmlformats.org/drawingml/2006/main">
              <a:ext uri="{FF2B5EF4-FFF2-40B4-BE49-F238E27FC236}">
                <a16:creationId xmlns:a16="http://schemas.microsoft.com/office/drawing/2014/main" id="{897D37A3-BAC7-4958-9F7F-25AEA49A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SPARK METHOD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5014E54-4C26-433C-A0FE-5CFE2BA4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影片教學法：Notebook → Skill → Task → Review</a:t>
            </a:r>
          </a:p>
        </p:txBody>
      </p:sp>
      <p:cxnSp>
        <p:nvCxnSpPr>
          <p:cNvPr id="38" name="shape-1623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624">
            <a:extLst xmlns:a="http://schemas.openxmlformats.org/drawingml/2006/main">
              <a:ext uri="{FF2B5EF4-FFF2-40B4-BE49-F238E27FC236}">
                <a16:creationId xmlns:a16="http://schemas.microsoft.com/office/drawing/2014/main" id="{005FDFE0-9976-4005-B4EB-FB5AC53B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DBBE902-BC82-4A9A-8B52-EEBFA1C6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30</a:t>
            </a:r>
          </a:p>
        </p:txBody>
      </p:sp>
      <p:sp>
        <p:nvSpPr>
          <p:cNvPr id="6" name="shape-1625">
            <a:extLst xmlns:a="http://schemas.openxmlformats.org/drawingml/2006/main">
              <a:ext uri="{FF2B5EF4-FFF2-40B4-BE49-F238E27FC236}">
                <a16:creationId xmlns:a16="http://schemas.microsoft.com/office/drawing/2014/main" id="{D473374D-F726-43CC-9459-17817F05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shape-1626">
            <a:extLst xmlns:a="http://schemas.openxmlformats.org/drawingml/2006/main">
              <a:ext uri="{FF2B5EF4-FFF2-40B4-BE49-F238E27FC236}">
                <a16:creationId xmlns:a16="http://schemas.microsoft.com/office/drawing/2014/main" id="{67CE1115-C75B-4E8C-BB27-77D4FCB5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627">
            <a:extLst xmlns:a="http://schemas.openxmlformats.org/drawingml/2006/main">
              <a:ext uri="{FF2B5EF4-FFF2-40B4-BE49-F238E27FC236}">
                <a16:creationId xmlns:a16="http://schemas.microsoft.com/office/drawing/2014/main" id="{5E4E3027-8202-47DB-B6F2-9C8F9954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1628">
            <a:extLst xmlns:a="http://schemas.openxmlformats.org/drawingml/2006/main">
              <a:ext uri="{FF2B5EF4-FFF2-40B4-BE49-F238E27FC236}">
                <a16:creationId xmlns:a16="http://schemas.microsoft.com/office/drawing/2014/main" id="{D5C73DF3-25B8-468D-BCBE-CA58FD9B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Notebook</a:t>
            </a:r>
          </a:p>
        </p:txBody>
      </p:sp>
      <p:sp>
        <p:nvSpPr>
          <p:cNvPr id="10" name="text-1629">
            <a:extLst xmlns:a="http://schemas.openxmlformats.org/drawingml/2006/main">
              <a:ext uri="{FF2B5EF4-FFF2-40B4-BE49-F238E27FC236}">
                <a16:creationId xmlns:a16="http://schemas.microsoft.com/office/drawing/2014/main" id="{8844935B-9BED-4E4E-875D-01BDE9C3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整理規範、來源與可引用資料</a:t>
            </a:r>
          </a:p>
        </p:txBody>
      </p:sp>
      <p:sp>
        <p:nvSpPr>
          <p:cNvPr id="11" name="text-1630">
            <a:extLst xmlns:a="http://schemas.openxmlformats.org/drawingml/2006/main">
              <a:ext uri="{FF2B5EF4-FFF2-40B4-BE49-F238E27FC236}">
                <a16:creationId xmlns:a16="http://schemas.microsoft.com/office/drawing/2014/main" id="{5C47EE69-4E4A-436A-BB1A-55034AB7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113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2" name="shape-1631">
            <a:extLst xmlns:a="http://schemas.openxmlformats.org/drawingml/2006/main">
              <a:ext uri="{FF2B5EF4-FFF2-40B4-BE49-F238E27FC236}">
                <a16:creationId xmlns:a16="http://schemas.microsoft.com/office/drawing/2014/main" id="{263F87B3-C90D-45FE-9EC3-DF2EF35E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838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3" name="shape-1632">
            <a:extLst xmlns:a="http://schemas.openxmlformats.org/drawingml/2006/main">
              <a:ext uri="{FF2B5EF4-FFF2-40B4-BE49-F238E27FC236}">
                <a16:creationId xmlns:a16="http://schemas.microsoft.com/office/drawing/2014/main" id="{D955D839-8BA8-43D3-B446-8D151136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633">
            <a:extLst xmlns:a="http://schemas.openxmlformats.org/drawingml/2006/main">
              <a:ext uri="{FF2B5EF4-FFF2-40B4-BE49-F238E27FC236}">
                <a16:creationId xmlns:a16="http://schemas.microsoft.com/office/drawing/2014/main" id="{80C08B8D-4506-4A08-A1FE-852AFDEA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5" name="text-1634">
            <a:extLst xmlns:a="http://schemas.openxmlformats.org/drawingml/2006/main">
              <a:ext uri="{FF2B5EF4-FFF2-40B4-BE49-F238E27FC236}">
                <a16:creationId xmlns:a16="http://schemas.microsoft.com/office/drawing/2014/main" id="{44E90B33-80E3-4327-9B89-811A4523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Skill</a:t>
            </a:r>
          </a:p>
        </p:txBody>
      </p:sp>
      <p:sp>
        <p:nvSpPr>
          <p:cNvPr id="16" name="text-1635">
            <a:extLst xmlns:a="http://schemas.openxmlformats.org/drawingml/2006/main">
              <a:ext uri="{FF2B5EF4-FFF2-40B4-BE49-F238E27FC236}">
                <a16:creationId xmlns:a16="http://schemas.microsoft.com/office/drawing/2014/main" id="{FA02F232-F69F-4D21-994C-3789176A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封裝規則、參考筆記本與輸出格式</a:t>
            </a:r>
          </a:p>
        </p:txBody>
      </p:sp>
      <p:sp>
        <p:nvSpPr>
          <p:cNvPr id="17" name="text-1636">
            <a:extLst xmlns:a="http://schemas.openxmlformats.org/drawingml/2006/main">
              <a:ext uri="{FF2B5EF4-FFF2-40B4-BE49-F238E27FC236}">
                <a16:creationId xmlns:a16="http://schemas.microsoft.com/office/drawing/2014/main" id="{462E0650-75B4-4527-8751-A4586E4A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8" name="shape-1637">
            <a:extLst xmlns:a="http://schemas.openxmlformats.org/drawingml/2006/main">
              <a:ext uri="{FF2B5EF4-FFF2-40B4-BE49-F238E27FC236}">
                <a16:creationId xmlns:a16="http://schemas.microsoft.com/office/drawing/2014/main" id="{220427A5-40D6-4AB2-BE34-0CF3AFF3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shape-1638">
            <a:extLst xmlns:a="http://schemas.openxmlformats.org/drawingml/2006/main">
              <a:ext uri="{FF2B5EF4-FFF2-40B4-BE49-F238E27FC236}">
                <a16:creationId xmlns:a16="http://schemas.microsoft.com/office/drawing/2014/main" id="{3D9A87A1-C734-44DA-A1D4-FC696CB3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639">
            <a:extLst xmlns:a="http://schemas.openxmlformats.org/drawingml/2006/main">
              <a:ext uri="{FF2B5EF4-FFF2-40B4-BE49-F238E27FC236}">
                <a16:creationId xmlns:a16="http://schemas.microsoft.com/office/drawing/2014/main" id="{30F5150A-2E5F-40F1-8EB3-C8D94505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text-1640">
            <a:extLst xmlns:a="http://schemas.openxmlformats.org/drawingml/2006/main">
              <a:ext uri="{FF2B5EF4-FFF2-40B4-BE49-F238E27FC236}">
                <a16:creationId xmlns:a16="http://schemas.microsoft.com/office/drawing/2014/main" id="{1D65268E-3969-4BD7-97E2-66FEAE04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Task</a:t>
            </a:r>
          </a:p>
        </p:txBody>
      </p:sp>
      <p:sp>
        <p:nvSpPr>
          <p:cNvPr id="22" name="text-1641">
            <a:extLst xmlns:a="http://schemas.openxmlformats.org/drawingml/2006/main">
              <a:ext uri="{FF2B5EF4-FFF2-40B4-BE49-F238E27FC236}">
                <a16:creationId xmlns:a16="http://schemas.microsoft.com/office/drawing/2014/main" id="{0A5C3351-9250-4867-896F-A3027B18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交代一件具體工作，用「/」選 Skill</a:t>
            </a:r>
          </a:p>
        </p:txBody>
      </p:sp>
      <p:sp>
        <p:nvSpPr>
          <p:cNvPr id="23" name="text-1642">
            <a:extLst xmlns:a="http://schemas.openxmlformats.org/drawingml/2006/main">
              <a:ext uri="{FF2B5EF4-FFF2-40B4-BE49-F238E27FC236}">
                <a16:creationId xmlns:a16="http://schemas.microsoft.com/office/drawing/2014/main" id="{DA7B3E05-5F97-4CB6-BBC0-5F361E72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24" name="shape-1643">
            <a:extLst xmlns:a="http://schemas.openxmlformats.org/drawingml/2006/main">
              <a:ext uri="{FF2B5EF4-FFF2-40B4-BE49-F238E27FC236}">
                <a16:creationId xmlns:a16="http://schemas.microsoft.com/office/drawing/2014/main" id="{E06767AC-F1DF-46D5-9570-1DAD0699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25" name="shape-1644">
            <a:extLst xmlns:a="http://schemas.openxmlformats.org/drawingml/2006/main">
              <a:ext uri="{FF2B5EF4-FFF2-40B4-BE49-F238E27FC236}">
                <a16:creationId xmlns:a16="http://schemas.microsoft.com/office/drawing/2014/main" id="{DB61243C-9C71-401D-8E2A-322E5108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1645">
            <a:extLst xmlns:a="http://schemas.openxmlformats.org/drawingml/2006/main">
              <a:ext uri="{FF2B5EF4-FFF2-40B4-BE49-F238E27FC236}">
                <a16:creationId xmlns:a16="http://schemas.microsoft.com/office/drawing/2014/main" id="{A5A265D4-3CCB-4F13-8336-97B1DFDD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7" name="text-1646">
            <a:extLst xmlns:a="http://schemas.openxmlformats.org/drawingml/2006/main">
              <a:ext uri="{FF2B5EF4-FFF2-40B4-BE49-F238E27FC236}">
                <a16:creationId xmlns:a16="http://schemas.microsoft.com/office/drawing/2014/main" id="{921D0910-BDDF-4FD9-9175-4A7160D1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Review</a:t>
            </a:r>
          </a:p>
        </p:txBody>
      </p:sp>
      <p:sp>
        <p:nvSpPr>
          <p:cNvPr id="28" name="text-1647">
            <a:extLst xmlns:a="http://schemas.openxmlformats.org/drawingml/2006/main">
              <a:ext uri="{FF2B5EF4-FFF2-40B4-BE49-F238E27FC236}">
                <a16:creationId xmlns:a16="http://schemas.microsoft.com/office/drawing/2014/main" id="{7E6BBEC4-5F19-4EC8-A988-F7BFE33A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查看草稿、補修內容，再決定採用</a:t>
            </a:r>
          </a:p>
        </p:txBody>
      </p:sp>
      <p:sp>
        <p:nvSpPr>
          <p:cNvPr id="29" name="text-1648">
            <a:extLst xmlns:a="http://schemas.openxmlformats.org/drawingml/2006/main">
              <a:ext uri="{FF2B5EF4-FFF2-40B4-BE49-F238E27FC236}">
                <a16:creationId xmlns:a16="http://schemas.microsoft.com/office/drawing/2014/main" id="{D5CA2EB9-2E54-4BFC-BEA2-BB163619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14950"/>
            <a:ext cx="5638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152400" tIns="57150" rIns="1524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每一步都留下可檢查的成果</a:t>
            </a:r>
          </a:p>
        </p:txBody>
      </p:sp>
      <p:sp>
        <p:nvSpPr>
          <p:cNvPr id="30" name="text-2392">
            <a:extLst xmlns:a="http://schemas.openxmlformats.org/drawingml/2006/main">
              <a:ext uri="{FF2B5EF4-FFF2-40B4-BE49-F238E27FC236}">
                <a16:creationId xmlns:a16="http://schemas.microsoft.com/office/drawing/2014/main" id="{4D60F856-5022-47C3-A318-6B5CE17D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f932b7efeef743e6"/>
              </a:rPr>
              <a:t>Google 排程說明 ↗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6e71e300fa0548d8"/>
              </a:rPr>
              <a:t>影片教學 ↗</a:t>
            </a:r>
          </a:p>
        </p:txBody>
      </p:sp>
      <p:sp>
        <p:nvSpPr>
          <p:cNvPr id="31" name="shape-2470">
            <a:extLst xmlns:a="http://schemas.openxmlformats.org/drawingml/2006/main">
              <a:ext uri="{FF2B5EF4-FFF2-40B4-BE49-F238E27FC236}">
                <a16:creationId xmlns:a16="http://schemas.microsoft.com/office/drawing/2014/main" id="{BA81BA65-2552-4985-A2F2-F5ABF241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e073bfeac44dad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33" name="text-2471">
            <a:extLst xmlns:a="http://schemas.openxmlformats.org/drawingml/2006/main">
              <a:ext uri="{FF2B5EF4-FFF2-40B4-BE49-F238E27FC236}">
                <a16:creationId xmlns:a16="http://schemas.microsoft.com/office/drawing/2014/main" id="{60713B7A-EE14-4906-B0CE-069B92F9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Notebook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a1e55648fc4840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35" name="text-2472">
            <a:extLst xmlns:a="http://schemas.openxmlformats.org/drawingml/2006/main">
              <a:ext uri="{FF2B5EF4-FFF2-40B4-BE49-F238E27FC236}">
                <a16:creationId xmlns:a16="http://schemas.microsoft.com/office/drawing/2014/main" id="{8E910A90-A713-4E11-B5FF-91AE1C08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影片教學</a:t>
            </a:r>
          </a:p>
        </p:txBody>
      </p:sp>
    </p:spTree>
    <p:extLst>
      <p:ext uri="{BB962C8B-B14F-4D97-AF65-F5344CB8AC3E}">
        <p14:creationId xmlns:p14="http://schemas.microsoft.com/office/powerpoint/2010/main" val="148430609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1649">
            <a:extLst xmlns:a="http://schemas.openxmlformats.org/drawingml/2006/main">
              <a:ext uri="{FF2B5EF4-FFF2-40B4-BE49-F238E27FC236}">
                <a16:creationId xmlns:a16="http://schemas.microsoft.com/office/drawing/2014/main" id="{BDE1B0EF-072C-4B66-8B3F-355A1A19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SPARK MENTAL MODEL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469098-3741-475A-9AE2-C9349BFD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任務、排程、技能：什麼、何時、如何</a:t>
            </a:r>
          </a:p>
        </p:txBody>
      </p:sp>
      <p:cxnSp>
        <p:nvCxnSpPr>
          <p:cNvPr id="28" name="shape-1650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651">
            <a:extLst xmlns:a="http://schemas.openxmlformats.org/drawingml/2006/main">
              <a:ext uri="{FF2B5EF4-FFF2-40B4-BE49-F238E27FC236}">
                <a16:creationId xmlns:a16="http://schemas.microsoft.com/office/drawing/2014/main" id="{8D4C8070-5712-4D5E-84CA-31D58B72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64F5E5E-ECC4-4CE0-A64A-70F8CB82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31</a:t>
            </a:r>
          </a:p>
        </p:txBody>
      </p:sp>
      <p:sp>
        <p:nvSpPr>
          <p:cNvPr id="6" name="shape-1652">
            <a:extLst xmlns:a="http://schemas.openxmlformats.org/drawingml/2006/main">
              <a:ext uri="{FF2B5EF4-FFF2-40B4-BE49-F238E27FC236}">
                <a16:creationId xmlns:a16="http://schemas.microsoft.com/office/drawing/2014/main" id="{E5CB840D-1859-4215-B793-A25B7CE4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1653">
            <a:extLst xmlns:a="http://schemas.openxmlformats.org/drawingml/2006/main">
              <a:ext uri="{FF2B5EF4-FFF2-40B4-BE49-F238E27FC236}">
                <a16:creationId xmlns:a16="http://schemas.microsoft.com/office/drawing/2014/main" id="{9974B935-D9E5-424A-A1A3-AAB42714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7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WHAT</a:t>
            </a:r>
          </a:p>
        </p:txBody>
      </p:sp>
      <p:sp>
        <p:nvSpPr>
          <p:cNvPr id="8" name="text-1654">
            <a:extLst xmlns:a="http://schemas.openxmlformats.org/drawingml/2006/main">
              <a:ext uri="{FF2B5EF4-FFF2-40B4-BE49-F238E27FC236}">
                <a16:creationId xmlns:a16="http://schemas.microsoft.com/office/drawing/2014/main" id="{0C8AE646-D384-4A2F-A213-A7DE35CA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任務｜做什麼</a:t>
            </a:r>
          </a:p>
        </p:txBody>
      </p:sp>
      <p:sp>
        <p:nvSpPr>
          <p:cNvPr id="9" name="text-1655">
            <a:extLst xmlns:a="http://schemas.openxmlformats.org/drawingml/2006/main">
              <a:ext uri="{FF2B5EF4-FFF2-40B4-BE49-F238E27FC236}">
                <a16:creationId xmlns:a16="http://schemas.microsoft.com/office/drawing/2014/main" id="{58522B55-99D7-43BE-AD50-AF329D5F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定義目標、輸入材料、成果格式與完成條件。</a:t>
            </a:r>
          </a:p>
        </p:txBody>
      </p:sp>
      <p:sp>
        <p:nvSpPr>
          <p:cNvPr id="10" name="shape-1656">
            <a:extLst xmlns:a="http://schemas.openxmlformats.org/drawingml/2006/main">
              <a:ext uri="{FF2B5EF4-FFF2-40B4-BE49-F238E27FC236}">
                <a16:creationId xmlns:a16="http://schemas.microsoft.com/office/drawing/2014/main" id="{AF9D5603-0211-457F-9F22-819EED99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1657">
            <a:extLst xmlns:a="http://schemas.openxmlformats.org/drawingml/2006/main">
              <a:ext uri="{FF2B5EF4-FFF2-40B4-BE49-F238E27FC236}">
                <a16:creationId xmlns:a16="http://schemas.microsoft.com/office/drawing/2014/main" id="{B91D3722-4A1D-47FC-9D96-7AB30CF3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8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WHEN</a:t>
            </a:r>
          </a:p>
        </p:txBody>
      </p:sp>
      <p:sp>
        <p:nvSpPr>
          <p:cNvPr id="12" name="text-1658">
            <a:extLst xmlns:a="http://schemas.openxmlformats.org/drawingml/2006/main">
              <a:ext uri="{FF2B5EF4-FFF2-40B4-BE49-F238E27FC236}">
                <a16:creationId xmlns:a16="http://schemas.microsoft.com/office/drawing/2014/main" id="{86BF8EC6-45E1-4700-8269-965BF34C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排程｜何時做</a:t>
            </a:r>
          </a:p>
        </p:txBody>
      </p:sp>
      <p:sp>
        <p:nvSpPr>
          <p:cNvPr id="13" name="text-1659">
            <a:extLst xmlns:a="http://schemas.openxmlformats.org/drawingml/2006/main">
              <a:ext uri="{FF2B5EF4-FFF2-40B4-BE49-F238E27FC236}">
                <a16:creationId xmlns:a16="http://schemas.microsoft.com/office/drawing/2014/main" id="{EDE98E27-49F9-4A06-ACF3-B133DF62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一次執行、固定時間，或由 Gmail／主題條件觸發。</a:t>
            </a:r>
          </a:p>
        </p:txBody>
      </p:sp>
      <p:sp>
        <p:nvSpPr>
          <p:cNvPr id="14" name="shape-1660">
            <a:extLst xmlns:a="http://schemas.openxmlformats.org/drawingml/2006/main">
              <a:ext uri="{FF2B5EF4-FFF2-40B4-BE49-F238E27FC236}">
                <a16:creationId xmlns:a16="http://schemas.microsoft.com/office/drawing/2014/main" id="{05FB4FE7-1452-4F10-9DFC-A12743B9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1661">
            <a:extLst xmlns:a="http://schemas.openxmlformats.org/drawingml/2006/main">
              <a:ext uri="{FF2B5EF4-FFF2-40B4-BE49-F238E27FC236}">
                <a16:creationId xmlns:a16="http://schemas.microsoft.com/office/drawing/2014/main" id="{A840539E-1027-47D8-A6CB-75ABA615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HOW</a:t>
            </a:r>
          </a:p>
        </p:txBody>
      </p:sp>
      <p:sp>
        <p:nvSpPr>
          <p:cNvPr id="16" name="text-1662">
            <a:extLst xmlns:a="http://schemas.openxmlformats.org/drawingml/2006/main">
              <a:ext uri="{FF2B5EF4-FFF2-40B4-BE49-F238E27FC236}">
                <a16:creationId xmlns:a16="http://schemas.microsoft.com/office/drawing/2014/main" id="{A50906EE-EC80-4292-B48D-BC9F4D8A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Skill｜如何做</a:t>
            </a:r>
          </a:p>
        </p:txBody>
      </p:sp>
      <p:sp>
        <p:nvSpPr>
          <p:cNvPr id="17" name="text-1663">
            <a:extLst xmlns:a="http://schemas.openxmlformats.org/drawingml/2006/main">
              <a:ext uri="{FF2B5EF4-FFF2-40B4-BE49-F238E27FC236}">
                <a16:creationId xmlns:a16="http://schemas.microsoft.com/office/drawing/2014/main" id="{A3C010D3-6559-421B-899B-D7759FDD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把規則、參考資料、步驟與檢查方式變成可重用方法。</a:t>
            </a:r>
          </a:p>
        </p:txBody>
      </p:sp>
      <p:sp>
        <p:nvSpPr>
          <p:cNvPr id="18" name="shape-1664">
            <a:extLst xmlns:a="http://schemas.openxmlformats.org/drawingml/2006/main">
              <a:ext uri="{FF2B5EF4-FFF2-40B4-BE49-F238E27FC236}">
                <a16:creationId xmlns:a16="http://schemas.microsoft.com/office/drawing/2014/main" id="{27B87A91-F882-49CA-903A-B38B5772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1665">
            <a:extLst xmlns:a="http://schemas.openxmlformats.org/drawingml/2006/main">
              <a:ext uri="{FF2B5EF4-FFF2-40B4-BE49-F238E27FC236}">
                <a16:creationId xmlns:a16="http://schemas.microsoft.com/office/drawing/2014/main" id="{5381FB9D-1F8A-4786-A5E4-25A1CB2F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USE</a:t>
            </a:r>
          </a:p>
        </p:txBody>
      </p:sp>
      <p:sp>
        <p:nvSpPr>
          <p:cNvPr id="20" name="text-1666">
            <a:extLst xmlns:a="http://schemas.openxmlformats.org/drawingml/2006/main">
              <a:ext uri="{FF2B5EF4-FFF2-40B4-BE49-F238E27FC236}">
                <a16:creationId xmlns:a16="http://schemas.microsoft.com/office/drawing/2014/main" id="{505651A1-26BF-4481-940E-D42485F9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連結｜用什麼</a:t>
            </a:r>
          </a:p>
        </p:txBody>
      </p:sp>
      <p:sp>
        <p:nvSpPr>
          <p:cNvPr id="21" name="text-1667">
            <a:extLst xmlns:a="http://schemas.openxmlformats.org/drawingml/2006/main">
              <a:ext uri="{FF2B5EF4-FFF2-40B4-BE49-F238E27FC236}">
                <a16:creationId xmlns:a16="http://schemas.microsoft.com/office/drawing/2014/main" id="{4AFA1B62-A3D6-465A-B887-6E4D9B16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依授權連接 Notebook、Workspace 等應用；先確認可見範圍。</a:t>
            </a:r>
          </a:p>
        </p:txBody>
      </p:sp>
      <p:sp>
        <p:nvSpPr>
          <p:cNvPr id="22" name="text-2395">
            <a:extLst xmlns:a="http://schemas.openxmlformats.org/drawingml/2006/main">
              <a:ext uri="{FF2B5EF4-FFF2-40B4-BE49-F238E27FC236}">
                <a16:creationId xmlns:a16="http://schemas.microsoft.com/office/drawing/2014/main" id="{E868B2B2-D58C-417B-AD13-E59ADF51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5eb74df6fcf044c6"/>
              </a:rPr>
              <a:t>Google 排程說明 ↗</a:t>
            </a:r>
          </a:p>
        </p:txBody>
      </p:sp>
      <p:sp>
        <p:nvSpPr>
          <p:cNvPr id="23" name="shape-2473">
            <a:extLst xmlns:a="http://schemas.openxmlformats.org/drawingml/2006/main">
              <a:ext uri="{FF2B5EF4-FFF2-40B4-BE49-F238E27FC236}">
                <a16:creationId xmlns:a16="http://schemas.microsoft.com/office/drawing/2014/main" id="{1572AD7A-E682-44A6-B780-F00A7D03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699a35203c4498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25" name="text-2474">
            <a:extLst xmlns:a="http://schemas.openxmlformats.org/drawingml/2006/main">
              <a:ext uri="{FF2B5EF4-FFF2-40B4-BE49-F238E27FC236}">
                <a16:creationId xmlns:a16="http://schemas.microsoft.com/office/drawing/2014/main" id="{24B5E681-B2F8-4678-BC0D-6C333443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Google 排程說明</a:t>
            </a:r>
          </a:p>
        </p:txBody>
      </p:sp>
    </p:spTree>
    <p:extLst>
      <p:ext uri="{BB962C8B-B14F-4D97-AF65-F5344CB8AC3E}">
        <p14:creationId xmlns:p14="http://schemas.microsoft.com/office/powerpoint/2010/main" val="45508946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1668">
            <a:extLst xmlns:a="http://schemas.openxmlformats.org/drawingml/2006/main">
              <a:ext uri="{FF2B5EF4-FFF2-40B4-BE49-F238E27FC236}">
                <a16:creationId xmlns:a16="http://schemas.microsoft.com/office/drawing/2014/main" id="{DCEC0A2A-B714-4408-B723-692D36F3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HANDS-ON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AF1DFB-EC01-42DB-AD3A-07371CB1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實作｜建立每週教學研究助理排程</a:t>
            </a:r>
          </a:p>
        </p:txBody>
      </p:sp>
      <p:cxnSp>
        <p:nvCxnSpPr>
          <p:cNvPr id="25" name="shape-1669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670">
            <a:extLst xmlns:a="http://schemas.openxmlformats.org/drawingml/2006/main">
              <a:ext uri="{FF2B5EF4-FFF2-40B4-BE49-F238E27FC236}">
                <a16:creationId xmlns:a16="http://schemas.microsoft.com/office/drawing/2014/main" id="{6DAE38F8-F820-486F-BE03-3450CCF6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EE05891-CFAC-4F30-8783-0FA67A62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32</a:t>
            </a:r>
          </a:p>
        </p:txBody>
      </p:sp>
      <p:sp>
        <p:nvSpPr>
          <p:cNvPr id="6" name="text-1671">
            <a:extLst xmlns:a="http://schemas.openxmlformats.org/drawingml/2006/main">
              <a:ext uri="{FF2B5EF4-FFF2-40B4-BE49-F238E27FC236}">
                <a16:creationId xmlns:a16="http://schemas.microsoft.com/office/drawing/2014/main" id="{53CDC6A2-682E-4370-8882-9F1F6753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0002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20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分鐘</a:t>
            </a:r>
          </a:p>
        </p:txBody>
      </p:sp>
      <p:sp>
        <p:nvSpPr>
          <p:cNvPr id="7" name="text-1672">
            <a:extLst xmlns:a="http://schemas.openxmlformats.org/drawingml/2006/main">
              <a:ext uri="{FF2B5EF4-FFF2-40B4-BE49-F238E27FC236}">
                <a16:creationId xmlns:a16="http://schemas.microsoft.com/office/drawing/2014/main" id="{4DFC69F0-1FBA-4CBB-A576-46D6602D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335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操作步驟</a:t>
            </a:r>
          </a:p>
        </p:txBody>
      </p:sp>
      <p:sp>
        <p:nvSpPr>
          <p:cNvPr id="8" name="text-1673">
            <a:extLst xmlns:a="http://schemas.openxmlformats.org/drawingml/2006/main">
              <a:ext uri="{FF2B5EF4-FFF2-40B4-BE49-F238E27FC236}">
                <a16:creationId xmlns:a16="http://schemas.microsoft.com/office/drawing/2014/main" id="{FAA47DB7-5258-4FC4-9E33-54481FD7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00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1674">
            <a:extLst xmlns:a="http://schemas.openxmlformats.org/drawingml/2006/main">
              <a:ext uri="{FF2B5EF4-FFF2-40B4-BE49-F238E27FC236}">
                <a16:creationId xmlns:a16="http://schemas.microsoft.com/office/drawing/2014/main" id="{9B326212-5250-4E7A-91E3-651C5D2A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003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建立或選定 Gemini Notebook 來源</a:t>
            </a:r>
          </a:p>
        </p:txBody>
      </p:sp>
      <p:sp>
        <p:nvSpPr>
          <p:cNvPr id="10" name="text-1675">
            <a:extLst xmlns:a="http://schemas.openxmlformats.org/drawingml/2006/main">
              <a:ext uri="{FF2B5EF4-FFF2-40B4-BE49-F238E27FC236}">
                <a16:creationId xmlns:a16="http://schemas.microsoft.com/office/drawing/2014/main" id="{BA9752CC-6767-4B58-8198-7FB4D8CF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05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1" name="text-1676">
            <a:extLst xmlns:a="http://schemas.openxmlformats.org/drawingml/2006/main">
              <a:ext uri="{FF2B5EF4-FFF2-40B4-BE49-F238E27FC236}">
                <a16:creationId xmlns:a16="http://schemas.microsoft.com/office/drawing/2014/main" id="{885970ED-D71A-476E-BD6B-039DA27B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051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建立 Skill：摘要、點子與待查證事項</a:t>
            </a:r>
          </a:p>
        </p:txBody>
      </p:sp>
      <p:sp>
        <p:nvSpPr>
          <p:cNvPr id="12" name="text-1677">
            <a:extLst xmlns:a="http://schemas.openxmlformats.org/drawingml/2006/main">
              <a:ext uri="{FF2B5EF4-FFF2-40B4-BE49-F238E27FC236}">
                <a16:creationId xmlns:a16="http://schemas.microsoft.com/office/drawing/2014/main" id="{FDCB329A-6D40-4368-A404-DF380D8D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810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3" name="text-1678">
            <a:extLst xmlns:a="http://schemas.openxmlformats.org/drawingml/2006/main">
              <a:ext uri="{FF2B5EF4-FFF2-40B4-BE49-F238E27FC236}">
                <a16:creationId xmlns:a16="http://schemas.microsoft.com/office/drawing/2014/main" id="{CF22F361-25FD-4D7A-BFA7-A1B56933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100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設定每週時間，輸出到指定文件</a:t>
            </a:r>
          </a:p>
        </p:txBody>
      </p:sp>
      <p:sp>
        <p:nvSpPr>
          <p:cNvPr id="14" name="text-1679">
            <a:extLst xmlns:a="http://schemas.openxmlformats.org/drawingml/2006/main">
              <a:ext uri="{FF2B5EF4-FFF2-40B4-BE49-F238E27FC236}">
                <a16:creationId xmlns:a16="http://schemas.microsoft.com/office/drawing/2014/main" id="{1946657F-86F3-4AF4-9EE1-CDC55E3B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14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15" name="text-1680">
            <a:extLst xmlns:a="http://schemas.openxmlformats.org/drawingml/2006/main">
              <a:ext uri="{FF2B5EF4-FFF2-40B4-BE49-F238E27FC236}">
                <a16:creationId xmlns:a16="http://schemas.microsoft.com/office/drawing/2014/main" id="{51BCE2D5-7683-4B85-85E1-6CF29C38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148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隔週查看草稿，人工確認後再採用</a:t>
            </a:r>
          </a:p>
        </p:txBody>
      </p:sp>
      <p:sp>
        <p:nvSpPr>
          <p:cNvPr id="16" name="shape-1681">
            <a:extLst xmlns:a="http://schemas.openxmlformats.org/drawingml/2006/main">
              <a:ext uri="{FF2B5EF4-FFF2-40B4-BE49-F238E27FC236}">
                <a16:creationId xmlns:a16="http://schemas.microsoft.com/office/drawing/2014/main" id="{C269A9D0-2365-4912-B37E-CE8AF689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90700"/>
            <a:ext cx="2362200" cy="39052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7" name="text-1682">
            <a:extLst xmlns:a="http://schemas.openxmlformats.org/drawingml/2006/main">
              <a:ext uri="{FF2B5EF4-FFF2-40B4-BE49-F238E27FC236}">
                <a16:creationId xmlns:a16="http://schemas.microsoft.com/office/drawing/2014/main" id="{0221B4FE-1151-4E9C-8AB8-EB69B2E8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5740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rPr>
              <a:t>完成條件</a:t>
            </a:r>
          </a:p>
        </p:txBody>
      </p:sp>
      <p:sp>
        <p:nvSpPr>
          <p:cNvPr id="18" name="text-1683">
            <a:extLst xmlns:a="http://schemas.openxmlformats.org/drawingml/2006/main">
              <a:ext uri="{FF2B5EF4-FFF2-40B4-BE49-F238E27FC236}">
                <a16:creationId xmlns:a16="http://schemas.microsoft.com/office/drawing/2014/main" id="{5EE5661A-1ADD-446C-B958-00581EC8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05100"/>
            <a:ext cx="18669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只讀指定來源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輸出格式固定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不直接寄送或發布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留下人工檢查紀錄</a:t>
            </a:r>
          </a:p>
        </p:txBody>
      </p:sp>
      <p:sp>
        <p:nvSpPr>
          <p:cNvPr id="19" name="text-2393">
            <a:extLst xmlns:a="http://schemas.openxmlformats.org/drawingml/2006/main">
              <a:ext uri="{FF2B5EF4-FFF2-40B4-BE49-F238E27FC236}">
                <a16:creationId xmlns:a16="http://schemas.microsoft.com/office/drawing/2014/main" id="{A0448E2B-5F86-45C8-B37E-FA6A4B68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1de3c57f96bb49bd"/>
              </a:rPr>
              <a:t>Google 排程說明 ↗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4cfa20d662344197"/>
              </a:rPr>
              <a:t>影片教學 ↗</a:t>
            </a:r>
          </a:p>
        </p:txBody>
      </p:sp>
      <p:sp>
        <p:nvSpPr>
          <p:cNvPr id="20" name="shape-2475">
            <a:extLst xmlns:a="http://schemas.openxmlformats.org/drawingml/2006/main">
              <a:ext uri="{FF2B5EF4-FFF2-40B4-BE49-F238E27FC236}">
                <a16:creationId xmlns:a16="http://schemas.microsoft.com/office/drawing/2014/main" id="{831D711F-49F8-4DEB-95A8-30C7126E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589178380340b3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22" name="text-2476">
            <a:extLst xmlns:a="http://schemas.openxmlformats.org/drawingml/2006/main">
              <a:ext uri="{FF2B5EF4-FFF2-40B4-BE49-F238E27FC236}">
                <a16:creationId xmlns:a16="http://schemas.microsoft.com/office/drawing/2014/main" id="{E7814A9E-66E7-4A68-AC29-2C560A9A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Google 排程說明</a:t>
            </a:r>
          </a:p>
        </p:txBody>
      </p:sp>
    </p:spTree>
    <p:extLst>
      <p:ext uri="{BB962C8B-B14F-4D97-AF65-F5344CB8AC3E}">
        <p14:creationId xmlns:p14="http://schemas.microsoft.com/office/powerpoint/2010/main" val="120938370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1684">
            <a:extLst xmlns:a="http://schemas.openxmlformats.org/drawingml/2006/main">
              <a:ext uri="{FF2B5EF4-FFF2-40B4-BE49-F238E27FC236}">
                <a16:creationId xmlns:a16="http://schemas.microsoft.com/office/drawing/2014/main" id="{65EA8CDA-2989-4E8E-A6D8-FAE1DEE7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LEARNING JOURNEY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5B3E25-ED57-4983-8034-AE5791DE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學習歷程：一次成果變成可重複系統</a:t>
            </a:r>
          </a:p>
        </p:txBody>
      </p:sp>
      <p:cxnSp>
        <p:nvCxnSpPr>
          <p:cNvPr id="30" name="shape-1685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686">
            <a:extLst xmlns:a="http://schemas.openxmlformats.org/drawingml/2006/main">
              <a:ext uri="{FF2B5EF4-FFF2-40B4-BE49-F238E27FC236}">
                <a16:creationId xmlns:a16="http://schemas.microsoft.com/office/drawing/2014/main" id="{CEA5556B-B15A-4C2E-8117-A3CEA94C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1C02D18-9D8B-4E01-B8BF-2231D53B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33</a:t>
            </a:r>
          </a:p>
        </p:txBody>
      </p:sp>
      <p:sp>
        <p:nvSpPr>
          <p:cNvPr id="6" name="shape-1687">
            <a:extLst xmlns:a="http://schemas.openxmlformats.org/drawingml/2006/main">
              <a:ext uri="{FF2B5EF4-FFF2-40B4-BE49-F238E27FC236}">
                <a16:creationId xmlns:a16="http://schemas.microsoft.com/office/drawing/2014/main" id="{AF20A15B-EE3B-45B3-AD23-6CA0ACC7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1688">
            <a:extLst xmlns:a="http://schemas.openxmlformats.org/drawingml/2006/main">
              <a:ext uri="{FF2B5EF4-FFF2-40B4-BE49-F238E27FC236}">
                <a16:creationId xmlns:a16="http://schemas.microsoft.com/office/drawing/2014/main" id="{B86A78E8-A0EE-4CC1-8CD7-014393BE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1689">
            <a:extLst xmlns:a="http://schemas.openxmlformats.org/drawingml/2006/main">
              <a:ext uri="{FF2B5EF4-FFF2-40B4-BE49-F238E27FC236}">
                <a16:creationId xmlns:a16="http://schemas.microsoft.com/office/drawing/2014/main" id="{B0A0644C-2688-44BF-BABC-C9CE3AD1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一次成果</a:t>
            </a:r>
          </a:p>
        </p:txBody>
      </p:sp>
      <p:sp>
        <p:nvSpPr>
          <p:cNvPr id="9" name="text-1690">
            <a:extLst xmlns:a="http://schemas.openxmlformats.org/drawingml/2006/main">
              <a:ext uri="{FF2B5EF4-FFF2-40B4-BE49-F238E27FC236}">
                <a16:creationId xmlns:a16="http://schemas.microsoft.com/office/drawing/2014/main" id="{27F3FD27-BC44-4F39-AC23-0C4169AE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先完成一件真實工作，觀察哪些步驟最耗時、最容易漏。</a:t>
            </a:r>
          </a:p>
        </p:txBody>
      </p:sp>
      <p:sp>
        <p:nvSpPr>
          <p:cNvPr id="10" name="shape-1691">
            <a:extLst xmlns:a="http://schemas.openxmlformats.org/drawingml/2006/main">
              <a:ext uri="{FF2B5EF4-FFF2-40B4-BE49-F238E27FC236}">
                <a16:creationId xmlns:a16="http://schemas.microsoft.com/office/drawing/2014/main" id="{ED7B954E-32A5-4A7E-8C7C-02BACDF8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1692">
            <a:extLst xmlns:a="http://schemas.openxmlformats.org/drawingml/2006/main">
              <a:ext uri="{FF2B5EF4-FFF2-40B4-BE49-F238E27FC236}">
                <a16:creationId xmlns:a16="http://schemas.microsoft.com/office/drawing/2014/main" id="{4CC98098-6907-41D8-A8DB-D7347129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1693">
            <a:extLst xmlns:a="http://schemas.openxmlformats.org/drawingml/2006/main">
              <a:ext uri="{FF2B5EF4-FFF2-40B4-BE49-F238E27FC236}">
                <a16:creationId xmlns:a16="http://schemas.microsoft.com/office/drawing/2014/main" id="{8110D426-401C-41B6-BC05-BF96D6DA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抽出規則</a:t>
            </a:r>
          </a:p>
        </p:txBody>
      </p:sp>
      <p:sp>
        <p:nvSpPr>
          <p:cNvPr id="13" name="text-1694">
            <a:extLst xmlns:a="http://schemas.openxmlformats.org/drawingml/2006/main">
              <a:ext uri="{FF2B5EF4-FFF2-40B4-BE49-F238E27FC236}">
                <a16:creationId xmlns:a16="http://schemas.microsoft.com/office/drawing/2014/main" id="{CFCE6E45-8090-4E38-89AC-57C9C294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把來源、格式、檢查與停止條件整理成自己的 Skill。</a:t>
            </a:r>
          </a:p>
        </p:txBody>
      </p:sp>
      <p:sp>
        <p:nvSpPr>
          <p:cNvPr id="14" name="shape-1695">
            <a:extLst xmlns:a="http://schemas.openxmlformats.org/drawingml/2006/main">
              <a:ext uri="{FF2B5EF4-FFF2-40B4-BE49-F238E27FC236}">
                <a16:creationId xmlns:a16="http://schemas.microsoft.com/office/drawing/2014/main" id="{1548A40F-741B-4206-B1C4-D783E355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1696">
            <a:extLst xmlns:a="http://schemas.openxmlformats.org/drawingml/2006/main">
              <a:ext uri="{FF2B5EF4-FFF2-40B4-BE49-F238E27FC236}">
                <a16:creationId xmlns:a16="http://schemas.microsoft.com/office/drawing/2014/main" id="{D1E758B0-A37F-4093-AD99-EEA8484A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1697">
            <a:extLst xmlns:a="http://schemas.openxmlformats.org/drawingml/2006/main">
              <a:ext uri="{FF2B5EF4-FFF2-40B4-BE49-F238E27FC236}">
                <a16:creationId xmlns:a16="http://schemas.microsoft.com/office/drawing/2014/main" id="{CDECCE26-1008-4D85-964C-42E989E2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排程重跑</a:t>
            </a:r>
          </a:p>
        </p:txBody>
      </p:sp>
      <p:sp>
        <p:nvSpPr>
          <p:cNvPr id="17" name="text-1698">
            <a:extLst xmlns:a="http://schemas.openxmlformats.org/drawingml/2006/main">
              <a:ext uri="{FF2B5EF4-FFF2-40B4-BE49-F238E27FC236}">
                <a16:creationId xmlns:a16="http://schemas.microsoft.com/office/drawing/2014/main" id="{081CD0D1-A921-43B3-AD3F-142F81DF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在固定時間重新執行，讓 Agent 持續留下可比較的草稿。</a:t>
            </a:r>
          </a:p>
        </p:txBody>
      </p:sp>
      <p:sp>
        <p:nvSpPr>
          <p:cNvPr id="18" name="shape-1699">
            <a:extLst xmlns:a="http://schemas.openxmlformats.org/drawingml/2006/main">
              <a:ext uri="{FF2B5EF4-FFF2-40B4-BE49-F238E27FC236}">
                <a16:creationId xmlns:a16="http://schemas.microsoft.com/office/drawing/2014/main" id="{5A8AFA61-9158-43DC-99C1-C3A925C3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1700">
            <a:extLst xmlns:a="http://schemas.openxmlformats.org/drawingml/2006/main">
              <a:ext uri="{FF2B5EF4-FFF2-40B4-BE49-F238E27FC236}">
                <a16:creationId xmlns:a16="http://schemas.microsoft.com/office/drawing/2014/main" id="{536C1263-7D91-4491-9FE6-477118FB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1701">
            <a:extLst xmlns:a="http://schemas.openxmlformats.org/drawingml/2006/main">
              <a:ext uri="{FF2B5EF4-FFF2-40B4-BE49-F238E27FC236}">
                <a16:creationId xmlns:a16="http://schemas.microsoft.com/office/drawing/2014/main" id="{13D93699-55E3-4762-9CC6-6CF417C3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回顧進化</a:t>
            </a:r>
          </a:p>
        </p:txBody>
      </p:sp>
      <p:sp>
        <p:nvSpPr>
          <p:cNvPr id="21" name="text-1702">
            <a:extLst xmlns:a="http://schemas.openxmlformats.org/drawingml/2006/main">
              <a:ext uri="{FF2B5EF4-FFF2-40B4-BE49-F238E27FC236}">
                <a16:creationId xmlns:a16="http://schemas.microsoft.com/office/drawing/2014/main" id="{34471358-F53D-4DB3-A11F-980B903D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每次人工檢查後修正規則，逐步貼合自己的工作流與生活。</a:t>
            </a:r>
          </a:p>
        </p:txBody>
      </p:sp>
      <p:sp>
        <p:nvSpPr>
          <p:cNvPr id="22" name="text-2394">
            <a:extLst xmlns:a="http://schemas.openxmlformats.org/drawingml/2006/main">
              <a:ext uri="{FF2B5EF4-FFF2-40B4-BE49-F238E27FC236}">
                <a16:creationId xmlns:a16="http://schemas.microsoft.com/office/drawing/2014/main" id="{E231346A-EDB8-4DA9-AB74-3BC54CF3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b6689dedae734f7c"/>
              </a:rPr>
              <a:t>Google 排程說明 ↗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ffbad8bf8d7245f7"/>
              </a:rPr>
              <a:t>影片教學 ↗</a:t>
            </a:r>
          </a:p>
        </p:txBody>
      </p:sp>
      <p:sp>
        <p:nvSpPr>
          <p:cNvPr id="23" name="shape-2477">
            <a:extLst xmlns:a="http://schemas.openxmlformats.org/drawingml/2006/main">
              <a:ext uri="{FF2B5EF4-FFF2-40B4-BE49-F238E27FC236}">
                <a16:creationId xmlns:a16="http://schemas.microsoft.com/office/drawing/2014/main" id="{ED0B0B53-5888-4C4F-B079-60E47D3E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c375ecc87249db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5" name="text-2478">
            <a:extLst xmlns:a="http://schemas.openxmlformats.org/drawingml/2006/main">
              <a:ext uri="{FF2B5EF4-FFF2-40B4-BE49-F238E27FC236}">
                <a16:creationId xmlns:a16="http://schemas.microsoft.com/office/drawing/2014/main" id="{24BB2C0F-616C-41BD-BD80-3EBBED22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Spark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1ce9c92ebd4721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7" name="text-2479">
            <a:extLst xmlns:a="http://schemas.openxmlformats.org/drawingml/2006/main">
              <a:ext uri="{FF2B5EF4-FFF2-40B4-BE49-F238E27FC236}">
                <a16:creationId xmlns:a16="http://schemas.microsoft.com/office/drawing/2014/main" id="{C039A186-343B-48FD-8678-37944EF9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Google 排程說明</a:t>
            </a:r>
          </a:p>
        </p:txBody>
      </p:sp>
    </p:spTree>
    <p:extLst>
      <p:ext uri="{BB962C8B-B14F-4D97-AF65-F5344CB8AC3E}">
        <p14:creationId xmlns:p14="http://schemas.microsoft.com/office/powerpoint/2010/main" val="116809758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1703">
            <a:extLst xmlns:a="http://schemas.openxmlformats.org/drawingml/2006/main">
              <a:ext uri="{FF2B5EF4-FFF2-40B4-BE49-F238E27FC236}">
                <a16:creationId xmlns:a16="http://schemas.microsoft.com/office/drawing/2014/main" id="{8D6BAE68-E513-4BF1-B1FF-6F2495AD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REMOTE CONTROL · NEW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003431-3CC2-477F-8482-880CEE5A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Antigravity 最新功能：手機也能接手電腦 Agent</a:t>
            </a:r>
          </a:p>
        </p:txBody>
      </p:sp>
      <p:cxnSp>
        <p:nvCxnSpPr>
          <p:cNvPr id="28" name="shape-1704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705">
            <a:extLst xmlns:a="http://schemas.openxmlformats.org/drawingml/2006/main">
              <a:ext uri="{FF2B5EF4-FFF2-40B4-BE49-F238E27FC236}">
                <a16:creationId xmlns:a16="http://schemas.microsoft.com/office/drawing/2014/main" id="{6C025D10-BE4F-4801-A882-47D79EEB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C88C0FB-7ACA-4AE2-BE79-F4D81CDF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34</a:t>
            </a:r>
          </a:p>
        </p:txBody>
      </p:sp>
      <p:sp>
        <p:nvSpPr>
          <p:cNvPr id="6" name="shape-1706">
            <a:extLst xmlns:a="http://schemas.openxmlformats.org/drawingml/2006/main">
              <a:ext uri="{FF2B5EF4-FFF2-40B4-BE49-F238E27FC236}">
                <a16:creationId xmlns:a16="http://schemas.microsoft.com/office/drawing/2014/main" id="{87EAD045-444E-4506-AC83-FD0C53AE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1707">
            <a:extLst xmlns:a="http://schemas.openxmlformats.org/drawingml/2006/main">
              <a:ext uri="{FF2B5EF4-FFF2-40B4-BE49-F238E27FC236}">
                <a16:creationId xmlns:a16="http://schemas.microsoft.com/office/drawing/2014/main" id="{3F30F6BE-C7CF-41A6-A054-02ECF814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1708">
            <a:extLst xmlns:a="http://schemas.openxmlformats.org/drawingml/2006/main">
              <a:ext uri="{FF2B5EF4-FFF2-40B4-BE49-F238E27FC236}">
                <a16:creationId xmlns:a16="http://schemas.microsoft.com/office/drawing/2014/main" id="{5D342E24-BF48-4B84-B98A-9F98FE93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任務不中斷</a:t>
            </a:r>
          </a:p>
        </p:txBody>
      </p:sp>
      <p:sp>
        <p:nvSpPr>
          <p:cNvPr id="9" name="text-1709">
            <a:extLst xmlns:a="http://schemas.openxmlformats.org/drawingml/2006/main">
              <a:ext uri="{FF2B5EF4-FFF2-40B4-BE49-F238E27FC236}">
                <a16:creationId xmlns:a16="http://schemas.microsoft.com/office/drawing/2014/main" id="{B36C919B-7299-4674-B050-C382187E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電腦上的 Antigravity 持續保留本地工作環境；人離開座位後，長任務不必停在桌前。</a:t>
            </a:r>
          </a:p>
        </p:txBody>
      </p:sp>
      <p:sp>
        <p:nvSpPr>
          <p:cNvPr id="10" name="shape-1710">
            <a:extLst xmlns:a="http://schemas.openxmlformats.org/drawingml/2006/main">
              <a:ext uri="{FF2B5EF4-FFF2-40B4-BE49-F238E27FC236}">
                <a16:creationId xmlns:a16="http://schemas.microsoft.com/office/drawing/2014/main" id="{8F5F6592-F6C3-4563-8697-E47DBAF7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1711">
            <a:extLst xmlns:a="http://schemas.openxmlformats.org/drawingml/2006/main">
              <a:ext uri="{FF2B5EF4-FFF2-40B4-BE49-F238E27FC236}">
                <a16:creationId xmlns:a16="http://schemas.microsoft.com/office/drawing/2014/main" id="{D336951A-2B3F-4C62-AAFF-C718F4F4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1712">
            <a:extLst xmlns:a="http://schemas.openxmlformats.org/drawingml/2006/main">
              <a:ext uri="{FF2B5EF4-FFF2-40B4-BE49-F238E27FC236}">
                <a16:creationId xmlns:a16="http://schemas.microsoft.com/office/drawing/2014/main" id="{F898571B-7E56-4496-B752-AE492058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手機瀏覽器接手</a:t>
            </a:r>
          </a:p>
        </p:txBody>
      </p:sp>
      <p:sp>
        <p:nvSpPr>
          <p:cNvPr id="13" name="text-1713">
            <a:extLst xmlns:a="http://schemas.openxmlformats.org/drawingml/2006/main">
              <a:ext uri="{FF2B5EF4-FFF2-40B4-BE49-F238E27FC236}">
                <a16:creationId xmlns:a16="http://schemas.microsoft.com/office/drawing/2014/main" id="{92B5498F-E707-4689-AED1-07DFF380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從手機查看進行中的對話、啟動新任務、檢視計畫與 Agent 產物。</a:t>
            </a:r>
          </a:p>
        </p:txBody>
      </p:sp>
      <p:sp>
        <p:nvSpPr>
          <p:cNvPr id="14" name="shape-1714">
            <a:extLst xmlns:a="http://schemas.openxmlformats.org/drawingml/2006/main">
              <a:ext uri="{FF2B5EF4-FFF2-40B4-BE49-F238E27FC236}">
                <a16:creationId xmlns:a16="http://schemas.microsoft.com/office/drawing/2014/main" id="{D2811CB9-8A26-4C41-BA76-6230E95E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1715">
            <a:extLst xmlns:a="http://schemas.openxmlformats.org/drawingml/2006/main">
              <a:ext uri="{FF2B5EF4-FFF2-40B4-BE49-F238E27FC236}">
                <a16:creationId xmlns:a16="http://schemas.microsoft.com/office/drawing/2014/main" id="{0EBF103F-F918-4622-98E2-C98DCEE4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1716">
            <a:extLst xmlns:a="http://schemas.openxmlformats.org/drawingml/2006/main">
              <a:ext uri="{FF2B5EF4-FFF2-40B4-BE49-F238E27FC236}">
                <a16:creationId xmlns:a16="http://schemas.microsoft.com/office/drawing/2014/main" id="{6D89F8EF-0B4A-477E-9C99-96AF693B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想到就即時修正</a:t>
            </a:r>
          </a:p>
        </p:txBody>
      </p:sp>
      <p:sp>
        <p:nvSpPr>
          <p:cNvPr id="17" name="text-1717">
            <a:extLst xmlns:a="http://schemas.openxmlformats.org/drawingml/2006/main">
              <a:ext uri="{FF2B5EF4-FFF2-40B4-BE49-F238E27FC236}">
                <a16:creationId xmlns:a16="http://schemas.microsoft.com/office/drawing/2014/main" id="{04D3E815-071E-432C-8CC1-170D8F25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臨時想到新條件，可以透過手機補充指令，讓 Agent 繼續推進並回報結果。</a:t>
            </a:r>
          </a:p>
        </p:txBody>
      </p:sp>
      <p:sp>
        <p:nvSpPr>
          <p:cNvPr id="18" name="shape-1718">
            <a:extLst xmlns:a="http://schemas.openxmlformats.org/drawingml/2006/main">
              <a:ext uri="{FF2B5EF4-FFF2-40B4-BE49-F238E27FC236}">
                <a16:creationId xmlns:a16="http://schemas.microsoft.com/office/drawing/2014/main" id="{2A4F2914-6D0C-4150-A77B-3CB2BC21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1719">
            <a:extLst xmlns:a="http://schemas.openxmlformats.org/drawingml/2006/main">
              <a:ext uri="{FF2B5EF4-FFF2-40B4-BE49-F238E27FC236}">
                <a16:creationId xmlns:a16="http://schemas.microsoft.com/office/drawing/2014/main" id="{5CFAE31F-3BA5-4193-8D4C-B53D7504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1720">
            <a:extLst xmlns:a="http://schemas.openxmlformats.org/drawingml/2006/main">
              <a:ext uri="{FF2B5EF4-FFF2-40B4-BE49-F238E27FC236}">
                <a16:creationId xmlns:a16="http://schemas.microsoft.com/office/drawing/2014/main" id="{73303505-2E8D-4B42-B5F7-CB387A5D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逐步開放中</a:t>
            </a:r>
          </a:p>
        </p:txBody>
      </p:sp>
      <p:sp>
        <p:nvSpPr>
          <p:cNvPr id="21" name="text-1721">
            <a:extLst xmlns:a="http://schemas.openxmlformats.org/drawingml/2006/main">
              <a:ext uri="{FF2B5EF4-FFF2-40B4-BE49-F238E27FC236}">
                <a16:creationId xmlns:a16="http://schemas.microsoft.com/office/drawing/2014/main" id="{917E0E34-5484-4D1B-AB52-B3BA2D45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Remote Control 目前採 rollout；需同一 Google 帳號，且桌面端已出現可啟用的功能。</a:t>
            </a:r>
          </a:p>
        </p:txBody>
      </p:sp>
      <p:sp>
        <p:nvSpPr>
          <p:cNvPr id="22" name="text-2396">
            <a:extLst xmlns:a="http://schemas.openxmlformats.org/drawingml/2006/main">
              <a:ext uri="{FF2B5EF4-FFF2-40B4-BE49-F238E27FC236}">
                <a16:creationId xmlns:a16="http://schemas.microsoft.com/office/drawing/2014/main" id="{66283FE1-9FDC-4AF0-A369-AB8CFDF7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4c6141e962174611"/>
              </a:rPr>
              <a:t>Remote Control 官方說明 ↗</a:t>
            </a:r>
          </a:p>
        </p:txBody>
      </p:sp>
      <p:sp>
        <p:nvSpPr>
          <p:cNvPr id="23" name="shape-2480">
            <a:extLst xmlns:a="http://schemas.openxmlformats.org/drawingml/2006/main">
              <a:ext uri="{FF2B5EF4-FFF2-40B4-BE49-F238E27FC236}">
                <a16:creationId xmlns:a16="http://schemas.microsoft.com/office/drawing/2014/main" id="{086719C8-9B6C-4EBA-A751-8E6E904C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433b8ede294c91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25" name="text-2481">
            <a:extLst xmlns:a="http://schemas.openxmlformats.org/drawingml/2006/main">
              <a:ext uri="{FF2B5EF4-FFF2-40B4-BE49-F238E27FC236}">
                <a16:creationId xmlns:a16="http://schemas.microsoft.com/office/drawing/2014/main" id="{6B6D4369-B171-41FC-AC8C-F568C003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Remote Contr</a:t>
            </a:r>
          </a:p>
        </p:txBody>
      </p:sp>
    </p:spTree>
    <p:extLst>
      <p:ext uri="{BB962C8B-B14F-4D97-AF65-F5344CB8AC3E}">
        <p14:creationId xmlns:p14="http://schemas.microsoft.com/office/powerpoint/2010/main" val="126293620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ext-1722">
            <a:extLst xmlns:a="http://schemas.openxmlformats.org/drawingml/2006/main">
              <a:ext uri="{FF2B5EF4-FFF2-40B4-BE49-F238E27FC236}">
                <a16:creationId xmlns:a16="http://schemas.microsoft.com/office/drawing/2014/main" id="{59EBABF0-0756-40A5-9398-457ACE1A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REMOTE CONTROL WORKFLOW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EFC3F46-E293-45C5-B379-CCE693D1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手機遠端修正：四步把工作接回來</a:t>
            </a:r>
          </a:p>
        </p:txBody>
      </p:sp>
      <p:cxnSp>
        <p:nvCxnSpPr>
          <p:cNvPr id="36" name="shape-1723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724">
            <a:extLst xmlns:a="http://schemas.openxmlformats.org/drawingml/2006/main">
              <a:ext uri="{FF2B5EF4-FFF2-40B4-BE49-F238E27FC236}">
                <a16:creationId xmlns:a16="http://schemas.microsoft.com/office/drawing/2014/main" id="{D664117D-FD56-44EE-A09D-5E999B03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57AD9CB-5D6D-4127-9B46-AC1E0B41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35</a:t>
            </a:r>
          </a:p>
        </p:txBody>
      </p:sp>
      <p:sp>
        <p:nvSpPr>
          <p:cNvPr id="6" name="shape-1725">
            <a:extLst xmlns:a="http://schemas.openxmlformats.org/drawingml/2006/main">
              <a:ext uri="{FF2B5EF4-FFF2-40B4-BE49-F238E27FC236}">
                <a16:creationId xmlns:a16="http://schemas.microsoft.com/office/drawing/2014/main" id="{8A6ECAF0-0C4A-42AA-9FBE-F606FE6E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shape-1726">
            <a:extLst xmlns:a="http://schemas.openxmlformats.org/drawingml/2006/main">
              <a:ext uri="{FF2B5EF4-FFF2-40B4-BE49-F238E27FC236}">
                <a16:creationId xmlns:a16="http://schemas.microsoft.com/office/drawing/2014/main" id="{878D7EFB-1206-4F2B-997B-8BA8371E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727">
            <a:extLst xmlns:a="http://schemas.openxmlformats.org/drawingml/2006/main">
              <a:ext uri="{FF2B5EF4-FFF2-40B4-BE49-F238E27FC236}">
                <a16:creationId xmlns:a16="http://schemas.microsoft.com/office/drawing/2014/main" id="{1A404720-0A36-4079-AB63-09CBBC1C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1728">
            <a:extLst xmlns:a="http://schemas.openxmlformats.org/drawingml/2006/main">
              <a:ext uri="{FF2B5EF4-FFF2-40B4-BE49-F238E27FC236}">
                <a16:creationId xmlns:a16="http://schemas.microsoft.com/office/drawing/2014/main" id="{09B041EC-6AA5-4038-9F15-AB041C65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啟用</a:t>
            </a:r>
          </a:p>
        </p:txBody>
      </p:sp>
      <p:sp>
        <p:nvSpPr>
          <p:cNvPr id="10" name="text-1729">
            <a:extLst xmlns:a="http://schemas.openxmlformats.org/drawingml/2006/main">
              <a:ext uri="{FF2B5EF4-FFF2-40B4-BE49-F238E27FC236}">
                <a16:creationId xmlns:a16="http://schemas.microsoft.com/office/drawing/2014/main" id="{443303C8-58DD-4B89-BC27-68B01448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 2.0 → Settings → Account → Enable Remote Control</a:t>
            </a:r>
          </a:p>
        </p:txBody>
      </p:sp>
      <p:sp>
        <p:nvSpPr>
          <p:cNvPr id="11" name="text-1730">
            <a:extLst xmlns:a="http://schemas.openxmlformats.org/drawingml/2006/main">
              <a:ext uri="{FF2B5EF4-FFF2-40B4-BE49-F238E27FC236}">
                <a16:creationId xmlns:a16="http://schemas.microsoft.com/office/drawing/2014/main" id="{4D7474A0-E9BB-46CC-AF6E-D0EF8BF1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113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2" name="shape-1731">
            <a:extLst xmlns:a="http://schemas.openxmlformats.org/drawingml/2006/main">
              <a:ext uri="{FF2B5EF4-FFF2-40B4-BE49-F238E27FC236}">
                <a16:creationId xmlns:a16="http://schemas.microsoft.com/office/drawing/2014/main" id="{7073655F-6674-4CD3-915A-2A777270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838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3" name="shape-1732">
            <a:extLst xmlns:a="http://schemas.openxmlformats.org/drawingml/2006/main">
              <a:ext uri="{FF2B5EF4-FFF2-40B4-BE49-F238E27FC236}">
                <a16:creationId xmlns:a16="http://schemas.microsoft.com/office/drawing/2014/main" id="{C9CC256F-2791-4C3D-A435-27C62484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733">
            <a:extLst xmlns:a="http://schemas.openxmlformats.org/drawingml/2006/main">
              <a:ext uri="{FF2B5EF4-FFF2-40B4-BE49-F238E27FC236}">
                <a16:creationId xmlns:a16="http://schemas.microsoft.com/office/drawing/2014/main" id="{65A962D5-D4C9-4382-9225-B515C1A2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5" name="text-1734">
            <a:extLst xmlns:a="http://schemas.openxmlformats.org/drawingml/2006/main">
              <a:ext uri="{FF2B5EF4-FFF2-40B4-BE49-F238E27FC236}">
                <a16:creationId xmlns:a16="http://schemas.microsoft.com/office/drawing/2014/main" id="{868A29D6-8E2F-4404-8C77-93D5A7E9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連線</a:t>
            </a:r>
          </a:p>
        </p:txBody>
      </p:sp>
      <p:sp>
        <p:nvSpPr>
          <p:cNvPr id="16" name="text-1735">
            <a:extLst xmlns:a="http://schemas.openxmlformats.org/drawingml/2006/main">
              <a:ext uri="{FF2B5EF4-FFF2-40B4-BE49-F238E27FC236}">
                <a16:creationId xmlns:a16="http://schemas.microsoft.com/office/drawing/2014/main" id="{F7C4EABD-2ADB-4D4F-A30B-66B070A7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用手機瀏覽器開啟 Remote Control Dashboard</a:t>
            </a:r>
          </a:p>
        </p:txBody>
      </p:sp>
      <p:sp>
        <p:nvSpPr>
          <p:cNvPr id="17" name="text-1736">
            <a:extLst xmlns:a="http://schemas.openxmlformats.org/drawingml/2006/main">
              <a:ext uri="{FF2B5EF4-FFF2-40B4-BE49-F238E27FC236}">
                <a16:creationId xmlns:a16="http://schemas.microsoft.com/office/drawing/2014/main" id="{E3FAC2EC-6944-4248-A855-A4E51D05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8" name="shape-1737">
            <a:extLst xmlns:a="http://schemas.openxmlformats.org/drawingml/2006/main">
              <a:ext uri="{FF2B5EF4-FFF2-40B4-BE49-F238E27FC236}">
                <a16:creationId xmlns:a16="http://schemas.microsoft.com/office/drawing/2014/main" id="{C435FCF6-024F-4CAA-A3B4-A23449D5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shape-1738">
            <a:extLst xmlns:a="http://schemas.openxmlformats.org/drawingml/2006/main">
              <a:ext uri="{FF2B5EF4-FFF2-40B4-BE49-F238E27FC236}">
                <a16:creationId xmlns:a16="http://schemas.microsoft.com/office/drawing/2014/main" id="{45FA0E2F-3A0B-419F-B47F-6BDFAE35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739">
            <a:extLst xmlns:a="http://schemas.openxmlformats.org/drawingml/2006/main">
              <a:ext uri="{FF2B5EF4-FFF2-40B4-BE49-F238E27FC236}">
                <a16:creationId xmlns:a16="http://schemas.microsoft.com/office/drawing/2014/main" id="{2CF50AE4-52B1-45D4-8006-B3522E5A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text-1740">
            <a:extLst xmlns:a="http://schemas.openxmlformats.org/drawingml/2006/main">
              <a:ext uri="{FF2B5EF4-FFF2-40B4-BE49-F238E27FC236}">
                <a16:creationId xmlns:a16="http://schemas.microsoft.com/office/drawing/2014/main" id="{1EFAB25E-24FC-4FB9-8576-BFD15568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選機</a:t>
            </a:r>
          </a:p>
        </p:txBody>
      </p:sp>
      <p:sp>
        <p:nvSpPr>
          <p:cNvPr id="22" name="text-1741">
            <a:extLst xmlns:a="http://schemas.openxmlformats.org/drawingml/2006/main">
              <a:ext uri="{FF2B5EF4-FFF2-40B4-BE49-F238E27FC236}">
                <a16:creationId xmlns:a16="http://schemas.microsoft.com/office/drawing/2014/main" id="{BF38C1EA-638D-4467-BED0-AE495607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使用同一 Google 帳號，在 instance switcher 選工作電腦</a:t>
            </a:r>
          </a:p>
        </p:txBody>
      </p:sp>
      <p:sp>
        <p:nvSpPr>
          <p:cNvPr id="23" name="text-1742">
            <a:extLst xmlns:a="http://schemas.openxmlformats.org/drawingml/2006/main">
              <a:ext uri="{FF2B5EF4-FFF2-40B4-BE49-F238E27FC236}">
                <a16:creationId xmlns:a16="http://schemas.microsoft.com/office/drawing/2014/main" id="{0749280D-8A36-4111-AC25-CD53927D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24" name="shape-1743">
            <a:extLst xmlns:a="http://schemas.openxmlformats.org/drawingml/2006/main">
              <a:ext uri="{FF2B5EF4-FFF2-40B4-BE49-F238E27FC236}">
                <a16:creationId xmlns:a16="http://schemas.microsoft.com/office/drawing/2014/main" id="{BF01B3D1-9B4C-4438-A690-74EE4327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25" name="shape-1744">
            <a:extLst xmlns:a="http://schemas.openxmlformats.org/drawingml/2006/main">
              <a:ext uri="{FF2B5EF4-FFF2-40B4-BE49-F238E27FC236}">
                <a16:creationId xmlns:a16="http://schemas.microsoft.com/office/drawing/2014/main" id="{F594F44F-8985-401E-9036-94A471C5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1745">
            <a:extLst xmlns:a="http://schemas.openxmlformats.org/drawingml/2006/main">
              <a:ext uri="{FF2B5EF4-FFF2-40B4-BE49-F238E27FC236}">
                <a16:creationId xmlns:a16="http://schemas.microsoft.com/office/drawing/2014/main" id="{C1516858-77F2-43B8-ADEA-E73A68F2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7" name="text-1746">
            <a:extLst xmlns:a="http://schemas.openxmlformats.org/drawingml/2006/main">
              <a:ext uri="{FF2B5EF4-FFF2-40B4-BE49-F238E27FC236}">
                <a16:creationId xmlns:a16="http://schemas.microsoft.com/office/drawing/2014/main" id="{1B2662FC-1FCA-4865-8AA3-6159BEEC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修正</a:t>
            </a:r>
          </a:p>
        </p:txBody>
      </p:sp>
      <p:sp>
        <p:nvSpPr>
          <p:cNvPr id="28" name="text-1747">
            <a:extLst xmlns:a="http://schemas.openxmlformats.org/drawingml/2006/main">
              <a:ext uri="{FF2B5EF4-FFF2-40B4-BE49-F238E27FC236}">
                <a16:creationId xmlns:a16="http://schemas.microsoft.com/office/drawing/2014/main" id="{C21B9309-186A-4979-A741-28C1D326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查看對話、補充指令、檢視計畫與 artifacts；主機保持連線</a:t>
            </a:r>
          </a:p>
        </p:txBody>
      </p:sp>
      <p:sp>
        <p:nvSpPr>
          <p:cNvPr id="29" name="text-1748">
            <a:extLst xmlns:a="http://schemas.openxmlformats.org/drawingml/2006/main">
              <a:ext uri="{FF2B5EF4-FFF2-40B4-BE49-F238E27FC236}">
                <a16:creationId xmlns:a16="http://schemas.microsoft.com/office/drawing/2014/main" id="{EEC19F3C-BBFB-43E7-AA80-28571C44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14950"/>
            <a:ext cx="5638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152400" tIns="57150" rIns="1524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每一步都留下可檢查的成果</a:t>
            </a:r>
          </a:p>
        </p:txBody>
      </p:sp>
      <p:sp>
        <p:nvSpPr>
          <p:cNvPr id="30" name="text-2397">
            <a:extLst xmlns:a="http://schemas.openxmlformats.org/drawingml/2006/main">
              <a:ext uri="{FF2B5EF4-FFF2-40B4-BE49-F238E27FC236}">
                <a16:creationId xmlns:a16="http://schemas.microsoft.com/office/drawing/2014/main" id="{49B7A7BB-67C1-4C7F-BB42-312048BE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b83640087b154af8"/>
              </a:rPr>
              <a:t>Remote Control 官方說明 ↗</a:t>
            </a:r>
          </a:p>
        </p:txBody>
      </p:sp>
      <p:sp>
        <p:nvSpPr>
          <p:cNvPr id="31" name="shape-2482">
            <a:extLst xmlns:a="http://schemas.openxmlformats.org/drawingml/2006/main">
              <a:ext uri="{FF2B5EF4-FFF2-40B4-BE49-F238E27FC236}">
                <a16:creationId xmlns:a16="http://schemas.microsoft.com/office/drawing/2014/main" id="{81221AFC-15BD-4691-8BB6-1B4DA047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eecd536ed46c1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33" name="text-2483">
            <a:extLst xmlns:a="http://schemas.openxmlformats.org/drawingml/2006/main">
              <a:ext uri="{FF2B5EF4-FFF2-40B4-BE49-F238E27FC236}">
                <a16:creationId xmlns:a16="http://schemas.microsoft.com/office/drawing/2014/main" id="{DEC2FFDA-EAF6-4DDA-9FA4-86A8078D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Remote Contr</a:t>
            </a:r>
          </a:p>
        </p:txBody>
      </p:sp>
    </p:spTree>
    <p:extLst>
      <p:ext uri="{BB962C8B-B14F-4D97-AF65-F5344CB8AC3E}">
        <p14:creationId xmlns:p14="http://schemas.microsoft.com/office/powerpoint/2010/main" val="126784295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1749">
            <a:extLst xmlns:a="http://schemas.openxmlformats.org/drawingml/2006/main">
              <a:ext uri="{FF2B5EF4-FFF2-40B4-BE49-F238E27FC236}">
                <a16:creationId xmlns:a16="http://schemas.microsoft.com/office/drawing/2014/main" id="{1D27F8EC-9290-435B-9087-E22F2019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4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84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2" name="text-1750">
            <a:extLst xmlns:a="http://schemas.openxmlformats.org/drawingml/2006/main">
              <a:ext uri="{FF2B5EF4-FFF2-40B4-BE49-F238E27FC236}">
                <a16:creationId xmlns:a16="http://schemas.microsoft.com/office/drawing/2014/main" id="{7E9FA068-35CE-4F60-A30E-48471BBC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40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Codex</a:t>
            </a:r>
          </a:p>
        </p:txBody>
      </p:sp>
      <p:sp>
        <p:nvSpPr>
          <p:cNvPr id="3" name="text-1751">
            <a:extLst xmlns:a="http://schemas.openxmlformats.org/drawingml/2006/main">
              <a:ext uri="{FF2B5EF4-FFF2-40B4-BE49-F238E27FC236}">
                <a16:creationId xmlns:a16="http://schemas.microsoft.com/office/drawing/2014/main" id="{49E8AB92-A208-4B45-8237-BCA58361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8477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ChatGPT Voice 可在桌面版 Work／Codex 中直接口述任務、追問進度與協調 Agent；Codex 也能讀取工作區脈絡、修改檔案、執行檢查並交付可追查成果。</a:t>
            </a:r>
          </a:p>
        </p:txBody>
      </p:sp>
      <p:sp>
        <p:nvSpPr>
          <p:cNvPr id="4" name="shape-1752">
            <a:extLst xmlns:a="http://schemas.openxmlformats.org/drawingml/2006/main">
              <a:ext uri="{FF2B5EF4-FFF2-40B4-BE49-F238E27FC236}">
                <a16:creationId xmlns:a16="http://schemas.microsoft.com/office/drawing/2014/main" id="{44C68EA4-3FE8-42FF-A5A8-DA4B1DA7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810000"/>
            <a:ext cx="1524000" cy="1524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1753">
            <a:extLst xmlns:a="http://schemas.openxmlformats.org/drawingml/2006/main">
              <a:ext uri="{FF2B5EF4-FFF2-40B4-BE49-F238E27FC236}">
                <a16:creationId xmlns:a16="http://schemas.microsoft.com/office/drawing/2014/main" id="{99234112-B633-41A2-A5B8-AC43600F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114800"/>
            <a:ext cx="114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動手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做</a:t>
            </a:r>
          </a:p>
        </p:txBody>
      </p:sp>
      <p:sp>
        <p:nvSpPr>
          <p:cNvPr id="6" name="shape-1754">
            <a:extLst xmlns:a="http://schemas.openxmlformats.org/drawingml/2006/main">
              <a:ext uri="{FF2B5EF4-FFF2-40B4-BE49-F238E27FC236}">
                <a16:creationId xmlns:a16="http://schemas.microsoft.com/office/drawing/2014/main" id="{F0BCC9E8-0457-4D43-AFA3-C0D21ECB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52450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1755">
            <a:extLst xmlns:a="http://schemas.openxmlformats.org/drawingml/2006/main">
              <a:ext uri="{FF2B5EF4-FFF2-40B4-BE49-F238E27FC236}">
                <a16:creationId xmlns:a16="http://schemas.microsoft.com/office/drawing/2014/main" id="{062FF9F1-8FDC-4B36-B7D8-5323D346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55911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&lt;&gt;</a:t>
            </a:r>
          </a:p>
        </p:txBody>
      </p:sp>
      <p:sp>
        <p:nvSpPr>
          <p:cNvPr id="8" name="text-1756">
            <a:extLst xmlns:a="http://schemas.openxmlformats.org/drawingml/2006/main">
              <a:ext uri="{FF2B5EF4-FFF2-40B4-BE49-F238E27FC236}">
                <a16:creationId xmlns:a16="http://schemas.microsoft.com/office/drawing/2014/main" id="{A48883D5-5D82-49B7-A4D5-5D4A5EAB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600700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Codex</a:t>
            </a:r>
          </a:p>
        </p:txBody>
      </p:sp>
      <p:sp>
        <p:nvSpPr>
          <p:cNvPr id="9" name="text-1757">
            <a:extLst xmlns:a="http://schemas.openxmlformats.org/drawingml/2006/main">
              <a:ext uri="{FF2B5EF4-FFF2-40B4-BE49-F238E27FC236}">
                <a16:creationId xmlns:a16="http://schemas.microsoft.com/office/drawing/2014/main" id="{1BCE5CA8-C45F-4B79-A3EA-2CA44E4B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800725"/>
            <a:ext cx="1733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ChatGPT Agent 工作區</a:t>
            </a:r>
          </a:p>
        </p:txBody>
      </p:sp>
      <p:cxnSp>
        <p:nvCxnSpPr>
          <p:cNvPr id="26" name="shape-1758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11" name="text-1759">
            <a:extLst xmlns:a="http://schemas.openxmlformats.org/drawingml/2006/main">
              <a:ext uri="{FF2B5EF4-FFF2-40B4-BE49-F238E27FC236}">
                <a16:creationId xmlns:a16="http://schemas.microsoft.com/office/drawing/2014/main" id="{57450046-9A2A-4CCC-AE0E-884425E5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67E070C-A8C2-4E20-9FB9-A6E22FA7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36</a:t>
            </a:r>
          </a:p>
        </p:txBody>
      </p:sp>
      <p:sp>
        <p:nvSpPr>
          <p:cNvPr id="13" name="text-2398">
            <a:extLst xmlns:a="http://schemas.openxmlformats.org/drawingml/2006/main">
              <a:ext uri="{FF2B5EF4-FFF2-40B4-BE49-F238E27FC236}">
                <a16:creationId xmlns:a16="http://schemas.microsoft.com/office/drawing/2014/main" id="{8DFDA8F4-7EEE-4E30-AD89-2540E57A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dde636173ebe495e"/>
              </a:rPr>
              <a:t>開啟 Codex ↗</a:t>
            </a:r>
          </a:p>
        </p:txBody>
      </p:sp>
      <p:sp>
        <p:nvSpPr>
          <p:cNvPr id="14" name="shape-2484">
            <a:extLst xmlns:a="http://schemas.openxmlformats.org/drawingml/2006/main">
              <a:ext uri="{FF2B5EF4-FFF2-40B4-BE49-F238E27FC236}">
                <a16:creationId xmlns:a16="http://schemas.microsoft.com/office/drawing/2014/main" id="{852B47FB-DF42-48BB-AAFC-E3C85043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779778ea214b1f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16" name="text-2485">
            <a:extLst xmlns:a="http://schemas.openxmlformats.org/drawingml/2006/main">
              <a:ext uri="{FF2B5EF4-FFF2-40B4-BE49-F238E27FC236}">
                <a16:creationId xmlns:a16="http://schemas.microsoft.com/office/drawing/2014/main" id="{6D41928F-5081-47B5-9BE0-DE24103D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</a:t>
            </a:r>
          </a:p>
        </p:txBody>
      </p:sp>
    </p:spTree>
    <p:extLst>
      <p:ext uri="{BB962C8B-B14F-4D97-AF65-F5344CB8AC3E}">
        <p14:creationId xmlns:p14="http://schemas.microsoft.com/office/powerpoint/2010/main" val="33848989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text-1760">
            <a:extLst xmlns:a="http://schemas.openxmlformats.org/drawingml/2006/main">
              <a:ext uri="{FF2B5EF4-FFF2-40B4-BE49-F238E27FC236}">
                <a16:creationId xmlns:a16="http://schemas.microsoft.com/office/drawing/2014/main" id="{729721F6-5D7F-4CBD-B3F7-77C5170B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WORKFLOW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43969D-06D7-400B-B980-B8221316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Codex 實作工作流：先定位，再修改</a:t>
            </a:r>
          </a:p>
        </p:txBody>
      </p:sp>
      <p:cxnSp>
        <p:nvCxnSpPr>
          <p:cNvPr id="42" name="shape-1761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762">
            <a:extLst xmlns:a="http://schemas.openxmlformats.org/drawingml/2006/main">
              <a:ext uri="{FF2B5EF4-FFF2-40B4-BE49-F238E27FC236}">
                <a16:creationId xmlns:a16="http://schemas.microsoft.com/office/drawing/2014/main" id="{4ABCDAE6-AA56-4550-AB42-A554A0A2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745FFDE-098D-47AA-8AF8-5C264F3E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37</a:t>
            </a:r>
          </a:p>
        </p:txBody>
      </p:sp>
      <p:sp>
        <p:nvSpPr>
          <p:cNvPr id="6" name="shape-1763">
            <a:extLst xmlns:a="http://schemas.openxmlformats.org/drawingml/2006/main">
              <a:ext uri="{FF2B5EF4-FFF2-40B4-BE49-F238E27FC236}">
                <a16:creationId xmlns:a16="http://schemas.microsoft.com/office/drawing/2014/main" id="{8C98167C-BB58-4CDA-8B5C-21DC9E7E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shape-1764">
            <a:extLst xmlns:a="http://schemas.openxmlformats.org/drawingml/2006/main">
              <a:ext uri="{FF2B5EF4-FFF2-40B4-BE49-F238E27FC236}">
                <a16:creationId xmlns:a16="http://schemas.microsoft.com/office/drawing/2014/main" id="{D416920E-AEA8-43F6-80FD-2AB7A99A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765">
            <a:extLst xmlns:a="http://schemas.openxmlformats.org/drawingml/2006/main">
              <a:ext uri="{FF2B5EF4-FFF2-40B4-BE49-F238E27FC236}">
                <a16:creationId xmlns:a16="http://schemas.microsoft.com/office/drawing/2014/main" id="{4F172D41-B123-49A4-8D34-670C228D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1766">
            <a:extLst xmlns:a="http://schemas.openxmlformats.org/drawingml/2006/main">
              <a:ext uri="{FF2B5EF4-FFF2-40B4-BE49-F238E27FC236}">
                <a16:creationId xmlns:a16="http://schemas.microsoft.com/office/drawing/2014/main" id="{508A67AC-9F61-4977-9966-85B94C0C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開啟工作區／語音</a:t>
            </a:r>
          </a:p>
        </p:txBody>
      </p:sp>
      <p:sp>
        <p:nvSpPr>
          <p:cNvPr id="10" name="text-1767">
            <a:extLst xmlns:a="http://schemas.openxmlformats.org/drawingml/2006/main">
              <a:ext uri="{FF2B5EF4-FFF2-40B4-BE49-F238E27FC236}">
                <a16:creationId xmlns:a16="http://schemas.microsoft.com/office/drawing/2014/main" id="{EA6006AD-EB40-4FBE-9AC4-1482D39D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素材、麥克風與權限</a:t>
            </a:r>
          </a:p>
        </p:txBody>
      </p:sp>
      <p:sp>
        <p:nvSpPr>
          <p:cNvPr id="11" name="text-1768">
            <a:extLst xmlns:a="http://schemas.openxmlformats.org/drawingml/2006/main">
              <a:ext uri="{FF2B5EF4-FFF2-40B4-BE49-F238E27FC236}">
                <a16:creationId xmlns:a16="http://schemas.microsoft.com/office/drawing/2014/main" id="{19CFFB3C-AABB-40E4-92CC-425D2F23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2" name="shape-1769">
            <a:extLst xmlns:a="http://schemas.openxmlformats.org/drawingml/2006/main">
              <a:ext uri="{FF2B5EF4-FFF2-40B4-BE49-F238E27FC236}">
                <a16:creationId xmlns:a16="http://schemas.microsoft.com/office/drawing/2014/main" id="{A4EDC203-9F29-457B-B28D-603C6AA5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3" name="shape-1770">
            <a:extLst xmlns:a="http://schemas.openxmlformats.org/drawingml/2006/main">
              <a:ext uri="{FF2B5EF4-FFF2-40B4-BE49-F238E27FC236}">
                <a16:creationId xmlns:a16="http://schemas.microsoft.com/office/drawing/2014/main" id="{C63EDE0C-D0BE-4831-A9BF-EC99CC56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771">
            <a:extLst xmlns:a="http://schemas.openxmlformats.org/drawingml/2006/main">
              <a:ext uri="{FF2B5EF4-FFF2-40B4-BE49-F238E27FC236}">
                <a16:creationId xmlns:a16="http://schemas.microsoft.com/office/drawing/2014/main" id="{689E667B-2820-49CA-8B72-DA636961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5" name="text-1772">
            <a:extLst xmlns:a="http://schemas.openxmlformats.org/drawingml/2006/main">
              <a:ext uri="{FF2B5EF4-FFF2-40B4-BE49-F238E27FC236}">
                <a16:creationId xmlns:a16="http://schemas.microsoft.com/office/drawing/2014/main" id="{C87927C6-CFCD-4DAD-BC39-71CB8272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描述任務</a:t>
            </a:r>
          </a:p>
        </p:txBody>
      </p:sp>
      <p:sp>
        <p:nvSpPr>
          <p:cNvPr id="16" name="text-1773">
            <a:extLst xmlns:a="http://schemas.openxmlformats.org/drawingml/2006/main">
              <a:ext uri="{FF2B5EF4-FFF2-40B4-BE49-F238E27FC236}">
                <a16:creationId xmlns:a16="http://schemas.microsoft.com/office/drawing/2014/main" id="{5930417A-8655-43BA-A699-0A82264F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目標、限制、驗收</a:t>
            </a:r>
          </a:p>
        </p:txBody>
      </p:sp>
      <p:sp>
        <p:nvSpPr>
          <p:cNvPr id="17" name="text-1774">
            <a:extLst xmlns:a="http://schemas.openxmlformats.org/drawingml/2006/main">
              <a:ext uri="{FF2B5EF4-FFF2-40B4-BE49-F238E27FC236}">
                <a16:creationId xmlns:a16="http://schemas.microsoft.com/office/drawing/2014/main" id="{D8BA6D5E-4EEF-4975-A8BD-B7BBE9A1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8" name="shape-1775">
            <a:extLst xmlns:a="http://schemas.openxmlformats.org/drawingml/2006/main">
              <a:ext uri="{FF2B5EF4-FFF2-40B4-BE49-F238E27FC236}">
                <a16:creationId xmlns:a16="http://schemas.microsoft.com/office/drawing/2014/main" id="{35166484-652A-4A91-9D4C-26059C07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shape-1776">
            <a:extLst xmlns:a="http://schemas.openxmlformats.org/drawingml/2006/main">
              <a:ext uri="{FF2B5EF4-FFF2-40B4-BE49-F238E27FC236}">
                <a16:creationId xmlns:a16="http://schemas.microsoft.com/office/drawing/2014/main" id="{243E660D-7973-42A1-8392-B4BA06FB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777">
            <a:extLst xmlns:a="http://schemas.openxmlformats.org/drawingml/2006/main">
              <a:ext uri="{FF2B5EF4-FFF2-40B4-BE49-F238E27FC236}">
                <a16:creationId xmlns:a16="http://schemas.microsoft.com/office/drawing/2014/main" id="{CA318264-D050-430D-878E-BCCFDF23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text-1778">
            <a:extLst xmlns:a="http://schemas.openxmlformats.org/drawingml/2006/main">
              <a:ext uri="{FF2B5EF4-FFF2-40B4-BE49-F238E27FC236}">
                <a16:creationId xmlns:a16="http://schemas.microsoft.com/office/drawing/2014/main" id="{F5073F93-3BEF-448B-B1EB-95B77429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觀察進度</a:t>
            </a:r>
          </a:p>
        </p:txBody>
      </p:sp>
      <p:sp>
        <p:nvSpPr>
          <p:cNvPr id="22" name="text-1779">
            <a:extLst xmlns:a="http://schemas.openxmlformats.org/drawingml/2006/main">
              <a:ext uri="{FF2B5EF4-FFF2-40B4-BE49-F238E27FC236}">
                <a16:creationId xmlns:a16="http://schemas.microsoft.com/office/drawing/2014/main" id="{DCB8FC0B-BC22-4817-BF18-F3231C89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計畫、讀檔、工具使用</a:t>
            </a:r>
          </a:p>
        </p:txBody>
      </p:sp>
      <p:sp>
        <p:nvSpPr>
          <p:cNvPr id="23" name="text-1780">
            <a:extLst xmlns:a="http://schemas.openxmlformats.org/drawingml/2006/main">
              <a:ext uri="{FF2B5EF4-FFF2-40B4-BE49-F238E27FC236}">
                <a16:creationId xmlns:a16="http://schemas.microsoft.com/office/drawing/2014/main" id="{7674247B-8233-4424-9C3C-9E28E554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24" name="shape-1781">
            <a:extLst xmlns:a="http://schemas.openxmlformats.org/drawingml/2006/main">
              <a:ext uri="{FF2B5EF4-FFF2-40B4-BE49-F238E27FC236}">
                <a16:creationId xmlns:a16="http://schemas.microsoft.com/office/drawing/2014/main" id="{791CB8E6-AF9A-4027-A214-078009AF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25" name="shape-1782">
            <a:extLst xmlns:a="http://schemas.openxmlformats.org/drawingml/2006/main">
              <a:ext uri="{FF2B5EF4-FFF2-40B4-BE49-F238E27FC236}">
                <a16:creationId xmlns:a16="http://schemas.microsoft.com/office/drawing/2014/main" id="{799EFD9F-11B2-4FBA-B732-24BDAB32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1783">
            <a:extLst xmlns:a="http://schemas.openxmlformats.org/drawingml/2006/main">
              <a:ext uri="{FF2B5EF4-FFF2-40B4-BE49-F238E27FC236}">
                <a16:creationId xmlns:a16="http://schemas.microsoft.com/office/drawing/2014/main" id="{479B2258-7343-47B8-A809-C242B56C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7" name="text-1784">
            <a:extLst xmlns:a="http://schemas.openxmlformats.org/drawingml/2006/main">
              <a:ext uri="{FF2B5EF4-FFF2-40B4-BE49-F238E27FC236}">
                <a16:creationId xmlns:a16="http://schemas.microsoft.com/office/drawing/2014/main" id="{0F7E3A80-970A-4985-81BF-244E069E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檢查成果</a:t>
            </a:r>
          </a:p>
        </p:txBody>
      </p:sp>
      <p:sp>
        <p:nvSpPr>
          <p:cNvPr id="28" name="text-1785">
            <a:extLst xmlns:a="http://schemas.openxmlformats.org/drawingml/2006/main">
              <a:ext uri="{FF2B5EF4-FFF2-40B4-BE49-F238E27FC236}">
                <a16:creationId xmlns:a16="http://schemas.microsoft.com/office/drawing/2014/main" id="{0B42D403-671B-441C-8820-55DDB6AD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檔案、測試、畫面、差異</a:t>
            </a:r>
          </a:p>
        </p:txBody>
      </p:sp>
      <p:sp>
        <p:nvSpPr>
          <p:cNvPr id="29" name="text-1786">
            <a:extLst xmlns:a="http://schemas.openxmlformats.org/drawingml/2006/main">
              <a:ext uri="{FF2B5EF4-FFF2-40B4-BE49-F238E27FC236}">
                <a16:creationId xmlns:a16="http://schemas.microsoft.com/office/drawing/2014/main" id="{5D658A0E-299E-43E5-8AA8-58851849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30" name="shape-1787">
            <a:extLst xmlns:a="http://schemas.openxmlformats.org/drawingml/2006/main">
              <a:ext uri="{FF2B5EF4-FFF2-40B4-BE49-F238E27FC236}">
                <a16:creationId xmlns:a16="http://schemas.microsoft.com/office/drawing/2014/main" id="{2CBC3F65-64A7-41B8-8B06-C2514102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31" name="shape-1788">
            <a:extLst xmlns:a="http://schemas.openxmlformats.org/drawingml/2006/main">
              <a:ext uri="{FF2B5EF4-FFF2-40B4-BE49-F238E27FC236}">
                <a16:creationId xmlns:a16="http://schemas.microsoft.com/office/drawing/2014/main" id="{82FD6D1F-E399-4DA9-935D-469365E6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1789">
            <a:extLst xmlns:a="http://schemas.openxmlformats.org/drawingml/2006/main">
              <a:ext uri="{FF2B5EF4-FFF2-40B4-BE49-F238E27FC236}">
                <a16:creationId xmlns:a16="http://schemas.microsoft.com/office/drawing/2014/main" id="{CAA643FB-6594-4C2E-9F9A-470B856E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33" name="text-1790">
            <a:extLst xmlns:a="http://schemas.openxmlformats.org/drawingml/2006/main">
              <a:ext uri="{FF2B5EF4-FFF2-40B4-BE49-F238E27FC236}">
                <a16:creationId xmlns:a16="http://schemas.microsoft.com/office/drawing/2014/main" id="{48C165E6-2D1B-4350-A91D-15617AA9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決定下一步</a:t>
            </a:r>
          </a:p>
        </p:txBody>
      </p:sp>
      <p:sp>
        <p:nvSpPr>
          <p:cNvPr id="34" name="text-1791">
            <a:extLst xmlns:a="http://schemas.openxmlformats.org/drawingml/2006/main">
              <a:ext uri="{FF2B5EF4-FFF2-40B4-BE49-F238E27FC236}">
                <a16:creationId xmlns:a16="http://schemas.microsoft.com/office/drawing/2014/main" id="{A015EB8C-8E51-4252-A9C9-5E393144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接受、修正或停止</a:t>
            </a:r>
          </a:p>
        </p:txBody>
      </p:sp>
      <p:sp>
        <p:nvSpPr>
          <p:cNvPr id="35" name="text-1792">
            <a:extLst xmlns:a="http://schemas.openxmlformats.org/drawingml/2006/main">
              <a:ext uri="{FF2B5EF4-FFF2-40B4-BE49-F238E27FC236}">
                <a16:creationId xmlns:a16="http://schemas.microsoft.com/office/drawing/2014/main" id="{E375EC6C-7DB0-43AE-B62B-73AA571A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14950"/>
            <a:ext cx="5638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152400" tIns="57150" rIns="1524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每一步都留下可檢查的成果</a:t>
            </a:r>
          </a:p>
        </p:txBody>
      </p:sp>
      <p:sp>
        <p:nvSpPr>
          <p:cNvPr id="36" name="text-2399">
            <a:extLst xmlns:a="http://schemas.openxmlformats.org/drawingml/2006/main">
              <a:ext uri="{FF2B5EF4-FFF2-40B4-BE49-F238E27FC236}">
                <a16:creationId xmlns:a16="http://schemas.microsoft.com/office/drawing/2014/main" id="{E4106988-41E3-49DC-A605-37F505D0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32b83e7660ee447e"/>
              </a:rPr>
              <a:t>開啟 Codex ↗</a:t>
            </a:r>
          </a:p>
        </p:txBody>
      </p:sp>
      <p:sp>
        <p:nvSpPr>
          <p:cNvPr id="37" name="shape-2486">
            <a:extLst xmlns:a="http://schemas.openxmlformats.org/drawingml/2006/main">
              <a:ext uri="{FF2B5EF4-FFF2-40B4-BE49-F238E27FC236}">
                <a16:creationId xmlns:a16="http://schemas.microsoft.com/office/drawing/2014/main" id="{9A50A02C-2D4E-4D27-A618-6794F458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0a33cedc734c31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39" name="text-2487">
            <a:extLst xmlns:a="http://schemas.openxmlformats.org/drawingml/2006/main">
              <a:ext uri="{FF2B5EF4-FFF2-40B4-BE49-F238E27FC236}">
                <a16:creationId xmlns:a16="http://schemas.microsoft.com/office/drawing/2014/main" id="{4832CC51-B961-46AB-8B94-F6EF89BA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</a:t>
            </a:r>
          </a:p>
        </p:txBody>
      </p:sp>
    </p:spTree>
    <p:extLst>
      <p:ext uri="{BB962C8B-B14F-4D97-AF65-F5344CB8AC3E}">
        <p14:creationId xmlns:p14="http://schemas.microsoft.com/office/powerpoint/2010/main" val="152805940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1793">
            <a:extLst xmlns:a="http://schemas.openxmlformats.org/drawingml/2006/main">
              <a:ext uri="{FF2B5EF4-FFF2-40B4-BE49-F238E27FC236}">
                <a16:creationId xmlns:a16="http://schemas.microsoft.com/office/drawing/2014/main" id="{A3ADFFE1-24CA-4307-9978-13A405EF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AGENT SKILL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560DFC-8B90-4C3A-8713-78A23B58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同一任務在 Codex 中這樣下達</a:t>
            </a:r>
          </a:p>
        </p:txBody>
      </p:sp>
      <p:cxnSp>
        <p:nvCxnSpPr>
          <p:cNvPr id="19" name="shape-1794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795">
            <a:extLst xmlns:a="http://schemas.openxmlformats.org/drawingml/2006/main">
              <a:ext uri="{FF2B5EF4-FFF2-40B4-BE49-F238E27FC236}">
                <a16:creationId xmlns:a16="http://schemas.microsoft.com/office/drawing/2014/main" id="{160F1604-06B2-4D5A-A780-27B815B5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B9C6E00-93F5-4198-8B39-EF5E077E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38</a:t>
            </a:r>
          </a:p>
        </p:txBody>
      </p:sp>
      <p:sp>
        <p:nvSpPr>
          <p:cNvPr id="6" name="text-1796">
            <a:extLst xmlns:a="http://schemas.openxmlformats.org/drawingml/2006/main">
              <a:ext uri="{FF2B5EF4-FFF2-40B4-BE49-F238E27FC236}">
                <a16:creationId xmlns:a16="http://schemas.microsoft.com/office/drawing/2014/main" id="{688B47C9-4975-41D6-8C47-AFDAEDD6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6858000" cy="4324350"/>
          </a:xfrm>
          <a:prstGeom xmlns:a="http://schemas.openxmlformats.org/drawingml/2006/main" prst="roundRect">
            <a:avLst>
              <a:gd name="adj" fmla="val 3524"/>
            </a:avLst>
          </a:prstGeom>
          <a:solidFill xmlns:a="http://schemas.openxmlformats.org/drawingml/2006/main">
            <a:srgbClr val="1B2A3D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247650" tIns="247650" rIns="247650" bIns="2476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目標：改善這個課程互動網站的手機操作體驗。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範圍：只處理目前工作區中的 HTML、CSS、JS。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限制：不更動教學內容、不新增外部服務、不發布。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請先：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1. 檢查結構與手機畫面。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2. 說明最重要的 3 個問題與修正計畫。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3. 實作後跑可行的檢查。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4. 回報修改檔案、驗證證據與未確認項目。</a:t>
            </a:r>
          </a:p>
        </p:txBody>
      </p:sp>
      <p:sp>
        <p:nvSpPr>
          <p:cNvPr id="7" name="text-1797">
            <a:extLst xmlns:a="http://schemas.openxmlformats.org/drawingml/2006/main">
              <a:ext uri="{FF2B5EF4-FFF2-40B4-BE49-F238E27FC236}">
                <a16:creationId xmlns:a16="http://schemas.microsoft.com/office/drawing/2014/main" id="{CB611B06-3663-4C07-8A14-BAABFEF9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52600"/>
            <a:ext cx="354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明確邊界</a:t>
            </a:r>
          </a:p>
        </p:txBody>
      </p:sp>
      <p:sp>
        <p:nvSpPr>
          <p:cNvPr id="8" name="text-1798">
            <a:extLst xmlns:a="http://schemas.openxmlformats.org/drawingml/2006/main">
              <a:ext uri="{FF2B5EF4-FFF2-40B4-BE49-F238E27FC236}">
                <a16:creationId xmlns:a16="http://schemas.microsoft.com/office/drawing/2014/main" id="{D4459A90-B6A0-420E-9304-C4FADCF0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90750"/>
            <a:ext cx="3543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檔案與動作的範圍要具體。</a:t>
            </a:r>
          </a:p>
        </p:txBody>
      </p:sp>
      <p:sp>
        <p:nvSpPr>
          <p:cNvPr id="9" name="text-1799">
            <a:extLst xmlns:a="http://schemas.openxmlformats.org/drawingml/2006/main">
              <a:ext uri="{FF2B5EF4-FFF2-40B4-BE49-F238E27FC236}">
                <a16:creationId xmlns:a16="http://schemas.microsoft.com/office/drawing/2014/main" id="{F6AF10CF-3C02-4F71-992C-69AF5D27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05150"/>
            <a:ext cx="354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E9F94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E9F94"/>
                </a:solidFill>
                <a:latin typeface="Noto Sans TC"/>
                <a:ea typeface="Noto Sans TC"/>
                <a:cs typeface="Noto Sans TC"/>
              </a:rPr>
              <a:t>先檢查</a:t>
            </a:r>
          </a:p>
        </p:txBody>
      </p:sp>
      <p:sp>
        <p:nvSpPr>
          <p:cNvPr id="10" name="text-1800">
            <a:extLst xmlns:a="http://schemas.openxmlformats.org/drawingml/2006/main">
              <a:ext uri="{FF2B5EF4-FFF2-40B4-BE49-F238E27FC236}">
                <a16:creationId xmlns:a16="http://schemas.microsoft.com/office/drawing/2014/main" id="{309FE25B-CEAD-4FE0-851E-993DFA61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43300"/>
            <a:ext cx="3543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讓 Agent 先讀環境，避免憑空重寫。</a:t>
            </a:r>
          </a:p>
        </p:txBody>
      </p:sp>
      <p:sp>
        <p:nvSpPr>
          <p:cNvPr id="11" name="text-1801">
            <a:extLst xmlns:a="http://schemas.openxmlformats.org/drawingml/2006/main">
              <a:ext uri="{FF2B5EF4-FFF2-40B4-BE49-F238E27FC236}">
                <a16:creationId xmlns:a16="http://schemas.microsoft.com/office/drawing/2014/main" id="{EE23384B-7B4C-4497-AF89-9FB5E7CA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57700"/>
            <a:ext cx="354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rPr>
              <a:t>驗收可見</a:t>
            </a:r>
          </a:p>
        </p:txBody>
      </p:sp>
      <p:sp>
        <p:nvSpPr>
          <p:cNvPr id="12" name="text-1802">
            <a:extLst xmlns:a="http://schemas.openxmlformats.org/drawingml/2006/main">
              <a:ext uri="{FF2B5EF4-FFF2-40B4-BE49-F238E27FC236}">
                <a16:creationId xmlns:a16="http://schemas.microsoft.com/office/drawing/2014/main" id="{64BD7E06-4C1F-4A80-819D-C5BC492B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895850"/>
            <a:ext cx="3543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要求證據與未確認項目。</a:t>
            </a:r>
          </a:p>
        </p:txBody>
      </p:sp>
      <p:sp>
        <p:nvSpPr>
          <p:cNvPr id="13" name="text-2400">
            <a:extLst xmlns:a="http://schemas.openxmlformats.org/drawingml/2006/main">
              <a:ext uri="{FF2B5EF4-FFF2-40B4-BE49-F238E27FC236}">
                <a16:creationId xmlns:a16="http://schemas.microsoft.com/office/drawing/2014/main" id="{AF1D1A95-5986-44F7-A5FF-C7D7F56B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7aa09064715649ff"/>
              </a:rPr>
              <a:t>開啟 Codex ↗</a:t>
            </a:r>
          </a:p>
        </p:txBody>
      </p:sp>
      <p:sp>
        <p:nvSpPr>
          <p:cNvPr id="14" name="shape-2488">
            <a:extLst xmlns:a="http://schemas.openxmlformats.org/drawingml/2006/main">
              <a:ext uri="{FF2B5EF4-FFF2-40B4-BE49-F238E27FC236}">
                <a16:creationId xmlns:a16="http://schemas.microsoft.com/office/drawing/2014/main" id="{54A63954-F889-4D9A-B57B-1C1275A7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1760d35570495e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16" name="text-2489">
            <a:extLst xmlns:a="http://schemas.openxmlformats.org/drawingml/2006/main">
              <a:ext uri="{FF2B5EF4-FFF2-40B4-BE49-F238E27FC236}">
                <a16:creationId xmlns:a16="http://schemas.microsoft.com/office/drawing/2014/main" id="{186768EA-4E22-4BEA-AEF9-4425D9CD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</a:t>
            </a:r>
          </a:p>
        </p:txBody>
      </p:sp>
    </p:spTree>
    <p:extLst>
      <p:ext uri="{BB962C8B-B14F-4D97-AF65-F5344CB8AC3E}">
        <p14:creationId xmlns:p14="http://schemas.microsoft.com/office/powerpoint/2010/main" val="76535264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ext-1803">
            <a:extLst xmlns:a="http://schemas.openxmlformats.org/drawingml/2006/main">
              <a:ext uri="{FF2B5EF4-FFF2-40B4-BE49-F238E27FC236}">
                <a16:creationId xmlns:a16="http://schemas.microsoft.com/office/drawing/2014/main" id="{DC80EBB7-D3CD-4A76-9166-0A889FFB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TASK DESIGN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80E34B-02A5-450B-86BB-0867D745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好任務簡報的六個欄位</a:t>
            </a:r>
          </a:p>
        </p:txBody>
      </p:sp>
      <p:cxnSp>
        <p:nvCxnSpPr>
          <p:cNvPr id="36" name="shape-1804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805">
            <a:extLst xmlns:a="http://schemas.openxmlformats.org/drawingml/2006/main">
              <a:ext uri="{FF2B5EF4-FFF2-40B4-BE49-F238E27FC236}">
                <a16:creationId xmlns:a16="http://schemas.microsoft.com/office/drawing/2014/main" id="{29C6D4E2-33F5-4CBF-AF29-4881E0A0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DC4AE73-4AE9-48E5-A273-7D73502C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39</a:t>
            </a:r>
          </a:p>
        </p:txBody>
      </p:sp>
      <p:sp>
        <p:nvSpPr>
          <p:cNvPr id="6" name="shape-1806">
            <a:extLst xmlns:a="http://schemas.openxmlformats.org/drawingml/2006/main">
              <a:ext uri="{FF2B5EF4-FFF2-40B4-BE49-F238E27FC236}">
                <a16:creationId xmlns:a16="http://schemas.microsoft.com/office/drawing/2014/main" id="{1F06EE92-265A-4249-9A4A-FD834298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1807">
            <a:extLst xmlns:a="http://schemas.openxmlformats.org/drawingml/2006/main">
              <a:ext uri="{FF2B5EF4-FFF2-40B4-BE49-F238E27FC236}">
                <a16:creationId xmlns:a16="http://schemas.microsoft.com/office/drawing/2014/main" id="{D53BF2BD-F59A-4E95-8203-7F5989F0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8" name="text-1808">
            <a:extLst xmlns:a="http://schemas.openxmlformats.org/drawingml/2006/main">
              <a:ext uri="{FF2B5EF4-FFF2-40B4-BE49-F238E27FC236}">
                <a16:creationId xmlns:a16="http://schemas.microsoft.com/office/drawing/2014/main" id="{5FA3058E-3C53-4D6B-A191-C0563A47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Why</a:t>
            </a:r>
          </a:p>
        </p:txBody>
      </p:sp>
      <p:sp>
        <p:nvSpPr>
          <p:cNvPr id="9" name="text-1809">
            <a:extLst xmlns:a="http://schemas.openxmlformats.org/drawingml/2006/main">
              <a:ext uri="{FF2B5EF4-FFF2-40B4-BE49-F238E27FC236}">
                <a16:creationId xmlns:a16="http://schemas.microsoft.com/office/drawing/2014/main" id="{C1C4E4A5-DC99-40BE-B4B2-F11373FC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教學／研究痛點與使用者價值</a:t>
            </a:r>
          </a:p>
        </p:txBody>
      </p:sp>
      <p:sp>
        <p:nvSpPr>
          <p:cNvPr id="10" name="shape-1810">
            <a:extLst xmlns:a="http://schemas.openxmlformats.org/drawingml/2006/main">
              <a:ext uri="{FF2B5EF4-FFF2-40B4-BE49-F238E27FC236}">
                <a16:creationId xmlns:a16="http://schemas.microsoft.com/office/drawing/2014/main" id="{ABBBE0FA-431E-4BDD-8DEE-5B21595B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1811">
            <a:extLst xmlns:a="http://schemas.openxmlformats.org/drawingml/2006/main">
              <a:ext uri="{FF2B5EF4-FFF2-40B4-BE49-F238E27FC236}">
                <a16:creationId xmlns:a16="http://schemas.microsoft.com/office/drawing/2014/main" id="{36C2991F-252C-4050-ABBB-DD8B4BE9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2" name="text-1812">
            <a:extLst xmlns:a="http://schemas.openxmlformats.org/drawingml/2006/main">
              <a:ext uri="{FF2B5EF4-FFF2-40B4-BE49-F238E27FC236}">
                <a16:creationId xmlns:a16="http://schemas.microsoft.com/office/drawing/2014/main" id="{23CCFC19-3861-4D00-8A22-AA68FCF3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What</a:t>
            </a:r>
          </a:p>
        </p:txBody>
      </p:sp>
      <p:sp>
        <p:nvSpPr>
          <p:cNvPr id="13" name="text-1813">
            <a:extLst xmlns:a="http://schemas.openxmlformats.org/drawingml/2006/main">
              <a:ext uri="{FF2B5EF4-FFF2-40B4-BE49-F238E27FC236}">
                <a16:creationId xmlns:a16="http://schemas.microsoft.com/office/drawing/2014/main" id="{A711CCC8-B043-4DD9-9C74-79EE6579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要完成的具體成果</a:t>
            </a:r>
          </a:p>
        </p:txBody>
      </p:sp>
      <p:sp>
        <p:nvSpPr>
          <p:cNvPr id="14" name="shape-1814">
            <a:extLst xmlns:a="http://schemas.openxmlformats.org/drawingml/2006/main">
              <a:ext uri="{FF2B5EF4-FFF2-40B4-BE49-F238E27FC236}">
                <a16:creationId xmlns:a16="http://schemas.microsoft.com/office/drawing/2014/main" id="{4812AFE8-EFCA-42B7-9B2B-E5348871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1815">
            <a:extLst xmlns:a="http://schemas.openxmlformats.org/drawingml/2006/main">
              <a:ext uri="{FF2B5EF4-FFF2-40B4-BE49-F238E27FC236}">
                <a16:creationId xmlns:a16="http://schemas.microsoft.com/office/drawing/2014/main" id="{39596824-7F4A-4EF3-8AA2-FD965C4E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6" name="text-1816">
            <a:extLst xmlns:a="http://schemas.openxmlformats.org/drawingml/2006/main">
              <a:ext uri="{FF2B5EF4-FFF2-40B4-BE49-F238E27FC236}">
                <a16:creationId xmlns:a16="http://schemas.microsoft.com/office/drawing/2014/main" id="{1F2B931F-60F2-4AAD-8B7F-27D864E2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Where</a:t>
            </a:r>
          </a:p>
        </p:txBody>
      </p:sp>
      <p:sp>
        <p:nvSpPr>
          <p:cNvPr id="17" name="text-1817">
            <a:extLst xmlns:a="http://schemas.openxmlformats.org/drawingml/2006/main">
              <a:ext uri="{FF2B5EF4-FFF2-40B4-BE49-F238E27FC236}">
                <a16:creationId xmlns:a16="http://schemas.microsoft.com/office/drawing/2014/main" id="{588415DB-DF6E-4FB5-BF90-B2D67263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工作區、檔案與資料來源</a:t>
            </a:r>
          </a:p>
        </p:txBody>
      </p:sp>
      <p:sp>
        <p:nvSpPr>
          <p:cNvPr id="18" name="shape-1818">
            <a:extLst xmlns:a="http://schemas.openxmlformats.org/drawingml/2006/main">
              <a:ext uri="{FF2B5EF4-FFF2-40B4-BE49-F238E27FC236}">
                <a16:creationId xmlns:a16="http://schemas.microsoft.com/office/drawing/2014/main" id="{B684657A-835D-470D-8AC2-BAA28FD3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1819">
            <a:extLst xmlns:a="http://schemas.openxmlformats.org/drawingml/2006/main">
              <a:ext uri="{FF2B5EF4-FFF2-40B4-BE49-F238E27FC236}">
                <a16:creationId xmlns:a16="http://schemas.microsoft.com/office/drawing/2014/main" id="{1D054160-1A26-4642-91C1-3B0B3FED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0" name="text-1820">
            <a:extLst xmlns:a="http://schemas.openxmlformats.org/drawingml/2006/main">
              <a:ext uri="{FF2B5EF4-FFF2-40B4-BE49-F238E27FC236}">
                <a16:creationId xmlns:a16="http://schemas.microsoft.com/office/drawing/2014/main" id="{2BC2438B-6991-46B3-8F69-FB82EEBC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Limits</a:t>
            </a:r>
          </a:p>
        </p:txBody>
      </p:sp>
      <p:sp>
        <p:nvSpPr>
          <p:cNvPr id="21" name="text-1821">
            <a:extLst xmlns:a="http://schemas.openxmlformats.org/drawingml/2006/main">
              <a:ext uri="{FF2B5EF4-FFF2-40B4-BE49-F238E27FC236}">
                <a16:creationId xmlns:a16="http://schemas.microsoft.com/office/drawing/2014/main" id="{76DEE9C8-F60D-488E-B91D-3DB7F291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不可改、不可公開、不可猜測</a:t>
            </a:r>
          </a:p>
        </p:txBody>
      </p:sp>
      <p:sp>
        <p:nvSpPr>
          <p:cNvPr id="22" name="shape-1822">
            <a:extLst xmlns:a="http://schemas.openxmlformats.org/drawingml/2006/main">
              <a:ext uri="{FF2B5EF4-FFF2-40B4-BE49-F238E27FC236}">
                <a16:creationId xmlns:a16="http://schemas.microsoft.com/office/drawing/2014/main" id="{C05E3E4F-4914-44FB-9FA9-40556F1F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23" name="text-1823">
            <a:extLst xmlns:a="http://schemas.openxmlformats.org/drawingml/2006/main">
              <a:ext uri="{FF2B5EF4-FFF2-40B4-BE49-F238E27FC236}">
                <a16:creationId xmlns:a16="http://schemas.microsoft.com/office/drawing/2014/main" id="{BF223A58-A057-4724-9230-C359EC3A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24" name="text-1824">
            <a:extLst xmlns:a="http://schemas.openxmlformats.org/drawingml/2006/main">
              <a:ext uri="{FF2B5EF4-FFF2-40B4-BE49-F238E27FC236}">
                <a16:creationId xmlns:a16="http://schemas.microsoft.com/office/drawing/2014/main" id="{4DD9521F-9CFB-4C72-B7F5-C324F76B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Checks</a:t>
            </a:r>
          </a:p>
        </p:txBody>
      </p:sp>
      <p:sp>
        <p:nvSpPr>
          <p:cNvPr id="25" name="text-1825">
            <a:extLst xmlns:a="http://schemas.openxmlformats.org/drawingml/2006/main">
              <a:ext uri="{FF2B5EF4-FFF2-40B4-BE49-F238E27FC236}">
                <a16:creationId xmlns:a16="http://schemas.microsoft.com/office/drawing/2014/main" id="{3F8C0279-7973-40BA-AEAD-2E27CB4D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測試、畫面與內容檢核</a:t>
            </a:r>
          </a:p>
        </p:txBody>
      </p:sp>
      <p:sp>
        <p:nvSpPr>
          <p:cNvPr id="26" name="shape-1826">
            <a:extLst xmlns:a="http://schemas.openxmlformats.org/drawingml/2006/main">
              <a:ext uri="{FF2B5EF4-FFF2-40B4-BE49-F238E27FC236}">
                <a16:creationId xmlns:a16="http://schemas.microsoft.com/office/drawing/2014/main" id="{743F2579-E781-4999-A26D-6D002E71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27" name="text-1827">
            <a:extLst xmlns:a="http://schemas.openxmlformats.org/drawingml/2006/main">
              <a:ext uri="{FF2B5EF4-FFF2-40B4-BE49-F238E27FC236}">
                <a16:creationId xmlns:a16="http://schemas.microsoft.com/office/drawing/2014/main" id="{757B714C-B803-4B0B-AFB3-5FBD3CF8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6</a:t>
            </a:r>
          </a:p>
        </p:txBody>
      </p:sp>
      <p:sp>
        <p:nvSpPr>
          <p:cNvPr id="28" name="text-1828">
            <a:extLst xmlns:a="http://schemas.openxmlformats.org/drawingml/2006/main">
              <a:ext uri="{FF2B5EF4-FFF2-40B4-BE49-F238E27FC236}">
                <a16:creationId xmlns:a16="http://schemas.microsoft.com/office/drawing/2014/main" id="{F2732C8E-B1C9-4813-9927-9E9CAC3D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Handoff</a:t>
            </a:r>
          </a:p>
        </p:txBody>
      </p:sp>
      <p:sp>
        <p:nvSpPr>
          <p:cNvPr id="29" name="text-1829">
            <a:extLst xmlns:a="http://schemas.openxmlformats.org/drawingml/2006/main">
              <a:ext uri="{FF2B5EF4-FFF2-40B4-BE49-F238E27FC236}">
                <a16:creationId xmlns:a16="http://schemas.microsoft.com/office/drawing/2014/main" id="{EC0343B5-E216-4BDF-91A0-CDA2490F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成果、差異、限制、下一步</a:t>
            </a:r>
          </a:p>
        </p:txBody>
      </p:sp>
      <p:sp>
        <p:nvSpPr>
          <p:cNvPr id="30" name="text-2401">
            <a:extLst xmlns:a="http://schemas.openxmlformats.org/drawingml/2006/main">
              <a:ext uri="{FF2B5EF4-FFF2-40B4-BE49-F238E27FC236}">
                <a16:creationId xmlns:a16="http://schemas.microsoft.com/office/drawing/2014/main" id="{A92EAE98-3418-44E9-B739-390DE817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512a716cd20a4bce"/>
              </a:rPr>
              <a:t>開啟 Codex ↗</a:t>
            </a:r>
          </a:p>
        </p:txBody>
      </p:sp>
      <p:sp>
        <p:nvSpPr>
          <p:cNvPr id="31" name="shape-2490">
            <a:extLst xmlns:a="http://schemas.openxmlformats.org/drawingml/2006/main">
              <a:ext uri="{FF2B5EF4-FFF2-40B4-BE49-F238E27FC236}">
                <a16:creationId xmlns:a16="http://schemas.microsoft.com/office/drawing/2014/main" id="{40E96438-2D89-467A-898D-43C37E77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91b6a0a38045eb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33" name="text-2491">
            <a:extLst xmlns:a="http://schemas.openxmlformats.org/drawingml/2006/main">
              <a:ext uri="{FF2B5EF4-FFF2-40B4-BE49-F238E27FC236}">
                <a16:creationId xmlns:a16="http://schemas.microsoft.com/office/drawing/2014/main" id="{A256F7FE-0BDF-4097-8BFA-B5CD17C9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</a:t>
            </a:r>
          </a:p>
        </p:txBody>
      </p:sp>
    </p:spTree>
    <p:extLst>
      <p:ext uri="{BB962C8B-B14F-4D97-AF65-F5344CB8AC3E}">
        <p14:creationId xmlns:p14="http://schemas.microsoft.com/office/powerpoint/2010/main" val="149210351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1830">
            <a:extLst xmlns:a="http://schemas.openxmlformats.org/drawingml/2006/main">
              <a:ext uri="{FF2B5EF4-FFF2-40B4-BE49-F238E27FC236}">
                <a16:creationId xmlns:a16="http://schemas.microsoft.com/office/drawing/2014/main" id="{7E59E8E8-6FD7-4020-847A-7C0AC12D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HANDS-ON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92719A-13E0-4754-85B0-DDF3EC2E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實作 B｜Codex 完成同一任務</a:t>
            </a:r>
          </a:p>
        </p:txBody>
      </p:sp>
      <p:cxnSp>
        <p:nvCxnSpPr>
          <p:cNvPr id="25" name="shape-1831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832">
            <a:extLst xmlns:a="http://schemas.openxmlformats.org/drawingml/2006/main">
              <a:ext uri="{FF2B5EF4-FFF2-40B4-BE49-F238E27FC236}">
                <a16:creationId xmlns:a16="http://schemas.microsoft.com/office/drawing/2014/main" id="{539A4B6C-6120-4307-BA17-42B72D46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A9B3992-7DA5-4525-AD29-A2AF78FC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40</a:t>
            </a:r>
          </a:p>
        </p:txBody>
      </p:sp>
      <p:sp>
        <p:nvSpPr>
          <p:cNvPr id="6" name="text-1833">
            <a:extLst xmlns:a="http://schemas.openxmlformats.org/drawingml/2006/main">
              <a:ext uri="{FF2B5EF4-FFF2-40B4-BE49-F238E27FC236}">
                <a16:creationId xmlns:a16="http://schemas.microsoft.com/office/drawing/2014/main" id="{EBE4A0EC-04F7-4167-A04E-16815747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0002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18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分鐘</a:t>
            </a:r>
          </a:p>
        </p:txBody>
      </p:sp>
      <p:sp>
        <p:nvSpPr>
          <p:cNvPr id="7" name="text-1834">
            <a:extLst xmlns:a="http://schemas.openxmlformats.org/drawingml/2006/main">
              <a:ext uri="{FF2B5EF4-FFF2-40B4-BE49-F238E27FC236}">
                <a16:creationId xmlns:a16="http://schemas.microsoft.com/office/drawing/2014/main" id="{F9F9AC99-6D36-4F77-8F3D-24811F29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335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操作步驟</a:t>
            </a:r>
          </a:p>
        </p:txBody>
      </p:sp>
      <p:sp>
        <p:nvSpPr>
          <p:cNvPr id="8" name="text-1835">
            <a:extLst xmlns:a="http://schemas.openxmlformats.org/drawingml/2006/main">
              <a:ext uri="{FF2B5EF4-FFF2-40B4-BE49-F238E27FC236}">
                <a16:creationId xmlns:a16="http://schemas.microsoft.com/office/drawing/2014/main" id="{92FD0C52-799B-4A87-8A8B-77039D79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00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1836">
            <a:extLst xmlns:a="http://schemas.openxmlformats.org/drawingml/2006/main">
              <a:ext uri="{FF2B5EF4-FFF2-40B4-BE49-F238E27FC236}">
                <a16:creationId xmlns:a16="http://schemas.microsoft.com/office/drawing/2014/main" id="{5BAE90ED-C124-4D5E-A2FF-59547203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003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開啟上午成果的工作區</a:t>
            </a:r>
          </a:p>
        </p:txBody>
      </p:sp>
      <p:sp>
        <p:nvSpPr>
          <p:cNvPr id="10" name="text-1837">
            <a:extLst xmlns:a="http://schemas.openxmlformats.org/drawingml/2006/main">
              <a:ext uri="{FF2B5EF4-FFF2-40B4-BE49-F238E27FC236}">
                <a16:creationId xmlns:a16="http://schemas.microsoft.com/office/drawing/2014/main" id="{7C48EF95-3DB6-4CD3-A7D5-7020EF5C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05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1" name="text-1838">
            <a:extLst xmlns:a="http://schemas.openxmlformats.org/drawingml/2006/main">
              <a:ext uri="{FF2B5EF4-FFF2-40B4-BE49-F238E27FC236}">
                <a16:creationId xmlns:a16="http://schemas.microsoft.com/office/drawing/2014/main" id="{FA283545-2E60-45BC-8229-FAA1914E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051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貼上六欄任務簡報</a:t>
            </a:r>
          </a:p>
        </p:txBody>
      </p:sp>
      <p:sp>
        <p:nvSpPr>
          <p:cNvPr id="12" name="text-1839">
            <a:extLst xmlns:a="http://schemas.openxmlformats.org/drawingml/2006/main">
              <a:ext uri="{FF2B5EF4-FFF2-40B4-BE49-F238E27FC236}">
                <a16:creationId xmlns:a16="http://schemas.microsoft.com/office/drawing/2014/main" id="{D110B69A-6CB5-4DB8-83E8-02B5EEF0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810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3" name="text-1840">
            <a:extLst xmlns:a="http://schemas.openxmlformats.org/drawingml/2006/main">
              <a:ext uri="{FF2B5EF4-FFF2-40B4-BE49-F238E27FC236}">
                <a16:creationId xmlns:a16="http://schemas.microsoft.com/office/drawing/2014/main" id="{A8796BE7-5259-4FD2-9411-AD24B312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100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觀察 Agent 讀檔、規劃與執行</a:t>
            </a:r>
          </a:p>
        </p:txBody>
      </p:sp>
      <p:sp>
        <p:nvSpPr>
          <p:cNvPr id="14" name="text-1841">
            <a:extLst xmlns:a="http://schemas.openxmlformats.org/drawingml/2006/main">
              <a:ext uri="{FF2B5EF4-FFF2-40B4-BE49-F238E27FC236}">
                <a16:creationId xmlns:a16="http://schemas.microsoft.com/office/drawing/2014/main" id="{8ABB1844-2A78-4FEA-9D70-BCA57F2F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14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15" name="text-1842">
            <a:extLst xmlns:a="http://schemas.openxmlformats.org/drawingml/2006/main">
              <a:ext uri="{FF2B5EF4-FFF2-40B4-BE49-F238E27FC236}">
                <a16:creationId xmlns:a16="http://schemas.microsoft.com/office/drawing/2014/main" id="{B9296DFA-C2B4-42C9-BB01-A5398414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148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比較 Antigravity 與 Codex 的證據</a:t>
            </a:r>
          </a:p>
        </p:txBody>
      </p:sp>
      <p:sp>
        <p:nvSpPr>
          <p:cNvPr id="16" name="shape-1843">
            <a:extLst xmlns:a="http://schemas.openxmlformats.org/drawingml/2006/main">
              <a:ext uri="{FF2B5EF4-FFF2-40B4-BE49-F238E27FC236}">
                <a16:creationId xmlns:a16="http://schemas.microsoft.com/office/drawing/2014/main" id="{8CA9022B-15ED-4B04-980E-3359B8F4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90700"/>
            <a:ext cx="2362200" cy="39052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7" name="text-1844">
            <a:extLst xmlns:a="http://schemas.openxmlformats.org/drawingml/2006/main">
              <a:ext uri="{FF2B5EF4-FFF2-40B4-BE49-F238E27FC236}">
                <a16:creationId xmlns:a16="http://schemas.microsoft.com/office/drawing/2014/main" id="{64D707EB-A9B9-462C-916E-7CBDC665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5740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rPr>
              <a:t>完成條件</a:t>
            </a:r>
          </a:p>
        </p:txBody>
      </p:sp>
      <p:sp>
        <p:nvSpPr>
          <p:cNvPr id="18" name="text-1845">
            <a:extLst xmlns:a="http://schemas.openxmlformats.org/drawingml/2006/main">
              <a:ext uri="{FF2B5EF4-FFF2-40B4-BE49-F238E27FC236}">
                <a16:creationId xmlns:a16="http://schemas.microsoft.com/office/drawing/2014/main" id="{2DB46435-58DE-40DE-8BE6-32280C66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05100"/>
            <a:ext cx="18669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有檔案變更或分析產物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有實際檢查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能說明差異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保留人工決定</a:t>
            </a:r>
          </a:p>
        </p:txBody>
      </p:sp>
      <p:sp>
        <p:nvSpPr>
          <p:cNvPr id="19" name="text-2402">
            <a:extLst xmlns:a="http://schemas.openxmlformats.org/drawingml/2006/main">
              <a:ext uri="{FF2B5EF4-FFF2-40B4-BE49-F238E27FC236}">
                <a16:creationId xmlns:a16="http://schemas.microsoft.com/office/drawing/2014/main" id="{5968FA44-B237-4F25-AAEA-DD2B7585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00b026db9c4049b4"/>
              </a:rPr>
              <a:t>開啟 Codex ↗</a:t>
            </a:r>
          </a:p>
        </p:txBody>
      </p:sp>
      <p:sp>
        <p:nvSpPr>
          <p:cNvPr id="20" name="shape-2492">
            <a:extLst xmlns:a="http://schemas.openxmlformats.org/drawingml/2006/main">
              <a:ext uri="{FF2B5EF4-FFF2-40B4-BE49-F238E27FC236}">
                <a16:creationId xmlns:a16="http://schemas.microsoft.com/office/drawing/2014/main" id="{E776E14D-A931-4E0A-AF9B-8EEE3CAD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221af529104573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22" name="text-2493">
            <a:extLst xmlns:a="http://schemas.openxmlformats.org/drawingml/2006/main">
              <a:ext uri="{FF2B5EF4-FFF2-40B4-BE49-F238E27FC236}">
                <a16:creationId xmlns:a16="http://schemas.microsoft.com/office/drawing/2014/main" id="{06153493-2F6A-45B6-A87B-01C7735D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</a:t>
            </a:r>
          </a:p>
        </p:txBody>
      </p:sp>
    </p:spTree>
    <p:extLst>
      <p:ext uri="{BB962C8B-B14F-4D97-AF65-F5344CB8AC3E}">
        <p14:creationId xmlns:p14="http://schemas.microsoft.com/office/powerpoint/2010/main" val="122978034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1846">
            <a:extLst xmlns:a="http://schemas.openxmlformats.org/drawingml/2006/main">
              <a:ext uri="{FF2B5EF4-FFF2-40B4-BE49-F238E27FC236}">
                <a16:creationId xmlns:a16="http://schemas.microsoft.com/office/drawing/2014/main" id="{B905099B-B817-4186-A51D-FAA9FD6C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4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84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2" name="text-1847">
            <a:extLst xmlns:a="http://schemas.openxmlformats.org/drawingml/2006/main">
              <a:ext uri="{FF2B5EF4-FFF2-40B4-BE49-F238E27FC236}">
                <a16:creationId xmlns:a16="http://schemas.microsoft.com/office/drawing/2014/main" id="{AD7D0E0E-6B47-45A3-A22D-5DD26013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40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Agent Skills</a:t>
            </a:r>
          </a:p>
        </p:txBody>
      </p:sp>
      <p:sp>
        <p:nvSpPr>
          <p:cNvPr id="3" name="text-1848">
            <a:extLst xmlns:a="http://schemas.openxmlformats.org/drawingml/2006/main">
              <a:ext uri="{FF2B5EF4-FFF2-40B4-BE49-F238E27FC236}">
                <a16:creationId xmlns:a16="http://schemas.microsoft.com/office/drawing/2014/main" id="{86C90F6D-FDF2-4F63-A4EF-9A420A65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8477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把反覆使用的提示詞、規則、範例與檢查方式，封裝成 Agent 需要時才載入的專業工作包。</a:t>
            </a:r>
          </a:p>
        </p:txBody>
      </p:sp>
      <p:sp>
        <p:nvSpPr>
          <p:cNvPr id="4" name="shape-1849">
            <a:extLst xmlns:a="http://schemas.openxmlformats.org/drawingml/2006/main">
              <a:ext uri="{FF2B5EF4-FFF2-40B4-BE49-F238E27FC236}">
                <a16:creationId xmlns:a16="http://schemas.microsoft.com/office/drawing/2014/main" id="{EAADB67B-DC80-4EBB-AE32-C0E0EA8A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810000"/>
            <a:ext cx="1524000" cy="1524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1850">
            <a:extLst xmlns:a="http://schemas.openxmlformats.org/drawingml/2006/main">
              <a:ext uri="{FF2B5EF4-FFF2-40B4-BE49-F238E27FC236}">
                <a16:creationId xmlns:a16="http://schemas.microsoft.com/office/drawing/2014/main" id="{DF6D7802-EC48-4938-92DE-C61FEF53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114800"/>
            <a:ext cx="114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動手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做</a:t>
            </a:r>
          </a:p>
        </p:txBody>
      </p:sp>
      <p:cxnSp>
        <p:nvCxnSpPr>
          <p:cNvPr id="22" name="shape-1851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7" name="text-1852">
            <a:extLst xmlns:a="http://schemas.openxmlformats.org/drawingml/2006/main">
              <a:ext uri="{FF2B5EF4-FFF2-40B4-BE49-F238E27FC236}">
                <a16:creationId xmlns:a16="http://schemas.microsoft.com/office/drawing/2014/main" id="{8536AABB-0819-429B-A40F-73FFBF5E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AB09B64-B534-40B5-A235-D3F7B11D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41</a:t>
            </a:r>
          </a:p>
        </p:txBody>
      </p:sp>
      <p:sp>
        <p:nvSpPr>
          <p:cNvPr id="9" name="text-2403">
            <a:extLst xmlns:a="http://schemas.openxmlformats.org/drawingml/2006/main">
              <a:ext uri="{FF2B5EF4-FFF2-40B4-BE49-F238E27FC236}">
                <a16:creationId xmlns:a16="http://schemas.microsoft.com/office/drawing/2014/main" id="{E9F8A94B-B493-40BF-8E5B-02B36E5F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0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17c5063fb5d348c1"/>
              </a:rPr>
              <a:t>Antigravity Skills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0ef2888ef1524290"/>
              </a:rPr>
              <a:t>Codex Skills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7a4c8c97ee0643ba"/>
              </a:rPr>
              <a:t>Skills 資源庫 ↗</a:t>
            </a:r>
          </a:p>
        </p:txBody>
      </p:sp>
      <p:sp>
        <p:nvSpPr>
          <p:cNvPr id="10" name="shape-2494">
            <a:extLst xmlns:a="http://schemas.openxmlformats.org/drawingml/2006/main">
              <a:ext uri="{FF2B5EF4-FFF2-40B4-BE49-F238E27FC236}">
                <a16:creationId xmlns:a16="http://schemas.microsoft.com/office/drawing/2014/main" id="{C7B3836D-12B3-4359-B762-2FC068BE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"/>
            <a:ext cx="2247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8c748c70744928"/>
          <a:stretch xmlns:a="http://schemas.openxmlformats.org/drawingml/2006/main"/>
        </p:blipFill>
        <p:spPr>
          <a:xfrm xmlns:a="http://schemas.openxmlformats.org/drawingml/2006/main">
            <a:off x="95059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12" name="text-2495">
            <a:extLst xmlns:a="http://schemas.openxmlformats.org/drawingml/2006/main">
              <a:ext uri="{FF2B5EF4-FFF2-40B4-BE49-F238E27FC236}">
                <a16:creationId xmlns:a16="http://schemas.microsoft.com/office/drawing/2014/main" id="{4C71634B-CDFA-49E0-A5E1-C1E65FBA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 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3a7ed3df9e4cfa"/>
          <a:stretch xmlns:a="http://schemas.openxmlformats.org/drawingml/2006/main"/>
        </p:blipFill>
        <p:spPr>
          <a:xfrm xmlns:a="http://schemas.openxmlformats.org/drawingml/2006/main">
            <a:off x="102298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14" name="text-2496">
            <a:extLst xmlns:a="http://schemas.openxmlformats.org/drawingml/2006/main">
              <a:ext uri="{FF2B5EF4-FFF2-40B4-BE49-F238E27FC236}">
                <a16:creationId xmlns:a16="http://schemas.microsoft.com/office/drawing/2014/main" id="{772F2421-9C3F-4F40-BB14-2FA8121E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 Skills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8b968a775f4d4d"/>
          <a:stretch xmlns:a="http://schemas.openxmlformats.org/drawingml/2006/main"/>
        </p:blipFill>
        <p:spPr>
          <a:xfrm xmlns:a="http://schemas.openxmlformats.org/drawingml/2006/main">
            <a:off x="109537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16" name="text-2497">
            <a:extLst xmlns:a="http://schemas.openxmlformats.org/drawingml/2006/main">
              <a:ext uri="{FF2B5EF4-FFF2-40B4-BE49-F238E27FC236}">
                <a16:creationId xmlns:a16="http://schemas.microsoft.com/office/drawing/2014/main" id="{63593C5D-AEA4-4611-94E9-1A5842CA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Skills 資源庫</a:t>
            </a:r>
          </a:p>
        </p:txBody>
      </p:sp>
    </p:spTree>
    <p:extLst>
      <p:ext uri="{BB962C8B-B14F-4D97-AF65-F5344CB8AC3E}">
        <p14:creationId xmlns:p14="http://schemas.microsoft.com/office/powerpoint/2010/main" val="36516890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1853">
            <a:extLst xmlns:a="http://schemas.openxmlformats.org/drawingml/2006/main">
              <a:ext uri="{FF2B5EF4-FFF2-40B4-BE49-F238E27FC236}">
                <a16:creationId xmlns:a16="http://schemas.microsoft.com/office/drawing/2014/main" id="{804BC5C1-3D49-42F2-A1D4-813473FE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SKILL AS A POWER-UP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8CAD6C-F621-4363-A849-7401ABF7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28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Skills：像《駭客任務》灌入，也像寶可夢裝卡</a:t>
            </a:r>
          </a:p>
        </p:txBody>
      </p:sp>
      <p:cxnSp>
        <p:nvCxnSpPr>
          <p:cNvPr id="22" name="shape-1854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855">
            <a:extLst xmlns:a="http://schemas.openxmlformats.org/drawingml/2006/main">
              <a:ext uri="{FF2B5EF4-FFF2-40B4-BE49-F238E27FC236}">
                <a16:creationId xmlns:a16="http://schemas.microsoft.com/office/drawing/2014/main" id="{23A701BA-065C-46C5-8ABA-1F6F2B17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C94FE5D-D53E-49C2-87BA-014F2E83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42</a:t>
            </a:r>
          </a:p>
        </p:txBody>
      </p:sp>
      <p:sp>
        <p:nvSpPr>
          <p:cNvPr id="6" name="shape-1856">
            <a:extLst xmlns:a="http://schemas.openxmlformats.org/drawingml/2006/main">
              <a:ext uri="{FF2B5EF4-FFF2-40B4-BE49-F238E27FC236}">
                <a16:creationId xmlns:a16="http://schemas.microsoft.com/office/drawing/2014/main" id="{F596CC04-D308-4A22-A9A1-71089196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3625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shape-1857">
            <a:extLst xmlns:a="http://schemas.openxmlformats.org/drawingml/2006/main">
              <a:ext uri="{FF2B5EF4-FFF2-40B4-BE49-F238E27FC236}">
                <a16:creationId xmlns:a16="http://schemas.microsoft.com/office/drawing/2014/main" id="{45B2F217-6125-4AB7-ACC0-CAA44E1E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676400"/>
            <a:ext cx="55911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8" name="text-1858">
            <a:extLst xmlns:a="http://schemas.openxmlformats.org/drawingml/2006/main">
              <a:ext uri="{FF2B5EF4-FFF2-40B4-BE49-F238E27FC236}">
                <a16:creationId xmlns:a16="http://schemas.microsoft.com/office/drawing/2014/main" id="{5B3E328E-9722-4DAE-B164-47AA02B3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791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《駭客任務》：技能像能力模組</a:t>
            </a:r>
          </a:p>
        </p:txBody>
      </p:sp>
      <p:sp>
        <p:nvSpPr>
          <p:cNvPr id="9" name="text-1859">
            <a:extLst xmlns:a="http://schemas.openxmlformats.org/drawingml/2006/main">
              <a:ext uri="{FF2B5EF4-FFF2-40B4-BE49-F238E27FC236}">
                <a16:creationId xmlns:a16="http://schemas.microsoft.com/office/drawing/2014/main" id="{4FFD0C06-9E76-4A8D-88CE-7E35984A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47910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Neo 原本不會空手道；技能灌入後，立刻進入新的行動方式。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Agent 裝上 Skill，也能學會一套可重複的工作流程。</a:t>
            </a:r>
          </a:p>
        </p:txBody>
      </p:sp>
      <p:sp>
        <p:nvSpPr>
          <p:cNvPr id="10" name="text-1860">
            <a:extLst xmlns:a="http://schemas.openxmlformats.org/drawingml/2006/main">
              <a:ext uri="{FF2B5EF4-FFF2-40B4-BE49-F238E27FC236}">
                <a16:creationId xmlns:a16="http://schemas.microsoft.com/office/drawing/2014/main" id="{184AA9A1-069D-4B73-9CAC-10F43969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00250"/>
            <a:ext cx="4981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《寶可夢》：技能卡只是起點</a:t>
            </a:r>
          </a:p>
        </p:txBody>
      </p:sp>
      <p:sp>
        <p:nvSpPr>
          <p:cNvPr id="11" name="text-1861">
            <a:extLst xmlns:a="http://schemas.openxmlformats.org/drawingml/2006/main">
              <a:ext uri="{FF2B5EF4-FFF2-40B4-BE49-F238E27FC236}">
                <a16:creationId xmlns:a16="http://schemas.microsoft.com/office/drawing/2014/main" id="{91346A4A-F427-42C8-93F9-A6716A2B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81300"/>
            <a:ext cx="49815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裝上招式後，還要練習、對戰與升級。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把大神的 Skill 抓進來，再和 Agent 對話修正，才會進化成你的版本。</a:t>
            </a:r>
          </a:p>
        </p:txBody>
      </p:sp>
      <p:sp>
        <p:nvSpPr>
          <p:cNvPr id="12" name="text-2404">
            <a:extLst xmlns:a="http://schemas.openxmlformats.org/drawingml/2006/main">
              <a:ext uri="{FF2B5EF4-FFF2-40B4-BE49-F238E27FC236}">
                <a16:creationId xmlns:a16="http://schemas.microsoft.com/office/drawing/2014/main" id="{C44CFB6D-282F-45C4-8240-EACD9577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0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ea6359dce0eb4fe0"/>
              </a:rPr>
              <a:t>Antigravity Skills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f0b57b7a2c1b4d79"/>
              </a:rPr>
              <a:t>Codex Skills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4bd92c99e825416c"/>
              </a:rPr>
              <a:t>Skills 資源庫 ↗</a:t>
            </a:r>
          </a:p>
        </p:txBody>
      </p:sp>
      <p:sp>
        <p:nvSpPr>
          <p:cNvPr id="13" name="shape-2498">
            <a:extLst xmlns:a="http://schemas.openxmlformats.org/drawingml/2006/main">
              <a:ext uri="{FF2B5EF4-FFF2-40B4-BE49-F238E27FC236}">
                <a16:creationId xmlns:a16="http://schemas.microsoft.com/office/drawing/2014/main" id="{F485236B-D087-4317-A2B4-B6EE663F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"/>
            <a:ext cx="2247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b216316344865"/>
          <a:stretch xmlns:a="http://schemas.openxmlformats.org/drawingml/2006/main"/>
        </p:blipFill>
        <p:spPr>
          <a:xfrm xmlns:a="http://schemas.openxmlformats.org/drawingml/2006/main">
            <a:off x="95059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15" name="text-2499">
            <a:extLst xmlns:a="http://schemas.openxmlformats.org/drawingml/2006/main">
              <a:ext uri="{FF2B5EF4-FFF2-40B4-BE49-F238E27FC236}">
                <a16:creationId xmlns:a16="http://schemas.microsoft.com/office/drawing/2014/main" id="{3456144B-4D49-4C6C-B3E2-8C4E56A3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 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dc930f10ba48d3"/>
          <a:stretch xmlns:a="http://schemas.openxmlformats.org/drawingml/2006/main"/>
        </p:blipFill>
        <p:spPr>
          <a:xfrm xmlns:a="http://schemas.openxmlformats.org/drawingml/2006/main">
            <a:off x="102298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17" name="text-2500">
            <a:extLst xmlns:a="http://schemas.openxmlformats.org/drawingml/2006/main">
              <a:ext uri="{FF2B5EF4-FFF2-40B4-BE49-F238E27FC236}">
                <a16:creationId xmlns:a16="http://schemas.microsoft.com/office/drawing/2014/main" id="{7FFB22DE-E41A-4CA8-B57D-C01A7A13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 Skills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7cce507cc7494e"/>
          <a:stretch xmlns:a="http://schemas.openxmlformats.org/drawingml/2006/main"/>
        </p:blipFill>
        <p:spPr>
          <a:xfrm xmlns:a="http://schemas.openxmlformats.org/drawingml/2006/main">
            <a:off x="109537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19" name="text-2501">
            <a:extLst xmlns:a="http://schemas.openxmlformats.org/drawingml/2006/main">
              <a:ext uri="{FF2B5EF4-FFF2-40B4-BE49-F238E27FC236}">
                <a16:creationId xmlns:a16="http://schemas.microsoft.com/office/drawing/2014/main" id="{BF45D157-4EBF-4017-8A2E-1C228FC2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Skills 資源庫</a:t>
            </a:r>
          </a:p>
        </p:txBody>
      </p:sp>
    </p:spTree>
    <p:extLst>
      <p:ext uri="{BB962C8B-B14F-4D97-AF65-F5344CB8AC3E}">
        <p14:creationId xmlns:p14="http://schemas.microsoft.com/office/powerpoint/2010/main" val="82391829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1862">
            <a:extLst xmlns:a="http://schemas.openxmlformats.org/drawingml/2006/main">
              <a:ext uri="{FF2B5EF4-FFF2-40B4-BE49-F238E27FC236}">
                <a16:creationId xmlns:a16="http://schemas.microsoft.com/office/drawing/2014/main" id="{3745F9B0-E552-4840-BB88-76C9B95C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51 PROMPTS · 9 DOMAINS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360B27-B305-4799-9583-5AB2E32F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從提示詞快捷面板開始發想</a:t>
            </a:r>
          </a:p>
        </p:txBody>
      </p:sp>
      <p:cxnSp>
        <p:nvCxnSpPr>
          <p:cNvPr id="15" name="shape-1863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864">
            <a:extLst xmlns:a="http://schemas.openxmlformats.org/drawingml/2006/main">
              <a:ext uri="{FF2B5EF4-FFF2-40B4-BE49-F238E27FC236}">
                <a16:creationId xmlns:a16="http://schemas.microsoft.com/office/drawing/2014/main" id="{23FB822D-E357-42F9-BEE5-85F99184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391EC01-6BF1-490A-BA14-4287C7B7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43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4eaf5b461c4fa1"/>
          <a:srcRect xmlns:a="http://schemas.openxmlformats.org/drawingml/2006/main" l="1389" t="0" r="13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600200"/>
            <a:ext cx="6934200" cy="4457700"/>
          </a:xfrm>
          <a:prstGeom xmlns:a="http://schemas.openxmlformats.org/drawingml/2006/main" prst="roundRect">
            <a:avLst>
              <a:gd name="adj" fmla="val 3419"/>
            </a:avLst>
          </a:prstGeom>
        </p:spPr>
      </p:pic>
      <p:sp>
        <p:nvSpPr>
          <p:cNvPr id="7" name="text-1865">
            <a:extLst xmlns:a="http://schemas.openxmlformats.org/drawingml/2006/main">
              <a:ext uri="{FF2B5EF4-FFF2-40B4-BE49-F238E27FC236}">
                <a16:creationId xmlns:a16="http://schemas.microsoft.com/office/drawing/2014/main" id="{B6ADBD6D-1478-4977-B51D-CF41A344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5260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阿凱老師的提示詞快捷面板</a:t>
            </a:r>
          </a:p>
        </p:txBody>
      </p:sp>
      <p:sp>
        <p:nvSpPr>
          <p:cNvPr id="8" name="text-1866">
            <a:extLst xmlns:a="http://schemas.openxmlformats.org/drawingml/2006/main">
              <a:ext uri="{FF2B5EF4-FFF2-40B4-BE49-F238E27FC236}">
                <a16:creationId xmlns:a16="http://schemas.microsoft.com/office/drawing/2014/main" id="{D37C2F9D-B61A-4F42-B258-E0D0DE30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24150"/>
            <a:ext cx="371475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• 部署上線：Pages、Firebase、版本確認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• 網站設計：單檔網站、RWD、Google Sites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• 影音字幕：SRT、章節、短影片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• 圖像簡報、內容寫作、功能整合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• 技能文件、開發流程與常用片段</a:t>
            </a:r>
          </a:p>
        </p:txBody>
      </p:sp>
      <p:sp>
        <p:nvSpPr>
          <p:cNvPr id="9" name="text-2412">
            <a:extLst xmlns:a="http://schemas.openxmlformats.org/drawingml/2006/main">
              <a:ext uri="{FF2B5EF4-FFF2-40B4-BE49-F238E27FC236}">
                <a16:creationId xmlns:a16="http://schemas.microsoft.com/office/drawing/2014/main" id="{BEEC0F52-1B51-4656-88D4-1DD31BC4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fe488dd4891d4cdb"/>
              </a:rPr>
              <a:t>開啟提示詞面板 ↗</a:t>
            </a:r>
          </a:p>
        </p:txBody>
      </p:sp>
      <p:sp>
        <p:nvSpPr>
          <p:cNvPr id="10" name="shape-2530">
            <a:extLst xmlns:a="http://schemas.openxmlformats.org/drawingml/2006/main">
              <a:ext uri="{FF2B5EF4-FFF2-40B4-BE49-F238E27FC236}">
                <a16:creationId xmlns:a16="http://schemas.microsoft.com/office/drawing/2014/main" id="{80FC944E-0C9E-445E-AA34-548D8D2F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036279dfa14677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12" name="text-2531">
            <a:extLst xmlns:a="http://schemas.openxmlformats.org/drawingml/2006/main">
              <a:ext uri="{FF2B5EF4-FFF2-40B4-BE49-F238E27FC236}">
                <a16:creationId xmlns:a16="http://schemas.microsoft.com/office/drawing/2014/main" id="{9EA5DF27-DB1A-42EA-B5B6-BCF89918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提示詞面板</a:t>
            </a:r>
          </a:p>
        </p:txBody>
      </p:sp>
    </p:spTree>
    <p:extLst>
      <p:ext uri="{BB962C8B-B14F-4D97-AF65-F5344CB8AC3E}">
        <p14:creationId xmlns:p14="http://schemas.microsoft.com/office/powerpoint/2010/main" val="40877247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-1867">
            <a:extLst xmlns:a="http://schemas.openxmlformats.org/drawingml/2006/main">
              <a:ext uri="{FF2B5EF4-FFF2-40B4-BE49-F238E27FC236}">
                <a16:creationId xmlns:a16="http://schemas.microsoft.com/office/drawing/2014/main" id="{8D0B3558-DE79-40A7-9D3B-B05C903C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PROMPT → SKILL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36597C-94C0-4D63-A206-D89C872D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28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四問判斷：這個提示詞值得升級成 Skill 嗎？</a:t>
            </a:r>
          </a:p>
        </p:txBody>
      </p:sp>
      <p:cxnSp>
        <p:nvCxnSpPr>
          <p:cNvPr id="32" name="shape-1868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869">
            <a:extLst xmlns:a="http://schemas.openxmlformats.org/drawingml/2006/main">
              <a:ext uri="{FF2B5EF4-FFF2-40B4-BE49-F238E27FC236}">
                <a16:creationId xmlns:a16="http://schemas.microsoft.com/office/drawing/2014/main" id="{B3865B2C-3DA9-4A48-A255-5108E3E1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AF355EB-D6F9-4B02-B736-8AAAA202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44</a:t>
            </a:r>
          </a:p>
        </p:txBody>
      </p:sp>
      <p:sp>
        <p:nvSpPr>
          <p:cNvPr id="6" name="shape-1870">
            <a:extLst xmlns:a="http://schemas.openxmlformats.org/drawingml/2006/main">
              <a:ext uri="{FF2B5EF4-FFF2-40B4-BE49-F238E27FC236}">
                <a16:creationId xmlns:a16="http://schemas.microsoft.com/office/drawing/2014/main" id="{9A0BC3D5-A98B-46E9-B956-4403ED15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1871">
            <a:extLst xmlns:a="http://schemas.openxmlformats.org/drawingml/2006/main">
              <a:ext uri="{FF2B5EF4-FFF2-40B4-BE49-F238E27FC236}">
                <a16:creationId xmlns:a16="http://schemas.microsoft.com/office/drawing/2014/main" id="{6129D587-0077-414D-B9B6-E6F4AB3F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R</a:t>
            </a:r>
          </a:p>
        </p:txBody>
      </p:sp>
      <p:sp>
        <p:nvSpPr>
          <p:cNvPr id="8" name="text-1872">
            <a:extLst xmlns:a="http://schemas.openxmlformats.org/drawingml/2006/main">
              <a:ext uri="{FF2B5EF4-FFF2-40B4-BE49-F238E27FC236}">
                <a16:creationId xmlns:a16="http://schemas.microsoft.com/office/drawing/2014/main" id="{9D875A6D-BB7C-4700-B327-6A92589D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會重複嗎？</a:t>
            </a:r>
          </a:p>
        </p:txBody>
      </p:sp>
      <p:sp>
        <p:nvSpPr>
          <p:cNvPr id="9" name="text-1873">
            <a:extLst xmlns:a="http://schemas.openxmlformats.org/drawingml/2006/main">
              <a:ext uri="{FF2B5EF4-FFF2-40B4-BE49-F238E27FC236}">
                <a16:creationId xmlns:a16="http://schemas.microsoft.com/office/drawing/2014/main" id="{8104D9E0-2FA0-4961-B4CF-77C75D6A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一學期或一個團隊會反覆遇到，不是一次性要求。</a:t>
            </a:r>
          </a:p>
        </p:txBody>
      </p:sp>
      <p:sp>
        <p:nvSpPr>
          <p:cNvPr id="10" name="shape-1874">
            <a:extLst xmlns:a="http://schemas.openxmlformats.org/drawingml/2006/main">
              <a:ext uri="{FF2B5EF4-FFF2-40B4-BE49-F238E27FC236}">
                <a16:creationId xmlns:a16="http://schemas.microsoft.com/office/drawing/2014/main" id="{72497BF6-85F8-4266-B230-ED271378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1875">
            <a:extLst xmlns:a="http://schemas.openxmlformats.org/drawingml/2006/main">
              <a:ext uri="{FF2B5EF4-FFF2-40B4-BE49-F238E27FC236}">
                <a16:creationId xmlns:a16="http://schemas.microsoft.com/office/drawing/2014/main" id="{BB4B91CA-BF62-476D-AACD-63DDA455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S</a:t>
            </a:r>
          </a:p>
        </p:txBody>
      </p:sp>
      <p:sp>
        <p:nvSpPr>
          <p:cNvPr id="12" name="text-1876">
            <a:extLst xmlns:a="http://schemas.openxmlformats.org/drawingml/2006/main">
              <a:ext uri="{FF2B5EF4-FFF2-40B4-BE49-F238E27FC236}">
                <a16:creationId xmlns:a16="http://schemas.microsoft.com/office/drawing/2014/main" id="{8DC575FA-91BE-4EDC-BB00-A39E5FEB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流程穩定嗎？</a:t>
            </a:r>
          </a:p>
        </p:txBody>
      </p:sp>
      <p:sp>
        <p:nvSpPr>
          <p:cNvPr id="13" name="text-1877">
            <a:extLst xmlns:a="http://schemas.openxmlformats.org/drawingml/2006/main">
              <a:ext uri="{FF2B5EF4-FFF2-40B4-BE49-F238E27FC236}">
                <a16:creationId xmlns:a16="http://schemas.microsoft.com/office/drawing/2014/main" id="{01DC2AFA-B1E8-41F5-9D67-26DDD307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大部分步驟、限制與輸出欄位可固定。</a:t>
            </a:r>
          </a:p>
        </p:txBody>
      </p:sp>
      <p:sp>
        <p:nvSpPr>
          <p:cNvPr id="14" name="shape-1878">
            <a:extLst xmlns:a="http://schemas.openxmlformats.org/drawingml/2006/main">
              <a:ext uri="{FF2B5EF4-FFF2-40B4-BE49-F238E27FC236}">
                <a16:creationId xmlns:a16="http://schemas.microsoft.com/office/drawing/2014/main" id="{930DEDD6-8EAB-43EB-B23E-1AEDCA98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1879">
            <a:extLst xmlns:a="http://schemas.openxmlformats.org/drawingml/2006/main">
              <a:ext uri="{FF2B5EF4-FFF2-40B4-BE49-F238E27FC236}">
                <a16:creationId xmlns:a16="http://schemas.microsoft.com/office/drawing/2014/main" id="{D822140A-BF16-43A2-B0B1-5C135D9C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V</a:t>
            </a:r>
          </a:p>
        </p:txBody>
      </p:sp>
      <p:sp>
        <p:nvSpPr>
          <p:cNvPr id="16" name="text-1880">
            <a:extLst xmlns:a="http://schemas.openxmlformats.org/drawingml/2006/main">
              <a:ext uri="{FF2B5EF4-FFF2-40B4-BE49-F238E27FC236}">
                <a16:creationId xmlns:a16="http://schemas.microsoft.com/office/drawing/2014/main" id="{A647791B-A3CB-4FAE-A112-D41770FA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能驗證嗎？</a:t>
            </a:r>
          </a:p>
        </p:txBody>
      </p:sp>
      <p:sp>
        <p:nvSpPr>
          <p:cNvPr id="17" name="text-1881">
            <a:extLst xmlns:a="http://schemas.openxmlformats.org/drawingml/2006/main">
              <a:ext uri="{FF2B5EF4-FFF2-40B4-BE49-F238E27FC236}">
                <a16:creationId xmlns:a16="http://schemas.microsoft.com/office/drawing/2014/main" id="{2069A048-FC91-4ABE-A8EB-DA37C3F8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有可檢查的完成條件，而非只憑喜好。</a:t>
            </a:r>
          </a:p>
        </p:txBody>
      </p:sp>
      <p:sp>
        <p:nvSpPr>
          <p:cNvPr id="18" name="shape-1882">
            <a:extLst xmlns:a="http://schemas.openxmlformats.org/drawingml/2006/main">
              <a:ext uri="{FF2B5EF4-FFF2-40B4-BE49-F238E27FC236}">
                <a16:creationId xmlns:a16="http://schemas.microsoft.com/office/drawing/2014/main" id="{9A1FC917-3B50-4320-A550-D6EA579B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1883">
            <a:extLst xmlns:a="http://schemas.openxmlformats.org/drawingml/2006/main">
              <a:ext uri="{FF2B5EF4-FFF2-40B4-BE49-F238E27FC236}">
                <a16:creationId xmlns:a16="http://schemas.microsoft.com/office/drawing/2014/main" id="{3431FEDE-94B7-4DB8-AFBE-6FCFD7B7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M</a:t>
            </a:r>
          </a:p>
        </p:txBody>
      </p:sp>
      <p:sp>
        <p:nvSpPr>
          <p:cNvPr id="20" name="text-1884">
            <a:extLst xmlns:a="http://schemas.openxmlformats.org/drawingml/2006/main">
              <a:ext uri="{FF2B5EF4-FFF2-40B4-BE49-F238E27FC236}">
                <a16:creationId xmlns:a16="http://schemas.microsoft.com/office/drawing/2014/main" id="{4334AFE7-63CF-4424-B09A-53AC46A1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能維護嗎？</a:t>
            </a:r>
          </a:p>
        </p:txBody>
      </p:sp>
      <p:sp>
        <p:nvSpPr>
          <p:cNvPr id="21" name="text-1885">
            <a:extLst xmlns:a="http://schemas.openxmlformats.org/drawingml/2006/main">
              <a:ext uri="{FF2B5EF4-FFF2-40B4-BE49-F238E27FC236}">
                <a16:creationId xmlns:a16="http://schemas.microsoft.com/office/drawing/2014/main" id="{FF6AE033-C0F1-4ED6-9F5E-6DD4EFD2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範例、規則與腳本可以更新、版控與交接。</a:t>
            </a:r>
          </a:p>
        </p:txBody>
      </p:sp>
      <p:sp>
        <p:nvSpPr>
          <p:cNvPr id="22" name="text-2405">
            <a:extLst xmlns:a="http://schemas.openxmlformats.org/drawingml/2006/main">
              <a:ext uri="{FF2B5EF4-FFF2-40B4-BE49-F238E27FC236}">
                <a16:creationId xmlns:a16="http://schemas.microsoft.com/office/drawing/2014/main" id="{08DACCAB-B9D4-4EE1-8D77-D2803D57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0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9f3e17f755094a86"/>
              </a:rPr>
              <a:t>Antigravity Skills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8d63baf23bcf4ec7"/>
              </a:rPr>
              <a:t>Codex Skills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7f49cf78f2da4f15"/>
              </a:rPr>
              <a:t>Skills 資源庫 ↗</a:t>
            </a:r>
          </a:p>
        </p:txBody>
      </p:sp>
      <p:sp>
        <p:nvSpPr>
          <p:cNvPr id="23" name="shape-2502">
            <a:extLst xmlns:a="http://schemas.openxmlformats.org/drawingml/2006/main">
              <a:ext uri="{FF2B5EF4-FFF2-40B4-BE49-F238E27FC236}">
                <a16:creationId xmlns:a16="http://schemas.microsoft.com/office/drawing/2014/main" id="{0AD9689F-7C54-4FA4-A7EF-BCF7C4FA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"/>
            <a:ext cx="2247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9c518fd63a47eb"/>
          <a:stretch xmlns:a="http://schemas.openxmlformats.org/drawingml/2006/main"/>
        </p:blipFill>
        <p:spPr>
          <a:xfrm xmlns:a="http://schemas.openxmlformats.org/drawingml/2006/main">
            <a:off x="95059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5" name="text-2503">
            <a:extLst xmlns:a="http://schemas.openxmlformats.org/drawingml/2006/main">
              <a:ext uri="{FF2B5EF4-FFF2-40B4-BE49-F238E27FC236}">
                <a16:creationId xmlns:a16="http://schemas.microsoft.com/office/drawing/2014/main" id="{554F601A-EDFD-4B7A-9F07-13BCD5E8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 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faed2926534493"/>
          <a:stretch xmlns:a="http://schemas.openxmlformats.org/drawingml/2006/main"/>
        </p:blipFill>
        <p:spPr>
          <a:xfrm xmlns:a="http://schemas.openxmlformats.org/drawingml/2006/main">
            <a:off x="102298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7" name="text-2504">
            <a:extLst xmlns:a="http://schemas.openxmlformats.org/drawingml/2006/main">
              <a:ext uri="{FF2B5EF4-FFF2-40B4-BE49-F238E27FC236}">
                <a16:creationId xmlns:a16="http://schemas.microsoft.com/office/drawing/2014/main" id="{F5ED3BBA-3187-4050-A412-9C883B9C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 Skills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77460fb0f842f6"/>
          <a:stretch xmlns:a="http://schemas.openxmlformats.org/drawingml/2006/main"/>
        </p:blipFill>
        <p:spPr>
          <a:xfrm xmlns:a="http://schemas.openxmlformats.org/drawingml/2006/main">
            <a:off x="109537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9" name="text-2505">
            <a:extLst xmlns:a="http://schemas.openxmlformats.org/drawingml/2006/main">
              <a:ext uri="{FF2B5EF4-FFF2-40B4-BE49-F238E27FC236}">
                <a16:creationId xmlns:a16="http://schemas.microsoft.com/office/drawing/2014/main" id="{6C1FDEFE-60A0-4A82-907B-61BF77CC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Skills 資源庫</a:t>
            </a:r>
          </a:p>
        </p:txBody>
      </p:sp>
    </p:spTree>
    <p:extLst>
      <p:ext uri="{BB962C8B-B14F-4D97-AF65-F5344CB8AC3E}">
        <p14:creationId xmlns:p14="http://schemas.microsoft.com/office/powerpoint/2010/main" val="55935207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text-1886">
            <a:extLst xmlns:a="http://schemas.openxmlformats.org/drawingml/2006/main">
              <a:ext uri="{FF2B5EF4-FFF2-40B4-BE49-F238E27FC236}">
                <a16:creationId xmlns:a16="http://schemas.microsoft.com/office/drawing/2014/main" id="{49BCAA18-632D-45AC-81CC-523DAA9F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CREATIVE STARTERS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19A0F0-7577-49DC-8EDB-86D68605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28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六個真實提示詞，如何升級成 Skill</a:t>
            </a:r>
          </a:p>
        </p:txBody>
      </p:sp>
      <p:cxnSp>
        <p:nvCxnSpPr>
          <p:cNvPr id="40" name="shape-1887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888">
            <a:extLst xmlns:a="http://schemas.openxmlformats.org/drawingml/2006/main">
              <a:ext uri="{FF2B5EF4-FFF2-40B4-BE49-F238E27FC236}">
                <a16:creationId xmlns:a16="http://schemas.microsoft.com/office/drawing/2014/main" id="{65AA8959-1005-46F0-A9BA-5DB6FCE9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51E62F4-2DCC-43C3-912C-E6CFA53E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45</a:t>
            </a:r>
          </a:p>
        </p:txBody>
      </p:sp>
      <p:sp>
        <p:nvSpPr>
          <p:cNvPr id="6" name="shape-1889">
            <a:extLst xmlns:a="http://schemas.openxmlformats.org/drawingml/2006/main">
              <a:ext uri="{FF2B5EF4-FFF2-40B4-BE49-F238E27FC236}">
                <a16:creationId xmlns:a16="http://schemas.microsoft.com/office/drawing/2014/main" id="{8F3E8D9F-2A35-482E-9633-425BC7FA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1890">
            <a:extLst xmlns:a="http://schemas.openxmlformats.org/drawingml/2006/main">
              <a:ext uri="{FF2B5EF4-FFF2-40B4-BE49-F238E27FC236}">
                <a16:creationId xmlns:a16="http://schemas.microsoft.com/office/drawing/2014/main" id="{D70E29C0-AD94-4A85-B263-099C4296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WEB</a:t>
            </a:r>
          </a:p>
        </p:txBody>
      </p:sp>
      <p:sp>
        <p:nvSpPr>
          <p:cNvPr id="8" name="text-1891">
            <a:extLst xmlns:a="http://schemas.openxmlformats.org/drawingml/2006/main">
              <a:ext uri="{FF2B5EF4-FFF2-40B4-BE49-F238E27FC236}">
                <a16:creationId xmlns:a16="http://schemas.microsoft.com/office/drawing/2014/main" id="{82C653C9-D3F9-4B35-AB70-A77C0763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/onepage</a:t>
            </a:r>
          </a:p>
        </p:txBody>
      </p:sp>
      <p:sp>
        <p:nvSpPr>
          <p:cNvPr id="9" name="text-1892">
            <a:extLst xmlns:a="http://schemas.openxmlformats.org/drawingml/2006/main">
              <a:ext uri="{FF2B5EF4-FFF2-40B4-BE49-F238E27FC236}">
                <a16:creationId xmlns:a16="http://schemas.microsoft.com/office/drawing/2014/main" id="{90E3CAFD-B266-4773-B766-B2C433A1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單檔互動網站 → 課程資源頁產製＋RWD＋連結檢查。</a:t>
            </a:r>
          </a:p>
        </p:txBody>
      </p:sp>
      <p:sp>
        <p:nvSpPr>
          <p:cNvPr id="10" name="shape-1893">
            <a:extLst xmlns:a="http://schemas.openxmlformats.org/drawingml/2006/main">
              <a:ext uri="{FF2B5EF4-FFF2-40B4-BE49-F238E27FC236}">
                <a16:creationId xmlns:a16="http://schemas.microsoft.com/office/drawing/2014/main" id="{7C5ACD42-DA2D-4A70-A341-42D53B75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1894">
            <a:extLst xmlns:a="http://schemas.openxmlformats.org/drawingml/2006/main">
              <a:ext uri="{FF2B5EF4-FFF2-40B4-BE49-F238E27FC236}">
                <a16:creationId xmlns:a16="http://schemas.microsoft.com/office/drawing/2014/main" id="{9056DFBC-0350-4491-9C4A-CEC14851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PPT</a:t>
            </a:r>
          </a:p>
        </p:txBody>
      </p:sp>
      <p:sp>
        <p:nvSpPr>
          <p:cNvPr id="12" name="text-1895">
            <a:extLst xmlns:a="http://schemas.openxmlformats.org/drawingml/2006/main">
              <a:ext uri="{FF2B5EF4-FFF2-40B4-BE49-F238E27FC236}">
                <a16:creationId xmlns:a16="http://schemas.microsoft.com/office/drawing/2014/main" id="{DB6B3B61-0D3C-444B-A207-63C9C503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/ppt</a:t>
            </a:r>
          </a:p>
        </p:txBody>
      </p:sp>
      <p:sp>
        <p:nvSpPr>
          <p:cNvPr id="13" name="text-1896">
            <a:extLst xmlns:a="http://schemas.openxmlformats.org/drawingml/2006/main">
              <a:ext uri="{FF2B5EF4-FFF2-40B4-BE49-F238E27FC236}">
                <a16:creationId xmlns:a16="http://schemas.microsoft.com/office/drawing/2014/main" id="{B225F433-C42D-4419-9477-F027F522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溫馨簡報 → 來源整理＋頁面結構＋逐頁渲染檢核。</a:t>
            </a:r>
          </a:p>
        </p:txBody>
      </p:sp>
      <p:sp>
        <p:nvSpPr>
          <p:cNvPr id="14" name="shape-1897">
            <a:extLst xmlns:a="http://schemas.openxmlformats.org/drawingml/2006/main">
              <a:ext uri="{FF2B5EF4-FFF2-40B4-BE49-F238E27FC236}">
                <a16:creationId xmlns:a16="http://schemas.microsoft.com/office/drawing/2014/main" id="{3429DF1D-8C28-4998-B346-3B0B95C9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1898">
            <a:extLst xmlns:a="http://schemas.openxmlformats.org/drawingml/2006/main">
              <a:ext uri="{FF2B5EF4-FFF2-40B4-BE49-F238E27FC236}">
                <a16:creationId xmlns:a16="http://schemas.microsoft.com/office/drawing/2014/main" id="{1A61556F-9347-4198-BD37-0F2D83E6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SRT</a:t>
            </a:r>
          </a:p>
        </p:txBody>
      </p:sp>
      <p:sp>
        <p:nvSpPr>
          <p:cNvPr id="16" name="text-1899">
            <a:extLst xmlns:a="http://schemas.openxmlformats.org/drawingml/2006/main">
              <a:ext uri="{FF2B5EF4-FFF2-40B4-BE49-F238E27FC236}">
                <a16:creationId xmlns:a16="http://schemas.microsoft.com/office/drawing/2014/main" id="{1B91D3F0-1E56-4218-8D45-9790CF23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/srt</a:t>
            </a:r>
          </a:p>
        </p:txBody>
      </p:sp>
      <p:sp>
        <p:nvSpPr>
          <p:cNvPr id="17" name="text-1900">
            <a:extLst xmlns:a="http://schemas.openxmlformats.org/drawingml/2006/main">
              <a:ext uri="{FF2B5EF4-FFF2-40B4-BE49-F238E27FC236}">
                <a16:creationId xmlns:a16="http://schemas.microsoft.com/office/drawing/2014/main" id="{CF008052-4CCE-4CFE-A961-37073B8D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SRT 字幕 → 語音轉錄＋專名校正＋空白切斷＋格式測試。</a:t>
            </a:r>
          </a:p>
        </p:txBody>
      </p:sp>
      <p:sp>
        <p:nvSpPr>
          <p:cNvPr id="18" name="shape-1901">
            <a:extLst xmlns:a="http://schemas.openxmlformats.org/drawingml/2006/main">
              <a:ext uri="{FF2B5EF4-FFF2-40B4-BE49-F238E27FC236}">
                <a16:creationId xmlns:a16="http://schemas.microsoft.com/office/drawing/2014/main" id="{2902D757-F89E-4608-BE18-CB2B18B8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1902">
            <a:extLst xmlns:a="http://schemas.openxmlformats.org/drawingml/2006/main">
              <a:ext uri="{FF2B5EF4-FFF2-40B4-BE49-F238E27FC236}">
                <a16:creationId xmlns:a16="http://schemas.microsoft.com/office/drawing/2014/main" id="{D5F0354F-2F32-4BBE-BFBA-106AB923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QA</a:t>
            </a:r>
          </a:p>
        </p:txBody>
      </p:sp>
      <p:sp>
        <p:nvSpPr>
          <p:cNvPr id="20" name="text-1903">
            <a:extLst xmlns:a="http://schemas.openxmlformats.org/drawingml/2006/main">
              <a:ext uri="{FF2B5EF4-FFF2-40B4-BE49-F238E27FC236}">
                <a16:creationId xmlns:a16="http://schemas.microsoft.com/office/drawing/2014/main" id="{4321AAA4-F6C4-4ECE-AF19-2DBA6198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/audit</a:t>
            </a:r>
          </a:p>
        </p:txBody>
      </p:sp>
      <p:sp>
        <p:nvSpPr>
          <p:cNvPr id="21" name="text-1904">
            <a:extLst xmlns:a="http://schemas.openxmlformats.org/drawingml/2006/main">
              <a:ext uri="{FF2B5EF4-FFF2-40B4-BE49-F238E27FC236}">
                <a16:creationId xmlns:a16="http://schemas.microsoft.com/office/drawing/2014/main" id="{867D8008-6722-4218-B09C-D5621269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資料夾總檢 → 唯讀盤點＋風險分類＋移植建議＋交接文件。</a:t>
            </a:r>
          </a:p>
        </p:txBody>
      </p:sp>
      <p:sp>
        <p:nvSpPr>
          <p:cNvPr id="22" name="shape-1905">
            <a:extLst xmlns:a="http://schemas.openxmlformats.org/drawingml/2006/main">
              <a:ext uri="{FF2B5EF4-FFF2-40B4-BE49-F238E27FC236}">
                <a16:creationId xmlns:a16="http://schemas.microsoft.com/office/drawing/2014/main" id="{6862C747-D155-4F16-961D-B10B01F1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23" name="text-1906">
            <a:extLst xmlns:a="http://schemas.openxmlformats.org/drawingml/2006/main">
              <a:ext uri="{FF2B5EF4-FFF2-40B4-BE49-F238E27FC236}">
                <a16:creationId xmlns:a16="http://schemas.microsoft.com/office/drawing/2014/main" id="{D427AE16-3C70-4EC3-BEB8-341C25B8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5C45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DEP</a:t>
            </a:r>
          </a:p>
        </p:txBody>
      </p:sp>
      <p:sp>
        <p:nvSpPr>
          <p:cNvPr id="24" name="text-1907">
            <a:extLst xmlns:a="http://schemas.openxmlformats.org/drawingml/2006/main">
              <a:ext uri="{FF2B5EF4-FFF2-40B4-BE49-F238E27FC236}">
                <a16:creationId xmlns:a16="http://schemas.microsoft.com/office/drawing/2014/main" id="{1DDF83B2-7656-46B0-B8DB-453E7B54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/pages</a:t>
            </a:r>
          </a:p>
        </p:txBody>
      </p:sp>
      <p:sp>
        <p:nvSpPr>
          <p:cNvPr id="25" name="text-1908">
            <a:extLst xmlns:a="http://schemas.openxmlformats.org/drawingml/2006/main">
              <a:ext uri="{FF2B5EF4-FFF2-40B4-BE49-F238E27FC236}">
                <a16:creationId xmlns:a16="http://schemas.microsoft.com/office/drawing/2014/main" id="{0B3633E6-4D66-411A-B893-2493FE73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GitHub Pages → 建置設定＋部署＋公開網址驗證。</a:t>
            </a:r>
          </a:p>
        </p:txBody>
      </p:sp>
      <p:sp>
        <p:nvSpPr>
          <p:cNvPr id="26" name="shape-1909">
            <a:extLst xmlns:a="http://schemas.openxmlformats.org/drawingml/2006/main">
              <a:ext uri="{FF2B5EF4-FFF2-40B4-BE49-F238E27FC236}">
                <a16:creationId xmlns:a16="http://schemas.microsoft.com/office/drawing/2014/main" id="{5B978D0A-6B65-43E7-8F57-83B82852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27" name="text-1910">
            <a:extLst xmlns:a="http://schemas.openxmlformats.org/drawingml/2006/main">
              <a:ext uri="{FF2B5EF4-FFF2-40B4-BE49-F238E27FC236}">
                <a16:creationId xmlns:a16="http://schemas.microsoft.com/office/drawing/2014/main" id="{55692DF5-8D21-4CF0-99A2-70DDDF7F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7D48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META</a:t>
            </a:r>
          </a:p>
        </p:txBody>
      </p:sp>
      <p:sp>
        <p:nvSpPr>
          <p:cNvPr id="28" name="text-1911">
            <a:extLst xmlns:a="http://schemas.openxmlformats.org/drawingml/2006/main">
              <a:ext uri="{FF2B5EF4-FFF2-40B4-BE49-F238E27FC236}">
                <a16:creationId xmlns:a16="http://schemas.microsoft.com/office/drawing/2014/main" id="{7B59C389-247F-49C9-8D07-122319A9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/skill</a:t>
            </a:r>
          </a:p>
        </p:txBody>
      </p:sp>
      <p:sp>
        <p:nvSpPr>
          <p:cNvPr id="29" name="text-1912">
            <a:extLst xmlns:a="http://schemas.openxmlformats.org/drawingml/2006/main">
              <a:ext uri="{FF2B5EF4-FFF2-40B4-BE49-F238E27FC236}">
                <a16:creationId xmlns:a16="http://schemas.microsoft.com/office/drawing/2014/main" id="{0F067264-E2FB-4F6B-8916-43A5F69E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成功案例 → 根因、步驟、觸發條件與回歸測試的知識保存。</a:t>
            </a:r>
          </a:p>
        </p:txBody>
      </p:sp>
      <p:sp>
        <p:nvSpPr>
          <p:cNvPr id="30" name="text-2406">
            <a:extLst xmlns:a="http://schemas.openxmlformats.org/drawingml/2006/main">
              <a:ext uri="{FF2B5EF4-FFF2-40B4-BE49-F238E27FC236}">
                <a16:creationId xmlns:a16="http://schemas.microsoft.com/office/drawing/2014/main" id="{053793F1-E037-470C-82DE-612079BA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0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4c01b04e3c354f3c"/>
              </a:rPr>
              <a:t>Antigravity Skills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ac57dcd39c07422f"/>
              </a:rPr>
              <a:t>Codex Skills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02dda7a63ca54ec5"/>
              </a:rPr>
              <a:t>Skills 資源庫 ↗</a:t>
            </a:r>
          </a:p>
        </p:txBody>
      </p:sp>
      <p:sp>
        <p:nvSpPr>
          <p:cNvPr id="31" name="shape-2506">
            <a:extLst xmlns:a="http://schemas.openxmlformats.org/drawingml/2006/main">
              <a:ext uri="{FF2B5EF4-FFF2-40B4-BE49-F238E27FC236}">
                <a16:creationId xmlns:a16="http://schemas.microsoft.com/office/drawing/2014/main" id="{491CBF3D-E050-428F-BA23-0E9F1819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"/>
            <a:ext cx="2247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1e94bda6304810"/>
          <a:stretch xmlns:a="http://schemas.openxmlformats.org/drawingml/2006/main"/>
        </p:blipFill>
        <p:spPr>
          <a:xfrm xmlns:a="http://schemas.openxmlformats.org/drawingml/2006/main">
            <a:off x="95059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33" name="text-2507">
            <a:extLst xmlns:a="http://schemas.openxmlformats.org/drawingml/2006/main">
              <a:ext uri="{FF2B5EF4-FFF2-40B4-BE49-F238E27FC236}">
                <a16:creationId xmlns:a16="http://schemas.microsoft.com/office/drawing/2014/main" id="{607EA7C6-00AD-4414-88D4-0F5923F7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 </a:t>
            </a:r>
          </a:p>
        </p:txBody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867ed27419427a"/>
          <a:stretch xmlns:a="http://schemas.openxmlformats.org/drawingml/2006/main"/>
        </p:blipFill>
        <p:spPr>
          <a:xfrm xmlns:a="http://schemas.openxmlformats.org/drawingml/2006/main">
            <a:off x="102298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35" name="text-2508">
            <a:extLst xmlns:a="http://schemas.openxmlformats.org/drawingml/2006/main">
              <a:ext uri="{FF2B5EF4-FFF2-40B4-BE49-F238E27FC236}">
                <a16:creationId xmlns:a16="http://schemas.microsoft.com/office/drawing/2014/main" id="{7C30468E-2A8C-4E15-8F0B-A854537D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 Skills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b63af1268a49d1"/>
          <a:stretch xmlns:a="http://schemas.openxmlformats.org/drawingml/2006/main"/>
        </p:blipFill>
        <p:spPr>
          <a:xfrm xmlns:a="http://schemas.openxmlformats.org/drawingml/2006/main">
            <a:off x="109537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37" name="text-2509">
            <a:extLst xmlns:a="http://schemas.openxmlformats.org/drawingml/2006/main">
              <a:ext uri="{FF2B5EF4-FFF2-40B4-BE49-F238E27FC236}">
                <a16:creationId xmlns:a16="http://schemas.microsoft.com/office/drawing/2014/main" id="{487C1A41-498D-4B00-A2A4-7DD21977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Skills 資源庫</a:t>
            </a:r>
          </a:p>
        </p:txBody>
      </p:sp>
    </p:spTree>
    <p:extLst>
      <p:ext uri="{BB962C8B-B14F-4D97-AF65-F5344CB8AC3E}">
        <p14:creationId xmlns:p14="http://schemas.microsoft.com/office/powerpoint/2010/main" val="107364865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text-1913">
            <a:extLst xmlns:a="http://schemas.openxmlformats.org/drawingml/2006/main">
              <a:ext uri="{FF2B5EF4-FFF2-40B4-BE49-F238E27FC236}">
                <a16:creationId xmlns:a16="http://schemas.microsoft.com/office/drawing/2014/main" id="{CEEE90BD-674A-4091-96B4-7B94F9B2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FOLDER ANATOMY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B83514-6683-4D77-820F-CB82766C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28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Skill 資料夾：主文保持短，細節分層放</a:t>
            </a:r>
          </a:p>
        </p:txBody>
      </p:sp>
      <p:cxnSp>
        <p:nvCxnSpPr>
          <p:cNvPr id="40" name="shape-1914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915">
            <a:extLst xmlns:a="http://schemas.openxmlformats.org/drawingml/2006/main">
              <a:ext uri="{FF2B5EF4-FFF2-40B4-BE49-F238E27FC236}">
                <a16:creationId xmlns:a16="http://schemas.microsoft.com/office/drawing/2014/main" id="{0603A375-6EFC-46B0-8562-E9A0F1C7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537A399-D029-44A8-B2C6-500FBF76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46</a:t>
            </a:r>
          </a:p>
        </p:txBody>
      </p:sp>
      <p:sp>
        <p:nvSpPr>
          <p:cNvPr id="6" name="shape-1916">
            <a:extLst xmlns:a="http://schemas.openxmlformats.org/drawingml/2006/main">
              <a:ext uri="{FF2B5EF4-FFF2-40B4-BE49-F238E27FC236}">
                <a16:creationId xmlns:a16="http://schemas.microsoft.com/office/drawing/2014/main" id="{416C118A-9CE9-44CB-AAEB-B6C6AFFA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shape-1917">
            <a:extLst xmlns:a="http://schemas.openxmlformats.org/drawingml/2006/main">
              <a:ext uri="{FF2B5EF4-FFF2-40B4-BE49-F238E27FC236}">
                <a16:creationId xmlns:a16="http://schemas.microsoft.com/office/drawing/2014/main" id="{34CCD8B4-E833-45B3-938C-E5B7B6D3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918">
            <a:extLst xmlns:a="http://schemas.openxmlformats.org/drawingml/2006/main">
              <a:ext uri="{FF2B5EF4-FFF2-40B4-BE49-F238E27FC236}">
                <a16:creationId xmlns:a16="http://schemas.microsoft.com/office/drawing/2014/main" id="{D0202F2E-EA0A-4C3B-9377-6FE3BDDA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1919">
            <a:extLst xmlns:a="http://schemas.openxmlformats.org/drawingml/2006/main">
              <a:ext uri="{FF2B5EF4-FFF2-40B4-BE49-F238E27FC236}">
                <a16:creationId xmlns:a16="http://schemas.microsoft.com/office/drawing/2014/main" id="{C1118F06-050A-4CBD-AB59-5F679C6B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SKILL.md</a:t>
            </a:r>
          </a:p>
        </p:txBody>
      </p:sp>
      <p:sp>
        <p:nvSpPr>
          <p:cNvPr id="10" name="text-1920">
            <a:extLst xmlns:a="http://schemas.openxmlformats.org/drawingml/2006/main">
              <a:ext uri="{FF2B5EF4-FFF2-40B4-BE49-F238E27FC236}">
                <a16:creationId xmlns:a16="http://schemas.microsoft.com/office/drawing/2014/main" id="{56438E79-FD84-4DDB-91DA-C5E9D542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名稱、描述、核心流程</a:t>
            </a:r>
          </a:p>
        </p:txBody>
      </p:sp>
      <p:sp>
        <p:nvSpPr>
          <p:cNvPr id="11" name="text-1921">
            <a:extLst xmlns:a="http://schemas.openxmlformats.org/drawingml/2006/main">
              <a:ext uri="{FF2B5EF4-FFF2-40B4-BE49-F238E27FC236}">
                <a16:creationId xmlns:a16="http://schemas.microsoft.com/office/drawing/2014/main" id="{79F20E89-541F-4AD7-9A8C-86E580C1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113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2" name="shape-1922">
            <a:extLst xmlns:a="http://schemas.openxmlformats.org/drawingml/2006/main">
              <a:ext uri="{FF2B5EF4-FFF2-40B4-BE49-F238E27FC236}">
                <a16:creationId xmlns:a16="http://schemas.microsoft.com/office/drawing/2014/main" id="{27946169-8927-4569-A0D6-0608E2CA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838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3" name="shape-1923">
            <a:extLst xmlns:a="http://schemas.openxmlformats.org/drawingml/2006/main">
              <a:ext uri="{FF2B5EF4-FFF2-40B4-BE49-F238E27FC236}">
                <a16:creationId xmlns:a16="http://schemas.microsoft.com/office/drawing/2014/main" id="{A1AA8168-DFF8-4812-949B-A0B37E5D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924">
            <a:extLst xmlns:a="http://schemas.openxmlformats.org/drawingml/2006/main">
              <a:ext uri="{FF2B5EF4-FFF2-40B4-BE49-F238E27FC236}">
                <a16:creationId xmlns:a16="http://schemas.microsoft.com/office/drawing/2014/main" id="{C3CC745A-5FA5-49D8-B106-0015BB9E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5" name="text-1925">
            <a:extLst xmlns:a="http://schemas.openxmlformats.org/drawingml/2006/main">
              <a:ext uri="{FF2B5EF4-FFF2-40B4-BE49-F238E27FC236}">
                <a16:creationId xmlns:a16="http://schemas.microsoft.com/office/drawing/2014/main" id="{083AF114-6F41-4DC0-80CC-BD885518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references/</a:t>
            </a:r>
          </a:p>
        </p:txBody>
      </p:sp>
      <p:sp>
        <p:nvSpPr>
          <p:cNvPr id="16" name="text-1926">
            <a:extLst xmlns:a="http://schemas.openxmlformats.org/drawingml/2006/main">
              <a:ext uri="{FF2B5EF4-FFF2-40B4-BE49-F238E27FC236}">
                <a16:creationId xmlns:a16="http://schemas.microsoft.com/office/drawing/2014/main" id="{DF1E10A0-4925-4370-A454-F2ECE056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規範、知識、長篇範例</a:t>
            </a:r>
          </a:p>
        </p:txBody>
      </p:sp>
      <p:sp>
        <p:nvSpPr>
          <p:cNvPr id="17" name="text-1927">
            <a:extLst xmlns:a="http://schemas.openxmlformats.org/drawingml/2006/main">
              <a:ext uri="{FF2B5EF4-FFF2-40B4-BE49-F238E27FC236}">
                <a16:creationId xmlns:a16="http://schemas.microsoft.com/office/drawing/2014/main" id="{D7A76414-609C-4033-B9E3-D48DECE9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8" name="shape-1928">
            <a:extLst xmlns:a="http://schemas.openxmlformats.org/drawingml/2006/main">
              <a:ext uri="{FF2B5EF4-FFF2-40B4-BE49-F238E27FC236}">
                <a16:creationId xmlns:a16="http://schemas.microsoft.com/office/drawing/2014/main" id="{04B77F92-99F0-4E4B-A2E2-864D47B9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shape-1929">
            <a:extLst xmlns:a="http://schemas.openxmlformats.org/drawingml/2006/main">
              <a:ext uri="{FF2B5EF4-FFF2-40B4-BE49-F238E27FC236}">
                <a16:creationId xmlns:a16="http://schemas.microsoft.com/office/drawing/2014/main" id="{5FC52A9A-EB5B-48A6-BE87-BB23646A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930">
            <a:extLst xmlns:a="http://schemas.openxmlformats.org/drawingml/2006/main">
              <a:ext uri="{FF2B5EF4-FFF2-40B4-BE49-F238E27FC236}">
                <a16:creationId xmlns:a16="http://schemas.microsoft.com/office/drawing/2014/main" id="{893A42C8-05BD-4511-9345-FD90A00A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text-1931">
            <a:extLst xmlns:a="http://schemas.openxmlformats.org/drawingml/2006/main">
              <a:ext uri="{FF2B5EF4-FFF2-40B4-BE49-F238E27FC236}">
                <a16:creationId xmlns:a16="http://schemas.microsoft.com/office/drawing/2014/main" id="{F70C5812-564F-4BCC-8492-7CE1130D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scripts/</a:t>
            </a:r>
          </a:p>
        </p:txBody>
      </p:sp>
      <p:sp>
        <p:nvSpPr>
          <p:cNvPr id="22" name="text-1932">
            <a:extLst xmlns:a="http://schemas.openxmlformats.org/drawingml/2006/main">
              <a:ext uri="{FF2B5EF4-FFF2-40B4-BE49-F238E27FC236}">
                <a16:creationId xmlns:a16="http://schemas.microsoft.com/office/drawing/2014/main" id="{A70B52A4-45B4-4F90-9B02-EC7BC1F8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可重複執行的檢查與轉換</a:t>
            </a:r>
          </a:p>
        </p:txBody>
      </p:sp>
      <p:sp>
        <p:nvSpPr>
          <p:cNvPr id="23" name="text-1933">
            <a:extLst xmlns:a="http://schemas.openxmlformats.org/drawingml/2006/main">
              <a:ext uri="{FF2B5EF4-FFF2-40B4-BE49-F238E27FC236}">
                <a16:creationId xmlns:a16="http://schemas.microsoft.com/office/drawing/2014/main" id="{9197F34E-19CF-4465-9D85-E6A00E94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24" name="shape-1934">
            <a:extLst xmlns:a="http://schemas.openxmlformats.org/drawingml/2006/main">
              <a:ext uri="{FF2B5EF4-FFF2-40B4-BE49-F238E27FC236}">
                <a16:creationId xmlns:a16="http://schemas.microsoft.com/office/drawing/2014/main" id="{ADC6829C-BC00-4C93-A758-D434F797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25" name="shape-1935">
            <a:extLst xmlns:a="http://schemas.openxmlformats.org/drawingml/2006/main">
              <a:ext uri="{FF2B5EF4-FFF2-40B4-BE49-F238E27FC236}">
                <a16:creationId xmlns:a16="http://schemas.microsoft.com/office/drawing/2014/main" id="{7634B417-3B66-412D-9C5C-17C1911E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1936">
            <a:extLst xmlns:a="http://schemas.openxmlformats.org/drawingml/2006/main">
              <a:ext uri="{FF2B5EF4-FFF2-40B4-BE49-F238E27FC236}">
                <a16:creationId xmlns:a16="http://schemas.microsoft.com/office/drawing/2014/main" id="{C20EE46A-CB58-4940-9DFE-76DB3B63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7" name="text-1937">
            <a:extLst xmlns:a="http://schemas.openxmlformats.org/drawingml/2006/main">
              <a:ext uri="{FF2B5EF4-FFF2-40B4-BE49-F238E27FC236}">
                <a16:creationId xmlns:a16="http://schemas.microsoft.com/office/drawing/2014/main" id="{26C23E7A-3853-4718-9CEB-753287BA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assets/</a:t>
            </a:r>
          </a:p>
        </p:txBody>
      </p:sp>
      <p:sp>
        <p:nvSpPr>
          <p:cNvPr id="28" name="text-1938">
            <a:extLst xmlns:a="http://schemas.openxmlformats.org/drawingml/2006/main">
              <a:ext uri="{FF2B5EF4-FFF2-40B4-BE49-F238E27FC236}">
                <a16:creationId xmlns:a16="http://schemas.microsoft.com/office/drawing/2014/main" id="{D00C0587-ED42-4C73-AE70-79CBBDCC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範本、圖片、輸出骨架</a:t>
            </a:r>
          </a:p>
        </p:txBody>
      </p:sp>
      <p:sp>
        <p:nvSpPr>
          <p:cNvPr id="29" name="text-1939">
            <a:extLst xmlns:a="http://schemas.openxmlformats.org/drawingml/2006/main">
              <a:ext uri="{FF2B5EF4-FFF2-40B4-BE49-F238E27FC236}">
                <a16:creationId xmlns:a16="http://schemas.microsoft.com/office/drawing/2014/main" id="{56C35077-55CD-4120-B000-3868B396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14950"/>
            <a:ext cx="5638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152400" tIns="57150" rIns="1524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每一步都留下可檢查的成果</a:t>
            </a:r>
          </a:p>
        </p:txBody>
      </p:sp>
      <p:sp>
        <p:nvSpPr>
          <p:cNvPr id="30" name="text-2407">
            <a:extLst xmlns:a="http://schemas.openxmlformats.org/drawingml/2006/main">
              <a:ext uri="{FF2B5EF4-FFF2-40B4-BE49-F238E27FC236}">
                <a16:creationId xmlns:a16="http://schemas.microsoft.com/office/drawing/2014/main" id="{5C3914CE-64C2-470C-B060-AF0920D8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0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da12b342cf574f37"/>
              </a:rPr>
              <a:t>Antigravity Skills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1c03c545f3014e26"/>
              </a:rPr>
              <a:t>Codex Skills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2d907b40fbb647a6"/>
              </a:rPr>
              <a:t>Skills 資源庫 ↗</a:t>
            </a:r>
          </a:p>
        </p:txBody>
      </p:sp>
      <p:sp>
        <p:nvSpPr>
          <p:cNvPr id="31" name="shape-2510">
            <a:extLst xmlns:a="http://schemas.openxmlformats.org/drawingml/2006/main">
              <a:ext uri="{FF2B5EF4-FFF2-40B4-BE49-F238E27FC236}">
                <a16:creationId xmlns:a16="http://schemas.microsoft.com/office/drawing/2014/main" id="{3007CE10-BCEA-4EDB-8F3B-C7014020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"/>
            <a:ext cx="2247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188a8ed6254489"/>
          <a:stretch xmlns:a="http://schemas.openxmlformats.org/drawingml/2006/main"/>
        </p:blipFill>
        <p:spPr>
          <a:xfrm xmlns:a="http://schemas.openxmlformats.org/drawingml/2006/main">
            <a:off x="95059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33" name="text-2511">
            <a:extLst xmlns:a="http://schemas.openxmlformats.org/drawingml/2006/main">
              <a:ext uri="{FF2B5EF4-FFF2-40B4-BE49-F238E27FC236}">
                <a16:creationId xmlns:a16="http://schemas.microsoft.com/office/drawing/2014/main" id="{59C87D73-164E-44EC-BD1F-2BBB7590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 </a:t>
            </a:r>
          </a:p>
        </p:txBody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ef6d1609ec4e27"/>
          <a:stretch xmlns:a="http://schemas.openxmlformats.org/drawingml/2006/main"/>
        </p:blipFill>
        <p:spPr>
          <a:xfrm xmlns:a="http://schemas.openxmlformats.org/drawingml/2006/main">
            <a:off x="102298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35" name="text-2512">
            <a:extLst xmlns:a="http://schemas.openxmlformats.org/drawingml/2006/main">
              <a:ext uri="{FF2B5EF4-FFF2-40B4-BE49-F238E27FC236}">
                <a16:creationId xmlns:a16="http://schemas.microsoft.com/office/drawing/2014/main" id="{B77F70EB-D08F-49FF-B6B7-5BA5FB63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 Skills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9544d28af4571"/>
          <a:stretch xmlns:a="http://schemas.openxmlformats.org/drawingml/2006/main"/>
        </p:blipFill>
        <p:spPr>
          <a:xfrm xmlns:a="http://schemas.openxmlformats.org/drawingml/2006/main">
            <a:off x="109537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37" name="text-2513">
            <a:extLst xmlns:a="http://schemas.openxmlformats.org/drawingml/2006/main">
              <a:ext uri="{FF2B5EF4-FFF2-40B4-BE49-F238E27FC236}">
                <a16:creationId xmlns:a16="http://schemas.microsoft.com/office/drawing/2014/main" id="{E35F4735-B0D4-4B28-AB0C-C70B739A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Skills 資源庫</a:t>
            </a:r>
          </a:p>
        </p:txBody>
      </p:sp>
    </p:spTree>
    <p:extLst>
      <p:ext uri="{BB962C8B-B14F-4D97-AF65-F5344CB8AC3E}">
        <p14:creationId xmlns:p14="http://schemas.microsoft.com/office/powerpoint/2010/main" val="157653901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1940">
            <a:extLst xmlns:a="http://schemas.openxmlformats.org/drawingml/2006/main">
              <a:ext uri="{FF2B5EF4-FFF2-40B4-BE49-F238E27FC236}">
                <a16:creationId xmlns:a16="http://schemas.microsoft.com/office/drawing/2014/main" id="{B9FAB382-67F0-4DBC-9C5A-66BA9C1F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AGENT SKILL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DAC9A8-2D51-4509-8650-41CD2583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28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跨平台 SKILL.md：最小而清楚</a:t>
            </a:r>
          </a:p>
        </p:txBody>
      </p:sp>
      <p:cxnSp>
        <p:nvCxnSpPr>
          <p:cNvPr id="23" name="shape-1941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942">
            <a:extLst xmlns:a="http://schemas.openxmlformats.org/drawingml/2006/main">
              <a:ext uri="{FF2B5EF4-FFF2-40B4-BE49-F238E27FC236}">
                <a16:creationId xmlns:a16="http://schemas.microsoft.com/office/drawing/2014/main" id="{F82709A4-904B-4634-8346-22E89FA3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5F13F4E-6429-4E73-B286-8914AAC1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47</a:t>
            </a:r>
          </a:p>
        </p:txBody>
      </p:sp>
      <p:sp>
        <p:nvSpPr>
          <p:cNvPr id="6" name="text-1943">
            <a:extLst xmlns:a="http://schemas.openxmlformats.org/drawingml/2006/main">
              <a:ext uri="{FF2B5EF4-FFF2-40B4-BE49-F238E27FC236}">
                <a16:creationId xmlns:a16="http://schemas.microsoft.com/office/drawing/2014/main" id="{91BA4FF7-91A6-42DB-AE29-C00733CF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6858000" cy="4324350"/>
          </a:xfrm>
          <a:prstGeom xmlns:a="http://schemas.openxmlformats.org/drawingml/2006/main" prst="roundRect">
            <a:avLst>
              <a:gd name="adj" fmla="val 3524"/>
            </a:avLst>
          </a:prstGeom>
          <a:solidFill xmlns:a="http://schemas.openxmlformats.org/drawingml/2006/main">
            <a:srgbClr val="1B2A3D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247650" tIns="247650" rIns="247650" bIns="2476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---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name: course-site-quality-check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description: 檢查課程網站的手機版、無障礙、連結與部署狀態；當使用者要求網站上線前總檢時使用。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# 課程網站上線前總檢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1. 先唯讀檢查現況，不直接發布。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2. 依序檢查手機版、鍵盤操作、連結與隱私。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3. 對每項標示：通過／失敗／未確認。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4. 只有在使用者明確授權後才部署。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5. 交付檢查表、證據與下一步。</a:t>
            </a:r>
          </a:p>
        </p:txBody>
      </p:sp>
      <p:sp>
        <p:nvSpPr>
          <p:cNvPr id="7" name="text-1944">
            <a:extLst xmlns:a="http://schemas.openxmlformats.org/drawingml/2006/main">
              <a:ext uri="{FF2B5EF4-FFF2-40B4-BE49-F238E27FC236}">
                <a16:creationId xmlns:a16="http://schemas.microsoft.com/office/drawing/2014/main" id="{2EBBDD8E-54CC-4442-89EF-6666383B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52600"/>
            <a:ext cx="354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Frontmatter</a:t>
            </a:r>
          </a:p>
        </p:txBody>
      </p:sp>
      <p:sp>
        <p:nvSpPr>
          <p:cNvPr id="8" name="text-1945">
            <a:extLst xmlns:a="http://schemas.openxmlformats.org/drawingml/2006/main">
              <a:ext uri="{FF2B5EF4-FFF2-40B4-BE49-F238E27FC236}">
                <a16:creationId xmlns:a16="http://schemas.microsoft.com/office/drawing/2014/main" id="{689EB402-4828-46CE-AE45-133A4635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90750"/>
            <a:ext cx="3543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為跨 Antigravity 與 Codex 使用，只保留 name、description。</a:t>
            </a:r>
          </a:p>
        </p:txBody>
      </p:sp>
      <p:sp>
        <p:nvSpPr>
          <p:cNvPr id="9" name="text-1946">
            <a:extLst xmlns:a="http://schemas.openxmlformats.org/drawingml/2006/main">
              <a:ext uri="{FF2B5EF4-FFF2-40B4-BE49-F238E27FC236}">
                <a16:creationId xmlns:a16="http://schemas.microsoft.com/office/drawing/2014/main" id="{674E7077-6E63-47CB-9DAD-2A70FB7A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05150"/>
            <a:ext cx="354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E9F94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E9F94"/>
                </a:solidFill>
                <a:latin typeface="Noto Sans TC"/>
                <a:ea typeface="Noto Sans TC"/>
                <a:cs typeface="Noto Sans TC"/>
              </a:rPr>
              <a:t>描述要能觸發</a:t>
            </a:r>
          </a:p>
        </p:txBody>
      </p:sp>
      <p:sp>
        <p:nvSpPr>
          <p:cNvPr id="10" name="text-1947">
            <a:extLst xmlns:a="http://schemas.openxmlformats.org/drawingml/2006/main">
              <a:ext uri="{FF2B5EF4-FFF2-40B4-BE49-F238E27FC236}">
                <a16:creationId xmlns:a16="http://schemas.microsoft.com/office/drawing/2014/main" id="{C753489F-71F8-4C0E-811C-81D0A6C7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43300"/>
            <a:ext cx="3543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寫清楚何時使用，以及它解決什麼工作。</a:t>
            </a:r>
          </a:p>
        </p:txBody>
      </p:sp>
      <p:sp>
        <p:nvSpPr>
          <p:cNvPr id="11" name="text-1948">
            <a:extLst xmlns:a="http://schemas.openxmlformats.org/drawingml/2006/main">
              <a:ext uri="{FF2B5EF4-FFF2-40B4-BE49-F238E27FC236}">
                <a16:creationId xmlns:a16="http://schemas.microsoft.com/office/drawing/2014/main" id="{3E469BF2-D406-40E9-8416-414613AB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57700"/>
            <a:ext cx="354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rPr>
              <a:t>流程要能驗收</a:t>
            </a:r>
          </a:p>
        </p:txBody>
      </p:sp>
      <p:sp>
        <p:nvSpPr>
          <p:cNvPr id="12" name="text-1949">
            <a:extLst xmlns:a="http://schemas.openxmlformats.org/drawingml/2006/main">
              <a:ext uri="{FF2B5EF4-FFF2-40B4-BE49-F238E27FC236}">
                <a16:creationId xmlns:a16="http://schemas.microsoft.com/office/drawing/2014/main" id="{6B6283E6-2857-4971-9AC0-5C3E25CB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895850"/>
            <a:ext cx="3543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步驟、狀態與授權邊界都可檢查。</a:t>
            </a:r>
          </a:p>
        </p:txBody>
      </p:sp>
      <p:sp>
        <p:nvSpPr>
          <p:cNvPr id="13" name="text-2408">
            <a:extLst xmlns:a="http://schemas.openxmlformats.org/drawingml/2006/main">
              <a:ext uri="{FF2B5EF4-FFF2-40B4-BE49-F238E27FC236}">
                <a16:creationId xmlns:a16="http://schemas.microsoft.com/office/drawing/2014/main" id="{6C00D031-987C-473C-AF9B-3E6655B0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0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c9e6df5ed8a7464d"/>
              </a:rPr>
              <a:t>Antigravity Skills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c625465c75d44f41"/>
              </a:rPr>
              <a:t>Codex Skills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234f898ccbe34634"/>
              </a:rPr>
              <a:t>Skills 資源庫 ↗</a:t>
            </a:r>
          </a:p>
        </p:txBody>
      </p:sp>
      <p:sp>
        <p:nvSpPr>
          <p:cNvPr id="14" name="shape-2514">
            <a:extLst xmlns:a="http://schemas.openxmlformats.org/drawingml/2006/main">
              <a:ext uri="{FF2B5EF4-FFF2-40B4-BE49-F238E27FC236}">
                <a16:creationId xmlns:a16="http://schemas.microsoft.com/office/drawing/2014/main" id="{EE247F66-09E7-467C-8D05-C751C31C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"/>
            <a:ext cx="2247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40c892f69c45c3"/>
          <a:stretch xmlns:a="http://schemas.openxmlformats.org/drawingml/2006/main"/>
        </p:blipFill>
        <p:spPr>
          <a:xfrm xmlns:a="http://schemas.openxmlformats.org/drawingml/2006/main">
            <a:off x="95059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16" name="text-2515">
            <a:extLst xmlns:a="http://schemas.openxmlformats.org/drawingml/2006/main">
              <a:ext uri="{FF2B5EF4-FFF2-40B4-BE49-F238E27FC236}">
                <a16:creationId xmlns:a16="http://schemas.microsoft.com/office/drawing/2014/main" id="{B70D3332-ECCC-4FE4-A222-90D8E08E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 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30fe18ca8e47bc"/>
          <a:stretch xmlns:a="http://schemas.openxmlformats.org/drawingml/2006/main"/>
        </p:blipFill>
        <p:spPr>
          <a:xfrm xmlns:a="http://schemas.openxmlformats.org/drawingml/2006/main">
            <a:off x="102298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18" name="text-2516">
            <a:extLst xmlns:a="http://schemas.openxmlformats.org/drawingml/2006/main">
              <a:ext uri="{FF2B5EF4-FFF2-40B4-BE49-F238E27FC236}">
                <a16:creationId xmlns:a16="http://schemas.microsoft.com/office/drawing/2014/main" id="{57CADA48-9D0E-45B0-B0FF-AF565AF5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 Skills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9eb484993c4906"/>
          <a:stretch xmlns:a="http://schemas.openxmlformats.org/drawingml/2006/main"/>
        </p:blipFill>
        <p:spPr>
          <a:xfrm xmlns:a="http://schemas.openxmlformats.org/drawingml/2006/main">
            <a:off x="109537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0" name="text-2517">
            <a:extLst xmlns:a="http://schemas.openxmlformats.org/drawingml/2006/main">
              <a:ext uri="{FF2B5EF4-FFF2-40B4-BE49-F238E27FC236}">
                <a16:creationId xmlns:a16="http://schemas.microsoft.com/office/drawing/2014/main" id="{8EA1B2F8-AD1F-469C-8C32-97637643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Skills 資源庫</a:t>
            </a:r>
          </a:p>
        </p:txBody>
      </p:sp>
    </p:spTree>
    <p:extLst>
      <p:ext uri="{BB962C8B-B14F-4D97-AF65-F5344CB8AC3E}">
        <p14:creationId xmlns:p14="http://schemas.microsoft.com/office/powerpoint/2010/main" val="1825958940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ext-1950">
            <a:extLst xmlns:a="http://schemas.openxmlformats.org/drawingml/2006/main">
              <a:ext uri="{FF2B5EF4-FFF2-40B4-BE49-F238E27FC236}">
                <a16:creationId xmlns:a16="http://schemas.microsoft.com/office/drawing/2014/main" id="{92D92231-87DB-4DF4-BEBF-943B5E79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PROGRESSIVE DISCLOSURE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4CD1B5-EBA9-42C4-890B-8012768D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28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漸進式揭露：Agent 需要時才讀細節</a:t>
            </a:r>
          </a:p>
        </p:txBody>
      </p:sp>
      <p:cxnSp>
        <p:nvCxnSpPr>
          <p:cNvPr id="36" name="shape-1951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952">
            <a:extLst xmlns:a="http://schemas.openxmlformats.org/drawingml/2006/main">
              <a:ext uri="{FF2B5EF4-FFF2-40B4-BE49-F238E27FC236}">
                <a16:creationId xmlns:a16="http://schemas.microsoft.com/office/drawing/2014/main" id="{14EBE1C5-EC8C-4166-9FB0-FDD19065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BC7C542-3772-4372-9284-BC37F806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48</a:t>
            </a:r>
          </a:p>
        </p:txBody>
      </p:sp>
      <p:sp>
        <p:nvSpPr>
          <p:cNvPr id="6" name="shape-1953">
            <a:extLst xmlns:a="http://schemas.openxmlformats.org/drawingml/2006/main">
              <a:ext uri="{FF2B5EF4-FFF2-40B4-BE49-F238E27FC236}">
                <a16:creationId xmlns:a16="http://schemas.microsoft.com/office/drawing/2014/main" id="{9759626B-C807-495D-BE83-A57442FF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3581400" cy="43053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1954">
            <a:extLst xmlns:a="http://schemas.openxmlformats.org/drawingml/2006/main">
              <a:ext uri="{FF2B5EF4-FFF2-40B4-BE49-F238E27FC236}">
                <a16:creationId xmlns:a16="http://schemas.microsoft.com/office/drawing/2014/main" id="{ED97E1ED-4869-4CFD-8DEE-9D2A45C4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1955">
            <a:extLst xmlns:a="http://schemas.openxmlformats.org/drawingml/2006/main">
              <a:ext uri="{FF2B5EF4-FFF2-40B4-BE49-F238E27FC236}">
                <a16:creationId xmlns:a16="http://schemas.microsoft.com/office/drawing/2014/main" id="{B7241322-0D68-400C-A1EF-D61F54C9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第一層：描述</a:t>
            </a:r>
          </a:p>
        </p:txBody>
      </p:sp>
      <p:sp>
        <p:nvSpPr>
          <p:cNvPr id="9" name="text-1956">
            <a:extLst xmlns:a="http://schemas.openxmlformats.org/drawingml/2006/main">
              <a:ext uri="{FF2B5EF4-FFF2-40B4-BE49-F238E27FC236}">
                <a16:creationId xmlns:a16="http://schemas.microsoft.com/office/drawing/2014/main" id="{75338815-1ED5-4855-AF41-F025EF61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31623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Agent 先看名稱與 description，判斷是否適用。</a:t>
            </a:r>
          </a:p>
        </p:txBody>
      </p:sp>
      <p:sp>
        <p:nvSpPr>
          <p:cNvPr id="10" name="shape-1957">
            <a:extLst xmlns:a="http://schemas.openxmlformats.org/drawingml/2006/main">
              <a:ext uri="{FF2B5EF4-FFF2-40B4-BE49-F238E27FC236}">
                <a16:creationId xmlns:a16="http://schemas.microsoft.com/office/drawing/2014/main" id="{B8FD4D5A-679F-4EEE-91F5-0B9497D6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76400"/>
            <a:ext cx="3581400" cy="43053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1958">
            <a:extLst xmlns:a="http://schemas.openxmlformats.org/drawingml/2006/main">
              <a:ext uri="{FF2B5EF4-FFF2-40B4-BE49-F238E27FC236}">
                <a16:creationId xmlns:a16="http://schemas.microsoft.com/office/drawing/2014/main" id="{C59AE408-DF99-4DAA-A9F5-EFBDF2FE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1959">
            <a:extLst xmlns:a="http://schemas.openxmlformats.org/drawingml/2006/main">
              <a:ext uri="{FF2B5EF4-FFF2-40B4-BE49-F238E27FC236}">
                <a16:creationId xmlns:a16="http://schemas.microsoft.com/office/drawing/2014/main" id="{D91D13FB-5422-4921-9D7A-BEF0A7C3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5745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第二層：主流程</a:t>
            </a:r>
          </a:p>
        </p:txBody>
      </p:sp>
      <p:sp>
        <p:nvSpPr>
          <p:cNvPr id="13" name="text-1960">
            <a:extLst xmlns:a="http://schemas.openxmlformats.org/drawingml/2006/main">
              <a:ext uri="{FF2B5EF4-FFF2-40B4-BE49-F238E27FC236}">
                <a16:creationId xmlns:a16="http://schemas.microsoft.com/office/drawing/2014/main" id="{77D2224A-844D-41D7-A711-6619DDD8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28950"/>
            <a:ext cx="31623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觸發後讀 SKILL.md，取得核心步驟與規則。</a:t>
            </a:r>
          </a:p>
        </p:txBody>
      </p:sp>
      <p:sp>
        <p:nvSpPr>
          <p:cNvPr id="14" name="shape-1961">
            <a:extLst xmlns:a="http://schemas.openxmlformats.org/drawingml/2006/main">
              <a:ext uri="{FF2B5EF4-FFF2-40B4-BE49-F238E27FC236}">
                <a16:creationId xmlns:a16="http://schemas.microsoft.com/office/drawing/2014/main" id="{E045C949-464A-412B-B34C-2253B04D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3581400" cy="43053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1962">
            <a:extLst xmlns:a="http://schemas.openxmlformats.org/drawingml/2006/main">
              <a:ext uri="{FF2B5EF4-FFF2-40B4-BE49-F238E27FC236}">
                <a16:creationId xmlns:a16="http://schemas.microsoft.com/office/drawing/2014/main" id="{ACAEE55E-01C7-4296-AB7D-A6A6FB37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1963">
            <a:extLst xmlns:a="http://schemas.openxmlformats.org/drawingml/2006/main">
              <a:ext uri="{FF2B5EF4-FFF2-40B4-BE49-F238E27FC236}">
                <a16:creationId xmlns:a16="http://schemas.microsoft.com/office/drawing/2014/main" id="{6B3CA67B-1675-4204-BC3E-0ED6820E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5745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第三層：附件</a:t>
            </a:r>
          </a:p>
        </p:txBody>
      </p:sp>
      <p:sp>
        <p:nvSpPr>
          <p:cNvPr id="17" name="text-1964">
            <a:extLst xmlns:a="http://schemas.openxmlformats.org/drawingml/2006/main">
              <a:ext uri="{FF2B5EF4-FFF2-40B4-BE49-F238E27FC236}">
                <a16:creationId xmlns:a16="http://schemas.microsoft.com/office/drawing/2014/main" id="{43AA8344-10DC-49C6-85EE-5A564F1A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28950"/>
            <a:ext cx="31623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任務需要時才讀 references、執行 scripts、取用 assets。</a:t>
            </a:r>
          </a:p>
        </p:txBody>
      </p:sp>
      <p:sp>
        <p:nvSpPr>
          <p:cNvPr id="18" name="text-1965">
            <a:extLst xmlns:a="http://schemas.openxmlformats.org/drawingml/2006/main">
              <a:ext uri="{FF2B5EF4-FFF2-40B4-BE49-F238E27FC236}">
                <a16:creationId xmlns:a16="http://schemas.microsoft.com/office/drawing/2014/main" id="{EA9C3F49-D902-4F1F-A058-8303802D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3950"/>
            <a:ext cx="1714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描述</a:t>
            </a:r>
          </a:p>
        </p:txBody>
      </p:sp>
      <p:sp>
        <p:nvSpPr>
          <p:cNvPr id="19" name="text-1966">
            <a:extLst xmlns:a="http://schemas.openxmlformats.org/drawingml/2006/main">
              <a:ext uri="{FF2B5EF4-FFF2-40B4-BE49-F238E27FC236}">
                <a16:creationId xmlns:a16="http://schemas.microsoft.com/office/drawing/2014/main" id="{20ED6E13-5DEB-416A-93E8-04D1F1FD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933950"/>
            <a:ext cx="1714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SKILL.md</a:t>
            </a:r>
          </a:p>
        </p:txBody>
      </p:sp>
      <p:sp>
        <p:nvSpPr>
          <p:cNvPr id="20" name="text-1967">
            <a:extLst xmlns:a="http://schemas.openxmlformats.org/drawingml/2006/main">
              <a:ext uri="{FF2B5EF4-FFF2-40B4-BE49-F238E27FC236}">
                <a16:creationId xmlns:a16="http://schemas.microsoft.com/office/drawing/2014/main" id="{38D45E33-58D9-45A1-8D6B-D7E09920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33950"/>
            <a:ext cx="1714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附件</a:t>
            </a:r>
          </a:p>
        </p:txBody>
      </p:sp>
      <p:sp>
        <p:nvSpPr>
          <p:cNvPr id="21" name="text-1968">
            <a:extLst xmlns:a="http://schemas.openxmlformats.org/drawingml/2006/main">
              <a:ext uri="{FF2B5EF4-FFF2-40B4-BE49-F238E27FC236}">
                <a16:creationId xmlns:a16="http://schemas.microsoft.com/office/drawing/2014/main" id="{A55003E9-FF6D-4FB5-9027-81965D10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933950"/>
            <a:ext cx="1714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EECE7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rPr>
              <a:t>可驗證成果</a:t>
            </a:r>
          </a:p>
        </p:txBody>
      </p:sp>
      <p:cxnSp>
        <p:nvCxnSpPr>
          <p:cNvPr id="55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2628900" y="51816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B64DA"/>
            </a:solidFill>
            <a:prstDash val="solid"/>
            <a:tailEnd type="arrow" w="sm" len="sm"/>
          </a:ln>
        </p:spPr>
      </p:cxnSp>
      <p:cxnSp>
        <p:nvCxnSpPr>
          <p:cNvPr id="56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295900" y="51816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B64DA"/>
            </a:solidFill>
            <a:prstDash val="solid"/>
            <a:tailEnd type="arrow" w="sm" len="sm"/>
          </a:ln>
        </p:spPr>
      </p:cxnSp>
      <p:cxnSp>
        <p:nvCxnSpPr>
          <p:cNvPr id="57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962900" y="51816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6B4A"/>
            </a:solidFill>
            <a:prstDash val="solid"/>
            <a:tailEnd type="arrow" w="sm" len="sm"/>
          </a:ln>
        </p:spPr>
      </p:cxnSp>
      <p:sp>
        <p:nvSpPr>
          <p:cNvPr id="25" name="text-1969">
            <a:extLst xmlns:a="http://schemas.openxmlformats.org/drawingml/2006/main">
              <a:ext uri="{FF2B5EF4-FFF2-40B4-BE49-F238E27FC236}">
                <a16:creationId xmlns:a16="http://schemas.microsoft.com/office/drawing/2014/main" id="{44C9719C-C141-4ACB-9661-59CA920B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619750"/>
            <a:ext cx="560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按需載入，不把整個知識庫一次塞進主文</a:t>
            </a:r>
          </a:p>
        </p:txBody>
      </p:sp>
      <p:sp>
        <p:nvSpPr>
          <p:cNvPr id="26" name="text-2409">
            <a:extLst xmlns:a="http://schemas.openxmlformats.org/drawingml/2006/main">
              <a:ext uri="{FF2B5EF4-FFF2-40B4-BE49-F238E27FC236}">
                <a16:creationId xmlns:a16="http://schemas.microsoft.com/office/drawing/2014/main" id="{DB713074-5C03-46C4-B8B6-EC0907E5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0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cb49e7365c2546f8"/>
              </a:rPr>
              <a:t>Antigravity Skills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246795a1d7344c1b"/>
              </a:rPr>
              <a:t>Codex Skills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250d5f3243fd42bc"/>
              </a:rPr>
              <a:t>Skills 資源庫 ↗</a:t>
            </a:r>
          </a:p>
        </p:txBody>
      </p:sp>
      <p:sp>
        <p:nvSpPr>
          <p:cNvPr id="27" name="shape-2518">
            <a:extLst xmlns:a="http://schemas.openxmlformats.org/drawingml/2006/main">
              <a:ext uri="{FF2B5EF4-FFF2-40B4-BE49-F238E27FC236}">
                <a16:creationId xmlns:a16="http://schemas.microsoft.com/office/drawing/2014/main" id="{FA439082-ED03-49D1-B6BA-2D3D58D5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"/>
            <a:ext cx="2247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b689b022d6407f"/>
          <a:stretch xmlns:a="http://schemas.openxmlformats.org/drawingml/2006/main"/>
        </p:blipFill>
        <p:spPr>
          <a:xfrm xmlns:a="http://schemas.openxmlformats.org/drawingml/2006/main">
            <a:off x="95059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9" name="text-2519">
            <a:extLst xmlns:a="http://schemas.openxmlformats.org/drawingml/2006/main">
              <a:ext uri="{FF2B5EF4-FFF2-40B4-BE49-F238E27FC236}">
                <a16:creationId xmlns:a16="http://schemas.microsoft.com/office/drawing/2014/main" id="{D78CC43F-D1DC-4149-B677-9BB24ADE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 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e3066a84e148c0"/>
          <a:stretch xmlns:a="http://schemas.openxmlformats.org/drawingml/2006/main"/>
        </p:blipFill>
        <p:spPr>
          <a:xfrm xmlns:a="http://schemas.openxmlformats.org/drawingml/2006/main">
            <a:off x="102298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31" name="text-2520">
            <a:extLst xmlns:a="http://schemas.openxmlformats.org/drawingml/2006/main">
              <a:ext uri="{FF2B5EF4-FFF2-40B4-BE49-F238E27FC236}">
                <a16:creationId xmlns:a16="http://schemas.microsoft.com/office/drawing/2014/main" id="{63E21A45-C2EE-4F32-B285-44AEA4FA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 Skills</a:t>
            </a:r>
          </a:p>
        </p:txBody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a401101d4c49db"/>
          <a:stretch xmlns:a="http://schemas.openxmlformats.org/drawingml/2006/main"/>
        </p:blipFill>
        <p:spPr>
          <a:xfrm xmlns:a="http://schemas.openxmlformats.org/drawingml/2006/main">
            <a:off x="109537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33" name="text-2521">
            <a:extLst xmlns:a="http://schemas.openxmlformats.org/drawingml/2006/main">
              <a:ext uri="{FF2B5EF4-FFF2-40B4-BE49-F238E27FC236}">
                <a16:creationId xmlns:a16="http://schemas.microsoft.com/office/drawing/2014/main" id="{9B3B416C-E382-458E-AB75-7DDC3B83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Skills 資源庫</a:t>
            </a:r>
          </a:p>
        </p:txBody>
      </p:sp>
    </p:spTree>
    <p:extLst>
      <p:ext uri="{BB962C8B-B14F-4D97-AF65-F5344CB8AC3E}">
        <p14:creationId xmlns:p14="http://schemas.microsoft.com/office/powerpoint/2010/main" val="4547491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1970">
            <a:extLst xmlns:a="http://schemas.openxmlformats.org/drawingml/2006/main">
              <a:ext uri="{FF2B5EF4-FFF2-40B4-BE49-F238E27FC236}">
                <a16:creationId xmlns:a16="http://schemas.microsoft.com/office/drawing/2014/main" id="{804967C4-40BC-4DA2-A337-B2347AFE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HANDS-ON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5CC09A9-AC49-4DD0-BF28-477F7359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28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實作 C｜把一筆提示詞升級成教育 Skill</a:t>
            </a:r>
          </a:p>
        </p:txBody>
      </p:sp>
      <p:cxnSp>
        <p:nvCxnSpPr>
          <p:cNvPr id="29" name="shape-1971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972">
            <a:extLst xmlns:a="http://schemas.openxmlformats.org/drawingml/2006/main">
              <a:ext uri="{FF2B5EF4-FFF2-40B4-BE49-F238E27FC236}">
                <a16:creationId xmlns:a16="http://schemas.microsoft.com/office/drawing/2014/main" id="{FB677EE5-DE32-4D01-9CFF-5FF97656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0AEFBE1-A67A-45B4-9D30-CB7195B3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49</a:t>
            </a:r>
          </a:p>
        </p:txBody>
      </p:sp>
      <p:sp>
        <p:nvSpPr>
          <p:cNvPr id="6" name="text-1973">
            <a:extLst xmlns:a="http://schemas.openxmlformats.org/drawingml/2006/main">
              <a:ext uri="{FF2B5EF4-FFF2-40B4-BE49-F238E27FC236}">
                <a16:creationId xmlns:a16="http://schemas.microsoft.com/office/drawing/2014/main" id="{B16CD5D1-5169-4E79-8E0F-72C1D726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0002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28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分鐘</a:t>
            </a:r>
          </a:p>
        </p:txBody>
      </p:sp>
      <p:sp>
        <p:nvSpPr>
          <p:cNvPr id="7" name="text-1974">
            <a:extLst xmlns:a="http://schemas.openxmlformats.org/drawingml/2006/main">
              <a:ext uri="{FF2B5EF4-FFF2-40B4-BE49-F238E27FC236}">
                <a16:creationId xmlns:a16="http://schemas.microsoft.com/office/drawing/2014/main" id="{7A403721-DCC8-4CFF-A673-4A8488F4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335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操作步驟</a:t>
            </a:r>
          </a:p>
        </p:txBody>
      </p:sp>
      <p:sp>
        <p:nvSpPr>
          <p:cNvPr id="8" name="text-1975">
            <a:extLst xmlns:a="http://schemas.openxmlformats.org/drawingml/2006/main">
              <a:ext uri="{FF2B5EF4-FFF2-40B4-BE49-F238E27FC236}">
                <a16:creationId xmlns:a16="http://schemas.microsoft.com/office/drawing/2014/main" id="{AFA92383-45EB-4790-AE88-E4821DB3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00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1976">
            <a:extLst xmlns:a="http://schemas.openxmlformats.org/drawingml/2006/main">
              <a:ext uri="{FF2B5EF4-FFF2-40B4-BE49-F238E27FC236}">
                <a16:creationId xmlns:a16="http://schemas.microsoft.com/office/drawing/2014/main" id="{AE08DD43-FF81-4ED3-9152-68A0D2F9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003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從快捷面板選一個高頻提示詞</a:t>
            </a:r>
          </a:p>
        </p:txBody>
      </p:sp>
      <p:sp>
        <p:nvSpPr>
          <p:cNvPr id="10" name="text-1977">
            <a:extLst xmlns:a="http://schemas.openxmlformats.org/drawingml/2006/main">
              <a:ext uri="{FF2B5EF4-FFF2-40B4-BE49-F238E27FC236}">
                <a16:creationId xmlns:a16="http://schemas.microsoft.com/office/drawing/2014/main" id="{D9A5711B-640E-4B2D-894C-E1DA1991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05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1" name="text-1978">
            <a:extLst xmlns:a="http://schemas.openxmlformats.org/drawingml/2006/main">
              <a:ext uri="{FF2B5EF4-FFF2-40B4-BE49-F238E27FC236}">
                <a16:creationId xmlns:a16="http://schemas.microsoft.com/office/drawing/2014/main" id="{301B509D-BCA3-4A3C-BE62-F358BEB9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051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補齊輸入、步驟、限制與驗收</a:t>
            </a:r>
          </a:p>
        </p:txBody>
      </p:sp>
      <p:sp>
        <p:nvSpPr>
          <p:cNvPr id="12" name="text-1979">
            <a:extLst xmlns:a="http://schemas.openxmlformats.org/drawingml/2006/main">
              <a:ext uri="{FF2B5EF4-FFF2-40B4-BE49-F238E27FC236}">
                <a16:creationId xmlns:a16="http://schemas.microsoft.com/office/drawing/2014/main" id="{D31E4492-B2B8-419F-8E30-474E4F6A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810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3" name="text-1980">
            <a:extLst xmlns:a="http://schemas.openxmlformats.org/drawingml/2006/main">
              <a:ext uri="{FF2B5EF4-FFF2-40B4-BE49-F238E27FC236}">
                <a16:creationId xmlns:a16="http://schemas.microsoft.com/office/drawing/2014/main" id="{FDF06238-2ABB-4CC1-9B49-74997B0F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100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建立資料夾與 SKILL.md</a:t>
            </a:r>
          </a:p>
        </p:txBody>
      </p:sp>
      <p:sp>
        <p:nvSpPr>
          <p:cNvPr id="14" name="text-1981">
            <a:extLst xmlns:a="http://schemas.openxmlformats.org/drawingml/2006/main">
              <a:ext uri="{FF2B5EF4-FFF2-40B4-BE49-F238E27FC236}">
                <a16:creationId xmlns:a16="http://schemas.microsoft.com/office/drawing/2014/main" id="{D64B01F3-9952-42B3-A037-ABDD411B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14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15" name="text-1982">
            <a:extLst xmlns:a="http://schemas.openxmlformats.org/drawingml/2006/main">
              <a:ext uri="{FF2B5EF4-FFF2-40B4-BE49-F238E27FC236}">
                <a16:creationId xmlns:a16="http://schemas.microsoft.com/office/drawing/2014/main" id="{CAA46354-60D0-46C5-886D-2025EBB8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148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在 Agent 中用自然語句觸發並修正</a:t>
            </a:r>
          </a:p>
        </p:txBody>
      </p:sp>
      <p:sp>
        <p:nvSpPr>
          <p:cNvPr id="16" name="shape-1983">
            <a:extLst xmlns:a="http://schemas.openxmlformats.org/drawingml/2006/main">
              <a:ext uri="{FF2B5EF4-FFF2-40B4-BE49-F238E27FC236}">
                <a16:creationId xmlns:a16="http://schemas.microsoft.com/office/drawing/2014/main" id="{70AA26B8-42A4-4078-BBD2-AB962168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90700"/>
            <a:ext cx="2362200" cy="39052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7" name="text-1984">
            <a:extLst xmlns:a="http://schemas.openxmlformats.org/drawingml/2006/main">
              <a:ext uri="{FF2B5EF4-FFF2-40B4-BE49-F238E27FC236}">
                <a16:creationId xmlns:a16="http://schemas.microsoft.com/office/drawing/2014/main" id="{F22BD211-AF80-4EB8-8F6F-3806A60C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5740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rPr>
              <a:t>完成條件</a:t>
            </a:r>
          </a:p>
        </p:txBody>
      </p:sp>
      <p:sp>
        <p:nvSpPr>
          <p:cNvPr id="18" name="text-1985">
            <a:extLst xmlns:a="http://schemas.openxmlformats.org/drawingml/2006/main">
              <a:ext uri="{FF2B5EF4-FFF2-40B4-BE49-F238E27FC236}">
                <a16:creationId xmlns:a16="http://schemas.microsoft.com/office/drawing/2014/main" id="{46F4A6AE-0EB7-46B2-BB48-B7D90A20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05100"/>
            <a:ext cx="18669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名稱與描述清楚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流程可重複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有至少一項驗收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需要授權的動作會停</a:t>
            </a:r>
          </a:p>
        </p:txBody>
      </p:sp>
      <p:sp>
        <p:nvSpPr>
          <p:cNvPr id="19" name="text-2410">
            <a:extLst xmlns:a="http://schemas.openxmlformats.org/drawingml/2006/main">
              <a:ext uri="{FF2B5EF4-FFF2-40B4-BE49-F238E27FC236}">
                <a16:creationId xmlns:a16="http://schemas.microsoft.com/office/drawing/2014/main" id="{41009145-5964-4D45-BE36-78C17E41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0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890f871eca0f4848"/>
              </a:rPr>
              <a:t>Antigravity Skills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2c1c4816983c4509"/>
              </a:rPr>
              <a:t>Codex Skills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099e89fd90d14082"/>
              </a:rPr>
              <a:t>Skills 資源庫 ↗</a:t>
            </a:r>
          </a:p>
        </p:txBody>
      </p:sp>
      <p:sp>
        <p:nvSpPr>
          <p:cNvPr id="20" name="shape-2522">
            <a:extLst xmlns:a="http://schemas.openxmlformats.org/drawingml/2006/main">
              <a:ext uri="{FF2B5EF4-FFF2-40B4-BE49-F238E27FC236}">
                <a16:creationId xmlns:a16="http://schemas.microsoft.com/office/drawing/2014/main" id="{B936B37B-CB58-4A16-9C5D-A6EC8D10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"/>
            <a:ext cx="2247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f72d1940ed4015"/>
          <a:stretch xmlns:a="http://schemas.openxmlformats.org/drawingml/2006/main"/>
        </p:blipFill>
        <p:spPr>
          <a:xfrm xmlns:a="http://schemas.openxmlformats.org/drawingml/2006/main">
            <a:off x="95059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2" name="text-2523">
            <a:extLst xmlns:a="http://schemas.openxmlformats.org/drawingml/2006/main">
              <a:ext uri="{FF2B5EF4-FFF2-40B4-BE49-F238E27FC236}">
                <a16:creationId xmlns:a16="http://schemas.microsoft.com/office/drawing/2014/main" id="{3F2DC761-1E91-4F50-9523-8D758B8C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 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9aee244e014cd5"/>
          <a:stretch xmlns:a="http://schemas.openxmlformats.org/drawingml/2006/main"/>
        </p:blipFill>
        <p:spPr>
          <a:xfrm xmlns:a="http://schemas.openxmlformats.org/drawingml/2006/main">
            <a:off x="102298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4" name="text-2524">
            <a:extLst xmlns:a="http://schemas.openxmlformats.org/drawingml/2006/main">
              <a:ext uri="{FF2B5EF4-FFF2-40B4-BE49-F238E27FC236}">
                <a16:creationId xmlns:a16="http://schemas.microsoft.com/office/drawing/2014/main" id="{329DE876-8BED-4BF5-A9AA-BFE3DBC2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 Skills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cab33836f2497f"/>
          <a:stretch xmlns:a="http://schemas.openxmlformats.org/drawingml/2006/main"/>
        </p:blipFill>
        <p:spPr>
          <a:xfrm xmlns:a="http://schemas.openxmlformats.org/drawingml/2006/main">
            <a:off x="109537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6" name="text-2525">
            <a:extLst xmlns:a="http://schemas.openxmlformats.org/drawingml/2006/main">
              <a:ext uri="{FF2B5EF4-FFF2-40B4-BE49-F238E27FC236}">
                <a16:creationId xmlns:a16="http://schemas.microsoft.com/office/drawing/2014/main" id="{A4401BD7-2693-4D48-AFAC-07688EC5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Skills 資源庫</a:t>
            </a:r>
          </a:p>
        </p:txBody>
      </p:sp>
    </p:spTree>
    <p:extLst>
      <p:ext uri="{BB962C8B-B14F-4D97-AF65-F5344CB8AC3E}">
        <p14:creationId xmlns:p14="http://schemas.microsoft.com/office/powerpoint/2010/main" val="806480060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-1986">
            <a:extLst xmlns:a="http://schemas.openxmlformats.org/drawingml/2006/main">
              <a:ext uri="{FF2B5EF4-FFF2-40B4-BE49-F238E27FC236}">
                <a16:creationId xmlns:a16="http://schemas.microsoft.com/office/drawing/2014/main" id="{01560428-3E66-41A7-969E-63B5086E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CROSS-AGENT TEST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0241D7-2B7D-42C5-A4BA-F3E840E0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28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同一個 Skill，做兩輪交叉測試</a:t>
            </a:r>
          </a:p>
        </p:txBody>
      </p:sp>
      <p:cxnSp>
        <p:nvCxnSpPr>
          <p:cNvPr id="32" name="shape-1987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988">
            <a:extLst xmlns:a="http://schemas.openxmlformats.org/drawingml/2006/main">
              <a:ext uri="{FF2B5EF4-FFF2-40B4-BE49-F238E27FC236}">
                <a16:creationId xmlns:a16="http://schemas.microsoft.com/office/drawing/2014/main" id="{0D11D489-D7B2-40C0-A7C2-45213E09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4CE7E87-00D1-465F-B6FA-30933C7E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50</a:t>
            </a:r>
          </a:p>
        </p:txBody>
      </p:sp>
      <p:sp>
        <p:nvSpPr>
          <p:cNvPr id="6" name="shape-1989">
            <a:extLst xmlns:a="http://schemas.openxmlformats.org/drawingml/2006/main">
              <a:ext uri="{FF2B5EF4-FFF2-40B4-BE49-F238E27FC236}">
                <a16:creationId xmlns:a16="http://schemas.microsoft.com/office/drawing/2014/main" id="{CF03BDFD-3677-4B5E-9937-92938696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1990">
            <a:extLst xmlns:a="http://schemas.openxmlformats.org/drawingml/2006/main">
              <a:ext uri="{FF2B5EF4-FFF2-40B4-BE49-F238E27FC236}">
                <a16:creationId xmlns:a16="http://schemas.microsoft.com/office/drawing/2014/main" id="{101CE380-83DC-4502-8768-A7699413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1991">
            <a:extLst xmlns:a="http://schemas.openxmlformats.org/drawingml/2006/main">
              <a:ext uri="{FF2B5EF4-FFF2-40B4-BE49-F238E27FC236}">
                <a16:creationId xmlns:a16="http://schemas.microsoft.com/office/drawing/2014/main" id="{E5F637BA-083A-43AC-AD5C-DF045058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觸發</a:t>
            </a:r>
          </a:p>
        </p:txBody>
      </p:sp>
      <p:sp>
        <p:nvSpPr>
          <p:cNvPr id="9" name="text-1992">
            <a:extLst xmlns:a="http://schemas.openxmlformats.org/drawingml/2006/main">
              <a:ext uri="{FF2B5EF4-FFF2-40B4-BE49-F238E27FC236}">
                <a16:creationId xmlns:a16="http://schemas.microsoft.com/office/drawing/2014/main" id="{3E554248-D272-4DC9-B490-281E160C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 與 Codex 是否都能從 description 判斷何時使用？</a:t>
            </a:r>
          </a:p>
        </p:txBody>
      </p:sp>
      <p:sp>
        <p:nvSpPr>
          <p:cNvPr id="10" name="shape-1993">
            <a:extLst xmlns:a="http://schemas.openxmlformats.org/drawingml/2006/main">
              <a:ext uri="{FF2B5EF4-FFF2-40B4-BE49-F238E27FC236}">
                <a16:creationId xmlns:a16="http://schemas.microsoft.com/office/drawing/2014/main" id="{1C77F7F5-0E16-400D-BD97-30A15542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1994">
            <a:extLst xmlns:a="http://schemas.openxmlformats.org/drawingml/2006/main">
              <a:ext uri="{FF2B5EF4-FFF2-40B4-BE49-F238E27FC236}">
                <a16:creationId xmlns:a16="http://schemas.microsoft.com/office/drawing/2014/main" id="{18127401-C5C8-45B6-B4A1-D06C2ABE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1995">
            <a:extLst xmlns:a="http://schemas.openxmlformats.org/drawingml/2006/main">
              <a:ext uri="{FF2B5EF4-FFF2-40B4-BE49-F238E27FC236}">
                <a16:creationId xmlns:a16="http://schemas.microsoft.com/office/drawing/2014/main" id="{BC63CBA4-A666-48F5-AEBF-014BEFB2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步驟</a:t>
            </a:r>
          </a:p>
        </p:txBody>
      </p:sp>
      <p:sp>
        <p:nvSpPr>
          <p:cNvPr id="13" name="text-1996">
            <a:extLst xmlns:a="http://schemas.openxmlformats.org/drawingml/2006/main">
              <a:ext uri="{FF2B5EF4-FFF2-40B4-BE49-F238E27FC236}">
                <a16:creationId xmlns:a16="http://schemas.microsoft.com/office/drawing/2014/main" id="{81323030-9CBF-4D36-ACD3-AD21E0D9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是否按相同順序處理，或清楚說明環境差異？</a:t>
            </a:r>
          </a:p>
        </p:txBody>
      </p:sp>
      <p:sp>
        <p:nvSpPr>
          <p:cNvPr id="14" name="shape-1997">
            <a:extLst xmlns:a="http://schemas.openxmlformats.org/drawingml/2006/main">
              <a:ext uri="{FF2B5EF4-FFF2-40B4-BE49-F238E27FC236}">
                <a16:creationId xmlns:a16="http://schemas.microsoft.com/office/drawing/2014/main" id="{C830F9E4-2DA1-4FA1-8C26-482978DA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1998">
            <a:extLst xmlns:a="http://schemas.openxmlformats.org/drawingml/2006/main">
              <a:ext uri="{FF2B5EF4-FFF2-40B4-BE49-F238E27FC236}">
                <a16:creationId xmlns:a16="http://schemas.microsoft.com/office/drawing/2014/main" id="{5CB1E678-CF36-4D9B-A6C8-899C35B0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1999">
            <a:extLst xmlns:a="http://schemas.openxmlformats.org/drawingml/2006/main">
              <a:ext uri="{FF2B5EF4-FFF2-40B4-BE49-F238E27FC236}">
                <a16:creationId xmlns:a16="http://schemas.microsoft.com/office/drawing/2014/main" id="{E683D414-F77C-40EA-A7A7-FE56169F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護欄</a:t>
            </a:r>
          </a:p>
        </p:txBody>
      </p:sp>
      <p:sp>
        <p:nvSpPr>
          <p:cNvPr id="17" name="text-2000">
            <a:extLst xmlns:a="http://schemas.openxmlformats.org/drawingml/2006/main">
              <a:ext uri="{FF2B5EF4-FFF2-40B4-BE49-F238E27FC236}">
                <a16:creationId xmlns:a16="http://schemas.microsoft.com/office/drawing/2014/main" id="{F4B06533-7A2A-48CC-9E21-8647B8AD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是否都在發布、刪除、寄送或改權限前停下？</a:t>
            </a:r>
          </a:p>
        </p:txBody>
      </p:sp>
      <p:sp>
        <p:nvSpPr>
          <p:cNvPr id="18" name="shape-2001">
            <a:extLst xmlns:a="http://schemas.openxmlformats.org/drawingml/2006/main">
              <a:ext uri="{FF2B5EF4-FFF2-40B4-BE49-F238E27FC236}">
                <a16:creationId xmlns:a16="http://schemas.microsoft.com/office/drawing/2014/main" id="{FF7CB6C1-2F0A-402A-81D0-0E910502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2002">
            <a:extLst xmlns:a="http://schemas.openxmlformats.org/drawingml/2006/main">
              <a:ext uri="{FF2B5EF4-FFF2-40B4-BE49-F238E27FC236}">
                <a16:creationId xmlns:a16="http://schemas.microsoft.com/office/drawing/2014/main" id="{F8CC7E63-5034-4AAB-8734-D901A72F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2003">
            <a:extLst xmlns:a="http://schemas.openxmlformats.org/drawingml/2006/main">
              <a:ext uri="{FF2B5EF4-FFF2-40B4-BE49-F238E27FC236}">
                <a16:creationId xmlns:a16="http://schemas.microsoft.com/office/drawing/2014/main" id="{A11D7994-9B85-4132-B100-5F4B3D18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證據</a:t>
            </a:r>
          </a:p>
        </p:txBody>
      </p:sp>
      <p:sp>
        <p:nvSpPr>
          <p:cNvPr id="21" name="text-2004">
            <a:extLst xmlns:a="http://schemas.openxmlformats.org/drawingml/2006/main">
              <a:ext uri="{FF2B5EF4-FFF2-40B4-BE49-F238E27FC236}">
                <a16:creationId xmlns:a16="http://schemas.microsoft.com/office/drawing/2014/main" id="{6041B27E-D450-4BFF-91EC-1442332D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是否都回報通過、失敗與未確認，而非只說完成？</a:t>
            </a:r>
          </a:p>
        </p:txBody>
      </p:sp>
      <p:sp>
        <p:nvSpPr>
          <p:cNvPr id="22" name="text-2411">
            <a:extLst xmlns:a="http://schemas.openxmlformats.org/drawingml/2006/main">
              <a:ext uri="{FF2B5EF4-FFF2-40B4-BE49-F238E27FC236}">
                <a16:creationId xmlns:a16="http://schemas.microsoft.com/office/drawing/2014/main" id="{FAF98B49-32A6-4E49-9440-BBDC7E09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0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6e3103b61e194dd0"/>
              </a:rPr>
              <a:t>Antigravity Skills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7cd69db930ad4bb4"/>
              </a:rPr>
              <a:t>Codex Skills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269a1605de89438a"/>
              </a:rPr>
              <a:t>Skills 資源庫 ↗</a:t>
            </a:r>
          </a:p>
        </p:txBody>
      </p:sp>
      <p:sp>
        <p:nvSpPr>
          <p:cNvPr id="23" name="shape-2526">
            <a:extLst xmlns:a="http://schemas.openxmlformats.org/drawingml/2006/main">
              <a:ext uri="{FF2B5EF4-FFF2-40B4-BE49-F238E27FC236}">
                <a16:creationId xmlns:a16="http://schemas.microsoft.com/office/drawing/2014/main" id="{128BAE37-AEFB-479B-ABD7-457CF077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"/>
            <a:ext cx="2247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e4967fc58b48db"/>
          <a:stretch xmlns:a="http://schemas.openxmlformats.org/drawingml/2006/main"/>
        </p:blipFill>
        <p:spPr>
          <a:xfrm xmlns:a="http://schemas.openxmlformats.org/drawingml/2006/main">
            <a:off x="95059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5" name="text-2527">
            <a:extLst xmlns:a="http://schemas.openxmlformats.org/drawingml/2006/main">
              <a:ext uri="{FF2B5EF4-FFF2-40B4-BE49-F238E27FC236}">
                <a16:creationId xmlns:a16="http://schemas.microsoft.com/office/drawing/2014/main" id="{3AB0BCB6-1E47-4CE1-BF0C-5A302792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 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d7f7b7e5864ffe"/>
          <a:stretch xmlns:a="http://schemas.openxmlformats.org/drawingml/2006/main"/>
        </p:blipFill>
        <p:spPr>
          <a:xfrm xmlns:a="http://schemas.openxmlformats.org/drawingml/2006/main">
            <a:off x="102298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7" name="text-2528">
            <a:extLst xmlns:a="http://schemas.openxmlformats.org/drawingml/2006/main">
              <a:ext uri="{FF2B5EF4-FFF2-40B4-BE49-F238E27FC236}">
                <a16:creationId xmlns:a16="http://schemas.microsoft.com/office/drawing/2014/main" id="{36AE3E30-A02A-4EEE-AD9F-0793A938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 Skills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c28f7334e94fa8"/>
          <a:stretch xmlns:a="http://schemas.openxmlformats.org/drawingml/2006/main"/>
        </p:blipFill>
        <p:spPr>
          <a:xfrm xmlns:a="http://schemas.openxmlformats.org/drawingml/2006/main">
            <a:off x="109537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9" name="text-2529">
            <a:extLst xmlns:a="http://schemas.openxmlformats.org/drawingml/2006/main">
              <a:ext uri="{FF2B5EF4-FFF2-40B4-BE49-F238E27FC236}">
                <a16:creationId xmlns:a16="http://schemas.microsoft.com/office/drawing/2014/main" id="{52BEF18A-FF87-4DC9-8C8F-CC9A1D22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Skills 資源庫</a:t>
            </a:r>
          </a:p>
        </p:txBody>
      </p:sp>
    </p:spTree>
    <p:extLst>
      <p:ext uri="{BB962C8B-B14F-4D97-AF65-F5344CB8AC3E}">
        <p14:creationId xmlns:p14="http://schemas.microsoft.com/office/powerpoint/2010/main" val="62709090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2005">
            <a:extLst xmlns:a="http://schemas.openxmlformats.org/drawingml/2006/main">
              <a:ext uri="{FF2B5EF4-FFF2-40B4-BE49-F238E27FC236}">
                <a16:creationId xmlns:a16="http://schemas.microsoft.com/office/drawing/2014/main" id="{C35EC362-FF9F-435A-8A91-84A00CDA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4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84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" name="text-2006">
            <a:extLst xmlns:a="http://schemas.openxmlformats.org/drawingml/2006/main">
              <a:ext uri="{FF2B5EF4-FFF2-40B4-BE49-F238E27FC236}">
                <a16:creationId xmlns:a16="http://schemas.microsoft.com/office/drawing/2014/main" id="{457E68D7-BF40-4C8A-8531-D6824A51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40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AI 分析學生資料</a:t>
            </a:r>
          </a:p>
        </p:txBody>
      </p:sp>
      <p:sp>
        <p:nvSpPr>
          <p:cNvPr id="3" name="text-2007">
            <a:extLst xmlns:a="http://schemas.openxmlformats.org/drawingml/2006/main">
              <a:ext uri="{FF2B5EF4-FFF2-40B4-BE49-F238E27FC236}">
                <a16:creationId xmlns:a16="http://schemas.microsoft.com/office/drawing/2014/main" id="{EE8A5737-6AB8-4593-BAC5-120B02CE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8477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把選擇題統計與簡答題編碼分流處理，再用人工複核與一致性檢查，把 AI 變成研究助理而不是黑箱評分者。</a:t>
            </a:r>
          </a:p>
        </p:txBody>
      </p:sp>
      <p:sp>
        <p:nvSpPr>
          <p:cNvPr id="4" name="shape-2008">
            <a:extLst xmlns:a="http://schemas.openxmlformats.org/drawingml/2006/main">
              <a:ext uri="{FF2B5EF4-FFF2-40B4-BE49-F238E27FC236}">
                <a16:creationId xmlns:a16="http://schemas.microsoft.com/office/drawing/2014/main" id="{A26AD7E3-5CB4-452C-B9E3-85A71780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810000"/>
            <a:ext cx="1524000" cy="1524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2009">
            <a:extLst xmlns:a="http://schemas.openxmlformats.org/drawingml/2006/main">
              <a:ext uri="{FF2B5EF4-FFF2-40B4-BE49-F238E27FC236}">
                <a16:creationId xmlns:a16="http://schemas.microsoft.com/office/drawing/2014/main" id="{CDE3500E-9A40-4A21-87F9-40CF49DA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114800"/>
            <a:ext cx="114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動手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做</a:t>
            </a:r>
          </a:p>
        </p:txBody>
      </p:sp>
      <p:cxnSp>
        <p:nvCxnSpPr>
          <p:cNvPr id="20" name="shape-2010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7" name="text-2011">
            <a:extLst xmlns:a="http://schemas.openxmlformats.org/drawingml/2006/main">
              <a:ext uri="{FF2B5EF4-FFF2-40B4-BE49-F238E27FC236}">
                <a16:creationId xmlns:a16="http://schemas.microsoft.com/office/drawing/2014/main" id="{2FDFE7DF-328A-4743-AE19-2650980F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E10631B-39B4-4350-A738-443B8E0C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51</a:t>
            </a:r>
          </a:p>
        </p:txBody>
      </p:sp>
      <p:sp>
        <p:nvSpPr>
          <p:cNvPr id="9" name="text-2413">
            <a:extLst xmlns:a="http://schemas.openxmlformats.org/drawingml/2006/main">
              <a:ext uri="{FF2B5EF4-FFF2-40B4-BE49-F238E27FC236}">
                <a16:creationId xmlns:a16="http://schemas.microsoft.com/office/drawing/2014/main" id="{68FF08EA-7E91-4C7D-B446-52FF9A89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2ab125ac45024054"/>
              </a:rPr>
              <a:t>Antigravity ↗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b014e1a888b546b2"/>
              </a:rPr>
              <a:t>Codex ↗</a:t>
            </a:r>
          </a:p>
        </p:txBody>
      </p:sp>
      <p:sp>
        <p:nvSpPr>
          <p:cNvPr id="10" name="shape-2532">
            <a:extLst xmlns:a="http://schemas.openxmlformats.org/drawingml/2006/main">
              <a:ext uri="{FF2B5EF4-FFF2-40B4-BE49-F238E27FC236}">
                <a16:creationId xmlns:a16="http://schemas.microsoft.com/office/drawing/2014/main" id="{C3E796D3-1D02-4471-A3F2-2A66D2B8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05576e691e4226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12" name="text-2533">
            <a:extLst xmlns:a="http://schemas.openxmlformats.org/drawingml/2006/main">
              <a:ext uri="{FF2B5EF4-FFF2-40B4-BE49-F238E27FC236}">
                <a16:creationId xmlns:a16="http://schemas.microsoft.com/office/drawing/2014/main" id="{45803C4C-D1E2-4543-AA1D-5A771736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89201a2b444494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14" name="text-2534">
            <a:extLst xmlns:a="http://schemas.openxmlformats.org/drawingml/2006/main">
              <a:ext uri="{FF2B5EF4-FFF2-40B4-BE49-F238E27FC236}">
                <a16:creationId xmlns:a16="http://schemas.microsoft.com/office/drawing/2014/main" id="{3CD73C7C-0D62-490F-ACC7-9E941387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</a:t>
            </a:r>
          </a:p>
        </p:txBody>
      </p:sp>
    </p:spTree>
    <p:extLst>
      <p:ext uri="{BB962C8B-B14F-4D97-AF65-F5344CB8AC3E}">
        <p14:creationId xmlns:p14="http://schemas.microsoft.com/office/powerpoint/2010/main" val="2083498654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2012">
            <a:extLst xmlns:a="http://schemas.openxmlformats.org/drawingml/2006/main">
              <a:ext uri="{FF2B5EF4-FFF2-40B4-BE49-F238E27FC236}">
                <a16:creationId xmlns:a16="http://schemas.microsoft.com/office/drawing/2014/main" id="{2C70E98D-8B8E-4C77-9E41-ACA25E8C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TWO DATA LANES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805F4F-1481-4EEF-AD97-894D48CB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先分流：選擇題算表現，簡答題讀理解證據</a:t>
            </a:r>
          </a:p>
        </p:txBody>
      </p:sp>
      <p:cxnSp>
        <p:nvCxnSpPr>
          <p:cNvPr id="31" name="shape-2013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2014">
            <a:extLst xmlns:a="http://schemas.openxmlformats.org/drawingml/2006/main">
              <a:ext uri="{FF2B5EF4-FFF2-40B4-BE49-F238E27FC236}">
                <a16:creationId xmlns:a16="http://schemas.microsoft.com/office/drawing/2014/main" id="{7F91C8D5-EAF8-4EDE-96A3-0348936B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2653B26-971B-450E-87F5-5618DA79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52</a:t>
            </a:r>
          </a:p>
        </p:txBody>
      </p:sp>
      <p:sp>
        <p:nvSpPr>
          <p:cNvPr id="6" name="shape-2015">
            <a:extLst xmlns:a="http://schemas.openxmlformats.org/drawingml/2006/main">
              <a:ext uri="{FF2B5EF4-FFF2-40B4-BE49-F238E27FC236}">
                <a16:creationId xmlns:a16="http://schemas.microsoft.com/office/drawing/2014/main" id="{8D839D55-2CB0-489E-B58E-86BDCFF6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3625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shape-2016">
            <a:extLst xmlns:a="http://schemas.openxmlformats.org/drawingml/2006/main">
              <a:ext uri="{FF2B5EF4-FFF2-40B4-BE49-F238E27FC236}">
                <a16:creationId xmlns:a16="http://schemas.microsoft.com/office/drawing/2014/main" id="{17283359-E80A-4059-A614-04E09EE8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676400"/>
            <a:ext cx="55911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8" name="text-2017">
            <a:extLst xmlns:a="http://schemas.openxmlformats.org/drawingml/2006/main">
              <a:ext uri="{FF2B5EF4-FFF2-40B4-BE49-F238E27FC236}">
                <a16:creationId xmlns:a16="http://schemas.microsoft.com/office/drawing/2014/main" id="{410E71EB-D4D4-479D-BF1B-DEFB3BAD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791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選擇題／結構化資料</a:t>
            </a:r>
          </a:p>
        </p:txBody>
      </p:sp>
      <p:sp>
        <p:nvSpPr>
          <p:cNvPr id="9" name="text-2018">
            <a:extLst xmlns:a="http://schemas.openxmlformats.org/drawingml/2006/main">
              <a:ext uri="{FF2B5EF4-FFF2-40B4-BE49-F238E27FC236}">
                <a16:creationId xmlns:a16="http://schemas.microsoft.com/office/drawing/2014/main" id="{E0E242DC-9A00-4036-A579-02163402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47910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答案鍵比對與缺漏檢查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全班、分組與題目答對率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干擾選項分布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異常值與資料品質標記</a:t>
            </a:r>
          </a:p>
        </p:txBody>
      </p:sp>
      <p:sp>
        <p:nvSpPr>
          <p:cNvPr id="10" name="text-2019">
            <a:extLst xmlns:a="http://schemas.openxmlformats.org/drawingml/2006/main">
              <a:ext uri="{FF2B5EF4-FFF2-40B4-BE49-F238E27FC236}">
                <a16:creationId xmlns:a16="http://schemas.microsoft.com/office/drawing/2014/main" id="{EC9F9930-522B-4C4B-BF1C-094A3121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00250"/>
            <a:ext cx="4981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簡答題／文字資料</a:t>
            </a:r>
          </a:p>
        </p:txBody>
      </p:sp>
      <p:sp>
        <p:nvSpPr>
          <p:cNvPr id="11" name="text-2020">
            <a:extLst xmlns:a="http://schemas.openxmlformats.org/drawingml/2006/main">
              <a:ext uri="{FF2B5EF4-FFF2-40B4-BE49-F238E27FC236}">
                <a16:creationId xmlns:a16="http://schemas.microsoft.com/office/drawing/2014/main" id="{8A481D6F-0E50-4E0B-9167-54370421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81300"/>
            <a:ext cx="49815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先定義逐題編碼規準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保留支持編碼的文字證據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AI 初編＋信心與待複核旗標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人工獨立抽查與處理歧異</a:t>
            </a:r>
          </a:p>
        </p:txBody>
      </p:sp>
      <p:sp>
        <p:nvSpPr>
          <p:cNvPr id="12" name="text-2021">
            <a:extLst xmlns:a="http://schemas.openxmlformats.org/drawingml/2006/main">
              <a:ext uri="{FF2B5EF4-FFF2-40B4-BE49-F238E27FC236}">
                <a16:creationId xmlns:a16="http://schemas.microsoft.com/office/drawing/2014/main" id="{7B16D438-ED83-46E5-8CC6-977A6431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1257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答案鍵</a:t>
            </a:r>
          </a:p>
        </p:txBody>
      </p:sp>
      <p:sp>
        <p:nvSpPr>
          <p:cNvPr id="13" name="text-2022">
            <a:extLst xmlns:a="http://schemas.openxmlformats.org/drawingml/2006/main">
              <a:ext uri="{FF2B5EF4-FFF2-40B4-BE49-F238E27FC236}">
                <a16:creationId xmlns:a16="http://schemas.microsoft.com/office/drawing/2014/main" id="{1B119BE1-4E37-4630-97DE-7DFB2387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857750"/>
            <a:ext cx="1257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統計</a:t>
            </a:r>
          </a:p>
        </p:txBody>
      </p:sp>
      <p:sp>
        <p:nvSpPr>
          <p:cNvPr id="14" name="text-2023">
            <a:extLst xmlns:a="http://schemas.openxmlformats.org/drawingml/2006/main">
              <a:ext uri="{FF2B5EF4-FFF2-40B4-BE49-F238E27FC236}">
                <a16:creationId xmlns:a16="http://schemas.microsoft.com/office/drawing/2014/main" id="{F4E4F6F6-D454-4695-A3E3-9880C7EC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857750"/>
            <a:ext cx="1257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群體趨勢</a:t>
            </a:r>
          </a:p>
        </p:txBody>
      </p:sp>
      <p:cxnSp>
        <p:nvCxnSpPr>
          <p:cNvPr id="43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038350" y="5105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B64DA"/>
            </a:solidFill>
            <a:prstDash val="solid"/>
            <a:tailEnd type="arrow" w="sm" len="sm"/>
          </a:ln>
        </p:spPr>
      </p:cxnSp>
      <p:cxnSp>
        <p:nvCxnSpPr>
          <p:cNvPr id="44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562350" y="5105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B64DA"/>
            </a:solidFill>
            <a:prstDash val="solid"/>
            <a:tailEnd type="arrow" w="sm" len="sm"/>
          </a:ln>
        </p:spPr>
      </p:cxnSp>
      <p:sp>
        <p:nvSpPr>
          <p:cNvPr id="17" name="text-2024">
            <a:extLst xmlns:a="http://schemas.openxmlformats.org/drawingml/2006/main">
              <a:ext uri="{FF2B5EF4-FFF2-40B4-BE49-F238E27FC236}">
                <a16:creationId xmlns:a16="http://schemas.microsoft.com/office/drawing/2014/main" id="{E2A7D341-D5A0-4311-A862-404B8DD3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57750"/>
            <a:ext cx="1257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編碼規準</a:t>
            </a:r>
          </a:p>
        </p:txBody>
      </p:sp>
      <p:sp>
        <p:nvSpPr>
          <p:cNvPr id="18" name="text-2025">
            <a:extLst xmlns:a="http://schemas.openxmlformats.org/drawingml/2006/main">
              <a:ext uri="{FF2B5EF4-FFF2-40B4-BE49-F238E27FC236}">
                <a16:creationId xmlns:a16="http://schemas.microsoft.com/office/drawing/2014/main" id="{7A96BCD7-2E99-4645-A77E-F3192044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857750"/>
            <a:ext cx="1257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EECE7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AI 初編</a:t>
            </a:r>
          </a:p>
        </p:txBody>
      </p:sp>
      <p:sp>
        <p:nvSpPr>
          <p:cNvPr id="19" name="text-2026">
            <a:extLst xmlns:a="http://schemas.openxmlformats.org/drawingml/2006/main">
              <a:ext uri="{FF2B5EF4-FFF2-40B4-BE49-F238E27FC236}">
                <a16:creationId xmlns:a16="http://schemas.microsoft.com/office/drawing/2014/main" id="{BFC5773A-F9DA-4B01-B5E1-B34CFC3C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857750"/>
            <a:ext cx="1257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rPr>
              <a:t>人工複核</a:t>
            </a:r>
          </a:p>
        </p:txBody>
      </p:sp>
      <p:cxnSp>
        <p:nvCxnSpPr>
          <p:cNvPr id="48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677150" y="5105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9F94"/>
            </a:solidFill>
            <a:prstDash val="solid"/>
            <a:tailEnd type="arrow" w="sm" len="sm"/>
          </a:ln>
        </p:spPr>
      </p:cxnSp>
      <p:cxnSp>
        <p:nvCxnSpPr>
          <p:cNvPr id="49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201150" y="5105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6B4A"/>
            </a:solidFill>
            <a:prstDash val="solid"/>
            <a:tailEnd type="arrow" w="sm" len="sm"/>
          </a:ln>
        </p:spPr>
      </p:cxnSp>
      <p:sp>
        <p:nvSpPr>
          <p:cNvPr id="22" name="text-2027">
            <a:extLst xmlns:a="http://schemas.openxmlformats.org/drawingml/2006/main">
              <a:ext uri="{FF2B5EF4-FFF2-40B4-BE49-F238E27FC236}">
                <a16:creationId xmlns:a16="http://schemas.microsoft.com/office/drawing/2014/main" id="{6FEF50B9-C5DD-4591-8920-38CBC20A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6260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兩條資料流，最後在報告層匯合；不要用同一套規則硬套</a:t>
            </a:r>
          </a:p>
        </p:txBody>
      </p:sp>
      <p:sp>
        <p:nvSpPr>
          <p:cNvPr id="23" name="text-2414">
            <a:extLst xmlns:a="http://schemas.openxmlformats.org/drawingml/2006/main">
              <a:ext uri="{FF2B5EF4-FFF2-40B4-BE49-F238E27FC236}">
                <a16:creationId xmlns:a16="http://schemas.microsoft.com/office/drawing/2014/main" id="{A918D2D2-4A3F-49D7-95F6-85D0C335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fe27144886c343d5"/>
              </a:rPr>
              <a:t>Antigravity ↗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28a3f1f496664320"/>
              </a:rPr>
              <a:t>Codex ↗</a:t>
            </a:r>
          </a:p>
        </p:txBody>
      </p:sp>
      <p:sp>
        <p:nvSpPr>
          <p:cNvPr id="24" name="shape-2535">
            <a:extLst xmlns:a="http://schemas.openxmlformats.org/drawingml/2006/main">
              <a:ext uri="{FF2B5EF4-FFF2-40B4-BE49-F238E27FC236}">
                <a16:creationId xmlns:a16="http://schemas.microsoft.com/office/drawing/2014/main" id="{C7C2D4A0-0DAA-4A29-A2DA-93F5ADCF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3339ba3a5c4441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6" name="text-2536">
            <a:extLst xmlns:a="http://schemas.openxmlformats.org/drawingml/2006/main">
              <a:ext uri="{FF2B5EF4-FFF2-40B4-BE49-F238E27FC236}">
                <a16:creationId xmlns:a16="http://schemas.microsoft.com/office/drawing/2014/main" id="{A5F0ED75-762C-4CBC-B2B7-087C81CD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e8d35a1fcf414e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8" name="text-2537">
            <a:extLst xmlns:a="http://schemas.openxmlformats.org/drawingml/2006/main">
              <a:ext uri="{FF2B5EF4-FFF2-40B4-BE49-F238E27FC236}">
                <a16:creationId xmlns:a16="http://schemas.microsoft.com/office/drawing/2014/main" id="{B2458214-AAEB-4446-9923-13423C29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</a:t>
            </a:r>
          </a:p>
        </p:txBody>
      </p:sp>
    </p:spTree>
    <p:extLst>
      <p:ext uri="{BB962C8B-B14F-4D97-AF65-F5344CB8AC3E}">
        <p14:creationId xmlns:p14="http://schemas.microsoft.com/office/powerpoint/2010/main" val="149133806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text-2028">
            <a:extLst xmlns:a="http://schemas.openxmlformats.org/drawingml/2006/main">
              <a:ext uri="{FF2B5EF4-FFF2-40B4-BE49-F238E27FC236}">
                <a16:creationId xmlns:a16="http://schemas.microsoft.com/office/drawing/2014/main" id="{C7C9E46A-0482-4CB2-9F10-06E831EB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EVIDENCE PIPELINE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BEBA61-D953-4592-971F-A10AB4F9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七步研究流程：從原始資料到可追查報告</a:t>
            </a:r>
          </a:p>
        </p:txBody>
      </p:sp>
      <p:cxnSp>
        <p:nvCxnSpPr>
          <p:cNvPr id="56" name="shape-2029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2030">
            <a:extLst xmlns:a="http://schemas.openxmlformats.org/drawingml/2006/main">
              <a:ext uri="{FF2B5EF4-FFF2-40B4-BE49-F238E27FC236}">
                <a16:creationId xmlns:a16="http://schemas.microsoft.com/office/drawing/2014/main" id="{9F496FA0-D2AA-4EFE-80DC-2E3B2891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8B99994-8389-416E-A234-E331DDD7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53</a:t>
            </a:r>
          </a:p>
        </p:txBody>
      </p:sp>
      <p:sp>
        <p:nvSpPr>
          <p:cNvPr id="6" name="shape-2031">
            <a:extLst xmlns:a="http://schemas.openxmlformats.org/drawingml/2006/main">
              <a:ext uri="{FF2B5EF4-FFF2-40B4-BE49-F238E27FC236}">
                <a16:creationId xmlns:a16="http://schemas.microsoft.com/office/drawing/2014/main" id="{5FE8C179-D73F-4E4D-A916-4DFD86E2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76400"/>
            <a:ext cx="1600200" cy="31432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shape-2032">
            <a:extLst xmlns:a="http://schemas.openxmlformats.org/drawingml/2006/main">
              <a:ext uri="{FF2B5EF4-FFF2-40B4-BE49-F238E27FC236}">
                <a16:creationId xmlns:a16="http://schemas.microsoft.com/office/drawing/2014/main" id="{C17180F3-2E48-4E34-86AF-36F83667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2573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2033">
            <a:extLst xmlns:a="http://schemas.openxmlformats.org/drawingml/2006/main">
              <a:ext uri="{FF2B5EF4-FFF2-40B4-BE49-F238E27FC236}">
                <a16:creationId xmlns:a16="http://schemas.microsoft.com/office/drawing/2014/main" id="{9508BECE-FFFA-41B4-B24E-34E29C1D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2034">
            <a:extLst xmlns:a="http://schemas.openxmlformats.org/drawingml/2006/main">
              <a:ext uri="{FF2B5EF4-FFF2-40B4-BE49-F238E27FC236}">
                <a16:creationId xmlns:a16="http://schemas.microsoft.com/office/drawing/2014/main" id="{5DA84D18-AEAA-402F-AEE9-E08A6635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去識別</a:t>
            </a:r>
          </a:p>
        </p:txBody>
      </p:sp>
      <p:sp>
        <p:nvSpPr>
          <p:cNvPr id="10" name="text-2035">
            <a:extLst xmlns:a="http://schemas.openxmlformats.org/drawingml/2006/main">
              <a:ext uri="{FF2B5EF4-FFF2-40B4-BE49-F238E27FC236}">
                <a16:creationId xmlns:a16="http://schemas.microsoft.com/office/drawing/2014/main" id="{C4DE83D6-BA6D-4C7E-A2EA-41F80657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1181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移除姓名與直接識別欄位</a:t>
            </a:r>
          </a:p>
        </p:txBody>
      </p:sp>
      <p:sp>
        <p:nvSpPr>
          <p:cNvPr id="11" name="text-2036">
            <a:extLst xmlns:a="http://schemas.openxmlformats.org/drawingml/2006/main">
              <a:ext uri="{FF2B5EF4-FFF2-40B4-BE49-F238E27FC236}">
                <a16:creationId xmlns:a16="http://schemas.microsoft.com/office/drawing/2014/main" id="{DB3C191B-FB68-46BD-BFA7-F073D78B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2" name="shape-2037">
            <a:extLst xmlns:a="http://schemas.openxmlformats.org/drawingml/2006/main">
              <a:ext uri="{FF2B5EF4-FFF2-40B4-BE49-F238E27FC236}">
                <a16:creationId xmlns:a16="http://schemas.microsoft.com/office/drawing/2014/main" id="{D7889EAF-FE7A-4579-BAC3-A2C2DE6E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676400"/>
            <a:ext cx="1600200" cy="31432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3" name="shape-2038">
            <a:extLst xmlns:a="http://schemas.openxmlformats.org/drawingml/2006/main">
              <a:ext uri="{FF2B5EF4-FFF2-40B4-BE49-F238E27FC236}">
                <a16:creationId xmlns:a16="http://schemas.microsoft.com/office/drawing/2014/main" id="{B6AC2C7C-877F-4571-8180-E98CBCEB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790700"/>
            <a:ext cx="12573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2039">
            <a:extLst xmlns:a="http://schemas.openxmlformats.org/drawingml/2006/main">
              <a:ext uri="{FF2B5EF4-FFF2-40B4-BE49-F238E27FC236}">
                <a16:creationId xmlns:a16="http://schemas.microsoft.com/office/drawing/2014/main" id="{7F4094B0-E9B9-41B3-88FB-81FCFC87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5" name="text-2040">
            <a:extLst xmlns:a="http://schemas.openxmlformats.org/drawingml/2006/main">
              <a:ext uri="{FF2B5EF4-FFF2-40B4-BE49-F238E27FC236}">
                <a16:creationId xmlns:a16="http://schemas.microsoft.com/office/drawing/2014/main" id="{4ADD7955-FB85-4A5B-855E-DCECF4B9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68605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資料字典</a:t>
            </a:r>
          </a:p>
        </p:txBody>
      </p:sp>
      <p:sp>
        <p:nvSpPr>
          <p:cNvPr id="16" name="text-2041">
            <a:extLst xmlns:a="http://schemas.openxmlformats.org/drawingml/2006/main">
              <a:ext uri="{FF2B5EF4-FFF2-40B4-BE49-F238E27FC236}">
                <a16:creationId xmlns:a16="http://schemas.microsoft.com/office/drawing/2014/main" id="{161CFEC9-882C-4017-B4EF-A2DAD09B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52800"/>
            <a:ext cx="1181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欄位、答案鍵、缺失值</a:t>
            </a:r>
          </a:p>
        </p:txBody>
      </p:sp>
      <p:sp>
        <p:nvSpPr>
          <p:cNvPr id="17" name="text-2042">
            <a:extLst xmlns:a="http://schemas.openxmlformats.org/drawingml/2006/main">
              <a:ext uri="{FF2B5EF4-FFF2-40B4-BE49-F238E27FC236}">
                <a16:creationId xmlns:a16="http://schemas.microsoft.com/office/drawing/2014/main" id="{68A57DF3-DF83-4130-9E2A-A7492BAE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8" name="shape-2043">
            <a:extLst xmlns:a="http://schemas.openxmlformats.org/drawingml/2006/main">
              <a:ext uri="{FF2B5EF4-FFF2-40B4-BE49-F238E27FC236}">
                <a16:creationId xmlns:a16="http://schemas.microsoft.com/office/drawing/2014/main" id="{D0AEC80E-603D-4C63-B714-526FB54B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676400"/>
            <a:ext cx="1600200" cy="31432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shape-2044">
            <a:extLst xmlns:a="http://schemas.openxmlformats.org/drawingml/2006/main">
              <a:ext uri="{FF2B5EF4-FFF2-40B4-BE49-F238E27FC236}">
                <a16:creationId xmlns:a16="http://schemas.microsoft.com/office/drawing/2014/main" id="{A1EA6A09-CC32-46F3-ABBD-970A6A7A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790700"/>
            <a:ext cx="12573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2045">
            <a:extLst xmlns:a="http://schemas.openxmlformats.org/drawingml/2006/main">
              <a:ext uri="{FF2B5EF4-FFF2-40B4-BE49-F238E27FC236}">
                <a16:creationId xmlns:a16="http://schemas.microsoft.com/office/drawing/2014/main" id="{0FCF5ED0-25D6-4C2D-B978-F75CCDA3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text-2046">
            <a:extLst xmlns:a="http://schemas.openxmlformats.org/drawingml/2006/main">
              <a:ext uri="{FF2B5EF4-FFF2-40B4-BE49-F238E27FC236}">
                <a16:creationId xmlns:a16="http://schemas.microsoft.com/office/drawing/2014/main" id="{711D75CC-7FC5-491A-B5F5-8242E4C7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8605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品質檢查</a:t>
            </a:r>
          </a:p>
        </p:txBody>
      </p:sp>
      <p:sp>
        <p:nvSpPr>
          <p:cNvPr id="22" name="text-2047">
            <a:extLst xmlns:a="http://schemas.openxmlformats.org/drawingml/2006/main">
              <a:ext uri="{FF2B5EF4-FFF2-40B4-BE49-F238E27FC236}">
                <a16:creationId xmlns:a16="http://schemas.microsoft.com/office/drawing/2014/main" id="{AA622370-4CE4-48B4-9533-6FFDA1AF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52800"/>
            <a:ext cx="1181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重複、空白、非法值</a:t>
            </a:r>
          </a:p>
        </p:txBody>
      </p:sp>
      <p:sp>
        <p:nvSpPr>
          <p:cNvPr id="23" name="text-2048">
            <a:extLst xmlns:a="http://schemas.openxmlformats.org/drawingml/2006/main">
              <a:ext uri="{FF2B5EF4-FFF2-40B4-BE49-F238E27FC236}">
                <a16:creationId xmlns:a16="http://schemas.microsoft.com/office/drawing/2014/main" id="{880371D8-F991-4B30-B781-06DC88D4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24" name="shape-2049">
            <a:extLst xmlns:a="http://schemas.openxmlformats.org/drawingml/2006/main">
              <a:ext uri="{FF2B5EF4-FFF2-40B4-BE49-F238E27FC236}">
                <a16:creationId xmlns:a16="http://schemas.microsoft.com/office/drawing/2014/main" id="{0FC37811-B936-48CD-A417-F807BA0A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676400"/>
            <a:ext cx="1600200" cy="31432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25" name="shape-2050">
            <a:extLst xmlns:a="http://schemas.openxmlformats.org/drawingml/2006/main">
              <a:ext uri="{FF2B5EF4-FFF2-40B4-BE49-F238E27FC236}">
                <a16:creationId xmlns:a16="http://schemas.microsoft.com/office/drawing/2014/main" id="{8388E982-0915-413A-B531-C5F5565B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790700"/>
            <a:ext cx="12573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2051">
            <a:extLst xmlns:a="http://schemas.openxmlformats.org/drawingml/2006/main">
              <a:ext uri="{FF2B5EF4-FFF2-40B4-BE49-F238E27FC236}">
                <a16:creationId xmlns:a16="http://schemas.microsoft.com/office/drawing/2014/main" id="{198A86D4-354A-4D46-A987-554FF469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7" name="text-2052">
            <a:extLst xmlns:a="http://schemas.openxmlformats.org/drawingml/2006/main">
              <a:ext uri="{FF2B5EF4-FFF2-40B4-BE49-F238E27FC236}">
                <a16:creationId xmlns:a16="http://schemas.microsoft.com/office/drawing/2014/main" id="{1CEFE4F4-279B-4DFF-B74E-06E06E02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68605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選擇題</a:t>
            </a:r>
          </a:p>
        </p:txBody>
      </p:sp>
      <p:sp>
        <p:nvSpPr>
          <p:cNvPr id="28" name="text-2053">
            <a:extLst xmlns:a="http://schemas.openxmlformats.org/drawingml/2006/main">
              <a:ext uri="{FF2B5EF4-FFF2-40B4-BE49-F238E27FC236}">
                <a16:creationId xmlns:a16="http://schemas.microsoft.com/office/drawing/2014/main" id="{3F5F664D-5599-47FF-A3DA-7E93719A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352800"/>
            <a:ext cx="1181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答對率與選項分布</a:t>
            </a:r>
          </a:p>
        </p:txBody>
      </p:sp>
      <p:sp>
        <p:nvSpPr>
          <p:cNvPr id="29" name="text-2054">
            <a:extLst xmlns:a="http://schemas.openxmlformats.org/drawingml/2006/main">
              <a:ext uri="{FF2B5EF4-FFF2-40B4-BE49-F238E27FC236}">
                <a16:creationId xmlns:a16="http://schemas.microsoft.com/office/drawing/2014/main" id="{D1EA667B-EF80-496D-88EF-C7F8DE4D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30" name="shape-2055">
            <a:extLst xmlns:a="http://schemas.openxmlformats.org/drawingml/2006/main">
              <a:ext uri="{FF2B5EF4-FFF2-40B4-BE49-F238E27FC236}">
                <a16:creationId xmlns:a16="http://schemas.microsoft.com/office/drawing/2014/main" id="{0FF5ABE7-B879-4B06-8DB1-5C74521F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676400"/>
            <a:ext cx="1600200" cy="31432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31" name="shape-2056">
            <a:extLst xmlns:a="http://schemas.openxmlformats.org/drawingml/2006/main">
              <a:ext uri="{FF2B5EF4-FFF2-40B4-BE49-F238E27FC236}">
                <a16:creationId xmlns:a16="http://schemas.microsoft.com/office/drawing/2014/main" id="{9EF94F7F-A611-4D14-9472-35A6D51E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90700"/>
            <a:ext cx="12573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2057">
            <a:extLst xmlns:a="http://schemas.openxmlformats.org/drawingml/2006/main">
              <a:ext uri="{FF2B5EF4-FFF2-40B4-BE49-F238E27FC236}">
                <a16:creationId xmlns:a16="http://schemas.microsoft.com/office/drawing/2014/main" id="{6B2BE6A8-AAAD-4F87-88DC-01ABA1C2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33" name="text-2058">
            <a:extLst xmlns:a="http://schemas.openxmlformats.org/drawingml/2006/main">
              <a:ext uri="{FF2B5EF4-FFF2-40B4-BE49-F238E27FC236}">
                <a16:creationId xmlns:a16="http://schemas.microsoft.com/office/drawing/2014/main" id="{C9D7BC07-0E44-48FB-9D3D-91239380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68605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簡答初編</a:t>
            </a:r>
          </a:p>
        </p:txBody>
      </p:sp>
      <p:sp>
        <p:nvSpPr>
          <p:cNvPr id="34" name="text-2059">
            <a:extLst xmlns:a="http://schemas.openxmlformats.org/drawingml/2006/main">
              <a:ext uri="{FF2B5EF4-FFF2-40B4-BE49-F238E27FC236}">
                <a16:creationId xmlns:a16="http://schemas.microsoft.com/office/drawing/2014/main" id="{5D8FC856-3D8E-495C-9FCC-79D1591A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52800"/>
            <a:ext cx="1181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依規準＋文字證據</a:t>
            </a:r>
          </a:p>
        </p:txBody>
      </p:sp>
      <p:sp>
        <p:nvSpPr>
          <p:cNvPr id="35" name="text-2060">
            <a:extLst xmlns:a="http://schemas.openxmlformats.org/drawingml/2006/main">
              <a:ext uri="{FF2B5EF4-FFF2-40B4-BE49-F238E27FC236}">
                <a16:creationId xmlns:a16="http://schemas.microsoft.com/office/drawing/2014/main" id="{97F74648-E6D7-4756-8D02-5B0C3E56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36" name="shape-2061">
            <a:extLst xmlns:a="http://schemas.openxmlformats.org/drawingml/2006/main">
              <a:ext uri="{FF2B5EF4-FFF2-40B4-BE49-F238E27FC236}">
                <a16:creationId xmlns:a16="http://schemas.microsoft.com/office/drawing/2014/main" id="{56DDA38F-EC63-4967-8AA6-6276E6EA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676400"/>
            <a:ext cx="1600200" cy="31432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37" name="shape-2062">
            <a:extLst xmlns:a="http://schemas.openxmlformats.org/drawingml/2006/main">
              <a:ext uri="{FF2B5EF4-FFF2-40B4-BE49-F238E27FC236}">
                <a16:creationId xmlns:a16="http://schemas.microsoft.com/office/drawing/2014/main" id="{AE43A6AC-D5B0-471F-9FBE-61D89CE7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790700"/>
            <a:ext cx="12573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-2063">
            <a:extLst xmlns:a="http://schemas.openxmlformats.org/drawingml/2006/main">
              <a:ext uri="{FF2B5EF4-FFF2-40B4-BE49-F238E27FC236}">
                <a16:creationId xmlns:a16="http://schemas.microsoft.com/office/drawing/2014/main" id="{6CD6BDC2-4FEF-4276-BD01-CDD1FA82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6</a:t>
            </a:r>
          </a:p>
        </p:txBody>
      </p:sp>
      <p:sp>
        <p:nvSpPr>
          <p:cNvPr id="39" name="text-2064">
            <a:extLst xmlns:a="http://schemas.openxmlformats.org/drawingml/2006/main">
              <a:ext uri="{FF2B5EF4-FFF2-40B4-BE49-F238E27FC236}">
                <a16:creationId xmlns:a16="http://schemas.microsoft.com/office/drawing/2014/main" id="{4741A0B8-21F6-43C3-BE43-7AC607CD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8605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人工複核</a:t>
            </a:r>
          </a:p>
        </p:txBody>
      </p:sp>
      <p:sp>
        <p:nvSpPr>
          <p:cNvPr id="40" name="text-2065">
            <a:extLst xmlns:a="http://schemas.openxmlformats.org/drawingml/2006/main">
              <a:ext uri="{FF2B5EF4-FFF2-40B4-BE49-F238E27FC236}">
                <a16:creationId xmlns:a16="http://schemas.microsoft.com/office/drawing/2014/main" id="{70529753-9190-4749-A9EC-580DB0BF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52800"/>
            <a:ext cx="1181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盲評抽查與歧異討論</a:t>
            </a:r>
          </a:p>
        </p:txBody>
      </p:sp>
      <p:sp>
        <p:nvSpPr>
          <p:cNvPr id="41" name="text-2066">
            <a:extLst xmlns:a="http://schemas.openxmlformats.org/drawingml/2006/main">
              <a:ext uri="{FF2B5EF4-FFF2-40B4-BE49-F238E27FC236}">
                <a16:creationId xmlns:a16="http://schemas.microsoft.com/office/drawing/2014/main" id="{7E5F29E4-5572-4473-8F9E-4B6F1835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42" name="shape-2067">
            <a:extLst xmlns:a="http://schemas.openxmlformats.org/drawingml/2006/main">
              <a:ext uri="{FF2B5EF4-FFF2-40B4-BE49-F238E27FC236}">
                <a16:creationId xmlns:a16="http://schemas.microsoft.com/office/drawing/2014/main" id="{1DBA38C6-8282-4C6D-B194-F81A8FA0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676400"/>
            <a:ext cx="1600200" cy="31432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43" name="shape-2068">
            <a:extLst xmlns:a="http://schemas.openxmlformats.org/drawingml/2006/main">
              <a:ext uri="{FF2B5EF4-FFF2-40B4-BE49-F238E27FC236}">
                <a16:creationId xmlns:a16="http://schemas.microsoft.com/office/drawing/2014/main" id="{AA6B104E-4802-466D-A72E-75042325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790700"/>
            <a:ext cx="12573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text-2069">
            <a:extLst xmlns:a="http://schemas.openxmlformats.org/drawingml/2006/main">
              <a:ext uri="{FF2B5EF4-FFF2-40B4-BE49-F238E27FC236}">
                <a16:creationId xmlns:a16="http://schemas.microsoft.com/office/drawing/2014/main" id="{11969A5A-B4F4-48D1-816F-02048421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7</a:t>
            </a:r>
          </a:p>
        </p:txBody>
      </p:sp>
      <p:sp>
        <p:nvSpPr>
          <p:cNvPr id="45" name="text-2070">
            <a:extLst xmlns:a="http://schemas.openxmlformats.org/drawingml/2006/main">
              <a:ext uri="{FF2B5EF4-FFF2-40B4-BE49-F238E27FC236}">
                <a16:creationId xmlns:a16="http://schemas.microsoft.com/office/drawing/2014/main" id="{E7836C1E-8483-4815-AD8F-9DEA1DF2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68605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彙整報告</a:t>
            </a:r>
          </a:p>
        </p:txBody>
      </p:sp>
      <p:sp>
        <p:nvSpPr>
          <p:cNvPr id="46" name="text-2071">
            <a:extLst xmlns:a="http://schemas.openxmlformats.org/drawingml/2006/main">
              <a:ext uri="{FF2B5EF4-FFF2-40B4-BE49-F238E27FC236}">
                <a16:creationId xmlns:a16="http://schemas.microsoft.com/office/drawing/2014/main" id="{E97F5327-13EA-4E02-9C00-3DA9BB77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352800"/>
            <a:ext cx="1181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群體趨勢、限制、未確認</a:t>
            </a:r>
          </a:p>
        </p:txBody>
      </p:sp>
      <p:sp>
        <p:nvSpPr>
          <p:cNvPr id="47" name="text-2072">
            <a:extLst xmlns:a="http://schemas.openxmlformats.org/drawingml/2006/main">
              <a:ext uri="{FF2B5EF4-FFF2-40B4-BE49-F238E27FC236}">
                <a16:creationId xmlns:a16="http://schemas.microsoft.com/office/drawing/2014/main" id="{7A71B663-3004-48A4-A937-92164A1D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14950"/>
            <a:ext cx="5638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152400" tIns="57150" rIns="1524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每一步都留下可檢查的成果</a:t>
            </a:r>
          </a:p>
        </p:txBody>
      </p:sp>
      <p:sp>
        <p:nvSpPr>
          <p:cNvPr id="48" name="text-2415">
            <a:extLst xmlns:a="http://schemas.openxmlformats.org/drawingml/2006/main">
              <a:ext uri="{FF2B5EF4-FFF2-40B4-BE49-F238E27FC236}">
                <a16:creationId xmlns:a16="http://schemas.microsoft.com/office/drawing/2014/main" id="{BE512330-240E-45B2-91F3-5BFB4299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949196592c4a47ac"/>
              </a:rPr>
              <a:t>Antigravity ↗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a1f2e60a028c4332"/>
              </a:rPr>
              <a:t>Codex ↗</a:t>
            </a:r>
          </a:p>
        </p:txBody>
      </p:sp>
      <p:sp>
        <p:nvSpPr>
          <p:cNvPr id="49" name="shape-2538">
            <a:extLst xmlns:a="http://schemas.openxmlformats.org/drawingml/2006/main">
              <a:ext uri="{FF2B5EF4-FFF2-40B4-BE49-F238E27FC236}">
                <a16:creationId xmlns:a16="http://schemas.microsoft.com/office/drawing/2014/main" id="{81F04F4D-D25F-404C-AB1D-302B0A6F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2969b5024646e6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51" name="text-2539">
            <a:extLst xmlns:a="http://schemas.openxmlformats.org/drawingml/2006/main">
              <a:ext uri="{FF2B5EF4-FFF2-40B4-BE49-F238E27FC236}">
                <a16:creationId xmlns:a16="http://schemas.microsoft.com/office/drawing/2014/main" id="{EE94E381-0A0B-4160-8669-9AE9A608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c8e1191cb1475b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53" name="text-2540">
            <a:extLst xmlns:a="http://schemas.openxmlformats.org/drawingml/2006/main">
              <a:ext uri="{FF2B5EF4-FFF2-40B4-BE49-F238E27FC236}">
                <a16:creationId xmlns:a16="http://schemas.microsoft.com/office/drawing/2014/main" id="{29EFD58F-EAC0-4FD2-A21E-C356037F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</a:t>
            </a:r>
          </a:p>
        </p:txBody>
      </p:sp>
    </p:spTree>
    <p:extLst>
      <p:ext uri="{BB962C8B-B14F-4D97-AF65-F5344CB8AC3E}">
        <p14:creationId xmlns:p14="http://schemas.microsoft.com/office/powerpoint/2010/main" val="1924941835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2073">
            <a:extLst xmlns:a="http://schemas.openxmlformats.org/drawingml/2006/main">
              <a:ext uri="{FF2B5EF4-FFF2-40B4-BE49-F238E27FC236}">
                <a16:creationId xmlns:a16="http://schemas.microsoft.com/office/drawing/2014/main" id="{5D1ADCB4-6012-43BE-8CE1-1B69F379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HUMAN-SCORED · AI PARALLEL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BCABE4-3D5A-493E-80C0-0A787362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AI 初編不等於正式評分：PIRLS 2026 給我們的訊號</a:t>
            </a:r>
          </a:p>
        </p:txBody>
      </p:sp>
      <p:cxnSp>
        <p:nvCxnSpPr>
          <p:cNvPr id="30" name="shape-2074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2075">
            <a:extLst xmlns:a="http://schemas.openxmlformats.org/drawingml/2006/main">
              <a:ext uri="{FF2B5EF4-FFF2-40B4-BE49-F238E27FC236}">
                <a16:creationId xmlns:a16="http://schemas.microsoft.com/office/drawing/2014/main" id="{028F4B1F-1EE4-45EF-9912-338AA5A3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BB6FAD0-50BE-4696-9609-E4C34CFD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54</a:t>
            </a:r>
          </a:p>
        </p:txBody>
      </p:sp>
      <p:sp>
        <p:nvSpPr>
          <p:cNvPr id="6" name="shape-2076">
            <a:extLst xmlns:a="http://schemas.openxmlformats.org/drawingml/2006/main">
              <a:ext uri="{FF2B5EF4-FFF2-40B4-BE49-F238E27FC236}">
                <a16:creationId xmlns:a16="http://schemas.microsoft.com/office/drawing/2014/main" id="{79EE7160-AD38-4BE4-9D45-6088FA6A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2077">
            <a:extLst xmlns:a="http://schemas.openxmlformats.org/drawingml/2006/main">
              <a:ext uri="{FF2B5EF4-FFF2-40B4-BE49-F238E27FC236}">
                <a16:creationId xmlns:a16="http://schemas.microsoft.com/office/drawing/2014/main" id="{E73226AE-B54F-4520-9C77-9E6FEA72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H</a:t>
            </a:r>
          </a:p>
        </p:txBody>
      </p:sp>
      <p:sp>
        <p:nvSpPr>
          <p:cNvPr id="8" name="text-2078">
            <a:extLst xmlns:a="http://schemas.openxmlformats.org/drawingml/2006/main">
              <a:ext uri="{FF2B5EF4-FFF2-40B4-BE49-F238E27FC236}">
                <a16:creationId xmlns:a16="http://schemas.microsoft.com/office/drawing/2014/main" id="{ACAFE4DD-9AA8-4A60-9B41-D1B19140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人工仍是主流程</a:t>
            </a:r>
          </a:p>
        </p:txBody>
      </p:sp>
      <p:sp>
        <p:nvSpPr>
          <p:cNvPr id="9" name="text-2079">
            <a:extLst xmlns:a="http://schemas.openxmlformats.org/drawingml/2006/main">
              <a:ext uri="{FF2B5EF4-FFF2-40B4-BE49-F238E27FC236}">
                <a16:creationId xmlns:a16="http://schemas.microsoft.com/office/drawing/2014/main" id="{7E35F615-80B1-47A0-9D03-6154607D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PIRLS 2026 的 constructed-response 項目規劃由各國人工評分。</a:t>
            </a:r>
          </a:p>
        </p:txBody>
      </p:sp>
      <p:sp>
        <p:nvSpPr>
          <p:cNvPr id="10" name="shape-2080">
            <a:extLst xmlns:a="http://schemas.openxmlformats.org/drawingml/2006/main">
              <a:ext uri="{FF2B5EF4-FFF2-40B4-BE49-F238E27FC236}">
                <a16:creationId xmlns:a16="http://schemas.microsoft.com/office/drawing/2014/main" id="{D080B842-4C2D-48FB-ABAC-AA2E1210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2081">
            <a:extLst xmlns:a="http://schemas.openxmlformats.org/drawingml/2006/main">
              <a:ext uri="{FF2B5EF4-FFF2-40B4-BE49-F238E27FC236}">
                <a16:creationId xmlns:a16="http://schemas.microsoft.com/office/drawing/2014/main" id="{703D5E80-F354-44A9-A6ED-90824304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AI</a:t>
            </a:r>
          </a:p>
        </p:txBody>
      </p:sp>
      <p:sp>
        <p:nvSpPr>
          <p:cNvPr id="12" name="text-2082">
            <a:extLst xmlns:a="http://schemas.openxmlformats.org/drawingml/2006/main">
              <a:ext uri="{FF2B5EF4-FFF2-40B4-BE49-F238E27FC236}">
                <a16:creationId xmlns:a16="http://schemas.microsoft.com/office/drawing/2014/main" id="{3AAB5269-EF03-4E63-AF47-967FD2BE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AI 平行研究</a:t>
            </a:r>
          </a:p>
        </p:txBody>
      </p:sp>
      <p:sp>
        <p:nvSpPr>
          <p:cNvPr id="13" name="text-2083">
            <a:extLst xmlns:a="http://schemas.openxmlformats.org/drawingml/2006/main">
              <a:ext uri="{FF2B5EF4-FFF2-40B4-BE49-F238E27FC236}">
                <a16:creationId xmlns:a16="http://schemas.microsoft.com/office/drawing/2014/main" id="{634A1B7D-7B5E-4991-B547-F0921211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其中 40% 題目規劃同步以 LLM／NLP 方法進行平行評分研究。</a:t>
            </a:r>
          </a:p>
        </p:txBody>
      </p:sp>
      <p:sp>
        <p:nvSpPr>
          <p:cNvPr id="14" name="shape-2084">
            <a:extLst xmlns:a="http://schemas.openxmlformats.org/drawingml/2006/main">
              <a:ext uri="{FF2B5EF4-FFF2-40B4-BE49-F238E27FC236}">
                <a16:creationId xmlns:a16="http://schemas.microsoft.com/office/drawing/2014/main" id="{8D5604F3-C11C-45BF-A480-DEDB6588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2085">
            <a:extLst xmlns:a="http://schemas.openxmlformats.org/drawingml/2006/main">
              <a:ext uri="{FF2B5EF4-FFF2-40B4-BE49-F238E27FC236}">
                <a16:creationId xmlns:a16="http://schemas.microsoft.com/office/drawing/2014/main" id="{A8D262E1-993E-4AF1-8DC0-1880154C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Q</a:t>
            </a:r>
          </a:p>
        </p:txBody>
      </p:sp>
      <p:sp>
        <p:nvSpPr>
          <p:cNvPr id="16" name="text-2086">
            <a:extLst xmlns:a="http://schemas.openxmlformats.org/drawingml/2006/main">
              <a:ext uri="{FF2B5EF4-FFF2-40B4-BE49-F238E27FC236}">
                <a16:creationId xmlns:a16="http://schemas.microsoft.com/office/drawing/2014/main" id="{02E4ADE6-4E90-4A25-A02F-DDB89D95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不是只看準確率</a:t>
            </a:r>
          </a:p>
        </p:txBody>
      </p:sp>
      <p:sp>
        <p:nvSpPr>
          <p:cNvPr id="17" name="text-2087">
            <a:extLst xmlns:a="http://schemas.openxmlformats.org/drawingml/2006/main">
              <a:ext uri="{FF2B5EF4-FFF2-40B4-BE49-F238E27FC236}">
                <a16:creationId xmlns:a16="http://schemas.microsoft.com/office/drawing/2014/main" id="{CB7FC72C-BD2B-4FE2-824A-DA54EE7C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還要關注資料隱私、安全、跨國與跨語言一致性。</a:t>
            </a:r>
          </a:p>
        </p:txBody>
      </p:sp>
      <p:sp>
        <p:nvSpPr>
          <p:cNvPr id="18" name="shape-2088">
            <a:extLst xmlns:a="http://schemas.openxmlformats.org/drawingml/2006/main">
              <a:ext uri="{FF2B5EF4-FFF2-40B4-BE49-F238E27FC236}">
                <a16:creationId xmlns:a16="http://schemas.microsoft.com/office/drawing/2014/main" id="{A2B50B57-5FB2-4B4B-B9DE-F35486D6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2089">
            <a:extLst xmlns:a="http://schemas.openxmlformats.org/drawingml/2006/main">
              <a:ext uri="{FF2B5EF4-FFF2-40B4-BE49-F238E27FC236}">
                <a16:creationId xmlns:a16="http://schemas.microsoft.com/office/drawing/2014/main" id="{43E56BC8-88C1-4A04-9A16-96D839FE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I</a:t>
            </a:r>
          </a:p>
        </p:txBody>
      </p:sp>
      <p:sp>
        <p:nvSpPr>
          <p:cNvPr id="20" name="text-2090">
            <a:extLst xmlns:a="http://schemas.openxmlformats.org/drawingml/2006/main">
              <a:ext uri="{FF2B5EF4-FFF2-40B4-BE49-F238E27FC236}">
                <a16:creationId xmlns:a16="http://schemas.microsoft.com/office/drawing/2014/main" id="{EF366311-6BCB-4B90-91FD-08A56914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逐題評估</a:t>
            </a:r>
          </a:p>
        </p:txBody>
      </p:sp>
      <p:sp>
        <p:nvSpPr>
          <p:cNvPr id="21" name="text-2091">
            <a:extLst xmlns:a="http://schemas.openxmlformats.org/drawingml/2006/main">
              <a:ext uri="{FF2B5EF4-FFF2-40B4-BE49-F238E27FC236}">
                <a16:creationId xmlns:a16="http://schemas.microsoft.com/office/drawing/2014/main" id="{99492730-55C3-4C8C-8F3D-D9A5CF8F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自動評分效果會依題目、語言與回答型態而變，需逐題驗證。</a:t>
            </a:r>
          </a:p>
        </p:txBody>
      </p:sp>
      <p:sp>
        <p:nvSpPr>
          <p:cNvPr id="22" name="text-2416">
            <a:extLst xmlns:a="http://schemas.openxmlformats.org/drawingml/2006/main">
              <a:ext uri="{FF2B5EF4-FFF2-40B4-BE49-F238E27FC236}">
                <a16:creationId xmlns:a16="http://schemas.microsoft.com/office/drawing/2014/main" id="{F546FC6E-1763-4ED8-A733-B45A022B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cec6ee6d897d4245"/>
              </a:rPr>
              <a:t>Antigravity ↗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c222b8f342d4493f"/>
              </a:rPr>
              <a:t>Codex ↗</a:t>
            </a:r>
          </a:p>
        </p:txBody>
      </p:sp>
      <p:sp>
        <p:nvSpPr>
          <p:cNvPr id="23" name="shape-2541">
            <a:extLst xmlns:a="http://schemas.openxmlformats.org/drawingml/2006/main">
              <a:ext uri="{FF2B5EF4-FFF2-40B4-BE49-F238E27FC236}">
                <a16:creationId xmlns:a16="http://schemas.microsoft.com/office/drawing/2014/main" id="{F37D61E6-D438-45D1-9DE7-855FC3D6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4aa78f85e04273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5" name="text-2542">
            <a:extLst xmlns:a="http://schemas.openxmlformats.org/drawingml/2006/main">
              <a:ext uri="{FF2B5EF4-FFF2-40B4-BE49-F238E27FC236}">
                <a16:creationId xmlns:a16="http://schemas.microsoft.com/office/drawing/2014/main" id="{6B89F30A-DB53-450D-A22C-9EE3706C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1adf9a11154c3e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7" name="text-2543">
            <a:extLst xmlns:a="http://schemas.openxmlformats.org/drawingml/2006/main">
              <a:ext uri="{FF2B5EF4-FFF2-40B4-BE49-F238E27FC236}">
                <a16:creationId xmlns:a16="http://schemas.microsoft.com/office/drawing/2014/main" id="{2D8949A5-DB3E-4842-93BB-4D38B9A1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</a:t>
            </a:r>
          </a:p>
        </p:txBody>
      </p:sp>
    </p:spTree>
    <p:extLst>
      <p:ext uri="{BB962C8B-B14F-4D97-AF65-F5344CB8AC3E}">
        <p14:creationId xmlns:p14="http://schemas.microsoft.com/office/powerpoint/2010/main" val="1461182809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-2092">
            <a:extLst xmlns:a="http://schemas.openxmlformats.org/drawingml/2006/main">
              <a:ext uri="{FF2B5EF4-FFF2-40B4-BE49-F238E27FC236}">
                <a16:creationId xmlns:a16="http://schemas.microsoft.com/office/drawing/2014/main" id="{16317104-66A5-4151-A4E0-CFB0FD61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DATA &amp; CODING QUALITY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7823CF-0DB2-4581-9CEF-46371AA8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報告前的四項品質檢核</a:t>
            </a:r>
          </a:p>
        </p:txBody>
      </p:sp>
      <p:cxnSp>
        <p:nvCxnSpPr>
          <p:cNvPr id="38" name="shape-2093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2094">
            <a:extLst xmlns:a="http://schemas.openxmlformats.org/drawingml/2006/main">
              <a:ext uri="{FF2B5EF4-FFF2-40B4-BE49-F238E27FC236}">
                <a16:creationId xmlns:a16="http://schemas.microsoft.com/office/drawing/2014/main" id="{ADCEF233-98EC-474D-AAE8-CE952496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E006077-5222-4602-AFCA-B752C35C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55</a:t>
            </a:r>
          </a:p>
        </p:txBody>
      </p:sp>
      <p:sp>
        <p:nvSpPr>
          <p:cNvPr id="6" name="shape-2095">
            <a:extLst xmlns:a="http://schemas.openxmlformats.org/drawingml/2006/main">
              <a:ext uri="{FF2B5EF4-FFF2-40B4-BE49-F238E27FC236}">
                <a16:creationId xmlns:a16="http://schemas.microsoft.com/office/drawing/2014/main" id="{6D369427-F4E6-409C-AB46-4EC70D80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2096">
            <a:extLst xmlns:a="http://schemas.openxmlformats.org/drawingml/2006/main">
              <a:ext uri="{FF2B5EF4-FFF2-40B4-BE49-F238E27FC236}">
                <a16:creationId xmlns:a16="http://schemas.microsoft.com/office/drawing/2014/main" id="{F88ECB74-BE3D-4EAC-88F6-78A56361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2097">
            <a:extLst xmlns:a="http://schemas.openxmlformats.org/drawingml/2006/main">
              <a:ext uri="{FF2B5EF4-FFF2-40B4-BE49-F238E27FC236}">
                <a16:creationId xmlns:a16="http://schemas.microsoft.com/office/drawing/2014/main" id="{06B56346-505C-4584-BD0D-E7566D1A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資料完整性</a:t>
            </a:r>
          </a:p>
        </p:txBody>
      </p:sp>
      <p:sp>
        <p:nvSpPr>
          <p:cNvPr id="9" name="text-2098">
            <a:extLst xmlns:a="http://schemas.openxmlformats.org/drawingml/2006/main">
              <a:ext uri="{FF2B5EF4-FFF2-40B4-BE49-F238E27FC236}">
                <a16:creationId xmlns:a16="http://schemas.microsoft.com/office/drawing/2014/main" id="{31B3C0C6-EF64-4AC4-B8EA-B18FEB64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列出缺漏、重複、非法選項與無法解析的文字，不要自動補答案。</a:t>
            </a:r>
          </a:p>
        </p:txBody>
      </p:sp>
      <p:sp>
        <p:nvSpPr>
          <p:cNvPr id="10" name="shape-2099">
            <a:extLst xmlns:a="http://schemas.openxmlformats.org/drawingml/2006/main">
              <a:ext uri="{FF2B5EF4-FFF2-40B4-BE49-F238E27FC236}">
                <a16:creationId xmlns:a16="http://schemas.microsoft.com/office/drawing/2014/main" id="{A4967672-CC4E-4628-9F06-66501C09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2100">
            <a:extLst xmlns:a="http://schemas.openxmlformats.org/drawingml/2006/main">
              <a:ext uri="{FF2B5EF4-FFF2-40B4-BE49-F238E27FC236}">
                <a16:creationId xmlns:a16="http://schemas.microsoft.com/office/drawing/2014/main" id="{6C8994E9-6388-4633-91FC-E6745302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2101">
            <a:extLst xmlns:a="http://schemas.openxmlformats.org/drawingml/2006/main">
              <a:ext uri="{FF2B5EF4-FFF2-40B4-BE49-F238E27FC236}">
                <a16:creationId xmlns:a16="http://schemas.microsoft.com/office/drawing/2014/main" id="{598842B2-1C3D-4D1A-8621-DE38F3ED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逐題可追查</a:t>
            </a:r>
          </a:p>
        </p:txBody>
      </p:sp>
      <p:sp>
        <p:nvSpPr>
          <p:cNvPr id="13" name="text-2102">
            <a:extLst xmlns:a="http://schemas.openxmlformats.org/drawingml/2006/main">
              <a:ext uri="{FF2B5EF4-FFF2-40B4-BE49-F238E27FC236}">
                <a16:creationId xmlns:a16="http://schemas.microsoft.com/office/drawing/2014/main" id="{61D84D81-BEDC-4F26-9041-80AC8F5A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每個簡答編碼都保留 evidence excerpt 與 rationale。</a:t>
            </a:r>
          </a:p>
        </p:txBody>
      </p:sp>
      <p:sp>
        <p:nvSpPr>
          <p:cNvPr id="14" name="shape-2103">
            <a:extLst xmlns:a="http://schemas.openxmlformats.org/drawingml/2006/main">
              <a:ext uri="{FF2B5EF4-FFF2-40B4-BE49-F238E27FC236}">
                <a16:creationId xmlns:a16="http://schemas.microsoft.com/office/drawing/2014/main" id="{0BC910C1-CFA9-40F5-87ED-6BAA9FC6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2104">
            <a:extLst xmlns:a="http://schemas.openxmlformats.org/drawingml/2006/main">
              <a:ext uri="{FF2B5EF4-FFF2-40B4-BE49-F238E27FC236}">
                <a16:creationId xmlns:a16="http://schemas.microsoft.com/office/drawing/2014/main" id="{35875561-2645-458D-B952-0242C6BD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2105">
            <a:extLst xmlns:a="http://schemas.openxmlformats.org/drawingml/2006/main">
              <a:ext uri="{FF2B5EF4-FFF2-40B4-BE49-F238E27FC236}">
                <a16:creationId xmlns:a16="http://schemas.microsoft.com/office/drawing/2014/main" id="{6C08D29F-3B06-4277-B386-6EFB1EC1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一致性</a:t>
            </a:r>
          </a:p>
        </p:txBody>
      </p:sp>
      <p:sp>
        <p:nvSpPr>
          <p:cNvPr id="17" name="text-2106">
            <a:extLst xmlns:a="http://schemas.openxmlformats.org/drawingml/2006/main">
              <a:ext uri="{FF2B5EF4-FFF2-40B4-BE49-F238E27FC236}">
                <a16:creationId xmlns:a16="http://schemas.microsoft.com/office/drawing/2014/main" id="{2D8E1C4E-3326-453B-B575-CD4E8406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比較 AI 與人工代碼，集中檢視不一致、低信心與邊界案例。</a:t>
            </a:r>
          </a:p>
        </p:txBody>
      </p:sp>
      <p:sp>
        <p:nvSpPr>
          <p:cNvPr id="18" name="shape-2107">
            <a:extLst xmlns:a="http://schemas.openxmlformats.org/drawingml/2006/main">
              <a:ext uri="{FF2B5EF4-FFF2-40B4-BE49-F238E27FC236}">
                <a16:creationId xmlns:a16="http://schemas.microsoft.com/office/drawing/2014/main" id="{B2297F3E-7592-4F42-BDE1-4E133F96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2108">
            <a:extLst xmlns:a="http://schemas.openxmlformats.org/drawingml/2006/main">
              <a:ext uri="{FF2B5EF4-FFF2-40B4-BE49-F238E27FC236}">
                <a16:creationId xmlns:a16="http://schemas.microsoft.com/office/drawing/2014/main" id="{AD24C4E9-DE65-4A38-8F5D-6F901961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2109">
            <a:extLst xmlns:a="http://schemas.openxmlformats.org/drawingml/2006/main">
              <a:ext uri="{FF2B5EF4-FFF2-40B4-BE49-F238E27FC236}">
                <a16:creationId xmlns:a16="http://schemas.microsoft.com/office/drawing/2014/main" id="{45CDD78C-345E-4EE9-AF75-F6F13F86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報告邊界</a:t>
            </a:r>
          </a:p>
        </p:txBody>
      </p:sp>
      <p:sp>
        <p:nvSpPr>
          <p:cNvPr id="21" name="text-2110">
            <a:extLst xmlns:a="http://schemas.openxmlformats.org/drawingml/2006/main">
              <a:ext uri="{FF2B5EF4-FFF2-40B4-BE49-F238E27FC236}">
                <a16:creationId xmlns:a16="http://schemas.microsoft.com/office/drawing/2014/main" id="{B175B8BB-922F-46C6-BCE5-BFC15075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以群體趨勢協助教學診斷，不用未驗證的 AI 分數做高風險個人決策。</a:t>
            </a:r>
          </a:p>
        </p:txBody>
      </p:sp>
      <p:sp>
        <p:nvSpPr>
          <p:cNvPr id="22" name="text-2111">
            <a:extLst xmlns:a="http://schemas.openxmlformats.org/drawingml/2006/main">
              <a:ext uri="{FF2B5EF4-FFF2-40B4-BE49-F238E27FC236}">
                <a16:creationId xmlns:a16="http://schemas.microsoft.com/office/drawing/2014/main" id="{2FFEE24D-18D1-492B-B9D7-67CB4AF9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資料完整</a:t>
            </a:r>
          </a:p>
        </p:txBody>
      </p:sp>
      <p:sp>
        <p:nvSpPr>
          <p:cNvPr id="23" name="text-2112">
            <a:extLst xmlns:a="http://schemas.openxmlformats.org/drawingml/2006/main">
              <a:ext uri="{FF2B5EF4-FFF2-40B4-BE49-F238E27FC236}">
                <a16:creationId xmlns:a16="http://schemas.microsoft.com/office/drawing/2014/main" id="{87151CF8-0C8F-4290-954B-06CFDD89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530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證據可追查</a:t>
            </a:r>
          </a:p>
        </p:txBody>
      </p:sp>
      <p:sp>
        <p:nvSpPr>
          <p:cNvPr id="24" name="text-2113">
            <a:extLst xmlns:a="http://schemas.openxmlformats.org/drawingml/2006/main">
              <a:ext uri="{FF2B5EF4-FFF2-40B4-BE49-F238E27FC236}">
                <a16:creationId xmlns:a16="http://schemas.microsoft.com/office/drawing/2014/main" id="{A76FDD86-453C-46EB-89F7-0FFF343C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530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AI／人一致性</a:t>
            </a:r>
          </a:p>
        </p:txBody>
      </p:sp>
      <p:sp>
        <p:nvSpPr>
          <p:cNvPr id="25" name="text-2114">
            <a:extLst xmlns:a="http://schemas.openxmlformats.org/drawingml/2006/main">
              <a:ext uri="{FF2B5EF4-FFF2-40B4-BE49-F238E27FC236}">
                <a16:creationId xmlns:a16="http://schemas.microsoft.com/office/drawing/2014/main" id="{1F25A658-413A-42C2-85C5-3F2AFD5A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9530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EECE7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rPr>
              <a:t>✓ 報告有邊界</a:t>
            </a:r>
          </a:p>
        </p:txBody>
      </p:sp>
      <p:cxnSp>
        <p:nvCxnSpPr>
          <p:cNvPr id="61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2895600" y="5229225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B64DA"/>
            </a:solidFill>
            <a:prstDash val="solid"/>
            <a:tailEnd type="arrow" w="sm" len="sm"/>
          </a:ln>
        </p:spPr>
      </p:cxnSp>
      <p:cxnSp>
        <p:nvCxnSpPr>
          <p:cNvPr id="62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5619750" y="5229225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B64DA"/>
            </a:solidFill>
            <a:prstDash val="solid"/>
            <a:tailEnd type="arrow" w="sm" len="sm"/>
          </a:ln>
        </p:spPr>
      </p:cxnSp>
      <p:cxnSp>
        <p:nvCxnSpPr>
          <p:cNvPr id="63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343900" y="5229225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6B4A"/>
            </a:solidFill>
            <a:prstDash val="solid"/>
            <a:tailEnd type="arrow" w="sm" len="sm"/>
          </a:ln>
        </p:spPr>
      </p:cxnSp>
      <p:sp>
        <p:nvSpPr>
          <p:cNvPr id="29" name="text-2115">
            <a:extLst xmlns:a="http://schemas.openxmlformats.org/drawingml/2006/main">
              <a:ext uri="{FF2B5EF4-FFF2-40B4-BE49-F238E27FC236}">
                <a16:creationId xmlns:a16="http://schemas.microsoft.com/office/drawing/2014/main" id="{E78E9AC8-82F6-411E-9E14-037B0F1D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657850"/>
            <a:ext cx="640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四道閘門都通過，才進入研究報告；否則標示未確認</a:t>
            </a:r>
          </a:p>
        </p:txBody>
      </p:sp>
      <p:sp>
        <p:nvSpPr>
          <p:cNvPr id="30" name="text-2417">
            <a:extLst xmlns:a="http://schemas.openxmlformats.org/drawingml/2006/main">
              <a:ext uri="{FF2B5EF4-FFF2-40B4-BE49-F238E27FC236}">
                <a16:creationId xmlns:a16="http://schemas.microsoft.com/office/drawing/2014/main" id="{08D98E56-D522-4021-907F-6A436CBB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ee391e8ead184e87"/>
              </a:rPr>
              <a:t>Antigravity ↗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3ab57e32f6e54a2c"/>
              </a:rPr>
              <a:t>Codex ↗</a:t>
            </a:r>
          </a:p>
        </p:txBody>
      </p:sp>
      <p:sp>
        <p:nvSpPr>
          <p:cNvPr id="31" name="shape-2544">
            <a:extLst xmlns:a="http://schemas.openxmlformats.org/drawingml/2006/main">
              <a:ext uri="{FF2B5EF4-FFF2-40B4-BE49-F238E27FC236}">
                <a16:creationId xmlns:a16="http://schemas.microsoft.com/office/drawing/2014/main" id="{DF5A5965-DC37-4A26-9FC7-55FC89BE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2ffbbf83d4fb7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33" name="text-2545">
            <a:extLst xmlns:a="http://schemas.openxmlformats.org/drawingml/2006/main">
              <a:ext uri="{FF2B5EF4-FFF2-40B4-BE49-F238E27FC236}">
                <a16:creationId xmlns:a16="http://schemas.microsoft.com/office/drawing/2014/main" id="{299EFADC-66D6-4B76-B96B-ADCF836A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b00a468a6b4452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35" name="text-2546">
            <a:extLst xmlns:a="http://schemas.openxmlformats.org/drawingml/2006/main">
              <a:ext uri="{FF2B5EF4-FFF2-40B4-BE49-F238E27FC236}">
                <a16:creationId xmlns:a16="http://schemas.microsoft.com/office/drawing/2014/main" id="{D514D68C-4DBA-4017-BC6C-CC595578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</a:t>
            </a:r>
          </a:p>
        </p:txBody>
      </p:sp>
    </p:spTree>
    <p:extLst>
      <p:ext uri="{BB962C8B-B14F-4D97-AF65-F5344CB8AC3E}">
        <p14:creationId xmlns:p14="http://schemas.microsoft.com/office/powerpoint/2010/main" val="2136714932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2116">
            <a:extLst xmlns:a="http://schemas.openxmlformats.org/drawingml/2006/main">
              <a:ext uri="{FF2B5EF4-FFF2-40B4-BE49-F238E27FC236}">
                <a16:creationId xmlns:a16="http://schemas.microsoft.com/office/drawing/2014/main" id="{CE5A70C9-0F3A-46A8-8600-D2C9B6A2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HANDS-ON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B6AF3B-0FAA-4732-BE16-C2A07C5C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實作 D｜PIRLS 風格合成資料分析</a:t>
            </a:r>
          </a:p>
        </p:txBody>
      </p:sp>
      <p:cxnSp>
        <p:nvCxnSpPr>
          <p:cNvPr id="27" name="shape-2117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2118">
            <a:extLst xmlns:a="http://schemas.openxmlformats.org/drawingml/2006/main">
              <a:ext uri="{FF2B5EF4-FFF2-40B4-BE49-F238E27FC236}">
                <a16:creationId xmlns:a16="http://schemas.microsoft.com/office/drawing/2014/main" id="{A9BEADB1-D75E-445E-9A2D-DB5287A1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AA1C796-2AB6-471D-AB8C-C8615221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56</a:t>
            </a:r>
          </a:p>
        </p:txBody>
      </p:sp>
      <p:sp>
        <p:nvSpPr>
          <p:cNvPr id="6" name="text-2119">
            <a:extLst xmlns:a="http://schemas.openxmlformats.org/drawingml/2006/main">
              <a:ext uri="{FF2B5EF4-FFF2-40B4-BE49-F238E27FC236}">
                <a16:creationId xmlns:a16="http://schemas.microsoft.com/office/drawing/2014/main" id="{7F22E907-B3A4-4AB1-AD2F-B58DDB12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0002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20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分鐘</a:t>
            </a:r>
          </a:p>
        </p:txBody>
      </p:sp>
      <p:sp>
        <p:nvSpPr>
          <p:cNvPr id="7" name="text-2120">
            <a:extLst xmlns:a="http://schemas.openxmlformats.org/drawingml/2006/main">
              <a:ext uri="{FF2B5EF4-FFF2-40B4-BE49-F238E27FC236}">
                <a16:creationId xmlns:a16="http://schemas.microsoft.com/office/drawing/2014/main" id="{452E14ED-6342-49D4-986D-D46AAF10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335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操作步驟</a:t>
            </a:r>
          </a:p>
        </p:txBody>
      </p:sp>
      <p:sp>
        <p:nvSpPr>
          <p:cNvPr id="8" name="text-2121">
            <a:extLst xmlns:a="http://schemas.openxmlformats.org/drawingml/2006/main">
              <a:ext uri="{FF2B5EF4-FFF2-40B4-BE49-F238E27FC236}">
                <a16:creationId xmlns:a16="http://schemas.microsoft.com/office/drawing/2014/main" id="{F9537073-0CF6-4F50-9CCE-3AB10F9E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00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2122">
            <a:extLst xmlns:a="http://schemas.openxmlformats.org/drawingml/2006/main">
              <a:ext uri="{FF2B5EF4-FFF2-40B4-BE49-F238E27FC236}">
                <a16:creationId xmlns:a16="http://schemas.microsoft.com/office/drawing/2014/main" id="{A2D38C04-3769-424E-980A-3071E948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003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載入 CSV、答案鍵與簡答題編碼規準</a:t>
            </a:r>
          </a:p>
        </p:txBody>
      </p:sp>
      <p:sp>
        <p:nvSpPr>
          <p:cNvPr id="10" name="text-2123">
            <a:extLst xmlns:a="http://schemas.openxmlformats.org/drawingml/2006/main">
              <a:ext uri="{FF2B5EF4-FFF2-40B4-BE49-F238E27FC236}">
                <a16:creationId xmlns:a16="http://schemas.microsoft.com/office/drawing/2014/main" id="{38251B68-87E8-4D23-9CAF-4D303AAD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05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1" name="text-2124">
            <a:extLst xmlns:a="http://schemas.openxmlformats.org/drawingml/2006/main">
              <a:ext uri="{FF2B5EF4-FFF2-40B4-BE49-F238E27FC236}">
                <a16:creationId xmlns:a16="http://schemas.microsoft.com/office/drawing/2014/main" id="{5BC25E62-1965-41E7-9E6E-310E2E59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051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先做缺漏與非法值檢查</a:t>
            </a:r>
          </a:p>
        </p:txBody>
      </p:sp>
      <p:sp>
        <p:nvSpPr>
          <p:cNvPr id="12" name="text-2125">
            <a:extLst xmlns:a="http://schemas.openxmlformats.org/drawingml/2006/main">
              <a:ext uri="{FF2B5EF4-FFF2-40B4-BE49-F238E27FC236}">
                <a16:creationId xmlns:a16="http://schemas.microsoft.com/office/drawing/2014/main" id="{CB8A6D32-36DA-4A46-BAC1-BD1912E6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810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3" name="text-2126">
            <a:extLst xmlns:a="http://schemas.openxmlformats.org/drawingml/2006/main">
              <a:ext uri="{FF2B5EF4-FFF2-40B4-BE49-F238E27FC236}">
                <a16:creationId xmlns:a16="http://schemas.microsoft.com/office/drawing/2014/main" id="{8CB4FA5D-B8AD-4A58-A6B3-7737741B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100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計算選擇題答對率與選項分布</a:t>
            </a:r>
          </a:p>
        </p:txBody>
      </p:sp>
      <p:sp>
        <p:nvSpPr>
          <p:cNvPr id="14" name="text-2127">
            <a:extLst xmlns:a="http://schemas.openxmlformats.org/drawingml/2006/main">
              <a:ext uri="{FF2B5EF4-FFF2-40B4-BE49-F238E27FC236}">
                <a16:creationId xmlns:a16="http://schemas.microsoft.com/office/drawing/2014/main" id="{C046058A-F54F-4EAD-905F-FB094853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14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15" name="text-2128">
            <a:extLst xmlns:a="http://schemas.openxmlformats.org/drawingml/2006/main">
              <a:ext uri="{FF2B5EF4-FFF2-40B4-BE49-F238E27FC236}">
                <a16:creationId xmlns:a16="http://schemas.microsoft.com/office/drawing/2014/main" id="{41C73817-4FB0-4592-9E69-67EBFDAE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148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讓 AI 初編簡答並與講師參考編碼比較</a:t>
            </a:r>
          </a:p>
        </p:txBody>
      </p:sp>
      <p:sp>
        <p:nvSpPr>
          <p:cNvPr id="16" name="shape-2129">
            <a:extLst xmlns:a="http://schemas.openxmlformats.org/drawingml/2006/main">
              <a:ext uri="{FF2B5EF4-FFF2-40B4-BE49-F238E27FC236}">
                <a16:creationId xmlns:a16="http://schemas.microsoft.com/office/drawing/2014/main" id="{1286DBB9-DB1E-4D64-BF58-C2B56763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90700"/>
            <a:ext cx="2362200" cy="39052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7" name="text-2130">
            <a:extLst xmlns:a="http://schemas.openxmlformats.org/drawingml/2006/main">
              <a:ext uri="{FF2B5EF4-FFF2-40B4-BE49-F238E27FC236}">
                <a16:creationId xmlns:a16="http://schemas.microsoft.com/office/drawing/2014/main" id="{1F251C09-0F46-4B4D-9F3A-634936B0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5740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rPr>
              <a:t>完成條件</a:t>
            </a:r>
          </a:p>
        </p:txBody>
      </p:sp>
      <p:sp>
        <p:nvSpPr>
          <p:cNvPr id="18" name="text-2131">
            <a:extLst xmlns:a="http://schemas.openxmlformats.org/drawingml/2006/main">
              <a:ext uri="{FF2B5EF4-FFF2-40B4-BE49-F238E27FC236}">
                <a16:creationId xmlns:a16="http://schemas.microsoft.com/office/drawing/2014/main" id="{5AB79D85-8F6F-4B18-BA18-77AD013B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05100"/>
            <a:ext cx="18669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不含真實個資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選擇題與簡答題分流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列出所有不一致案例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報告標示限制與未確認</a:t>
            </a:r>
          </a:p>
        </p:txBody>
      </p:sp>
      <p:sp>
        <p:nvSpPr>
          <p:cNvPr id="19" name="text-2418">
            <a:extLst xmlns:a="http://schemas.openxmlformats.org/drawingml/2006/main">
              <a:ext uri="{FF2B5EF4-FFF2-40B4-BE49-F238E27FC236}">
                <a16:creationId xmlns:a16="http://schemas.microsoft.com/office/drawing/2014/main" id="{9FB19D3E-76AB-4A14-8BA8-67A7DEDF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16355f8be34f4afe"/>
              </a:rPr>
              <a:t>Antigravity ↗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d7715e0c0ca24e84"/>
              </a:rPr>
              <a:t>Codex ↗</a:t>
            </a:r>
          </a:p>
        </p:txBody>
      </p:sp>
      <p:sp>
        <p:nvSpPr>
          <p:cNvPr id="20" name="shape-2547">
            <a:extLst xmlns:a="http://schemas.openxmlformats.org/drawingml/2006/main">
              <a:ext uri="{FF2B5EF4-FFF2-40B4-BE49-F238E27FC236}">
                <a16:creationId xmlns:a16="http://schemas.microsoft.com/office/drawing/2014/main" id="{82A2B648-D32D-46F2-BFA4-309B62CC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e1c8ba8cbf4ce9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2" name="text-2548">
            <a:extLst xmlns:a="http://schemas.openxmlformats.org/drawingml/2006/main">
              <a:ext uri="{FF2B5EF4-FFF2-40B4-BE49-F238E27FC236}">
                <a16:creationId xmlns:a16="http://schemas.microsoft.com/office/drawing/2014/main" id="{7C2B7D24-0933-4164-A29E-21DADFF0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9c1684ae842e6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4" name="text-2549">
            <a:extLst xmlns:a="http://schemas.openxmlformats.org/drawingml/2006/main">
              <a:ext uri="{FF2B5EF4-FFF2-40B4-BE49-F238E27FC236}">
                <a16:creationId xmlns:a16="http://schemas.microsoft.com/office/drawing/2014/main" id="{6930CAAE-40E1-487A-8930-8EDFCB6C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</a:t>
            </a:r>
          </a:p>
        </p:txBody>
      </p:sp>
    </p:spTree>
    <p:extLst>
      <p:ext uri="{BB962C8B-B14F-4D97-AF65-F5344CB8AC3E}">
        <p14:creationId xmlns:p14="http://schemas.microsoft.com/office/powerpoint/2010/main" val="756122378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-2132">
            <a:extLst xmlns:a="http://schemas.openxmlformats.org/drawingml/2006/main">
              <a:ext uri="{FF2B5EF4-FFF2-40B4-BE49-F238E27FC236}">
                <a16:creationId xmlns:a16="http://schemas.microsoft.com/office/drawing/2014/main" id="{E228E6E2-450B-414B-95F1-9E68C2AA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ADVANCED USE CASES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08DB20-7781-487B-9AA0-268BF67F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大學教學的 Agent Skills 應用地圖</a:t>
            </a:r>
          </a:p>
        </p:txBody>
      </p:sp>
      <p:cxnSp>
        <p:nvCxnSpPr>
          <p:cNvPr id="38" name="shape-2133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2134">
            <a:extLst xmlns:a="http://schemas.openxmlformats.org/drawingml/2006/main">
              <a:ext uri="{FF2B5EF4-FFF2-40B4-BE49-F238E27FC236}">
                <a16:creationId xmlns:a16="http://schemas.microsoft.com/office/drawing/2014/main" id="{D92B36A3-91D6-45F0-B72F-29AB8ADB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A043B41-C42C-4232-9DC4-1652AFF0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57</a:t>
            </a:r>
          </a:p>
        </p:txBody>
      </p:sp>
      <p:sp>
        <p:nvSpPr>
          <p:cNvPr id="6" name="shape-2135">
            <a:extLst xmlns:a="http://schemas.openxmlformats.org/drawingml/2006/main">
              <a:ext uri="{FF2B5EF4-FFF2-40B4-BE49-F238E27FC236}">
                <a16:creationId xmlns:a16="http://schemas.microsoft.com/office/drawing/2014/main" id="{8DCDB3DD-A059-4CFF-ACC4-5744C691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2136">
            <a:extLst xmlns:a="http://schemas.openxmlformats.org/drawingml/2006/main">
              <a:ext uri="{FF2B5EF4-FFF2-40B4-BE49-F238E27FC236}">
                <a16:creationId xmlns:a16="http://schemas.microsoft.com/office/drawing/2014/main" id="{62B9F5A8-2DAC-40FF-BCCE-8A323A06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2137">
            <a:extLst xmlns:a="http://schemas.openxmlformats.org/drawingml/2006/main">
              <a:ext uri="{FF2B5EF4-FFF2-40B4-BE49-F238E27FC236}">
                <a16:creationId xmlns:a16="http://schemas.microsoft.com/office/drawing/2014/main" id="{E6C950BC-7F4A-4EBB-A3F3-EF8880B4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課程設計</a:t>
            </a:r>
          </a:p>
        </p:txBody>
      </p:sp>
      <p:sp>
        <p:nvSpPr>
          <p:cNvPr id="9" name="text-2138">
            <a:extLst xmlns:a="http://schemas.openxmlformats.org/drawingml/2006/main">
              <a:ext uri="{FF2B5EF4-FFF2-40B4-BE49-F238E27FC236}">
                <a16:creationId xmlns:a16="http://schemas.microsoft.com/office/drawing/2014/main" id="{52362ADC-722E-4FE3-B092-B46CA579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課綱一致性、學習目標與評量對齊、週次負荷檢核。</a:t>
            </a:r>
          </a:p>
        </p:txBody>
      </p:sp>
      <p:sp>
        <p:nvSpPr>
          <p:cNvPr id="10" name="shape-2139">
            <a:extLst xmlns:a="http://schemas.openxmlformats.org/drawingml/2006/main">
              <a:ext uri="{FF2B5EF4-FFF2-40B4-BE49-F238E27FC236}">
                <a16:creationId xmlns:a16="http://schemas.microsoft.com/office/drawing/2014/main" id="{E858A6E9-36A2-4070-B299-2814AD2A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2140">
            <a:extLst xmlns:a="http://schemas.openxmlformats.org/drawingml/2006/main">
              <a:ext uri="{FF2B5EF4-FFF2-40B4-BE49-F238E27FC236}">
                <a16:creationId xmlns:a16="http://schemas.microsoft.com/office/drawing/2014/main" id="{A9542433-5DDF-4F1E-82DF-ED5090E3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2141">
            <a:extLst xmlns:a="http://schemas.openxmlformats.org/drawingml/2006/main">
              <a:ext uri="{FF2B5EF4-FFF2-40B4-BE49-F238E27FC236}">
                <a16:creationId xmlns:a16="http://schemas.microsoft.com/office/drawing/2014/main" id="{466010AB-2EA3-4443-9306-0098F876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研究與閱讀</a:t>
            </a:r>
          </a:p>
        </p:txBody>
      </p:sp>
      <p:sp>
        <p:nvSpPr>
          <p:cNvPr id="13" name="text-2142">
            <a:extLst xmlns:a="http://schemas.openxmlformats.org/drawingml/2006/main">
              <a:ext uri="{FF2B5EF4-FFF2-40B4-BE49-F238E27FC236}">
                <a16:creationId xmlns:a16="http://schemas.microsoft.com/office/drawing/2014/main" id="{44BBEBD5-1EAA-4914-BAD6-159105A3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文獻整理、觀點矩陣、研究限制與引用追查。</a:t>
            </a:r>
          </a:p>
        </p:txBody>
      </p:sp>
      <p:sp>
        <p:nvSpPr>
          <p:cNvPr id="14" name="shape-2143">
            <a:extLst xmlns:a="http://schemas.openxmlformats.org/drawingml/2006/main">
              <a:ext uri="{FF2B5EF4-FFF2-40B4-BE49-F238E27FC236}">
                <a16:creationId xmlns:a16="http://schemas.microsoft.com/office/drawing/2014/main" id="{DDB0911E-BA17-41E8-BE4B-61C68587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2144">
            <a:extLst xmlns:a="http://schemas.openxmlformats.org/drawingml/2006/main">
              <a:ext uri="{FF2B5EF4-FFF2-40B4-BE49-F238E27FC236}">
                <a16:creationId xmlns:a16="http://schemas.microsoft.com/office/drawing/2014/main" id="{D5AB124E-10E7-416F-A573-7817F257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2145">
            <a:extLst xmlns:a="http://schemas.openxmlformats.org/drawingml/2006/main">
              <a:ext uri="{FF2B5EF4-FFF2-40B4-BE49-F238E27FC236}">
                <a16:creationId xmlns:a16="http://schemas.microsoft.com/office/drawing/2014/main" id="{7D31124B-63E0-43EF-BCD0-5C22471C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教材製作</a:t>
            </a:r>
          </a:p>
        </p:txBody>
      </p:sp>
      <p:sp>
        <p:nvSpPr>
          <p:cNvPr id="17" name="text-2146">
            <a:extLst xmlns:a="http://schemas.openxmlformats.org/drawingml/2006/main">
              <a:ext uri="{FF2B5EF4-FFF2-40B4-BE49-F238E27FC236}">
                <a16:creationId xmlns:a16="http://schemas.microsoft.com/office/drawing/2014/main" id="{5E9A6B57-4A5E-4CB1-A2ED-9D0A62C3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簡報、互動網站、圖表、字幕與多格式轉換。</a:t>
            </a:r>
          </a:p>
        </p:txBody>
      </p:sp>
      <p:sp>
        <p:nvSpPr>
          <p:cNvPr id="18" name="shape-2147">
            <a:extLst xmlns:a="http://schemas.openxmlformats.org/drawingml/2006/main">
              <a:ext uri="{FF2B5EF4-FFF2-40B4-BE49-F238E27FC236}">
                <a16:creationId xmlns:a16="http://schemas.microsoft.com/office/drawing/2014/main" id="{1976B727-155A-41D9-B8B9-97F8BC65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2148">
            <a:extLst xmlns:a="http://schemas.openxmlformats.org/drawingml/2006/main">
              <a:ext uri="{FF2B5EF4-FFF2-40B4-BE49-F238E27FC236}">
                <a16:creationId xmlns:a16="http://schemas.microsoft.com/office/drawing/2014/main" id="{6E6620C7-D13F-4EC8-A904-CBF69A11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2149">
            <a:extLst xmlns:a="http://schemas.openxmlformats.org/drawingml/2006/main">
              <a:ext uri="{FF2B5EF4-FFF2-40B4-BE49-F238E27FC236}">
                <a16:creationId xmlns:a16="http://schemas.microsoft.com/office/drawing/2014/main" id="{22DF60EC-8A7A-4225-809D-697FE987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學習支持</a:t>
            </a:r>
          </a:p>
        </p:txBody>
      </p:sp>
      <p:sp>
        <p:nvSpPr>
          <p:cNvPr id="21" name="text-2150">
            <a:extLst xmlns:a="http://schemas.openxmlformats.org/drawingml/2006/main">
              <a:ext uri="{FF2B5EF4-FFF2-40B4-BE49-F238E27FC236}">
                <a16:creationId xmlns:a16="http://schemas.microsoft.com/office/drawing/2014/main" id="{2CC6BD22-45F8-4239-8922-A94CDD6F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形成性回饋、差異化支架、常見迷思與練習生成。</a:t>
            </a:r>
          </a:p>
        </p:txBody>
      </p:sp>
      <p:sp>
        <p:nvSpPr>
          <p:cNvPr id="22" name="shape-2151">
            <a:extLst xmlns:a="http://schemas.openxmlformats.org/drawingml/2006/main">
              <a:ext uri="{FF2B5EF4-FFF2-40B4-BE49-F238E27FC236}">
                <a16:creationId xmlns:a16="http://schemas.microsoft.com/office/drawing/2014/main" id="{F0EA9135-67AE-4B7C-B1DC-2B0E7D28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23" name="text-2152">
            <a:extLst xmlns:a="http://schemas.openxmlformats.org/drawingml/2006/main">
              <a:ext uri="{FF2B5EF4-FFF2-40B4-BE49-F238E27FC236}">
                <a16:creationId xmlns:a16="http://schemas.microsoft.com/office/drawing/2014/main" id="{5D9B3D7C-99A2-41F7-BAC8-5D51E9C8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05</a:t>
            </a:r>
          </a:p>
        </p:txBody>
      </p:sp>
      <p:sp>
        <p:nvSpPr>
          <p:cNvPr id="24" name="text-2153">
            <a:extLst xmlns:a="http://schemas.openxmlformats.org/drawingml/2006/main">
              <a:ext uri="{FF2B5EF4-FFF2-40B4-BE49-F238E27FC236}">
                <a16:creationId xmlns:a16="http://schemas.microsoft.com/office/drawing/2014/main" id="{789C3F24-BB9D-401F-8178-3F0867B7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品質保證</a:t>
            </a:r>
          </a:p>
        </p:txBody>
      </p:sp>
      <p:sp>
        <p:nvSpPr>
          <p:cNvPr id="25" name="text-2154">
            <a:extLst xmlns:a="http://schemas.openxmlformats.org/drawingml/2006/main">
              <a:ext uri="{FF2B5EF4-FFF2-40B4-BE49-F238E27FC236}">
                <a16:creationId xmlns:a16="http://schemas.microsoft.com/office/drawing/2014/main" id="{1F8022E9-2FB4-4D57-9B27-27C0EC62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RWD、無障礙、連結、內容依據與版本檢查。</a:t>
            </a:r>
          </a:p>
        </p:txBody>
      </p:sp>
      <p:sp>
        <p:nvSpPr>
          <p:cNvPr id="26" name="shape-2155">
            <a:extLst xmlns:a="http://schemas.openxmlformats.org/drawingml/2006/main">
              <a:ext uri="{FF2B5EF4-FFF2-40B4-BE49-F238E27FC236}">
                <a16:creationId xmlns:a16="http://schemas.microsoft.com/office/drawing/2014/main" id="{83A6428C-91AB-4F3C-9C4E-913A9146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27" name="text-2156">
            <a:extLst xmlns:a="http://schemas.openxmlformats.org/drawingml/2006/main">
              <a:ext uri="{FF2B5EF4-FFF2-40B4-BE49-F238E27FC236}">
                <a16:creationId xmlns:a16="http://schemas.microsoft.com/office/drawing/2014/main" id="{2434D92B-4381-48A6-949C-20BDDB21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06</a:t>
            </a:r>
          </a:p>
        </p:txBody>
      </p:sp>
      <p:sp>
        <p:nvSpPr>
          <p:cNvPr id="28" name="text-2157">
            <a:extLst xmlns:a="http://schemas.openxmlformats.org/drawingml/2006/main">
              <a:ext uri="{FF2B5EF4-FFF2-40B4-BE49-F238E27FC236}">
                <a16:creationId xmlns:a16="http://schemas.microsoft.com/office/drawing/2014/main" id="{CBB9DBD4-F955-4D50-BE3D-091051E7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部署交付</a:t>
            </a:r>
          </a:p>
        </p:txBody>
      </p:sp>
      <p:sp>
        <p:nvSpPr>
          <p:cNvPr id="29" name="text-2158">
            <a:extLst xmlns:a="http://schemas.openxmlformats.org/drawingml/2006/main">
              <a:ext uri="{FF2B5EF4-FFF2-40B4-BE49-F238E27FC236}">
                <a16:creationId xmlns:a16="http://schemas.microsoft.com/office/drawing/2014/main" id="{6FAF1F28-60FF-4D9F-A246-5C3D070F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Sites、Pages、文件、測試證據與團隊交接。</a:t>
            </a:r>
          </a:p>
        </p:txBody>
      </p:sp>
      <p:sp>
        <p:nvSpPr>
          <p:cNvPr id="30" name="text-2419">
            <a:extLst xmlns:a="http://schemas.openxmlformats.org/drawingml/2006/main">
              <a:ext uri="{FF2B5EF4-FFF2-40B4-BE49-F238E27FC236}">
                <a16:creationId xmlns:a16="http://schemas.microsoft.com/office/drawing/2014/main" id="{3C224BB4-E026-4CE3-935E-30CDD090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66a8d5a68d7f428f"/>
              </a:rPr>
              <a:t>Antigravity ↗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ee0a997ab9d94d02"/>
              </a:rPr>
              <a:t>Codex ↗</a:t>
            </a:r>
          </a:p>
        </p:txBody>
      </p:sp>
      <p:sp>
        <p:nvSpPr>
          <p:cNvPr id="31" name="shape-2550">
            <a:extLst xmlns:a="http://schemas.openxmlformats.org/drawingml/2006/main">
              <a:ext uri="{FF2B5EF4-FFF2-40B4-BE49-F238E27FC236}">
                <a16:creationId xmlns:a16="http://schemas.microsoft.com/office/drawing/2014/main" id="{F4FD499E-6F9E-4F92-A809-1B1C20CF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45b9a728c84220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33" name="text-2551">
            <a:extLst xmlns:a="http://schemas.openxmlformats.org/drawingml/2006/main">
              <a:ext uri="{FF2B5EF4-FFF2-40B4-BE49-F238E27FC236}">
                <a16:creationId xmlns:a16="http://schemas.microsoft.com/office/drawing/2014/main" id="{06CCF691-44DA-4DE1-A3F8-25062C3D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5d63e0e92c434a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35" name="text-2552">
            <a:extLst xmlns:a="http://schemas.openxmlformats.org/drawingml/2006/main">
              <a:ext uri="{FF2B5EF4-FFF2-40B4-BE49-F238E27FC236}">
                <a16:creationId xmlns:a16="http://schemas.microsoft.com/office/drawing/2014/main" id="{8F9FD5C0-A4E0-401E-A3F0-97209C21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</a:t>
            </a:r>
          </a:p>
        </p:txBody>
      </p:sp>
    </p:spTree>
    <p:extLst>
      <p:ext uri="{BB962C8B-B14F-4D97-AF65-F5344CB8AC3E}">
        <p14:creationId xmlns:p14="http://schemas.microsoft.com/office/powerpoint/2010/main" val="1980046663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2159">
            <a:extLst xmlns:a="http://schemas.openxmlformats.org/drawingml/2006/main">
              <a:ext uri="{FF2B5EF4-FFF2-40B4-BE49-F238E27FC236}">
                <a16:creationId xmlns:a16="http://schemas.microsoft.com/office/drawing/2014/main" id="{65A8A19E-45DB-4488-ADD5-A2603F60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GUARDRAILS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D0C2721-9D59-4B4C-A3DD-36EBA140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教育現場安全護欄：先寫進 Skill，再交給 Agent</a:t>
            </a:r>
          </a:p>
        </p:txBody>
      </p:sp>
      <p:cxnSp>
        <p:nvCxnSpPr>
          <p:cNvPr id="30" name="shape-2160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2161">
            <a:extLst xmlns:a="http://schemas.openxmlformats.org/drawingml/2006/main">
              <a:ext uri="{FF2B5EF4-FFF2-40B4-BE49-F238E27FC236}">
                <a16:creationId xmlns:a16="http://schemas.microsoft.com/office/drawing/2014/main" id="{721E9E5C-AE26-4914-9C93-03F190EB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8AC4841-656B-4448-B39E-DAD8C08C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58</a:t>
            </a:r>
          </a:p>
        </p:txBody>
      </p:sp>
      <p:sp>
        <p:nvSpPr>
          <p:cNvPr id="6" name="shape-2162">
            <a:extLst xmlns:a="http://schemas.openxmlformats.org/drawingml/2006/main">
              <a:ext uri="{FF2B5EF4-FFF2-40B4-BE49-F238E27FC236}">
                <a16:creationId xmlns:a16="http://schemas.microsoft.com/office/drawing/2014/main" id="{EBC135DD-5EEA-4FDC-9A42-55453295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2163">
            <a:extLst xmlns:a="http://schemas.openxmlformats.org/drawingml/2006/main">
              <a:ext uri="{FF2B5EF4-FFF2-40B4-BE49-F238E27FC236}">
                <a16:creationId xmlns:a16="http://schemas.microsoft.com/office/drawing/2014/main" id="{F2C80CFC-C7B3-47FE-AFDC-56E28C9C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2164">
            <a:extLst xmlns:a="http://schemas.openxmlformats.org/drawingml/2006/main">
              <a:ext uri="{FF2B5EF4-FFF2-40B4-BE49-F238E27FC236}">
                <a16:creationId xmlns:a16="http://schemas.microsoft.com/office/drawing/2014/main" id="{15023611-5860-4670-9170-EBB7B27F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個資最小化</a:t>
            </a:r>
          </a:p>
        </p:txBody>
      </p:sp>
      <p:sp>
        <p:nvSpPr>
          <p:cNvPr id="9" name="text-2165">
            <a:extLst xmlns:a="http://schemas.openxmlformats.org/drawingml/2006/main">
              <a:ext uri="{FF2B5EF4-FFF2-40B4-BE49-F238E27FC236}">
                <a16:creationId xmlns:a16="http://schemas.microsoft.com/office/drawing/2014/main" id="{7C337202-65DA-483A-B882-10A27BF9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先匿名化；不把學生姓名、成績、信箱與研究資料放入公開工作區。</a:t>
            </a:r>
          </a:p>
        </p:txBody>
      </p:sp>
      <p:sp>
        <p:nvSpPr>
          <p:cNvPr id="10" name="shape-2166">
            <a:extLst xmlns:a="http://schemas.openxmlformats.org/drawingml/2006/main">
              <a:ext uri="{FF2B5EF4-FFF2-40B4-BE49-F238E27FC236}">
                <a16:creationId xmlns:a16="http://schemas.microsoft.com/office/drawing/2014/main" id="{A628E4BD-3FC4-4C70-AB5A-B74F3602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2167">
            <a:extLst xmlns:a="http://schemas.openxmlformats.org/drawingml/2006/main">
              <a:ext uri="{FF2B5EF4-FFF2-40B4-BE49-F238E27FC236}">
                <a16:creationId xmlns:a16="http://schemas.microsoft.com/office/drawing/2014/main" id="{E1CAD47D-051B-44CD-A2D1-4AE00CDD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2168">
            <a:extLst xmlns:a="http://schemas.openxmlformats.org/drawingml/2006/main">
              <a:ext uri="{FF2B5EF4-FFF2-40B4-BE49-F238E27FC236}">
                <a16:creationId xmlns:a16="http://schemas.microsoft.com/office/drawing/2014/main" id="{D99CB1EA-2C00-4B62-9205-EAB5FA29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來源與版權</a:t>
            </a:r>
          </a:p>
        </p:txBody>
      </p:sp>
      <p:sp>
        <p:nvSpPr>
          <p:cNvPr id="13" name="text-2169">
            <a:extLst xmlns:a="http://schemas.openxmlformats.org/drawingml/2006/main">
              <a:ext uri="{FF2B5EF4-FFF2-40B4-BE49-F238E27FC236}">
                <a16:creationId xmlns:a16="http://schemas.microsoft.com/office/drawing/2014/main" id="{4A16AB91-A794-41EA-A061-D0FE482D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保留引用、授權與來源邊界；生成不等於可任意公開。</a:t>
            </a:r>
          </a:p>
        </p:txBody>
      </p:sp>
      <p:sp>
        <p:nvSpPr>
          <p:cNvPr id="14" name="shape-2170">
            <a:extLst xmlns:a="http://schemas.openxmlformats.org/drawingml/2006/main">
              <a:ext uri="{FF2B5EF4-FFF2-40B4-BE49-F238E27FC236}">
                <a16:creationId xmlns:a16="http://schemas.microsoft.com/office/drawing/2014/main" id="{76D9EFEC-15FA-4FB9-88E6-80D2DB84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2171">
            <a:extLst xmlns:a="http://schemas.openxmlformats.org/drawingml/2006/main">
              <a:ext uri="{FF2B5EF4-FFF2-40B4-BE49-F238E27FC236}">
                <a16:creationId xmlns:a16="http://schemas.microsoft.com/office/drawing/2014/main" id="{9603F33B-2388-4579-81B6-BFFF83F4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2172">
            <a:extLst xmlns:a="http://schemas.openxmlformats.org/drawingml/2006/main">
              <a:ext uri="{FF2B5EF4-FFF2-40B4-BE49-F238E27FC236}">
                <a16:creationId xmlns:a16="http://schemas.microsoft.com/office/drawing/2014/main" id="{C24D9442-2D55-4FA0-8AD6-93073910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人工決策</a:t>
            </a:r>
          </a:p>
        </p:txBody>
      </p:sp>
      <p:sp>
        <p:nvSpPr>
          <p:cNvPr id="17" name="text-2173">
            <a:extLst xmlns:a="http://schemas.openxmlformats.org/drawingml/2006/main">
              <a:ext uri="{FF2B5EF4-FFF2-40B4-BE49-F238E27FC236}">
                <a16:creationId xmlns:a16="http://schemas.microsoft.com/office/drawing/2014/main" id="{EC91FEEB-04FA-42CD-B0F4-872EC420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評分、倫理、輔導與正式行政決定，由人負責並保留紀錄。</a:t>
            </a:r>
          </a:p>
        </p:txBody>
      </p:sp>
      <p:sp>
        <p:nvSpPr>
          <p:cNvPr id="18" name="shape-2174">
            <a:extLst xmlns:a="http://schemas.openxmlformats.org/drawingml/2006/main">
              <a:ext uri="{FF2B5EF4-FFF2-40B4-BE49-F238E27FC236}">
                <a16:creationId xmlns:a16="http://schemas.microsoft.com/office/drawing/2014/main" id="{8AD4C7AD-8208-4FD3-B086-42C0D26B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2175">
            <a:extLst xmlns:a="http://schemas.openxmlformats.org/drawingml/2006/main">
              <a:ext uri="{FF2B5EF4-FFF2-40B4-BE49-F238E27FC236}">
                <a16:creationId xmlns:a16="http://schemas.microsoft.com/office/drawing/2014/main" id="{35E4A23A-9B2D-4D6F-9E9C-5228F1A4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2176">
            <a:extLst xmlns:a="http://schemas.openxmlformats.org/drawingml/2006/main">
              <a:ext uri="{FF2B5EF4-FFF2-40B4-BE49-F238E27FC236}">
                <a16:creationId xmlns:a16="http://schemas.microsoft.com/office/drawing/2014/main" id="{C85ED735-E75D-4510-8C87-729F7D43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可逆優先</a:t>
            </a:r>
          </a:p>
        </p:txBody>
      </p:sp>
      <p:sp>
        <p:nvSpPr>
          <p:cNvPr id="21" name="text-2177">
            <a:extLst xmlns:a="http://schemas.openxmlformats.org/drawingml/2006/main">
              <a:ext uri="{FF2B5EF4-FFF2-40B4-BE49-F238E27FC236}">
                <a16:creationId xmlns:a16="http://schemas.microsoft.com/office/drawing/2014/main" id="{97D22506-B9A6-4A92-9444-666DEE9A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先分析、預覽、備份；發布、刪除與改權限需要明確確認。</a:t>
            </a:r>
          </a:p>
        </p:txBody>
      </p:sp>
      <p:sp>
        <p:nvSpPr>
          <p:cNvPr id="22" name="text-2420">
            <a:extLst xmlns:a="http://schemas.openxmlformats.org/drawingml/2006/main">
              <a:ext uri="{FF2B5EF4-FFF2-40B4-BE49-F238E27FC236}">
                <a16:creationId xmlns:a16="http://schemas.microsoft.com/office/drawing/2014/main" id="{E8564E51-BF5B-4F85-B6FA-6F9878E3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60cf0267b356454a"/>
              </a:rPr>
              <a:t>Antigravity ↗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a06f9613dd7c4c44"/>
              </a:rPr>
              <a:t>Codex ↗</a:t>
            </a:r>
          </a:p>
        </p:txBody>
      </p:sp>
      <p:sp>
        <p:nvSpPr>
          <p:cNvPr id="23" name="shape-2553">
            <a:extLst xmlns:a="http://schemas.openxmlformats.org/drawingml/2006/main">
              <a:ext uri="{FF2B5EF4-FFF2-40B4-BE49-F238E27FC236}">
                <a16:creationId xmlns:a16="http://schemas.microsoft.com/office/drawing/2014/main" id="{2B037078-0561-428A-93D0-6A1124A2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737adfbbc549e8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5" name="text-2554">
            <a:extLst xmlns:a="http://schemas.openxmlformats.org/drawingml/2006/main">
              <a:ext uri="{FF2B5EF4-FFF2-40B4-BE49-F238E27FC236}">
                <a16:creationId xmlns:a16="http://schemas.microsoft.com/office/drawing/2014/main" id="{5407EE7D-AD4F-4A00-8B16-9445789A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6356b933a24908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7" name="text-2555">
            <a:extLst xmlns:a="http://schemas.openxmlformats.org/drawingml/2006/main">
              <a:ext uri="{FF2B5EF4-FFF2-40B4-BE49-F238E27FC236}">
                <a16:creationId xmlns:a16="http://schemas.microsoft.com/office/drawing/2014/main" id="{C9B67ABD-0A02-401D-8179-EEF52B07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</a:t>
            </a:r>
          </a:p>
        </p:txBody>
      </p:sp>
    </p:spTree>
    <p:extLst>
      <p:ext uri="{BB962C8B-B14F-4D97-AF65-F5344CB8AC3E}">
        <p14:creationId xmlns:p14="http://schemas.microsoft.com/office/powerpoint/2010/main" val="1478468613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2178">
            <a:extLst xmlns:a="http://schemas.openxmlformats.org/drawingml/2006/main">
              <a:ext uri="{FF2B5EF4-FFF2-40B4-BE49-F238E27FC236}">
                <a16:creationId xmlns:a16="http://schemas.microsoft.com/office/drawing/2014/main" id="{A55AEBC6-2644-4F68-A539-65D301C9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HANDS-ON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BC9772-EEC9-4C93-B7D4-257DFF43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整合挑戰｜讓 Agent 回應一個可驗證的痛點</a:t>
            </a:r>
          </a:p>
        </p:txBody>
      </p:sp>
      <p:cxnSp>
        <p:nvCxnSpPr>
          <p:cNvPr id="27" name="shape-2179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2180">
            <a:extLst xmlns:a="http://schemas.openxmlformats.org/drawingml/2006/main">
              <a:ext uri="{FF2B5EF4-FFF2-40B4-BE49-F238E27FC236}">
                <a16:creationId xmlns:a16="http://schemas.microsoft.com/office/drawing/2014/main" id="{41B9FB31-67B2-4C31-9DEB-00DDA094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E0DD3B8-C667-4B92-961F-7B511881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59</a:t>
            </a:r>
          </a:p>
        </p:txBody>
      </p:sp>
      <p:sp>
        <p:nvSpPr>
          <p:cNvPr id="6" name="text-2181">
            <a:extLst xmlns:a="http://schemas.openxmlformats.org/drawingml/2006/main">
              <a:ext uri="{FF2B5EF4-FFF2-40B4-BE49-F238E27FC236}">
                <a16:creationId xmlns:a16="http://schemas.microsoft.com/office/drawing/2014/main" id="{1FDCB458-2C50-4B3E-8199-E3CA29E2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0002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15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分鐘</a:t>
            </a:r>
          </a:p>
        </p:txBody>
      </p:sp>
      <p:sp>
        <p:nvSpPr>
          <p:cNvPr id="7" name="text-2182">
            <a:extLst xmlns:a="http://schemas.openxmlformats.org/drawingml/2006/main">
              <a:ext uri="{FF2B5EF4-FFF2-40B4-BE49-F238E27FC236}">
                <a16:creationId xmlns:a16="http://schemas.microsoft.com/office/drawing/2014/main" id="{C1935599-D1E7-4797-9FEB-AFF54BF3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335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操作步驟</a:t>
            </a:r>
          </a:p>
        </p:txBody>
      </p:sp>
      <p:sp>
        <p:nvSpPr>
          <p:cNvPr id="8" name="text-2183">
            <a:extLst xmlns:a="http://schemas.openxmlformats.org/drawingml/2006/main">
              <a:ext uri="{FF2B5EF4-FFF2-40B4-BE49-F238E27FC236}">
                <a16:creationId xmlns:a16="http://schemas.microsoft.com/office/drawing/2014/main" id="{FC269DEE-25D9-4782-96E4-7EE990E9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00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2184">
            <a:extLst xmlns:a="http://schemas.openxmlformats.org/drawingml/2006/main">
              <a:ext uri="{FF2B5EF4-FFF2-40B4-BE49-F238E27FC236}">
                <a16:creationId xmlns:a16="http://schemas.microsoft.com/office/drawing/2014/main" id="{1325FD44-0859-4799-BEC1-16B0C78F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003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啟用剛完成的 Skill</a:t>
            </a:r>
          </a:p>
        </p:txBody>
      </p:sp>
      <p:sp>
        <p:nvSpPr>
          <p:cNvPr id="10" name="text-2185">
            <a:extLst xmlns:a="http://schemas.openxmlformats.org/drawingml/2006/main">
              <a:ext uri="{FF2B5EF4-FFF2-40B4-BE49-F238E27FC236}">
                <a16:creationId xmlns:a16="http://schemas.microsoft.com/office/drawing/2014/main" id="{CCD4F950-CD03-4FC5-A7FB-413BCC06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05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1" name="text-2186">
            <a:extLst xmlns:a="http://schemas.openxmlformats.org/drawingml/2006/main">
              <a:ext uri="{FF2B5EF4-FFF2-40B4-BE49-F238E27FC236}">
                <a16:creationId xmlns:a16="http://schemas.microsoft.com/office/drawing/2014/main" id="{E176E7F9-CEF4-4EFE-8907-01A95F8E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051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對上午作品或合成資料提出一項真實教學／研究痛點任務</a:t>
            </a:r>
          </a:p>
        </p:txBody>
      </p:sp>
      <p:sp>
        <p:nvSpPr>
          <p:cNvPr id="12" name="text-2187">
            <a:extLst xmlns:a="http://schemas.openxmlformats.org/drawingml/2006/main">
              <a:ext uri="{FF2B5EF4-FFF2-40B4-BE49-F238E27FC236}">
                <a16:creationId xmlns:a16="http://schemas.microsoft.com/office/drawing/2014/main" id="{D9549368-51AB-4506-98DB-8CCF5D0A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810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3" name="text-2188">
            <a:extLst xmlns:a="http://schemas.openxmlformats.org/drawingml/2006/main">
              <a:ext uri="{FF2B5EF4-FFF2-40B4-BE49-F238E27FC236}">
                <a16:creationId xmlns:a16="http://schemas.microsoft.com/office/drawing/2014/main" id="{23569978-189F-444E-BA29-CAC81531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100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要求 Agent 實作並驗證</a:t>
            </a:r>
          </a:p>
        </p:txBody>
      </p:sp>
      <p:sp>
        <p:nvSpPr>
          <p:cNvPr id="14" name="text-2189">
            <a:extLst xmlns:a="http://schemas.openxmlformats.org/drawingml/2006/main">
              <a:ext uri="{FF2B5EF4-FFF2-40B4-BE49-F238E27FC236}">
                <a16:creationId xmlns:a16="http://schemas.microsoft.com/office/drawing/2014/main" id="{62FA8BC9-7829-4EC8-A4DA-346E47C2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14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15" name="text-2190">
            <a:extLst xmlns:a="http://schemas.openxmlformats.org/drawingml/2006/main">
              <a:ext uri="{FF2B5EF4-FFF2-40B4-BE49-F238E27FC236}">
                <a16:creationId xmlns:a16="http://schemas.microsoft.com/office/drawing/2014/main" id="{C1EF820B-FA19-46AD-AD59-0E1B4A91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148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準備 90 秒成果與證據</a:t>
            </a:r>
          </a:p>
        </p:txBody>
      </p:sp>
      <p:sp>
        <p:nvSpPr>
          <p:cNvPr id="16" name="shape-2191">
            <a:extLst xmlns:a="http://schemas.openxmlformats.org/drawingml/2006/main">
              <a:ext uri="{FF2B5EF4-FFF2-40B4-BE49-F238E27FC236}">
                <a16:creationId xmlns:a16="http://schemas.microsoft.com/office/drawing/2014/main" id="{501F2DEE-4B26-4679-90BC-D4977875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90700"/>
            <a:ext cx="2362200" cy="39052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7" name="text-2192">
            <a:extLst xmlns:a="http://schemas.openxmlformats.org/drawingml/2006/main">
              <a:ext uri="{FF2B5EF4-FFF2-40B4-BE49-F238E27FC236}">
                <a16:creationId xmlns:a16="http://schemas.microsoft.com/office/drawing/2014/main" id="{BAF54C5A-0F60-4F49-B2F0-641BE882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5740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rPr>
              <a:t>完成條件</a:t>
            </a:r>
          </a:p>
        </p:txBody>
      </p:sp>
      <p:sp>
        <p:nvSpPr>
          <p:cNvPr id="18" name="text-2193">
            <a:extLst xmlns:a="http://schemas.openxmlformats.org/drawingml/2006/main">
              <a:ext uri="{FF2B5EF4-FFF2-40B4-BE49-F238E27FC236}">
                <a16:creationId xmlns:a16="http://schemas.microsoft.com/office/drawing/2014/main" id="{20B80AB2-85B5-491C-B08C-B24181E5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05100"/>
            <a:ext cx="18669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Skill 有被正確觸發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成果可開啟或可檢查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至少一個驗證證據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說明一項人工決定</a:t>
            </a:r>
          </a:p>
        </p:txBody>
      </p:sp>
      <p:sp>
        <p:nvSpPr>
          <p:cNvPr id="19" name="text-2421">
            <a:extLst xmlns:a="http://schemas.openxmlformats.org/drawingml/2006/main">
              <a:ext uri="{FF2B5EF4-FFF2-40B4-BE49-F238E27FC236}">
                <a16:creationId xmlns:a16="http://schemas.microsoft.com/office/drawing/2014/main" id="{3EB352B2-3752-4158-BFD6-77C214EB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4bab88bfac594822"/>
              </a:rPr>
              <a:t>Antigravity ↗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d080f72e3099472c"/>
              </a:rPr>
              <a:t>Codex ↗</a:t>
            </a:r>
          </a:p>
        </p:txBody>
      </p:sp>
      <p:sp>
        <p:nvSpPr>
          <p:cNvPr id="20" name="shape-2556">
            <a:extLst xmlns:a="http://schemas.openxmlformats.org/drawingml/2006/main">
              <a:ext uri="{FF2B5EF4-FFF2-40B4-BE49-F238E27FC236}">
                <a16:creationId xmlns:a16="http://schemas.microsoft.com/office/drawing/2014/main" id="{CF13A0A9-9CB7-4B21-B1F3-DF736810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f20f6be63d4edf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2" name="text-2557">
            <a:extLst xmlns:a="http://schemas.openxmlformats.org/drawingml/2006/main">
              <a:ext uri="{FF2B5EF4-FFF2-40B4-BE49-F238E27FC236}">
                <a16:creationId xmlns:a16="http://schemas.microsoft.com/office/drawing/2014/main" id="{A495CC45-1139-49CB-9494-BB67C56A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e4844077614c48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4" name="text-2558">
            <a:extLst xmlns:a="http://schemas.openxmlformats.org/drawingml/2006/main">
              <a:ext uri="{FF2B5EF4-FFF2-40B4-BE49-F238E27FC236}">
                <a16:creationId xmlns:a16="http://schemas.microsoft.com/office/drawing/2014/main" id="{8A9E5424-847F-4CC6-A0C4-69375323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</a:t>
            </a:r>
          </a:p>
        </p:txBody>
      </p:sp>
    </p:spTree>
    <p:extLst>
      <p:ext uri="{BB962C8B-B14F-4D97-AF65-F5344CB8AC3E}">
        <p14:creationId xmlns:p14="http://schemas.microsoft.com/office/powerpoint/2010/main" val="2058879400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2194">
            <a:extLst xmlns:a="http://schemas.openxmlformats.org/drawingml/2006/main">
              <a:ext uri="{FF2B5EF4-FFF2-40B4-BE49-F238E27FC236}">
                <a16:creationId xmlns:a16="http://schemas.microsoft.com/office/drawing/2014/main" id="{922A0D10-54FE-404C-8D75-7F2FE661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PEER REVIEW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1524AE-33AB-49A4-9962-82803F92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同儕回饋只看四件事</a:t>
            </a:r>
          </a:p>
        </p:txBody>
      </p:sp>
      <p:cxnSp>
        <p:nvCxnSpPr>
          <p:cNvPr id="30" name="shape-2195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2196">
            <a:extLst xmlns:a="http://schemas.openxmlformats.org/drawingml/2006/main">
              <a:ext uri="{FF2B5EF4-FFF2-40B4-BE49-F238E27FC236}">
                <a16:creationId xmlns:a16="http://schemas.microsoft.com/office/drawing/2014/main" id="{91CFB49A-491A-4C89-88F0-1835CEA6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67DDF25-BA57-40EE-9F33-41DD8233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60</a:t>
            </a:r>
          </a:p>
        </p:txBody>
      </p:sp>
      <p:sp>
        <p:nvSpPr>
          <p:cNvPr id="6" name="shape-2197">
            <a:extLst xmlns:a="http://schemas.openxmlformats.org/drawingml/2006/main">
              <a:ext uri="{FF2B5EF4-FFF2-40B4-BE49-F238E27FC236}">
                <a16:creationId xmlns:a16="http://schemas.microsoft.com/office/drawing/2014/main" id="{B8E70717-C816-49F6-AD23-0CD9133C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2198">
            <a:extLst xmlns:a="http://schemas.openxmlformats.org/drawingml/2006/main">
              <a:ext uri="{FF2B5EF4-FFF2-40B4-BE49-F238E27FC236}">
                <a16:creationId xmlns:a16="http://schemas.microsoft.com/office/drawing/2014/main" id="{8B1D2CD0-4CD1-4703-B597-0CCF0FB4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2199">
            <a:extLst xmlns:a="http://schemas.openxmlformats.org/drawingml/2006/main">
              <a:ext uri="{FF2B5EF4-FFF2-40B4-BE49-F238E27FC236}">
                <a16:creationId xmlns:a16="http://schemas.microsoft.com/office/drawing/2014/main" id="{00665A28-902C-4896-ABF3-2E28F520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價值</a:t>
            </a:r>
          </a:p>
        </p:txBody>
      </p:sp>
      <p:sp>
        <p:nvSpPr>
          <p:cNvPr id="9" name="text-2200">
            <a:extLst xmlns:a="http://schemas.openxmlformats.org/drawingml/2006/main">
              <a:ext uri="{FF2B5EF4-FFF2-40B4-BE49-F238E27FC236}">
                <a16:creationId xmlns:a16="http://schemas.microsoft.com/office/drawing/2014/main" id="{EE290971-38A8-4D2A-9C50-1FF72FD9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這個 Agent 任務是否回應真實教學／研究痛點？</a:t>
            </a:r>
          </a:p>
        </p:txBody>
      </p:sp>
      <p:sp>
        <p:nvSpPr>
          <p:cNvPr id="10" name="shape-2201">
            <a:extLst xmlns:a="http://schemas.openxmlformats.org/drawingml/2006/main">
              <a:ext uri="{FF2B5EF4-FFF2-40B4-BE49-F238E27FC236}">
                <a16:creationId xmlns:a16="http://schemas.microsoft.com/office/drawing/2014/main" id="{FB8A510F-E15A-43B1-95EF-41FF4753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2202">
            <a:extLst xmlns:a="http://schemas.openxmlformats.org/drawingml/2006/main">
              <a:ext uri="{FF2B5EF4-FFF2-40B4-BE49-F238E27FC236}">
                <a16:creationId xmlns:a16="http://schemas.microsoft.com/office/drawing/2014/main" id="{1CA3533C-C97B-4D14-A821-83714B77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2203">
            <a:extLst xmlns:a="http://schemas.openxmlformats.org/drawingml/2006/main">
              <a:ext uri="{FF2B5EF4-FFF2-40B4-BE49-F238E27FC236}">
                <a16:creationId xmlns:a16="http://schemas.microsoft.com/office/drawing/2014/main" id="{2613F140-7476-438B-A5C3-D2F4EA0C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清楚</a:t>
            </a:r>
          </a:p>
        </p:txBody>
      </p:sp>
      <p:sp>
        <p:nvSpPr>
          <p:cNvPr id="13" name="text-2204">
            <a:extLst xmlns:a="http://schemas.openxmlformats.org/drawingml/2006/main">
              <a:ext uri="{FF2B5EF4-FFF2-40B4-BE49-F238E27FC236}">
                <a16:creationId xmlns:a16="http://schemas.microsoft.com/office/drawing/2014/main" id="{3F2F9A74-1A3E-44E6-B9F7-9508913F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陌生人是否能理解 Skill 的觸發時機與流程？</a:t>
            </a:r>
          </a:p>
        </p:txBody>
      </p:sp>
      <p:sp>
        <p:nvSpPr>
          <p:cNvPr id="14" name="shape-2205">
            <a:extLst xmlns:a="http://schemas.openxmlformats.org/drawingml/2006/main">
              <a:ext uri="{FF2B5EF4-FFF2-40B4-BE49-F238E27FC236}">
                <a16:creationId xmlns:a16="http://schemas.microsoft.com/office/drawing/2014/main" id="{457312EE-FB2C-4C90-9C16-D21AE7D8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2206">
            <a:extLst xmlns:a="http://schemas.openxmlformats.org/drawingml/2006/main">
              <a:ext uri="{FF2B5EF4-FFF2-40B4-BE49-F238E27FC236}">
                <a16:creationId xmlns:a16="http://schemas.microsoft.com/office/drawing/2014/main" id="{90106AFB-8F84-400D-824C-FEFCF4F9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2207">
            <a:extLst xmlns:a="http://schemas.openxmlformats.org/drawingml/2006/main">
              <a:ext uri="{FF2B5EF4-FFF2-40B4-BE49-F238E27FC236}">
                <a16:creationId xmlns:a16="http://schemas.microsoft.com/office/drawing/2014/main" id="{06C713C6-834D-4AD6-93E5-2E543DF0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證據</a:t>
            </a:r>
          </a:p>
        </p:txBody>
      </p:sp>
      <p:sp>
        <p:nvSpPr>
          <p:cNvPr id="17" name="text-2208">
            <a:extLst xmlns:a="http://schemas.openxmlformats.org/drawingml/2006/main">
              <a:ext uri="{FF2B5EF4-FFF2-40B4-BE49-F238E27FC236}">
                <a16:creationId xmlns:a16="http://schemas.microsoft.com/office/drawing/2014/main" id="{6E53AA60-7F77-433B-849C-508297AE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完成宣告是否有檔案、測試、畫面或引用支持？</a:t>
            </a:r>
          </a:p>
        </p:txBody>
      </p:sp>
      <p:sp>
        <p:nvSpPr>
          <p:cNvPr id="18" name="shape-2209">
            <a:extLst xmlns:a="http://schemas.openxmlformats.org/drawingml/2006/main">
              <a:ext uri="{FF2B5EF4-FFF2-40B4-BE49-F238E27FC236}">
                <a16:creationId xmlns:a16="http://schemas.microsoft.com/office/drawing/2014/main" id="{20298E79-93DF-4A0A-9033-52D9C24B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2210">
            <a:extLst xmlns:a="http://schemas.openxmlformats.org/drawingml/2006/main">
              <a:ext uri="{FF2B5EF4-FFF2-40B4-BE49-F238E27FC236}">
                <a16:creationId xmlns:a16="http://schemas.microsoft.com/office/drawing/2014/main" id="{0FD6AEF5-2851-4D88-9D01-B3624B94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2211">
            <a:extLst xmlns:a="http://schemas.openxmlformats.org/drawingml/2006/main">
              <a:ext uri="{FF2B5EF4-FFF2-40B4-BE49-F238E27FC236}">
                <a16:creationId xmlns:a16="http://schemas.microsoft.com/office/drawing/2014/main" id="{53280FB2-7069-496F-A601-213B6E0A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邊界</a:t>
            </a:r>
          </a:p>
        </p:txBody>
      </p:sp>
      <p:sp>
        <p:nvSpPr>
          <p:cNvPr id="21" name="text-2212">
            <a:extLst xmlns:a="http://schemas.openxmlformats.org/drawingml/2006/main">
              <a:ext uri="{FF2B5EF4-FFF2-40B4-BE49-F238E27FC236}">
                <a16:creationId xmlns:a16="http://schemas.microsoft.com/office/drawing/2014/main" id="{31DA2BA9-991B-4DAE-ADF7-16D18DDF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是否知道哪些動作需確認、哪些結果仍未確認？</a:t>
            </a:r>
          </a:p>
        </p:txBody>
      </p:sp>
      <p:sp>
        <p:nvSpPr>
          <p:cNvPr id="22" name="text-2422">
            <a:extLst xmlns:a="http://schemas.openxmlformats.org/drawingml/2006/main">
              <a:ext uri="{FF2B5EF4-FFF2-40B4-BE49-F238E27FC236}">
                <a16:creationId xmlns:a16="http://schemas.microsoft.com/office/drawing/2014/main" id="{1F9E5307-A8D5-458B-9E1D-C9F6EB82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38cf35faa0414b1c"/>
              </a:rPr>
              <a:t>Antigravity ↗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148048683e0c4045"/>
              </a:rPr>
              <a:t>Codex ↗</a:t>
            </a:r>
          </a:p>
        </p:txBody>
      </p:sp>
      <p:sp>
        <p:nvSpPr>
          <p:cNvPr id="23" name="shape-2559">
            <a:extLst xmlns:a="http://schemas.openxmlformats.org/drawingml/2006/main">
              <a:ext uri="{FF2B5EF4-FFF2-40B4-BE49-F238E27FC236}">
                <a16:creationId xmlns:a16="http://schemas.microsoft.com/office/drawing/2014/main" id="{34550B59-00CD-4F2C-8F36-671060AE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b4bf27abbf43a9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5" name="text-2560">
            <a:extLst xmlns:a="http://schemas.openxmlformats.org/drawingml/2006/main">
              <a:ext uri="{FF2B5EF4-FFF2-40B4-BE49-F238E27FC236}">
                <a16:creationId xmlns:a16="http://schemas.microsoft.com/office/drawing/2014/main" id="{D882AAD4-B414-4014-AEA1-CB387000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a1387fb55546b2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7" name="text-2561">
            <a:extLst xmlns:a="http://schemas.openxmlformats.org/drawingml/2006/main">
              <a:ext uri="{FF2B5EF4-FFF2-40B4-BE49-F238E27FC236}">
                <a16:creationId xmlns:a16="http://schemas.microsoft.com/office/drawing/2014/main" id="{2EDB64F8-068F-4E1D-8670-2FDFDA37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</a:t>
            </a:r>
          </a:p>
        </p:txBody>
      </p:sp>
    </p:spTree>
    <p:extLst>
      <p:ext uri="{BB962C8B-B14F-4D97-AF65-F5344CB8AC3E}">
        <p14:creationId xmlns:p14="http://schemas.microsoft.com/office/powerpoint/2010/main" val="444273777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ext-2213">
            <a:extLst xmlns:a="http://schemas.openxmlformats.org/drawingml/2006/main">
              <a:ext uri="{FF2B5EF4-FFF2-40B4-BE49-F238E27FC236}">
                <a16:creationId xmlns:a16="http://schemas.microsoft.com/office/drawing/2014/main" id="{57F610FC-5EE5-4A8F-9C47-93367EB2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NEXT 30 DAYS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DD65E71-5AB5-4DF9-A987-A50B3242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30 天導入計畫：小步驗證，留下可重用資產</a:t>
            </a:r>
          </a:p>
        </p:txBody>
      </p:sp>
      <p:cxnSp>
        <p:nvCxnSpPr>
          <p:cNvPr id="35" name="shape-2214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2215">
            <a:extLst xmlns:a="http://schemas.openxmlformats.org/drawingml/2006/main">
              <a:ext uri="{FF2B5EF4-FFF2-40B4-BE49-F238E27FC236}">
                <a16:creationId xmlns:a16="http://schemas.microsoft.com/office/drawing/2014/main" id="{481DB4FE-6CBD-433D-B0AF-6206488E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82C8B28-DC2D-4EE4-A370-F22F0A05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61</a:t>
            </a:r>
          </a:p>
        </p:txBody>
      </p:sp>
      <p:sp>
        <p:nvSpPr>
          <p:cNvPr id="6" name="shape-2216">
            <a:extLst xmlns:a="http://schemas.openxmlformats.org/drawingml/2006/main">
              <a:ext uri="{FF2B5EF4-FFF2-40B4-BE49-F238E27FC236}">
                <a16:creationId xmlns:a16="http://schemas.microsoft.com/office/drawing/2014/main" id="{E785ED32-706B-4681-BB94-52682B46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10591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-2217">
            <a:extLst xmlns:a="http://schemas.openxmlformats.org/drawingml/2006/main">
              <a:ext uri="{FF2B5EF4-FFF2-40B4-BE49-F238E27FC236}">
                <a16:creationId xmlns:a16="http://schemas.microsoft.com/office/drawing/2014/main" id="{22EAC8E5-2580-4230-A3ED-B289A554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2218">
            <a:extLst xmlns:a="http://schemas.openxmlformats.org/drawingml/2006/main">
              <a:ext uri="{FF2B5EF4-FFF2-40B4-BE49-F238E27FC236}">
                <a16:creationId xmlns:a16="http://schemas.microsoft.com/office/drawing/2014/main" id="{6640E0B8-B0D7-4AAC-9356-97734ADD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第 1 週</a:t>
            </a:r>
          </a:p>
        </p:txBody>
      </p:sp>
      <p:sp>
        <p:nvSpPr>
          <p:cNvPr id="9" name="text-2219">
            <a:extLst xmlns:a="http://schemas.openxmlformats.org/drawingml/2006/main">
              <a:ext uri="{FF2B5EF4-FFF2-40B4-BE49-F238E27FC236}">
                <a16:creationId xmlns:a16="http://schemas.microsoft.com/office/drawing/2014/main" id="{AF11E5AA-BA76-4538-8474-405B6FF1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選任務</a:t>
            </a:r>
          </a:p>
        </p:txBody>
      </p:sp>
      <p:sp>
        <p:nvSpPr>
          <p:cNvPr id="10" name="text-2220">
            <a:extLst xmlns:a="http://schemas.openxmlformats.org/drawingml/2006/main">
              <a:ext uri="{FF2B5EF4-FFF2-40B4-BE49-F238E27FC236}">
                <a16:creationId xmlns:a16="http://schemas.microsoft.com/office/drawing/2014/main" id="{A7D14AEE-5A74-4861-A4DB-CFFEDD20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高頻、耗時、可驗證</a:t>
            </a:r>
          </a:p>
        </p:txBody>
      </p:sp>
      <p:sp>
        <p:nvSpPr>
          <p:cNvPr id="11" name="shape-2221">
            <a:extLst xmlns:a="http://schemas.openxmlformats.org/drawingml/2006/main">
              <a:ext uri="{FF2B5EF4-FFF2-40B4-BE49-F238E27FC236}">
                <a16:creationId xmlns:a16="http://schemas.microsoft.com/office/drawing/2014/main" id="{5D50FE5D-132B-422B-9E02-F74DA1DC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2222">
            <a:extLst xmlns:a="http://schemas.openxmlformats.org/drawingml/2006/main">
              <a:ext uri="{FF2B5EF4-FFF2-40B4-BE49-F238E27FC236}">
                <a16:creationId xmlns:a16="http://schemas.microsoft.com/office/drawing/2014/main" id="{C9E6BA5A-7E4F-4A5E-9388-4151000F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第 2 週</a:t>
            </a:r>
          </a:p>
        </p:txBody>
      </p:sp>
      <p:sp>
        <p:nvSpPr>
          <p:cNvPr id="13" name="text-2223">
            <a:extLst xmlns:a="http://schemas.openxmlformats.org/drawingml/2006/main">
              <a:ext uri="{FF2B5EF4-FFF2-40B4-BE49-F238E27FC236}">
                <a16:creationId xmlns:a16="http://schemas.microsoft.com/office/drawing/2014/main" id="{4D60724A-92AE-4594-BEDB-55D99787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試流程</a:t>
            </a:r>
          </a:p>
        </p:txBody>
      </p:sp>
      <p:sp>
        <p:nvSpPr>
          <p:cNvPr id="14" name="text-2224">
            <a:extLst xmlns:a="http://schemas.openxmlformats.org/drawingml/2006/main">
              <a:ext uri="{FF2B5EF4-FFF2-40B4-BE49-F238E27FC236}">
                <a16:creationId xmlns:a16="http://schemas.microsoft.com/office/drawing/2014/main" id="{4E5E37B2-9858-400B-BAEC-E0A8EC58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自己跑 3 次</a:t>
            </a:r>
          </a:p>
        </p:txBody>
      </p:sp>
      <p:sp>
        <p:nvSpPr>
          <p:cNvPr id="15" name="shape-2225">
            <a:extLst xmlns:a="http://schemas.openxmlformats.org/drawingml/2006/main">
              <a:ext uri="{FF2B5EF4-FFF2-40B4-BE49-F238E27FC236}">
                <a16:creationId xmlns:a16="http://schemas.microsoft.com/office/drawing/2014/main" id="{38D6B767-13C2-4DAC-8026-DD6E9013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2226">
            <a:extLst xmlns:a="http://schemas.openxmlformats.org/drawingml/2006/main">
              <a:ext uri="{FF2B5EF4-FFF2-40B4-BE49-F238E27FC236}">
                <a16:creationId xmlns:a16="http://schemas.microsoft.com/office/drawing/2014/main" id="{1512914A-9F25-4797-A3B8-705D2F89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第 3 週</a:t>
            </a:r>
          </a:p>
        </p:txBody>
      </p:sp>
      <p:sp>
        <p:nvSpPr>
          <p:cNvPr id="17" name="text-2227">
            <a:extLst xmlns:a="http://schemas.openxmlformats.org/drawingml/2006/main">
              <a:ext uri="{FF2B5EF4-FFF2-40B4-BE49-F238E27FC236}">
                <a16:creationId xmlns:a16="http://schemas.microsoft.com/office/drawing/2014/main" id="{BDDC2A63-4CBB-456F-93E3-98218561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給同儕</a:t>
            </a:r>
          </a:p>
        </p:txBody>
      </p:sp>
      <p:sp>
        <p:nvSpPr>
          <p:cNvPr id="18" name="text-2228">
            <a:extLst xmlns:a="http://schemas.openxmlformats.org/drawingml/2006/main">
              <a:ext uri="{FF2B5EF4-FFF2-40B4-BE49-F238E27FC236}">
                <a16:creationId xmlns:a16="http://schemas.microsoft.com/office/drawing/2014/main" id="{0DE2F209-643A-47CC-9101-62A4C0A2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找 1 人盲測</a:t>
            </a:r>
          </a:p>
        </p:txBody>
      </p:sp>
      <p:sp>
        <p:nvSpPr>
          <p:cNvPr id="19" name="shape-2229">
            <a:extLst xmlns:a="http://schemas.openxmlformats.org/drawingml/2006/main">
              <a:ext uri="{FF2B5EF4-FFF2-40B4-BE49-F238E27FC236}">
                <a16:creationId xmlns:a16="http://schemas.microsoft.com/office/drawing/2014/main" id="{B8ED9572-4370-4881-93B5-DA7FE3A6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2230">
            <a:extLst xmlns:a="http://schemas.openxmlformats.org/drawingml/2006/main">
              <a:ext uri="{FF2B5EF4-FFF2-40B4-BE49-F238E27FC236}">
                <a16:creationId xmlns:a16="http://schemas.microsoft.com/office/drawing/2014/main" id="{2C2726C8-99DC-4DBB-87D9-016426C7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第 4 週</a:t>
            </a:r>
          </a:p>
        </p:txBody>
      </p:sp>
      <p:sp>
        <p:nvSpPr>
          <p:cNvPr id="21" name="text-2231">
            <a:extLst xmlns:a="http://schemas.openxmlformats.org/drawingml/2006/main">
              <a:ext uri="{FF2B5EF4-FFF2-40B4-BE49-F238E27FC236}">
                <a16:creationId xmlns:a16="http://schemas.microsoft.com/office/drawing/2014/main" id="{9ADD49D4-8B24-45B7-A7CC-18663863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修 Skill</a:t>
            </a:r>
          </a:p>
        </p:txBody>
      </p:sp>
      <p:sp>
        <p:nvSpPr>
          <p:cNvPr id="22" name="text-2232">
            <a:extLst xmlns:a="http://schemas.openxmlformats.org/drawingml/2006/main">
              <a:ext uri="{FF2B5EF4-FFF2-40B4-BE49-F238E27FC236}">
                <a16:creationId xmlns:a16="http://schemas.microsoft.com/office/drawing/2014/main" id="{B972F1F8-5286-4379-9162-910AE5E7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補規則與範例</a:t>
            </a:r>
          </a:p>
        </p:txBody>
      </p:sp>
      <p:sp>
        <p:nvSpPr>
          <p:cNvPr id="23" name="shape-2233">
            <a:extLst xmlns:a="http://schemas.openxmlformats.org/drawingml/2006/main">
              <a:ext uri="{FF2B5EF4-FFF2-40B4-BE49-F238E27FC236}">
                <a16:creationId xmlns:a16="http://schemas.microsoft.com/office/drawing/2014/main" id="{AFAF8EF4-139E-4976-AC58-A27410B7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2234">
            <a:extLst xmlns:a="http://schemas.openxmlformats.org/drawingml/2006/main">
              <a:ext uri="{FF2B5EF4-FFF2-40B4-BE49-F238E27FC236}">
                <a16:creationId xmlns:a16="http://schemas.microsoft.com/office/drawing/2014/main" id="{AB02E172-7398-4FCF-98F0-F104F207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第 30 天</a:t>
            </a:r>
          </a:p>
        </p:txBody>
      </p:sp>
      <p:sp>
        <p:nvSpPr>
          <p:cNvPr id="25" name="text-2235">
            <a:extLst xmlns:a="http://schemas.openxmlformats.org/drawingml/2006/main">
              <a:ext uri="{FF2B5EF4-FFF2-40B4-BE49-F238E27FC236}">
                <a16:creationId xmlns:a16="http://schemas.microsoft.com/office/drawing/2014/main" id="{BD9FA7FB-A2CC-4ABB-B83E-B6978052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決定</a:t>
            </a:r>
          </a:p>
        </p:txBody>
      </p:sp>
      <p:sp>
        <p:nvSpPr>
          <p:cNvPr id="26" name="text-2236">
            <a:extLst xmlns:a="http://schemas.openxmlformats.org/drawingml/2006/main">
              <a:ext uri="{FF2B5EF4-FFF2-40B4-BE49-F238E27FC236}">
                <a16:creationId xmlns:a16="http://schemas.microsoft.com/office/drawing/2014/main" id="{24B8AB01-BBE8-48A0-A578-942EB8CB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採用、修改或淘汰</a:t>
            </a:r>
          </a:p>
        </p:txBody>
      </p:sp>
      <p:sp>
        <p:nvSpPr>
          <p:cNvPr id="27" name="text-2423">
            <a:extLst xmlns:a="http://schemas.openxmlformats.org/drawingml/2006/main">
              <a:ext uri="{FF2B5EF4-FFF2-40B4-BE49-F238E27FC236}">
                <a16:creationId xmlns:a16="http://schemas.microsoft.com/office/drawing/2014/main" id="{E848521F-030D-4C38-896E-E0A43053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27f4c1ad0de24ae4"/>
              </a:rPr>
              <a:t>Antigravity ↗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08dd751b7fc84123"/>
              </a:rPr>
              <a:t>Codex ↗</a:t>
            </a:r>
          </a:p>
        </p:txBody>
      </p:sp>
      <p:sp>
        <p:nvSpPr>
          <p:cNvPr id="28" name="shape-2562">
            <a:extLst xmlns:a="http://schemas.openxmlformats.org/drawingml/2006/main">
              <a:ext uri="{FF2B5EF4-FFF2-40B4-BE49-F238E27FC236}">
                <a16:creationId xmlns:a16="http://schemas.microsoft.com/office/drawing/2014/main" id="{A564196C-74D3-4E35-8150-D30B887B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dabc7a679646ae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30" name="text-2563">
            <a:extLst xmlns:a="http://schemas.openxmlformats.org/drawingml/2006/main">
              <a:ext uri="{FF2B5EF4-FFF2-40B4-BE49-F238E27FC236}">
                <a16:creationId xmlns:a16="http://schemas.microsoft.com/office/drawing/2014/main" id="{5F862DB4-B176-439E-A8D0-B47E7CC5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6cf67e429f42f6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32" name="text-2564">
            <a:extLst xmlns:a="http://schemas.openxmlformats.org/drawingml/2006/main">
              <a:ext uri="{FF2B5EF4-FFF2-40B4-BE49-F238E27FC236}">
                <a16:creationId xmlns:a16="http://schemas.microsoft.com/office/drawing/2014/main" id="{A2703ED7-9DBF-4258-995D-66F90C76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</a:t>
            </a:r>
          </a:p>
        </p:txBody>
      </p:sp>
    </p:spTree>
    <p:extLst>
      <p:ext uri="{BB962C8B-B14F-4D97-AF65-F5344CB8AC3E}">
        <p14:creationId xmlns:p14="http://schemas.microsoft.com/office/powerpoint/2010/main" val="832685986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2237">
            <a:extLst xmlns:a="http://schemas.openxmlformats.org/drawingml/2006/main">
              <a:ext uri="{FF2B5EF4-FFF2-40B4-BE49-F238E27FC236}">
                <a16:creationId xmlns:a16="http://schemas.microsoft.com/office/drawing/2014/main" id="{6752AE86-41B7-4236-9EEC-FD6A2EA0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FROM ASSISTANT TO SUPERPOWER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A9EA9A-0DA3-4505-B0A3-A7AFA1A0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Agent 時代：我們像擁有了超能力</a:t>
            </a:r>
          </a:p>
        </p:txBody>
      </p:sp>
      <p:cxnSp>
        <p:nvCxnSpPr>
          <p:cNvPr id="24" name="shape-2238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2239">
            <a:extLst xmlns:a="http://schemas.openxmlformats.org/drawingml/2006/main">
              <a:ext uri="{FF2B5EF4-FFF2-40B4-BE49-F238E27FC236}">
                <a16:creationId xmlns:a16="http://schemas.microsoft.com/office/drawing/2014/main" id="{86FD8DE3-17F5-476D-9BAC-80248E66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DA88CA4-F017-4943-897D-7CAE4F77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62</a:t>
            </a:r>
          </a:p>
        </p:txBody>
      </p:sp>
      <p:sp>
        <p:nvSpPr>
          <p:cNvPr id="6" name="shape-2240">
            <a:extLst xmlns:a="http://schemas.openxmlformats.org/drawingml/2006/main">
              <a:ext uri="{FF2B5EF4-FFF2-40B4-BE49-F238E27FC236}">
                <a16:creationId xmlns:a16="http://schemas.microsoft.com/office/drawing/2014/main" id="{EAB26B64-B0EA-4CE2-AA2C-7D84AD48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2241">
            <a:extLst xmlns:a="http://schemas.openxmlformats.org/drawingml/2006/main">
              <a:ext uri="{FF2B5EF4-FFF2-40B4-BE49-F238E27FC236}">
                <a16:creationId xmlns:a16="http://schemas.microsoft.com/office/drawing/2014/main" id="{E4D324CE-89B7-478A-887F-D0AA34E8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2242">
            <a:extLst xmlns:a="http://schemas.openxmlformats.org/drawingml/2006/main">
              <a:ext uri="{FF2B5EF4-FFF2-40B4-BE49-F238E27FC236}">
                <a16:creationId xmlns:a16="http://schemas.microsoft.com/office/drawing/2014/main" id="{09535EBA-896B-4531-9061-26B4EB5D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能力被放大</a:t>
            </a:r>
          </a:p>
        </p:txBody>
      </p:sp>
      <p:sp>
        <p:nvSpPr>
          <p:cNvPr id="9" name="text-2243">
            <a:extLst xmlns:a="http://schemas.openxmlformats.org/drawingml/2006/main">
              <a:ext uri="{FF2B5EF4-FFF2-40B4-BE49-F238E27FC236}">
                <a16:creationId xmlns:a16="http://schemas.microsoft.com/office/drawing/2014/main" id="{42F051A6-D9D1-489D-AF5C-D1DDA1E4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完成以前想不到自己做得到的事，從執行者變成能推進整個工作的人。</a:t>
            </a:r>
          </a:p>
        </p:txBody>
      </p:sp>
      <p:sp>
        <p:nvSpPr>
          <p:cNvPr id="10" name="shape-2244">
            <a:extLst xmlns:a="http://schemas.openxmlformats.org/drawingml/2006/main">
              <a:ext uri="{FF2B5EF4-FFF2-40B4-BE49-F238E27FC236}">
                <a16:creationId xmlns:a16="http://schemas.microsoft.com/office/drawing/2014/main" id="{8845412B-998B-4B9D-B40F-B7251615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2245">
            <a:extLst xmlns:a="http://schemas.openxmlformats.org/drawingml/2006/main">
              <a:ext uri="{FF2B5EF4-FFF2-40B4-BE49-F238E27FC236}">
                <a16:creationId xmlns:a16="http://schemas.microsoft.com/office/drawing/2014/main" id="{8A38025C-781D-4474-B4B5-3A92789F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2246">
            <a:extLst xmlns:a="http://schemas.openxmlformats.org/drawingml/2006/main">
              <a:ext uri="{FF2B5EF4-FFF2-40B4-BE49-F238E27FC236}">
                <a16:creationId xmlns:a16="http://schemas.microsoft.com/office/drawing/2014/main" id="{A78C6282-9F34-4E80-B140-E54E78D3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新的可能感</a:t>
            </a:r>
          </a:p>
        </p:txBody>
      </p:sp>
      <p:sp>
        <p:nvSpPr>
          <p:cNvPr id="13" name="text-2247">
            <a:extLst xmlns:a="http://schemas.openxmlformats.org/drawingml/2006/main">
              <a:ext uri="{FF2B5EF4-FFF2-40B4-BE49-F238E27FC236}">
                <a16:creationId xmlns:a16="http://schemas.microsoft.com/office/drawing/2014/main" id="{FB0B6198-E308-4456-8769-800A6BB0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「沒有你做不到的事，只有你想不到的事」成為一種強烈的行動感。</a:t>
            </a:r>
          </a:p>
        </p:txBody>
      </p:sp>
      <p:sp>
        <p:nvSpPr>
          <p:cNvPr id="14" name="shape-2248">
            <a:extLst xmlns:a="http://schemas.openxmlformats.org/drawingml/2006/main">
              <a:ext uri="{FF2B5EF4-FFF2-40B4-BE49-F238E27FC236}">
                <a16:creationId xmlns:a16="http://schemas.microsoft.com/office/drawing/2014/main" id="{490C668B-BE57-45CE-A5BE-5DC3A1E0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2249">
            <a:extLst xmlns:a="http://schemas.openxmlformats.org/drawingml/2006/main">
              <a:ext uri="{FF2B5EF4-FFF2-40B4-BE49-F238E27FC236}">
                <a16:creationId xmlns:a16="http://schemas.microsoft.com/office/drawing/2014/main" id="{837CD949-D56F-476E-828F-F66E6C1A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2250">
            <a:extLst xmlns:a="http://schemas.openxmlformats.org/drawingml/2006/main">
              <a:ext uri="{FF2B5EF4-FFF2-40B4-BE49-F238E27FC236}">
                <a16:creationId xmlns:a16="http://schemas.microsoft.com/office/drawing/2014/main" id="{38CB89DD-922C-4944-8547-36D5E0AC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一個人也能做大事</a:t>
            </a:r>
          </a:p>
        </p:txBody>
      </p:sp>
      <p:sp>
        <p:nvSpPr>
          <p:cNvPr id="17" name="text-2251">
            <a:extLst xmlns:a="http://schemas.openxmlformats.org/drawingml/2006/main">
              <a:ext uri="{FF2B5EF4-FFF2-40B4-BE49-F238E27FC236}">
                <a16:creationId xmlns:a16="http://schemas.microsoft.com/office/drawing/2014/main" id="{3E395949-0363-4259-99BF-C7E72FC3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講者觀察：一人公司、一人獨角獸的想像，正被 Agent 重新打開。</a:t>
            </a:r>
          </a:p>
        </p:txBody>
      </p:sp>
      <p:sp>
        <p:nvSpPr>
          <p:cNvPr id="18" name="shape-2252">
            <a:extLst xmlns:a="http://schemas.openxmlformats.org/drawingml/2006/main">
              <a:ext uri="{FF2B5EF4-FFF2-40B4-BE49-F238E27FC236}">
                <a16:creationId xmlns:a16="http://schemas.microsoft.com/office/drawing/2014/main" id="{93A534CE-8488-4CD9-9C4E-C2670261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2253">
            <a:extLst xmlns:a="http://schemas.openxmlformats.org/drawingml/2006/main">
              <a:ext uri="{FF2B5EF4-FFF2-40B4-BE49-F238E27FC236}">
                <a16:creationId xmlns:a16="http://schemas.microsoft.com/office/drawing/2014/main" id="{C563FF5B-7783-4FE0-9364-180F19E6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2254">
            <a:extLst xmlns:a="http://schemas.openxmlformats.org/drawingml/2006/main">
              <a:ext uri="{FF2B5EF4-FFF2-40B4-BE49-F238E27FC236}">
                <a16:creationId xmlns:a16="http://schemas.microsoft.com/office/drawing/2014/main" id="{59090E9B-CFE5-4081-9724-CDD99F37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能力不等於責任全包</a:t>
            </a:r>
          </a:p>
        </p:txBody>
      </p:sp>
      <p:sp>
        <p:nvSpPr>
          <p:cNvPr id="21" name="text-2255">
            <a:extLst xmlns:a="http://schemas.openxmlformats.org/drawingml/2006/main">
              <a:ext uri="{FF2B5EF4-FFF2-40B4-BE49-F238E27FC236}">
                <a16:creationId xmlns:a16="http://schemas.microsoft.com/office/drawing/2014/main" id="{56C1A4BC-5A25-4F4A-A747-990BE209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力量變大之後，更要重新決定哪些事值得做、哪些事可以放下。</a:t>
            </a:r>
          </a:p>
        </p:txBody>
      </p:sp>
    </p:spTree>
    <p:extLst>
      <p:ext uri="{BB962C8B-B14F-4D97-AF65-F5344CB8AC3E}">
        <p14:creationId xmlns:p14="http://schemas.microsoft.com/office/powerpoint/2010/main" val="1097142484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2256">
            <a:extLst xmlns:a="http://schemas.openxmlformats.org/drawingml/2006/main">
              <a:ext uri="{FF2B5EF4-FFF2-40B4-BE49-F238E27FC236}">
                <a16:creationId xmlns:a16="http://schemas.microsoft.com/office/drawing/2014/main" id="{92C45E22-7B1D-4ED1-B926-CAF7E924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DISCOVERY &amp; DOPAMINE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2E1B59-23D1-4C0D-8AA7-B524BF29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從「做不到」到「我可以」：一人公司的多巴胺時代</a:t>
            </a:r>
          </a:p>
        </p:txBody>
      </p:sp>
      <p:cxnSp>
        <p:nvCxnSpPr>
          <p:cNvPr id="14" name="shape-2257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2258">
            <a:extLst xmlns:a="http://schemas.openxmlformats.org/drawingml/2006/main">
              <a:ext uri="{FF2B5EF4-FFF2-40B4-BE49-F238E27FC236}">
                <a16:creationId xmlns:a16="http://schemas.microsoft.com/office/drawing/2014/main" id="{5B5A99DD-A502-4F6C-9D8E-FBDA62BA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FB95C5B-E565-4A06-A0E7-A5F14143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63</a:t>
            </a:r>
          </a:p>
        </p:txBody>
      </p:sp>
      <p:sp>
        <p:nvSpPr>
          <p:cNvPr id="6" name="shape-2259">
            <a:extLst xmlns:a="http://schemas.openxmlformats.org/drawingml/2006/main">
              <a:ext uri="{FF2B5EF4-FFF2-40B4-BE49-F238E27FC236}">
                <a16:creationId xmlns:a16="http://schemas.microsoft.com/office/drawing/2014/main" id="{CD904C5B-8992-4890-AEB4-DDDC1B96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3625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shape-2260">
            <a:extLst xmlns:a="http://schemas.openxmlformats.org/drawingml/2006/main">
              <a:ext uri="{FF2B5EF4-FFF2-40B4-BE49-F238E27FC236}">
                <a16:creationId xmlns:a16="http://schemas.microsoft.com/office/drawing/2014/main" id="{D91D554F-5628-4BE6-B124-EA024A29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676400"/>
            <a:ext cx="55911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8" name="text-2261">
            <a:extLst xmlns:a="http://schemas.openxmlformats.org/drawingml/2006/main">
              <a:ext uri="{FF2B5EF4-FFF2-40B4-BE49-F238E27FC236}">
                <a16:creationId xmlns:a16="http://schemas.microsoft.com/office/drawing/2014/main" id="{B1463958-0F49-42D8-92E1-EA50DA55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791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被打開的新大陸</a:t>
            </a:r>
          </a:p>
        </p:txBody>
      </p:sp>
      <p:sp>
        <p:nvSpPr>
          <p:cNvPr id="9" name="text-2262">
            <a:extLst xmlns:a="http://schemas.openxmlformats.org/drawingml/2006/main">
              <a:ext uri="{FF2B5EF4-FFF2-40B4-BE49-F238E27FC236}">
                <a16:creationId xmlns:a16="http://schemas.microsoft.com/office/drawing/2014/main" id="{A074F3DD-2FF4-456F-A6F2-1897C076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47910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以前沒有 AI 的時候，我們常做到這裡就好。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有了 AI Agent，原本以為做不到的事，忽然可以拆解、委派、測試，再一步步完成。</a:t>
            </a:r>
          </a:p>
        </p:txBody>
      </p:sp>
      <p:sp>
        <p:nvSpPr>
          <p:cNvPr id="10" name="text-2263">
            <a:extLst xmlns:a="http://schemas.openxmlformats.org/drawingml/2006/main">
              <a:ext uri="{FF2B5EF4-FFF2-40B4-BE49-F238E27FC236}">
                <a16:creationId xmlns:a16="http://schemas.microsoft.com/office/drawing/2014/main" id="{DE904377-5B43-4C12-B86E-BBA67BE4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00250"/>
            <a:ext cx="4981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能力變強的代價</a:t>
            </a:r>
          </a:p>
        </p:txBody>
      </p:sp>
      <p:sp>
        <p:nvSpPr>
          <p:cNvPr id="11" name="text-2264">
            <a:extLst xmlns:a="http://schemas.openxmlformats.org/drawingml/2006/main">
              <a:ext uri="{FF2B5EF4-FFF2-40B4-BE49-F238E27FC236}">
                <a16:creationId xmlns:a16="http://schemas.microsoft.com/office/drawing/2014/main" id="{93C947AD-BC9A-45C7-B075-A5107426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81300"/>
            <a:ext cx="49815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發現自己還能做更多，會產生強烈的成就感與興奮感。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但如果沒有停下來重新選擇，可能把每一個新可能都變成新的待辦事項。</a:t>
            </a:r>
          </a:p>
        </p:txBody>
      </p:sp>
    </p:spTree>
    <p:extLst>
      <p:ext uri="{BB962C8B-B14F-4D97-AF65-F5344CB8AC3E}">
        <p14:creationId xmlns:p14="http://schemas.microsoft.com/office/powerpoint/2010/main" val="819099775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2265">
            <a:extLst xmlns:a="http://schemas.openxmlformats.org/drawingml/2006/main">
              <a:ext uri="{FF2B5EF4-FFF2-40B4-BE49-F238E27FC236}">
                <a16:creationId xmlns:a16="http://schemas.microsoft.com/office/drawing/2014/main" id="{73370229-4178-4A69-970B-8D03F172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THE PRODUCTIVITY PARADOX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08EDAC-9453-4567-AFBE-E3F2EB86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效率提升 20 倍，為什麼人反而更忙？</a:t>
            </a:r>
          </a:p>
        </p:txBody>
      </p:sp>
      <p:cxnSp>
        <p:nvCxnSpPr>
          <p:cNvPr id="24" name="shape-2266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2267">
            <a:extLst xmlns:a="http://schemas.openxmlformats.org/drawingml/2006/main">
              <a:ext uri="{FF2B5EF4-FFF2-40B4-BE49-F238E27FC236}">
                <a16:creationId xmlns:a16="http://schemas.microsoft.com/office/drawing/2014/main" id="{7A917865-90D3-4C7B-9593-80529709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901E085-6E79-4CA3-BDD5-F1A31A4F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64</a:t>
            </a:r>
          </a:p>
        </p:txBody>
      </p:sp>
      <p:sp>
        <p:nvSpPr>
          <p:cNvPr id="6" name="shape-2268">
            <a:extLst xmlns:a="http://schemas.openxmlformats.org/drawingml/2006/main">
              <a:ext uri="{FF2B5EF4-FFF2-40B4-BE49-F238E27FC236}">
                <a16:creationId xmlns:a16="http://schemas.microsoft.com/office/drawing/2014/main" id="{F8F78336-89A6-4821-9C78-17FF38CE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2269">
            <a:extLst xmlns:a="http://schemas.openxmlformats.org/drawingml/2006/main">
              <a:ext uri="{FF2B5EF4-FFF2-40B4-BE49-F238E27FC236}">
                <a16:creationId xmlns:a16="http://schemas.microsoft.com/office/drawing/2014/main" id="{8B75F431-E4ED-4A3D-96E4-18988270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2270">
            <a:extLst xmlns:a="http://schemas.openxmlformats.org/drawingml/2006/main">
              <a:ext uri="{FF2B5EF4-FFF2-40B4-BE49-F238E27FC236}">
                <a16:creationId xmlns:a16="http://schemas.microsoft.com/office/drawing/2014/main" id="{98BF0290-0D71-4144-9317-3F85FBF3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時間真的變多了</a:t>
            </a:r>
          </a:p>
        </p:txBody>
      </p:sp>
      <p:sp>
        <p:nvSpPr>
          <p:cNvPr id="9" name="text-2271">
            <a:extLst xmlns:a="http://schemas.openxmlformats.org/drawingml/2006/main">
              <a:ext uri="{FF2B5EF4-FFF2-40B4-BE49-F238E27FC236}">
                <a16:creationId xmlns:a16="http://schemas.microsoft.com/office/drawing/2014/main" id="{8533C174-9B7D-497C-9EC3-E2D8BBF0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一件事可能只需要原本 1/10 甚至 1/20 的時間，效率提升至少 20 倍。</a:t>
            </a:r>
          </a:p>
        </p:txBody>
      </p:sp>
      <p:sp>
        <p:nvSpPr>
          <p:cNvPr id="10" name="shape-2272">
            <a:extLst xmlns:a="http://schemas.openxmlformats.org/drawingml/2006/main">
              <a:ext uri="{FF2B5EF4-FFF2-40B4-BE49-F238E27FC236}">
                <a16:creationId xmlns:a16="http://schemas.microsoft.com/office/drawing/2014/main" id="{094306B1-6946-4296-AD13-3B9C1775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2273">
            <a:extLst xmlns:a="http://schemas.openxmlformats.org/drawingml/2006/main">
              <a:ext uri="{FF2B5EF4-FFF2-40B4-BE49-F238E27FC236}">
                <a16:creationId xmlns:a16="http://schemas.microsoft.com/office/drawing/2014/main" id="{3F9D1C1D-59BD-4597-9D59-6E624DFB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2274">
            <a:extLst xmlns:a="http://schemas.openxmlformats.org/drawingml/2006/main">
              <a:ext uri="{FF2B5EF4-FFF2-40B4-BE49-F238E27FC236}">
                <a16:creationId xmlns:a16="http://schemas.microsoft.com/office/drawing/2014/main" id="{2C5B73C1-CD13-4556-9433-27CA4540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任務也跟著膨脹</a:t>
            </a:r>
          </a:p>
        </p:txBody>
      </p:sp>
      <p:sp>
        <p:nvSpPr>
          <p:cNvPr id="13" name="text-2275">
            <a:extLst xmlns:a="http://schemas.openxmlformats.org/drawingml/2006/main">
              <a:ext uri="{FF2B5EF4-FFF2-40B4-BE49-F238E27FC236}">
                <a16:creationId xmlns:a16="http://schemas.microsoft.com/office/drawing/2014/main" id="{8116700E-B64D-4D19-99A1-55BBB804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省下來的時間，常被拿去安排更多優化、改良、版本與新點子。</a:t>
            </a:r>
          </a:p>
        </p:txBody>
      </p:sp>
      <p:sp>
        <p:nvSpPr>
          <p:cNvPr id="14" name="shape-2276">
            <a:extLst xmlns:a="http://schemas.openxmlformats.org/drawingml/2006/main">
              <a:ext uri="{FF2B5EF4-FFF2-40B4-BE49-F238E27FC236}">
                <a16:creationId xmlns:a16="http://schemas.microsoft.com/office/drawing/2014/main" id="{0E86772A-444A-42F4-8B8E-367A942B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2277">
            <a:extLst xmlns:a="http://schemas.openxmlformats.org/drawingml/2006/main">
              <a:ext uri="{FF2B5EF4-FFF2-40B4-BE49-F238E27FC236}">
                <a16:creationId xmlns:a16="http://schemas.microsoft.com/office/drawing/2014/main" id="{CBCC0553-7834-4ABE-8956-F48E1CCD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2278">
            <a:extLst xmlns:a="http://schemas.openxmlformats.org/drawingml/2006/main">
              <a:ext uri="{FF2B5EF4-FFF2-40B4-BE49-F238E27FC236}">
                <a16:creationId xmlns:a16="http://schemas.microsoft.com/office/drawing/2014/main" id="{EBD9A85B-723B-4069-A994-EF461CF1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忙不是 Agent 的錯</a:t>
            </a:r>
          </a:p>
        </p:txBody>
      </p:sp>
      <p:sp>
        <p:nvSpPr>
          <p:cNvPr id="17" name="text-2279">
            <a:extLst xmlns:a="http://schemas.openxmlformats.org/drawingml/2006/main">
              <a:ext uri="{FF2B5EF4-FFF2-40B4-BE49-F238E27FC236}">
                <a16:creationId xmlns:a16="http://schemas.microsoft.com/office/drawing/2014/main" id="{E1196DB8-AF56-4064-B524-AA50FA9A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真正需要檢查的是：我們是否把所有能做的事，都誤認成應該做的事？</a:t>
            </a:r>
          </a:p>
        </p:txBody>
      </p:sp>
      <p:sp>
        <p:nvSpPr>
          <p:cNvPr id="18" name="shape-2280">
            <a:extLst xmlns:a="http://schemas.openxmlformats.org/drawingml/2006/main">
              <a:ext uri="{FF2B5EF4-FFF2-40B4-BE49-F238E27FC236}">
                <a16:creationId xmlns:a16="http://schemas.microsoft.com/office/drawing/2014/main" id="{52A80E10-5DF1-4018-A7E5-ADC09C84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2281">
            <a:extLst xmlns:a="http://schemas.openxmlformats.org/drawingml/2006/main">
              <a:ext uri="{FF2B5EF4-FFF2-40B4-BE49-F238E27FC236}">
                <a16:creationId xmlns:a16="http://schemas.microsoft.com/office/drawing/2014/main" id="{3BFA792D-F856-4867-964E-D3C6251E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2282">
            <a:extLst xmlns:a="http://schemas.openxmlformats.org/drawingml/2006/main">
              <a:ext uri="{FF2B5EF4-FFF2-40B4-BE49-F238E27FC236}">
                <a16:creationId xmlns:a16="http://schemas.microsoft.com/office/drawing/2014/main" id="{15FCA8B7-3FAA-4F0C-B8A0-32B70212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重新定義完成</a:t>
            </a:r>
          </a:p>
        </p:txBody>
      </p:sp>
      <p:sp>
        <p:nvSpPr>
          <p:cNvPr id="21" name="text-2283">
            <a:extLst xmlns:a="http://schemas.openxmlformats.org/drawingml/2006/main">
              <a:ext uri="{FF2B5EF4-FFF2-40B4-BE49-F238E27FC236}">
                <a16:creationId xmlns:a16="http://schemas.microsoft.com/office/drawing/2014/main" id="{7C282A47-693A-483D-8082-7F8A4A6B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完成不只是做得更快，也包括知道何時停止、休息與把時間交還給生活。</a:t>
            </a:r>
          </a:p>
        </p:txBody>
      </p:sp>
    </p:spTree>
    <p:extLst>
      <p:ext uri="{BB962C8B-B14F-4D97-AF65-F5344CB8AC3E}">
        <p14:creationId xmlns:p14="http://schemas.microsoft.com/office/powerpoint/2010/main" val="1346502211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2284">
            <a:extLst xmlns:a="http://schemas.openxmlformats.org/drawingml/2006/main">
              <a:ext uri="{FF2B5EF4-FFF2-40B4-BE49-F238E27FC236}">
                <a16:creationId xmlns:a16="http://schemas.microsoft.com/office/drawing/2014/main" id="{BCBD376A-0AB7-4950-923E-D7FAD5EC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WHO IS HARNESSING WHOM?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60003B-71C1-469B-AD59-9B5248AC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誰在駕馭誰？Harness 的人生反思</a:t>
            </a:r>
          </a:p>
        </p:txBody>
      </p:sp>
      <p:cxnSp>
        <p:nvCxnSpPr>
          <p:cNvPr id="14" name="shape-2285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2286">
            <a:extLst xmlns:a="http://schemas.openxmlformats.org/drawingml/2006/main">
              <a:ext uri="{FF2B5EF4-FFF2-40B4-BE49-F238E27FC236}">
                <a16:creationId xmlns:a16="http://schemas.microsoft.com/office/drawing/2014/main" id="{3416FD0B-80D4-430F-BC49-B6FB8E2A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F70A1CE-79CA-4125-92A0-C511803F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65</a:t>
            </a:r>
          </a:p>
        </p:txBody>
      </p:sp>
      <p:sp>
        <p:nvSpPr>
          <p:cNvPr id="6" name="shape-2287">
            <a:extLst xmlns:a="http://schemas.openxmlformats.org/drawingml/2006/main">
              <a:ext uri="{FF2B5EF4-FFF2-40B4-BE49-F238E27FC236}">
                <a16:creationId xmlns:a16="http://schemas.microsoft.com/office/drawing/2014/main" id="{98BD3842-2B70-426F-BD70-D0AF0755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3625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shape-2288">
            <a:extLst xmlns:a="http://schemas.openxmlformats.org/drawingml/2006/main">
              <a:ext uri="{FF2B5EF4-FFF2-40B4-BE49-F238E27FC236}">
                <a16:creationId xmlns:a16="http://schemas.microsoft.com/office/drawing/2014/main" id="{A665DB6F-5846-4D66-ACCE-0937CA3C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676400"/>
            <a:ext cx="55911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8" name="text-2289">
            <a:extLst xmlns:a="http://schemas.openxmlformats.org/drawingml/2006/main">
              <a:ext uri="{FF2B5EF4-FFF2-40B4-BE49-F238E27FC236}">
                <a16:creationId xmlns:a16="http://schemas.microsoft.com/office/drawing/2014/main" id="{4878357D-1601-48CE-973B-A9F3D03A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791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我們原本的說法</a:t>
            </a:r>
          </a:p>
        </p:txBody>
      </p:sp>
      <p:sp>
        <p:nvSpPr>
          <p:cNvPr id="9" name="text-2290">
            <a:extLst xmlns:a="http://schemas.openxmlformats.org/drawingml/2006/main">
              <a:ext uri="{FF2B5EF4-FFF2-40B4-BE49-F238E27FC236}">
                <a16:creationId xmlns:a16="http://schemas.microsoft.com/office/drawing/2014/main" id="{96FFFFA7-5322-4AFE-BD8B-D20542E6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47910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我們說要 harness Agent：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駕馭它、指派它、讓它長時間不中斷地完成工作。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人的目標、界線與最後決定，應該留在人的手上。</a:t>
            </a:r>
          </a:p>
        </p:txBody>
      </p:sp>
      <p:sp>
        <p:nvSpPr>
          <p:cNvPr id="10" name="text-2291">
            <a:extLst xmlns:a="http://schemas.openxmlformats.org/drawingml/2006/main">
              <a:ext uri="{FF2B5EF4-FFF2-40B4-BE49-F238E27FC236}">
                <a16:creationId xmlns:a16="http://schemas.microsoft.com/office/drawing/2014/main" id="{A0E28E8A-9E91-46C6-B436-8ECCE27B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00250"/>
            <a:ext cx="4981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可能發生的反轉</a:t>
            </a:r>
          </a:p>
        </p:txBody>
      </p:sp>
      <p:sp>
        <p:nvSpPr>
          <p:cNvPr id="11" name="text-2292">
            <a:extLst xmlns:a="http://schemas.openxmlformats.org/drawingml/2006/main">
              <a:ext uri="{FF2B5EF4-FFF2-40B4-BE49-F238E27FC236}">
                <a16:creationId xmlns:a16="http://schemas.microsoft.com/office/drawing/2014/main" id="{EBAB96F3-D3E5-408C-983C-DA90EC3B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81300"/>
            <a:ext cx="49815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如果 Agent 讓我們攬下更多任務，日夜追逐下一個優化，明明是我們在使用工具，生活卻開始被工具的可能性牽著走。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這就是「誰在駕馭誰？」的提醒。</a:t>
            </a:r>
          </a:p>
        </p:txBody>
      </p:sp>
    </p:spTree>
    <p:extLst>
      <p:ext uri="{BB962C8B-B14F-4D97-AF65-F5344CB8AC3E}">
        <p14:creationId xmlns:p14="http://schemas.microsoft.com/office/powerpoint/2010/main" val="680384399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2293">
            <a:extLst xmlns:a="http://schemas.openxmlformats.org/drawingml/2006/main">
              <a:ext uri="{FF2B5EF4-FFF2-40B4-BE49-F238E27FC236}">
                <a16:creationId xmlns:a16="http://schemas.microsoft.com/office/drawing/2014/main" id="{EA8661C0-2F22-480A-A7BE-B9A43830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POWER &amp; EMOTIONAL VALUE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DCCD38-423F-45E4-B816-A99F316C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Agent 帶來強大能力，也帶來情緒價值</a:t>
            </a:r>
          </a:p>
        </p:txBody>
      </p:sp>
      <p:cxnSp>
        <p:nvCxnSpPr>
          <p:cNvPr id="24" name="shape-2294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2295">
            <a:extLst xmlns:a="http://schemas.openxmlformats.org/drawingml/2006/main">
              <a:ext uri="{FF2B5EF4-FFF2-40B4-BE49-F238E27FC236}">
                <a16:creationId xmlns:a16="http://schemas.microsoft.com/office/drawing/2014/main" id="{326863F6-300C-4022-AEDC-0F9B4618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2E4BB24-D515-422F-BB48-6BF74E13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66</a:t>
            </a:r>
          </a:p>
        </p:txBody>
      </p:sp>
      <p:sp>
        <p:nvSpPr>
          <p:cNvPr id="6" name="shape-2296">
            <a:extLst xmlns:a="http://schemas.openxmlformats.org/drawingml/2006/main">
              <a:ext uri="{FF2B5EF4-FFF2-40B4-BE49-F238E27FC236}">
                <a16:creationId xmlns:a16="http://schemas.microsoft.com/office/drawing/2014/main" id="{DC49F8F6-1378-47D7-A605-7101DA37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2297">
            <a:extLst xmlns:a="http://schemas.openxmlformats.org/drawingml/2006/main">
              <a:ext uri="{FF2B5EF4-FFF2-40B4-BE49-F238E27FC236}">
                <a16:creationId xmlns:a16="http://schemas.microsoft.com/office/drawing/2014/main" id="{DB39ECB6-BAEB-4CB5-B341-03407DFF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2298">
            <a:extLst xmlns:a="http://schemas.openxmlformats.org/drawingml/2006/main">
              <a:ext uri="{FF2B5EF4-FFF2-40B4-BE49-F238E27FC236}">
                <a16:creationId xmlns:a16="http://schemas.microsoft.com/office/drawing/2014/main" id="{DD7D8425-5EDD-467C-BF50-38EE0AC1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不用先是主管</a:t>
            </a:r>
          </a:p>
        </p:txBody>
      </p:sp>
      <p:sp>
        <p:nvSpPr>
          <p:cNvPr id="9" name="text-2299">
            <a:extLst xmlns:a="http://schemas.openxmlformats.org/drawingml/2006/main">
              <a:ext uri="{FF2B5EF4-FFF2-40B4-BE49-F238E27FC236}">
                <a16:creationId xmlns:a16="http://schemas.microsoft.com/office/drawing/2014/main" id="{FF00DE3B-F251-4CC7-B3EB-3A8A04E6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即使是基層員工或教師，也能像一位很會分派工作的主管，指派任務、拆解工作與追蹤進度。</a:t>
            </a:r>
          </a:p>
        </p:txBody>
      </p:sp>
      <p:sp>
        <p:nvSpPr>
          <p:cNvPr id="10" name="shape-2300">
            <a:extLst xmlns:a="http://schemas.openxmlformats.org/drawingml/2006/main">
              <a:ext uri="{FF2B5EF4-FFF2-40B4-BE49-F238E27FC236}">
                <a16:creationId xmlns:a16="http://schemas.microsoft.com/office/drawing/2014/main" id="{B69830C4-1BB7-45C2-95DE-4002D3F5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2301">
            <a:extLst xmlns:a="http://schemas.openxmlformats.org/drawingml/2006/main">
              <a:ext uri="{FF2B5EF4-FFF2-40B4-BE49-F238E27FC236}">
                <a16:creationId xmlns:a16="http://schemas.microsoft.com/office/drawing/2014/main" id="{A5355BB7-4567-4FE6-8B3E-D301D9CD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2302">
            <a:extLst xmlns:a="http://schemas.openxmlformats.org/drawingml/2006/main">
              <a:ext uri="{FF2B5EF4-FFF2-40B4-BE49-F238E27FC236}">
                <a16:creationId xmlns:a16="http://schemas.microsoft.com/office/drawing/2014/main" id="{6343F307-2AEB-45C5-8676-6E5980D5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隨時回應與陪伴</a:t>
            </a:r>
          </a:p>
        </p:txBody>
      </p:sp>
      <p:sp>
        <p:nvSpPr>
          <p:cNvPr id="13" name="text-2303">
            <a:extLst xmlns:a="http://schemas.openxmlformats.org/drawingml/2006/main">
              <a:ext uri="{FF2B5EF4-FFF2-40B4-BE49-F238E27FC236}">
                <a16:creationId xmlns:a16="http://schemas.microsoft.com/office/drawing/2014/main" id="{C69F593D-288C-4A23-9CD9-632F3B4F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在使用者的體感中，AI 常能即時回應、鼓勵與陪伴，讓人覺得自己能完成好多事。</a:t>
            </a:r>
          </a:p>
        </p:txBody>
      </p:sp>
      <p:sp>
        <p:nvSpPr>
          <p:cNvPr id="14" name="shape-2304">
            <a:extLst xmlns:a="http://schemas.openxmlformats.org/drawingml/2006/main">
              <a:ext uri="{FF2B5EF4-FFF2-40B4-BE49-F238E27FC236}">
                <a16:creationId xmlns:a16="http://schemas.microsoft.com/office/drawing/2014/main" id="{1021450E-A286-4150-A74C-61C7EF4A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2305">
            <a:extLst xmlns:a="http://schemas.openxmlformats.org/drawingml/2006/main">
              <a:ext uri="{FF2B5EF4-FFF2-40B4-BE49-F238E27FC236}">
                <a16:creationId xmlns:a16="http://schemas.microsoft.com/office/drawing/2014/main" id="{BA341F6E-BBD8-4119-AFCE-0022C0BB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2306">
            <a:extLst xmlns:a="http://schemas.openxmlformats.org/drawingml/2006/main">
              <a:ext uri="{FF2B5EF4-FFF2-40B4-BE49-F238E27FC236}">
                <a16:creationId xmlns:a16="http://schemas.microsoft.com/office/drawing/2014/main" id="{EE02A680-B5DF-483A-9F95-2BE04B1F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正面回饋很有力量</a:t>
            </a:r>
          </a:p>
        </p:txBody>
      </p:sp>
      <p:sp>
        <p:nvSpPr>
          <p:cNvPr id="17" name="text-2307">
            <a:extLst xmlns:a="http://schemas.openxmlformats.org/drawingml/2006/main">
              <a:ext uri="{FF2B5EF4-FFF2-40B4-BE49-F238E27FC236}">
                <a16:creationId xmlns:a16="http://schemas.microsoft.com/office/drawing/2014/main" id="{B9A540F7-165A-4CCA-90DC-797276B2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它不會像真實同事一樣抱怨或離職；但「AI 永遠給正面情緒價值」是使用感受，不是無條件保證。</a:t>
            </a:r>
          </a:p>
        </p:txBody>
      </p:sp>
      <p:sp>
        <p:nvSpPr>
          <p:cNvPr id="18" name="shape-2308">
            <a:extLst xmlns:a="http://schemas.openxmlformats.org/drawingml/2006/main">
              <a:ext uri="{FF2B5EF4-FFF2-40B4-BE49-F238E27FC236}">
                <a16:creationId xmlns:a16="http://schemas.microsoft.com/office/drawing/2014/main" id="{A5AB7DFD-09F1-48F9-AB43-EE2A9279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2309">
            <a:extLst xmlns:a="http://schemas.openxmlformats.org/drawingml/2006/main">
              <a:ext uri="{FF2B5EF4-FFF2-40B4-BE49-F238E27FC236}">
                <a16:creationId xmlns:a16="http://schemas.microsoft.com/office/drawing/2014/main" id="{1A9321AC-59B0-483C-9C8F-56969092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2310">
            <a:extLst xmlns:a="http://schemas.openxmlformats.org/drawingml/2006/main">
              <a:ext uri="{FF2B5EF4-FFF2-40B4-BE49-F238E27FC236}">
                <a16:creationId xmlns:a16="http://schemas.microsoft.com/office/drawing/2014/main" id="{CC02DB35-C5DE-44A7-8F5B-DE3A8CCB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人仍要負責關係</a:t>
            </a:r>
          </a:p>
        </p:txBody>
      </p:sp>
      <p:sp>
        <p:nvSpPr>
          <p:cNvPr id="21" name="text-2311">
            <a:extLst xmlns:a="http://schemas.openxmlformats.org/drawingml/2006/main">
              <a:ext uri="{FF2B5EF4-FFF2-40B4-BE49-F238E27FC236}">
                <a16:creationId xmlns:a16="http://schemas.microsoft.com/office/drawing/2014/main" id="{30B0A2AC-726D-4599-A1C5-B21C9479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把 AI 當成工作夥伴，不把家人、同儕與專業判斷交給它代替。</a:t>
            </a:r>
          </a:p>
        </p:txBody>
      </p:sp>
    </p:spTree>
    <p:extLst>
      <p:ext uri="{BB962C8B-B14F-4D97-AF65-F5344CB8AC3E}">
        <p14:creationId xmlns:p14="http://schemas.microsoft.com/office/powerpoint/2010/main" val="1186934652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-2312">
            <a:extLst xmlns:a="http://schemas.openxmlformats.org/drawingml/2006/main">
              <a:ext uri="{FF2B5EF4-FFF2-40B4-BE49-F238E27FC236}">
                <a16:creationId xmlns:a16="http://schemas.microsoft.com/office/drawing/2014/main" id="{9C7F3702-DB69-4500-A959-ACDBD800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TIME RETURNED TO LIFE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FD16525-4B8B-431C-B864-EFDA16E7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把省下的時間還給人生：素養教育的所在</a:t>
            </a:r>
          </a:p>
        </p:txBody>
      </p:sp>
      <p:cxnSp>
        <p:nvCxnSpPr>
          <p:cNvPr id="38" name="shape-2313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2314">
            <a:extLst xmlns:a="http://schemas.openxmlformats.org/drawingml/2006/main">
              <a:ext uri="{FF2B5EF4-FFF2-40B4-BE49-F238E27FC236}">
                <a16:creationId xmlns:a16="http://schemas.microsoft.com/office/drawing/2014/main" id="{3E7F1546-DE1A-4CA9-9770-C678EF85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2E2B273-8DDE-4E77-8C31-D1FA5B05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67</a:t>
            </a:r>
          </a:p>
        </p:txBody>
      </p:sp>
      <p:sp>
        <p:nvSpPr>
          <p:cNvPr id="6" name="shape-2315">
            <a:extLst xmlns:a="http://schemas.openxmlformats.org/drawingml/2006/main">
              <a:ext uri="{FF2B5EF4-FFF2-40B4-BE49-F238E27FC236}">
                <a16:creationId xmlns:a16="http://schemas.microsoft.com/office/drawing/2014/main" id="{A43C8B79-88DC-4A03-AF83-C3A339E2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shape-2316">
            <a:extLst xmlns:a="http://schemas.openxmlformats.org/drawingml/2006/main">
              <a:ext uri="{FF2B5EF4-FFF2-40B4-BE49-F238E27FC236}">
                <a16:creationId xmlns:a16="http://schemas.microsoft.com/office/drawing/2014/main" id="{EFF9C63D-14EE-4D34-A89A-32B95ADB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2317">
            <a:extLst xmlns:a="http://schemas.openxmlformats.org/drawingml/2006/main">
              <a:ext uri="{FF2B5EF4-FFF2-40B4-BE49-F238E27FC236}">
                <a16:creationId xmlns:a16="http://schemas.microsoft.com/office/drawing/2014/main" id="{CFBC6150-8626-4F37-B467-5B681B5E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2318">
            <a:extLst xmlns:a="http://schemas.openxmlformats.org/drawingml/2006/main">
              <a:ext uri="{FF2B5EF4-FFF2-40B4-BE49-F238E27FC236}">
                <a16:creationId xmlns:a16="http://schemas.microsoft.com/office/drawing/2014/main" id="{EB3D11B0-3014-4898-BAB0-B8F23E65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培養興趣</a:t>
            </a:r>
          </a:p>
        </p:txBody>
      </p:sp>
      <p:sp>
        <p:nvSpPr>
          <p:cNvPr id="10" name="text-2319">
            <a:extLst xmlns:a="http://schemas.openxmlformats.org/drawingml/2006/main">
              <a:ext uri="{FF2B5EF4-FFF2-40B4-BE49-F238E27FC236}">
                <a16:creationId xmlns:a16="http://schemas.microsoft.com/office/drawing/2014/main" id="{8230001E-4508-4397-A6F5-82FFEC9E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探索工作與教學之外，過去沒有時間嘗試的路。</a:t>
            </a:r>
          </a:p>
        </p:txBody>
      </p:sp>
      <p:sp>
        <p:nvSpPr>
          <p:cNvPr id="11" name="text-2320">
            <a:extLst xmlns:a="http://schemas.openxmlformats.org/drawingml/2006/main">
              <a:ext uri="{FF2B5EF4-FFF2-40B4-BE49-F238E27FC236}">
                <a16:creationId xmlns:a16="http://schemas.microsoft.com/office/drawing/2014/main" id="{637465C1-55A8-4953-8151-E938BBB3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2" name="shape-2321">
            <a:extLst xmlns:a="http://schemas.openxmlformats.org/drawingml/2006/main">
              <a:ext uri="{FF2B5EF4-FFF2-40B4-BE49-F238E27FC236}">
                <a16:creationId xmlns:a16="http://schemas.microsoft.com/office/drawing/2014/main" id="{DAE0F2DE-AE00-4254-89B0-2BD93525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3" name="shape-2322">
            <a:extLst xmlns:a="http://schemas.openxmlformats.org/drawingml/2006/main">
              <a:ext uri="{FF2B5EF4-FFF2-40B4-BE49-F238E27FC236}">
                <a16:creationId xmlns:a16="http://schemas.microsoft.com/office/drawing/2014/main" id="{2A5EEABE-7134-4F13-BEC3-F3978769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2323">
            <a:extLst xmlns:a="http://schemas.openxmlformats.org/drawingml/2006/main">
              <a:ext uri="{FF2B5EF4-FFF2-40B4-BE49-F238E27FC236}">
                <a16:creationId xmlns:a16="http://schemas.microsoft.com/office/drawing/2014/main" id="{F9B64DA4-C68F-449B-B27B-9D9FFC50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5" name="text-2324">
            <a:extLst xmlns:a="http://schemas.openxmlformats.org/drawingml/2006/main">
              <a:ext uri="{FF2B5EF4-FFF2-40B4-BE49-F238E27FC236}">
                <a16:creationId xmlns:a16="http://schemas.microsoft.com/office/drawing/2014/main" id="{8D8B1AAB-FAA2-414A-BE08-AF8EFFE0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陪伴家人</a:t>
            </a:r>
          </a:p>
        </p:txBody>
      </p:sp>
      <p:sp>
        <p:nvSpPr>
          <p:cNvPr id="16" name="text-2325">
            <a:extLst xmlns:a="http://schemas.openxmlformats.org/drawingml/2006/main">
              <a:ext uri="{FF2B5EF4-FFF2-40B4-BE49-F238E27FC236}">
                <a16:creationId xmlns:a16="http://schemas.microsoft.com/office/drawing/2014/main" id="{CF23C4AB-114A-41D0-AD99-149EADEB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陪伴孩子與家人，參與孩子的成長過程。</a:t>
            </a:r>
          </a:p>
        </p:txBody>
      </p:sp>
      <p:sp>
        <p:nvSpPr>
          <p:cNvPr id="17" name="text-2326">
            <a:extLst xmlns:a="http://schemas.openxmlformats.org/drawingml/2006/main">
              <a:ext uri="{FF2B5EF4-FFF2-40B4-BE49-F238E27FC236}">
                <a16:creationId xmlns:a16="http://schemas.microsoft.com/office/drawing/2014/main" id="{405F9D25-F1E0-42F2-BC21-AC71F86A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8" name="shape-2327">
            <a:extLst xmlns:a="http://schemas.openxmlformats.org/drawingml/2006/main">
              <a:ext uri="{FF2B5EF4-FFF2-40B4-BE49-F238E27FC236}">
                <a16:creationId xmlns:a16="http://schemas.microsoft.com/office/drawing/2014/main" id="{34653329-B624-439C-A5B9-0B7DDBE0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shape-2328">
            <a:extLst xmlns:a="http://schemas.openxmlformats.org/drawingml/2006/main">
              <a:ext uri="{FF2B5EF4-FFF2-40B4-BE49-F238E27FC236}">
                <a16:creationId xmlns:a16="http://schemas.microsoft.com/office/drawing/2014/main" id="{B4AD225E-FC22-452E-BA08-F8E14C5F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2329">
            <a:extLst xmlns:a="http://schemas.openxmlformats.org/drawingml/2006/main">
              <a:ext uri="{FF2B5EF4-FFF2-40B4-BE49-F238E27FC236}">
                <a16:creationId xmlns:a16="http://schemas.microsoft.com/office/drawing/2014/main" id="{51E09B0F-699D-4A71-999A-05498B7B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text-2330">
            <a:extLst xmlns:a="http://schemas.openxmlformats.org/drawingml/2006/main">
              <a:ext uri="{FF2B5EF4-FFF2-40B4-BE49-F238E27FC236}">
                <a16:creationId xmlns:a16="http://schemas.microsoft.com/office/drawing/2014/main" id="{9940FDC4-7821-4BD2-91A2-DF3BCA43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深入交流</a:t>
            </a:r>
          </a:p>
        </p:txBody>
      </p:sp>
      <p:sp>
        <p:nvSpPr>
          <p:cNvPr id="22" name="text-2331">
            <a:extLst xmlns:a="http://schemas.openxmlformats.org/drawingml/2006/main">
              <a:ext uri="{FF2B5EF4-FFF2-40B4-BE49-F238E27FC236}">
                <a16:creationId xmlns:a16="http://schemas.microsoft.com/office/drawing/2014/main" id="{9ED2E48F-875A-4937-90C9-AE2A871A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和同儕、同事好好聊天，重新建立理解與信任。</a:t>
            </a:r>
          </a:p>
        </p:txBody>
      </p:sp>
      <p:sp>
        <p:nvSpPr>
          <p:cNvPr id="23" name="text-2332">
            <a:extLst xmlns:a="http://schemas.openxmlformats.org/drawingml/2006/main">
              <a:ext uri="{FF2B5EF4-FFF2-40B4-BE49-F238E27FC236}">
                <a16:creationId xmlns:a16="http://schemas.microsoft.com/office/drawing/2014/main" id="{F414C1C7-1778-4877-9455-9CBF90AA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24" name="shape-2333">
            <a:extLst xmlns:a="http://schemas.openxmlformats.org/drawingml/2006/main">
              <a:ext uri="{FF2B5EF4-FFF2-40B4-BE49-F238E27FC236}">
                <a16:creationId xmlns:a16="http://schemas.microsoft.com/office/drawing/2014/main" id="{282299CC-ECEF-4D31-ABE7-7E7E5352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25" name="shape-2334">
            <a:extLst xmlns:a="http://schemas.openxmlformats.org/drawingml/2006/main">
              <a:ext uri="{FF2B5EF4-FFF2-40B4-BE49-F238E27FC236}">
                <a16:creationId xmlns:a16="http://schemas.microsoft.com/office/drawing/2014/main" id="{6BABE025-D6F7-42BA-85E5-3F078DF5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2335">
            <a:extLst xmlns:a="http://schemas.openxmlformats.org/drawingml/2006/main">
              <a:ext uri="{FF2B5EF4-FFF2-40B4-BE49-F238E27FC236}">
                <a16:creationId xmlns:a16="http://schemas.microsoft.com/office/drawing/2014/main" id="{2FF7172E-EAC2-480C-BDB6-731996E0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7" name="text-2336">
            <a:extLst xmlns:a="http://schemas.openxmlformats.org/drawingml/2006/main">
              <a:ext uri="{FF2B5EF4-FFF2-40B4-BE49-F238E27FC236}">
                <a16:creationId xmlns:a16="http://schemas.microsoft.com/office/drawing/2014/main" id="{CE927246-A82B-4B67-BE7C-BD2F9F7F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發展志向</a:t>
            </a:r>
          </a:p>
        </p:txBody>
      </p:sp>
      <p:sp>
        <p:nvSpPr>
          <p:cNvPr id="28" name="text-2337">
            <a:extLst xmlns:a="http://schemas.openxmlformats.org/drawingml/2006/main">
              <a:ext uri="{FF2B5EF4-FFF2-40B4-BE49-F238E27FC236}">
                <a16:creationId xmlns:a16="http://schemas.microsoft.com/office/drawing/2014/main" id="{5AA34E8D-7587-4518-BAB1-A7D642EC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把時間投入職涯發展、個人興趣與真正重要的目標。</a:t>
            </a:r>
          </a:p>
        </p:txBody>
      </p:sp>
      <p:sp>
        <p:nvSpPr>
          <p:cNvPr id="29" name="text-2338">
            <a:extLst xmlns:a="http://schemas.openxmlformats.org/drawingml/2006/main">
              <a:ext uri="{FF2B5EF4-FFF2-40B4-BE49-F238E27FC236}">
                <a16:creationId xmlns:a16="http://schemas.microsoft.com/office/drawing/2014/main" id="{FE396246-E11A-4B5D-AE4E-D532FD52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30" name="shape-2339">
            <a:extLst xmlns:a="http://schemas.openxmlformats.org/drawingml/2006/main">
              <a:ext uri="{FF2B5EF4-FFF2-40B4-BE49-F238E27FC236}">
                <a16:creationId xmlns:a16="http://schemas.microsoft.com/office/drawing/2014/main" id="{5ADBA7E8-7B34-4B40-B46E-D9A5B35A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31" name="shape-2340">
            <a:extLst xmlns:a="http://schemas.openxmlformats.org/drawingml/2006/main">
              <a:ext uri="{FF2B5EF4-FFF2-40B4-BE49-F238E27FC236}">
                <a16:creationId xmlns:a16="http://schemas.microsoft.com/office/drawing/2014/main" id="{50C81363-92FA-43EB-ABA4-DE6A0F03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2341">
            <a:extLst xmlns:a="http://schemas.openxmlformats.org/drawingml/2006/main">
              <a:ext uri="{FF2B5EF4-FFF2-40B4-BE49-F238E27FC236}">
                <a16:creationId xmlns:a16="http://schemas.microsoft.com/office/drawing/2014/main" id="{5D26C206-3C1A-49ED-BCB3-4E206C2C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45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33" name="text-2342">
            <a:extLst xmlns:a="http://schemas.openxmlformats.org/drawingml/2006/main">
              <a:ext uri="{FF2B5EF4-FFF2-40B4-BE49-F238E27FC236}">
                <a16:creationId xmlns:a16="http://schemas.microsoft.com/office/drawing/2014/main" id="{D698A54A-190B-4630-9F10-B5E9E113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內化成生活</a:t>
            </a:r>
          </a:p>
        </p:txBody>
      </p:sp>
      <p:sp>
        <p:nvSpPr>
          <p:cNvPr id="34" name="text-2343">
            <a:extLst xmlns:a="http://schemas.openxmlformats.org/drawingml/2006/main">
              <a:ext uri="{FF2B5EF4-FFF2-40B4-BE49-F238E27FC236}">
                <a16:creationId xmlns:a16="http://schemas.microsoft.com/office/drawing/2014/main" id="{D3407FF2-CA34-4085-8248-51706956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讓 AI 能力服務人的關係、成長與人生意義。</a:t>
            </a:r>
          </a:p>
        </p:txBody>
      </p:sp>
      <p:sp>
        <p:nvSpPr>
          <p:cNvPr id="35" name="text-2344">
            <a:extLst xmlns:a="http://schemas.openxmlformats.org/drawingml/2006/main">
              <a:ext uri="{FF2B5EF4-FFF2-40B4-BE49-F238E27FC236}">
                <a16:creationId xmlns:a16="http://schemas.microsoft.com/office/drawing/2014/main" id="{A87EAB1C-692A-411D-BA4B-9B9B7777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14950"/>
            <a:ext cx="5638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152400" tIns="57150" rIns="1524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每一步都留下可檢查的成果</a:t>
            </a:r>
          </a:p>
        </p:txBody>
      </p:sp>
    </p:spTree>
    <p:extLst>
      <p:ext uri="{BB962C8B-B14F-4D97-AF65-F5344CB8AC3E}">
        <p14:creationId xmlns:p14="http://schemas.microsoft.com/office/powerpoint/2010/main" val="254855361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text-2345">
            <a:extLst xmlns:a="http://schemas.openxmlformats.org/drawingml/2006/main">
              <a:ext uri="{FF2B5EF4-FFF2-40B4-BE49-F238E27FC236}">
                <a16:creationId xmlns:a16="http://schemas.microsoft.com/office/drawing/2014/main" id="{66E41719-154F-4006-BD7F-C4781E98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BOOKMARKS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83FE1C-81AC-43F0-85FA-76A31568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下午資源書籤</a:t>
            </a:r>
          </a:p>
        </p:txBody>
      </p:sp>
      <p:cxnSp>
        <p:nvCxnSpPr>
          <p:cNvPr id="45" name="shape-2346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2347">
            <a:extLst xmlns:a="http://schemas.openxmlformats.org/drawingml/2006/main">
              <a:ext uri="{FF2B5EF4-FFF2-40B4-BE49-F238E27FC236}">
                <a16:creationId xmlns:a16="http://schemas.microsoft.com/office/drawing/2014/main" id="{85651706-C008-4E77-8BA1-7856D429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8B414C3-C6A6-4A1B-B0A4-0D7AC28D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68</a:t>
            </a:r>
          </a:p>
        </p:txBody>
      </p:sp>
      <p:sp>
        <p:nvSpPr>
          <p:cNvPr id="6" name="shape-2348">
            <a:extLst xmlns:a="http://schemas.openxmlformats.org/drawingml/2006/main">
              <a:ext uri="{FF2B5EF4-FFF2-40B4-BE49-F238E27FC236}">
                <a16:creationId xmlns:a16="http://schemas.microsoft.com/office/drawing/2014/main" id="{6CA3D646-BE62-408C-9631-4C1CF53A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5314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2349">
            <a:extLst xmlns:a="http://schemas.openxmlformats.org/drawingml/2006/main">
              <a:ext uri="{FF2B5EF4-FFF2-40B4-BE49-F238E27FC236}">
                <a16:creationId xmlns:a16="http://schemas.microsoft.com/office/drawing/2014/main" id="{9E7B6CE8-2079-4D02-943B-EA80E3C3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研習資源導航</a:t>
            </a:r>
          </a:p>
        </p:txBody>
      </p:sp>
      <p:sp>
        <p:nvSpPr>
          <p:cNvPr id="8" name="text-2350">
            <a:extLst xmlns:a="http://schemas.openxmlformats.org/drawingml/2006/main">
              <a:ext uri="{FF2B5EF4-FFF2-40B4-BE49-F238E27FC236}">
                <a16:creationId xmlns:a16="http://schemas.microsoft.com/office/drawing/2014/main" id="{9BE40656-0A27-4744-8CD1-42263ECF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442a8e9a21494daf"/>
              </a:rPr>
              <a:t>公開網站資源 ↗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ffd3c480f5464b"/>
          <a:stretch xmlns:a="http://schemas.openxmlformats.org/drawingml/2006/main"/>
        </p:blipFill>
        <p:spPr>
          <a:xfrm xmlns:a="http://schemas.openxmlformats.org/drawingml/2006/main">
            <a:off x="4953000" y="16097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10" name="shape-2351">
            <a:extLst xmlns:a="http://schemas.openxmlformats.org/drawingml/2006/main">
              <a:ext uri="{FF2B5EF4-FFF2-40B4-BE49-F238E27FC236}">
                <a16:creationId xmlns:a16="http://schemas.microsoft.com/office/drawing/2014/main" id="{12B0012C-52DD-4ADC-B5CA-CF633E47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5314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2352">
            <a:extLst xmlns:a="http://schemas.openxmlformats.org/drawingml/2006/main">
              <a:ext uri="{FF2B5EF4-FFF2-40B4-BE49-F238E27FC236}">
                <a16:creationId xmlns:a16="http://schemas.microsoft.com/office/drawing/2014/main" id="{94695595-C862-4F3C-9987-B58C68BC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開啟 Google Antigravity</a:t>
            </a:r>
          </a:p>
        </p:txBody>
      </p:sp>
      <p:sp>
        <p:nvSpPr>
          <p:cNvPr id="12" name="text-2353">
            <a:extLst xmlns:a="http://schemas.openxmlformats.org/drawingml/2006/main">
              <a:ext uri="{FF2B5EF4-FFF2-40B4-BE49-F238E27FC236}">
                <a16:creationId xmlns:a16="http://schemas.microsoft.com/office/drawing/2014/main" id="{07ECA3F6-16A0-4C0C-BC46-6248F041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4b7130b385df423c"/>
              </a:rPr>
              <a:t>公開網站資源 ↗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a02865017047fd"/>
          <a:stretch xmlns:a="http://schemas.openxmlformats.org/drawingml/2006/main"/>
        </p:blipFill>
        <p:spPr>
          <a:xfrm xmlns:a="http://schemas.openxmlformats.org/drawingml/2006/main">
            <a:off x="4953000" y="24860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14" name="shape-2354">
            <a:extLst xmlns:a="http://schemas.openxmlformats.org/drawingml/2006/main">
              <a:ext uri="{FF2B5EF4-FFF2-40B4-BE49-F238E27FC236}">
                <a16:creationId xmlns:a16="http://schemas.microsoft.com/office/drawing/2014/main" id="{742926BA-C314-4DF9-BD01-E7F5B05B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5314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2355">
            <a:extLst xmlns:a="http://schemas.openxmlformats.org/drawingml/2006/main">
              <a:ext uri="{FF2B5EF4-FFF2-40B4-BE49-F238E27FC236}">
                <a16:creationId xmlns:a16="http://schemas.microsoft.com/office/drawing/2014/main" id="{4D06A5FD-F8A9-4838-BEAF-B0951BBA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開啟 Codex</a:t>
            </a:r>
          </a:p>
        </p:txBody>
      </p:sp>
      <p:sp>
        <p:nvSpPr>
          <p:cNvPr id="16" name="text-2356">
            <a:extLst xmlns:a="http://schemas.openxmlformats.org/drawingml/2006/main">
              <a:ext uri="{FF2B5EF4-FFF2-40B4-BE49-F238E27FC236}">
                <a16:creationId xmlns:a16="http://schemas.microsoft.com/office/drawing/2014/main" id="{DF1E85D8-6B14-4143-92B8-19BB1202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1342625e34dd4c6d"/>
              </a:rPr>
              <a:t>公開網站資源 ↗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d0e4482e5244dd"/>
          <a:stretch xmlns:a="http://schemas.openxmlformats.org/drawingml/2006/main"/>
        </p:blipFill>
        <p:spPr>
          <a:xfrm xmlns:a="http://schemas.openxmlformats.org/drawingml/2006/main">
            <a:off x="4953000" y="33623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18" name="shape-2357">
            <a:extLst xmlns:a="http://schemas.openxmlformats.org/drawingml/2006/main">
              <a:ext uri="{FF2B5EF4-FFF2-40B4-BE49-F238E27FC236}">
                <a16:creationId xmlns:a16="http://schemas.microsoft.com/office/drawing/2014/main" id="{D545B779-70F0-4027-825E-46710A08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10050"/>
            <a:ext cx="5314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2358">
            <a:extLst xmlns:a="http://schemas.openxmlformats.org/drawingml/2006/main">
              <a:ext uri="{FF2B5EF4-FFF2-40B4-BE49-F238E27FC236}">
                <a16:creationId xmlns:a16="http://schemas.microsoft.com/office/drawing/2014/main" id="{D2D6B872-ECB1-4149-A958-45D3DF7B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開啟 Claude</a:t>
            </a:r>
          </a:p>
        </p:txBody>
      </p:sp>
      <p:sp>
        <p:nvSpPr>
          <p:cNvPr id="20" name="text-2359">
            <a:extLst xmlns:a="http://schemas.openxmlformats.org/drawingml/2006/main">
              <a:ext uri="{FF2B5EF4-FFF2-40B4-BE49-F238E27FC236}">
                <a16:creationId xmlns:a16="http://schemas.microsoft.com/office/drawing/2014/main" id="{DCD2D15F-C511-409D-A467-FDEC1907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5100c1a582b34c8f"/>
              </a:rPr>
              <a:t>公開網站資源 ↗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dcd2a531424f1f"/>
          <a:stretch xmlns:a="http://schemas.openxmlformats.org/drawingml/2006/main"/>
        </p:blipFill>
        <p:spPr>
          <a:xfrm xmlns:a="http://schemas.openxmlformats.org/drawingml/2006/main">
            <a:off x="4953000" y="42386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22" name="shape-2360">
            <a:extLst xmlns:a="http://schemas.openxmlformats.org/drawingml/2006/main">
              <a:ext uri="{FF2B5EF4-FFF2-40B4-BE49-F238E27FC236}">
                <a16:creationId xmlns:a16="http://schemas.microsoft.com/office/drawing/2014/main" id="{12AA95CC-2215-4F36-B594-A1F06131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86350"/>
            <a:ext cx="5314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23" name="text-2361">
            <a:extLst xmlns:a="http://schemas.openxmlformats.org/drawingml/2006/main">
              <a:ext uri="{FF2B5EF4-FFF2-40B4-BE49-F238E27FC236}">
                <a16:creationId xmlns:a16="http://schemas.microsoft.com/office/drawing/2014/main" id="{73A201C7-13CA-46F5-8FEF-789DCE96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Agent Skills 官方教學</a:t>
            </a:r>
          </a:p>
        </p:txBody>
      </p:sp>
      <p:sp>
        <p:nvSpPr>
          <p:cNvPr id="24" name="text-2362">
            <a:extLst xmlns:a="http://schemas.openxmlformats.org/drawingml/2006/main">
              <a:ext uri="{FF2B5EF4-FFF2-40B4-BE49-F238E27FC236}">
                <a16:creationId xmlns:a16="http://schemas.microsoft.com/office/drawing/2014/main" id="{23862868-7553-447A-B701-E3CAFE79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864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4766486cd06c4a0e"/>
              </a:rPr>
              <a:t>公開網站資源 ↗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772df9c66a44e5"/>
          <a:stretch xmlns:a="http://schemas.openxmlformats.org/drawingml/2006/main"/>
        </p:blipFill>
        <p:spPr>
          <a:xfrm xmlns:a="http://schemas.openxmlformats.org/drawingml/2006/main">
            <a:off x="4953000" y="51149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26" name="shape-2363">
            <a:extLst xmlns:a="http://schemas.openxmlformats.org/drawingml/2006/main">
              <a:ext uri="{FF2B5EF4-FFF2-40B4-BE49-F238E27FC236}">
                <a16:creationId xmlns:a16="http://schemas.microsoft.com/office/drawing/2014/main" id="{CB58FDAE-40E9-4F86-8BB7-6932C47D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81150"/>
            <a:ext cx="5314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27" name="text-2364">
            <a:extLst xmlns:a="http://schemas.openxmlformats.org/drawingml/2006/main">
              <a:ext uri="{FF2B5EF4-FFF2-40B4-BE49-F238E27FC236}">
                <a16:creationId xmlns:a16="http://schemas.microsoft.com/office/drawing/2014/main" id="{286AA6A1-EB9B-4FBA-BEDA-27929F97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764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Agent Skills 資源庫：三師爸與國際公開 Skills</a:t>
            </a:r>
          </a:p>
        </p:txBody>
      </p:sp>
      <p:sp>
        <p:nvSpPr>
          <p:cNvPr id="28" name="text-2365">
            <a:extLst xmlns:a="http://schemas.openxmlformats.org/drawingml/2006/main">
              <a:ext uri="{FF2B5EF4-FFF2-40B4-BE49-F238E27FC236}">
                <a16:creationId xmlns:a16="http://schemas.microsoft.com/office/drawing/2014/main" id="{633F03DF-4EBE-480F-A18F-70A4B0ED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8adfcf5807074a69"/>
              </a:rPr>
              <a:t>公開網站資源 ↗</a:t>
            </a:r>
          </a:p>
        </p:txBody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9bb736a7d94cbd"/>
          <a:stretch xmlns:a="http://schemas.openxmlformats.org/drawingml/2006/main"/>
        </p:blipFill>
        <p:spPr>
          <a:xfrm xmlns:a="http://schemas.openxmlformats.org/drawingml/2006/main">
            <a:off x="10553700" y="16097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30" name="shape-2366">
            <a:extLst xmlns:a="http://schemas.openxmlformats.org/drawingml/2006/main">
              <a:ext uri="{FF2B5EF4-FFF2-40B4-BE49-F238E27FC236}">
                <a16:creationId xmlns:a16="http://schemas.microsoft.com/office/drawing/2014/main" id="{9890871E-04A3-498F-B81A-CD595E6F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57450"/>
            <a:ext cx="5314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31" name="text-2367">
            <a:extLst xmlns:a="http://schemas.openxmlformats.org/drawingml/2006/main">
              <a:ext uri="{FF2B5EF4-FFF2-40B4-BE49-F238E27FC236}">
                <a16:creationId xmlns:a16="http://schemas.microsoft.com/office/drawing/2014/main" id="{B8D0135B-2883-4D77-9B99-942C7C90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527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提示詞快捷面板</a:t>
            </a:r>
          </a:p>
        </p:txBody>
      </p:sp>
      <p:sp>
        <p:nvSpPr>
          <p:cNvPr id="32" name="text-2368">
            <a:extLst xmlns:a="http://schemas.openxmlformats.org/drawingml/2006/main">
              <a:ext uri="{FF2B5EF4-FFF2-40B4-BE49-F238E27FC236}">
                <a16:creationId xmlns:a16="http://schemas.microsoft.com/office/drawing/2014/main" id="{5A91FF09-20B8-4312-9C1C-7AAFF0BF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bb8a9a35f5a74f79"/>
              </a:rPr>
              <a:t>公開網站資源 ↗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7e6a7f228a474e"/>
          <a:stretch xmlns:a="http://schemas.openxmlformats.org/drawingml/2006/main"/>
        </p:blipFill>
        <p:spPr>
          <a:xfrm xmlns:a="http://schemas.openxmlformats.org/drawingml/2006/main">
            <a:off x="10553700" y="24860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34" name="shape-2369">
            <a:extLst xmlns:a="http://schemas.openxmlformats.org/drawingml/2006/main">
              <a:ext uri="{FF2B5EF4-FFF2-40B4-BE49-F238E27FC236}">
                <a16:creationId xmlns:a16="http://schemas.microsoft.com/office/drawing/2014/main" id="{B5CB17B6-A125-47F5-8623-2231792B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5314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35" name="text-2370">
            <a:extLst xmlns:a="http://schemas.openxmlformats.org/drawingml/2006/main">
              <a:ext uri="{FF2B5EF4-FFF2-40B4-BE49-F238E27FC236}">
                <a16:creationId xmlns:a16="http://schemas.microsoft.com/office/drawing/2014/main" id="{B7115E52-E936-43F3-8575-DF7A93B9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教育科技創新專區</a:t>
            </a:r>
          </a:p>
        </p:txBody>
      </p:sp>
      <p:sp>
        <p:nvSpPr>
          <p:cNvPr id="36" name="text-2371">
            <a:extLst xmlns:a="http://schemas.openxmlformats.org/drawingml/2006/main">
              <a:ext uri="{FF2B5EF4-FFF2-40B4-BE49-F238E27FC236}">
                <a16:creationId xmlns:a16="http://schemas.microsoft.com/office/drawing/2014/main" id="{65E574D2-B01F-4D76-A685-BB43AF0B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33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1070c90204e54b28"/>
              </a:rPr>
              <a:t>公開網站資源 ↗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f93e18a0e94e96"/>
          <a:stretch xmlns:a="http://schemas.openxmlformats.org/drawingml/2006/main"/>
        </p:blipFill>
        <p:spPr>
          <a:xfrm xmlns:a="http://schemas.openxmlformats.org/drawingml/2006/main">
            <a:off x="10553700" y="33623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38" name="shape-2372">
            <a:extLst xmlns:a="http://schemas.openxmlformats.org/drawingml/2006/main">
              <a:ext uri="{FF2B5EF4-FFF2-40B4-BE49-F238E27FC236}">
                <a16:creationId xmlns:a16="http://schemas.microsoft.com/office/drawing/2014/main" id="{A09FAF1F-D04C-47E6-B4AC-81FBA4DD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10050"/>
            <a:ext cx="5314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39" name="text-2373">
            <a:extLst xmlns:a="http://schemas.openxmlformats.org/drawingml/2006/main">
              <a:ext uri="{FF2B5EF4-FFF2-40B4-BE49-F238E27FC236}">
                <a16:creationId xmlns:a16="http://schemas.microsoft.com/office/drawing/2014/main" id="{11841F89-C8AE-4DC8-B1FC-E179640F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053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PIRLS 2026 評分規劃</a:t>
            </a:r>
          </a:p>
        </p:txBody>
      </p:sp>
      <p:sp>
        <p:nvSpPr>
          <p:cNvPr id="40" name="text-2374">
            <a:extLst xmlns:a="http://schemas.openxmlformats.org/drawingml/2006/main">
              <a:ext uri="{FF2B5EF4-FFF2-40B4-BE49-F238E27FC236}">
                <a16:creationId xmlns:a16="http://schemas.microsoft.com/office/drawing/2014/main" id="{2100DD1C-C139-4430-8EC6-9EB90566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101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8cd901c342204466"/>
              </a:rPr>
              <a:t>公開網站資源 ↗</a:t>
            </a:r>
          </a:p>
        </p:txBody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a2817f2b5942d2"/>
          <a:stretch xmlns:a="http://schemas.openxmlformats.org/drawingml/2006/main"/>
        </p:blipFill>
        <p:spPr>
          <a:xfrm xmlns:a="http://schemas.openxmlformats.org/drawingml/2006/main">
            <a:off x="10553700" y="42386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42" name="text-2375">
            <a:extLst xmlns:a="http://schemas.openxmlformats.org/drawingml/2006/main">
              <a:ext uri="{FF2B5EF4-FFF2-40B4-BE49-F238E27FC236}">
                <a16:creationId xmlns:a16="http://schemas.microsoft.com/office/drawing/2014/main" id="{3BDE3400-851C-4039-94B4-DE910B9A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38850"/>
            <a:ext cx="11163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好的教學與研究 Agent 不只會做事；它會在正確邊界內做事，並留下你能檢查的證據。</a:t>
            </a:r>
          </a:p>
        </p:txBody>
      </p:sp>
    </p:spTree>
    <p:extLst>
      <p:ext uri="{BB962C8B-B14F-4D97-AF65-F5344CB8AC3E}">
        <p14:creationId xmlns:p14="http://schemas.microsoft.com/office/powerpoint/2010/main" val="1404213555"/>
      </p:ext>
    </p:extLst>
  </p:cSld>
</p:sld>
</file>

<file path=ppt/theme/theme1.xml><?xml version="1.0" encoding="utf-8"?>
<a:theme xmlns:a="http://schemas.openxmlformats.org/drawingml/2006/main" name="ChatGPT">
  <a:themeElements>
    <a:clrScheme name="NCU Afternoon">
      <a:dk1>
        <a:srgbClr val="0F1E2E"/>
      </a:dk1>
      <a:lt1>
        <a:srgbClr val="FFFFFF"/>
      </a:lt1>
      <a:dk2>
        <a:srgbClr val="F0F4F8"/>
      </a:dk2>
      <a:lt2>
        <a:srgbClr val="E2EDF8"/>
      </a:lt2>
      <a:accent1>
        <a:srgbClr val="1B64DA"/>
      </a:accent1>
      <a:accent2>
        <a:srgbClr val="FF6B4A"/>
      </a:accent2>
      <a:accent3>
        <a:srgbClr val="0E9F94"/>
      </a:accent3>
      <a:accent4>
        <a:srgbClr val="6366F1"/>
      </a:accent4>
      <a:accent5>
        <a:srgbClr val="F59E0B"/>
      </a:accent5>
      <a:accent6>
        <a:srgbClr val="10B981"/>
      </a:accent6>
      <a:hlink>
        <a:srgbClr val="1B64DA"/>
      </a:hlink>
      <a:folHlink>
        <a:srgbClr val="6366F1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CU Afterno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2026-08-26T11:48:17.1370000Z</dcterms:created>
  <dcterms:modified xsi:type="dcterms:W3CDTF">2026-08-26T11:48:17.1370000Z</dcterms:modified>
</coreProperties>
</file>
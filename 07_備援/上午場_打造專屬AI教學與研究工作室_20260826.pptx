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3608b0c273460d" /><Relationship Type="http://schemas.openxmlformats.org/officeDocument/2006/relationships/extended-properties" Target="/docProps/app.xml" Id="Re501b2fc453a43fa" /><Relationship Type="http://schemas.openxmlformats.org/officeDocument/2006/relationships/officeDocument" Target="/ppt/presentation.xml" Id="R35957a56f1bd46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35e323b5e476b"/>
  </p:sldMasterIdLst>
  <p:notesMasterIdLst>
    <p:notesMasterId xmlns:r="http://schemas.openxmlformats.org/officeDocument/2006/relationships" r:id="R6b5fa20fbe114ff9"/>
  </p:notesMasterIdLst>
  <p:sldIdLst>
    <p:sldId xmlns:r="http://schemas.openxmlformats.org/officeDocument/2006/relationships" id="256" r:id="R51ea9f706c18456f"/>
    <p:sldId xmlns:r="http://schemas.openxmlformats.org/officeDocument/2006/relationships" id="257" r:id="R8ba824ee0b1a4441"/>
    <p:sldId xmlns:r="http://schemas.openxmlformats.org/officeDocument/2006/relationships" id="258" r:id="R9fdf539af35c4452"/>
    <p:sldId xmlns:r="http://schemas.openxmlformats.org/officeDocument/2006/relationships" id="259" r:id="R36a33c1537184738"/>
    <p:sldId xmlns:r="http://schemas.openxmlformats.org/officeDocument/2006/relationships" id="260" r:id="Reb409327297546ce"/>
    <p:sldId xmlns:r="http://schemas.openxmlformats.org/officeDocument/2006/relationships" id="261" r:id="Rbe57899872ea4e05"/>
    <p:sldId xmlns:r="http://schemas.openxmlformats.org/officeDocument/2006/relationships" id="262" r:id="R5b81542b441f41c4"/>
    <p:sldId xmlns:r="http://schemas.openxmlformats.org/officeDocument/2006/relationships" id="263" r:id="Rcfcf264e988f4d6d"/>
    <p:sldId xmlns:r="http://schemas.openxmlformats.org/officeDocument/2006/relationships" id="264" r:id="R4be2b0d8d706442e"/>
    <p:sldId xmlns:r="http://schemas.openxmlformats.org/officeDocument/2006/relationships" id="265" r:id="R00f832b34be84ed9"/>
    <p:sldId xmlns:r="http://schemas.openxmlformats.org/officeDocument/2006/relationships" id="266" r:id="R3723ae62c8fe4792"/>
    <p:sldId xmlns:r="http://schemas.openxmlformats.org/officeDocument/2006/relationships" id="267" r:id="Rde13c0e293ec4d53"/>
    <p:sldId xmlns:r="http://schemas.openxmlformats.org/officeDocument/2006/relationships" id="268" r:id="R83fa1ca85edf4686"/>
    <p:sldId xmlns:r="http://schemas.openxmlformats.org/officeDocument/2006/relationships" id="269" r:id="R5e73c4481f0a4c4d"/>
    <p:sldId xmlns:r="http://schemas.openxmlformats.org/officeDocument/2006/relationships" id="270" r:id="R654e9344b4b6497f"/>
    <p:sldId xmlns:r="http://schemas.openxmlformats.org/officeDocument/2006/relationships" id="271" r:id="Ra222ca19990647a7"/>
    <p:sldId xmlns:r="http://schemas.openxmlformats.org/officeDocument/2006/relationships" id="272" r:id="R6227415b6c894190"/>
    <p:sldId xmlns:r="http://schemas.openxmlformats.org/officeDocument/2006/relationships" id="273" r:id="Raac27b505d454deb"/>
    <p:sldId xmlns:r="http://schemas.openxmlformats.org/officeDocument/2006/relationships" id="274" r:id="Rffba772fc83c4627"/>
    <p:sldId xmlns:r="http://schemas.openxmlformats.org/officeDocument/2006/relationships" id="275" r:id="R0e7c3bd13c534031"/>
    <p:sldId xmlns:r="http://schemas.openxmlformats.org/officeDocument/2006/relationships" id="276" r:id="R66c7eddd334d48a8"/>
    <p:sldId xmlns:r="http://schemas.openxmlformats.org/officeDocument/2006/relationships" id="277" r:id="Rba2fedfa4d114e1a"/>
    <p:sldId xmlns:r="http://schemas.openxmlformats.org/officeDocument/2006/relationships" id="278" r:id="R6e8891431db14b10"/>
    <p:sldId xmlns:r="http://schemas.openxmlformats.org/officeDocument/2006/relationships" id="279" r:id="R449f0f27689d4746"/>
    <p:sldId xmlns:r="http://schemas.openxmlformats.org/officeDocument/2006/relationships" id="280" r:id="R3c706b696982487b"/>
    <p:sldId xmlns:r="http://schemas.openxmlformats.org/officeDocument/2006/relationships" id="281" r:id="R24be120ee95d4e0b"/>
    <p:sldId xmlns:r="http://schemas.openxmlformats.org/officeDocument/2006/relationships" id="282" r:id="R53609ed8d78b4b21"/>
    <p:sldId xmlns:r="http://schemas.openxmlformats.org/officeDocument/2006/relationships" id="283" r:id="R14b9646607aa4999"/>
    <p:sldId xmlns:r="http://schemas.openxmlformats.org/officeDocument/2006/relationships" id="284" r:id="Rbd709a6766004483"/>
    <p:sldId xmlns:r="http://schemas.openxmlformats.org/officeDocument/2006/relationships" id="285" r:id="R63197e1e4095410e"/>
    <p:sldId xmlns:r="http://schemas.openxmlformats.org/officeDocument/2006/relationships" id="286" r:id="R1d71494923d14595"/>
    <p:sldId xmlns:r="http://schemas.openxmlformats.org/officeDocument/2006/relationships" id="287" r:id="R7190d1d2e4d04470"/>
    <p:sldId xmlns:r="http://schemas.openxmlformats.org/officeDocument/2006/relationships" id="288" r:id="R014d577b824d40ee"/>
    <p:sldId xmlns:r="http://schemas.openxmlformats.org/officeDocument/2006/relationships" id="289" r:id="Rc96db60afc0e4b5c"/>
    <p:sldId xmlns:r="http://schemas.openxmlformats.org/officeDocument/2006/relationships" id="290" r:id="Rb52733c600b84b7f"/>
    <p:sldId xmlns:r="http://schemas.openxmlformats.org/officeDocument/2006/relationships" id="291" r:id="R2e05ea701aa2446b"/>
    <p:sldId xmlns:r="http://schemas.openxmlformats.org/officeDocument/2006/relationships" id="292" r:id="Re27a10b147bd4ee6"/>
    <p:sldId xmlns:r="http://schemas.openxmlformats.org/officeDocument/2006/relationships" id="293" r:id="R357b06e5a7484e00"/>
    <p:sldId xmlns:r="http://schemas.openxmlformats.org/officeDocument/2006/relationships" id="294" r:id="Rb11ef5b929e14e5c"/>
    <p:sldId xmlns:r="http://schemas.openxmlformats.org/officeDocument/2006/relationships" id="295" r:id="Ra79c81e7ef6149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f374e71434814" /><Relationship Type="http://schemas.openxmlformats.org/officeDocument/2006/relationships/slideMaster" Target="/ppt/slideMasters/slideMaster1.xml" Id="R5ce35e323b5e476b" /><Relationship Type="http://schemas.openxmlformats.org/officeDocument/2006/relationships/notesMaster" Target="/ppt/notesMasters/notesMaster1.xml" Id="R6b5fa20fbe114ff9" /><Relationship Type="http://schemas.openxmlformats.org/officeDocument/2006/relationships/presProps" Target="/ppt/presProps.xml" Id="R37182aee3a66454f" /><Relationship Type="http://schemas.openxmlformats.org/officeDocument/2006/relationships/tableStyles" Target="/ppt/tableStyles.xml" Id="Rbf1beb82c4bd4225" /><Relationship Type="http://schemas.openxmlformats.org/officeDocument/2006/relationships/slide" Target="/ppt/slides/slide1.xml" Id="R51ea9f706c18456f" /><Relationship Type="http://schemas.openxmlformats.org/officeDocument/2006/relationships/slide" Target="/ppt/slides/slide2.xml" Id="R8ba824ee0b1a4441" /><Relationship Type="http://schemas.openxmlformats.org/officeDocument/2006/relationships/slide" Target="/ppt/slides/slide3.xml" Id="R9fdf539af35c4452" /><Relationship Type="http://schemas.openxmlformats.org/officeDocument/2006/relationships/slide" Target="/ppt/slides/slide4.xml" Id="R36a33c1537184738" /><Relationship Type="http://schemas.openxmlformats.org/officeDocument/2006/relationships/slide" Target="/ppt/slides/slide5.xml" Id="Reb409327297546ce" /><Relationship Type="http://schemas.openxmlformats.org/officeDocument/2006/relationships/slide" Target="/ppt/slides/slide6.xml" Id="Rbe57899872ea4e05" /><Relationship Type="http://schemas.openxmlformats.org/officeDocument/2006/relationships/slide" Target="/ppt/slides/slide7.xml" Id="R5b81542b441f41c4" /><Relationship Type="http://schemas.openxmlformats.org/officeDocument/2006/relationships/slide" Target="/ppt/slides/slide8.xml" Id="Rcfcf264e988f4d6d" /><Relationship Type="http://schemas.openxmlformats.org/officeDocument/2006/relationships/slide" Target="/ppt/slides/slide9.xml" Id="R4be2b0d8d706442e" /><Relationship Type="http://schemas.openxmlformats.org/officeDocument/2006/relationships/slide" Target="/ppt/slides/slide10.xml" Id="R00f832b34be84ed9" /><Relationship Type="http://schemas.openxmlformats.org/officeDocument/2006/relationships/slide" Target="/ppt/slides/slide11.xml" Id="R3723ae62c8fe4792" /><Relationship Type="http://schemas.openxmlformats.org/officeDocument/2006/relationships/slide" Target="/ppt/slides/slide12.xml" Id="Rde13c0e293ec4d53" /><Relationship Type="http://schemas.openxmlformats.org/officeDocument/2006/relationships/slide" Target="/ppt/slides/slide13.xml" Id="R83fa1ca85edf4686" /><Relationship Type="http://schemas.openxmlformats.org/officeDocument/2006/relationships/slide" Target="/ppt/slides/slide14.xml" Id="R5e73c4481f0a4c4d" /><Relationship Type="http://schemas.openxmlformats.org/officeDocument/2006/relationships/slide" Target="/ppt/slides/slide15.xml" Id="R654e9344b4b6497f" /><Relationship Type="http://schemas.openxmlformats.org/officeDocument/2006/relationships/slide" Target="/ppt/slides/slide16.xml" Id="Ra222ca19990647a7" /><Relationship Type="http://schemas.openxmlformats.org/officeDocument/2006/relationships/slide" Target="/ppt/slides/slide17.xml" Id="R6227415b6c894190" /><Relationship Type="http://schemas.openxmlformats.org/officeDocument/2006/relationships/slide" Target="/ppt/slides/slide18.xml" Id="Raac27b505d454deb" /><Relationship Type="http://schemas.openxmlformats.org/officeDocument/2006/relationships/slide" Target="/ppt/slides/slide19.xml" Id="Rffba772fc83c4627" /><Relationship Type="http://schemas.openxmlformats.org/officeDocument/2006/relationships/slide" Target="/ppt/slides/slide20.xml" Id="R0e7c3bd13c534031" /><Relationship Type="http://schemas.openxmlformats.org/officeDocument/2006/relationships/slide" Target="/ppt/slides/slide21.xml" Id="R66c7eddd334d48a8" /><Relationship Type="http://schemas.openxmlformats.org/officeDocument/2006/relationships/slide" Target="/ppt/slides/slide22.xml" Id="Rba2fedfa4d114e1a" /><Relationship Type="http://schemas.openxmlformats.org/officeDocument/2006/relationships/slide" Target="/ppt/slides/slide23.xml" Id="R6e8891431db14b10" /><Relationship Type="http://schemas.openxmlformats.org/officeDocument/2006/relationships/slide" Target="/ppt/slides/slide24.xml" Id="R449f0f27689d4746" /><Relationship Type="http://schemas.openxmlformats.org/officeDocument/2006/relationships/slide" Target="/ppt/slides/slide25.xml" Id="R3c706b696982487b" /><Relationship Type="http://schemas.openxmlformats.org/officeDocument/2006/relationships/slide" Target="/ppt/slides/slide26.xml" Id="R24be120ee95d4e0b" /><Relationship Type="http://schemas.openxmlformats.org/officeDocument/2006/relationships/slide" Target="/ppt/slides/slide27.xml" Id="R53609ed8d78b4b21" /><Relationship Type="http://schemas.openxmlformats.org/officeDocument/2006/relationships/slide" Target="/ppt/slides/slide28.xml" Id="R14b9646607aa4999" /><Relationship Type="http://schemas.openxmlformats.org/officeDocument/2006/relationships/slide" Target="/ppt/slides/slide29.xml" Id="Rbd709a6766004483" /><Relationship Type="http://schemas.openxmlformats.org/officeDocument/2006/relationships/slide" Target="/ppt/slides/slide30.xml" Id="R63197e1e4095410e" /><Relationship Type="http://schemas.openxmlformats.org/officeDocument/2006/relationships/slide" Target="/ppt/slides/slide31.xml" Id="R1d71494923d14595" /><Relationship Type="http://schemas.openxmlformats.org/officeDocument/2006/relationships/slide" Target="/ppt/slides/slide32.xml" Id="R7190d1d2e4d04470" /><Relationship Type="http://schemas.openxmlformats.org/officeDocument/2006/relationships/slide" Target="/ppt/slides/slide33.xml" Id="R014d577b824d40ee" /><Relationship Type="http://schemas.openxmlformats.org/officeDocument/2006/relationships/slide" Target="/ppt/slides/slide34.xml" Id="Rc96db60afc0e4b5c" /><Relationship Type="http://schemas.openxmlformats.org/officeDocument/2006/relationships/slide" Target="/ppt/slides/slide35.xml" Id="Rb52733c600b84b7f" /><Relationship Type="http://schemas.openxmlformats.org/officeDocument/2006/relationships/slide" Target="/ppt/slides/slide36.xml" Id="R2e05ea701aa2446b" /><Relationship Type="http://schemas.openxmlformats.org/officeDocument/2006/relationships/slide" Target="/ppt/slides/slide37.xml" Id="Re27a10b147bd4ee6" /><Relationship Type="http://schemas.openxmlformats.org/officeDocument/2006/relationships/slide" Target="/ppt/slides/slide38.xml" Id="R357b06e5a7484e00" /><Relationship Type="http://schemas.openxmlformats.org/officeDocument/2006/relationships/slide" Target="/ppt/slides/slide39.xml" Id="Rb11ef5b929e14e5c" /><Relationship Type="http://schemas.openxmlformats.org/officeDocument/2006/relationships/slide" Target="/ppt/slides/slide40.xml" Id="Ra79c81e7ef6149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d7cafe162d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CU Morning">
      <a:dk1>
        <a:srgbClr val="000000"/>
      </a:dk1>
      <a:lt1>
        <a:srgbClr val="FFFFFF"/>
      </a:lt1>
      <a:dk2>
        <a:srgbClr val="15191F"/>
      </a:dk2>
      <a:lt2>
        <a:srgbClr val="EAF3FF"/>
      </a:lt2>
      <a:accent1>
        <a:srgbClr val="256FE8"/>
      </a:accent1>
      <a:accent2>
        <a:srgbClr val="FF7866"/>
      </a:accent2>
      <a:accent3>
        <a:srgbClr val="22AFA4"/>
      </a:accent3>
      <a:accent4>
        <a:srgbClr val="8B5CF6"/>
      </a:accent4>
      <a:accent5>
        <a:srgbClr val="F4B942"/>
      </a:accent5>
      <a:accent6>
        <a:srgbClr val="36A269"/>
      </a:accent6>
      <a:hlink>
        <a:srgbClr val="256FE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Mo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6cfbf79a04d0b" /><Relationship Type="http://schemas.openxmlformats.org/officeDocument/2006/relationships/notesMaster" Target="/ppt/notesMasters/notesMaster1.xml" Id="R0488cf57ed2548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9b9c2f65c04119" /><Relationship Type="http://schemas.openxmlformats.org/officeDocument/2006/relationships/notesMaster" Target="/ppt/notesMasters/notesMaster1.xml" Id="R7e30890ad6c64d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f877828d8645a4" /><Relationship Type="http://schemas.openxmlformats.org/officeDocument/2006/relationships/notesMaster" Target="/ppt/notesMasters/notesMaster1.xml" Id="Rd380f7c12bcf46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b5b998d0c84739" /><Relationship Type="http://schemas.openxmlformats.org/officeDocument/2006/relationships/notesMaster" Target="/ppt/notesMasters/notesMaster1.xml" Id="Ra256a7307b0446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2fae7149a94058" /><Relationship Type="http://schemas.openxmlformats.org/officeDocument/2006/relationships/notesMaster" Target="/ppt/notesMasters/notesMaster1.xml" Id="R9204b80e7f5e40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378037f0ed4ef2" /><Relationship Type="http://schemas.openxmlformats.org/officeDocument/2006/relationships/notesMaster" Target="/ppt/notesMasters/notesMaster1.xml" Id="R8f1f9a743e8048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02ec10ec3b4983" /><Relationship Type="http://schemas.openxmlformats.org/officeDocument/2006/relationships/notesMaster" Target="/ppt/notesMasters/notesMaster1.xml" Id="R0cf645bfd4174a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6a662b050e46d7" /><Relationship Type="http://schemas.openxmlformats.org/officeDocument/2006/relationships/notesMaster" Target="/ppt/notesMasters/notesMaster1.xml" Id="R4cdc11f68ef140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7f80707b54114" /><Relationship Type="http://schemas.openxmlformats.org/officeDocument/2006/relationships/notesMaster" Target="/ppt/notesMasters/notesMaster1.xml" Id="Rf4c41698a70844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16ed9579d478d" /><Relationship Type="http://schemas.openxmlformats.org/officeDocument/2006/relationships/notesMaster" Target="/ppt/notesMasters/notesMaster1.xml" Id="Rb4dfa1ae6c4e47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0207454e0e4e18" /><Relationship Type="http://schemas.openxmlformats.org/officeDocument/2006/relationships/notesMaster" Target="/ppt/notesMasters/notesMaster1.xml" Id="Rc67e653ad4d54e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edeb4adb1c4125" /><Relationship Type="http://schemas.openxmlformats.org/officeDocument/2006/relationships/notesMaster" Target="/ppt/notesMasters/notesMaster1.xml" Id="R4e2e45293bf949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859fe590f1403b" /><Relationship Type="http://schemas.openxmlformats.org/officeDocument/2006/relationships/notesMaster" Target="/ppt/notesMasters/notesMaster1.xml" Id="R52e66ea83c3a4a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60cb161c0a40da" /><Relationship Type="http://schemas.openxmlformats.org/officeDocument/2006/relationships/notesMaster" Target="/ppt/notesMasters/notesMaster1.xml" Id="R6b02dc748d8d42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881a259bd74848" /><Relationship Type="http://schemas.openxmlformats.org/officeDocument/2006/relationships/notesMaster" Target="/ppt/notesMasters/notesMaster1.xml" Id="R6f9808d128c549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33aba8e4a54bde" /><Relationship Type="http://schemas.openxmlformats.org/officeDocument/2006/relationships/notesMaster" Target="/ppt/notesMasters/notesMaster1.xml" Id="Rfc19b37d92f242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501c890e9f4420" /><Relationship Type="http://schemas.openxmlformats.org/officeDocument/2006/relationships/notesMaster" Target="/ppt/notesMasters/notesMaster1.xml" Id="R36d6a222a7704e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2a09f60b834455" /><Relationship Type="http://schemas.openxmlformats.org/officeDocument/2006/relationships/notesMaster" Target="/ppt/notesMasters/notesMaster1.xml" Id="R8537ac2c7c7d44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a700f12e6c4d5b" /><Relationship Type="http://schemas.openxmlformats.org/officeDocument/2006/relationships/notesMaster" Target="/ppt/notesMasters/notesMaster1.xml" Id="Rb44d6f405cf443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283fb8a2a9440f" /><Relationship Type="http://schemas.openxmlformats.org/officeDocument/2006/relationships/notesMaster" Target="/ppt/notesMasters/notesMaster1.xml" Id="R7d6170b02e3145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f0923bdade42c3" /><Relationship Type="http://schemas.openxmlformats.org/officeDocument/2006/relationships/notesMaster" Target="/ppt/notesMasters/notesMaster1.xml" Id="Rdb975e64d68242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cfae4911ad4537" /><Relationship Type="http://schemas.openxmlformats.org/officeDocument/2006/relationships/notesMaster" Target="/ppt/notesMasters/notesMaster1.xml" Id="R7368e13fc72f41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241f94a7b842f4" /><Relationship Type="http://schemas.openxmlformats.org/officeDocument/2006/relationships/notesMaster" Target="/ppt/notesMasters/notesMaster1.xml" Id="Rf111bb1a447341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1630bdc41342af" /><Relationship Type="http://schemas.openxmlformats.org/officeDocument/2006/relationships/notesMaster" Target="/ppt/notesMasters/notesMaster1.xml" Id="R7032e320d7a648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27897380304a11" /><Relationship Type="http://schemas.openxmlformats.org/officeDocument/2006/relationships/notesMaster" Target="/ppt/notesMasters/notesMaster1.xml" Id="Rcd800049e7a141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6c9edc5fb154c44" /><Relationship Type="http://schemas.openxmlformats.org/officeDocument/2006/relationships/notesMaster" Target="/ppt/notesMasters/notesMaster1.xml" Id="Rc7dd407e19d243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a70e534a6e4ebe" /><Relationship Type="http://schemas.openxmlformats.org/officeDocument/2006/relationships/notesMaster" Target="/ppt/notesMasters/notesMaster1.xml" Id="R11ff1ff79dbd4f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4d543e32064a6d" /><Relationship Type="http://schemas.openxmlformats.org/officeDocument/2006/relationships/notesMaster" Target="/ppt/notesMasters/notesMaster1.xml" Id="R1a2818fc3b884be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b78cf178c84024" /><Relationship Type="http://schemas.openxmlformats.org/officeDocument/2006/relationships/notesMaster" Target="/ppt/notesMasters/notesMaster1.xml" Id="R38bfa8590404417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b3ecb2057a84fd7" /><Relationship Type="http://schemas.openxmlformats.org/officeDocument/2006/relationships/notesMaster" Target="/ppt/notesMasters/notesMaster1.xml" Id="R05506c12e07745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ae211284cf64b41" /><Relationship Type="http://schemas.openxmlformats.org/officeDocument/2006/relationships/notesMaster" Target="/ppt/notesMasters/notesMaster1.xml" Id="Rd77adfcd2df04f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bf8a469606743c9" /><Relationship Type="http://schemas.openxmlformats.org/officeDocument/2006/relationships/notesMaster" Target="/ppt/notesMasters/notesMaster1.xml" Id="Rfd8b063b2d1d4c5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c585ccf93a94001" /><Relationship Type="http://schemas.openxmlformats.org/officeDocument/2006/relationships/notesMaster" Target="/ppt/notesMasters/notesMaster1.xml" Id="Ra731e8269d814c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0449e741dc548d5" /><Relationship Type="http://schemas.openxmlformats.org/officeDocument/2006/relationships/notesMaster" Target="/ppt/notesMasters/notesMaster1.xml" Id="Rf7b648a31377431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be3ece1ad0241e5" /><Relationship Type="http://schemas.openxmlformats.org/officeDocument/2006/relationships/notesMaster" Target="/ppt/notesMasters/notesMaster1.xml" Id="Rff6d0ba059cc4f9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7a74f6f30f64a55" /><Relationship Type="http://schemas.openxmlformats.org/officeDocument/2006/relationships/notesMaster" Target="/ppt/notesMasters/notesMaster1.xml" Id="R924aa0740930423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5fd06d076854743" /><Relationship Type="http://schemas.openxmlformats.org/officeDocument/2006/relationships/notesMaster" Target="/ppt/notesMasters/notesMaster1.xml" Id="R116946c40fef46f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770dd7644674154" /><Relationship Type="http://schemas.openxmlformats.org/officeDocument/2006/relationships/notesMaster" Target="/ppt/notesMasters/notesMaster1.xml" Id="Rc5c33c45605f446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97a7b57263f41d7" /><Relationship Type="http://schemas.openxmlformats.org/officeDocument/2006/relationships/notesMaster" Target="/ppt/notesMasters/notesMaster1.xml" Id="R0607a24ba9384da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75420f09b35462a" /><Relationship Type="http://schemas.openxmlformats.org/officeDocument/2006/relationships/notesMaster" Target="/ppt/notesMasters/notesMaster1.xml" Id="Ra98fff91876640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開場先說明：今天的重點不是把所有按鈕看過一遍，而是每位參與者都完成可帶回課堂的成果。邀請大家先選定一門課程，以及一個真實的教學／研究痛點與問題。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提醒：本簡報已全面採用現行名稱「Gemini Notebook」。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用一張圖建立全日心智模型。上午先完成 AI 教學與研究工作室，下午再把同一作品或資料分析任務交給 Agent 擴充、驗證與交付。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Typeless 放在最前面，先把教師腦中的口語想法整理成可複製、可查證、可交給 Gemini Notebook 的文字素材。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https://www.typeless.com/</a:t>
            </a:r>
          </a:p>
          <a:p xmlns:a="http://schemas.openxmlformats.org/drawingml/2006/main">
            <a:r>
              <a:t>- https://notebook.google.com/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簡要說明時間節奏。實作時採 6 位教授三組雙人共作；若某帳號沒有 Gemini 權限，擔任測試者與教學觀察員仍可完整參與。Typeless 先協助把每組的口述痛點整理成後續 Notebook、Gem 與 Canvas 都能使用的任務文字。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請參與者把這四項成果當作今日 checklist。每一段結束會回來勾選一次。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六位教授建議分三組。不要讓帳號差異變成旁觀：測試者的工作是檢查引用、指令邊界、手機畫面與實際教學價值。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點可能來自教學現場、研究資料、行政流程或共備工作。請每組先說出一個痛點，再把它寫成一句：『我希望哪一群學生、研究參與者或行政夥伴，在什麼情境下，完成什麼改變？』後續所有工具都服務這一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現場不要逐一介紹 123 個工具。請依參與者選定的教學／研究痛點，搜尋 1–2 個最接近的案例，分析它的使用者、輸入、輸出與互動方式，完成『痛點 → 案例 → 可驗證成果』的連線。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三個案例分別對應語文創作、教學設計與互動網站。現場可由三組各選一張，先讀卡片介紹，再用測試者視角操作成品。本次資料依據 H:\Akai v3.6.109 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https://cagoooo.github.io/Akai/tool/91/</a:t>
            </a:r>
          </a:p>
          <a:p xmlns:a="http://schemas.openxmlformats.org/drawingml/2006/main">
            <a:r>
              <a:t>- https://cagoooo.github.io/PhotoPoet/</a:t>
            </a:r>
          </a:p>
          <a:p xmlns:a="http://schemas.openxmlformats.org/drawingml/2006/main">
            <a:r>
              <a:t>- https://cagoooo.github.io/Akai/tool/58/</a:t>
            </a:r>
          </a:p>
          <a:p xmlns:a="http://schemas.openxmlformats.org/drawingml/2006/main">
            <a:r>
              <a:t>- https://cagoooo.github.io/prepare/</a:t>
            </a:r>
          </a:p>
          <a:p xmlns:a="http://schemas.openxmlformats.org/drawingml/2006/main">
            <a:r>
              <a:t>- https://cagoooo.github.io/Akai/tool/11/</a:t>
            </a:r>
          </a:p>
          <a:p xmlns:a="http://schemas.openxmlformats.org/drawingml/2006/main">
            <a:r>
              <a:t>- https://cagoooo.github.io/Akailao/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三個案例分別用於形成性回饋、Google Sites 與 GitHub Pages 部署比較。提醒參與者同時觀察內容架構、權限、維護方式與手機操作。本次資料依據 H:\Akai v3.6.109 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https://cagoooo.github.io/Akai/tool/3/</a:t>
            </a:r>
          </a:p>
          <a:p xmlns:a="http://schemas.openxmlformats.org/drawingml/2006/main">
            <a:r>
              <a:t>- https://cagoooo.github.io/vote/</a:t>
            </a:r>
          </a:p>
          <a:p xmlns:a="http://schemas.openxmlformats.org/drawingml/2006/main">
            <a:r>
              <a:t>- https://cagoooo.github.io/Akai/tool/24/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- https://cagoooo.github.io/Akai/tool/81/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上午先教兩條語音入口。Typeless 適合把想法整理成可複製文字，再交給 Notebook、Gem 或 Canvas；ChatGPT Voice in Work／Codex 適合在桌面版工作區直接口述任務、追問進度與協調 Agent。兩者不是功能排名，而是依工作情境選擇。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現場請避免直接口述學生姓名、信箱、成績或未公開研究資料；先以合成情境示範。Codex Voice 仍需麥克風與工作區權限，請依帳號與資料控制設定使用。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https://www.typeless.com/</a:t>
            </a:r>
          </a:p>
          <a:p xmlns:a="http://schemas.openxmlformats.org/drawingml/2006/main">
            <a:r>
              <a:t>- https://www.typeless.com/downloads</a:t>
            </a:r>
          </a:p>
          <a:p xmlns:a="http://schemas.openxmlformats.org/drawingml/2006/main">
            <a:r>
              <a:t>- https://chatgpt.com/codex/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示範同一個痛點的兩種走法：Typeless 先把口語整理成可複製文字；Codex Voice 則在 ChatGPT 桌面版的 Work／Codex 工作區直接口述任務，讓 Agent 先提出計畫再行動。兩者都要人工檢查意圖、限制、權限與敏感資料。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https://www.typeless.com/</a:t>
            </a:r>
          </a:p>
          <a:p xmlns:a="http://schemas.openxmlformats.org/drawingml/2006/main">
            <a:r>
              <a:t>- https://chatgpt.com/codex/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每組先從自己的真實痛點開始，不要從漂亮的 AI 題目開始。Typeless 使用者保留『原始口述』與『整理後版本』；Codex Voice 使用者保留『口述任務』與『Agent 計畫』。兩組都要在交給下一個工具前，確認沒有個資、越權要求或未授權發布。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https://www.typeless.com/</a:t>
            </a:r>
          </a:p>
          <a:p xmlns:a="http://schemas.openxmlformats.org/drawingml/2006/main">
            <a:r>
              <a:t>- https://www.typeless.com/downloads</a:t>
            </a:r>
          </a:p>
          <a:p xmlns:a="http://schemas.openxmlformats.org/drawingml/2006/main">
            <a:r>
              <a:t>- https://chatgpt.com/codex/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這張橋接圖把兩種語音入口放回上午產線：Typeless 負責整理文字，Codex Voice 負責在工作區協調 Agent；兩者都必須留下可檢查的文字、計畫或證據。接著可把問題交給 Gemini Notebook 建立來源包，或交給 Codex／Gem／Canvas 推進作品。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https://www.typeless.com/</a:t>
            </a:r>
          </a:p>
          <a:p xmlns:a="http://schemas.openxmlformats.org/drawingml/2006/main">
            <a:r>
              <a:t>- https://chatgpt.com/codex/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- https://notebook.google.com/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強調工具選擇不是競賽。Notebook 負責來源，Gem 負責穩定行為，Canvas 負責可操作介面，部署平台負責觸及使用者。這條產線同時適用於教學設計與研究整理。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章節轉場。請參與者準備三份與自己課程最相關的資料。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https://support.google.com/gemininotebook/answer/16164461?hl=zh-Hant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示範同一個問題在一般聊天與來源型筆記本的差異。重點不是『一定正確』，而是『更容易追查與修正』。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https://support.google.com/gemininotebook/answer/16164461?hl=zh-Hant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要求每組先用少量高品質來源建立第一版。來源太多會讓提問與檢核難度提高，熟悉後再擴增。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現場示範以教學駕駛艙 GitHub repo 與公開網站為入口：先閱讀 README 與一個單元頁，再把可公開的內容加入 Gemini Notebook。示範一題能回到引用的問題，再示範一題資料不足的問題；最後把 Notebook 產出的摘要或提問稿放回駕駛艙的教學脈絡。提醒：不要上傳學生個資、未授權教材或私人研究資料。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https://github.com/cagoooo/it-cockpit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- https://support.google.com/gemininotebook/answer/16206563?hl=zh-Hant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這一輪不追求把整座駕駛艙搬進筆記本，而是完成一個可追查的小案例。巡視時請確認來源權限、引用位置與輸出是否真的能被教師修改。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現場請每組依序跑三層提問，感受『問題層級』如何改變輸出。若回答無法回到來源，先修問題，不急著追求華麗文字。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請參與者只選一個駕駛艙成品完成，不要同時生成全部。強調 Notebook 是來源與推理的工作區，駕駛艙則是給教師或學生使用的整理與操作入口；完成後用『內容依據、使用者可用、教師可改』三項快速評估。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https://github.com/cagoooo/it-cockpit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- https://support.google.com/gemininotebook/answer/16164461?hl=zh-Hant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讓每組口頭報告一個『回答得好』與一個『來源不足』的例子。這一步建立查證習慣。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轉場：Notebook 管來源，Gem 管行為。兩者可以搭配，但不要混為同一功能。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用同一份學生作業或教案，分別在一般對話與 Gem 中測試。比較輸出的穩定度與是否遵守格式。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這一頁的現場操作會直接打開講師帳號中既有的 Gem，讓大家看『真實產物如何拆解』。公開版本只示範結構與方法，不顯示私人 Gem 名稱、檔案或對話內容；若參與者帳號看不到相同 Gem，就用下一頁的通用範本重建。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示範先在帳號中複製一個既有 Gem 的有效做法，再把它改成研習用的『教學與研究設計教練』。右側範本刻意保留簡短、可讀、可測試；實際儲存前請確認背景檔案與分享權限。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巡視時請先確認參與者真的在改造一個既有資產，而不是另開一個完全不同的 Gem。測試案例至少包含：未提供學生程度、要求捏造引用、要求直接替學生完成作業。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如果四項只符合一項，先保留成提示詞，不急著做 Gem。可重複與可維護，才是專屬助理的價值。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轉場：現在把前面整理好的內容與教學方法，變成學生能操作的作品。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https://support.google.com/gemini/answer/16047321?hl=en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以『會議記錄自動產出平台（Pro 版）』作為需求參考，不把真實會議逐字稿直接貼入公開示範。先在 Canvas 生成最小可用的會議紀錄介面，再把公開網址嵌入 Google Sites；若來源網站禁止 iframe，就改用『在新分頁開啟』的備援按鈕。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https://cagoooo.github.io/Akai/tool/84/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https://support.google.com/gemini/answer/16047321?hl=en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 #84 會議記錄自動產出平台的需求與操作脈絡，再請 Canvas 生成一個不含真實個資的最小原型。示範完成後複製分享網址，實際放進 Google Sites 頁面預覽；若嵌入被阻擋，保留同一網址的外開備援。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https://cagoooo.github.io/Akai/tool/84/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https://support.google.com/gemini/answer/16047321?hl=en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這個練習把上午三個重點串起來：Gemini Notebook 可整理會議來源，既有 Gem 可固定摘要格式，Canvas 產出可操作介面，Google Sites 負責組織與分享。嵌入前一定要用合成資料或已授權內容驗證。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- https://support.google.com/sites/answer/6372878?hl=zh-Hant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安排同儕交換裝置測試。任何含真實學生或研究資料的作品，今天只做本機或私人分享版本。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 Google Sites 完成 Canvas 會議紀錄系統的嵌入與分享；若作品需要版本化、程式碼維護或跨專案重用，再選 GitHub Pages。EZPage 是降低第一次部署門檻的第三方入口，不是 GitHub 官方工具。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https://support.google.com/sites/answer/6372878?hl=zh-Hant</a:t>
            </a:r>
          </a:p>
          <a:p xmlns:a="http://schemas.openxmlformats.org/drawingml/2006/main">
            <a:r>
              <a:t>- https://docs.github.com/en/pages/quickstart</a:t>
            </a:r>
          </a:p>
          <a:p xmlns:a="http://schemas.openxmlformats.org/drawingml/2006/main">
            <a:r>
              <a:t>- https://gg90052.github.io/ezpage/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Sites 的現場流程是準備分享網址、插入嵌入、調整版面、預覽並發布。請用 #84 會議紀錄平台的需求作為畫面參考；若 Canvas 網址回應拒絕嵌入，直接提供清楚的『在新分頁開啟』按鈕，不要為了嵌入而放寬資料權限。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https://support.google.com/sites/answer/6372878?hl=zh-Hant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示範最簡單的 Deploy from a branch。提醒發布可能需要數分鐘；完成不是看到綠勾，而是實際打開公開網址走完主要流程。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https://docs.github.com/en/pages/quickstart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EZPage 是第三方圖形化入口，不是 GitHub 官方工具。先確認 ZIP 根目錄有 index.html；不要上傳學生個資、研究原始資料或未授權素材。登入授權前檢查權限範圍與儲存庫可見性；部署後仍要打開公開網址驗證。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https://gg90052.github.io/ezpage/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 90 秒：30 秒說明資料與使用者，45 秒操作作品，15 秒說明下一步。示範資料請使用合成或已授權內容；技術評論與 Agent 升級留到午後。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這張是上午與下午之間的生活哲學橋接。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講者觀察：Agent 讓我能完成很多以前想不到自己能做到的事，能力變得非常強大，就像擁有超能力一樣。現在 Agent 時代到來，讓人感覺「沒有你做不到的事，只有你想不到的事」。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但省下時間不等於要把行程塞滿。以前自己做完一件事就結束；現在有 AI 與 Agent 幫忙，常常只要原本 1/10 甚至 1/20 的時間，效率提升至少 20 倍，就會立刻想再做更多優化與改良。這張先請大家停一下，問自己：省下來的時間，我要拿來做什麼？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請把答案帶到下午最後的反思：培養興趣與未來志向、陪伴孩子與家人、和同儕與同事深入溝通，讓科技能力最後回到人的生活與關係。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請參與者先把資源頁加入書籤，再用手機拍下最後一句。若現場時間不足，部署與 Skill 擴寫可依此清單回家續作。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../START_HERE_研習資源導航.html</a:t>
            </a:r>
          </a:p>
          <a:p xmlns:a="http://schemas.openxmlformats.org/drawingml/2006/main">
            <a:r>
              <a:t>- https://notebook.google.com/</a:t>
            </a:r>
          </a:p>
          <a:p xmlns:a="http://schemas.openxmlformats.org/drawingml/2006/main">
            <a:r>
              <a:t>- https://gemini.google.com/gems/create</a:t>
            </a:r>
          </a:p>
          <a:p xmlns:a="http://schemas.openxmlformats.org/drawingml/2006/main">
            <a:r>
              <a:t>- https://gemini.google.com/app</a:t>
            </a:r>
          </a:p>
          <a:p xmlns:a="http://schemas.openxmlformats.org/drawingml/2006/main">
            <a:r>
              <a:t>- https://github.com/cagoooo/it-cockpit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https://sites.google.com/new</a:t>
            </a:r>
          </a:p>
          <a:p xmlns:a="http://schemas.openxmlformats.org/drawingml/2006/main">
            <a:r>
              <a:t>- https://pages.github.com/</a:t>
            </a:r>
          </a:p>
          <a:p xmlns:a="http://schemas.openxmlformats.org/drawingml/2006/main">
            <a:r>
              <a:t>- https://gg90052.github.io/ezpage/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3dd1ba6cc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8359f72374a8c" /><Relationship Type="http://schemas.openxmlformats.org/officeDocument/2006/relationships/slideLayout" Target="/ppt/slideLayouts/slideLayout1.xml" Id="Rd53ac53878aa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3ac53878aa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CU Morning">
      <a:dk1>
        <a:srgbClr val="000000"/>
      </a:dk1>
      <a:lt1>
        <a:srgbClr val="FFFFFF"/>
      </a:lt1>
      <a:dk2>
        <a:srgbClr val="15191F"/>
      </a:dk2>
      <a:lt2>
        <a:srgbClr val="EAF3FF"/>
      </a:lt2>
      <a:accent1>
        <a:srgbClr val="256FE8"/>
      </a:accent1>
      <a:accent2>
        <a:srgbClr val="FF7866"/>
      </a:accent2>
      <a:accent3>
        <a:srgbClr val="22AFA4"/>
      </a:accent3>
      <a:accent4>
        <a:srgbClr val="8B5CF6"/>
      </a:accent4>
      <a:accent5>
        <a:srgbClr val="F4B942"/>
      </a:accent5>
      <a:accent6>
        <a:srgbClr val="36A269"/>
      </a:accent6>
      <a:hlink>
        <a:srgbClr val="256FE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Mo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acfeec3046d3" /><Relationship Type="http://schemas.openxmlformats.org/officeDocument/2006/relationships/image" Target="/ppt/media/image.png" Id="Ra38a1620da2c4911" /><Relationship Type="http://schemas.openxmlformats.org/officeDocument/2006/relationships/notesSlide" Target="/ppt/notesSlides/notesSlide1.xml" Id="R9d64b29136ed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dd21b0eb84d9d" /><Relationship Type="http://schemas.openxmlformats.org/officeDocument/2006/relationships/hyperlink" Target="https://www.typeless.com/" TargetMode="External" Id="R12f8629cd7994dfd" /><Relationship Type="http://schemas.openxmlformats.org/officeDocument/2006/relationships/hyperlink" Target="https://notebook.google.com/" TargetMode="External" Id="R7b24cc44b649407f" /><Relationship Type="http://schemas.openxmlformats.org/officeDocument/2006/relationships/image" Target="/ppt/media/image2.png" Id="R17bb007a6ec64835" /><Relationship Type="http://schemas.openxmlformats.org/officeDocument/2006/relationships/image" Target="/ppt/media/image3.png" Id="Ra868fc119d374abd" /><Relationship Type="http://schemas.openxmlformats.org/officeDocument/2006/relationships/notesSlide" Target="/ppt/notesSlides/notesSlide2.xml" Id="R62e8aed8c4704a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24c3c488a4175" /><Relationship Type="http://schemas.openxmlformats.org/officeDocument/2006/relationships/notesSlide" Target="/ppt/notesSlides/notesSlide3.xml" Id="Rce981ff2b4d8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7f0d375174fa8" /><Relationship Type="http://schemas.openxmlformats.org/officeDocument/2006/relationships/notesSlide" Target="/ppt/notesSlides/notesSlide4.xml" Id="R97ff95e41bc84c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a724538d84a1f" /><Relationship Type="http://schemas.openxmlformats.org/officeDocument/2006/relationships/notesSlide" Target="/ppt/notesSlides/notesSlide5.xml" Id="Ra28eaf082145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2b6e4bcce4f84" /><Relationship Type="http://schemas.openxmlformats.org/officeDocument/2006/relationships/notesSlide" Target="/ppt/notesSlides/notesSlide6.xml" Id="R5612aa4d0c3c4b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806dd3936442e" /><Relationship Type="http://schemas.openxmlformats.org/officeDocument/2006/relationships/image" Target="/ppt/media/image4.png" Id="Rd18ae4af9cf5491c" /><Relationship Type="http://schemas.openxmlformats.org/officeDocument/2006/relationships/hyperlink" Target="https://cagoooo.github.io/Akai/" TargetMode="External" Id="R618f4ed53e114870" /><Relationship Type="http://schemas.openxmlformats.org/officeDocument/2006/relationships/image" Target="/ppt/media/image5.png" Id="R89b9fd8a8f5d488f" /><Relationship Type="http://schemas.openxmlformats.org/officeDocument/2006/relationships/notesSlide" Target="/ppt/notesSlides/notesSlide7.xml" Id="R8a192467af14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d378b33544e57" /><Relationship Type="http://schemas.openxmlformats.org/officeDocument/2006/relationships/hyperlink" Target="https://cagoooo.github.io/Akai/tool/91/" TargetMode="External" Id="Ra8f877d823e44f8f" /><Relationship Type="http://schemas.openxmlformats.org/officeDocument/2006/relationships/image" Target="/ppt/media/image6.png" Id="Rb856bb60944c47be" /><Relationship Type="http://schemas.openxmlformats.org/officeDocument/2006/relationships/hyperlink" Target="https://cagoooo.github.io/PhotoPoet/" TargetMode="External" Id="Reb551ee1a2aa4239" /><Relationship Type="http://schemas.openxmlformats.org/officeDocument/2006/relationships/image" Target="/ppt/media/image7.png" Id="Rb3701e12d5c04295" /><Relationship Type="http://schemas.openxmlformats.org/officeDocument/2006/relationships/hyperlink" Target="https://cagoooo.github.io/Akai/tool/58/" TargetMode="External" Id="Rfc9455e4802c49f8" /><Relationship Type="http://schemas.openxmlformats.org/officeDocument/2006/relationships/image" Target="/ppt/media/image8.png" Id="R793e4e30cfc343de" /><Relationship Type="http://schemas.openxmlformats.org/officeDocument/2006/relationships/hyperlink" Target="https://cagoooo.github.io/prepare/" TargetMode="External" Id="R4153e823159f4ab9" /><Relationship Type="http://schemas.openxmlformats.org/officeDocument/2006/relationships/image" Target="/ppt/media/image9.png" Id="Rcf897a91d1ad42a4" /><Relationship Type="http://schemas.openxmlformats.org/officeDocument/2006/relationships/hyperlink" Target="https://cagoooo.github.io/Akai/tool/11/" TargetMode="External" Id="R79310faa68a64acd" /><Relationship Type="http://schemas.openxmlformats.org/officeDocument/2006/relationships/image" Target="/ppt/media/image10.png" Id="R5f01aaa70eb44881" /><Relationship Type="http://schemas.openxmlformats.org/officeDocument/2006/relationships/hyperlink" Target="https://cagoooo.github.io/Akailao/" TargetMode="External" Id="R86b9e84544eb4c7f" /><Relationship Type="http://schemas.openxmlformats.org/officeDocument/2006/relationships/image" Target="/ppt/media/image11.png" Id="Rcb461fadf3eb4e01" /><Relationship Type="http://schemas.openxmlformats.org/officeDocument/2006/relationships/notesSlide" Target="/ppt/notesSlides/notesSlide8.xml" Id="R135e8e64ddc742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7295de7804631" /><Relationship Type="http://schemas.openxmlformats.org/officeDocument/2006/relationships/hyperlink" Target="https://cagoooo.github.io/Akai/tool/3/" TargetMode="External" Id="Rb69e7144aeb243a3" /><Relationship Type="http://schemas.openxmlformats.org/officeDocument/2006/relationships/image" Target="/ppt/media/image12.png" Id="Rc0b6c35dfce14e06" /><Relationship Type="http://schemas.openxmlformats.org/officeDocument/2006/relationships/hyperlink" Target="https://cagoooo.github.io/vote/" TargetMode="External" Id="Ra051223589744129" /><Relationship Type="http://schemas.openxmlformats.org/officeDocument/2006/relationships/image" Target="/ppt/media/image13.png" Id="R95ccf41b371c44d3" /><Relationship Type="http://schemas.openxmlformats.org/officeDocument/2006/relationships/hyperlink" Target="https://cagoooo.github.io/Akai/tool/24/" TargetMode="External" Id="R6f757cf9c03943a3" /><Relationship Type="http://schemas.openxmlformats.org/officeDocument/2006/relationships/image" Target="/ppt/media/image14.png" Id="R8ff6a74e2cb846c2" /><Relationship Type="http://schemas.openxmlformats.org/officeDocument/2006/relationships/hyperlink" Target="https://sites.google.com/mail2.smes.tyc.edu.tw/114teacher/" TargetMode="External" Id="R3d59dfcbeb0045f5" /><Relationship Type="http://schemas.openxmlformats.org/officeDocument/2006/relationships/image" Target="/ppt/media/image15.png" Id="Rd3990803149e4b44" /><Relationship Type="http://schemas.openxmlformats.org/officeDocument/2006/relationships/hyperlink" Target="https://cagoooo.github.io/Akai/tool/81/" TargetMode="External" Id="R45435a071b9c4505" /><Relationship Type="http://schemas.openxmlformats.org/officeDocument/2006/relationships/image" Target="/ppt/media/image16.png" Id="R5c4a977dd6a44012" /><Relationship Type="http://schemas.openxmlformats.org/officeDocument/2006/relationships/hyperlink" Target="https://cagoooo.github.io/it-cockpit/" TargetMode="External" Id="Rca5e0efa16234d2b" /><Relationship Type="http://schemas.openxmlformats.org/officeDocument/2006/relationships/image" Target="/ppt/media/image17.png" Id="R7c5311f5e54d4d2b" /><Relationship Type="http://schemas.openxmlformats.org/officeDocument/2006/relationships/notesSlide" Target="/ppt/notesSlides/notesSlide9.xml" Id="R3d7a0904cd684f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0bbaf0e0d43f1" /><Relationship Type="http://schemas.openxmlformats.org/officeDocument/2006/relationships/hyperlink" Target="https://www.typeless.com/" TargetMode="External" Id="Rf2a002291d8949da" /><Relationship Type="http://schemas.openxmlformats.org/officeDocument/2006/relationships/hyperlink" Target="https://chatgpt.com/codex/" TargetMode="External" Id="Raf3c061d76444256" /><Relationship Type="http://schemas.openxmlformats.org/officeDocument/2006/relationships/image" Target="/ppt/media/image18.png" Id="Rca9f844831c74c12" /><Relationship Type="http://schemas.openxmlformats.org/officeDocument/2006/relationships/image" Target="/ppt/media/image19.png" Id="R03f5e1230dcb43ca" /><Relationship Type="http://schemas.openxmlformats.org/officeDocument/2006/relationships/notesSlide" Target="/ppt/notesSlides/notesSlide10.xml" Id="R5e954fdfecb14f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99382d2a4f74" /><Relationship Type="http://schemas.openxmlformats.org/officeDocument/2006/relationships/hyperlink" Target="https://www.typeless.com/" TargetMode="External" Id="Rbc731d8ede57431a" /><Relationship Type="http://schemas.openxmlformats.org/officeDocument/2006/relationships/hyperlink" Target="https://chatgpt.com/codex/" TargetMode="External" Id="R6badbafce9cb4d84" /><Relationship Type="http://schemas.openxmlformats.org/officeDocument/2006/relationships/image" Target="/ppt/media/image20.png" Id="Re407f6efe3e24ff1" /><Relationship Type="http://schemas.openxmlformats.org/officeDocument/2006/relationships/image" Target="/ppt/media/image21.png" Id="R7c2541c663c14981" /><Relationship Type="http://schemas.openxmlformats.org/officeDocument/2006/relationships/notesSlide" Target="/ppt/notesSlides/notesSlide11.xml" Id="R1bb7783e02884a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51a0f85d74dee" /><Relationship Type="http://schemas.openxmlformats.org/officeDocument/2006/relationships/hyperlink" Target="https://www.typeless.com/downloads" TargetMode="External" Id="R9032a1e1921b48b8" /><Relationship Type="http://schemas.openxmlformats.org/officeDocument/2006/relationships/hyperlink" Target="https://chatgpt.com/codex/" TargetMode="External" Id="R7a2b3ba34ce341dd" /><Relationship Type="http://schemas.openxmlformats.org/officeDocument/2006/relationships/image" Target="/ppt/media/image22.png" Id="Rfd2d0482691f47bd" /><Relationship Type="http://schemas.openxmlformats.org/officeDocument/2006/relationships/image" Target="/ppt/media/image23.png" Id="Re2bf57e38b574bc1" /><Relationship Type="http://schemas.openxmlformats.org/officeDocument/2006/relationships/notesSlide" Target="/ppt/notesSlides/notesSlide12.xml" Id="R348ae77d583f45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0c57462954d35" /><Relationship Type="http://schemas.openxmlformats.org/officeDocument/2006/relationships/hyperlink" Target="https://www.typeless.com/" TargetMode="External" Id="Rde523f6c953744cf" /><Relationship Type="http://schemas.openxmlformats.org/officeDocument/2006/relationships/hyperlink" Target="https://chatgpt.com/codex/" TargetMode="External" Id="R8418a63ae2774bac" /><Relationship Type="http://schemas.openxmlformats.org/officeDocument/2006/relationships/hyperlink" Target="https://notebook.google.com/" TargetMode="External" Id="R114d1ad0469d4b81" /><Relationship Type="http://schemas.openxmlformats.org/officeDocument/2006/relationships/image" Target="/ppt/media/image24.png" Id="R13df37aea1c94987" /><Relationship Type="http://schemas.openxmlformats.org/officeDocument/2006/relationships/image" Target="/ppt/media/image25.png" Id="Raa04c7c1afa141cc" /><Relationship Type="http://schemas.openxmlformats.org/officeDocument/2006/relationships/notesSlide" Target="/ppt/notesSlides/notesSlide13.xml" Id="Rc648a03e439740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9eeca8d904d25" /><Relationship Type="http://schemas.openxmlformats.org/officeDocument/2006/relationships/notesSlide" Target="/ppt/notesSlides/notesSlide14.xml" Id="Rbf5d1dfbd1f74a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38ada8084633" /><Relationship Type="http://schemas.openxmlformats.org/officeDocument/2006/relationships/hyperlink" Target="https://notebook.google.com/" TargetMode="External" Id="R632e49f9ac694368" /><Relationship Type="http://schemas.openxmlformats.org/officeDocument/2006/relationships/image" Target="/ppt/media/image26.png" Id="R1378e85495a941f5" /><Relationship Type="http://schemas.openxmlformats.org/officeDocument/2006/relationships/notesSlide" Target="/ppt/notesSlides/notesSlide15.xml" Id="R327387c2d2914f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364014ced4187" /><Relationship Type="http://schemas.openxmlformats.org/officeDocument/2006/relationships/hyperlink" Target="https://notebook.google.com/" TargetMode="External" Id="R19ed759e394444bd" /><Relationship Type="http://schemas.openxmlformats.org/officeDocument/2006/relationships/image" Target="/ppt/media/image27.png" Id="Rb1825310941341aa" /><Relationship Type="http://schemas.openxmlformats.org/officeDocument/2006/relationships/notesSlide" Target="/ppt/notesSlides/notesSlide16.xml" Id="R49a333d1c5ec41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b29d6b084475" /><Relationship Type="http://schemas.openxmlformats.org/officeDocument/2006/relationships/hyperlink" Target="https://notebook.google.com/" TargetMode="External" Id="R60d0567e09e4459e" /><Relationship Type="http://schemas.openxmlformats.org/officeDocument/2006/relationships/image" Target="/ppt/media/image28.png" Id="Rfcd4b13e44cb4e89" /><Relationship Type="http://schemas.openxmlformats.org/officeDocument/2006/relationships/notesSlide" Target="/ppt/notesSlides/notesSlide17.xml" Id="Rf5b3447091ad49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0744ceacc476f" /><Relationship Type="http://schemas.openxmlformats.org/officeDocument/2006/relationships/hyperlink" Target="https://notebook.google.com/" TargetMode="External" Id="R3d47324186844fe7" /><Relationship Type="http://schemas.openxmlformats.org/officeDocument/2006/relationships/hyperlink" Target="https://github.com/cagoooo/it-cockpit" TargetMode="External" Id="Rac5f09df6b2145f2" /><Relationship Type="http://schemas.openxmlformats.org/officeDocument/2006/relationships/hyperlink" Target="https://cagoooo.github.io/it-cockpit/" TargetMode="External" Id="R5eb6536253af4823" /><Relationship Type="http://schemas.openxmlformats.org/officeDocument/2006/relationships/image" Target="/ppt/media/image29.png" Id="R5bc24c1fc5134833" /><Relationship Type="http://schemas.openxmlformats.org/officeDocument/2006/relationships/image" Target="/ppt/media/image30.png" Id="R0b6e705b45be4100" /><Relationship Type="http://schemas.openxmlformats.org/officeDocument/2006/relationships/image" Target="/ppt/media/image31.png" Id="R2650d2a41d2e4c7b" /><Relationship Type="http://schemas.openxmlformats.org/officeDocument/2006/relationships/notesSlide" Target="/ppt/notesSlides/notesSlide18.xml" Id="Rc2b775bf4b7d49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b5265a311476b" /><Relationship Type="http://schemas.openxmlformats.org/officeDocument/2006/relationships/hyperlink" Target="https://notebook.google.com/" TargetMode="External" Id="R30ca4a886b8b4f07" /><Relationship Type="http://schemas.openxmlformats.org/officeDocument/2006/relationships/hyperlink" Target="https://cagoooo.github.io/it-cockpit/" TargetMode="External" Id="Rd7649b1159694bf7" /><Relationship Type="http://schemas.openxmlformats.org/officeDocument/2006/relationships/image" Target="/ppt/media/image32.png" Id="Rbba5d92adb0344a9" /><Relationship Type="http://schemas.openxmlformats.org/officeDocument/2006/relationships/image" Target="/ppt/media/image33.png" Id="Reca5f22817ca4c40" /><Relationship Type="http://schemas.openxmlformats.org/officeDocument/2006/relationships/notesSlide" Target="/ppt/notesSlides/notesSlide19.xml" Id="Re237826dff1a4b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dbb148ed493a" /><Relationship Type="http://schemas.openxmlformats.org/officeDocument/2006/relationships/hyperlink" Target="https://notebook.google.com/" TargetMode="External" Id="R6cd97c03b3464d79" /><Relationship Type="http://schemas.openxmlformats.org/officeDocument/2006/relationships/image" Target="/ppt/media/image34.png" Id="Rcb40966517d74f81" /><Relationship Type="http://schemas.openxmlformats.org/officeDocument/2006/relationships/notesSlide" Target="/ppt/notesSlides/notesSlide20.xml" Id="Rf0c774ddaa7743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835a90f004d9f" /><Relationship Type="http://schemas.openxmlformats.org/officeDocument/2006/relationships/hyperlink" Target="https://notebook.google.com/" TargetMode="External" Id="Re8458713f1524ae9" /><Relationship Type="http://schemas.openxmlformats.org/officeDocument/2006/relationships/image" Target="/ppt/media/image35.png" Id="R23d4d80e53f84382" /><Relationship Type="http://schemas.openxmlformats.org/officeDocument/2006/relationships/notesSlide" Target="/ppt/notesSlides/notesSlide21.xml" Id="Ra145db03f95d4e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b9d8ca74d41c0" /><Relationship Type="http://schemas.openxmlformats.org/officeDocument/2006/relationships/hyperlink" Target="https://notebook.google.com/" TargetMode="External" Id="R7b9adb5fc91e4695" /><Relationship Type="http://schemas.openxmlformats.org/officeDocument/2006/relationships/image" Target="/ppt/media/image36.png" Id="R31aeb786018849d6" /><Relationship Type="http://schemas.openxmlformats.org/officeDocument/2006/relationships/notesSlide" Target="/ppt/notesSlides/notesSlide22.xml" Id="Rbf9df07bf6b448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cc9a9d394da4" /><Relationship Type="http://schemas.openxmlformats.org/officeDocument/2006/relationships/hyperlink" Target="https://gemini.google.com/gems/create" TargetMode="External" Id="R4c49448b3ea94486" /><Relationship Type="http://schemas.openxmlformats.org/officeDocument/2006/relationships/image" Target="/ppt/media/image37.png" Id="R8585f5e22c124186" /><Relationship Type="http://schemas.openxmlformats.org/officeDocument/2006/relationships/notesSlide" Target="/ppt/notesSlides/notesSlide23.xml" Id="Re3c3ade575f54e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6a4c8b1584603" /><Relationship Type="http://schemas.openxmlformats.org/officeDocument/2006/relationships/hyperlink" Target="https://gemini.google.com/gems/create" TargetMode="External" Id="Rb49681118ec1493a" /><Relationship Type="http://schemas.openxmlformats.org/officeDocument/2006/relationships/image" Target="/ppt/media/image38.png" Id="R37644167393448f3" /><Relationship Type="http://schemas.openxmlformats.org/officeDocument/2006/relationships/notesSlide" Target="/ppt/notesSlides/notesSlide24.xml" Id="R6d481e7fb88946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e599443a547c1" /><Relationship Type="http://schemas.openxmlformats.org/officeDocument/2006/relationships/hyperlink" Target="https://gemini.google.com/gems/create" TargetMode="External" Id="R89bd443d90f54875" /><Relationship Type="http://schemas.openxmlformats.org/officeDocument/2006/relationships/image" Target="/ppt/media/image39.png" Id="Rb9cf806d2fcd45fa" /><Relationship Type="http://schemas.openxmlformats.org/officeDocument/2006/relationships/notesSlide" Target="/ppt/notesSlides/notesSlide25.xml" Id="Re8602aad0fa64f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a8b9dad634644" /><Relationship Type="http://schemas.openxmlformats.org/officeDocument/2006/relationships/hyperlink" Target="https://gemini.google.com/gems/create" TargetMode="External" Id="Rfa46dac58c2d42f8" /><Relationship Type="http://schemas.openxmlformats.org/officeDocument/2006/relationships/image" Target="/ppt/media/image40.png" Id="Rc4defbddbfff45ca" /><Relationship Type="http://schemas.openxmlformats.org/officeDocument/2006/relationships/notesSlide" Target="/ppt/notesSlides/notesSlide26.xml" Id="R67d58ed6aff046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4ed66693d4bce" /><Relationship Type="http://schemas.openxmlformats.org/officeDocument/2006/relationships/hyperlink" Target="https://gemini.google.com/gems/create" TargetMode="External" Id="R12590dc6ad6d4077" /><Relationship Type="http://schemas.openxmlformats.org/officeDocument/2006/relationships/image" Target="/ppt/media/image41.png" Id="R5a4321cfa1924d4c" /><Relationship Type="http://schemas.openxmlformats.org/officeDocument/2006/relationships/notesSlide" Target="/ppt/notesSlides/notesSlide27.xml" Id="R71a0b7ee16d643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5092e3bf14882" /><Relationship Type="http://schemas.openxmlformats.org/officeDocument/2006/relationships/hyperlink" Target="https://gemini.google.com/gems/create" TargetMode="External" Id="R0701f274854048ec" /><Relationship Type="http://schemas.openxmlformats.org/officeDocument/2006/relationships/image" Target="/ppt/media/image42.png" Id="R2bdbaec7a94c42a7" /><Relationship Type="http://schemas.openxmlformats.org/officeDocument/2006/relationships/notesSlide" Target="/ppt/notesSlides/notesSlide28.xml" Id="R0a3ac7b901a247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5dbbdb2a4b04" /><Relationship Type="http://schemas.openxmlformats.org/officeDocument/2006/relationships/hyperlink" Target="https://gemini.google.com/app" TargetMode="External" Id="R598f3a11b49149b7" /><Relationship Type="http://schemas.openxmlformats.org/officeDocument/2006/relationships/image" Target="/ppt/media/image43.png" Id="R90d3529ba5eb4718" /><Relationship Type="http://schemas.openxmlformats.org/officeDocument/2006/relationships/notesSlide" Target="/ppt/notesSlides/notesSlide29.xml" Id="R6d31b8da10a940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e574e93cc413e" /><Relationship Type="http://schemas.openxmlformats.org/officeDocument/2006/relationships/hyperlink" Target="https://gemini.google.com/app" TargetMode="External" Id="Rde9e8f92df9946a6" /><Relationship Type="http://schemas.openxmlformats.org/officeDocument/2006/relationships/image" Target="/ppt/media/image44.png" Id="R205b3478f08344a9" /><Relationship Type="http://schemas.openxmlformats.org/officeDocument/2006/relationships/notesSlide" Target="/ppt/notesSlides/notesSlide30.xml" Id="R52582b56ad984d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04d049de14f30" /><Relationship Type="http://schemas.openxmlformats.org/officeDocument/2006/relationships/hyperlink" Target="https://gemini.google.com/app" TargetMode="External" Id="R94a584585ffa46fb" /><Relationship Type="http://schemas.openxmlformats.org/officeDocument/2006/relationships/hyperlink" Target="https://cagoooo.github.io/domain-meeting-go/" TargetMode="External" Id="Rba7f34f7e2b74410" /><Relationship Type="http://schemas.openxmlformats.org/officeDocument/2006/relationships/image" Target="/ppt/media/image45.png" Id="R2cb2b05cec424824" /><Relationship Type="http://schemas.openxmlformats.org/officeDocument/2006/relationships/image" Target="/ppt/media/image46.png" Id="R79371f3b6ae04f06" /><Relationship Type="http://schemas.openxmlformats.org/officeDocument/2006/relationships/notesSlide" Target="/ppt/notesSlides/notesSlide31.xml" Id="R065aaa8eac7145e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93b3b068e4df7" /><Relationship Type="http://schemas.openxmlformats.org/officeDocument/2006/relationships/hyperlink" Target="https://gemini.google.com/app" TargetMode="External" Id="R8a541ffd8e4148a3" /><Relationship Type="http://schemas.openxmlformats.org/officeDocument/2006/relationships/hyperlink" Target="https://cagoooo.github.io/domain-meeting-go/" TargetMode="External" Id="R52374c773d25409b" /><Relationship Type="http://schemas.openxmlformats.org/officeDocument/2006/relationships/hyperlink" Target="https://sites.google.com/mail2.smes.tyc.edu.tw/114teacher/" TargetMode="External" Id="Re5d52ccb9e8d4ca3" /><Relationship Type="http://schemas.openxmlformats.org/officeDocument/2006/relationships/image" Target="/ppt/media/image47.png" Id="R8392342f75ed4a0e" /><Relationship Type="http://schemas.openxmlformats.org/officeDocument/2006/relationships/image" Target="/ppt/media/image48.png" Id="R443d0f2ec0ad4851" /><Relationship Type="http://schemas.openxmlformats.org/officeDocument/2006/relationships/image" Target="/ppt/media/image49.png" Id="R0ea3284df5164f94" /><Relationship Type="http://schemas.openxmlformats.org/officeDocument/2006/relationships/notesSlide" Target="/ppt/notesSlides/notesSlide32.xml" Id="R1674c2f5c7ec4d1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20ef67df04be0" /><Relationship Type="http://schemas.openxmlformats.org/officeDocument/2006/relationships/hyperlink" Target="https://sites.google.com/new" TargetMode="External" Id="R73749811c1e14cfb" /><Relationship Type="http://schemas.openxmlformats.org/officeDocument/2006/relationships/hyperlink" Target="https://cagoooo.github.io/domain-meeting-go/" TargetMode="External" Id="Rf9c5b60022364c3f" /><Relationship Type="http://schemas.openxmlformats.org/officeDocument/2006/relationships/image" Target="/ppt/media/image50.png" Id="R8c2f6e37bee44cb5" /><Relationship Type="http://schemas.openxmlformats.org/officeDocument/2006/relationships/image" Target="/ppt/media/image51.png" Id="Re2def8e5af344a20" /><Relationship Type="http://schemas.openxmlformats.org/officeDocument/2006/relationships/notesSlide" Target="/ppt/notesSlides/notesSlide33.xml" Id="Rbdc8ed27e4ac480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685094ef643af" /><Relationship Type="http://schemas.openxmlformats.org/officeDocument/2006/relationships/hyperlink" Target="https://sites.google.com/new" TargetMode="External" Id="R6aa80fe7c8fd4f5f" /><Relationship Type="http://schemas.openxmlformats.org/officeDocument/2006/relationships/hyperlink" Target="https://pages.github.com/" TargetMode="External" Id="Rf54c64ab2ee24acc" /><Relationship Type="http://schemas.openxmlformats.org/officeDocument/2006/relationships/hyperlink" Target="https://gg90052.github.io/ezpage/" TargetMode="External" Id="R06ffaeaaa8174f43" /><Relationship Type="http://schemas.openxmlformats.org/officeDocument/2006/relationships/image" Target="/ppt/media/image52.png" Id="Rbff6c95a34aa4d75" /><Relationship Type="http://schemas.openxmlformats.org/officeDocument/2006/relationships/image" Target="/ppt/media/image53.png" Id="R54eb20dfa3b9485f" /><Relationship Type="http://schemas.openxmlformats.org/officeDocument/2006/relationships/image" Target="/ppt/media/image54.png" Id="R6293faf658194706" /><Relationship Type="http://schemas.openxmlformats.org/officeDocument/2006/relationships/notesSlide" Target="/ppt/notesSlides/notesSlide34.xml" Id="R38dd436014d94be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a45503f2c47ed" /><Relationship Type="http://schemas.openxmlformats.org/officeDocument/2006/relationships/hyperlink" Target="https://sites.google.com/new" TargetMode="External" Id="Ra408e62f1be14f75" /><Relationship Type="http://schemas.openxmlformats.org/officeDocument/2006/relationships/hyperlink" Target="https://sites.google.com/mail2.smes.tyc.edu.tw/114teacher/" TargetMode="External" Id="R06d769ca8dea457f" /><Relationship Type="http://schemas.openxmlformats.org/officeDocument/2006/relationships/image" Target="/ppt/media/image55.png" Id="R9a20aa696c2e47b6" /><Relationship Type="http://schemas.openxmlformats.org/officeDocument/2006/relationships/image" Target="/ppt/media/image56.png" Id="Rb1e0433ec4914393" /><Relationship Type="http://schemas.openxmlformats.org/officeDocument/2006/relationships/notesSlide" Target="/ppt/notesSlides/notesSlide35.xml" Id="R31057a3a9a2e43d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a3676b3874829" /><Relationship Type="http://schemas.openxmlformats.org/officeDocument/2006/relationships/hyperlink" Target="https://pages.github.com/" TargetMode="External" Id="Rfd58780c1f1d458f" /><Relationship Type="http://schemas.openxmlformats.org/officeDocument/2006/relationships/image" Target="/ppt/media/image57.png" Id="R5d124200a3c44061" /><Relationship Type="http://schemas.openxmlformats.org/officeDocument/2006/relationships/notesSlide" Target="/ppt/notesSlides/notesSlide36.xml" Id="R8ba09e603cc8453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d59d979804ded" /><Relationship Type="http://schemas.openxmlformats.org/officeDocument/2006/relationships/hyperlink" Target="https://gg90052.github.io/ezpage/" TargetMode="External" Id="R26913cbc73334a8b" /><Relationship Type="http://schemas.openxmlformats.org/officeDocument/2006/relationships/image" Target="/ppt/media/image58.png" Id="R0c2bca5829214f2c" /><Relationship Type="http://schemas.openxmlformats.org/officeDocument/2006/relationships/notesSlide" Target="/ppt/notesSlides/notesSlide37.xml" Id="R1e8167acb5e9422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457c9ab9042b5" /><Relationship Type="http://schemas.openxmlformats.org/officeDocument/2006/relationships/hyperlink" Target="https://notebook.google.com/" TargetMode="External" Id="R564567d7279d4e5d" /><Relationship Type="http://schemas.openxmlformats.org/officeDocument/2006/relationships/hyperlink" Target="https://cagoooo.github.io/domain-meeting-go/" TargetMode="External" Id="R1e220fd8fabd4fb1" /><Relationship Type="http://schemas.openxmlformats.org/officeDocument/2006/relationships/hyperlink" Target="https://sites.google.com/mail2.smes.tyc.edu.tw/114teacher/" TargetMode="External" Id="R03e43a81e22e48bf" /><Relationship Type="http://schemas.openxmlformats.org/officeDocument/2006/relationships/image" Target="/ppt/media/image59.png" Id="R6057de65843c4751" /><Relationship Type="http://schemas.openxmlformats.org/officeDocument/2006/relationships/image" Target="/ppt/media/image60.png" Id="Ra1213fb70e4c4abb" /><Relationship Type="http://schemas.openxmlformats.org/officeDocument/2006/relationships/image" Target="/ppt/media/image61.png" Id="R01ff6d2ca2214d9f" /><Relationship Type="http://schemas.openxmlformats.org/officeDocument/2006/relationships/notesSlide" Target="/ppt/notesSlides/notesSlide38.xml" Id="Rbcd28c59672c4c3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56676202546fe" /><Relationship Type="http://schemas.openxmlformats.org/officeDocument/2006/relationships/notesSlide" Target="/ppt/notesSlides/notesSlide39.xml" Id="R41d62512926c476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bc9cd864446db" /><Relationship Type="http://schemas.openxmlformats.org/officeDocument/2006/relationships/hyperlink" Target="../START_HERE_&#30740;&#32722;&#36039;&#28304;&#23566;&#33322;.html" TargetMode="External" Id="Rbd5251b6ae454174" /><Relationship Type="http://schemas.openxmlformats.org/officeDocument/2006/relationships/image" Target="/ppt/media/image62.png" Id="R585ea9c7b1c84add" /><Relationship Type="http://schemas.openxmlformats.org/officeDocument/2006/relationships/hyperlink" Target="https://notebook.google.com/" TargetMode="External" Id="R4eeba8a40fd24c57" /><Relationship Type="http://schemas.openxmlformats.org/officeDocument/2006/relationships/image" Target="/ppt/media/image63.png" Id="R8d3bc60defe2427d" /><Relationship Type="http://schemas.openxmlformats.org/officeDocument/2006/relationships/hyperlink" Target="https://gemini.google.com/gems/create" TargetMode="External" Id="Rde092dd98f2d4a67" /><Relationship Type="http://schemas.openxmlformats.org/officeDocument/2006/relationships/image" Target="/ppt/media/image64.png" Id="R9b817c1946134ec7" /><Relationship Type="http://schemas.openxmlformats.org/officeDocument/2006/relationships/hyperlink" Target="https://gemini.google.com/app" TargetMode="External" Id="Re72bd7874e7f43b1" /><Relationship Type="http://schemas.openxmlformats.org/officeDocument/2006/relationships/image" Target="/ppt/media/image65.png" Id="Re0599e5d17484524" /><Relationship Type="http://schemas.openxmlformats.org/officeDocument/2006/relationships/hyperlink" Target="https://github.com/cagoooo/it-cockpit" TargetMode="External" Id="R049bfb2133954a6d" /><Relationship Type="http://schemas.openxmlformats.org/officeDocument/2006/relationships/image" Target="/ppt/media/image66.png" Id="R32b3845aa1fb481f" /><Relationship Type="http://schemas.openxmlformats.org/officeDocument/2006/relationships/hyperlink" Target="https://cagoooo.github.io/it-cockpit/" TargetMode="External" Id="R308e02d15b8e4f60" /><Relationship Type="http://schemas.openxmlformats.org/officeDocument/2006/relationships/image" Target="/ppt/media/image67.png" Id="R1f7362c9679b4256" /><Relationship Type="http://schemas.openxmlformats.org/officeDocument/2006/relationships/hyperlink" Target="https://cagoooo.github.io/domain-meeting-go/" TargetMode="External" Id="Rbae06e0c256c4c59" /><Relationship Type="http://schemas.openxmlformats.org/officeDocument/2006/relationships/image" Target="/ppt/media/image68.png" Id="R78b5c92da62d44ab" /><Relationship Type="http://schemas.openxmlformats.org/officeDocument/2006/relationships/hyperlink" Target="https://sites.google.com/new" TargetMode="External" Id="R553bfb40df3c4eeb" /><Relationship Type="http://schemas.openxmlformats.org/officeDocument/2006/relationships/image" Target="/ppt/media/image69.png" Id="Ra2bb2f7d8dff4605" /><Relationship Type="http://schemas.openxmlformats.org/officeDocument/2006/relationships/hyperlink" Target="https://pages.github.com/" TargetMode="External" Id="Rab555033c0644aa6" /><Relationship Type="http://schemas.openxmlformats.org/officeDocument/2006/relationships/image" Target="/ppt/media/image70.png" Id="Ra1ee9998d64f41b5" /><Relationship Type="http://schemas.openxmlformats.org/officeDocument/2006/relationships/hyperlink" Target="https://gg90052.github.io/ezpage/" TargetMode="External" Id="R51cfeb187af64c6e" /><Relationship Type="http://schemas.openxmlformats.org/officeDocument/2006/relationships/image" Target="/ppt/media/image71.png" Id="Rca938d2b69214617" /><Relationship Type="http://schemas.openxmlformats.org/officeDocument/2006/relationships/notesSlide" Target="/ppt/notesSlides/notesSlide40.xml" Id="R6041f2708b0a4a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a1620da2c49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1">
            <a:extLst xmlns:a="http://schemas.openxmlformats.org/drawingml/2006/main">
              <a:ext uri="{FF2B5EF4-FFF2-40B4-BE49-F238E27FC236}">
                <a16:creationId xmlns:a16="http://schemas.microsoft.com/office/drawing/2014/main" id="{F299AA38-AB7B-4790-BF90-BF5D92C4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6586FD-97D6-495E-9DF1-20734BF2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國立中央大學｜2026.08.26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E91154-6719-4EB4-9C93-F02DDD32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上午場｜09:00–12:00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C36451-3B34-43F7-9DDB-A86354ED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959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打造專屬 AI 教學與研究工作室：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Notebook、Gem、Canvas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與網站部署實作</a:t>
            </a:r>
          </a:p>
        </p:txBody>
      </p:sp>
      <p:sp>
        <p:nvSpPr>
          <p:cNvPr id="6" name="shape-5">
            <a:extLst xmlns:a="http://schemas.openxmlformats.org/drawingml/2006/main">
              <a:ext uri="{FF2B5EF4-FFF2-40B4-BE49-F238E27FC236}">
                <a16:creationId xmlns:a16="http://schemas.microsoft.com/office/drawing/2014/main" id="{8077681A-E7A6-4DB6-9EDC-023CDCC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CDC70A-8CC4-4BF2-B184-E4D8B284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5219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從 AI 教學與研究助理到 AI Agent：大學教師的生成式 AI 實作工作坊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35CA382-DA7F-48ED-AB0A-5A565BB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黃凱揚（阿凱老師）｜桃園市龍潭區石門國小資訊組長｜教學年資第 11 年</a:t>
            </a:r>
          </a:p>
        </p:txBody>
      </p:sp>
    </p:spTree>
    <p:extLst>
      <p:ext uri="{BB962C8B-B14F-4D97-AF65-F5344CB8AC3E}">
        <p14:creationId xmlns:p14="http://schemas.microsoft.com/office/powerpoint/2010/main" val="471193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-8">
            <a:extLst xmlns:a="http://schemas.openxmlformats.org/drawingml/2006/main">
              <a:ext uri="{FF2B5EF4-FFF2-40B4-BE49-F238E27FC236}">
                <a16:creationId xmlns:a16="http://schemas.microsoft.com/office/drawing/2014/main" id="{4C399CED-FEF5-4E09-85FD-D4874A0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FROM ASSISTANT TO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C37BAD-1DEE-477B-BC6D-383AFC0A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今天的學習弧線</a:t>
            </a:r>
          </a:p>
        </p:txBody>
      </p:sp>
      <p:cxnSp>
        <p:nvCxnSpPr>
          <p:cNvPr id="44" name="shape-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E38CCF63-24C0-4C26-A967-6099958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41C7D1-C000-4758-9BDB-1132532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6" name="shape-11">
            <a:extLst xmlns:a="http://schemas.openxmlformats.org/drawingml/2006/main">
              <a:ext uri="{FF2B5EF4-FFF2-40B4-BE49-F238E27FC236}">
                <a16:creationId xmlns:a16="http://schemas.microsoft.com/office/drawing/2014/main" id="{B638FD4D-906F-4379-8BAC-8D72D9EC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12">
            <a:extLst xmlns:a="http://schemas.openxmlformats.org/drawingml/2006/main">
              <a:ext uri="{FF2B5EF4-FFF2-40B4-BE49-F238E27FC236}">
                <a16:creationId xmlns:a16="http://schemas.microsoft.com/office/drawing/2014/main" id="{0D9ADE67-9EAE-4AB9-94B9-A3A7063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1CF44814-F4AC-4491-9DA3-C3CA2A30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4CB5DBA9-566D-44C9-AC2B-51BBD30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先說清楚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DBD21BEC-4845-4B75-99F0-C03337A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Typeless 把口語想法整理成可用文字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03A38152-ED59-4B42-B102-87A4278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7">
            <a:extLst xmlns:a="http://schemas.openxmlformats.org/drawingml/2006/main">
              <a:ext uri="{FF2B5EF4-FFF2-40B4-BE49-F238E27FC236}">
                <a16:creationId xmlns:a16="http://schemas.microsoft.com/office/drawing/2014/main" id="{75A86000-C86D-448C-A5EE-30E5607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18">
            <a:extLst xmlns:a="http://schemas.openxmlformats.org/drawingml/2006/main">
              <a:ext uri="{FF2B5EF4-FFF2-40B4-BE49-F238E27FC236}">
                <a16:creationId xmlns:a16="http://schemas.microsoft.com/office/drawing/2014/main" id="{09420A2B-5219-4C4F-8DBE-486DC04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689AB498-2BD5-4F0F-80A4-ACB9FD96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47788ED8-466E-4D0C-87F1-9F1DEF8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有根據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E7C864F4-3D6E-487F-9022-965DC27E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Gemini Notebook 整理可信來源</a:t>
            </a:r>
          </a:p>
        </p:txBody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27D3B8BC-9AC2-437E-9C6E-2C8B6EB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3">
            <a:extLst xmlns:a="http://schemas.openxmlformats.org/drawingml/2006/main">
              <a:ext uri="{FF2B5EF4-FFF2-40B4-BE49-F238E27FC236}">
                <a16:creationId xmlns:a16="http://schemas.microsoft.com/office/drawing/2014/main" id="{DC330BAF-2950-4B03-965B-25F6587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24">
            <a:extLst xmlns:a="http://schemas.openxmlformats.org/drawingml/2006/main">
              <a:ext uri="{FF2B5EF4-FFF2-40B4-BE49-F238E27FC236}">
                <a16:creationId xmlns:a16="http://schemas.microsoft.com/office/drawing/2014/main" id="{FED14025-622A-4609-B083-65D53FFD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92E874E9-0EAA-44EF-878A-E956D348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6">
            <a:extLst xmlns:a="http://schemas.openxmlformats.org/drawingml/2006/main">
              <a:ext uri="{FF2B5EF4-FFF2-40B4-BE49-F238E27FC236}">
                <a16:creationId xmlns:a16="http://schemas.microsoft.com/office/drawing/2014/main" id="{A0D85749-AB90-4AE7-8255-78F15435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有角色</a:t>
            </a:r>
          </a:p>
        </p:txBody>
      </p:sp>
      <p:sp>
        <p:nvSpPr>
          <p:cNvPr id="22" name="text-27">
            <a:extLst xmlns:a="http://schemas.openxmlformats.org/drawingml/2006/main">
              <a:ext uri="{FF2B5EF4-FFF2-40B4-BE49-F238E27FC236}">
                <a16:creationId xmlns:a16="http://schemas.microsoft.com/office/drawing/2014/main" id="{8A3A5BC7-E0B7-4B69-A4D2-B0F0E65A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Gem 固定教學方法與回覆格式</a:t>
            </a:r>
          </a:p>
        </p:txBody>
      </p:sp>
      <p:sp>
        <p:nvSpPr>
          <p:cNvPr id="23" name="text-28">
            <a:extLst xmlns:a="http://schemas.openxmlformats.org/drawingml/2006/main">
              <a:ext uri="{FF2B5EF4-FFF2-40B4-BE49-F238E27FC236}">
                <a16:creationId xmlns:a16="http://schemas.microsoft.com/office/drawing/2014/main" id="{1732955C-84CC-4754-ACB2-6960D6E1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9">
            <a:extLst xmlns:a="http://schemas.openxmlformats.org/drawingml/2006/main">
              <a:ext uri="{FF2B5EF4-FFF2-40B4-BE49-F238E27FC236}">
                <a16:creationId xmlns:a16="http://schemas.microsoft.com/office/drawing/2014/main" id="{BBF1CD2D-86C8-4123-9887-E3EE615F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30">
            <a:extLst xmlns:a="http://schemas.openxmlformats.org/drawingml/2006/main">
              <a:ext uri="{FF2B5EF4-FFF2-40B4-BE49-F238E27FC236}">
                <a16:creationId xmlns:a16="http://schemas.microsoft.com/office/drawing/2014/main" id="{5CE05A02-41DD-479B-8800-C525945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1">
            <a:extLst xmlns:a="http://schemas.openxmlformats.org/drawingml/2006/main">
              <a:ext uri="{FF2B5EF4-FFF2-40B4-BE49-F238E27FC236}">
                <a16:creationId xmlns:a16="http://schemas.microsoft.com/office/drawing/2014/main" id="{28C8AD1A-EAD9-4856-B72E-000A13E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6986AF86-F492-4037-805D-587EF9B3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有作品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BA63E358-DF92-4C3C-8B5F-9ACEC4D9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Canvas 做出互動教學原型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C22B15ED-4940-4C2D-9EAD-ABFE79A2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35">
            <a:extLst xmlns:a="http://schemas.openxmlformats.org/drawingml/2006/main">
              <a:ext uri="{FF2B5EF4-FFF2-40B4-BE49-F238E27FC236}">
                <a16:creationId xmlns:a16="http://schemas.microsoft.com/office/drawing/2014/main" id="{E4B8D302-758A-4FAF-BC85-B03271EF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1" name="shape-36">
            <a:extLst xmlns:a="http://schemas.openxmlformats.org/drawingml/2006/main">
              <a:ext uri="{FF2B5EF4-FFF2-40B4-BE49-F238E27FC236}">
                <a16:creationId xmlns:a16="http://schemas.microsoft.com/office/drawing/2014/main" id="{C52A6694-937C-42E9-BADA-432D8657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7">
            <a:extLst xmlns:a="http://schemas.openxmlformats.org/drawingml/2006/main">
              <a:ext uri="{FF2B5EF4-FFF2-40B4-BE49-F238E27FC236}">
                <a16:creationId xmlns:a16="http://schemas.microsoft.com/office/drawing/2014/main" id="{9513BFC9-DAD1-41A6-9771-A17D506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38">
            <a:extLst xmlns:a="http://schemas.openxmlformats.org/drawingml/2006/main">
              <a:ext uri="{FF2B5EF4-FFF2-40B4-BE49-F238E27FC236}">
                <a16:creationId xmlns:a16="http://schemas.microsoft.com/office/drawing/2014/main" id="{679CEEA9-4CBE-45E0-BC9D-CA33781E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能分享</a:t>
            </a:r>
          </a:p>
        </p:txBody>
      </p:sp>
      <p:sp>
        <p:nvSpPr>
          <p:cNvPr id="34" name="text-39">
            <a:extLst xmlns:a="http://schemas.openxmlformats.org/drawingml/2006/main">
              <a:ext uri="{FF2B5EF4-FFF2-40B4-BE49-F238E27FC236}">
                <a16:creationId xmlns:a16="http://schemas.microsoft.com/office/drawing/2014/main" id="{5862F269-8637-4F43-931B-BEAB53FB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Sites 或 Pages 發布成果</a:t>
            </a:r>
          </a:p>
        </p:txBody>
      </p:sp>
      <p:sp>
        <p:nvSpPr>
          <p:cNvPr id="35" name="text-40">
            <a:extLst xmlns:a="http://schemas.openxmlformats.org/drawingml/2006/main">
              <a:ext uri="{FF2B5EF4-FFF2-40B4-BE49-F238E27FC236}">
                <a16:creationId xmlns:a16="http://schemas.microsoft.com/office/drawing/2014/main" id="{B136B0A3-E3A9-4F23-BDB5-BDBE84F0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6" name="text-753">
            <a:extLst xmlns:a="http://schemas.openxmlformats.org/drawingml/2006/main">
              <a:ext uri="{FF2B5EF4-FFF2-40B4-BE49-F238E27FC236}">
                <a16:creationId xmlns:a16="http://schemas.microsoft.com/office/drawing/2014/main" id="{A8D320EC-2F70-4182-A15E-59F8486A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2f8629cd7994dfd"/>
              </a:rPr>
              <a:t>Typeless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b24cc44b649407f"/>
              </a:rPr>
              <a:t>Gemini Notebook ↗</a:t>
            </a:r>
          </a:p>
        </p:txBody>
      </p:sp>
      <p:sp>
        <p:nvSpPr>
          <p:cNvPr id="37" name="shape-783">
            <a:extLst xmlns:a="http://schemas.openxmlformats.org/drawingml/2006/main">
              <a:ext uri="{FF2B5EF4-FFF2-40B4-BE49-F238E27FC236}">
                <a16:creationId xmlns:a16="http://schemas.microsoft.com/office/drawing/2014/main" id="{ED03D282-BDC5-49FF-905C-599CE788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b007a6ec64835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9" name="text-784">
            <a:extLst xmlns:a="http://schemas.openxmlformats.org/drawingml/2006/main">
              <a:ext uri="{FF2B5EF4-FFF2-40B4-BE49-F238E27FC236}">
                <a16:creationId xmlns:a16="http://schemas.microsoft.com/office/drawing/2014/main" id="{9749A8B0-55DB-4634-9D0C-5683AAF0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Typeless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8fc119d374abd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41" name="text-785">
            <a:extLst xmlns:a="http://schemas.openxmlformats.org/drawingml/2006/main">
              <a:ext uri="{FF2B5EF4-FFF2-40B4-BE49-F238E27FC236}">
                <a16:creationId xmlns:a16="http://schemas.microsoft.com/office/drawing/2014/main" id="{4F163AD9-7E26-48E9-9A05-A432F99B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997917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41">
            <a:extLst xmlns:a="http://schemas.openxmlformats.org/drawingml/2006/main">
              <a:ext uri="{FF2B5EF4-FFF2-40B4-BE49-F238E27FC236}">
                <a16:creationId xmlns:a16="http://schemas.microsoft.com/office/drawing/2014/main" id="{6DF3F34A-DAE4-402C-B0B5-7B1FE664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RUN OF SHOW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8FCAEA-A9B3-4A4F-8F90-F066F187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 180 分鐘：每一段都有作品</a:t>
            </a:r>
          </a:p>
        </p:txBody>
      </p:sp>
      <p:cxnSp>
        <p:nvCxnSpPr>
          <p:cNvPr id="37" name="shape-4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403F0E2F-639C-49CA-91A3-140DF718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B129AB-95F7-441A-B8F4-94FA4F0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6" name="shape-44">
            <a:extLst xmlns:a="http://schemas.openxmlformats.org/drawingml/2006/main">
              <a:ext uri="{FF2B5EF4-FFF2-40B4-BE49-F238E27FC236}">
                <a16:creationId xmlns:a16="http://schemas.microsoft.com/office/drawing/2014/main" id="{B363427E-F802-40E8-AF70-CA60F5B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45">
            <a:extLst xmlns:a="http://schemas.openxmlformats.org/drawingml/2006/main">
              <a:ext uri="{FF2B5EF4-FFF2-40B4-BE49-F238E27FC236}">
                <a16:creationId xmlns:a16="http://schemas.microsoft.com/office/drawing/2014/main" id="{FA8B66B1-35BD-4A8E-848F-9434C6B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CDE3F75F-F4C2-4380-AE2B-1111D6A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00–10</a:t>
            </a:r>
          </a:p>
        </p:txBody>
      </p:sp>
      <p:sp>
        <p:nvSpPr>
          <p:cNvPr id="9" name="text-47">
            <a:extLst xmlns:a="http://schemas.openxmlformats.org/drawingml/2006/main">
              <a:ext uri="{FF2B5EF4-FFF2-40B4-BE49-F238E27FC236}">
                <a16:creationId xmlns:a16="http://schemas.microsoft.com/office/drawing/2014/main" id="{FC2ED1EA-01AE-400A-8383-FF069DF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定題</a:t>
            </a:r>
          </a:p>
        </p:txBody>
      </p:sp>
      <p:sp>
        <p:nvSpPr>
          <p:cNvPr id="10" name="text-48">
            <a:extLst xmlns:a="http://schemas.openxmlformats.org/drawingml/2006/main">
              <a:ext uri="{FF2B5EF4-FFF2-40B4-BE49-F238E27FC236}">
                <a16:creationId xmlns:a16="http://schemas.microsoft.com/office/drawing/2014/main" id="{E8CDFF1D-24B4-4CBD-BB16-DA2656A0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選一門課／一個問題</a:t>
            </a:r>
          </a:p>
        </p:txBody>
      </p:sp>
      <p:sp>
        <p:nvSpPr>
          <p:cNvPr id="11" name="shape-49">
            <a:extLst xmlns:a="http://schemas.openxmlformats.org/drawingml/2006/main">
              <a:ext uri="{FF2B5EF4-FFF2-40B4-BE49-F238E27FC236}">
                <a16:creationId xmlns:a16="http://schemas.microsoft.com/office/drawing/2014/main" id="{5BC76EF7-6231-48C9-BBCA-20D5285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0">
            <a:extLst xmlns:a="http://schemas.openxmlformats.org/drawingml/2006/main">
              <a:ext uri="{FF2B5EF4-FFF2-40B4-BE49-F238E27FC236}">
                <a16:creationId xmlns:a16="http://schemas.microsoft.com/office/drawing/2014/main" id="{8C232D7D-E4D7-44E6-86A5-7D37D676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10–25</a:t>
            </a:r>
          </a:p>
        </p:txBody>
      </p:sp>
      <p:sp>
        <p:nvSpPr>
          <p:cNvPr id="13" name="text-51">
            <a:extLst xmlns:a="http://schemas.openxmlformats.org/drawingml/2006/main">
              <a:ext uri="{FF2B5EF4-FFF2-40B4-BE49-F238E27FC236}">
                <a16:creationId xmlns:a16="http://schemas.microsoft.com/office/drawing/2014/main" id="{5D7FD89A-DC60-451F-BF33-726F0B39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Typeless</a:t>
            </a:r>
          </a:p>
        </p:txBody>
      </p:sp>
      <p:sp>
        <p:nvSpPr>
          <p:cNvPr id="14" name="text-52">
            <a:extLst xmlns:a="http://schemas.openxmlformats.org/drawingml/2006/main">
              <a:ext uri="{FF2B5EF4-FFF2-40B4-BE49-F238E27FC236}">
                <a16:creationId xmlns:a16="http://schemas.microsoft.com/office/drawing/2014/main" id="{7312784B-7051-4443-AE58-09DF0DE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語音輸入與整理</a:t>
            </a:r>
          </a:p>
        </p:txBody>
      </p:sp>
      <p:sp>
        <p:nvSpPr>
          <p:cNvPr id="15" name="shape-53">
            <a:extLst xmlns:a="http://schemas.openxmlformats.org/drawingml/2006/main">
              <a:ext uri="{FF2B5EF4-FFF2-40B4-BE49-F238E27FC236}">
                <a16:creationId xmlns:a16="http://schemas.microsoft.com/office/drawing/2014/main" id="{73DAD806-5014-400F-9400-BB6EDEC1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4">
            <a:extLst xmlns:a="http://schemas.openxmlformats.org/drawingml/2006/main">
              <a:ext uri="{FF2B5EF4-FFF2-40B4-BE49-F238E27FC236}">
                <a16:creationId xmlns:a16="http://schemas.microsoft.com/office/drawing/2014/main" id="{F8D576A8-8001-4BBA-A71A-490C1B95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25–65</a:t>
            </a:r>
          </a:p>
        </p:txBody>
      </p:sp>
      <p:sp>
        <p:nvSpPr>
          <p:cNvPr id="17" name="text-55">
            <a:extLst xmlns:a="http://schemas.openxmlformats.org/drawingml/2006/main">
              <a:ext uri="{FF2B5EF4-FFF2-40B4-BE49-F238E27FC236}">
                <a16:creationId xmlns:a16="http://schemas.microsoft.com/office/drawing/2014/main" id="{49838216-E627-41B9-A9FC-031477F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sp>
        <p:nvSpPr>
          <p:cNvPr id="18" name="text-56">
            <a:extLst xmlns:a="http://schemas.openxmlformats.org/drawingml/2006/main">
              <a:ext uri="{FF2B5EF4-FFF2-40B4-BE49-F238E27FC236}">
                <a16:creationId xmlns:a16="http://schemas.microsoft.com/office/drawing/2014/main" id="{EA8D12BB-8E24-4F6E-92A4-31DBD5E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來源與引用</a:t>
            </a:r>
          </a:p>
        </p:txBody>
      </p:sp>
      <p:sp>
        <p:nvSpPr>
          <p:cNvPr id="19" name="shape-57">
            <a:extLst xmlns:a="http://schemas.openxmlformats.org/drawingml/2006/main">
              <a:ext uri="{FF2B5EF4-FFF2-40B4-BE49-F238E27FC236}">
                <a16:creationId xmlns:a16="http://schemas.microsoft.com/office/drawing/2014/main" id="{DCE34D6B-EA1E-41BD-A8AF-96A780E2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8">
            <a:extLst xmlns:a="http://schemas.openxmlformats.org/drawingml/2006/main">
              <a:ext uri="{FF2B5EF4-FFF2-40B4-BE49-F238E27FC236}">
                <a16:creationId xmlns:a16="http://schemas.microsoft.com/office/drawing/2014/main" id="{6B072C1D-E278-4DB2-8C34-74D7C059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65–90</a:t>
            </a:r>
          </a:p>
        </p:txBody>
      </p:sp>
      <p:sp>
        <p:nvSpPr>
          <p:cNvPr id="21" name="text-59">
            <a:extLst xmlns:a="http://schemas.openxmlformats.org/drawingml/2006/main">
              <a:ext uri="{FF2B5EF4-FFF2-40B4-BE49-F238E27FC236}">
                <a16:creationId xmlns:a16="http://schemas.microsoft.com/office/drawing/2014/main" id="{46C488BE-76C1-451E-8B88-762BDAA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</a:t>
            </a:r>
          </a:p>
        </p:txBody>
      </p:sp>
      <p:sp>
        <p:nvSpPr>
          <p:cNvPr id="22" name="text-60">
            <a:extLst xmlns:a="http://schemas.openxmlformats.org/drawingml/2006/main">
              <a:ext uri="{FF2B5EF4-FFF2-40B4-BE49-F238E27FC236}">
                <a16:creationId xmlns:a16="http://schemas.microsoft.com/office/drawing/2014/main" id="{10083D88-CC72-46E7-B7D3-F94B9C7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專屬助理</a:t>
            </a:r>
          </a:p>
        </p:txBody>
      </p:sp>
      <p:sp>
        <p:nvSpPr>
          <p:cNvPr id="23" name="shape-61">
            <a:extLst xmlns:a="http://schemas.openxmlformats.org/drawingml/2006/main">
              <a:ext uri="{FF2B5EF4-FFF2-40B4-BE49-F238E27FC236}">
                <a16:creationId xmlns:a16="http://schemas.microsoft.com/office/drawing/2014/main" id="{BD24C951-E9DD-478D-9DE0-FDDFB9B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2">
            <a:extLst xmlns:a="http://schemas.openxmlformats.org/drawingml/2006/main">
              <a:ext uri="{FF2B5EF4-FFF2-40B4-BE49-F238E27FC236}">
                <a16:creationId xmlns:a16="http://schemas.microsoft.com/office/drawing/2014/main" id="{7F1102D4-6239-4174-8180-E46D4FF9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90–100</a:t>
            </a:r>
          </a:p>
        </p:txBody>
      </p:sp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F25B1E2F-3301-4DA7-A59A-5B2BD2E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休息</a:t>
            </a:r>
          </a:p>
        </p:txBody>
      </p:sp>
      <p:sp>
        <p:nvSpPr>
          <p:cNvPr id="26" name="text-64">
            <a:extLst xmlns:a="http://schemas.openxmlformats.org/drawingml/2006/main">
              <a:ext uri="{FF2B5EF4-FFF2-40B4-BE49-F238E27FC236}">
                <a16:creationId xmlns:a16="http://schemas.microsoft.com/office/drawing/2014/main" id="{EC792709-424E-456A-93DC-FBE816C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帳號與檔案整理</a:t>
            </a:r>
          </a:p>
        </p:txBody>
      </p:sp>
      <p:sp>
        <p:nvSpPr>
          <p:cNvPr id="27" name="shape-65">
            <a:extLst xmlns:a="http://schemas.openxmlformats.org/drawingml/2006/main">
              <a:ext uri="{FF2B5EF4-FFF2-40B4-BE49-F238E27FC236}">
                <a16:creationId xmlns:a16="http://schemas.microsoft.com/office/drawing/2014/main" id="{AA2DF2DB-CF63-4D0D-89BE-5A57B2E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4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66">
            <a:extLst xmlns:a="http://schemas.openxmlformats.org/drawingml/2006/main">
              <a:ext uri="{FF2B5EF4-FFF2-40B4-BE49-F238E27FC236}">
                <a16:creationId xmlns:a16="http://schemas.microsoft.com/office/drawing/2014/main" id="{00DE0214-FB4C-452B-A35C-FF603167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100–140</a:t>
            </a:r>
          </a:p>
        </p:txBody>
      </p:sp>
      <p:sp>
        <p:nvSpPr>
          <p:cNvPr id="29" name="text-67">
            <a:extLst xmlns:a="http://schemas.openxmlformats.org/drawingml/2006/main">
              <a:ext uri="{FF2B5EF4-FFF2-40B4-BE49-F238E27FC236}">
                <a16:creationId xmlns:a16="http://schemas.microsoft.com/office/drawing/2014/main" id="{FD2FE849-6063-4297-A456-90DD0240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sp>
        <p:nvSpPr>
          <p:cNvPr id="30" name="text-68">
            <a:extLst xmlns:a="http://schemas.openxmlformats.org/drawingml/2006/main">
              <a:ext uri="{FF2B5EF4-FFF2-40B4-BE49-F238E27FC236}">
                <a16:creationId xmlns:a16="http://schemas.microsoft.com/office/drawing/2014/main" id="{A081763D-3EBC-45EC-995D-C08AF8A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互動原型</a:t>
            </a:r>
          </a:p>
        </p:txBody>
      </p:sp>
      <p:sp>
        <p:nvSpPr>
          <p:cNvPr id="31" name="shape-69">
            <a:extLst xmlns:a="http://schemas.openxmlformats.org/drawingml/2006/main">
              <a:ext uri="{FF2B5EF4-FFF2-40B4-BE49-F238E27FC236}">
                <a16:creationId xmlns:a16="http://schemas.microsoft.com/office/drawing/2014/main" id="{3DD7EC19-727F-4FA5-9A9F-BAB9C664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70">
            <a:extLst xmlns:a="http://schemas.openxmlformats.org/drawingml/2006/main">
              <a:ext uri="{FF2B5EF4-FFF2-40B4-BE49-F238E27FC236}">
                <a16:creationId xmlns:a16="http://schemas.microsoft.com/office/drawing/2014/main" id="{ED83E02D-1901-49AC-9D3C-A64AD109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140–180</a:t>
            </a:r>
          </a:p>
        </p:txBody>
      </p:sp>
      <p:sp>
        <p:nvSpPr>
          <p:cNvPr id="33" name="text-71">
            <a:extLst xmlns:a="http://schemas.openxmlformats.org/drawingml/2006/main">
              <a:ext uri="{FF2B5EF4-FFF2-40B4-BE49-F238E27FC236}">
                <a16:creationId xmlns:a16="http://schemas.microsoft.com/office/drawing/2014/main" id="{A34A0799-7F06-4B9E-AE00-2B438408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部署分享</a:t>
            </a:r>
          </a:p>
        </p:txBody>
      </p:sp>
      <p:sp>
        <p:nvSpPr>
          <p:cNvPr id="34" name="text-72">
            <a:extLst xmlns:a="http://schemas.openxmlformats.org/drawingml/2006/main">
              <a:ext uri="{FF2B5EF4-FFF2-40B4-BE49-F238E27FC236}">
                <a16:creationId xmlns:a16="http://schemas.microsoft.com/office/drawing/2014/main" id="{606C36E8-3082-4881-A8B5-3D9E6629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公開與回饋</a:t>
            </a:r>
          </a:p>
        </p:txBody>
      </p:sp>
    </p:spTree>
    <p:extLst>
      <p:ext uri="{BB962C8B-B14F-4D97-AF65-F5344CB8AC3E}">
        <p14:creationId xmlns:p14="http://schemas.microsoft.com/office/powerpoint/2010/main" val="493043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73">
            <a:extLst xmlns:a="http://schemas.openxmlformats.org/drawingml/2006/main">
              <a:ext uri="{FF2B5EF4-FFF2-40B4-BE49-F238E27FC236}">
                <a16:creationId xmlns:a16="http://schemas.microsoft.com/office/drawing/2014/main" id="{BF48E377-95CA-4FF2-B393-10CCF3E3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LEARNING OUTCOMES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1AF12C-2AF8-4CBC-B20B-94BCF434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今天離開教室前，你會有四項成果</a:t>
            </a:r>
          </a:p>
        </p:txBody>
      </p:sp>
      <p:cxnSp>
        <p:nvCxnSpPr>
          <p:cNvPr id="24" name="shape-7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75">
            <a:extLst xmlns:a="http://schemas.openxmlformats.org/drawingml/2006/main">
              <a:ext uri="{FF2B5EF4-FFF2-40B4-BE49-F238E27FC236}">
                <a16:creationId xmlns:a16="http://schemas.microsoft.com/office/drawing/2014/main" id="{2723ADC0-828A-48E1-9EBD-3BABC5EF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DA6069-3ACB-4B26-8E5B-7AC03E8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6" name="shape-76">
            <a:extLst xmlns:a="http://schemas.openxmlformats.org/drawingml/2006/main">
              <a:ext uri="{FF2B5EF4-FFF2-40B4-BE49-F238E27FC236}">
                <a16:creationId xmlns:a16="http://schemas.microsoft.com/office/drawing/2014/main" id="{FD3AED72-7122-43F2-B8C9-0EDBA7CB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456D2600-571F-4E35-BCA6-36B64A6A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EAFC4013-D350-4922-8D25-64DF418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</a:t>
            </a:r>
          </a:p>
        </p:txBody>
      </p:sp>
      <p:sp>
        <p:nvSpPr>
          <p:cNvPr id="9" name="text-79">
            <a:extLst xmlns:a="http://schemas.openxmlformats.org/drawingml/2006/main">
              <a:ext uri="{FF2B5EF4-FFF2-40B4-BE49-F238E27FC236}">
                <a16:creationId xmlns:a16="http://schemas.microsoft.com/office/drawing/2014/main" id="{45FE0A65-2B5F-4F7E-9632-BEE8BE0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至少 3 份教學或研究來源、3 個有引用的問題、1 個可用輸出。</a:t>
            </a:r>
          </a:p>
        </p:txBody>
      </p:sp>
      <p:sp>
        <p:nvSpPr>
          <p:cNvPr id="10" name="shape-80">
            <a:extLst xmlns:a="http://schemas.openxmlformats.org/drawingml/2006/main">
              <a:ext uri="{FF2B5EF4-FFF2-40B4-BE49-F238E27FC236}">
                <a16:creationId xmlns:a16="http://schemas.microsoft.com/office/drawing/2014/main" id="{9EC968DB-80BA-4286-AEED-B8A1156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8EDB9DB4-A558-4954-83EC-264C6521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CE584C05-EFA6-4935-989D-683DEF76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專屬 Gem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387F5E2A-7621-4342-B99B-D50FC11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明確角色、任務、背景與格式，並完成反例測試。</a:t>
            </a:r>
          </a:p>
        </p:txBody>
      </p:sp>
      <p:sp>
        <p:nvSpPr>
          <p:cNvPr id="14" name="shape-84">
            <a:extLst xmlns:a="http://schemas.openxmlformats.org/drawingml/2006/main">
              <a:ext uri="{FF2B5EF4-FFF2-40B4-BE49-F238E27FC236}">
                <a16:creationId xmlns:a16="http://schemas.microsoft.com/office/drawing/2014/main" id="{BEDC452A-5C89-4BEA-A1F5-0E333A60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85">
            <a:extLst xmlns:a="http://schemas.openxmlformats.org/drawingml/2006/main">
              <a:ext uri="{FF2B5EF4-FFF2-40B4-BE49-F238E27FC236}">
                <a16:creationId xmlns:a16="http://schemas.microsoft.com/office/drawing/2014/main" id="{79D3177E-9FB2-438B-B815-FD6394A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86">
            <a:extLst xmlns:a="http://schemas.openxmlformats.org/drawingml/2006/main">
              <a:ext uri="{FF2B5EF4-FFF2-40B4-BE49-F238E27FC236}">
                <a16:creationId xmlns:a16="http://schemas.microsoft.com/office/drawing/2014/main" id="{2DF991D8-0B1F-43C9-8A1A-00D7F9E1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原型</a:t>
            </a:r>
          </a:p>
        </p:txBody>
      </p:sp>
      <p:sp>
        <p:nvSpPr>
          <p:cNvPr id="17" name="text-87">
            <a:extLst xmlns:a="http://schemas.openxmlformats.org/drawingml/2006/main">
              <a:ext uri="{FF2B5EF4-FFF2-40B4-BE49-F238E27FC236}">
                <a16:creationId xmlns:a16="http://schemas.microsoft.com/office/drawing/2014/main" id="{03E5981F-B472-4F86-A4DE-9FAC1FE4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一個可操作的課程活動、評量或學習支架。</a:t>
            </a:r>
          </a:p>
        </p:txBody>
      </p:sp>
      <p:sp>
        <p:nvSpPr>
          <p:cNvPr id="18" name="shape-88">
            <a:extLst xmlns:a="http://schemas.openxmlformats.org/drawingml/2006/main">
              <a:ext uri="{FF2B5EF4-FFF2-40B4-BE49-F238E27FC236}">
                <a16:creationId xmlns:a16="http://schemas.microsoft.com/office/drawing/2014/main" id="{3D64D4CD-C268-4872-9AAC-B92EF937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89">
            <a:extLst xmlns:a="http://schemas.openxmlformats.org/drawingml/2006/main">
              <a:ext uri="{FF2B5EF4-FFF2-40B4-BE49-F238E27FC236}">
                <a16:creationId xmlns:a16="http://schemas.microsoft.com/office/drawing/2014/main" id="{029F3152-420B-4CA4-BB6A-05EB984A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90">
            <a:extLst xmlns:a="http://schemas.openxmlformats.org/drawingml/2006/main">
              <a:ext uri="{FF2B5EF4-FFF2-40B4-BE49-F238E27FC236}">
                <a16:creationId xmlns:a16="http://schemas.microsoft.com/office/drawing/2014/main" id="{4E8DC9AA-5037-43B9-AB62-E022126F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分享方式</a:t>
            </a:r>
          </a:p>
        </p:txBody>
      </p:sp>
      <p:sp>
        <p:nvSpPr>
          <p:cNvPr id="21" name="text-91">
            <a:extLst xmlns:a="http://schemas.openxmlformats.org/drawingml/2006/main">
              <a:ext uri="{FF2B5EF4-FFF2-40B4-BE49-F238E27FC236}">
                <a16:creationId xmlns:a16="http://schemas.microsoft.com/office/drawing/2014/main" id="{AA106290-1909-4DB8-BDF6-628596F6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完成分享連結、Google Sites 嵌入，或 GitHub Pages 部署計畫。</a:t>
            </a:r>
          </a:p>
        </p:txBody>
      </p:sp>
    </p:spTree>
    <p:extLst>
      <p:ext uri="{BB962C8B-B14F-4D97-AF65-F5344CB8AC3E}">
        <p14:creationId xmlns:p14="http://schemas.microsoft.com/office/powerpoint/2010/main" val="120480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92">
            <a:extLst xmlns:a="http://schemas.openxmlformats.org/drawingml/2006/main">
              <a:ext uri="{FF2B5EF4-FFF2-40B4-BE49-F238E27FC236}">
                <a16:creationId xmlns:a16="http://schemas.microsoft.com/office/drawing/2014/main" id="{960AFD8F-CD54-45D6-BED5-99596F6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ACCESS &amp; PAIRING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838C35-2D64-4B6C-BA63-00ACFE1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共作規則：沒有相同帳號，也能一起完成</a:t>
            </a:r>
          </a:p>
        </p:txBody>
      </p:sp>
      <p:cxnSp>
        <p:nvCxnSpPr>
          <p:cNvPr id="20" name="shape-9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3A2B6255-5676-452E-82F6-20E13AD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E32F17-B378-423C-8E93-1EC4377A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6" name="shape-95">
            <a:extLst xmlns:a="http://schemas.openxmlformats.org/drawingml/2006/main">
              <a:ext uri="{FF2B5EF4-FFF2-40B4-BE49-F238E27FC236}">
                <a16:creationId xmlns:a16="http://schemas.microsoft.com/office/drawing/2014/main" id="{8B41D7A9-3659-4401-ABEE-DAB7E7C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96">
            <a:extLst xmlns:a="http://schemas.openxmlformats.org/drawingml/2006/main">
              <a:ext uri="{FF2B5EF4-FFF2-40B4-BE49-F238E27FC236}">
                <a16:creationId xmlns:a16="http://schemas.microsoft.com/office/drawing/2014/main" id="{14A6407E-ABF6-4A23-AC5E-7068E674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97">
            <a:extLst xmlns:a="http://schemas.openxmlformats.org/drawingml/2006/main">
              <a:ext uri="{FF2B5EF4-FFF2-40B4-BE49-F238E27FC236}">
                <a16:creationId xmlns:a16="http://schemas.microsoft.com/office/drawing/2014/main" id="{AA4C68EA-5615-4461-8ED7-2F4AB4CC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主操作手</a:t>
            </a: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A5B6B669-E4BA-4FFF-88C2-5716D385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登入有權限的工具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負責建立、儲存與分享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口述每一步決策</a:t>
            </a:r>
          </a:p>
        </p:txBody>
      </p:sp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83D17D7A-3703-4BD4-B471-E2774D93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測試與教學觀察員</a:t>
            </a:r>
          </a:p>
        </p:txBody>
      </p:sp>
      <p:sp>
        <p:nvSpPr>
          <p:cNvPr id="11" name="text-100">
            <a:extLst xmlns:a="http://schemas.openxmlformats.org/drawingml/2006/main">
              <a:ext uri="{FF2B5EF4-FFF2-40B4-BE49-F238E27FC236}">
                <a16:creationId xmlns:a16="http://schemas.microsoft.com/office/drawing/2014/main" id="{77958307-694D-4FAF-8A18-E1BBC8F7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扮演學生或同儕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提出反例與追問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記錄可教、可用、需改善之處</a:t>
            </a:r>
          </a:p>
        </p:txBody>
      </p:sp>
      <p:sp>
        <p:nvSpPr>
          <p:cNvPr id="12" name="text-101">
            <a:extLst xmlns:a="http://schemas.openxmlformats.org/drawingml/2006/main">
              <a:ext uri="{FF2B5EF4-FFF2-40B4-BE49-F238E27FC236}">
                <a16:creationId xmlns:a16="http://schemas.microsoft.com/office/drawing/2014/main" id="{5D5BB644-237E-4FA8-8284-7B027AA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562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主操作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登入與建立</a:t>
            </a:r>
          </a:p>
        </p:txBody>
      </p:sp>
      <p:sp>
        <p:nvSpPr>
          <p:cNvPr id="13" name="text-102">
            <a:extLst xmlns:a="http://schemas.openxmlformats.org/drawingml/2006/main">
              <a:ext uri="{FF2B5EF4-FFF2-40B4-BE49-F238E27FC236}">
                <a16:creationId xmlns:a16="http://schemas.microsoft.com/office/drawing/2014/main" id="{BF974422-D240-4909-A446-55AD448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339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共同工作區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成果與檢核</a:t>
            </a:r>
          </a:p>
        </p:txBody>
      </p:sp>
      <p:sp>
        <p:nvSpPr>
          <p:cNvPr id="14" name="text-103">
            <a:extLst xmlns:a="http://schemas.openxmlformats.org/drawingml/2006/main">
              <a:ext uri="{FF2B5EF4-FFF2-40B4-BE49-F238E27FC236}">
                <a16:creationId xmlns:a16="http://schemas.microsoft.com/office/drawing/2014/main" id="{06FDBEE9-A243-4804-A4A8-2534297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562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觀察員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測試與提問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38400" y="5210175"/>
            <a:ext cx="2876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91350" y="5210175"/>
            <a:ext cx="2705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866"/>
            </a:solidFill>
            <a:prstDash val="solid"/>
            <a:tailEnd type="arrow" w="sm" len="sm"/>
          </a:ln>
        </p:spPr>
      </p:cxnSp>
      <p:sp>
        <p:nvSpPr>
          <p:cNvPr id="17" name="text-104">
            <a:extLst xmlns:a="http://schemas.openxmlformats.org/drawingml/2006/main">
              <a:ext uri="{FF2B5EF4-FFF2-40B4-BE49-F238E27FC236}">
                <a16:creationId xmlns:a16="http://schemas.microsoft.com/office/drawing/2014/main" id="{0DE400CB-2352-4568-9AB7-5ACD91C5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一人操作、一人驗證；成果放在同一個工作區</a:t>
            </a:r>
          </a:p>
        </p:txBody>
      </p:sp>
    </p:spTree>
    <p:extLst>
      <p:ext uri="{BB962C8B-B14F-4D97-AF65-F5344CB8AC3E}">
        <p14:creationId xmlns:p14="http://schemas.microsoft.com/office/powerpoint/2010/main" val="2017725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05">
            <a:extLst xmlns:a="http://schemas.openxmlformats.org/drawingml/2006/main">
              <a:ext uri="{FF2B5EF4-FFF2-40B4-BE49-F238E27FC236}">
                <a16:creationId xmlns:a16="http://schemas.microsoft.com/office/drawing/2014/main" id="{FD3F1E5B-C993-44B9-AC6F-B63E2A1C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START WITH A PAIN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1BC0CB-4004-43AF-81AB-0764C48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先從真實教學／研究痛點出發</a:t>
            </a:r>
          </a:p>
        </p:txBody>
      </p:sp>
      <p:cxnSp>
        <p:nvCxnSpPr>
          <p:cNvPr id="24" name="shape-10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A850F809-AD59-41EF-8D3A-8196A2EE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474EB1-3857-4960-B5D6-18290DC5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6" name="shape-108">
            <a:extLst xmlns:a="http://schemas.openxmlformats.org/drawingml/2006/main">
              <a:ext uri="{FF2B5EF4-FFF2-40B4-BE49-F238E27FC236}">
                <a16:creationId xmlns:a16="http://schemas.microsoft.com/office/drawing/2014/main" id="{7FECC67F-19E8-49E9-A277-E1130C5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0469F771-4D22-4916-90DF-7BD6C456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C3EF3B8A-EE83-426E-A97B-E945681A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內容理解痛點</a:t>
            </a:r>
          </a:p>
        </p:txBody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2D2CD4F7-3E26-4227-A9CE-2522E687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學生抓不到核心概念，研究者也難快速梳理多份來源。</a:t>
            </a:r>
          </a:p>
        </p:txBody>
      </p:sp>
      <p:sp>
        <p:nvSpPr>
          <p:cNvPr id="10" name="shape-112">
            <a:extLst xmlns:a="http://schemas.openxmlformats.org/drawingml/2006/main">
              <a:ext uri="{FF2B5EF4-FFF2-40B4-BE49-F238E27FC236}">
                <a16:creationId xmlns:a16="http://schemas.microsoft.com/office/drawing/2014/main" id="{3EE8FB64-28F2-41BA-8401-47936177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2C78E787-BB06-422F-B559-23688F8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AB13BE44-FE0D-46C6-ADAB-DAE71E25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資料分析痛點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47513CAB-13B8-484B-8590-EE22BF7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大量選擇題與簡答題需要整理、編碼、比對與人工複核。</a:t>
            </a:r>
          </a:p>
        </p:txBody>
      </p:sp>
      <p:sp>
        <p:nvSpPr>
          <p:cNvPr id="14" name="shape-116">
            <a:extLst xmlns:a="http://schemas.openxmlformats.org/drawingml/2006/main">
              <a:ext uri="{FF2B5EF4-FFF2-40B4-BE49-F238E27FC236}">
                <a16:creationId xmlns:a16="http://schemas.microsoft.com/office/drawing/2014/main" id="{5B960F98-4B77-44EB-988E-1CB6AF41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117">
            <a:extLst xmlns:a="http://schemas.openxmlformats.org/drawingml/2006/main">
              <a:ext uri="{FF2B5EF4-FFF2-40B4-BE49-F238E27FC236}">
                <a16:creationId xmlns:a16="http://schemas.microsoft.com/office/drawing/2014/main" id="{569EC9E0-07B8-4CE5-8B51-5CE328C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6" name="text-118">
            <a:extLst xmlns:a="http://schemas.openxmlformats.org/drawingml/2006/main">
              <a:ext uri="{FF2B5EF4-FFF2-40B4-BE49-F238E27FC236}">
                <a16:creationId xmlns:a16="http://schemas.microsoft.com/office/drawing/2014/main" id="{2D0F9492-8DEE-44E2-A625-A047DF2F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互動設計痛點</a:t>
            </a:r>
          </a:p>
        </p:txBody>
      </p:sp>
      <p:sp>
        <p:nvSpPr>
          <p:cNvPr id="17" name="text-119">
            <a:extLst xmlns:a="http://schemas.openxmlformats.org/drawingml/2006/main">
              <a:ext uri="{FF2B5EF4-FFF2-40B4-BE49-F238E27FC236}">
                <a16:creationId xmlns:a16="http://schemas.microsoft.com/office/drawing/2014/main" id="{19F02931-CF9E-417F-86AA-03E083F8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希望把講述內容轉成可操作、可探索的互動任務。</a:t>
            </a:r>
          </a:p>
        </p:txBody>
      </p:sp>
      <p:sp>
        <p:nvSpPr>
          <p:cNvPr id="18" name="shape-120">
            <a:extLst xmlns:a="http://schemas.openxmlformats.org/drawingml/2006/main">
              <a:ext uri="{FF2B5EF4-FFF2-40B4-BE49-F238E27FC236}">
                <a16:creationId xmlns:a16="http://schemas.microsoft.com/office/drawing/2014/main" id="{08F5D94A-6062-40FB-8F7C-A4FEA52F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121">
            <a:extLst xmlns:a="http://schemas.openxmlformats.org/drawingml/2006/main">
              <a:ext uri="{FF2B5EF4-FFF2-40B4-BE49-F238E27FC236}">
                <a16:creationId xmlns:a16="http://schemas.microsoft.com/office/drawing/2014/main" id="{B1332483-7652-4AF7-B3F1-CBD4F159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</a:t>
            </a:r>
          </a:p>
        </p:txBody>
      </p:sp>
      <p:sp>
        <p:nvSpPr>
          <p:cNvPr id="20" name="text-122">
            <a:extLst xmlns:a="http://schemas.openxmlformats.org/drawingml/2006/main">
              <a:ext uri="{FF2B5EF4-FFF2-40B4-BE49-F238E27FC236}">
                <a16:creationId xmlns:a16="http://schemas.microsoft.com/office/drawing/2014/main" id="{D0575627-59F1-40C0-8AE0-E5B1E8FF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研究／行政痛點</a:t>
            </a:r>
          </a:p>
        </p:txBody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D1978F07-DC30-4D67-ABA6-75D6983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想把文獻、資料、方法與行政流程整理成可持續更新的工作區。</a:t>
            </a:r>
          </a:p>
        </p:txBody>
      </p:sp>
    </p:spTree>
    <p:extLst>
      <p:ext uri="{BB962C8B-B14F-4D97-AF65-F5344CB8AC3E}">
        <p14:creationId xmlns:p14="http://schemas.microsoft.com/office/powerpoint/2010/main" val="641232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05EA8858-731F-47EC-812C-B74E7A6D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REAL EXAMPLES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E3316A-AE70-4673-A820-7EA4CE8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123 個案例，不是作品櫃：是教學與研究需求資料庫</a:t>
            </a:r>
          </a:p>
        </p:txBody>
      </p:sp>
      <p:cxnSp>
        <p:nvCxnSpPr>
          <p:cNvPr id="15" name="shape-12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26">
            <a:extLst xmlns:a="http://schemas.openxmlformats.org/drawingml/2006/main">
              <a:ext uri="{FF2B5EF4-FFF2-40B4-BE49-F238E27FC236}">
                <a16:creationId xmlns:a16="http://schemas.microsoft.com/office/drawing/2014/main" id="{C9E08140-B2A6-4982-972E-3A1B69F3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B9505F-AF0B-4E30-8841-0F9314C1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ae4af9cf5491c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600200"/>
            <a:ext cx="6934200" cy="445770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text-127">
            <a:extLst xmlns:a="http://schemas.openxmlformats.org/drawingml/2006/main">
              <a:ext uri="{FF2B5EF4-FFF2-40B4-BE49-F238E27FC236}">
                <a16:creationId xmlns:a16="http://schemas.microsoft.com/office/drawing/2014/main" id="{0F2E911D-D889-4A3B-9F10-1569C4F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阿凱老師的教育科技創新專區</a:t>
            </a:r>
          </a:p>
        </p:txBody>
      </p:sp>
      <p:sp>
        <p:nvSpPr>
          <p:cNvPr id="8" name="text-128">
            <a:extLst xmlns:a="http://schemas.openxmlformats.org/drawingml/2006/main">
              <a:ext uri="{FF2B5EF4-FFF2-40B4-BE49-F238E27FC236}">
                <a16:creationId xmlns:a16="http://schemas.microsoft.com/office/drawing/2014/main" id="{9D66D064-21E8-4D44-8CE9-D06FE4C9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123 個老師做的免費工具卡片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從課堂互動、評語優化到行政自動化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每張卡片與部落格都可作為提示詞、介面與部署案例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網址：cagoooo.github.io/Akai/</a:t>
            </a:r>
          </a:p>
        </p:txBody>
      </p:sp>
      <p:sp>
        <p:nvSpPr>
          <p:cNvPr id="9" name="text-754">
            <a:extLst xmlns:a="http://schemas.openxmlformats.org/drawingml/2006/main">
              <a:ext uri="{FF2B5EF4-FFF2-40B4-BE49-F238E27FC236}">
                <a16:creationId xmlns:a16="http://schemas.microsoft.com/office/drawing/2014/main" id="{AE1A7AF4-777D-41C1-92B3-CB7BDCD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18f4ed53e114870"/>
              </a:rPr>
              <a:t>開啟教育科技創新專區 ↗</a:t>
            </a:r>
          </a:p>
        </p:txBody>
      </p:sp>
      <p:sp>
        <p:nvSpPr>
          <p:cNvPr id="10" name="shape-786">
            <a:extLst xmlns:a="http://schemas.openxmlformats.org/drawingml/2006/main">
              <a:ext uri="{FF2B5EF4-FFF2-40B4-BE49-F238E27FC236}">
                <a16:creationId xmlns:a16="http://schemas.microsoft.com/office/drawing/2014/main" id="{14999DF3-A6B6-4B09-82E0-5729110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9fd8a8f5d488f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787">
            <a:extLst xmlns:a="http://schemas.openxmlformats.org/drawingml/2006/main">
              <a:ext uri="{FF2B5EF4-FFF2-40B4-BE49-F238E27FC236}">
                <a16:creationId xmlns:a16="http://schemas.microsoft.com/office/drawing/2014/main" id="{4C98D7B7-9BF2-4C5C-8081-DC420626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教育科技創新專區</a:t>
            </a:r>
          </a:p>
        </p:txBody>
      </p:sp>
    </p:spTree>
    <p:extLst>
      <p:ext uri="{BB962C8B-B14F-4D97-AF65-F5344CB8AC3E}">
        <p14:creationId xmlns:p14="http://schemas.microsoft.com/office/powerpoint/2010/main" val="326390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9">
            <a:extLst xmlns:a="http://schemas.openxmlformats.org/drawingml/2006/main">
              <a:ext uri="{FF2B5EF4-FFF2-40B4-BE49-F238E27FC236}">
                <a16:creationId xmlns:a16="http://schemas.microsoft.com/office/drawing/2014/main" id="{7A59C28D-1BE7-41BA-A4FB-A9A7A7D2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583F59-A412-4C7F-B1C3-C1A41BAE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阿凱老師實戰案例導航｜語文、設計、互動</a:t>
            </a:r>
          </a:p>
        </p:txBody>
      </p:sp>
      <p:cxnSp>
        <p:nvCxnSpPr>
          <p:cNvPr id="33" name="shape-13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2ED3AE9C-9DD3-47D7-8E51-380EA4D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D548E4-22D6-4E18-A75D-B62C9246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659F2E0D-AB0C-4D5C-A988-4B84224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先讀工具卡片理解設計脈絡，再直接開啟應用觀察輸入、輸出與操作流程。</a:t>
            </a:r>
          </a:p>
        </p:txBody>
      </p:sp>
      <p:sp>
        <p:nvSpPr>
          <p:cNvPr id="7" name="shape-133">
            <a:extLst xmlns:a="http://schemas.openxmlformats.org/drawingml/2006/main">
              <a:ext uri="{FF2B5EF4-FFF2-40B4-BE49-F238E27FC236}">
                <a16:creationId xmlns:a16="http://schemas.microsoft.com/office/drawing/2014/main" id="{5E99D28F-1972-4F1F-99B3-22D2BB5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CF1651CB-4B53-4CA9-9854-574CA7CC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#91 · 語文創作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349E7492-9A7A-4951-BFBD-9A4DC4E4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✨ 點亮詩意 Pro ✨早安長輩圖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082665B3-F5D9-4AD8-82BE-7EE9BB7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上傳照片產出繁體詩詞與圖文作品，適合看圖寫詩、意境討論與數位創作。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574A0B50-3A27-4099-AD2A-65D428DB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8f877d823e44f8f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6bb60944c47be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38">
            <a:extLst xmlns:a="http://schemas.openxmlformats.org/drawingml/2006/main">
              <a:ext uri="{FF2B5EF4-FFF2-40B4-BE49-F238E27FC236}">
                <a16:creationId xmlns:a16="http://schemas.microsoft.com/office/drawing/2014/main" id="{B6CEE706-BD26-49E5-A703-161DAA5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b551ee1a2aa4239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01e12d5c04295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39">
            <a:extLst xmlns:a="http://schemas.openxmlformats.org/drawingml/2006/main">
              <a:ext uri="{FF2B5EF4-FFF2-40B4-BE49-F238E27FC236}">
                <a16:creationId xmlns:a16="http://schemas.microsoft.com/office/drawing/2014/main" id="{66C40709-07D8-46E1-8D72-A129C0F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6" name="text-140">
            <a:extLst xmlns:a="http://schemas.openxmlformats.org/drawingml/2006/main">
              <a:ext uri="{FF2B5EF4-FFF2-40B4-BE49-F238E27FC236}">
                <a16:creationId xmlns:a16="http://schemas.microsoft.com/office/drawing/2014/main" id="{170714E6-FBED-419C-9150-5DF75F15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#58 · 教學設計</a:t>
            </a:r>
          </a:p>
        </p:txBody>
      </p:sp>
      <p:sp>
        <p:nvSpPr>
          <p:cNvPr id="17" name="text-141">
            <a:extLst xmlns:a="http://schemas.openxmlformats.org/drawingml/2006/main">
              <a:ext uri="{FF2B5EF4-FFF2-40B4-BE49-F238E27FC236}">
                <a16:creationId xmlns:a16="http://schemas.microsoft.com/office/drawing/2014/main" id="{60BA8AAE-1343-4947-92AD-F9BAF7B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教師數位備課教案小幫手</a:t>
            </a:r>
          </a:p>
        </p:txBody>
      </p:sp>
      <p:sp>
        <p:nvSpPr>
          <p:cNvPr id="18" name="text-142">
            <a:extLst xmlns:a="http://schemas.openxmlformats.org/drawingml/2006/main">
              <a:ext uri="{FF2B5EF4-FFF2-40B4-BE49-F238E27FC236}">
                <a16:creationId xmlns:a16="http://schemas.microsoft.com/office/drawing/2014/main" id="{6818AA04-E113-4FFE-BD0B-4073032E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AI 產出教案與活動設計，示範從教學需求走到可使用的成果。</a:t>
            </a:r>
          </a:p>
        </p:txBody>
      </p:sp>
      <p:sp>
        <p:nvSpPr>
          <p:cNvPr id="19" name="text-143">
            <a:extLst xmlns:a="http://schemas.openxmlformats.org/drawingml/2006/main">
              <a:ext uri="{FF2B5EF4-FFF2-40B4-BE49-F238E27FC236}">
                <a16:creationId xmlns:a16="http://schemas.microsoft.com/office/drawing/2014/main" id="{8B55BD6F-A25C-443A-AFC8-C0461B15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c9455e4802c49f8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e4e30cfc343de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44">
            <a:extLst xmlns:a="http://schemas.openxmlformats.org/drawingml/2006/main">
              <a:ext uri="{FF2B5EF4-FFF2-40B4-BE49-F238E27FC236}">
                <a16:creationId xmlns:a16="http://schemas.microsoft.com/office/drawing/2014/main" id="{76F6F9E2-DC17-470F-BCFE-2041D0AC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153e823159f4ab9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97a91d1ad42a4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45">
            <a:extLst xmlns:a="http://schemas.openxmlformats.org/drawingml/2006/main">
              <a:ext uri="{FF2B5EF4-FFF2-40B4-BE49-F238E27FC236}">
                <a16:creationId xmlns:a16="http://schemas.microsoft.com/office/drawing/2014/main" id="{1FC3C27D-EB2A-42A5-9E9A-BA1B92B7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4" name="text-146">
            <a:extLst xmlns:a="http://schemas.openxmlformats.org/drawingml/2006/main">
              <a:ext uri="{FF2B5EF4-FFF2-40B4-BE49-F238E27FC236}">
                <a16:creationId xmlns:a16="http://schemas.microsoft.com/office/drawing/2014/main" id="{E84A199D-902A-4137-A4D8-70C7E2D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#11 · 互動網站</a:t>
            </a:r>
          </a:p>
        </p:txBody>
      </p:sp>
      <p:sp>
        <p:nvSpPr>
          <p:cNvPr id="25" name="text-147">
            <a:extLst xmlns:a="http://schemas.openxmlformats.org/drawingml/2006/main">
              <a:ext uri="{FF2B5EF4-FFF2-40B4-BE49-F238E27FC236}">
                <a16:creationId xmlns:a16="http://schemas.microsoft.com/office/drawing/2014/main" id="{EEF30F99-1C46-41F3-827B-6687C8A8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剛好學：課堂互動 so easy</a:t>
            </a:r>
          </a:p>
        </p:txBody>
      </p:sp>
      <p:sp>
        <p:nvSpPr>
          <p:cNvPr id="26" name="text-148">
            <a:extLst xmlns:a="http://schemas.openxmlformats.org/drawingml/2006/main">
              <a:ext uri="{FF2B5EF4-FFF2-40B4-BE49-F238E27FC236}">
                <a16:creationId xmlns:a16="http://schemas.microsoft.com/office/drawing/2014/main" id="{AC37B758-5543-4359-81D5-696476CF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13 種互動模式涵蓋投票、閱讀測驗、文字雲、繪圖題與作品牆。</a:t>
            </a:r>
          </a:p>
        </p:txBody>
      </p:sp>
      <p:sp>
        <p:nvSpPr>
          <p:cNvPr id="27" name="text-149">
            <a:extLst xmlns:a="http://schemas.openxmlformats.org/drawingml/2006/main">
              <a:ext uri="{FF2B5EF4-FFF2-40B4-BE49-F238E27FC236}">
                <a16:creationId xmlns:a16="http://schemas.microsoft.com/office/drawing/2014/main" id="{64E593D5-0D93-4227-9475-2481D7B3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9310faa68a64acd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1aaa70eb44881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50">
            <a:extLst xmlns:a="http://schemas.openxmlformats.org/drawingml/2006/main">
              <a:ext uri="{FF2B5EF4-FFF2-40B4-BE49-F238E27FC236}">
                <a16:creationId xmlns:a16="http://schemas.microsoft.com/office/drawing/2014/main" id="{EC5183A1-8D87-431B-8C04-E5D22D1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6b9e84544eb4c7f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61fadf3eb4e01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887408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51">
            <a:extLst xmlns:a="http://schemas.openxmlformats.org/drawingml/2006/main">
              <a:ext uri="{FF2B5EF4-FFF2-40B4-BE49-F238E27FC236}">
                <a16:creationId xmlns:a16="http://schemas.microsoft.com/office/drawing/2014/main" id="{3005F70E-799A-498D-97E4-F902A6D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A9916A-C044-423D-9B27-6AE48C4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阿凱老師實戰案例導航｜評量與部署</a:t>
            </a:r>
          </a:p>
        </p:txBody>
      </p:sp>
      <p:cxnSp>
        <p:nvCxnSpPr>
          <p:cNvPr id="33" name="shape-15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53">
            <a:extLst xmlns:a="http://schemas.openxmlformats.org/drawingml/2006/main">
              <a:ext uri="{FF2B5EF4-FFF2-40B4-BE49-F238E27FC236}">
                <a16:creationId xmlns:a16="http://schemas.microsoft.com/office/drawing/2014/main" id="{7DBD8512-7923-4C57-B445-1736F58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3B25E6-35CA-4556-BFEE-2C7CA66C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6" name="text-154">
            <a:extLst xmlns:a="http://schemas.openxmlformats.org/drawingml/2006/main">
              <a:ext uri="{FF2B5EF4-FFF2-40B4-BE49-F238E27FC236}">
                <a16:creationId xmlns:a16="http://schemas.microsoft.com/office/drawing/2014/main" id="{609C2513-4BD4-4E67-8CEE-C5F09D7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比較同一個教學構想如何透過即時回饋、Google Sites 與 GitHub Pages 落地。</a:t>
            </a:r>
          </a:p>
        </p:txBody>
      </p:sp>
      <p:sp>
        <p:nvSpPr>
          <p:cNvPr id="7" name="shape-155">
            <a:extLst xmlns:a="http://schemas.openxmlformats.org/drawingml/2006/main">
              <a:ext uri="{FF2B5EF4-FFF2-40B4-BE49-F238E27FC236}">
                <a16:creationId xmlns:a16="http://schemas.microsoft.com/office/drawing/2014/main" id="{2AD5B2D5-67BC-4112-9D1E-3F126FE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156">
            <a:extLst xmlns:a="http://schemas.openxmlformats.org/drawingml/2006/main">
              <a:ext uri="{FF2B5EF4-FFF2-40B4-BE49-F238E27FC236}">
                <a16:creationId xmlns:a16="http://schemas.microsoft.com/office/drawing/2014/main" id="{9D724FE2-952F-490A-8AC5-67BE9456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#3 · 形成性評量</a:t>
            </a:r>
          </a:p>
        </p:txBody>
      </p:sp>
      <p:sp>
        <p:nvSpPr>
          <p:cNvPr id="9" name="text-157">
            <a:extLst xmlns:a="http://schemas.openxmlformats.org/drawingml/2006/main">
              <a:ext uri="{FF2B5EF4-FFF2-40B4-BE49-F238E27FC236}">
                <a16:creationId xmlns:a16="http://schemas.microsoft.com/office/drawing/2014/main" id="{3DECD6DE-E113-449A-9685-5763E91A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學生即時投票系統</a:t>
            </a:r>
          </a:p>
        </p:txBody>
      </p:sp>
      <p:sp>
        <p:nvSpPr>
          <p:cNvPr id="10" name="text-158">
            <a:extLst xmlns:a="http://schemas.openxmlformats.org/drawingml/2006/main">
              <a:ext uri="{FF2B5EF4-FFF2-40B4-BE49-F238E27FC236}">
                <a16:creationId xmlns:a16="http://schemas.microsoft.com/office/drawing/2014/main" id="{2D5A4A5E-A3F3-4168-9F66-3B5BA8B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掃 QR Code 即時作答；連投影片上的題目也能快速轉成互動活動。</a:t>
            </a:r>
          </a:p>
        </p:txBody>
      </p:sp>
      <p:sp>
        <p:nvSpPr>
          <p:cNvPr id="11" name="text-159">
            <a:extLst xmlns:a="http://schemas.openxmlformats.org/drawingml/2006/main">
              <a:ext uri="{FF2B5EF4-FFF2-40B4-BE49-F238E27FC236}">
                <a16:creationId xmlns:a16="http://schemas.microsoft.com/office/drawing/2014/main" id="{5A6D417C-0F0F-49B0-9A54-669C1E77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69e7144aeb243a3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6c35dfce14e06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60">
            <a:extLst xmlns:a="http://schemas.openxmlformats.org/drawingml/2006/main">
              <a:ext uri="{FF2B5EF4-FFF2-40B4-BE49-F238E27FC236}">
                <a16:creationId xmlns:a16="http://schemas.microsoft.com/office/drawing/2014/main" id="{FF3BFAA4-4855-4564-AB95-A042C80C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051223589744129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cf41b371c44d3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61">
            <a:extLst xmlns:a="http://schemas.openxmlformats.org/drawingml/2006/main">
              <a:ext uri="{FF2B5EF4-FFF2-40B4-BE49-F238E27FC236}">
                <a16:creationId xmlns:a16="http://schemas.microsoft.com/office/drawing/2014/main" id="{9DA7C8D1-8DB5-454C-A467-A9D7693D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6" name="text-162">
            <a:extLst xmlns:a="http://schemas.openxmlformats.org/drawingml/2006/main">
              <a:ext uri="{FF2B5EF4-FFF2-40B4-BE49-F238E27FC236}">
                <a16:creationId xmlns:a16="http://schemas.microsoft.com/office/drawing/2014/main" id="{5AC71493-88FB-4023-976C-8962C338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#24 · Google Sites</a:t>
            </a:r>
          </a:p>
        </p:txBody>
      </p:sp>
      <p:sp>
        <p:nvSpPr>
          <p:cNvPr id="17" name="text-163">
            <a:extLst xmlns:a="http://schemas.openxmlformats.org/drawingml/2006/main">
              <a:ext uri="{FF2B5EF4-FFF2-40B4-BE49-F238E27FC236}">
                <a16:creationId xmlns:a16="http://schemas.microsoft.com/office/drawing/2014/main" id="{12754189-8A3A-4DBE-BB2C-F4F50F7D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教師午會記錄報告站</a:t>
            </a:r>
          </a:p>
        </p:txBody>
      </p:sp>
      <p:sp>
        <p:nvSpPr>
          <p:cNvPr id="18" name="text-164">
            <a:extLst xmlns:a="http://schemas.openxmlformats.org/drawingml/2006/main">
              <a:ext uri="{FF2B5EF4-FFF2-40B4-BE49-F238E27FC236}">
                <a16:creationId xmlns:a16="http://schemas.microsoft.com/office/drawing/2014/main" id="{CE63A36A-0075-40B7-A998-026A531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以 Google Sites 承載會議紀錄與互動式報告，示範嵌入與分享。</a:t>
            </a:r>
          </a:p>
        </p:txBody>
      </p:sp>
      <p:sp>
        <p:nvSpPr>
          <p:cNvPr id="19" name="text-165">
            <a:extLst xmlns:a="http://schemas.openxmlformats.org/drawingml/2006/main">
              <a:ext uri="{FF2B5EF4-FFF2-40B4-BE49-F238E27FC236}">
                <a16:creationId xmlns:a16="http://schemas.microsoft.com/office/drawing/2014/main" id="{68F84B87-AC96-4798-8710-660FC2C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f757cf9c03943a3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6a74e2cb846c2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66">
            <a:extLst xmlns:a="http://schemas.openxmlformats.org/drawingml/2006/main">
              <a:ext uri="{FF2B5EF4-FFF2-40B4-BE49-F238E27FC236}">
                <a16:creationId xmlns:a16="http://schemas.microsoft.com/office/drawing/2014/main" id="{1D2F616B-B82D-4D60-A26B-209875C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d59dfcbeb0045f5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90803149e4b44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67">
            <a:extLst xmlns:a="http://schemas.openxmlformats.org/drawingml/2006/main">
              <a:ext uri="{FF2B5EF4-FFF2-40B4-BE49-F238E27FC236}">
                <a16:creationId xmlns:a16="http://schemas.microsoft.com/office/drawing/2014/main" id="{901D1CAA-E2FF-4192-BC5A-23FCAB19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4" name="text-168">
            <a:extLst xmlns:a="http://schemas.openxmlformats.org/drawingml/2006/main">
              <a:ext uri="{FF2B5EF4-FFF2-40B4-BE49-F238E27FC236}">
                <a16:creationId xmlns:a16="http://schemas.microsoft.com/office/drawing/2014/main" id="{795431D7-0769-41B1-A7A8-FD2EE61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#81 · GitHub Pages</a:t>
            </a:r>
          </a:p>
        </p:txBody>
      </p:sp>
      <p:sp>
        <p:nvSpPr>
          <p:cNvPr id="25" name="text-169">
            <a:extLst xmlns:a="http://schemas.openxmlformats.org/drawingml/2006/main">
              <a:ext uri="{FF2B5EF4-FFF2-40B4-BE49-F238E27FC236}">
                <a16:creationId xmlns:a16="http://schemas.microsoft.com/office/drawing/2014/main" id="{80FA73E3-8FE3-41CD-8FD3-24A0C50F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國小資訊科技教學駕駛艙</a:t>
            </a:r>
          </a:p>
        </p:txBody>
      </p:sp>
      <p:sp>
        <p:nvSpPr>
          <p:cNvPr id="26" name="text-170">
            <a:extLst xmlns:a="http://schemas.openxmlformats.org/drawingml/2006/main">
              <a:ext uri="{FF2B5EF4-FFF2-40B4-BE49-F238E27FC236}">
                <a16:creationId xmlns:a16="http://schemas.microsoft.com/office/drawing/2014/main" id="{6C947F76-CB2D-4BFD-B8BC-0107D4C2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整合全學期課程、影片、Canvas 關卡與評量入口的一站式教學網站。</a:t>
            </a:r>
          </a:p>
        </p:txBody>
      </p:sp>
      <p:sp>
        <p:nvSpPr>
          <p:cNvPr id="27" name="text-171">
            <a:extLst xmlns:a="http://schemas.openxmlformats.org/drawingml/2006/main">
              <a:ext uri="{FF2B5EF4-FFF2-40B4-BE49-F238E27FC236}">
                <a16:creationId xmlns:a16="http://schemas.microsoft.com/office/drawing/2014/main" id="{53251F92-07CA-450F-A736-68DA226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5435a071b9c4505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a977dd6a44012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72">
            <a:extLst xmlns:a="http://schemas.openxmlformats.org/drawingml/2006/main">
              <a:ext uri="{FF2B5EF4-FFF2-40B4-BE49-F238E27FC236}">
                <a16:creationId xmlns:a16="http://schemas.microsoft.com/office/drawing/2014/main" id="{4A9178EA-E3F0-404E-84C2-86361825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a5e0efa16234d2b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311f5e54d4d2b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656848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73">
            <a:extLst xmlns:a="http://schemas.openxmlformats.org/drawingml/2006/main">
              <a:ext uri="{FF2B5EF4-FFF2-40B4-BE49-F238E27FC236}">
                <a16:creationId xmlns:a16="http://schemas.microsoft.com/office/drawing/2014/main" id="{7F937F77-1A85-4548-917E-86830712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VOICE INPUT OPTIONS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B43E35-E0D8-4F58-9B92-20E458C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語音輸入有兩條路：Typeless × Codex Voice</a:t>
            </a:r>
          </a:p>
        </p:txBody>
      </p:sp>
      <p:cxnSp>
        <p:nvCxnSpPr>
          <p:cNvPr id="30" name="shape-17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75">
            <a:extLst xmlns:a="http://schemas.openxmlformats.org/drawingml/2006/main">
              <a:ext uri="{FF2B5EF4-FFF2-40B4-BE49-F238E27FC236}">
                <a16:creationId xmlns:a16="http://schemas.microsoft.com/office/drawing/2014/main" id="{47A3E203-17CA-4310-A67D-4EBF6723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EE0231-0543-4E25-B96D-4BC0362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7EB237CC-35B2-4A51-B645-A07DB0BE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68B8B8D0-C9D6-46E6-9EF9-862D279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9EF62B68-CDF1-417E-BA74-5350F06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Typeless｜跨應用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318AB270-E9EB-41CF-8A7B-6263905E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在原本的輸入框直接說，先把課程構想、研究問題或行政需求整理成可複製文字。</a:t>
            </a:r>
          </a:p>
        </p:txBody>
      </p:sp>
      <p:sp>
        <p:nvSpPr>
          <p:cNvPr id="10" name="shape-180">
            <a:extLst xmlns:a="http://schemas.openxmlformats.org/drawingml/2006/main">
              <a:ext uri="{FF2B5EF4-FFF2-40B4-BE49-F238E27FC236}">
                <a16:creationId xmlns:a16="http://schemas.microsoft.com/office/drawing/2014/main" id="{6E57BE89-CBC8-474A-84B9-D3D04DB7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5DC0DA7C-33B3-4D02-B4D5-B563726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</a:t>
            </a:r>
          </a:p>
        </p:txBody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C85EFDF5-D025-449C-A245-32BF5AC0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Codex Voice｜原生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ABE74266-86B2-4BBF-A4DF-96D2511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在 ChatGPT 桌面版 Work／Codex 內直接口述任務、追問進度，讓 Agent 依工作區與權限協作。</a:t>
            </a:r>
          </a:p>
        </p:txBody>
      </p:sp>
      <p:sp>
        <p:nvSpPr>
          <p:cNvPr id="14" name="shape-184">
            <a:extLst xmlns:a="http://schemas.openxmlformats.org/drawingml/2006/main">
              <a:ext uri="{FF2B5EF4-FFF2-40B4-BE49-F238E27FC236}">
                <a16:creationId xmlns:a16="http://schemas.microsoft.com/office/drawing/2014/main" id="{04F27FA8-F247-403D-989E-279F1C1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185">
            <a:extLst xmlns:a="http://schemas.openxmlformats.org/drawingml/2006/main">
              <a:ext uri="{FF2B5EF4-FFF2-40B4-BE49-F238E27FC236}">
                <a16:creationId xmlns:a16="http://schemas.microsoft.com/office/drawing/2014/main" id="{20EFD9E3-17CC-4DA4-850C-0290BD3E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030AEC14-29A4-4BA9-B550-B622384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共同流程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4A656CB4-3F49-4289-8521-289A0C0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說清楚對象、痛點、限制與完成標準；再人工檢查，才交給 Notebook 或 Agent。</a:t>
            </a:r>
          </a:p>
        </p:txBody>
      </p:sp>
      <p:sp>
        <p:nvSpPr>
          <p:cNvPr id="18" name="shape-188">
            <a:extLst xmlns:a="http://schemas.openxmlformats.org/drawingml/2006/main">
              <a:ext uri="{FF2B5EF4-FFF2-40B4-BE49-F238E27FC236}">
                <a16:creationId xmlns:a16="http://schemas.microsoft.com/office/drawing/2014/main" id="{C197896C-B393-4C83-BB33-B1370081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189">
            <a:extLst xmlns:a="http://schemas.openxmlformats.org/drawingml/2006/main">
              <a:ext uri="{FF2B5EF4-FFF2-40B4-BE49-F238E27FC236}">
                <a16:creationId xmlns:a16="http://schemas.microsoft.com/office/drawing/2014/main" id="{9FD5C916-62DC-42F2-A574-DCEA129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0AD77E08-EE3C-49AA-9DA3-4C3425BE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隱私選擇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D6038F39-D127-4B00-8898-571AC1B8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敏感資料先匿名化。可改用 Codex Voice，但仍要確認麥克風、工作區權限與資料控制設定；不等於離線或零留存。</a:t>
            </a:r>
          </a:p>
        </p:txBody>
      </p:sp>
      <p:sp>
        <p:nvSpPr>
          <p:cNvPr id="22" name="text-755">
            <a:extLst xmlns:a="http://schemas.openxmlformats.org/drawingml/2006/main">
              <a:ext uri="{FF2B5EF4-FFF2-40B4-BE49-F238E27FC236}">
                <a16:creationId xmlns:a16="http://schemas.microsoft.com/office/drawing/2014/main" id="{CD7F885E-94E3-404B-9D5A-33E1DB93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2a002291d8949da"/>
              </a:rPr>
              <a:t>Typeless 官方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f3c061d76444256"/>
              </a:rPr>
              <a:t>Codex Voice ↗</a:t>
            </a:r>
          </a:p>
        </p:txBody>
      </p:sp>
      <p:sp>
        <p:nvSpPr>
          <p:cNvPr id="23" name="shape-788">
            <a:extLst xmlns:a="http://schemas.openxmlformats.org/drawingml/2006/main">
              <a:ext uri="{FF2B5EF4-FFF2-40B4-BE49-F238E27FC236}">
                <a16:creationId xmlns:a16="http://schemas.microsoft.com/office/drawing/2014/main" id="{0A73564A-58F5-4D41-BFCD-13C9778A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f844831c74c12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789">
            <a:extLst xmlns:a="http://schemas.openxmlformats.org/drawingml/2006/main">
              <a:ext uri="{FF2B5EF4-FFF2-40B4-BE49-F238E27FC236}">
                <a16:creationId xmlns:a16="http://schemas.microsoft.com/office/drawing/2014/main" id="{AA90B10E-BE1D-420C-9989-AF4A26E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Typeless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5e1230dcb43ca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790">
            <a:extLst xmlns:a="http://schemas.openxmlformats.org/drawingml/2006/main">
              <a:ext uri="{FF2B5EF4-FFF2-40B4-BE49-F238E27FC236}">
                <a16:creationId xmlns:a16="http://schemas.microsoft.com/office/drawing/2014/main" id="{CB82B7B3-8E60-4FE1-9ED3-B4180B7D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Codex Voice</a:t>
            </a:r>
          </a:p>
        </p:txBody>
      </p:sp>
    </p:spTree>
    <p:extLst>
      <p:ext uri="{BB962C8B-B14F-4D97-AF65-F5344CB8AC3E}">
        <p14:creationId xmlns:p14="http://schemas.microsoft.com/office/powerpoint/2010/main" val="627165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92">
            <a:extLst xmlns:a="http://schemas.openxmlformats.org/drawingml/2006/main">
              <a:ext uri="{FF2B5EF4-FFF2-40B4-BE49-F238E27FC236}">
                <a16:creationId xmlns:a16="http://schemas.microsoft.com/office/drawing/2014/main" id="{CAEEA344-0ED5-4002-A97C-C0CAAE81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TYPELESS ↔ CODEX VOICE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237C2A-FACA-4860-9584-F270B845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同一個痛點，兩種語音路徑</a:t>
            </a:r>
          </a:p>
        </p:txBody>
      </p:sp>
      <p:cxnSp>
        <p:nvCxnSpPr>
          <p:cNvPr id="20" name="shape-19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94">
            <a:extLst xmlns:a="http://schemas.openxmlformats.org/drawingml/2006/main">
              <a:ext uri="{FF2B5EF4-FFF2-40B4-BE49-F238E27FC236}">
                <a16:creationId xmlns:a16="http://schemas.microsoft.com/office/drawing/2014/main" id="{0D2E57A3-3C78-4A5B-A486-25E6F343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FCAA09-114B-4204-A7AA-AE64B7A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6" name="shape-195">
            <a:extLst xmlns:a="http://schemas.openxmlformats.org/drawingml/2006/main">
              <a:ext uri="{FF2B5EF4-FFF2-40B4-BE49-F238E27FC236}">
                <a16:creationId xmlns:a16="http://schemas.microsoft.com/office/drawing/2014/main" id="{4B92366A-49C3-4548-B403-2CE085B4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196">
            <a:extLst xmlns:a="http://schemas.openxmlformats.org/drawingml/2006/main">
              <a:ext uri="{FF2B5EF4-FFF2-40B4-BE49-F238E27FC236}">
                <a16:creationId xmlns:a16="http://schemas.microsoft.com/office/drawing/2014/main" id="{7D745AD9-2B2A-44EE-9313-5AAD6B12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197">
            <a:extLst xmlns:a="http://schemas.openxmlformats.org/drawingml/2006/main">
              <a:ext uri="{FF2B5EF4-FFF2-40B4-BE49-F238E27FC236}">
                <a16:creationId xmlns:a16="http://schemas.microsoft.com/office/drawing/2014/main" id="{F36D3B3F-146D-4529-87C6-6A63A0B8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Typeless：口述 → 文字</a:t>
            </a:r>
          </a:p>
        </p:txBody>
      </p:sp>
      <p:sp>
        <p:nvSpPr>
          <p:cNvPr id="9" name="text-198">
            <a:extLst xmlns:a="http://schemas.openxmlformats.org/drawingml/2006/main">
              <a:ext uri="{FF2B5EF4-FFF2-40B4-BE49-F238E27FC236}">
                <a16:creationId xmlns:a16="http://schemas.microsoft.com/office/drawing/2014/main" id="{09B91363-1977-414E-B920-70187B5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我想做一個大學教師 AI 研習……呃……先讓大家說出自己的痛點，然後整理資料，最後做一個可以分享的作品。</a:t>
            </a:r>
          </a:p>
        </p:txBody>
      </p:sp>
      <p:sp>
        <p:nvSpPr>
          <p:cNvPr id="10" name="text-199">
            <a:extLst xmlns:a="http://schemas.openxmlformats.org/drawingml/2006/main">
              <a:ext uri="{FF2B5EF4-FFF2-40B4-BE49-F238E27FC236}">
                <a16:creationId xmlns:a16="http://schemas.microsoft.com/office/drawing/2014/main" id="{A6B03E03-D6CF-4A77-99B8-EF938BDB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Codex Voice：口述 → 任務</a:t>
            </a:r>
          </a:p>
        </p:txBody>
      </p:sp>
      <p:sp>
        <p:nvSpPr>
          <p:cNvPr id="11" name="text-200">
            <a:extLst xmlns:a="http://schemas.openxmlformats.org/drawingml/2006/main">
              <a:ext uri="{FF2B5EF4-FFF2-40B4-BE49-F238E27FC236}">
                <a16:creationId xmlns:a16="http://schemas.microsoft.com/office/drawing/2014/main" id="{DD57BDCC-DB03-47FF-9699-0A07D1FD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請先閱讀目前工作區的研習素材，整理三個教學／研究痛點，提出可驗證計畫，等我確認後再執行；最後回報變更與證據。</a:t>
            </a:r>
          </a:p>
        </p:txBody>
      </p:sp>
      <p:sp>
        <p:nvSpPr>
          <p:cNvPr id="12" name="text-756">
            <a:extLst xmlns:a="http://schemas.openxmlformats.org/drawingml/2006/main">
              <a:ext uri="{FF2B5EF4-FFF2-40B4-BE49-F238E27FC236}">
                <a16:creationId xmlns:a16="http://schemas.microsoft.com/office/drawing/2014/main" id="{14D39547-4CDC-4CAE-88E3-3CE933E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c731d8ede57431a"/>
              </a:rPr>
              <a:t>Typeless 官方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badbafce9cb4d84"/>
              </a:rPr>
              <a:t>Codex Voice ↗</a:t>
            </a:r>
          </a:p>
        </p:txBody>
      </p:sp>
      <p:sp>
        <p:nvSpPr>
          <p:cNvPr id="13" name="shape-791">
            <a:extLst xmlns:a="http://schemas.openxmlformats.org/drawingml/2006/main">
              <a:ext uri="{FF2B5EF4-FFF2-40B4-BE49-F238E27FC236}">
                <a16:creationId xmlns:a16="http://schemas.microsoft.com/office/drawing/2014/main" id="{DA2462CE-12A3-4B95-87D8-F34BBF5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7f6efe3e24ff1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5" name="text-792">
            <a:extLst xmlns:a="http://schemas.openxmlformats.org/drawingml/2006/main">
              <a:ext uri="{FF2B5EF4-FFF2-40B4-BE49-F238E27FC236}">
                <a16:creationId xmlns:a16="http://schemas.microsoft.com/office/drawing/2014/main" id="{CCF8B2BB-54E8-47F8-A01F-3E166597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Typeless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541c663c14981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7" name="text-793">
            <a:extLst xmlns:a="http://schemas.openxmlformats.org/drawingml/2006/main">
              <a:ext uri="{FF2B5EF4-FFF2-40B4-BE49-F238E27FC236}">
                <a16:creationId xmlns:a16="http://schemas.microsoft.com/office/drawing/2014/main" id="{B498E069-1EF1-4ED8-A876-CD8604BF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Codex Voice</a:t>
            </a:r>
          </a:p>
        </p:txBody>
      </p:sp>
    </p:spTree>
    <p:extLst>
      <p:ext uri="{BB962C8B-B14F-4D97-AF65-F5344CB8AC3E}">
        <p14:creationId xmlns:p14="http://schemas.microsoft.com/office/powerpoint/2010/main" val="858994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01">
            <a:extLst xmlns:a="http://schemas.openxmlformats.org/drawingml/2006/main">
              <a:ext uri="{FF2B5EF4-FFF2-40B4-BE49-F238E27FC236}">
                <a16:creationId xmlns:a16="http://schemas.microsoft.com/office/drawing/2014/main" id="{66027770-8F4F-4ACC-9475-C9120EB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48BE2-22EF-432B-BECF-847E808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實作｜選一條語音路徑說出真實痛點</a:t>
            </a:r>
          </a:p>
        </p:txBody>
      </p:sp>
      <p:cxnSp>
        <p:nvCxnSpPr>
          <p:cNvPr id="27" name="shape-20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03">
            <a:extLst xmlns:a="http://schemas.openxmlformats.org/drawingml/2006/main">
              <a:ext uri="{FF2B5EF4-FFF2-40B4-BE49-F238E27FC236}">
                <a16:creationId xmlns:a16="http://schemas.microsoft.com/office/drawing/2014/main" id="{DCBCB919-A3C8-4739-8576-69021AE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62AE9D-8DC4-44B5-9F45-07E0CEE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6" name="text-204">
            <a:extLst xmlns:a="http://schemas.openxmlformats.org/drawingml/2006/main">
              <a:ext uri="{FF2B5EF4-FFF2-40B4-BE49-F238E27FC236}">
                <a16:creationId xmlns:a16="http://schemas.microsoft.com/office/drawing/2014/main" id="{E8AB82D7-CA1D-41EC-960B-85B8AA0B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205">
            <a:extLst xmlns:a="http://schemas.openxmlformats.org/drawingml/2006/main">
              <a:ext uri="{FF2B5EF4-FFF2-40B4-BE49-F238E27FC236}">
                <a16:creationId xmlns:a16="http://schemas.microsoft.com/office/drawing/2014/main" id="{9C924C80-CB74-406C-88F5-95E729DD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206">
            <a:extLst xmlns:a="http://schemas.openxmlformats.org/drawingml/2006/main">
              <a:ext uri="{FF2B5EF4-FFF2-40B4-BE49-F238E27FC236}">
                <a16:creationId xmlns:a16="http://schemas.microsoft.com/office/drawing/2014/main" id="{3D2A4595-D738-4228-BD9A-A3A535C8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07">
            <a:extLst xmlns:a="http://schemas.openxmlformats.org/drawingml/2006/main">
              <a:ext uri="{FF2B5EF4-FFF2-40B4-BE49-F238E27FC236}">
                <a16:creationId xmlns:a16="http://schemas.microsoft.com/office/drawing/2014/main" id="{636AF416-6C97-4A43-98E6-CB168965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選 Typeless 或 ChatGPT 桌面版 Work／Codex Voice</a:t>
            </a:r>
          </a:p>
        </p:txBody>
      </p:sp>
      <p:sp>
        <p:nvSpPr>
          <p:cNvPr id="10" name="text-208">
            <a:extLst xmlns:a="http://schemas.openxmlformats.org/drawingml/2006/main">
              <a:ext uri="{FF2B5EF4-FFF2-40B4-BE49-F238E27FC236}">
                <a16:creationId xmlns:a16="http://schemas.microsoft.com/office/drawing/2014/main" id="{2CB48D7E-F9B4-42F6-81A6-DCE9AB6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209">
            <a:extLst xmlns:a="http://schemas.openxmlformats.org/drawingml/2006/main">
              <a:ext uri="{FF2B5EF4-FFF2-40B4-BE49-F238E27FC236}">
                <a16:creationId xmlns:a16="http://schemas.microsoft.com/office/drawing/2014/main" id="{401BB4C5-A945-464F-ABB3-EB09EDA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連續口述 30–60 秒：對象、困難、想完成的改變</a:t>
            </a:r>
          </a:p>
        </p:txBody>
      </p:sp>
      <p:sp>
        <p:nvSpPr>
          <p:cNvPr id="12" name="text-210">
            <a:extLst xmlns:a="http://schemas.openxmlformats.org/drawingml/2006/main">
              <a:ext uri="{FF2B5EF4-FFF2-40B4-BE49-F238E27FC236}">
                <a16:creationId xmlns:a16="http://schemas.microsoft.com/office/drawing/2014/main" id="{205A34D1-01D7-4B14-937F-173209BC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211">
            <a:extLst xmlns:a="http://schemas.openxmlformats.org/drawingml/2006/main">
              <a:ext uri="{FF2B5EF4-FFF2-40B4-BE49-F238E27FC236}">
                <a16:creationId xmlns:a16="http://schemas.microsoft.com/office/drawing/2014/main" id="{8ADAE55E-7F2B-4312-8BF3-A98FF37A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Typeless 複製整理稿；Codex 先要求計畫，暫不直接執行</a:t>
            </a:r>
          </a:p>
        </p:txBody>
      </p:sp>
      <p:sp>
        <p:nvSpPr>
          <p:cNvPr id="14" name="text-212">
            <a:extLst xmlns:a="http://schemas.openxmlformats.org/drawingml/2006/main">
              <a:ext uri="{FF2B5EF4-FFF2-40B4-BE49-F238E27FC236}">
                <a16:creationId xmlns:a16="http://schemas.microsoft.com/office/drawing/2014/main" id="{E2BC8A9F-9DC5-4D2A-95E9-76A6F19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213">
            <a:extLst xmlns:a="http://schemas.openxmlformats.org/drawingml/2006/main">
              <a:ext uri="{FF2B5EF4-FFF2-40B4-BE49-F238E27FC236}">
                <a16:creationId xmlns:a16="http://schemas.microsoft.com/office/drawing/2014/main" id="{6156D8D7-80B7-4636-9B56-CA19D98A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人工檢查個資、權限與邊界，再交給 Notebook 或 Codex</a:t>
            </a:r>
          </a:p>
        </p:txBody>
      </p:sp>
      <p:sp>
        <p:nvSpPr>
          <p:cNvPr id="16" name="shape-214">
            <a:extLst xmlns:a="http://schemas.openxmlformats.org/drawingml/2006/main">
              <a:ext uri="{FF2B5EF4-FFF2-40B4-BE49-F238E27FC236}">
                <a16:creationId xmlns:a16="http://schemas.microsoft.com/office/drawing/2014/main" id="{B9E9B98A-EB36-4F76-833C-A75CF6CD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215">
            <a:extLst xmlns:a="http://schemas.openxmlformats.org/drawingml/2006/main">
              <a:ext uri="{FF2B5EF4-FFF2-40B4-BE49-F238E27FC236}">
                <a16:creationId xmlns:a16="http://schemas.microsoft.com/office/drawing/2014/main" id="{B3CC1F63-A77B-4B4C-A6AB-FC6F485E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216">
            <a:extLst xmlns:a="http://schemas.openxmlformats.org/drawingml/2006/main">
              <a:ext uri="{FF2B5EF4-FFF2-40B4-BE49-F238E27FC236}">
                <a16:creationId xmlns:a16="http://schemas.microsoft.com/office/drawing/2014/main" id="{EC6E0F2B-6338-4CC9-A90F-39584DC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內容已匿名化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路徑與工具選擇有記錄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至少寫出一個可驗證目標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下一個工具與人工確認點清楚</a:t>
            </a:r>
          </a:p>
        </p:txBody>
      </p:sp>
      <p:sp>
        <p:nvSpPr>
          <p:cNvPr id="19" name="text-757">
            <a:extLst xmlns:a="http://schemas.openxmlformats.org/drawingml/2006/main">
              <a:ext uri="{FF2B5EF4-FFF2-40B4-BE49-F238E27FC236}">
                <a16:creationId xmlns:a16="http://schemas.microsoft.com/office/drawing/2014/main" id="{52FCE76F-FFBD-4EDE-B5D5-DF63F65A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032a1e1921b48b8"/>
              </a:rPr>
              <a:t>下載 Typeless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2b3ba34ce341dd"/>
              </a:rPr>
              <a:t>Codex Voice ↗</a:t>
            </a:r>
          </a:p>
        </p:txBody>
      </p:sp>
      <p:sp>
        <p:nvSpPr>
          <p:cNvPr id="20" name="shape-794">
            <a:extLst xmlns:a="http://schemas.openxmlformats.org/drawingml/2006/main">
              <a:ext uri="{FF2B5EF4-FFF2-40B4-BE49-F238E27FC236}">
                <a16:creationId xmlns:a16="http://schemas.microsoft.com/office/drawing/2014/main" id="{BB0A1071-FAC5-459E-BD8D-B015FA6C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d0482691f47bd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795">
            <a:extLst xmlns:a="http://schemas.openxmlformats.org/drawingml/2006/main">
              <a:ext uri="{FF2B5EF4-FFF2-40B4-BE49-F238E27FC236}">
                <a16:creationId xmlns:a16="http://schemas.microsoft.com/office/drawing/2014/main" id="{5D08D027-63F7-4A35-8D01-069BEFB0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下載 Typeless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f57e38b574bc1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796">
            <a:extLst xmlns:a="http://schemas.openxmlformats.org/drawingml/2006/main">
              <a:ext uri="{FF2B5EF4-FFF2-40B4-BE49-F238E27FC236}">
                <a16:creationId xmlns:a16="http://schemas.microsoft.com/office/drawing/2014/main" id="{63143DF1-88FA-4FF3-9FAA-2779BB6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Codex Voice</a:t>
            </a:r>
          </a:p>
        </p:txBody>
      </p:sp>
    </p:spTree>
    <p:extLst>
      <p:ext uri="{BB962C8B-B14F-4D97-AF65-F5344CB8AC3E}">
        <p14:creationId xmlns:p14="http://schemas.microsoft.com/office/powerpoint/2010/main" val="20080511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-217">
            <a:extLst xmlns:a="http://schemas.openxmlformats.org/drawingml/2006/main">
              <a:ext uri="{FF2B5EF4-FFF2-40B4-BE49-F238E27FC236}">
                <a16:creationId xmlns:a16="http://schemas.microsoft.com/office/drawing/2014/main" id="{6FE1E784-84EA-45B6-9557-4D023DFF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VOICE → EVIDENCE → OUTPUT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347339-CBF2-4148-AB2B-CEC342E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語音 → 證據 → 作品：兩條路徑可會合</a:t>
            </a:r>
          </a:p>
        </p:txBody>
      </p:sp>
      <p:cxnSp>
        <p:nvCxnSpPr>
          <p:cNvPr id="44" name="shape-21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19">
            <a:extLst xmlns:a="http://schemas.openxmlformats.org/drawingml/2006/main">
              <a:ext uri="{FF2B5EF4-FFF2-40B4-BE49-F238E27FC236}">
                <a16:creationId xmlns:a16="http://schemas.microsoft.com/office/drawing/2014/main" id="{2A61CCEB-8E59-4555-ADB9-5F626126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548DBC-D6E5-41C7-83FB-519A5B39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6" name="shape-220">
            <a:extLst xmlns:a="http://schemas.openxmlformats.org/drawingml/2006/main">
              <a:ext uri="{FF2B5EF4-FFF2-40B4-BE49-F238E27FC236}">
                <a16:creationId xmlns:a16="http://schemas.microsoft.com/office/drawing/2014/main" id="{F3FF0527-8EE5-4B9B-82C6-06048252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221">
            <a:extLst xmlns:a="http://schemas.openxmlformats.org/drawingml/2006/main">
              <a:ext uri="{FF2B5EF4-FFF2-40B4-BE49-F238E27FC236}">
                <a16:creationId xmlns:a16="http://schemas.microsoft.com/office/drawing/2014/main" id="{14E58460-109B-4988-A18F-802B573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22">
            <a:extLst xmlns:a="http://schemas.openxmlformats.org/drawingml/2006/main">
              <a:ext uri="{FF2B5EF4-FFF2-40B4-BE49-F238E27FC236}">
                <a16:creationId xmlns:a16="http://schemas.microsoft.com/office/drawing/2014/main" id="{F53D48D0-3212-4A86-B8F5-B5D5E14E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23">
            <a:extLst xmlns:a="http://schemas.openxmlformats.org/drawingml/2006/main">
              <a:ext uri="{FF2B5EF4-FFF2-40B4-BE49-F238E27FC236}">
                <a16:creationId xmlns:a16="http://schemas.microsoft.com/office/drawing/2014/main" id="{2DFA34A8-C764-4A03-877A-E8E2B38F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選入口</a:t>
            </a:r>
          </a:p>
        </p:txBody>
      </p:sp>
      <p:sp>
        <p:nvSpPr>
          <p:cNvPr id="10" name="text-224">
            <a:extLst xmlns:a="http://schemas.openxmlformats.org/drawingml/2006/main">
              <a:ext uri="{FF2B5EF4-FFF2-40B4-BE49-F238E27FC236}">
                <a16:creationId xmlns:a16="http://schemas.microsoft.com/office/drawing/2014/main" id="{4033059C-3A21-4BAF-8104-095EA9D8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Typeless 跨應用；Codex Voice 工作區內直接說</a:t>
            </a:r>
          </a:p>
        </p:txBody>
      </p:sp>
      <p:sp>
        <p:nvSpPr>
          <p:cNvPr id="11" name="text-225">
            <a:extLst xmlns:a="http://schemas.openxmlformats.org/drawingml/2006/main">
              <a:ext uri="{FF2B5EF4-FFF2-40B4-BE49-F238E27FC236}">
                <a16:creationId xmlns:a16="http://schemas.microsoft.com/office/drawing/2014/main" id="{43FC8C99-34D7-4F63-963E-7699FEE7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226">
            <a:extLst xmlns:a="http://schemas.openxmlformats.org/drawingml/2006/main">
              <a:ext uri="{FF2B5EF4-FFF2-40B4-BE49-F238E27FC236}">
                <a16:creationId xmlns:a16="http://schemas.microsoft.com/office/drawing/2014/main" id="{74811B6C-6A5A-4083-9CCE-33AF524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227">
            <a:extLst xmlns:a="http://schemas.openxmlformats.org/drawingml/2006/main">
              <a:ext uri="{FF2B5EF4-FFF2-40B4-BE49-F238E27FC236}">
                <a16:creationId xmlns:a16="http://schemas.microsoft.com/office/drawing/2014/main" id="{D6B1DDCE-68CA-4917-9AAF-6DA3D0C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28">
            <a:extLst xmlns:a="http://schemas.openxmlformats.org/drawingml/2006/main">
              <a:ext uri="{FF2B5EF4-FFF2-40B4-BE49-F238E27FC236}">
                <a16:creationId xmlns:a16="http://schemas.microsoft.com/office/drawing/2014/main" id="{A30BC8F4-7905-4371-AA0F-0441A41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29">
            <a:extLst xmlns:a="http://schemas.openxmlformats.org/drawingml/2006/main">
              <a:ext uri="{FF2B5EF4-FFF2-40B4-BE49-F238E27FC236}">
                <a16:creationId xmlns:a16="http://schemas.microsoft.com/office/drawing/2014/main" id="{CEC5A9EC-8112-4FF4-B003-952D5EC9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說清楚痛點</a:t>
            </a:r>
          </a:p>
        </p:txBody>
      </p:sp>
      <p:sp>
        <p:nvSpPr>
          <p:cNvPr id="16" name="text-230">
            <a:extLst xmlns:a="http://schemas.openxmlformats.org/drawingml/2006/main">
              <a:ext uri="{FF2B5EF4-FFF2-40B4-BE49-F238E27FC236}">
                <a16:creationId xmlns:a16="http://schemas.microsoft.com/office/drawing/2014/main" id="{ECEB5DE7-3910-44B8-90EB-ED8751E3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對象、情境、限制與想完成的改變</a:t>
            </a:r>
          </a:p>
        </p:txBody>
      </p:sp>
      <p:sp>
        <p:nvSpPr>
          <p:cNvPr id="17" name="text-231">
            <a:extLst xmlns:a="http://schemas.openxmlformats.org/drawingml/2006/main">
              <a:ext uri="{FF2B5EF4-FFF2-40B4-BE49-F238E27FC236}">
                <a16:creationId xmlns:a16="http://schemas.microsoft.com/office/drawing/2014/main" id="{8568AEAB-76EB-469E-8CDB-670D80B9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32">
            <a:extLst xmlns:a="http://schemas.openxmlformats.org/drawingml/2006/main">
              <a:ext uri="{FF2B5EF4-FFF2-40B4-BE49-F238E27FC236}">
                <a16:creationId xmlns:a16="http://schemas.microsoft.com/office/drawing/2014/main" id="{D649C73E-CBB8-44BA-A263-198FAA22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233">
            <a:extLst xmlns:a="http://schemas.openxmlformats.org/drawingml/2006/main">
              <a:ext uri="{FF2B5EF4-FFF2-40B4-BE49-F238E27FC236}">
                <a16:creationId xmlns:a16="http://schemas.microsoft.com/office/drawing/2014/main" id="{8412EAA0-85DF-44AA-B3D2-1B5A8B5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34">
            <a:extLst xmlns:a="http://schemas.openxmlformats.org/drawingml/2006/main">
              <a:ext uri="{FF2B5EF4-FFF2-40B4-BE49-F238E27FC236}">
                <a16:creationId xmlns:a16="http://schemas.microsoft.com/office/drawing/2014/main" id="{D91B0AE7-2862-48F1-BC44-B5671B2F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35">
            <a:extLst xmlns:a="http://schemas.openxmlformats.org/drawingml/2006/main">
              <a:ext uri="{FF2B5EF4-FFF2-40B4-BE49-F238E27FC236}">
                <a16:creationId xmlns:a16="http://schemas.microsoft.com/office/drawing/2014/main" id="{FAEC70A0-C92A-42D8-A308-D3FB3F43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留下可檢查文字</a:t>
            </a:r>
          </a:p>
        </p:txBody>
      </p:sp>
      <p:sp>
        <p:nvSpPr>
          <p:cNvPr id="22" name="text-236">
            <a:extLst xmlns:a="http://schemas.openxmlformats.org/drawingml/2006/main">
              <a:ext uri="{FF2B5EF4-FFF2-40B4-BE49-F238E27FC236}">
                <a16:creationId xmlns:a16="http://schemas.microsoft.com/office/drawing/2014/main" id="{4B9FFC54-210F-4A09-967D-C10C32B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整理稿或 Agent 計畫，先人工確認</a:t>
            </a:r>
          </a:p>
        </p:txBody>
      </p:sp>
      <p:sp>
        <p:nvSpPr>
          <p:cNvPr id="23" name="text-237">
            <a:extLst xmlns:a="http://schemas.openxmlformats.org/drawingml/2006/main">
              <a:ext uri="{FF2B5EF4-FFF2-40B4-BE49-F238E27FC236}">
                <a16:creationId xmlns:a16="http://schemas.microsoft.com/office/drawing/2014/main" id="{D3E83EDD-DE93-4DFA-BB89-29ECA90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38">
            <a:extLst xmlns:a="http://schemas.openxmlformats.org/drawingml/2006/main">
              <a:ext uri="{FF2B5EF4-FFF2-40B4-BE49-F238E27FC236}">
                <a16:creationId xmlns:a16="http://schemas.microsoft.com/office/drawing/2014/main" id="{9B8AC6DC-1016-4C62-9107-5E24964C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239">
            <a:extLst xmlns:a="http://schemas.openxmlformats.org/drawingml/2006/main">
              <a:ext uri="{FF2B5EF4-FFF2-40B4-BE49-F238E27FC236}">
                <a16:creationId xmlns:a16="http://schemas.microsoft.com/office/drawing/2014/main" id="{0E7A9825-40A5-422F-9B00-60E9292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0">
            <a:extLst xmlns:a="http://schemas.openxmlformats.org/drawingml/2006/main">
              <a:ext uri="{FF2B5EF4-FFF2-40B4-BE49-F238E27FC236}">
                <a16:creationId xmlns:a16="http://schemas.microsoft.com/office/drawing/2014/main" id="{BF0F61FC-E6D5-4689-BBB4-04244A84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241">
            <a:extLst xmlns:a="http://schemas.openxmlformats.org/drawingml/2006/main">
              <a:ext uri="{FF2B5EF4-FFF2-40B4-BE49-F238E27FC236}">
                <a16:creationId xmlns:a16="http://schemas.microsoft.com/office/drawing/2014/main" id="{923F4080-750F-43C9-8147-D3F8A08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接到工作流</a:t>
            </a:r>
          </a:p>
        </p:txBody>
      </p:sp>
      <p:sp>
        <p:nvSpPr>
          <p:cNvPr id="28" name="text-242">
            <a:extLst xmlns:a="http://schemas.openxmlformats.org/drawingml/2006/main">
              <a:ext uri="{FF2B5EF4-FFF2-40B4-BE49-F238E27FC236}">
                <a16:creationId xmlns:a16="http://schemas.microsoft.com/office/drawing/2014/main" id="{30FBC83E-B36C-4C89-A7E3-624B128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 管來源；Codex 管檔案、測試與任務</a:t>
            </a:r>
          </a:p>
        </p:txBody>
      </p:sp>
      <p:sp>
        <p:nvSpPr>
          <p:cNvPr id="29" name="text-243">
            <a:extLst xmlns:a="http://schemas.openxmlformats.org/drawingml/2006/main">
              <a:ext uri="{FF2B5EF4-FFF2-40B4-BE49-F238E27FC236}">
                <a16:creationId xmlns:a16="http://schemas.microsoft.com/office/drawing/2014/main" id="{C2CDBE46-1EC0-4FC2-9720-11F4E651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244">
            <a:extLst xmlns:a="http://schemas.openxmlformats.org/drawingml/2006/main">
              <a:ext uri="{FF2B5EF4-FFF2-40B4-BE49-F238E27FC236}">
                <a16:creationId xmlns:a16="http://schemas.microsoft.com/office/drawing/2014/main" id="{AAE5D20D-2291-4796-BD04-92B6E471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1" name="shape-245">
            <a:extLst xmlns:a="http://schemas.openxmlformats.org/drawingml/2006/main">
              <a:ext uri="{FF2B5EF4-FFF2-40B4-BE49-F238E27FC236}">
                <a16:creationId xmlns:a16="http://schemas.microsoft.com/office/drawing/2014/main" id="{D061E9C3-721A-46BE-90C0-1BBBB39C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46">
            <a:extLst xmlns:a="http://schemas.openxmlformats.org/drawingml/2006/main">
              <a:ext uri="{FF2B5EF4-FFF2-40B4-BE49-F238E27FC236}">
                <a16:creationId xmlns:a16="http://schemas.microsoft.com/office/drawing/2014/main" id="{8422AC55-E704-45C1-8EEB-46BA807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247">
            <a:extLst xmlns:a="http://schemas.openxmlformats.org/drawingml/2006/main">
              <a:ext uri="{FF2B5EF4-FFF2-40B4-BE49-F238E27FC236}">
                <a16:creationId xmlns:a16="http://schemas.microsoft.com/office/drawing/2014/main" id="{8AC402D8-0665-42DC-A7BF-FE208E9E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做成成果</a:t>
            </a:r>
          </a:p>
        </p:txBody>
      </p:sp>
      <p:sp>
        <p:nvSpPr>
          <p:cNvPr id="34" name="text-248">
            <a:extLst xmlns:a="http://schemas.openxmlformats.org/drawingml/2006/main">
              <a:ext uri="{FF2B5EF4-FFF2-40B4-BE49-F238E27FC236}">
                <a16:creationId xmlns:a16="http://schemas.microsoft.com/office/drawing/2014/main" id="{8AABC8B3-949E-4674-BF3A-EE0F93D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Gem、Canvas、網站或可追查交付</a:t>
            </a:r>
          </a:p>
        </p:txBody>
      </p:sp>
      <p:sp>
        <p:nvSpPr>
          <p:cNvPr id="35" name="text-249">
            <a:extLst xmlns:a="http://schemas.openxmlformats.org/drawingml/2006/main">
              <a:ext uri="{FF2B5EF4-FFF2-40B4-BE49-F238E27FC236}">
                <a16:creationId xmlns:a16="http://schemas.microsoft.com/office/drawing/2014/main" id="{E5613C5F-6BE9-4812-817E-77E8D0C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6" name="text-758">
            <a:extLst xmlns:a="http://schemas.openxmlformats.org/drawingml/2006/main">
              <a:ext uri="{FF2B5EF4-FFF2-40B4-BE49-F238E27FC236}">
                <a16:creationId xmlns:a16="http://schemas.microsoft.com/office/drawing/2014/main" id="{EFDECDED-3D91-4545-A94C-5293C1D7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e523f6c953744cf"/>
              </a:rPr>
              <a:t>Typeless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418a63ae2774bac"/>
              </a:rPr>
              <a:t>Codex Voice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14d1ad0469d4b81"/>
              </a:rPr>
              <a:t>Gemini Notebook ↗</a:t>
            </a:r>
          </a:p>
        </p:txBody>
      </p:sp>
      <p:sp>
        <p:nvSpPr>
          <p:cNvPr id="37" name="shape-797">
            <a:extLst xmlns:a="http://schemas.openxmlformats.org/drawingml/2006/main">
              <a:ext uri="{FF2B5EF4-FFF2-40B4-BE49-F238E27FC236}">
                <a16:creationId xmlns:a16="http://schemas.microsoft.com/office/drawing/2014/main" id="{B5A8D5BE-B709-4D60-A29E-EC1152B4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f37aea1c94987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9" name="text-798">
            <a:extLst xmlns:a="http://schemas.openxmlformats.org/drawingml/2006/main">
              <a:ext uri="{FF2B5EF4-FFF2-40B4-BE49-F238E27FC236}">
                <a16:creationId xmlns:a16="http://schemas.microsoft.com/office/drawing/2014/main" id="{852A4E0D-6A26-47FC-94FE-F81DCA5E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Typeless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4c7c1afa141cc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41" name="text-799">
            <a:extLst xmlns:a="http://schemas.openxmlformats.org/drawingml/2006/main">
              <a:ext uri="{FF2B5EF4-FFF2-40B4-BE49-F238E27FC236}">
                <a16:creationId xmlns:a16="http://schemas.microsoft.com/office/drawing/2014/main" id="{3CB9A46B-E884-45BE-B794-28147A7B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794115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250">
            <a:extLst xmlns:a="http://schemas.openxmlformats.org/drawingml/2006/main">
              <a:ext uri="{FF2B5EF4-FFF2-40B4-BE49-F238E27FC236}">
                <a16:creationId xmlns:a16="http://schemas.microsoft.com/office/drawing/2014/main" id="{028B5738-4CA2-452A-A11C-430ED9F8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THE TEACHING STUDIO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AB39A9-B7C4-42EA-9465-9C0D865D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一條完整產線，四個工具各司其職</a:t>
            </a:r>
          </a:p>
        </p:txBody>
      </p:sp>
      <p:cxnSp>
        <p:nvCxnSpPr>
          <p:cNvPr id="38" name="shape-25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52">
            <a:extLst xmlns:a="http://schemas.openxmlformats.org/drawingml/2006/main">
              <a:ext uri="{FF2B5EF4-FFF2-40B4-BE49-F238E27FC236}">
                <a16:creationId xmlns:a16="http://schemas.microsoft.com/office/drawing/2014/main" id="{B98AC1B6-5C93-4473-8016-3B3A6DB9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24AB90-936C-429C-8D91-75351B04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6" name="shape-253">
            <a:extLst xmlns:a="http://schemas.openxmlformats.org/drawingml/2006/main">
              <a:ext uri="{FF2B5EF4-FFF2-40B4-BE49-F238E27FC236}">
                <a16:creationId xmlns:a16="http://schemas.microsoft.com/office/drawing/2014/main" id="{48DB20CF-9208-4283-A524-3A0BD06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254">
            <a:extLst xmlns:a="http://schemas.openxmlformats.org/drawingml/2006/main">
              <a:ext uri="{FF2B5EF4-FFF2-40B4-BE49-F238E27FC236}">
                <a16:creationId xmlns:a16="http://schemas.microsoft.com/office/drawing/2014/main" id="{4337F5C3-0E67-493B-9731-09685C5D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75F0A8E5-214F-4FF0-BF5B-7912BF7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56">
            <a:extLst xmlns:a="http://schemas.openxmlformats.org/drawingml/2006/main">
              <a:ext uri="{FF2B5EF4-FFF2-40B4-BE49-F238E27FC236}">
                <a16:creationId xmlns:a16="http://schemas.microsoft.com/office/drawing/2014/main" id="{8C6F8593-8A04-4220-A2FA-737400B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</a:t>
            </a:r>
          </a:p>
        </p:txBody>
      </p:sp>
      <p:sp>
        <p:nvSpPr>
          <p:cNvPr id="10" name="text-257">
            <a:extLst xmlns:a="http://schemas.openxmlformats.org/drawingml/2006/main">
              <a:ext uri="{FF2B5EF4-FFF2-40B4-BE49-F238E27FC236}">
                <a16:creationId xmlns:a16="http://schemas.microsoft.com/office/drawing/2014/main" id="{71744C13-0E8D-474C-B157-72DE3CE7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課綱、論文、講義、網站</a:t>
            </a:r>
          </a:p>
        </p:txBody>
      </p:sp>
      <p:sp>
        <p:nvSpPr>
          <p:cNvPr id="11" name="text-258">
            <a:extLst xmlns:a="http://schemas.openxmlformats.org/drawingml/2006/main">
              <a:ext uri="{FF2B5EF4-FFF2-40B4-BE49-F238E27FC236}">
                <a16:creationId xmlns:a16="http://schemas.microsoft.com/office/drawing/2014/main" id="{82692912-DC67-4EB3-89C6-CCC7939B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259">
            <a:extLst xmlns:a="http://schemas.openxmlformats.org/drawingml/2006/main">
              <a:ext uri="{FF2B5EF4-FFF2-40B4-BE49-F238E27FC236}">
                <a16:creationId xmlns:a16="http://schemas.microsoft.com/office/drawing/2014/main" id="{FBDD9626-A857-48B3-BEF5-ED4EBFC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260">
            <a:extLst xmlns:a="http://schemas.openxmlformats.org/drawingml/2006/main">
              <a:ext uri="{FF2B5EF4-FFF2-40B4-BE49-F238E27FC236}">
                <a16:creationId xmlns:a16="http://schemas.microsoft.com/office/drawing/2014/main" id="{EBF65B1D-057E-4481-9347-C017D90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61">
            <a:extLst xmlns:a="http://schemas.openxmlformats.org/drawingml/2006/main">
              <a:ext uri="{FF2B5EF4-FFF2-40B4-BE49-F238E27FC236}">
                <a16:creationId xmlns:a16="http://schemas.microsoft.com/office/drawing/2014/main" id="{9CB4C50D-4246-445D-BF8E-5E79BAD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62">
            <a:extLst xmlns:a="http://schemas.openxmlformats.org/drawingml/2006/main">
              <a:ext uri="{FF2B5EF4-FFF2-40B4-BE49-F238E27FC236}">
                <a16:creationId xmlns:a16="http://schemas.microsoft.com/office/drawing/2014/main" id="{6C5DF554-7333-4DE5-8184-C7D4BFC6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sp>
        <p:nvSpPr>
          <p:cNvPr id="16" name="text-263">
            <a:extLst xmlns:a="http://schemas.openxmlformats.org/drawingml/2006/main">
              <a:ext uri="{FF2B5EF4-FFF2-40B4-BE49-F238E27FC236}">
                <a16:creationId xmlns:a16="http://schemas.microsoft.com/office/drawing/2014/main" id="{7078E7D6-C8B5-43AF-A53E-5B7262F9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查證、整理、轉化</a:t>
            </a:r>
          </a:p>
        </p:txBody>
      </p:sp>
      <p:sp>
        <p:nvSpPr>
          <p:cNvPr id="17" name="text-264">
            <a:extLst xmlns:a="http://schemas.openxmlformats.org/drawingml/2006/main">
              <a:ext uri="{FF2B5EF4-FFF2-40B4-BE49-F238E27FC236}">
                <a16:creationId xmlns:a16="http://schemas.microsoft.com/office/drawing/2014/main" id="{83FBBC7D-40E9-490F-A4BD-8A926287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65">
            <a:extLst xmlns:a="http://schemas.openxmlformats.org/drawingml/2006/main">
              <a:ext uri="{FF2B5EF4-FFF2-40B4-BE49-F238E27FC236}">
                <a16:creationId xmlns:a16="http://schemas.microsoft.com/office/drawing/2014/main" id="{7D5F09D2-CE3A-4D38-8E0E-18E28170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266">
            <a:extLst xmlns:a="http://schemas.openxmlformats.org/drawingml/2006/main">
              <a:ext uri="{FF2B5EF4-FFF2-40B4-BE49-F238E27FC236}">
                <a16:creationId xmlns:a16="http://schemas.microsoft.com/office/drawing/2014/main" id="{140911A4-4793-4FF4-BB62-35A12CAE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67">
            <a:extLst xmlns:a="http://schemas.openxmlformats.org/drawingml/2006/main">
              <a:ext uri="{FF2B5EF4-FFF2-40B4-BE49-F238E27FC236}">
                <a16:creationId xmlns:a16="http://schemas.microsoft.com/office/drawing/2014/main" id="{455ACB9B-DB33-4808-9F6C-B094D71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68">
            <a:extLst xmlns:a="http://schemas.openxmlformats.org/drawingml/2006/main">
              <a:ext uri="{FF2B5EF4-FFF2-40B4-BE49-F238E27FC236}">
                <a16:creationId xmlns:a16="http://schemas.microsoft.com/office/drawing/2014/main" id="{8221885C-0A68-4F8B-8C04-515BE01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</a:t>
            </a:r>
          </a:p>
        </p:txBody>
      </p:sp>
      <p:sp>
        <p:nvSpPr>
          <p:cNvPr id="22" name="text-269">
            <a:extLst xmlns:a="http://schemas.openxmlformats.org/drawingml/2006/main">
              <a:ext uri="{FF2B5EF4-FFF2-40B4-BE49-F238E27FC236}">
                <a16:creationId xmlns:a16="http://schemas.microsoft.com/office/drawing/2014/main" id="{05F58E35-8CD9-4A67-94C1-FD297A6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固定角色與方法</a:t>
            </a:r>
          </a:p>
        </p:txBody>
      </p:sp>
      <p:sp>
        <p:nvSpPr>
          <p:cNvPr id="23" name="text-270">
            <a:extLst xmlns:a="http://schemas.openxmlformats.org/drawingml/2006/main">
              <a:ext uri="{FF2B5EF4-FFF2-40B4-BE49-F238E27FC236}">
                <a16:creationId xmlns:a16="http://schemas.microsoft.com/office/drawing/2014/main" id="{5A9BF02E-87EE-4144-AB82-9E27831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71">
            <a:extLst xmlns:a="http://schemas.openxmlformats.org/drawingml/2006/main">
              <a:ext uri="{FF2B5EF4-FFF2-40B4-BE49-F238E27FC236}">
                <a16:creationId xmlns:a16="http://schemas.microsoft.com/office/drawing/2014/main" id="{858AF164-6693-47D5-BB72-DBB9065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272">
            <a:extLst xmlns:a="http://schemas.openxmlformats.org/drawingml/2006/main">
              <a:ext uri="{FF2B5EF4-FFF2-40B4-BE49-F238E27FC236}">
                <a16:creationId xmlns:a16="http://schemas.microsoft.com/office/drawing/2014/main" id="{282DA5F3-D972-4E7E-B5E2-EB87C68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73">
            <a:extLst xmlns:a="http://schemas.openxmlformats.org/drawingml/2006/main">
              <a:ext uri="{FF2B5EF4-FFF2-40B4-BE49-F238E27FC236}">
                <a16:creationId xmlns:a16="http://schemas.microsoft.com/office/drawing/2014/main" id="{439B56EB-1BD8-458B-9C91-29CF36F9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274">
            <a:extLst xmlns:a="http://schemas.openxmlformats.org/drawingml/2006/main">
              <a:ext uri="{FF2B5EF4-FFF2-40B4-BE49-F238E27FC236}">
                <a16:creationId xmlns:a16="http://schemas.microsoft.com/office/drawing/2014/main" id="{9D0B13E8-256C-451B-9862-877DF84F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sp>
        <p:nvSpPr>
          <p:cNvPr id="28" name="text-275">
            <a:extLst xmlns:a="http://schemas.openxmlformats.org/drawingml/2006/main">
              <a:ext uri="{FF2B5EF4-FFF2-40B4-BE49-F238E27FC236}">
                <a16:creationId xmlns:a16="http://schemas.microsoft.com/office/drawing/2014/main" id="{CD569A68-1F7E-49DF-80F2-3A299DE6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做出互動作品</a:t>
            </a:r>
          </a:p>
        </p:txBody>
      </p:sp>
      <p:sp>
        <p:nvSpPr>
          <p:cNvPr id="29" name="text-276">
            <a:extLst xmlns:a="http://schemas.openxmlformats.org/drawingml/2006/main">
              <a:ext uri="{FF2B5EF4-FFF2-40B4-BE49-F238E27FC236}">
                <a16:creationId xmlns:a16="http://schemas.microsoft.com/office/drawing/2014/main" id="{FDC1869E-054A-4386-AD41-0CECC7DA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277">
            <a:extLst xmlns:a="http://schemas.openxmlformats.org/drawingml/2006/main">
              <a:ext uri="{FF2B5EF4-FFF2-40B4-BE49-F238E27FC236}">
                <a16:creationId xmlns:a16="http://schemas.microsoft.com/office/drawing/2014/main" id="{7777584D-BFBE-4419-846C-D983840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1" name="shape-278">
            <a:extLst xmlns:a="http://schemas.openxmlformats.org/drawingml/2006/main">
              <a:ext uri="{FF2B5EF4-FFF2-40B4-BE49-F238E27FC236}">
                <a16:creationId xmlns:a16="http://schemas.microsoft.com/office/drawing/2014/main" id="{B198F12E-9491-4EE7-8897-7957EC8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79">
            <a:extLst xmlns:a="http://schemas.openxmlformats.org/drawingml/2006/main">
              <a:ext uri="{FF2B5EF4-FFF2-40B4-BE49-F238E27FC236}">
                <a16:creationId xmlns:a16="http://schemas.microsoft.com/office/drawing/2014/main" id="{14ADE921-DC0F-470D-8F8F-9ED89AF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280">
            <a:extLst xmlns:a="http://schemas.openxmlformats.org/drawingml/2006/main">
              <a:ext uri="{FF2B5EF4-FFF2-40B4-BE49-F238E27FC236}">
                <a16:creationId xmlns:a16="http://schemas.microsoft.com/office/drawing/2014/main" id="{BE4EA73C-A203-4325-93FE-86C0B91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</a:t>
            </a:r>
          </a:p>
        </p:txBody>
      </p:sp>
      <p:sp>
        <p:nvSpPr>
          <p:cNvPr id="34" name="text-281">
            <a:extLst xmlns:a="http://schemas.openxmlformats.org/drawingml/2006/main">
              <a:ext uri="{FF2B5EF4-FFF2-40B4-BE49-F238E27FC236}">
                <a16:creationId xmlns:a16="http://schemas.microsoft.com/office/drawing/2014/main" id="{BFCECF29-D660-4F71-A24E-18976D27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分享、收集回饋</a:t>
            </a:r>
          </a:p>
        </p:txBody>
      </p:sp>
      <p:sp>
        <p:nvSpPr>
          <p:cNvPr id="35" name="text-282">
            <a:extLst xmlns:a="http://schemas.openxmlformats.org/drawingml/2006/main">
              <a:ext uri="{FF2B5EF4-FFF2-40B4-BE49-F238E27FC236}">
                <a16:creationId xmlns:a16="http://schemas.microsoft.com/office/drawing/2014/main" id="{40E77B85-E075-4034-9245-20ABC3C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3124998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3">
            <a:extLst xmlns:a="http://schemas.openxmlformats.org/drawingml/2006/main">
              <a:ext uri="{FF2B5EF4-FFF2-40B4-BE49-F238E27FC236}">
                <a16:creationId xmlns:a16="http://schemas.microsoft.com/office/drawing/2014/main" id="{E5FB83B4-1EA2-4378-9C76-92E09E6A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" name="text-284">
            <a:extLst xmlns:a="http://schemas.openxmlformats.org/drawingml/2006/main">
              <a:ext uri="{FF2B5EF4-FFF2-40B4-BE49-F238E27FC236}">
                <a16:creationId xmlns:a16="http://schemas.microsoft.com/office/drawing/2014/main" id="{E5232848-CEDC-444F-B50A-217EACEF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</a:t>
            </a:r>
          </a:p>
        </p:txBody>
      </p:sp>
      <p:sp>
        <p:nvSpPr>
          <p:cNvPr id="3" name="text-285">
            <a:extLst xmlns:a="http://schemas.openxmlformats.org/drawingml/2006/main">
              <a:ext uri="{FF2B5EF4-FFF2-40B4-BE49-F238E27FC236}">
                <a16:creationId xmlns:a16="http://schemas.microsoft.com/office/drawing/2014/main" id="{4C0E5DBF-FA88-4A8B-A28E-D97618A4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 AI 的回答綁在你選定的來源上，讓文獻整理、觀點比較與教學轉化都有跡可循。</a:t>
            </a:r>
          </a:p>
        </p:txBody>
      </p:sp>
      <p:sp>
        <p:nvSpPr>
          <p:cNvPr id="4" name="shape-286">
            <a:extLst xmlns:a="http://schemas.openxmlformats.org/drawingml/2006/main">
              <a:ext uri="{FF2B5EF4-FFF2-40B4-BE49-F238E27FC236}">
                <a16:creationId xmlns:a16="http://schemas.microsoft.com/office/drawing/2014/main" id="{EFFC9A4B-51BE-416D-9B7C-BCF20109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87">
            <a:extLst xmlns:a="http://schemas.openxmlformats.org/drawingml/2006/main">
              <a:ext uri="{FF2B5EF4-FFF2-40B4-BE49-F238E27FC236}">
                <a16:creationId xmlns:a16="http://schemas.microsoft.com/office/drawing/2014/main" id="{CA2C6E9E-818B-40C8-A187-659A5F81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8" name="shape-28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text-289">
            <a:extLst xmlns:a="http://schemas.openxmlformats.org/drawingml/2006/main">
              <a:ext uri="{FF2B5EF4-FFF2-40B4-BE49-F238E27FC236}">
                <a16:creationId xmlns:a16="http://schemas.microsoft.com/office/drawing/2014/main" id="{F275A2E0-677F-4BA3-8E4B-12517213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592509-499C-4C80-8FFB-52D6EF51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9" name="text-759">
            <a:extLst xmlns:a="http://schemas.openxmlformats.org/drawingml/2006/main">
              <a:ext uri="{FF2B5EF4-FFF2-40B4-BE49-F238E27FC236}">
                <a16:creationId xmlns:a16="http://schemas.microsoft.com/office/drawing/2014/main" id="{D4C9DCDC-1895-4A64-82DA-12D6B83F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32e49f9ac694368"/>
              </a:rPr>
              <a:t>開啟 Gemini Notebook ↗</a:t>
            </a:r>
          </a:p>
        </p:txBody>
      </p:sp>
      <p:sp>
        <p:nvSpPr>
          <p:cNvPr id="10" name="shape-800">
            <a:extLst xmlns:a="http://schemas.openxmlformats.org/drawingml/2006/main">
              <a:ext uri="{FF2B5EF4-FFF2-40B4-BE49-F238E27FC236}">
                <a16:creationId xmlns:a16="http://schemas.microsoft.com/office/drawing/2014/main" id="{AC544989-BB87-4341-868B-B1F9F842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8e85495a941f5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801">
            <a:extLst xmlns:a="http://schemas.openxmlformats.org/drawingml/2006/main">
              <a:ext uri="{FF2B5EF4-FFF2-40B4-BE49-F238E27FC236}">
                <a16:creationId xmlns:a16="http://schemas.microsoft.com/office/drawing/2014/main" id="{92767EDC-A4D0-4270-8A1D-B5C21A0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1729617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90">
            <a:extLst xmlns:a="http://schemas.openxmlformats.org/drawingml/2006/main">
              <a:ext uri="{FF2B5EF4-FFF2-40B4-BE49-F238E27FC236}">
                <a16:creationId xmlns:a16="http://schemas.microsoft.com/office/drawing/2014/main" id="{7A01450C-3C6D-4584-9D8B-A8A48BD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SOURCE-GROUNDED WORKSPACE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312464-0165-443F-BC19-05465D8C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Notebook：先管理證據，再生成內容</a:t>
            </a:r>
          </a:p>
        </p:txBody>
      </p:sp>
      <p:cxnSp>
        <p:nvCxnSpPr>
          <p:cNvPr id="24" name="shape-29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92">
            <a:extLst xmlns:a="http://schemas.openxmlformats.org/drawingml/2006/main">
              <a:ext uri="{FF2B5EF4-FFF2-40B4-BE49-F238E27FC236}">
                <a16:creationId xmlns:a16="http://schemas.microsoft.com/office/drawing/2014/main" id="{FA8624AC-84A8-4614-A0F0-E29FC656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F4C778-B043-4AC9-A514-67AE9DE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6" name="shape-293">
            <a:extLst xmlns:a="http://schemas.openxmlformats.org/drawingml/2006/main">
              <a:ext uri="{FF2B5EF4-FFF2-40B4-BE49-F238E27FC236}">
                <a16:creationId xmlns:a16="http://schemas.microsoft.com/office/drawing/2014/main" id="{10A76193-D1A0-4997-AAA3-C4DCCB37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294">
            <a:extLst xmlns:a="http://schemas.openxmlformats.org/drawingml/2006/main">
              <a:ext uri="{FF2B5EF4-FFF2-40B4-BE49-F238E27FC236}">
                <a16:creationId xmlns:a16="http://schemas.microsoft.com/office/drawing/2014/main" id="{06FAFDCC-B465-45E1-A6A2-6ABE3B6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295">
            <a:extLst xmlns:a="http://schemas.openxmlformats.org/drawingml/2006/main">
              <a:ext uri="{FF2B5EF4-FFF2-40B4-BE49-F238E27FC236}">
                <a16:creationId xmlns:a16="http://schemas.microsoft.com/office/drawing/2014/main" id="{20426CC7-B32D-474E-80F5-B45CA4D0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一般聊天</a:t>
            </a:r>
          </a:p>
        </p:txBody>
      </p:sp>
      <p:sp>
        <p:nvSpPr>
          <p:cNvPr id="9" name="text-296">
            <a:extLst xmlns:a="http://schemas.openxmlformats.org/drawingml/2006/main">
              <a:ext uri="{FF2B5EF4-FFF2-40B4-BE49-F238E27FC236}">
                <a16:creationId xmlns:a16="http://schemas.microsoft.com/office/drawing/2014/main" id="{DB46C6B8-82E5-4CFF-AD5C-C38AB2D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問題先出現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來源可能來自模型既有知識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需要自行追查依據</a:t>
            </a:r>
          </a:p>
        </p:txBody>
      </p:sp>
      <p:sp>
        <p:nvSpPr>
          <p:cNvPr id="10" name="text-297">
            <a:extLst xmlns:a="http://schemas.openxmlformats.org/drawingml/2006/main">
              <a:ext uri="{FF2B5EF4-FFF2-40B4-BE49-F238E27FC236}">
                <a16:creationId xmlns:a16="http://schemas.microsoft.com/office/drawing/2014/main" id="{6D67EEE3-D5BD-48D9-AF59-EE3BEB5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Gemini Notebook</a:t>
            </a:r>
          </a:p>
        </p:txBody>
      </p:sp>
      <p:sp>
        <p:nvSpPr>
          <p:cNvPr id="11" name="text-298">
            <a:extLst xmlns:a="http://schemas.openxmlformats.org/drawingml/2006/main">
              <a:ext uri="{FF2B5EF4-FFF2-40B4-BE49-F238E27FC236}">
                <a16:creationId xmlns:a16="http://schemas.microsoft.com/office/drawing/2014/main" id="{B9970E88-57AC-44AE-A453-6F002648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來源先進入筆記本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依使用者提供的來源回答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可回到引用位置檢查</a:t>
            </a:r>
          </a:p>
        </p:txBody>
      </p:sp>
      <p:sp>
        <p:nvSpPr>
          <p:cNvPr id="12" name="text-299">
            <a:extLst xmlns:a="http://schemas.openxmlformats.org/drawingml/2006/main">
              <a:ext uri="{FF2B5EF4-FFF2-40B4-BE49-F238E27FC236}">
                <a16:creationId xmlns:a16="http://schemas.microsoft.com/office/drawing/2014/main" id="{C3E08D94-55B5-4244-9E35-2B6DE5D3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提問</a:t>
            </a:r>
          </a:p>
        </p:txBody>
      </p:sp>
      <p:sp>
        <p:nvSpPr>
          <p:cNvPr id="13" name="text-300">
            <a:extLst xmlns:a="http://schemas.openxmlformats.org/drawingml/2006/main">
              <a:ext uri="{FF2B5EF4-FFF2-40B4-BE49-F238E27FC236}">
                <a16:creationId xmlns:a16="http://schemas.microsoft.com/office/drawing/2014/main" id="{33493F4E-02CC-4CFA-A389-B53DD195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引用</a:t>
            </a:r>
          </a:p>
        </p:txBody>
      </p:sp>
      <p:sp>
        <p:nvSpPr>
          <p:cNvPr id="14" name="text-301">
            <a:extLst xmlns:a="http://schemas.openxmlformats.org/drawingml/2006/main">
              <a:ext uri="{FF2B5EF4-FFF2-40B4-BE49-F238E27FC236}">
                <a16:creationId xmlns:a16="http://schemas.microsoft.com/office/drawing/2014/main" id="{858B705F-0B4F-4DBB-9033-A80BE4D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387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原文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24750" y="5076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24950" y="5076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AFA4"/>
            </a:solidFill>
            <a:prstDash val="solid"/>
            <a:tailEnd type="arrow" w="sm" len="sm"/>
          </a:ln>
        </p:spPr>
      </p:cxnSp>
      <p:sp>
        <p:nvSpPr>
          <p:cNvPr id="17" name="text-302">
            <a:extLst xmlns:a="http://schemas.openxmlformats.org/drawingml/2006/main">
              <a:ext uri="{FF2B5EF4-FFF2-40B4-BE49-F238E27FC236}">
                <a16:creationId xmlns:a16="http://schemas.microsoft.com/office/drawing/2014/main" id="{2FB6ED4E-5B44-4C4F-86B7-0A3D7E8C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可追查鏈：回答 → 引用位置 → 原始段落</a:t>
            </a:r>
          </a:p>
        </p:txBody>
      </p:sp>
      <p:sp>
        <p:nvSpPr>
          <p:cNvPr id="18" name="text-760">
            <a:extLst xmlns:a="http://schemas.openxmlformats.org/drawingml/2006/main">
              <a:ext uri="{FF2B5EF4-FFF2-40B4-BE49-F238E27FC236}">
                <a16:creationId xmlns:a16="http://schemas.microsoft.com/office/drawing/2014/main" id="{0A39F8F8-4B3C-4D20-B578-F6FEB2E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9ed759e394444bd"/>
              </a:rPr>
              <a:t>開啟 Gemini Notebook ↗</a:t>
            </a:r>
          </a:p>
        </p:txBody>
      </p:sp>
      <p:sp>
        <p:nvSpPr>
          <p:cNvPr id="19" name="shape-802">
            <a:extLst xmlns:a="http://schemas.openxmlformats.org/drawingml/2006/main">
              <a:ext uri="{FF2B5EF4-FFF2-40B4-BE49-F238E27FC236}">
                <a16:creationId xmlns:a16="http://schemas.microsoft.com/office/drawing/2014/main" id="{D14F915B-2A0A-4ED1-BF7E-02986E79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25310941341aa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1" name="text-803">
            <a:extLst xmlns:a="http://schemas.openxmlformats.org/drawingml/2006/main">
              <a:ext uri="{FF2B5EF4-FFF2-40B4-BE49-F238E27FC236}">
                <a16:creationId xmlns:a16="http://schemas.microsoft.com/office/drawing/2014/main" id="{6FE41B1B-BBC5-4ED0-8E5B-E8F43789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320784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303">
            <a:extLst xmlns:a="http://schemas.openxmlformats.org/drawingml/2006/main">
              <a:ext uri="{FF2B5EF4-FFF2-40B4-BE49-F238E27FC236}">
                <a16:creationId xmlns:a16="http://schemas.microsoft.com/office/drawing/2014/main" id="{B191BB80-8EC9-48DC-B888-4134394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SOURCE KIT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A81F1-93F1-4F94-81D8-748ECA21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來源包 3–2–1：小而精，先求可用</a:t>
            </a:r>
          </a:p>
        </p:txBody>
      </p:sp>
      <p:cxnSp>
        <p:nvCxnSpPr>
          <p:cNvPr id="24" name="shape-3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05">
            <a:extLst xmlns:a="http://schemas.openxmlformats.org/drawingml/2006/main">
              <a:ext uri="{FF2B5EF4-FFF2-40B4-BE49-F238E27FC236}">
                <a16:creationId xmlns:a16="http://schemas.microsoft.com/office/drawing/2014/main" id="{F814F493-B57E-44AF-83E2-527596AA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A5FAC0-C680-4A6B-8E8C-3854176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sp>
        <p:nvSpPr>
          <p:cNvPr id="6" name="shape-306">
            <a:extLst xmlns:a="http://schemas.openxmlformats.org/drawingml/2006/main">
              <a:ext uri="{FF2B5EF4-FFF2-40B4-BE49-F238E27FC236}">
                <a16:creationId xmlns:a16="http://schemas.microsoft.com/office/drawing/2014/main" id="{3029A0F0-89CF-4E7C-BB36-9D0BACB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07">
            <a:extLst xmlns:a="http://schemas.openxmlformats.org/drawingml/2006/main">
              <a:ext uri="{FF2B5EF4-FFF2-40B4-BE49-F238E27FC236}">
                <a16:creationId xmlns:a16="http://schemas.microsoft.com/office/drawing/2014/main" id="{830ADB9C-DD72-45AC-9AE6-D90C009C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0A203DFE-4C21-41C7-AC3C-F12426F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3 份核心來源</a:t>
            </a:r>
          </a:p>
        </p:txBody>
      </p:sp>
      <p:sp>
        <p:nvSpPr>
          <p:cNvPr id="9" name="text-309">
            <a:extLst xmlns:a="http://schemas.openxmlformats.org/drawingml/2006/main">
              <a:ext uri="{FF2B5EF4-FFF2-40B4-BE49-F238E27FC236}">
                <a16:creationId xmlns:a16="http://schemas.microsoft.com/office/drawing/2014/main" id="{702E76EE-0AB9-47F8-B872-EE6E754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課程大綱／授課講義／一篇可信研究或政策文件。</a:t>
            </a:r>
          </a:p>
        </p:txBody>
      </p:sp>
      <p:sp>
        <p:nvSpPr>
          <p:cNvPr id="10" name="shape-310">
            <a:extLst xmlns:a="http://schemas.openxmlformats.org/drawingml/2006/main">
              <a:ext uri="{FF2B5EF4-FFF2-40B4-BE49-F238E27FC236}">
                <a16:creationId xmlns:a16="http://schemas.microsoft.com/office/drawing/2014/main" id="{8FDAE3D6-445D-4B0D-9268-8ECF88E7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311">
            <a:extLst xmlns:a="http://schemas.openxmlformats.org/drawingml/2006/main">
              <a:ext uri="{FF2B5EF4-FFF2-40B4-BE49-F238E27FC236}">
                <a16:creationId xmlns:a16="http://schemas.microsoft.com/office/drawing/2014/main" id="{892FA1D5-1133-4647-926F-007BC544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312">
            <a:extLst xmlns:a="http://schemas.openxmlformats.org/drawingml/2006/main">
              <a:ext uri="{FF2B5EF4-FFF2-40B4-BE49-F238E27FC236}">
                <a16:creationId xmlns:a16="http://schemas.microsoft.com/office/drawing/2014/main" id="{C9C83586-7FD3-484D-8F38-85A60AC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2 種觀點</a:t>
            </a:r>
          </a:p>
        </p:txBody>
      </p:sp>
      <p:sp>
        <p:nvSpPr>
          <p:cNvPr id="13" name="text-313">
            <a:extLst xmlns:a="http://schemas.openxmlformats.org/drawingml/2006/main">
              <a:ext uri="{FF2B5EF4-FFF2-40B4-BE49-F238E27FC236}">
                <a16:creationId xmlns:a16="http://schemas.microsoft.com/office/drawing/2014/main" id="{37E8A8BF-5A9D-4CE5-B40B-41696224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至少納入互補或相反觀點，避免只有單一聲音。</a:t>
            </a:r>
          </a:p>
        </p:txBody>
      </p:sp>
      <p:sp>
        <p:nvSpPr>
          <p:cNvPr id="14" name="shape-314">
            <a:extLst xmlns:a="http://schemas.openxmlformats.org/drawingml/2006/main">
              <a:ext uri="{FF2B5EF4-FFF2-40B4-BE49-F238E27FC236}">
                <a16:creationId xmlns:a16="http://schemas.microsoft.com/office/drawing/2014/main" id="{B8E56136-DB20-43F7-A744-01674E7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315">
            <a:extLst xmlns:a="http://schemas.openxmlformats.org/drawingml/2006/main">
              <a:ext uri="{FF2B5EF4-FFF2-40B4-BE49-F238E27FC236}">
                <a16:creationId xmlns:a16="http://schemas.microsoft.com/office/drawing/2014/main" id="{6B81E69D-5D1C-4B5F-AEB4-DCB7DBD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text-316">
            <a:extLst xmlns:a="http://schemas.openxmlformats.org/drawingml/2006/main">
              <a:ext uri="{FF2B5EF4-FFF2-40B4-BE49-F238E27FC236}">
                <a16:creationId xmlns:a16="http://schemas.microsoft.com/office/drawing/2014/main" id="{1F2B4C98-B0A0-446E-8DF3-444E6128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1 個教學目的</a:t>
            </a:r>
          </a:p>
        </p:txBody>
      </p:sp>
      <p:sp>
        <p:nvSpPr>
          <p:cNvPr id="17" name="text-317">
            <a:extLst xmlns:a="http://schemas.openxmlformats.org/drawingml/2006/main">
              <a:ext uri="{FF2B5EF4-FFF2-40B4-BE49-F238E27FC236}">
                <a16:creationId xmlns:a16="http://schemas.microsoft.com/office/drawing/2014/main" id="{DDD55CA0-80E1-4EC1-91BC-641E641D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明確指定要產出導讀、活動、評量或回饋。</a:t>
            </a:r>
          </a:p>
        </p:txBody>
      </p:sp>
      <p:sp>
        <p:nvSpPr>
          <p:cNvPr id="18" name="text-761">
            <a:extLst xmlns:a="http://schemas.openxmlformats.org/drawingml/2006/main">
              <a:ext uri="{FF2B5EF4-FFF2-40B4-BE49-F238E27FC236}">
                <a16:creationId xmlns:a16="http://schemas.microsoft.com/office/drawing/2014/main" id="{AABC585F-BFFA-4868-B31D-4DBA4E41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0d0567e09e4459e"/>
              </a:rPr>
              <a:t>開啟 Gemini Notebook ↗</a:t>
            </a:r>
          </a:p>
        </p:txBody>
      </p:sp>
      <p:sp>
        <p:nvSpPr>
          <p:cNvPr id="19" name="shape-804">
            <a:extLst xmlns:a="http://schemas.openxmlformats.org/drawingml/2006/main">
              <a:ext uri="{FF2B5EF4-FFF2-40B4-BE49-F238E27FC236}">
                <a16:creationId xmlns:a16="http://schemas.microsoft.com/office/drawing/2014/main" id="{04FD3FA7-0C4D-4EC0-A403-3DC4E819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4b13e44cb4e8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1" name="text-805">
            <a:extLst xmlns:a="http://schemas.openxmlformats.org/drawingml/2006/main">
              <a:ext uri="{FF2B5EF4-FFF2-40B4-BE49-F238E27FC236}">
                <a16:creationId xmlns:a16="http://schemas.microsoft.com/office/drawing/2014/main" id="{59F895D1-D86C-46EB-A47F-6801272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1893354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318">
            <a:extLst xmlns:a="http://schemas.openxmlformats.org/drawingml/2006/main">
              <a:ext uri="{FF2B5EF4-FFF2-40B4-BE49-F238E27FC236}">
                <a16:creationId xmlns:a16="http://schemas.microsoft.com/office/drawing/2014/main" id="{82434103-7FDC-4C5F-8FBE-70BFA7CB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LIVE DEMO · GITHUB × GEMINI NOTEBOOK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4E272-AFF1-455A-AED7-6DFFCFA9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示範：教學駕駛艙 × Gemini Notebook</a:t>
            </a:r>
          </a:p>
        </p:txBody>
      </p:sp>
      <p:cxnSp>
        <p:nvCxnSpPr>
          <p:cNvPr id="40" name="shape-31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20">
            <a:extLst xmlns:a="http://schemas.openxmlformats.org/drawingml/2006/main">
              <a:ext uri="{FF2B5EF4-FFF2-40B4-BE49-F238E27FC236}">
                <a16:creationId xmlns:a16="http://schemas.microsoft.com/office/drawing/2014/main" id="{971B4A4F-4B76-4ED7-A694-78CDFED5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EFCAD5-5321-4A70-92E3-83CEA5F8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6" name="shape-321">
            <a:extLst xmlns:a="http://schemas.openxmlformats.org/drawingml/2006/main">
              <a:ext uri="{FF2B5EF4-FFF2-40B4-BE49-F238E27FC236}">
                <a16:creationId xmlns:a16="http://schemas.microsoft.com/office/drawing/2014/main" id="{C8AE8A95-11A3-41C3-B34C-0F9A83D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322">
            <a:extLst xmlns:a="http://schemas.openxmlformats.org/drawingml/2006/main">
              <a:ext uri="{FF2B5EF4-FFF2-40B4-BE49-F238E27FC236}">
                <a16:creationId xmlns:a16="http://schemas.microsoft.com/office/drawing/2014/main" id="{A897E36E-4C04-453E-B6D1-91C70FBC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23">
            <a:extLst xmlns:a="http://schemas.openxmlformats.org/drawingml/2006/main">
              <a:ext uri="{FF2B5EF4-FFF2-40B4-BE49-F238E27FC236}">
                <a16:creationId xmlns:a16="http://schemas.microsoft.com/office/drawing/2014/main" id="{C7A18F83-4022-40BF-81C0-809D3FE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324">
            <a:extLst xmlns:a="http://schemas.openxmlformats.org/drawingml/2006/main">
              <a:ext uri="{FF2B5EF4-FFF2-40B4-BE49-F238E27FC236}">
                <a16:creationId xmlns:a16="http://schemas.microsoft.com/office/drawing/2014/main" id="{751969C4-BE43-4AA5-BC5A-177C177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開啟資源</a:t>
            </a:r>
          </a:p>
        </p:txBody>
      </p:sp>
      <p:sp>
        <p:nvSpPr>
          <p:cNvPr id="10" name="text-325">
            <a:extLst xmlns:a="http://schemas.openxmlformats.org/drawingml/2006/main">
              <a:ext uri="{FF2B5EF4-FFF2-40B4-BE49-F238E27FC236}">
                <a16:creationId xmlns:a16="http://schemas.microsoft.com/office/drawing/2014/main" id="{63AF9876-A24A-4FA3-BD88-8370F09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先看 it-cockpit 的 README、目錄與單元頁</a:t>
            </a:r>
          </a:p>
        </p:txBody>
      </p:sp>
      <p:sp>
        <p:nvSpPr>
          <p:cNvPr id="11" name="text-326">
            <a:extLst xmlns:a="http://schemas.openxmlformats.org/drawingml/2006/main">
              <a:ext uri="{FF2B5EF4-FFF2-40B4-BE49-F238E27FC236}">
                <a16:creationId xmlns:a16="http://schemas.microsoft.com/office/drawing/2014/main" id="{965C5054-7495-4BB0-BE2C-B211E19E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327">
            <a:extLst xmlns:a="http://schemas.openxmlformats.org/drawingml/2006/main">
              <a:ext uri="{FF2B5EF4-FFF2-40B4-BE49-F238E27FC236}">
                <a16:creationId xmlns:a16="http://schemas.microsoft.com/office/drawing/2014/main" id="{B2AB668D-A7F2-4504-91B2-BF890305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328">
            <a:extLst xmlns:a="http://schemas.openxmlformats.org/drawingml/2006/main">
              <a:ext uri="{FF2B5EF4-FFF2-40B4-BE49-F238E27FC236}">
                <a16:creationId xmlns:a16="http://schemas.microsoft.com/office/drawing/2014/main" id="{539B3BC9-1191-4346-A20A-7AF5C6B7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29">
            <a:extLst xmlns:a="http://schemas.openxmlformats.org/drawingml/2006/main">
              <a:ext uri="{FF2B5EF4-FFF2-40B4-BE49-F238E27FC236}">
                <a16:creationId xmlns:a16="http://schemas.microsoft.com/office/drawing/2014/main" id="{8BDC89F8-D757-4BD6-9DA7-287E9D9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330">
            <a:extLst xmlns:a="http://schemas.openxmlformats.org/drawingml/2006/main">
              <a:ext uri="{FF2B5EF4-FFF2-40B4-BE49-F238E27FC236}">
                <a16:creationId xmlns:a16="http://schemas.microsoft.com/office/drawing/2014/main" id="{773E4534-FB82-4CD8-B26D-A27A446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挑選來源</a:t>
            </a:r>
          </a:p>
        </p:txBody>
      </p:sp>
      <p:sp>
        <p:nvSpPr>
          <p:cNvPr id="16" name="text-331">
            <a:extLst xmlns:a="http://schemas.openxmlformats.org/drawingml/2006/main">
              <a:ext uri="{FF2B5EF4-FFF2-40B4-BE49-F238E27FC236}">
                <a16:creationId xmlns:a16="http://schemas.microsoft.com/office/drawing/2014/main" id="{755FAE43-23AE-4BFD-A1F0-44E875F3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選教材、課程說明、影片或互動頁，組成小型來源包</a:t>
            </a:r>
          </a:p>
        </p:txBody>
      </p:sp>
      <p:sp>
        <p:nvSpPr>
          <p:cNvPr id="17" name="text-332">
            <a:extLst xmlns:a="http://schemas.openxmlformats.org/drawingml/2006/main">
              <a:ext uri="{FF2B5EF4-FFF2-40B4-BE49-F238E27FC236}">
                <a16:creationId xmlns:a16="http://schemas.microsoft.com/office/drawing/2014/main" id="{B655F057-6D0B-44F0-8640-4ED50D45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333">
            <a:extLst xmlns:a="http://schemas.openxmlformats.org/drawingml/2006/main">
              <a:ext uri="{FF2B5EF4-FFF2-40B4-BE49-F238E27FC236}">
                <a16:creationId xmlns:a16="http://schemas.microsoft.com/office/drawing/2014/main" id="{AECAE840-8F5C-43DC-A2F7-E865F6D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334">
            <a:extLst xmlns:a="http://schemas.openxmlformats.org/drawingml/2006/main">
              <a:ext uri="{FF2B5EF4-FFF2-40B4-BE49-F238E27FC236}">
                <a16:creationId xmlns:a16="http://schemas.microsoft.com/office/drawing/2014/main" id="{02B1578C-DFD5-49A2-AE7D-E268B825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335">
            <a:extLst xmlns:a="http://schemas.openxmlformats.org/drawingml/2006/main">
              <a:ext uri="{FF2B5EF4-FFF2-40B4-BE49-F238E27FC236}">
                <a16:creationId xmlns:a16="http://schemas.microsoft.com/office/drawing/2014/main" id="{47EB6636-C95F-46F5-B3D9-66FCB6D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336">
            <a:extLst xmlns:a="http://schemas.openxmlformats.org/drawingml/2006/main">
              <a:ext uri="{FF2B5EF4-FFF2-40B4-BE49-F238E27FC236}">
                <a16:creationId xmlns:a16="http://schemas.microsoft.com/office/drawing/2014/main" id="{330602DA-0DF9-4FA4-B0D2-45C0EC32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提問查證</a:t>
            </a:r>
          </a:p>
        </p:txBody>
      </p:sp>
      <p:sp>
        <p:nvSpPr>
          <p:cNvPr id="22" name="text-337">
            <a:extLst xmlns:a="http://schemas.openxmlformats.org/drawingml/2006/main">
              <a:ext uri="{FF2B5EF4-FFF2-40B4-BE49-F238E27FC236}">
                <a16:creationId xmlns:a16="http://schemas.microsoft.com/office/drawing/2014/main" id="{DD962703-E0D3-4D4F-AC5B-E535754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請列引用、找差異，也測一題來源中沒有答案的問題</a:t>
            </a:r>
          </a:p>
        </p:txBody>
      </p:sp>
      <p:sp>
        <p:nvSpPr>
          <p:cNvPr id="23" name="text-338">
            <a:extLst xmlns:a="http://schemas.openxmlformats.org/drawingml/2006/main">
              <a:ext uri="{FF2B5EF4-FFF2-40B4-BE49-F238E27FC236}">
                <a16:creationId xmlns:a16="http://schemas.microsoft.com/office/drawing/2014/main" id="{D6C9CA5B-053E-4DF3-BE66-9BB647B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339">
            <a:extLst xmlns:a="http://schemas.openxmlformats.org/drawingml/2006/main">
              <a:ext uri="{FF2B5EF4-FFF2-40B4-BE49-F238E27FC236}">
                <a16:creationId xmlns:a16="http://schemas.microsoft.com/office/drawing/2014/main" id="{50ED9065-B845-4125-A9E7-5F1B8C7F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340">
            <a:extLst xmlns:a="http://schemas.openxmlformats.org/drawingml/2006/main">
              <a:ext uri="{FF2B5EF4-FFF2-40B4-BE49-F238E27FC236}">
                <a16:creationId xmlns:a16="http://schemas.microsoft.com/office/drawing/2014/main" id="{D98838D0-3CEE-400E-BF42-227D8555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41">
            <a:extLst xmlns:a="http://schemas.openxmlformats.org/drawingml/2006/main">
              <a:ext uri="{FF2B5EF4-FFF2-40B4-BE49-F238E27FC236}">
                <a16:creationId xmlns:a16="http://schemas.microsoft.com/office/drawing/2014/main" id="{5A9A613A-CC7F-4023-B1A8-53F0CE21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342">
            <a:extLst xmlns:a="http://schemas.openxmlformats.org/drawingml/2006/main">
              <a:ext uri="{FF2B5EF4-FFF2-40B4-BE49-F238E27FC236}">
                <a16:creationId xmlns:a16="http://schemas.microsoft.com/office/drawing/2014/main" id="{A5F3776D-6A93-40EA-96D2-87593E60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轉成教學</a:t>
            </a:r>
          </a:p>
        </p:txBody>
      </p:sp>
      <p:sp>
        <p:nvSpPr>
          <p:cNvPr id="28" name="text-343">
            <a:extLst xmlns:a="http://schemas.openxmlformats.org/drawingml/2006/main">
              <a:ext uri="{FF2B5EF4-FFF2-40B4-BE49-F238E27FC236}">
                <a16:creationId xmlns:a16="http://schemas.microsoft.com/office/drawing/2014/main" id="{AFF8BE91-E297-4162-B2C2-3CD4E25D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把整理結果轉成導讀、學習單、活動或共備摘要</a:t>
            </a:r>
          </a:p>
        </p:txBody>
      </p:sp>
      <p:sp>
        <p:nvSpPr>
          <p:cNvPr id="29" name="text-344">
            <a:extLst xmlns:a="http://schemas.openxmlformats.org/drawingml/2006/main">
              <a:ext uri="{FF2B5EF4-FFF2-40B4-BE49-F238E27FC236}">
                <a16:creationId xmlns:a16="http://schemas.microsoft.com/office/drawing/2014/main" id="{09E11663-D5D0-469A-996B-32840D15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765">
            <a:extLst xmlns:a="http://schemas.openxmlformats.org/drawingml/2006/main">
              <a:ext uri="{FF2B5EF4-FFF2-40B4-BE49-F238E27FC236}">
                <a16:creationId xmlns:a16="http://schemas.microsoft.com/office/drawing/2014/main" id="{28B4F7FF-CCD3-4742-8985-D824CA7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d47324186844fe7"/>
              </a:rPr>
              <a:t>Notebook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c5f09df6b2145f2"/>
              </a:rPr>
              <a:t>Cockpit GitHub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eb6536253af4823"/>
              </a:rPr>
              <a:t>Cockpit ↗</a:t>
            </a:r>
          </a:p>
        </p:txBody>
      </p:sp>
      <p:sp>
        <p:nvSpPr>
          <p:cNvPr id="31" name="shape-812">
            <a:extLst xmlns:a="http://schemas.openxmlformats.org/drawingml/2006/main">
              <a:ext uri="{FF2B5EF4-FFF2-40B4-BE49-F238E27FC236}">
                <a16:creationId xmlns:a16="http://schemas.microsoft.com/office/drawing/2014/main" id="{2319995F-5580-43B7-A112-CF374FF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24c1fc5134833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813">
            <a:extLst xmlns:a="http://schemas.openxmlformats.org/drawingml/2006/main">
              <a:ext uri="{FF2B5EF4-FFF2-40B4-BE49-F238E27FC236}">
                <a16:creationId xmlns:a16="http://schemas.microsoft.com/office/drawing/2014/main" id="{E7803577-C71D-4E75-91FE-0C29ABE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e705b45be4100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5" name="text-814">
            <a:extLst xmlns:a="http://schemas.openxmlformats.org/drawingml/2006/main">
              <a:ext uri="{FF2B5EF4-FFF2-40B4-BE49-F238E27FC236}">
                <a16:creationId xmlns:a16="http://schemas.microsoft.com/office/drawing/2014/main" id="{E12E18E1-6EB0-4B21-8FB1-B6BF04E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Cockpit GitH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d2a41d2e4c7b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7" name="text-815">
            <a:extLst xmlns:a="http://schemas.openxmlformats.org/drawingml/2006/main">
              <a:ext uri="{FF2B5EF4-FFF2-40B4-BE49-F238E27FC236}">
                <a16:creationId xmlns:a16="http://schemas.microsoft.com/office/drawing/2014/main" id="{E046BEA0-07C7-45DD-8BB9-12D3AE1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教學駕駛艙</a:t>
            </a:r>
          </a:p>
        </p:txBody>
      </p:sp>
    </p:spTree>
    <p:extLst>
      <p:ext uri="{BB962C8B-B14F-4D97-AF65-F5344CB8AC3E}">
        <p14:creationId xmlns:p14="http://schemas.microsoft.com/office/powerpoint/2010/main" val="3359923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45">
            <a:extLst xmlns:a="http://schemas.openxmlformats.org/drawingml/2006/main">
              <a:ext uri="{FF2B5EF4-FFF2-40B4-BE49-F238E27FC236}">
                <a16:creationId xmlns:a16="http://schemas.microsoft.com/office/drawing/2014/main" id="{BA1B39FA-A5E5-4F7C-BA08-7452C6F5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69A93E-89EC-47AD-A886-F8F464D4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實作一｜教學駕駛艙 × Gemini Notebook</a:t>
            </a:r>
          </a:p>
        </p:txBody>
      </p:sp>
      <p:cxnSp>
        <p:nvCxnSpPr>
          <p:cNvPr id="27" name="shape-34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47">
            <a:extLst xmlns:a="http://schemas.openxmlformats.org/drawingml/2006/main">
              <a:ext uri="{FF2B5EF4-FFF2-40B4-BE49-F238E27FC236}">
                <a16:creationId xmlns:a16="http://schemas.microsoft.com/office/drawing/2014/main" id="{C8F59FBE-072D-4C6B-B683-F3ABE8DD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6A5992-0F33-41E6-8B94-07B3E115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  <p:sp>
        <p:nvSpPr>
          <p:cNvPr id="6" name="text-348">
            <a:extLst xmlns:a="http://schemas.openxmlformats.org/drawingml/2006/main">
              <a:ext uri="{FF2B5EF4-FFF2-40B4-BE49-F238E27FC236}">
                <a16:creationId xmlns:a16="http://schemas.microsoft.com/office/drawing/2014/main" id="{7BD66C6D-711C-4EB2-8BD6-F3A802B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349">
            <a:extLst xmlns:a="http://schemas.openxmlformats.org/drawingml/2006/main">
              <a:ext uri="{FF2B5EF4-FFF2-40B4-BE49-F238E27FC236}">
                <a16:creationId xmlns:a16="http://schemas.microsoft.com/office/drawing/2014/main" id="{89FB5F82-4847-4E16-9FDD-201B9738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350">
            <a:extLst xmlns:a="http://schemas.openxmlformats.org/drawingml/2006/main">
              <a:ext uri="{FF2B5EF4-FFF2-40B4-BE49-F238E27FC236}">
                <a16:creationId xmlns:a16="http://schemas.microsoft.com/office/drawing/2014/main" id="{CE17DA05-9701-4AE1-B069-6C5020F2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351">
            <a:extLst xmlns:a="http://schemas.openxmlformats.org/drawingml/2006/main">
              <a:ext uri="{FF2B5EF4-FFF2-40B4-BE49-F238E27FC236}">
                <a16:creationId xmlns:a16="http://schemas.microsoft.com/office/drawing/2014/main" id="{D71CCFD0-E595-4711-8A37-5BD656D0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it-cockpit repo 或公開駕駛艙，選定一個單元</a:t>
            </a:r>
          </a:p>
        </p:txBody>
      </p:sp>
      <p:sp>
        <p:nvSpPr>
          <p:cNvPr id="10" name="text-352">
            <a:extLst xmlns:a="http://schemas.openxmlformats.org/drawingml/2006/main">
              <a:ext uri="{FF2B5EF4-FFF2-40B4-BE49-F238E27FC236}">
                <a16:creationId xmlns:a16="http://schemas.microsoft.com/office/drawing/2014/main" id="{5137CBCA-0DF3-4749-BF4E-0F74191B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353">
            <a:extLst xmlns:a="http://schemas.openxmlformats.org/drawingml/2006/main">
              <a:ext uri="{FF2B5EF4-FFF2-40B4-BE49-F238E27FC236}">
                <a16:creationId xmlns:a16="http://schemas.microsoft.com/office/drawing/2014/main" id="{50B1C1C9-7BDF-4271-9A51-0A59783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加入 2–3 份可公開、互相補充的來源</a:t>
            </a:r>
          </a:p>
        </p:txBody>
      </p:sp>
      <p:sp>
        <p:nvSpPr>
          <p:cNvPr id="12" name="text-354">
            <a:extLst xmlns:a="http://schemas.openxmlformats.org/drawingml/2006/main">
              <a:ext uri="{FF2B5EF4-FFF2-40B4-BE49-F238E27FC236}">
                <a16:creationId xmlns:a16="http://schemas.microsoft.com/office/drawing/2014/main" id="{68F9467E-7149-4565-A77A-E772478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355">
            <a:extLst xmlns:a="http://schemas.openxmlformats.org/drawingml/2006/main">
              <a:ext uri="{FF2B5EF4-FFF2-40B4-BE49-F238E27FC236}">
                <a16:creationId xmlns:a16="http://schemas.microsoft.com/office/drawing/2014/main" id="{1021803D-8BA7-4C44-A043-33C4675C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提出 1 個理解題與 1 個轉化題</a:t>
            </a:r>
          </a:p>
        </p:txBody>
      </p:sp>
      <p:sp>
        <p:nvSpPr>
          <p:cNvPr id="14" name="text-356">
            <a:extLst xmlns:a="http://schemas.openxmlformats.org/drawingml/2006/main">
              <a:ext uri="{FF2B5EF4-FFF2-40B4-BE49-F238E27FC236}">
                <a16:creationId xmlns:a16="http://schemas.microsoft.com/office/drawing/2014/main" id="{4519898F-DD0E-425D-BE06-1A8F1CAF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357">
            <a:extLst xmlns:a="http://schemas.openxmlformats.org/drawingml/2006/main">
              <a:ext uri="{FF2B5EF4-FFF2-40B4-BE49-F238E27FC236}">
                <a16:creationId xmlns:a16="http://schemas.microsoft.com/office/drawing/2014/main" id="{32CFE5B5-0631-4139-AD04-FE48D403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點開引用，保存一個可用輸出與一個待修正處</a:t>
            </a:r>
          </a:p>
        </p:txBody>
      </p:sp>
      <p:sp>
        <p:nvSpPr>
          <p:cNvPr id="16" name="shape-358">
            <a:extLst xmlns:a="http://schemas.openxmlformats.org/drawingml/2006/main">
              <a:ext uri="{FF2B5EF4-FFF2-40B4-BE49-F238E27FC236}">
                <a16:creationId xmlns:a16="http://schemas.microsoft.com/office/drawing/2014/main" id="{6F4DE252-464C-4E79-9278-9EC0FC5F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359">
            <a:extLst xmlns:a="http://schemas.openxmlformats.org/drawingml/2006/main">
              <a:ext uri="{FF2B5EF4-FFF2-40B4-BE49-F238E27FC236}">
                <a16:creationId xmlns:a16="http://schemas.microsoft.com/office/drawing/2014/main" id="{D7B36198-ACBF-4E9C-BFC4-662ED13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360">
            <a:extLst xmlns:a="http://schemas.openxmlformats.org/drawingml/2006/main">
              <a:ext uri="{FF2B5EF4-FFF2-40B4-BE49-F238E27FC236}">
                <a16:creationId xmlns:a16="http://schemas.microsoft.com/office/drawing/2014/main" id="{E56CD716-113C-4830-8560-FD8A20A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來源來自 GitHub／公開教材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至少 1 個引用可追查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完成一個能進入課堂的輸出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記錄一個需人工修正的地方</a:t>
            </a:r>
          </a:p>
        </p:txBody>
      </p:sp>
      <p:sp>
        <p:nvSpPr>
          <p:cNvPr id="19" name="text-766">
            <a:extLst xmlns:a="http://schemas.openxmlformats.org/drawingml/2006/main">
              <a:ext uri="{FF2B5EF4-FFF2-40B4-BE49-F238E27FC236}">
                <a16:creationId xmlns:a16="http://schemas.microsoft.com/office/drawing/2014/main" id="{9E99F0C2-273C-4DE4-B972-E92D91E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0ca4a886b8b4f07"/>
              </a:rPr>
              <a:t>Notebook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7649b1159694bf7"/>
              </a:rPr>
              <a:t>Cockpit ↗</a:t>
            </a:r>
          </a:p>
        </p:txBody>
      </p:sp>
      <p:sp>
        <p:nvSpPr>
          <p:cNvPr id="20" name="shape-816">
            <a:extLst xmlns:a="http://schemas.openxmlformats.org/drawingml/2006/main">
              <a:ext uri="{FF2B5EF4-FFF2-40B4-BE49-F238E27FC236}">
                <a16:creationId xmlns:a16="http://schemas.microsoft.com/office/drawing/2014/main" id="{4ACCF204-B061-412A-9ECE-7EFB53F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5d92adb0344a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817">
            <a:extLst xmlns:a="http://schemas.openxmlformats.org/drawingml/2006/main">
              <a:ext uri="{FF2B5EF4-FFF2-40B4-BE49-F238E27FC236}">
                <a16:creationId xmlns:a16="http://schemas.microsoft.com/office/drawing/2014/main" id="{8AD6C05B-8E63-4F78-BD32-6246E087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5f22817ca4c40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818">
            <a:extLst xmlns:a="http://schemas.openxmlformats.org/drawingml/2006/main">
              <a:ext uri="{FF2B5EF4-FFF2-40B4-BE49-F238E27FC236}">
                <a16:creationId xmlns:a16="http://schemas.microsoft.com/office/drawing/2014/main" id="{837DC63B-2E0E-4770-B014-41A0A278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教學駕駛艙</a:t>
            </a:r>
          </a:p>
        </p:txBody>
      </p:sp>
    </p:spTree>
    <p:extLst>
      <p:ext uri="{BB962C8B-B14F-4D97-AF65-F5344CB8AC3E}">
        <p14:creationId xmlns:p14="http://schemas.microsoft.com/office/powerpoint/2010/main" val="17848403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361">
            <a:extLst xmlns:a="http://schemas.openxmlformats.org/drawingml/2006/main">
              <a:ext uri="{FF2B5EF4-FFF2-40B4-BE49-F238E27FC236}">
                <a16:creationId xmlns:a16="http://schemas.microsoft.com/office/drawing/2014/main" id="{D4540559-156C-4CA2-ABAE-4A22233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PROMPT LADDER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14FFB-D77B-4FCF-879A-8B074635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三層提問法：從讀懂到能教</a:t>
            </a:r>
          </a:p>
        </p:txBody>
      </p:sp>
      <p:cxnSp>
        <p:nvCxnSpPr>
          <p:cNvPr id="24" name="shape-36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63">
            <a:extLst xmlns:a="http://schemas.openxmlformats.org/drawingml/2006/main">
              <a:ext uri="{FF2B5EF4-FFF2-40B4-BE49-F238E27FC236}">
                <a16:creationId xmlns:a16="http://schemas.microsoft.com/office/drawing/2014/main" id="{44C3EFEF-BAE8-4B3A-AA28-483711A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540511-CC27-4427-8532-B61FD587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  <p:sp>
        <p:nvSpPr>
          <p:cNvPr id="6" name="shape-364">
            <a:extLst xmlns:a="http://schemas.openxmlformats.org/drawingml/2006/main">
              <a:ext uri="{FF2B5EF4-FFF2-40B4-BE49-F238E27FC236}">
                <a16:creationId xmlns:a16="http://schemas.microsoft.com/office/drawing/2014/main" id="{3F7479ED-8BEB-4268-B443-9A61AED8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65">
            <a:extLst xmlns:a="http://schemas.openxmlformats.org/drawingml/2006/main">
              <a:ext uri="{FF2B5EF4-FFF2-40B4-BE49-F238E27FC236}">
                <a16:creationId xmlns:a16="http://schemas.microsoft.com/office/drawing/2014/main" id="{E46BDBE2-92F9-4179-B638-3FC8BC6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366">
            <a:extLst xmlns:a="http://schemas.openxmlformats.org/drawingml/2006/main">
              <a:ext uri="{FF2B5EF4-FFF2-40B4-BE49-F238E27FC236}">
                <a16:creationId xmlns:a16="http://schemas.microsoft.com/office/drawing/2014/main" id="{FE6D52A5-619C-49C1-9809-DCF4EA3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理解</a:t>
            </a:r>
          </a:p>
        </p:txBody>
      </p:sp>
      <p:sp>
        <p:nvSpPr>
          <p:cNvPr id="9" name="text-367">
            <a:extLst xmlns:a="http://schemas.openxmlformats.org/drawingml/2006/main">
              <a:ext uri="{FF2B5EF4-FFF2-40B4-BE49-F238E27FC236}">
                <a16:creationId xmlns:a16="http://schemas.microsoft.com/office/drawing/2014/main" id="{F192F830-404B-4185-B004-DD129534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只依來源，用 150 字解釋核心概念；列出 3 個關鍵詞與引用。</a:t>
            </a:r>
          </a:p>
        </p:txBody>
      </p:sp>
      <p:sp>
        <p:nvSpPr>
          <p:cNvPr id="10" name="shape-368">
            <a:extLst xmlns:a="http://schemas.openxmlformats.org/drawingml/2006/main">
              <a:ext uri="{FF2B5EF4-FFF2-40B4-BE49-F238E27FC236}">
                <a16:creationId xmlns:a16="http://schemas.microsoft.com/office/drawing/2014/main" id="{B4DD67CB-F7C2-4421-863B-DAF903D2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369">
            <a:extLst xmlns:a="http://schemas.openxmlformats.org/drawingml/2006/main">
              <a:ext uri="{FF2B5EF4-FFF2-40B4-BE49-F238E27FC236}">
                <a16:creationId xmlns:a16="http://schemas.microsoft.com/office/drawing/2014/main" id="{A2F5E411-1CBF-40D2-BAAD-EA5455B3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370">
            <a:extLst xmlns:a="http://schemas.openxmlformats.org/drawingml/2006/main">
              <a:ext uri="{FF2B5EF4-FFF2-40B4-BE49-F238E27FC236}">
                <a16:creationId xmlns:a16="http://schemas.microsoft.com/office/drawing/2014/main" id="{F2B17288-B730-4D1D-BC5C-8786F4D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比較</a:t>
            </a:r>
          </a:p>
        </p:txBody>
      </p:sp>
      <p:sp>
        <p:nvSpPr>
          <p:cNvPr id="13" name="text-371">
            <a:extLst xmlns:a="http://schemas.openxmlformats.org/drawingml/2006/main">
              <a:ext uri="{FF2B5EF4-FFF2-40B4-BE49-F238E27FC236}">
                <a16:creationId xmlns:a16="http://schemas.microsoft.com/office/drawing/2014/main" id="{4FA90477-3CCB-4B84-AEAF-BC58F7F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比較來源 A、B 的主張、證據與限制；用表格呈現。</a:t>
            </a:r>
          </a:p>
        </p:txBody>
      </p:sp>
      <p:sp>
        <p:nvSpPr>
          <p:cNvPr id="14" name="shape-372">
            <a:extLst xmlns:a="http://schemas.openxmlformats.org/drawingml/2006/main">
              <a:ext uri="{FF2B5EF4-FFF2-40B4-BE49-F238E27FC236}">
                <a16:creationId xmlns:a16="http://schemas.microsoft.com/office/drawing/2014/main" id="{BBA5905D-8906-4E85-A908-2E9ED02F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373">
            <a:extLst xmlns:a="http://schemas.openxmlformats.org/drawingml/2006/main">
              <a:ext uri="{FF2B5EF4-FFF2-40B4-BE49-F238E27FC236}">
                <a16:creationId xmlns:a16="http://schemas.microsoft.com/office/drawing/2014/main" id="{A91B14CF-6A7C-4438-8BB2-D4AA63F4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374">
            <a:extLst xmlns:a="http://schemas.openxmlformats.org/drawingml/2006/main">
              <a:ext uri="{FF2B5EF4-FFF2-40B4-BE49-F238E27FC236}">
                <a16:creationId xmlns:a16="http://schemas.microsoft.com/office/drawing/2014/main" id="{2715E013-E860-46AA-A930-081BA65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轉化</a:t>
            </a:r>
          </a:p>
        </p:txBody>
      </p:sp>
      <p:sp>
        <p:nvSpPr>
          <p:cNvPr id="17" name="text-375">
            <a:extLst xmlns:a="http://schemas.openxmlformats.org/drawingml/2006/main">
              <a:ext uri="{FF2B5EF4-FFF2-40B4-BE49-F238E27FC236}">
                <a16:creationId xmlns:a16="http://schemas.microsoft.com/office/drawing/2014/main" id="{08AAE4E5-1562-40CD-8C6F-B6D5D99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依來源設計 20 分鐘活動；包含目標、步驟、提問與檢核。</a:t>
            </a:r>
          </a:p>
        </p:txBody>
      </p:sp>
      <p:sp>
        <p:nvSpPr>
          <p:cNvPr id="18" name="text-762">
            <a:extLst xmlns:a="http://schemas.openxmlformats.org/drawingml/2006/main">
              <a:ext uri="{FF2B5EF4-FFF2-40B4-BE49-F238E27FC236}">
                <a16:creationId xmlns:a16="http://schemas.microsoft.com/office/drawing/2014/main" id="{C92DF5BA-A46D-42E0-98CA-2E695743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cd97c03b3464d79"/>
              </a:rPr>
              <a:t>開啟 Gemini Notebook ↗</a:t>
            </a:r>
          </a:p>
        </p:txBody>
      </p:sp>
      <p:sp>
        <p:nvSpPr>
          <p:cNvPr id="19" name="shape-806">
            <a:extLst xmlns:a="http://schemas.openxmlformats.org/drawingml/2006/main">
              <a:ext uri="{FF2B5EF4-FFF2-40B4-BE49-F238E27FC236}">
                <a16:creationId xmlns:a16="http://schemas.microsoft.com/office/drawing/2014/main" id="{2DB0B674-540C-4725-87AC-51F81713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0966517d74f8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1" name="text-807">
            <a:extLst xmlns:a="http://schemas.openxmlformats.org/drawingml/2006/main">
              <a:ext uri="{FF2B5EF4-FFF2-40B4-BE49-F238E27FC236}">
                <a16:creationId xmlns:a16="http://schemas.microsoft.com/office/drawing/2014/main" id="{0951A94B-4246-409C-AACA-2F0F2BA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3176119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76">
            <a:extLst xmlns:a="http://schemas.openxmlformats.org/drawingml/2006/main">
              <a:ext uri="{FF2B5EF4-FFF2-40B4-BE49-F238E27FC236}">
                <a16:creationId xmlns:a16="http://schemas.microsoft.com/office/drawing/2014/main" id="{3F38CB5F-CE38-4BD0-B69E-D21AD961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COCKPIT OUTPUTS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61FEA8-EFE2-409B-BA3C-B62C047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教學駕駛艙如何接住 Gemini Notebook 的產出</a:t>
            </a:r>
          </a:p>
        </p:txBody>
      </p:sp>
      <p:cxnSp>
        <p:nvCxnSpPr>
          <p:cNvPr id="28" name="shape-37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78">
            <a:extLst xmlns:a="http://schemas.openxmlformats.org/drawingml/2006/main">
              <a:ext uri="{FF2B5EF4-FFF2-40B4-BE49-F238E27FC236}">
                <a16:creationId xmlns:a16="http://schemas.microsoft.com/office/drawing/2014/main" id="{E3B961D8-F4D7-4867-9F59-644514B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C64AFE-EEE6-4B1F-B1FC-9E9533CF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21</a:t>
            </a:r>
          </a:p>
        </p:txBody>
      </p:sp>
      <p:sp>
        <p:nvSpPr>
          <p:cNvPr id="6" name="shape-379">
            <a:extLst xmlns:a="http://schemas.openxmlformats.org/drawingml/2006/main">
              <a:ext uri="{FF2B5EF4-FFF2-40B4-BE49-F238E27FC236}">
                <a16:creationId xmlns:a16="http://schemas.microsoft.com/office/drawing/2014/main" id="{C198065A-3C09-48BC-8FEB-B466460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80">
            <a:extLst xmlns:a="http://schemas.openxmlformats.org/drawingml/2006/main">
              <a:ext uri="{FF2B5EF4-FFF2-40B4-BE49-F238E27FC236}">
                <a16:creationId xmlns:a16="http://schemas.microsoft.com/office/drawing/2014/main" id="{F1F11517-3E6D-4BE4-8E13-9262EDFA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381">
            <a:extLst xmlns:a="http://schemas.openxmlformats.org/drawingml/2006/main">
              <a:ext uri="{FF2B5EF4-FFF2-40B4-BE49-F238E27FC236}">
                <a16:creationId xmlns:a16="http://schemas.microsoft.com/office/drawing/2014/main" id="{89239D03-B03D-437D-A2D0-0817B387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課程導讀</a:t>
            </a:r>
          </a:p>
        </p:txBody>
      </p:sp>
      <p:sp>
        <p:nvSpPr>
          <p:cNvPr id="9" name="text-382">
            <a:extLst xmlns:a="http://schemas.openxmlformats.org/drawingml/2006/main">
              <a:ext uri="{FF2B5EF4-FFF2-40B4-BE49-F238E27FC236}">
                <a16:creationId xmlns:a16="http://schemas.microsoft.com/office/drawing/2014/main" id="{36A0C997-5B38-4DFE-B35E-EC5BAB8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從 README 與單元頁整理學習目標、先備知識與學習路徑。</a:t>
            </a:r>
          </a:p>
        </p:txBody>
      </p:sp>
      <p:sp>
        <p:nvSpPr>
          <p:cNvPr id="10" name="shape-383">
            <a:extLst xmlns:a="http://schemas.openxmlformats.org/drawingml/2006/main">
              <a:ext uri="{FF2B5EF4-FFF2-40B4-BE49-F238E27FC236}">
                <a16:creationId xmlns:a16="http://schemas.microsoft.com/office/drawing/2014/main" id="{741D196A-B763-4407-81D6-F8F7574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384">
            <a:extLst xmlns:a="http://schemas.openxmlformats.org/drawingml/2006/main">
              <a:ext uri="{FF2B5EF4-FFF2-40B4-BE49-F238E27FC236}">
                <a16:creationId xmlns:a16="http://schemas.microsoft.com/office/drawing/2014/main" id="{3ED5F940-ED24-4A64-87A2-8F4BD745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385">
            <a:extLst xmlns:a="http://schemas.openxmlformats.org/drawingml/2006/main">
              <a:ext uri="{FF2B5EF4-FFF2-40B4-BE49-F238E27FC236}">
                <a16:creationId xmlns:a16="http://schemas.microsoft.com/office/drawing/2014/main" id="{575B3D2E-E4BB-46C3-A3BC-4107376B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影片／圖表</a:t>
            </a:r>
          </a:p>
        </p:txBody>
      </p:sp>
      <p:sp>
        <p:nvSpPr>
          <p:cNvPr id="13" name="text-386">
            <a:extLst xmlns:a="http://schemas.openxmlformats.org/drawingml/2006/main">
              <a:ext uri="{FF2B5EF4-FFF2-40B4-BE49-F238E27FC236}">
                <a16:creationId xmlns:a16="http://schemas.microsoft.com/office/drawing/2014/main" id="{33442E80-9F60-4E93-AA5F-A35E062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 Notebook 生成的內容轉成課前導讀、課中提問或視覺化摘要。</a:t>
            </a:r>
          </a:p>
        </p:txBody>
      </p:sp>
      <p:sp>
        <p:nvSpPr>
          <p:cNvPr id="14" name="shape-387">
            <a:extLst xmlns:a="http://schemas.openxmlformats.org/drawingml/2006/main">
              <a:ext uri="{FF2B5EF4-FFF2-40B4-BE49-F238E27FC236}">
                <a16:creationId xmlns:a16="http://schemas.microsoft.com/office/drawing/2014/main" id="{163A5798-5D26-4B01-9A03-0D39CCB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388">
            <a:extLst xmlns:a="http://schemas.openxmlformats.org/drawingml/2006/main">
              <a:ext uri="{FF2B5EF4-FFF2-40B4-BE49-F238E27FC236}">
                <a16:creationId xmlns:a16="http://schemas.microsoft.com/office/drawing/2014/main" id="{5CC11074-70D1-4F90-AEF1-B92C9E0A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389">
            <a:extLst xmlns:a="http://schemas.openxmlformats.org/drawingml/2006/main">
              <a:ext uri="{FF2B5EF4-FFF2-40B4-BE49-F238E27FC236}">
                <a16:creationId xmlns:a16="http://schemas.microsoft.com/office/drawing/2014/main" id="{9764A06E-D33F-4C47-B929-E453040F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關卡</a:t>
            </a:r>
          </a:p>
        </p:txBody>
      </p:sp>
      <p:sp>
        <p:nvSpPr>
          <p:cNvPr id="17" name="text-390">
            <a:extLst xmlns:a="http://schemas.openxmlformats.org/drawingml/2006/main">
              <a:ext uri="{FF2B5EF4-FFF2-40B4-BE49-F238E27FC236}">
                <a16:creationId xmlns:a16="http://schemas.microsoft.com/office/drawing/2014/main" id="{A6A57A30-75CE-4491-8C0D-46D5C5B4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將來源中的概念轉成互動任務腳本，再交給 Canvas 做原型。</a:t>
            </a:r>
          </a:p>
        </p:txBody>
      </p:sp>
      <p:sp>
        <p:nvSpPr>
          <p:cNvPr id="18" name="shape-391">
            <a:extLst xmlns:a="http://schemas.openxmlformats.org/drawingml/2006/main">
              <a:ext uri="{FF2B5EF4-FFF2-40B4-BE49-F238E27FC236}">
                <a16:creationId xmlns:a16="http://schemas.microsoft.com/office/drawing/2014/main" id="{8962052F-286D-471D-A910-7E61616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392">
            <a:extLst xmlns:a="http://schemas.openxmlformats.org/drawingml/2006/main">
              <a:ext uri="{FF2B5EF4-FFF2-40B4-BE49-F238E27FC236}">
                <a16:creationId xmlns:a16="http://schemas.microsoft.com/office/drawing/2014/main" id="{9BA515F4-6446-4C7C-9358-FEFF175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393">
            <a:extLst xmlns:a="http://schemas.openxmlformats.org/drawingml/2006/main">
              <a:ext uri="{FF2B5EF4-FFF2-40B4-BE49-F238E27FC236}">
                <a16:creationId xmlns:a16="http://schemas.microsoft.com/office/drawing/2014/main" id="{627E7D52-6C0D-442C-B1FD-A6474BED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教師共備</a:t>
            </a:r>
          </a:p>
        </p:txBody>
      </p:sp>
      <p:sp>
        <p:nvSpPr>
          <p:cNvPr id="21" name="text-394">
            <a:extLst xmlns:a="http://schemas.openxmlformats.org/drawingml/2006/main">
              <a:ext uri="{FF2B5EF4-FFF2-40B4-BE49-F238E27FC236}">
                <a16:creationId xmlns:a16="http://schemas.microsoft.com/office/drawing/2014/main" id="{34DBEEA0-D366-4ADB-A956-B06CAF7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輸出可共編的備課摘要、活動流程與證據，回到駕駛艙持續更新。</a:t>
            </a:r>
          </a:p>
        </p:txBody>
      </p:sp>
      <p:sp>
        <p:nvSpPr>
          <p:cNvPr id="22" name="text-763">
            <a:extLst xmlns:a="http://schemas.openxmlformats.org/drawingml/2006/main">
              <a:ext uri="{FF2B5EF4-FFF2-40B4-BE49-F238E27FC236}">
                <a16:creationId xmlns:a16="http://schemas.microsoft.com/office/drawing/2014/main" id="{B55E7BDA-D7EC-4AFA-ABE2-75F00E57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8458713f1524ae9"/>
              </a:rPr>
              <a:t>開啟 Gemini Notebook ↗</a:t>
            </a:r>
          </a:p>
        </p:txBody>
      </p:sp>
      <p:sp>
        <p:nvSpPr>
          <p:cNvPr id="23" name="shape-808">
            <a:extLst xmlns:a="http://schemas.openxmlformats.org/drawingml/2006/main">
              <a:ext uri="{FF2B5EF4-FFF2-40B4-BE49-F238E27FC236}">
                <a16:creationId xmlns:a16="http://schemas.microsoft.com/office/drawing/2014/main" id="{6CFEE94F-1A61-43D5-A8FA-5A1851E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4d80e53f84382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809">
            <a:extLst xmlns:a="http://schemas.openxmlformats.org/drawingml/2006/main">
              <a:ext uri="{FF2B5EF4-FFF2-40B4-BE49-F238E27FC236}">
                <a16:creationId xmlns:a16="http://schemas.microsoft.com/office/drawing/2014/main" id="{065D3F94-B662-4F1E-A67C-E7AAE6E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396272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95">
            <a:extLst xmlns:a="http://schemas.openxmlformats.org/drawingml/2006/main">
              <a:ext uri="{FF2B5EF4-FFF2-40B4-BE49-F238E27FC236}">
                <a16:creationId xmlns:a16="http://schemas.microsoft.com/office/drawing/2014/main" id="{A4B6FC37-A26D-449F-8806-4C4EABA8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QUALITY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4A05FB-B20E-4F95-89A3-AA40A3D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Checkpoint｜Notebook 合格了嗎？</a:t>
            </a:r>
          </a:p>
        </p:txBody>
      </p:sp>
      <p:cxnSp>
        <p:nvCxnSpPr>
          <p:cNvPr id="28" name="shape-39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97">
            <a:extLst xmlns:a="http://schemas.openxmlformats.org/drawingml/2006/main">
              <a:ext uri="{FF2B5EF4-FFF2-40B4-BE49-F238E27FC236}">
                <a16:creationId xmlns:a16="http://schemas.microsoft.com/office/drawing/2014/main" id="{3628284E-22FB-4009-86E1-F74D72EA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99DC4C-F2E4-41BE-BAD2-C9883AA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22</a:t>
            </a:r>
          </a:p>
        </p:txBody>
      </p:sp>
      <p:sp>
        <p:nvSpPr>
          <p:cNvPr id="6" name="shape-398">
            <a:extLst xmlns:a="http://schemas.openxmlformats.org/drawingml/2006/main">
              <a:ext uri="{FF2B5EF4-FFF2-40B4-BE49-F238E27FC236}">
                <a16:creationId xmlns:a16="http://schemas.microsoft.com/office/drawing/2014/main" id="{9F69D308-44D0-47BC-B111-2BF9B9F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99">
            <a:extLst xmlns:a="http://schemas.openxmlformats.org/drawingml/2006/main">
              <a:ext uri="{FF2B5EF4-FFF2-40B4-BE49-F238E27FC236}">
                <a16:creationId xmlns:a16="http://schemas.microsoft.com/office/drawing/2014/main" id="{4B9DA10E-A8CE-44EC-9BEE-B7F6B4C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400">
            <a:extLst xmlns:a="http://schemas.openxmlformats.org/drawingml/2006/main">
              <a:ext uri="{FF2B5EF4-FFF2-40B4-BE49-F238E27FC236}">
                <a16:creationId xmlns:a16="http://schemas.microsoft.com/office/drawing/2014/main" id="{6C38A8B7-1BDF-4061-BF95-32649DA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</a:t>
            </a:r>
          </a:p>
        </p:txBody>
      </p:sp>
      <p:sp>
        <p:nvSpPr>
          <p:cNvPr id="9" name="text-401">
            <a:extLst xmlns:a="http://schemas.openxmlformats.org/drawingml/2006/main">
              <a:ext uri="{FF2B5EF4-FFF2-40B4-BE49-F238E27FC236}">
                <a16:creationId xmlns:a16="http://schemas.microsoft.com/office/drawing/2014/main" id="{A2CB7C3A-7BAC-42FF-8C82-43BEE95D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資料可信、可授權使用，且與教學目的直接相關。</a:t>
            </a:r>
          </a:p>
        </p:txBody>
      </p:sp>
      <p:sp>
        <p:nvSpPr>
          <p:cNvPr id="10" name="shape-402">
            <a:extLst xmlns:a="http://schemas.openxmlformats.org/drawingml/2006/main">
              <a:ext uri="{FF2B5EF4-FFF2-40B4-BE49-F238E27FC236}">
                <a16:creationId xmlns:a16="http://schemas.microsoft.com/office/drawing/2014/main" id="{B7D5B19A-7104-418E-901B-29DEFCD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403">
            <a:extLst xmlns:a="http://schemas.openxmlformats.org/drawingml/2006/main">
              <a:ext uri="{FF2B5EF4-FFF2-40B4-BE49-F238E27FC236}">
                <a16:creationId xmlns:a16="http://schemas.microsoft.com/office/drawing/2014/main" id="{FB762CF3-F33F-4C70-AC65-B3CFA9D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404">
            <a:extLst xmlns:a="http://schemas.openxmlformats.org/drawingml/2006/main">
              <a:ext uri="{FF2B5EF4-FFF2-40B4-BE49-F238E27FC236}">
                <a16:creationId xmlns:a16="http://schemas.microsoft.com/office/drawing/2014/main" id="{745251F3-4685-4981-BCBD-D5727BD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引用</a:t>
            </a:r>
          </a:p>
        </p:txBody>
      </p:sp>
      <p:sp>
        <p:nvSpPr>
          <p:cNvPr id="13" name="text-405">
            <a:extLst xmlns:a="http://schemas.openxmlformats.org/drawingml/2006/main">
              <a:ext uri="{FF2B5EF4-FFF2-40B4-BE49-F238E27FC236}">
                <a16:creationId xmlns:a16="http://schemas.microsoft.com/office/drawing/2014/main" id="{5AE21453-7699-4199-86D6-1B32A5D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至少抽查一個引用，原文確實支持回答。</a:t>
            </a:r>
          </a:p>
        </p:txBody>
      </p:sp>
      <p:sp>
        <p:nvSpPr>
          <p:cNvPr id="14" name="shape-406">
            <a:extLst xmlns:a="http://schemas.openxmlformats.org/drawingml/2006/main">
              <a:ext uri="{FF2B5EF4-FFF2-40B4-BE49-F238E27FC236}">
                <a16:creationId xmlns:a16="http://schemas.microsoft.com/office/drawing/2014/main" id="{6124CFC9-2694-42BD-97A8-0D1F20F8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407">
            <a:extLst xmlns:a="http://schemas.openxmlformats.org/drawingml/2006/main">
              <a:ext uri="{FF2B5EF4-FFF2-40B4-BE49-F238E27FC236}">
                <a16:creationId xmlns:a16="http://schemas.microsoft.com/office/drawing/2014/main" id="{155119FA-A152-4A5B-B206-A0F6DCF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408">
            <a:extLst xmlns:a="http://schemas.openxmlformats.org/drawingml/2006/main">
              <a:ext uri="{FF2B5EF4-FFF2-40B4-BE49-F238E27FC236}">
                <a16:creationId xmlns:a16="http://schemas.microsoft.com/office/drawing/2014/main" id="{167A2CAB-A886-4964-A310-A4EF133F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邊界</a:t>
            </a:r>
          </a:p>
        </p:txBody>
      </p:sp>
      <p:sp>
        <p:nvSpPr>
          <p:cNvPr id="17" name="text-409">
            <a:extLst xmlns:a="http://schemas.openxmlformats.org/drawingml/2006/main">
              <a:ext uri="{FF2B5EF4-FFF2-40B4-BE49-F238E27FC236}">
                <a16:creationId xmlns:a16="http://schemas.microsoft.com/office/drawing/2014/main" id="{D5C9867F-1170-4289-B32A-13F97BF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知道哪些問題來源回答不了，不把推測當事實。</a:t>
            </a:r>
          </a:p>
        </p:txBody>
      </p:sp>
      <p:sp>
        <p:nvSpPr>
          <p:cNvPr id="18" name="shape-410">
            <a:extLst xmlns:a="http://schemas.openxmlformats.org/drawingml/2006/main">
              <a:ext uri="{FF2B5EF4-FFF2-40B4-BE49-F238E27FC236}">
                <a16:creationId xmlns:a16="http://schemas.microsoft.com/office/drawing/2014/main" id="{5AA571B1-8CCD-4C88-BBEE-3E595B0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411">
            <a:extLst xmlns:a="http://schemas.openxmlformats.org/drawingml/2006/main">
              <a:ext uri="{FF2B5EF4-FFF2-40B4-BE49-F238E27FC236}">
                <a16:creationId xmlns:a16="http://schemas.microsoft.com/office/drawing/2014/main" id="{7C12244D-3384-473B-AD9A-20CE9D39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412">
            <a:extLst xmlns:a="http://schemas.openxmlformats.org/drawingml/2006/main">
              <a:ext uri="{FF2B5EF4-FFF2-40B4-BE49-F238E27FC236}">
                <a16:creationId xmlns:a16="http://schemas.microsoft.com/office/drawing/2014/main" id="{57033ADA-7796-419F-AF59-791A7712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產出</a:t>
            </a:r>
          </a:p>
        </p:txBody>
      </p:sp>
      <p:sp>
        <p:nvSpPr>
          <p:cNvPr id="21" name="text-413">
            <a:extLst xmlns:a="http://schemas.openxmlformats.org/drawingml/2006/main">
              <a:ext uri="{FF2B5EF4-FFF2-40B4-BE49-F238E27FC236}">
                <a16:creationId xmlns:a16="http://schemas.microsoft.com/office/drawing/2014/main" id="{C1EA3C7E-B1D0-4980-9C73-8C48788E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結果已能進入下一步 Gem 或 Canvas。</a:t>
            </a:r>
          </a:p>
        </p:txBody>
      </p:sp>
      <p:sp>
        <p:nvSpPr>
          <p:cNvPr id="22" name="text-764">
            <a:extLst xmlns:a="http://schemas.openxmlformats.org/drawingml/2006/main">
              <a:ext uri="{FF2B5EF4-FFF2-40B4-BE49-F238E27FC236}">
                <a16:creationId xmlns:a16="http://schemas.microsoft.com/office/drawing/2014/main" id="{9ADBFF74-4E0D-4355-A852-64591CF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b9adb5fc91e4695"/>
              </a:rPr>
              <a:t>開啟 Gemini Notebook ↗</a:t>
            </a:r>
          </a:p>
        </p:txBody>
      </p:sp>
      <p:sp>
        <p:nvSpPr>
          <p:cNvPr id="23" name="shape-810">
            <a:extLst xmlns:a="http://schemas.openxmlformats.org/drawingml/2006/main">
              <a:ext uri="{FF2B5EF4-FFF2-40B4-BE49-F238E27FC236}">
                <a16:creationId xmlns:a16="http://schemas.microsoft.com/office/drawing/2014/main" id="{3EE03614-3326-454E-8293-48CE39DD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eb786018849d6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811">
            <a:extLst xmlns:a="http://schemas.openxmlformats.org/drawingml/2006/main">
              <a:ext uri="{FF2B5EF4-FFF2-40B4-BE49-F238E27FC236}">
                <a16:creationId xmlns:a16="http://schemas.microsoft.com/office/drawing/2014/main" id="{25B96FD5-8CC5-4A35-B085-1307735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1657010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14">
            <a:extLst xmlns:a="http://schemas.openxmlformats.org/drawingml/2006/main">
              <a:ext uri="{FF2B5EF4-FFF2-40B4-BE49-F238E27FC236}">
                <a16:creationId xmlns:a16="http://schemas.microsoft.com/office/drawing/2014/main" id="{376A2A2C-3D59-47F0-9558-08920F5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" name="text-415">
            <a:extLst xmlns:a="http://schemas.openxmlformats.org/drawingml/2006/main">
              <a:ext uri="{FF2B5EF4-FFF2-40B4-BE49-F238E27FC236}">
                <a16:creationId xmlns:a16="http://schemas.microsoft.com/office/drawing/2014/main" id="{57382566-A2D4-4DF3-A798-396C015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</a:t>
            </a:r>
          </a:p>
        </p:txBody>
      </p:sp>
      <p:sp>
        <p:nvSpPr>
          <p:cNvPr id="3" name="text-416">
            <a:extLst xmlns:a="http://schemas.openxmlformats.org/drawingml/2006/main">
              <a:ext uri="{FF2B5EF4-FFF2-40B4-BE49-F238E27FC236}">
                <a16:creationId xmlns:a16="http://schemas.microsoft.com/office/drawing/2014/main" id="{D47FFF02-222B-41BA-8354-A895582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把一套教學角色、方法、語氣與輸出格式固定下來，成為可重複使用的專屬助理。</a:t>
            </a:r>
          </a:p>
        </p:txBody>
      </p:sp>
      <p:sp>
        <p:nvSpPr>
          <p:cNvPr id="4" name="shape-417">
            <a:extLst xmlns:a="http://schemas.openxmlformats.org/drawingml/2006/main">
              <a:ext uri="{FF2B5EF4-FFF2-40B4-BE49-F238E27FC236}">
                <a16:creationId xmlns:a16="http://schemas.microsoft.com/office/drawing/2014/main" id="{DDEA886F-104D-4A9A-91E9-9953535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18">
            <a:extLst xmlns:a="http://schemas.openxmlformats.org/drawingml/2006/main">
              <a:ext uri="{FF2B5EF4-FFF2-40B4-BE49-F238E27FC236}">
                <a16:creationId xmlns:a16="http://schemas.microsoft.com/office/drawing/2014/main" id="{FA047B0C-7A01-42E7-A58B-FE27C44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8" name="shape-41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text-420">
            <a:extLst xmlns:a="http://schemas.openxmlformats.org/drawingml/2006/main">
              <a:ext uri="{FF2B5EF4-FFF2-40B4-BE49-F238E27FC236}">
                <a16:creationId xmlns:a16="http://schemas.microsoft.com/office/drawing/2014/main" id="{087E22FA-87BC-49F1-8498-63AB58E2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DE2CDC-27E9-4396-B7A4-56BC020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23</a:t>
            </a:r>
          </a:p>
        </p:txBody>
      </p:sp>
      <p:sp>
        <p:nvSpPr>
          <p:cNvPr id="9" name="text-767">
            <a:extLst xmlns:a="http://schemas.openxmlformats.org/drawingml/2006/main">
              <a:ext uri="{FF2B5EF4-FFF2-40B4-BE49-F238E27FC236}">
                <a16:creationId xmlns:a16="http://schemas.microsoft.com/office/drawing/2014/main" id="{BFC4B62A-FF2C-4AC7-AC19-D3A80829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c49448b3ea94486"/>
              </a:rPr>
              <a:t>建立／查看 Gem ↗</a:t>
            </a:r>
          </a:p>
        </p:txBody>
      </p:sp>
      <p:sp>
        <p:nvSpPr>
          <p:cNvPr id="10" name="shape-819">
            <a:extLst xmlns:a="http://schemas.openxmlformats.org/drawingml/2006/main">
              <a:ext uri="{FF2B5EF4-FFF2-40B4-BE49-F238E27FC236}">
                <a16:creationId xmlns:a16="http://schemas.microsoft.com/office/drawing/2014/main" id="{88AFB29F-C76A-486E-804C-EBCAF82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5f5e22c124186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820">
            <a:extLst xmlns:a="http://schemas.openxmlformats.org/drawingml/2006/main">
              <a:ext uri="{FF2B5EF4-FFF2-40B4-BE49-F238E27FC236}">
                <a16:creationId xmlns:a16="http://schemas.microsoft.com/office/drawing/2014/main" id="{C735041E-4BC2-4A52-B064-738ED103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11847060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1">
            <a:extLst xmlns:a="http://schemas.openxmlformats.org/drawingml/2006/main">
              <a:ext uri="{FF2B5EF4-FFF2-40B4-BE49-F238E27FC236}">
                <a16:creationId xmlns:a16="http://schemas.microsoft.com/office/drawing/2014/main" id="{A610C21A-91AA-4F99-A560-928E0BD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PERSISTENT ASSISTANT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DF0E27-5248-4F89-BE35-508B6D16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 不是更長的提示詞，而是可持續使用的工作設定</a:t>
            </a:r>
          </a:p>
        </p:txBody>
      </p:sp>
      <p:cxnSp>
        <p:nvCxnSpPr>
          <p:cNvPr id="18" name="shape-42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23">
            <a:extLst xmlns:a="http://schemas.openxmlformats.org/drawingml/2006/main">
              <a:ext uri="{FF2B5EF4-FFF2-40B4-BE49-F238E27FC236}">
                <a16:creationId xmlns:a16="http://schemas.microsoft.com/office/drawing/2014/main" id="{AFA17800-CE2C-4B1F-B968-C0CCD0E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F4213E-C714-4127-8369-486362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  <p:sp>
        <p:nvSpPr>
          <p:cNvPr id="6" name="shape-424">
            <a:extLst xmlns:a="http://schemas.openxmlformats.org/drawingml/2006/main">
              <a:ext uri="{FF2B5EF4-FFF2-40B4-BE49-F238E27FC236}">
                <a16:creationId xmlns:a16="http://schemas.microsoft.com/office/drawing/2014/main" id="{551E99AD-F3DD-49BB-AA26-DAB98DF9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425">
            <a:extLst xmlns:a="http://schemas.openxmlformats.org/drawingml/2006/main">
              <a:ext uri="{FF2B5EF4-FFF2-40B4-BE49-F238E27FC236}">
                <a16:creationId xmlns:a16="http://schemas.microsoft.com/office/drawing/2014/main" id="{2983CEB7-DD0F-4818-B18E-6952D606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426">
            <a:extLst xmlns:a="http://schemas.openxmlformats.org/drawingml/2006/main">
              <a:ext uri="{FF2B5EF4-FFF2-40B4-BE49-F238E27FC236}">
                <a16:creationId xmlns:a16="http://schemas.microsoft.com/office/drawing/2014/main" id="{1C03B67C-3CF5-4DB9-B4D7-E01FC4D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單次對話</a:t>
            </a:r>
          </a:p>
        </p:txBody>
      </p:sp>
      <p:sp>
        <p:nvSpPr>
          <p:cNvPr id="9" name="text-427">
            <a:extLst xmlns:a="http://schemas.openxmlformats.org/drawingml/2006/main">
              <a:ext uri="{FF2B5EF4-FFF2-40B4-BE49-F238E27FC236}">
                <a16:creationId xmlns:a16="http://schemas.microsoft.com/office/drawing/2014/main" id="{90F4E0E4-5B25-4EF2-91FA-EB44BC7F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每次重新交代角色與格式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容易隨對話漂移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適合一次性探索</a:t>
            </a:r>
          </a:p>
        </p:txBody>
      </p:sp>
      <p:sp>
        <p:nvSpPr>
          <p:cNvPr id="10" name="text-428">
            <a:extLst xmlns:a="http://schemas.openxmlformats.org/drawingml/2006/main">
              <a:ext uri="{FF2B5EF4-FFF2-40B4-BE49-F238E27FC236}">
                <a16:creationId xmlns:a16="http://schemas.microsoft.com/office/drawing/2014/main" id="{A81AAB96-8FA8-4D6E-96B5-FD0F44C4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專屬 Gem</a:t>
            </a:r>
          </a:p>
        </p:txBody>
      </p:sp>
      <p:sp>
        <p:nvSpPr>
          <p:cNvPr id="11" name="text-429">
            <a:extLst xmlns:a="http://schemas.openxmlformats.org/drawingml/2006/main">
              <a:ext uri="{FF2B5EF4-FFF2-40B4-BE49-F238E27FC236}">
                <a16:creationId xmlns:a16="http://schemas.microsoft.com/office/drawing/2014/main" id="{B7AD0037-127F-4B79-8E2A-A833863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保存名稱與指令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可加入背景檔案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適合重複的教學任務</a:t>
            </a:r>
          </a:p>
        </p:txBody>
      </p:sp>
      <p:sp>
        <p:nvSpPr>
          <p:cNvPr id="12" name="text-768">
            <a:extLst xmlns:a="http://schemas.openxmlformats.org/drawingml/2006/main">
              <a:ext uri="{FF2B5EF4-FFF2-40B4-BE49-F238E27FC236}">
                <a16:creationId xmlns:a16="http://schemas.microsoft.com/office/drawing/2014/main" id="{443EACBE-4864-43DB-A892-6531A4F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49681118ec1493a"/>
              </a:rPr>
              <a:t>建立／查看 Gem ↗</a:t>
            </a:r>
          </a:p>
        </p:txBody>
      </p:sp>
      <p:sp>
        <p:nvSpPr>
          <p:cNvPr id="13" name="shape-821">
            <a:extLst xmlns:a="http://schemas.openxmlformats.org/drawingml/2006/main">
              <a:ext uri="{FF2B5EF4-FFF2-40B4-BE49-F238E27FC236}">
                <a16:creationId xmlns:a16="http://schemas.microsoft.com/office/drawing/2014/main" id="{4AC7EDCF-8945-4997-8995-F04707FA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44167393448f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5" name="text-822">
            <a:extLst xmlns:a="http://schemas.openxmlformats.org/drawingml/2006/main">
              <a:ext uri="{FF2B5EF4-FFF2-40B4-BE49-F238E27FC236}">
                <a16:creationId xmlns:a16="http://schemas.microsoft.com/office/drawing/2014/main" id="{93A5A3E8-03C0-434F-A771-58F646FB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717243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30">
            <a:extLst xmlns:a="http://schemas.openxmlformats.org/drawingml/2006/main">
              <a:ext uri="{FF2B5EF4-FFF2-40B4-BE49-F238E27FC236}">
                <a16:creationId xmlns:a16="http://schemas.microsoft.com/office/drawing/2014/main" id="{DF0D578C-FEDA-4543-9C94-003EB4A9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EXISTING GEM → REUSABLE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96FD35-78FC-4C3F-86CE-1177D8C1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 示範：從帳號既有 Gem 反向拆解</a:t>
            </a:r>
          </a:p>
        </p:txBody>
      </p:sp>
      <p:cxnSp>
        <p:nvCxnSpPr>
          <p:cNvPr id="28" name="shape-43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32">
            <a:extLst xmlns:a="http://schemas.openxmlformats.org/drawingml/2006/main">
              <a:ext uri="{FF2B5EF4-FFF2-40B4-BE49-F238E27FC236}">
                <a16:creationId xmlns:a16="http://schemas.microsoft.com/office/drawing/2014/main" id="{70FCEFA1-1AB9-44FF-89CE-B6A2C7F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10D324-1DAF-4E9C-89B5-E32B0C58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  <p:sp>
        <p:nvSpPr>
          <p:cNvPr id="6" name="shape-433">
            <a:extLst xmlns:a="http://schemas.openxmlformats.org/drawingml/2006/main">
              <a:ext uri="{FF2B5EF4-FFF2-40B4-BE49-F238E27FC236}">
                <a16:creationId xmlns:a16="http://schemas.microsoft.com/office/drawing/2014/main" id="{447B0F04-DBC3-4D54-B125-DA21D32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434">
            <a:extLst xmlns:a="http://schemas.openxmlformats.org/drawingml/2006/main">
              <a:ext uri="{FF2B5EF4-FFF2-40B4-BE49-F238E27FC236}">
                <a16:creationId xmlns:a16="http://schemas.microsoft.com/office/drawing/2014/main" id="{8D24511F-9440-42E2-B577-C5D252E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435">
            <a:extLst xmlns:a="http://schemas.openxmlformats.org/drawingml/2006/main">
              <a:ext uri="{FF2B5EF4-FFF2-40B4-BE49-F238E27FC236}">
                <a16:creationId xmlns:a16="http://schemas.microsoft.com/office/drawing/2014/main" id="{D25FE58A-A661-4CF0-81AF-E09DF05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找到一個既有 Gem</a:t>
            </a:r>
          </a:p>
        </p:txBody>
      </p:sp>
      <p:sp>
        <p:nvSpPr>
          <p:cNvPr id="9" name="text-436">
            <a:extLst xmlns:a="http://schemas.openxmlformats.org/drawingml/2006/main">
              <a:ext uri="{FF2B5EF4-FFF2-40B4-BE49-F238E27FC236}">
                <a16:creationId xmlns:a16="http://schemas.microsoft.com/office/drawing/2014/main" id="{1BED8824-D900-4B26-A034-B2D23B2C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先看名稱、用途與最常用的一次輸出；不把私人內容直接放進公開簡報。</a:t>
            </a:r>
          </a:p>
        </p:txBody>
      </p:sp>
      <p:sp>
        <p:nvSpPr>
          <p:cNvPr id="10" name="shape-437">
            <a:extLst xmlns:a="http://schemas.openxmlformats.org/drawingml/2006/main">
              <a:ext uri="{FF2B5EF4-FFF2-40B4-BE49-F238E27FC236}">
                <a16:creationId xmlns:a16="http://schemas.microsoft.com/office/drawing/2014/main" id="{EE2C5353-7797-4F29-94C1-F88555AE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438">
            <a:extLst xmlns:a="http://schemas.openxmlformats.org/drawingml/2006/main">
              <a:ext uri="{FF2B5EF4-FFF2-40B4-BE49-F238E27FC236}">
                <a16:creationId xmlns:a16="http://schemas.microsoft.com/office/drawing/2014/main" id="{0E282845-F1AB-4061-A401-A8EA757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439">
            <a:extLst xmlns:a="http://schemas.openxmlformats.org/drawingml/2006/main">
              <a:ext uri="{FF2B5EF4-FFF2-40B4-BE49-F238E27FC236}">
                <a16:creationId xmlns:a16="http://schemas.microsoft.com/office/drawing/2014/main" id="{02C4C8B6-6A6F-4F9F-853D-1C5511E1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拆出四格</a:t>
            </a:r>
          </a:p>
        </p:txBody>
      </p:sp>
      <p:sp>
        <p:nvSpPr>
          <p:cNvPr id="13" name="text-440">
            <a:extLst xmlns:a="http://schemas.openxmlformats.org/drawingml/2006/main">
              <a:ext uri="{FF2B5EF4-FFF2-40B4-BE49-F238E27FC236}">
                <a16:creationId xmlns:a16="http://schemas.microsoft.com/office/drawing/2014/main" id="{8C61E11E-8EA7-4D65-95E2-C5A2783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從既有指令辨認角色、任務、背景與格式，找出穩定與失敗的地方。</a:t>
            </a:r>
          </a:p>
        </p:txBody>
      </p:sp>
      <p:sp>
        <p:nvSpPr>
          <p:cNvPr id="14" name="shape-441">
            <a:extLst xmlns:a="http://schemas.openxmlformats.org/drawingml/2006/main">
              <a:ext uri="{FF2B5EF4-FFF2-40B4-BE49-F238E27FC236}">
                <a16:creationId xmlns:a16="http://schemas.microsoft.com/office/drawing/2014/main" id="{939ABBFD-B7DF-4393-BA92-3CF3F57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442">
            <a:extLst xmlns:a="http://schemas.openxmlformats.org/drawingml/2006/main">
              <a:ext uri="{FF2B5EF4-FFF2-40B4-BE49-F238E27FC236}">
                <a16:creationId xmlns:a16="http://schemas.microsoft.com/office/drawing/2014/main" id="{FB9C6480-EA6E-444E-97AA-945D1A3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443">
            <a:extLst xmlns:a="http://schemas.openxmlformats.org/drawingml/2006/main">
              <a:ext uri="{FF2B5EF4-FFF2-40B4-BE49-F238E27FC236}">
                <a16:creationId xmlns:a16="http://schemas.microsoft.com/office/drawing/2014/main" id="{FB6AA163-BCDA-4A3C-86C9-E2BC60E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改成研習版本</a:t>
            </a:r>
          </a:p>
        </p:txBody>
      </p:sp>
      <p:sp>
        <p:nvSpPr>
          <p:cNvPr id="17" name="text-444">
            <a:extLst xmlns:a="http://schemas.openxmlformats.org/drawingml/2006/main">
              <a:ext uri="{FF2B5EF4-FFF2-40B4-BE49-F238E27FC236}">
                <a16:creationId xmlns:a16="http://schemas.microsoft.com/office/drawing/2014/main" id="{3AEE5BFE-DC67-4B17-A9C6-AA9D20B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保留有效步驟，再加入大學教師／研究社群的情境與安全邊界。</a:t>
            </a:r>
          </a:p>
        </p:txBody>
      </p:sp>
      <p:sp>
        <p:nvSpPr>
          <p:cNvPr id="18" name="shape-445">
            <a:extLst xmlns:a="http://schemas.openxmlformats.org/drawingml/2006/main">
              <a:ext uri="{FF2B5EF4-FFF2-40B4-BE49-F238E27FC236}">
                <a16:creationId xmlns:a16="http://schemas.microsoft.com/office/drawing/2014/main" id="{F6DF1ABB-DBE5-421A-A518-ED3BF5CD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446">
            <a:extLst xmlns:a="http://schemas.openxmlformats.org/drawingml/2006/main">
              <a:ext uri="{FF2B5EF4-FFF2-40B4-BE49-F238E27FC236}">
                <a16:creationId xmlns:a16="http://schemas.microsoft.com/office/drawing/2014/main" id="{4B8B420D-AB37-493A-AFDA-ABA9BD9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447">
            <a:extLst xmlns:a="http://schemas.openxmlformats.org/drawingml/2006/main">
              <a:ext uri="{FF2B5EF4-FFF2-40B4-BE49-F238E27FC236}">
                <a16:creationId xmlns:a16="http://schemas.microsoft.com/office/drawing/2014/main" id="{03119D12-AC03-450A-83BE-E8F0EDD1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壓力測試</a:t>
            </a:r>
          </a:p>
        </p:txBody>
      </p:sp>
      <p:sp>
        <p:nvSpPr>
          <p:cNvPr id="21" name="text-448">
            <a:extLst xmlns:a="http://schemas.openxmlformats.org/drawingml/2006/main">
              <a:ext uri="{FF2B5EF4-FFF2-40B4-BE49-F238E27FC236}">
                <a16:creationId xmlns:a16="http://schemas.microsoft.com/office/drawing/2014/main" id="{1AE7C775-9D5A-4D60-8CDF-4960564A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用正常案例、資料不足與越界要求各測一次，留下可比較的證據。</a:t>
            </a:r>
          </a:p>
        </p:txBody>
      </p:sp>
      <p:sp>
        <p:nvSpPr>
          <p:cNvPr id="22" name="text-769">
            <a:extLst xmlns:a="http://schemas.openxmlformats.org/drawingml/2006/main">
              <a:ext uri="{FF2B5EF4-FFF2-40B4-BE49-F238E27FC236}">
                <a16:creationId xmlns:a16="http://schemas.microsoft.com/office/drawing/2014/main" id="{BADA1146-765E-4F5E-BEA8-AA23EE8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9bd443d90f54875"/>
              </a:rPr>
              <a:t>建立／查看 Gem ↗</a:t>
            </a:r>
          </a:p>
        </p:txBody>
      </p:sp>
      <p:sp>
        <p:nvSpPr>
          <p:cNvPr id="23" name="shape-823">
            <a:extLst xmlns:a="http://schemas.openxmlformats.org/drawingml/2006/main">
              <a:ext uri="{FF2B5EF4-FFF2-40B4-BE49-F238E27FC236}">
                <a16:creationId xmlns:a16="http://schemas.microsoft.com/office/drawing/2014/main" id="{7D4220DA-43DB-4001-96C5-155B939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f806d2fcd45fa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824">
            <a:extLst xmlns:a="http://schemas.openxmlformats.org/drawingml/2006/main">
              <a:ext uri="{FF2B5EF4-FFF2-40B4-BE49-F238E27FC236}">
                <a16:creationId xmlns:a16="http://schemas.microsoft.com/office/drawing/2014/main" id="{9DBE4DE4-9FBD-44C7-91EA-735C9FCE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21085436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49">
            <a:extLst xmlns:a="http://schemas.openxmlformats.org/drawingml/2006/main">
              <a:ext uri="{FF2B5EF4-FFF2-40B4-BE49-F238E27FC236}">
                <a16:creationId xmlns:a16="http://schemas.microsoft.com/office/drawing/2014/main" id="{5C3D6149-1752-420E-96E4-4FDFFB3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B84F3D-6B60-4B9F-9E55-B1BF4D3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範例｜把既有 Gem 改造成「教學與研究設計教練」</a:t>
            </a:r>
          </a:p>
        </p:txBody>
      </p:sp>
      <p:cxnSp>
        <p:nvCxnSpPr>
          <p:cNvPr id="19" name="shape-45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51">
            <a:extLst xmlns:a="http://schemas.openxmlformats.org/drawingml/2006/main">
              <a:ext uri="{FF2B5EF4-FFF2-40B4-BE49-F238E27FC236}">
                <a16:creationId xmlns:a16="http://schemas.microsoft.com/office/drawing/2014/main" id="{A4443B8D-8F6C-43B2-98B0-E4CD0E94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2520D1-897C-4A3F-9DB9-5831EE55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26</a:t>
            </a:r>
          </a:p>
        </p:txBody>
      </p:sp>
      <p:sp>
        <p:nvSpPr>
          <p:cNvPr id="6" name="text-452">
            <a:extLst xmlns:a="http://schemas.openxmlformats.org/drawingml/2006/main">
              <a:ext uri="{FF2B5EF4-FFF2-40B4-BE49-F238E27FC236}">
                <a16:creationId xmlns:a16="http://schemas.microsoft.com/office/drawing/2014/main" id="{D63594D5-4CBD-43DE-8C50-B9136606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你是一位大學教學與研究設計教練。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請先讀取既有 Gem 的有效輸出習慣，再依以下規格工作。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角色與任務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先問課程／研究目標、對象、資料與困難。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保留有效步驟，提出 3 個可實作方案。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不替教師或研究者做最終決定。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背景與格式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以上傳資料與 Gemini Notebook 引用為優先；資料不足要明確指出。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輸出：摘要 → 可複製工作表 → 風險／人工確認。</a:t>
            </a:r>
          </a:p>
        </p:txBody>
      </p:sp>
      <p:sp>
        <p:nvSpPr>
          <p:cNvPr id="7" name="text-453">
            <a:extLst xmlns:a="http://schemas.openxmlformats.org/drawingml/2006/main">
              <a:ext uri="{FF2B5EF4-FFF2-40B4-BE49-F238E27FC236}">
                <a16:creationId xmlns:a16="http://schemas.microsoft.com/office/drawing/2014/main" id="{1F40FD1B-D7B3-4E7C-8EAD-07C8574B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先辨識既有資產</a:t>
            </a:r>
          </a:p>
        </p:txBody>
      </p:sp>
      <p:sp>
        <p:nvSpPr>
          <p:cNvPr id="8" name="text-454">
            <a:extLst xmlns:a="http://schemas.openxmlformats.org/drawingml/2006/main">
              <a:ext uri="{FF2B5EF4-FFF2-40B4-BE49-F238E27FC236}">
                <a16:creationId xmlns:a16="http://schemas.microsoft.com/office/drawing/2014/main" id="{27D469A5-475F-4F85-AF79-F8A7BE9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先找出原本已經穩定的步驟，只改一個變因。</a:t>
            </a:r>
          </a:p>
        </p:txBody>
      </p:sp>
      <p:sp>
        <p:nvSpPr>
          <p:cNvPr id="9" name="text-455">
            <a:extLst xmlns:a="http://schemas.openxmlformats.org/drawingml/2006/main">
              <a:ext uri="{FF2B5EF4-FFF2-40B4-BE49-F238E27FC236}">
                <a16:creationId xmlns:a16="http://schemas.microsoft.com/office/drawing/2014/main" id="{6D0BC291-5A66-4D89-A322-0B94460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AFA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2AFA4"/>
                </a:solidFill>
                <a:latin typeface="Noto Sans TC"/>
                <a:ea typeface="Noto Sans TC"/>
                <a:cs typeface="Noto Sans TC"/>
              </a:rPr>
              <a:t>保留教師判斷</a:t>
            </a:r>
          </a:p>
        </p:txBody>
      </p:sp>
      <p:sp>
        <p:nvSpPr>
          <p:cNvPr id="10" name="text-456">
            <a:extLst xmlns:a="http://schemas.openxmlformats.org/drawingml/2006/main">
              <a:ext uri="{FF2B5EF4-FFF2-40B4-BE49-F238E27FC236}">
                <a16:creationId xmlns:a16="http://schemas.microsoft.com/office/drawing/2014/main" id="{44D4652E-F5AD-4437-A44E-90577EC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提供選項與證據，不替教師作高風險決定。</a:t>
            </a:r>
          </a:p>
        </p:txBody>
      </p:sp>
      <p:sp>
        <p:nvSpPr>
          <p:cNvPr id="11" name="text-457">
            <a:extLst xmlns:a="http://schemas.openxmlformats.org/drawingml/2006/main">
              <a:ext uri="{FF2B5EF4-FFF2-40B4-BE49-F238E27FC236}">
                <a16:creationId xmlns:a16="http://schemas.microsoft.com/office/drawing/2014/main" id="{0A7207B8-40D4-4256-81DA-1C81F89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用反例驗收</a:t>
            </a:r>
          </a:p>
        </p:txBody>
      </p:sp>
      <p:sp>
        <p:nvSpPr>
          <p:cNvPr id="12" name="text-458">
            <a:extLst xmlns:a="http://schemas.openxmlformats.org/drawingml/2006/main">
              <a:ext uri="{FF2B5EF4-FFF2-40B4-BE49-F238E27FC236}">
                <a16:creationId xmlns:a16="http://schemas.microsoft.com/office/drawing/2014/main" id="{68FB02E3-F53A-48E3-B155-3748A90D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資料不足或要求越界時，也要能追問、拒絕或標記未確認。</a:t>
            </a:r>
          </a:p>
        </p:txBody>
      </p:sp>
      <p:sp>
        <p:nvSpPr>
          <p:cNvPr id="13" name="text-770">
            <a:extLst xmlns:a="http://schemas.openxmlformats.org/drawingml/2006/main">
              <a:ext uri="{FF2B5EF4-FFF2-40B4-BE49-F238E27FC236}">
                <a16:creationId xmlns:a16="http://schemas.microsoft.com/office/drawing/2014/main" id="{883EB682-6ADA-4D45-A258-8F30B0A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a46dac58c2d42f8"/>
              </a:rPr>
              <a:t>建立／查看 Gem ↗</a:t>
            </a:r>
          </a:p>
        </p:txBody>
      </p:sp>
      <p:sp>
        <p:nvSpPr>
          <p:cNvPr id="14" name="shape-825">
            <a:extLst xmlns:a="http://schemas.openxmlformats.org/drawingml/2006/main">
              <a:ext uri="{FF2B5EF4-FFF2-40B4-BE49-F238E27FC236}">
                <a16:creationId xmlns:a16="http://schemas.microsoft.com/office/drawing/2014/main" id="{768EE6E8-001E-444F-9860-6935DEC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efbddbfff45ca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826">
            <a:extLst xmlns:a="http://schemas.openxmlformats.org/drawingml/2006/main">
              <a:ext uri="{FF2B5EF4-FFF2-40B4-BE49-F238E27FC236}">
                <a16:creationId xmlns:a16="http://schemas.microsoft.com/office/drawing/2014/main" id="{7B8D681F-7F5F-45CE-A33C-7CD463C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14231803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59">
            <a:extLst xmlns:a="http://schemas.openxmlformats.org/drawingml/2006/main">
              <a:ext uri="{FF2B5EF4-FFF2-40B4-BE49-F238E27FC236}">
                <a16:creationId xmlns:a16="http://schemas.microsoft.com/office/drawing/2014/main" id="{4FF036D9-B919-4296-A8EC-B615D284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F10509-7CDC-48DB-8574-2BD913A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實作二｜從既有 Gem 做一次改造與壓力測試</a:t>
            </a:r>
          </a:p>
        </p:txBody>
      </p:sp>
      <p:cxnSp>
        <p:nvCxnSpPr>
          <p:cNvPr id="25" name="shape-46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61">
            <a:extLst xmlns:a="http://schemas.openxmlformats.org/drawingml/2006/main">
              <a:ext uri="{FF2B5EF4-FFF2-40B4-BE49-F238E27FC236}">
                <a16:creationId xmlns:a16="http://schemas.microsoft.com/office/drawing/2014/main" id="{4557D28E-413C-4061-986A-37DEE8DB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85FC57-733A-4C36-B56E-EBB10B6A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27</a:t>
            </a:r>
          </a:p>
        </p:txBody>
      </p:sp>
      <p:sp>
        <p:nvSpPr>
          <p:cNvPr id="6" name="text-462">
            <a:extLst xmlns:a="http://schemas.openxmlformats.org/drawingml/2006/main">
              <a:ext uri="{FF2B5EF4-FFF2-40B4-BE49-F238E27FC236}">
                <a16:creationId xmlns:a16="http://schemas.microsoft.com/office/drawing/2014/main" id="{101E8117-7F70-473F-A0F2-FB2B6289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463">
            <a:extLst xmlns:a="http://schemas.openxmlformats.org/drawingml/2006/main">
              <a:ext uri="{FF2B5EF4-FFF2-40B4-BE49-F238E27FC236}">
                <a16:creationId xmlns:a16="http://schemas.microsoft.com/office/drawing/2014/main" id="{182330A5-7CE1-405A-89B3-8AA24C0F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464">
            <a:extLst xmlns:a="http://schemas.openxmlformats.org/drawingml/2006/main">
              <a:ext uri="{FF2B5EF4-FFF2-40B4-BE49-F238E27FC236}">
                <a16:creationId xmlns:a16="http://schemas.microsoft.com/office/drawing/2014/main" id="{03D40E28-F5C7-4568-A2D7-93CB75F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465">
            <a:extLst xmlns:a="http://schemas.openxmlformats.org/drawingml/2006/main">
              <a:ext uri="{FF2B5EF4-FFF2-40B4-BE49-F238E27FC236}">
                <a16:creationId xmlns:a16="http://schemas.microsoft.com/office/drawing/2014/main" id="{37EFADA1-D98F-4F75-B3FF-5AEE9E01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在自己的帳號中選一個既有 Gem，記下它原本的用途</a:t>
            </a:r>
          </a:p>
        </p:txBody>
      </p:sp>
      <p:sp>
        <p:nvSpPr>
          <p:cNvPr id="10" name="text-466">
            <a:extLst xmlns:a="http://schemas.openxmlformats.org/drawingml/2006/main">
              <a:ext uri="{FF2B5EF4-FFF2-40B4-BE49-F238E27FC236}">
                <a16:creationId xmlns:a16="http://schemas.microsoft.com/office/drawing/2014/main" id="{9C69131D-3A9F-4A4A-A80D-0958F90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467">
            <a:extLst xmlns:a="http://schemas.openxmlformats.org/drawingml/2006/main">
              <a:ext uri="{FF2B5EF4-FFF2-40B4-BE49-F238E27FC236}">
                <a16:creationId xmlns:a16="http://schemas.microsoft.com/office/drawing/2014/main" id="{9AA047BB-EA40-465E-A83A-150F204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拆出角色、任務、背景與格式，只改一個變因</a:t>
            </a:r>
          </a:p>
        </p:txBody>
      </p:sp>
      <p:sp>
        <p:nvSpPr>
          <p:cNvPr id="12" name="text-468">
            <a:extLst xmlns:a="http://schemas.openxmlformats.org/drawingml/2006/main">
              <a:ext uri="{FF2B5EF4-FFF2-40B4-BE49-F238E27FC236}">
                <a16:creationId xmlns:a16="http://schemas.microsoft.com/office/drawing/2014/main" id="{36F28462-B12A-4A7E-BC74-7E5B68A2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469">
            <a:extLst xmlns:a="http://schemas.openxmlformats.org/drawingml/2006/main">
              <a:ext uri="{FF2B5EF4-FFF2-40B4-BE49-F238E27FC236}">
                <a16:creationId xmlns:a16="http://schemas.microsoft.com/office/drawing/2014/main" id="{F0BFEF47-246E-4B12-AC10-493F1C6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用正常案例測一次，再用資料不足／越界案例測一次</a:t>
            </a:r>
          </a:p>
        </p:txBody>
      </p:sp>
      <p:sp>
        <p:nvSpPr>
          <p:cNvPr id="14" name="text-470">
            <a:extLst xmlns:a="http://schemas.openxmlformats.org/drawingml/2006/main">
              <a:ext uri="{FF2B5EF4-FFF2-40B4-BE49-F238E27FC236}">
                <a16:creationId xmlns:a16="http://schemas.microsoft.com/office/drawing/2014/main" id="{A17E85DD-1B2D-4F5E-9AEF-72A08B15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471">
            <a:extLst xmlns:a="http://schemas.openxmlformats.org/drawingml/2006/main">
              <a:ext uri="{FF2B5EF4-FFF2-40B4-BE49-F238E27FC236}">
                <a16:creationId xmlns:a16="http://schemas.microsoft.com/office/drawing/2014/main" id="{030DC91C-ABA1-4A32-997D-EE5DB194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比較前後輸出，留下可重複使用的版本與限制</a:t>
            </a:r>
          </a:p>
        </p:txBody>
      </p:sp>
      <p:sp>
        <p:nvSpPr>
          <p:cNvPr id="16" name="shape-472">
            <a:extLst xmlns:a="http://schemas.openxmlformats.org/drawingml/2006/main">
              <a:ext uri="{FF2B5EF4-FFF2-40B4-BE49-F238E27FC236}">
                <a16:creationId xmlns:a16="http://schemas.microsoft.com/office/drawing/2014/main" id="{E80F351C-9800-4395-A8BB-0B800843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473">
            <a:extLst xmlns:a="http://schemas.openxmlformats.org/drawingml/2006/main">
              <a:ext uri="{FF2B5EF4-FFF2-40B4-BE49-F238E27FC236}">
                <a16:creationId xmlns:a16="http://schemas.microsoft.com/office/drawing/2014/main" id="{25AE3B10-258B-46C5-BDA7-3D606D38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474">
            <a:extLst xmlns:a="http://schemas.openxmlformats.org/drawingml/2006/main">
              <a:ext uri="{FF2B5EF4-FFF2-40B4-BE49-F238E27FC236}">
                <a16:creationId xmlns:a16="http://schemas.microsoft.com/office/drawing/2014/main" id="{209EA0CE-418C-47DF-B856-6454BFD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用途與改動有記錄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輸出格式更穩定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遇資料不足會追問或標記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沒有捏造引用或課程事實</a:t>
            </a:r>
          </a:p>
        </p:txBody>
      </p:sp>
      <p:sp>
        <p:nvSpPr>
          <p:cNvPr id="19" name="text-771">
            <a:extLst xmlns:a="http://schemas.openxmlformats.org/drawingml/2006/main">
              <a:ext uri="{FF2B5EF4-FFF2-40B4-BE49-F238E27FC236}">
                <a16:creationId xmlns:a16="http://schemas.microsoft.com/office/drawing/2014/main" id="{6C54C4B2-42FC-4FB9-A6AC-1060C5BE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2590dc6ad6d4077"/>
              </a:rPr>
              <a:t>建立／查看 Gem ↗</a:t>
            </a:r>
          </a:p>
        </p:txBody>
      </p:sp>
      <p:sp>
        <p:nvSpPr>
          <p:cNvPr id="20" name="shape-827">
            <a:extLst xmlns:a="http://schemas.openxmlformats.org/drawingml/2006/main">
              <a:ext uri="{FF2B5EF4-FFF2-40B4-BE49-F238E27FC236}">
                <a16:creationId xmlns:a16="http://schemas.microsoft.com/office/drawing/2014/main" id="{A6F43751-52CE-45E5-B73A-E3E1E429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321cfa1924d4c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828">
            <a:extLst xmlns:a="http://schemas.openxmlformats.org/drawingml/2006/main">
              <a:ext uri="{FF2B5EF4-FFF2-40B4-BE49-F238E27FC236}">
                <a16:creationId xmlns:a16="http://schemas.microsoft.com/office/drawing/2014/main" id="{D41D9EA6-4FE9-4ECD-82C4-FEE7650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1230905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75">
            <a:extLst xmlns:a="http://schemas.openxmlformats.org/drawingml/2006/main">
              <a:ext uri="{FF2B5EF4-FFF2-40B4-BE49-F238E27FC236}">
                <a16:creationId xmlns:a16="http://schemas.microsoft.com/office/drawing/2014/main" id="{DF2FC341-7617-4A72-8074-182BB102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QUALITY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5F1685-4F0D-4FBA-B493-C89E5454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Checkpoint｜你的 Gem 值得留下來嗎？</a:t>
            </a:r>
          </a:p>
        </p:txBody>
      </p:sp>
      <p:cxnSp>
        <p:nvCxnSpPr>
          <p:cNvPr id="28" name="shape-47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77">
            <a:extLst xmlns:a="http://schemas.openxmlformats.org/drawingml/2006/main">
              <a:ext uri="{FF2B5EF4-FFF2-40B4-BE49-F238E27FC236}">
                <a16:creationId xmlns:a16="http://schemas.microsoft.com/office/drawing/2014/main" id="{4B67ACC7-D1C9-4262-8A3D-42DC922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AFA9B2-D1BB-4FD5-86C7-027985B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28</a:t>
            </a:r>
          </a:p>
        </p:txBody>
      </p:sp>
      <p:sp>
        <p:nvSpPr>
          <p:cNvPr id="6" name="shape-478">
            <a:extLst xmlns:a="http://schemas.openxmlformats.org/drawingml/2006/main">
              <a:ext uri="{FF2B5EF4-FFF2-40B4-BE49-F238E27FC236}">
                <a16:creationId xmlns:a16="http://schemas.microsoft.com/office/drawing/2014/main" id="{B6819968-CE6E-4D18-B078-0540F4E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479">
            <a:extLst xmlns:a="http://schemas.openxmlformats.org/drawingml/2006/main">
              <a:ext uri="{FF2B5EF4-FFF2-40B4-BE49-F238E27FC236}">
                <a16:creationId xmlns:a16="http://schemas.microsoft.com/office/drawing/2014/main" id="{927BF7AD-EABB-4FEF-94CA-F64FC0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480">
            <a:extLst xmlns:a="http://schemas.openxmlformats.org/drawingml/2006/main">
              <a:ext uri="{FF2B5EF4-FFF2-40B4-BE49-F238E27FC236}">
                <a16:creationId xmlns:a16="http://schemas.microsoft.com/office/drawing/2014/main" id="{053B7B60-7939-48BE-8D57-AEDC6327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重複</a:t>
            </a:r>
          </a:p>
        </p:txBody>
      </p:sp>
      <p:sp>
        <p:nvSpPr>
          <p:cNvPr id="9" name="text-481">
            <a:extLst xmlns:a="http://schemas.openxmlformats.org/drawingml/2006/main">
              <a:ext uri="{FF2B5EF4-FFF2-40B4-BE49-F238E27FC236}">
                <a16:creationId xmlns:a16="http://schemas.microsoft.com/office/drawing/2014/main" id="{F7C9C936-51EC-47DB-A86E-B1032E4B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這個任務一學期會出現多次，而不是只做一次。</a:t>
            </a:r>
          </a:p>
        </p:txBody>
      </p:sp>
      <p:sp>
        <p:nvSpPr>
          <p:cNvPr id="10" name="shape-482">
            <a:extLst xmlns:a="http://schemas.openxmlformats.org/drawingml/2006/main">
              <a:ext uri="{FF2B5EF4-FFF2-40B4-BE49-F238E27FC236}">
                <a16:creationId xmlns:a16="http://schemas.microsoft.com/office/drawing/2014/main" id="{690F6543-2AAE-4909-8EF4-F41F9F84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483">
            <a:extLst xmlns:a="http://schemas.openxmlformats.org/drawingml/2006/main">
              <a:ext uri="{FF2B5EF4-FFF2-40B4-BE49-F238E27FC236}">
                <a16:creationId xmlns:a16="http://schemas.microsoft.com/office/drawing/2014/main" id="{06DA577C-FCA5-4BF0-89B6-DB9EBCD3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484">
            <a:extLst xmlns:a="http://schemas.openxmlformats.org/drawingml/2006/main">
              <a:ext uri="{FF2B5EF4-FFF2-40B4-BE49-F238E27FC236}">
                <a16:creationId xmlns:a16="http://schemas.microsoft.com/office/drawing/2014/main" id="{B6C8537D-0A73-4F04-B2B7-5E1BFCEB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一致</a:t>
            </a:r>
          </a:p>
        </p:txBody>
      </p:sp>
      <p:sp>
        <p:nvSpPr>
          <p:cNvPr id="13" name="text-485">
            <a:extLst xmlns:a="http://schemas.openxmlformats.org/drawingml/2006/main">
              <a:ext uri="{FF2B5EF4-FFF2-40B4-BE49-F238E27FC236}">
                <a16:creationId xmlns:a16="http://schemas.microsoft.com/office/drawing/2014/main" id="{18812777-E45B-4421-AE5A-FD51DF3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不同輸入仍遵守相同流程、語氣與輸出欄位。</a:t>
            </a:r>
          </a:p>
        </p:txBody>
      </p:sp>
      <p:sp>
        <p:nvSpPr>
          <p:cNvPr id="14" name="shape-486">
            <a:extLst xmlns:a="http://schemas.openxmlformats.org/drawingml/2006/main">
              <a:ext uri="{FF2B5EF4-FFF2-40B4-BE49-F238E27FC236}">
                <a16:creationId xmlns:a16="http://schemas.microsoft.com/office/drawing/2014/main" id="{B560CA43-F2F4-49F9-AEFA-A026DDC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487">
            <a:extLst xmlns:a="http://schemas.openxmlformats.org/drawingml/2006/main">
              <a:ext uri="{FF2B5EF4-FFF2-40B4-BE49-F238E27FC236}">
                <a16:creationId xmlns:a16="http://schemas.microsoft.com/office/drawing/2014/main" id="{45AC5B7F-D62D-471D-9120-DEA9649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488">
            <a:extLst xmlns:a="http://schemas.openxmlformats.org/drawingml/2006/main">
              <a:ext uri="{FF2B5EF4-FFF2-40B4-BE49-F238E27FC236}">
                <a16:creationId xmlns:a16="http://schemas.microsoft.com/office/drawing/2014/main" id="{EDC36C41-762F-4469-8B5B-89256E6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可教</a:t>
            </a:r>
          </a:p>
        </p:txBody>
      </p:sp>
      <p:sp>
        <p:nvSpPr>
          <p:cNvPr id="17" name="text-489">
            <a:extLst xmlns:a="http://schemas.openxmlformats.org/drawingml/2006/main">
              <a:ext uri="{FF2B5EF4-FFF2-40B4-BE49-F238E27FC236}">
                <a16:creationId xmlns:a16="http://schemas.microsoft.com/office/drawing/2014/main" id="{848A6F8D-0A60-4D54-B695-F091A14E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同事看得懂它的用途，也知道何時不該使用。</a:t>
            </a:r>
          </a:p>
        </p:txBody>
      </p:sp>
      <p:sp>
        <p:nvSpPr>
          <p:cNvPr id="18" name="shape-490">
            <a:extLst xmlns:a="http://schemas.openxmlformats.org/drawingml/2006/main">
              <a:ext uri="{FF2B5EF4-FFF2-40B4-BE49-F238E27FC236}">
                <a16:creationId xmlns:a16="http://schemas.microsoft.com/office/drawing/2014/main" id="{31483966-F921-43C2-A5FA-C34BD3DF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491">
            <a:extLst xmlns:a="http://schemas.openxmlformats.org/drawingml/2006/main">
              <a:ext uri="{FF2B5EF4-FFF2-40B4-BE49-F238E27FC236}">
                <a16:creationId xmlns:a16="http://schemas.microsoft.com/office/drawing/2014/main" id="{E5388ED4-3EB3-4FBD-9A5D-05FA99B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492">
            <a:extLst xmlns:a="http://schemas.openxmlformats.org/drawingml/2006/main">
              <a:ext uri="{FF2B5EF4-FFF2-40B4-BE49-F238E27FC236}">
                <a16:creationId xmlns:a16="http://schemas.microsoft.com/office/drawing/2014/main" id="{C82E7E86-6F9B-4F87-8A06-08F76906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可改</a:t>
            </a:r>
          </a:p>
        </p:txBody>
      </p:sp>
      <p:sp>
        <p:nvSpPr>
          <p:cNvPr id="21" name="text-493">
            <a:extLst xmlns:a="http://schemas.openxmlformats.org/drawingml/2006/main">
              <a:ext uri="{FF2B5EF4-FFF2-40B4-BE49-F238E27FC236}">
                <a16:creationId xmlns:a16="http://schemas.microsoft.com/office/drawing/2014/main" id="{2B52F791-203E-45AF-882A-E49E1BA7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指令與背景檔案能隨課程迭代，不被鎖死。</a:t>
            </a:r>
          </a:p>
        </p:txBody>
      </p:sp>
      <p:sp>
        <p:nvSpPr>
          <p:cNvPr id="22" name="text-772">
            <a:extLst xmlns:a="http://schemas.openxmlformats.org/drawingml/2006/main">
              <a:ext uri="{FF2B5EF4-FFF2-40B4-BE49-F238E27FC236}">
                <a16:creationId xmlns:a16="http://schemas.microsoft.com/office/drawing/2014/main" id="{54F99FA2-EC17-40F2-B025-EC673EB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701f274854048ec"/>
              </a:rPr>
              <a:t>建立／查看 Gem ↗</a:t>
            </a:r>
          </a:p>
        </p:txBody>
      </p:sp>
      <p:sp>
        <p:nvSpPr>
          <p:cNvPr id="23" name="shape-829">
            <a:extLst xmlns:a="http://schemas.openxmlformats.org/drawingml/2006/main">
              <a:ext uri="{FF2B5EF4-FFF2-40B4-BE49-F238E27FC236}">
                <a16:creationId xmlns:a16="http://schemas.microsoft.com/office/drawing/2014/main" id="{BF91C3A4-039E-4AB9-8A42-E3B784A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baec7a94c42a7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830">
            <a:extLst xmlns:a="http://schemas.openxmlformats.org/drawingml/2006/main">
              <a:ext uri="{FF2B5EF4-FFF2-40B4-BE49-F238E27FC236}">
                <a16:creationId xmlns:a16="http://schemas.microsoft.com/office/drawing/2014/main" id="{244FD214-4500-4E94-ADF6-FCE64E3A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415727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94">
            <a:extLst xmlns:a="http://schemas.openxmlformats.org/drawingml/2006/main">
              <a:ext uri="{FF2B5EF4-FFF2-40B4-BE49-F238E27FC236}">
                <a16:creationId xmlns:a16="http://schemas.microsoft.com/office/drawing/2014/main" id="{396F510F-6A04-45AF-AE0E-58CA9723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" name="text-495">
            <a:extLst xmlns:a="http://schemas.openxmlformats.org/drawingml/2006/main">
              <a:ext uri="{FF2B5EF4-FFF2-40B4-BE49-F238E27FC236}">
                <a16:creationId xmlns:a16="http://schemas.microsoft.com/office/drawing/2014/main" id="{9A0A1A9F-D463-4D2D-B1BA-64991DEB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Canvas</a:t>
            </a:r>
          </a:p>
        </p:txBody>
      </p:sp>
      <p:sp>
        <p:nvSpPr>
          <p:cNvPr id="3" name="text-496">
            <a:extLst xmlns:a="http://schemas.openxmlformats.org/drawingml/2006/main">
              <a:ext uri="{FF2B5EF4-FFF2-40B4-BE49-F238E27FC236}">
                <a16:creationId xmlns:a16="http://schemas.microsoft.com/office/drawing/2014/main" id="{1D753B96-139F-4D18-9374-182AD62B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把文字想法變成可預覽、可修改、可分享的文件、程式與互動教學作品。</a:t>
            </a:r>
          </a:p>
        </p:txBody>
      </p:sp>
      <p:sp>
        <p:nvSpPr>
          <p:cNvPr id="4" name="shape-497">
            <a:extLst xmlns:a="http://schemas.openxmlformats.org/drawingml/2006/main">
              <a:ext uri="{FF2B5EF4-FFF2-40B4-BE49-F238E27FC236}">
                <a16:creationId xmlns:a16="http://schemas.microsoft.com/office/drawing/2014/main" id="{26113433-001B-42CC-B531-67EF82F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98">
            <a:extLst xmlns:a="http://schemas.openxmlformats.org/drawingml/2006/main">
              <a:ext uri="{FF2B5EF4-FFF2-40B4-BE49-F238E27FC236}">
                <a16:creationId xmlns:a16="http://schemas.microsoft.com/office/drawing/2014/main" id="{BD1C7544-8F86-406F-84F0-E7540524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8" name="shape-49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text-500">
            <a:extLst xmlns:a="http://schemas.openxmlformats.org/drawingml/2006/main">
              <a:ext uri="{FF2B5EF4-FFF2-40B4-BE49-F238E27FC236}">
                <a16:creationId xmlns:a16="http://schemas.microsoft.com/office/drawing/2014/main" id="{292E32FB-3446-4ABE-9698-D7BC2CC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7F9928-A303-4FE0-B49C-8BE6C5D0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29</a:t>
            </a:r>
          </a:p>
        </p:txBody>
      </p:sp>
      <p:sp>
        <p:nvSpPr>
          <p:cNvPr id="9" name="text-773">
            <a:extLst xmlns:a="http://schemas.openxmlformats.org/drawingml/2006/main">
              <a:ext uri="{FF2B5EF4-FFF2-40B4-BE49-F238E27FC236}">
                <a16:creationId xmlns:a16="http://schemas.microsoft.com/office/drawing/2014/main" id="{D3CE3E9B-AE3A-47A9-A775-B4ADF1C0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98f3a11b49149b7"/>
              </a:rPr>
              <a:t>開啟 Gemini Canvas ↗</a:t>
            </a:r>
          </a:p>
        </p:txBody>
      </p:sp>
      <p:sp>
        <p:nvSpPr>
          <p:cNvPr id="10" name="shape-831">
            <a:extLst xmlns:a="http://schemas.openxmlformats.org/drawingml/2006/main">
              <a:ext uri="{FF2B5EF4-FFF2-40B4-BE49-F238E27FC236}">
                <a16:creationId xmlns:a16="http://schemas.microsoft.com/office/drawing/2014/main" id="{C1428D41-6336-4A25-B5E2-CE7EAC17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529ba5eb4718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832">
            <a:extLst xmlns:a="http://schemas.openxmlformats.org/drawingml/2006/main">
              <a:ext uri="{FF2B5EF4-FFF2-40B4-BE49-F238E27FC236}">
                <a16:creationId xmlns:a16="http://schemas.microsoft.com/office/drawing/2014/main" id="{B0CCFCD4-2CC5-4862-85BA-91935718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13664119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501">
            <a:extLst xmlns:a="http://schemas.openxmlformats.org/drawingml/2006/main">
              <a:ext uri="{FF2B5EF4-FFF2-40B4-BE49-F238E27FC236}">
                <a16:creationId xmlns:a16="http://schemas.microsoft.com/office/drawing/2014/main" id="{C03F7BAE-E2FD-40FD-8CD5-661C6849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CANVAS PROMPT · MEETING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C19071-84E5-4D6A-80A9-B5F7583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教師會議紀錄系統的 Canvas 提示詞公式</a:t>
            </a:r>
          </a:p>
        </p:txBody>
      </p:sp>
      <p:cxnSp>
        <p:nvCxnSpPr>
          <p:cNvPr id="28" name="shape-50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03">
            <a:extLst xmlns:a="http://schemas.openxmlformats.org/drawingml/2006/main">
              <a:ext uri="{FF2B5EF4-FFF2-40B4-BE49-F238E27FC236}">
                <a16:creationId xmlns:a16="http://schemas.microsoft.com/office/drawing/2014/main" id="{EE838A17-BD04-45A9-AF92-DE1C0DC7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B33B02-CED9-4CDD-B914-B717CEC0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30</a:t>
            </a:r>
          </a:p>
        </p:txBody>
      </p:sp>
      <p:sp>
        <p:nvSpPr>
          <p:cNvPr id="6" name="shape-504">
            <a:extLst xmlns:a="http://schemas.openxmlformats.org/drawingml/2006/main">
              <a:ext uri="{FF2B5EF4-FFF2-40B4-BE49-F238E27FC236}">
                <a16:creationId xmlns:a16="http://schemas.microsoft.com/office/drawing/2014/main" id="{7E6C4EA0-C419-43BB-A7D9-4C093164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505">
            <a:extLst xmlns:a="http://schemas.openxmlformats.org/drawingml/2006/main">
              <a:ext uri="{FF2B5EF4-FFF2-40B4-BE49-F238E27FC236}">
                <a16:creationId xmlns:a16="http://schemas.microsoft.com/office/drawing/2014/main" id="{7ED85281-D9B4-4F25-97C1-C3FC0490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506">
            <a:extLst xmlns:a="http://schemas.openxmlformats.org/drawingml/2006/main">
              <a:ext uri="{FF2B5EF4-FFF2-40B4-BE49-F238E27FC236}">
                <a16:creationId xmlns:a16="http://schemas.microsoft.com/office/drawing/2014/main" id="{8D6699EE-29E8-4EE8-8237-F19BAB6B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資料輸入</a:t>
            </a:r>
          </a:p>
        </p:txBody>
      </p:sp>
      <p:sp>
        <p:nvSpPr>
          <p:cNvPr id="9" name="text-507">
            <a:extLst xmlns:a="http://schemas.openxmlformats.org/drawingml/2006/main">
              <a:ext uri="{FF2B5EF4-FFF2-40B4-BE49-F238E27FC236}">
                <a16:creationId xmlns:a16="http://schemas.microsoft.com/office/drawing/2014/main" id="{0C009573-1A8E-479E-86B9-CA8AB83E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會議日期、議程、逐字稿或摘要；先用一筆合成資料示範。</a:t>
            </a:r>
          </a:p>
        </p:txBody>
      </p:sp>
      <p:sp>
        <p:nvSpPr>
          <p:cNvPr id="10" name="shape-508">
            <a:extLst xmlns:a="http://schemas.openxmlformats.org/drawingml/2006/main">
              <a:ext uri="{FF2B5EF4-FFF2-40B4-BE49-F238E27FC236}">
                <a16:creationId xmlns:a16="http://schemas.microsoft.com/office/drawing/2014/main" id="{5CF47B3B-A8BC-448A-B107-0173075C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509">
            <a:extLst xmlns:a="http://schemas.openxmlformats.org/drawingml/2006/main">
              <a:ext uri="{FF2B5EF4-FFF2-40B4-BE49-F238E27FC236}">
                <a16:creationId xmlns:a16="http://schemas.microsoft.com/office/drawing/2014/main" id="{441801F7-EE9E-42F1-BA33-40299DC9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510">
            <a:extLst xmlns:a="http://schemas.openxmlformats.org/drawingml/2006/main">
              <a:ext uri="{FF2B5EF4-FFF2-40B4-BE49-F238E27FC236}">
                <a16:creationId xmlns:a16="http://schemas.microsoft.com/office/drawing/2014/main" id="{A074D879-090C-4D4A-BFEC-4694763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工作流程</a:t>
            </a:r>
          </a:p>
        </p:txBody>
      </p:sp>
      <p:sp>
        <p:nvSpPr>
          <p:cNvPr id="13" name="text-511">
            <a:extLst xmlns:a="http://schemas.openxmlformats.org/drawingml/2006/main">
              <a:ext uri="{FF2B5EF4-FFF2-40B4-BE49-F238E27FC236}">
                <a16:creationId xmlns:a16="http://schemas.microsoft.com/office/drawing/2014/main" id="{A3648273-8479-44BE-A796-88B89EC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把重點、決議、待辦、承辦人與期限變成可查詢欄位。</a:t>
            </a:r>
          </a:p>
        </p:txBody>
      </p:sp>
      <p:sp>
        <p:nvSpPr>
          <p:cNvPr id="14" name="shape-512">
            <a:extLst xmlns:a="http://schemas.openxmlformats.org/drawingml/2006/main">
              <a:ext uri="{FF2B5EF4-FFF2-40B4-BE49-F238E27FC236}">
                <a16:creationId xmlns:a16="http://schemas.microsoft.com/office/drawing/2014/main" id="{2AC9B2C2-9BD9-4AB9-A17D-03736D83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513">
            <a:extLst xmlns:a="http://schemas.openxmlformats.org/drawingml/2006/main">
              <a:ext uri="{FF2B5EF4-FFF2-40B4-BE49-F238E27FC236}">
                <a16:creationId xmlns:a16="http://schemas.microsoft.com/office/drawing/2014/main" id="{811A9FE9-BF03-44BB-A336-46C9E959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514">
            <a:extLst xmlns:a="http://schemas.openxmlformats.org/drawingml/2006/main">
              <a:ext uri="{FF2B5EF4-FFF2-40B4-BE49-F238E27FC236}">
                <a16:creationId xmlns:a16="http://schemas.microsoft.com/office/drawing/2014/main" id="{6831574A-9187-4171-809A-9568AC6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互動介面</a:t>
            </a:r>
          </a:p>
        </p:txBody>
      </p:sp>
      <p:sp>
        <p:nvSpPr>
          <p:cNvPr id="17" name="text-515">
            <a:extLst xmlns:a="http://schemas.openxmlformats.org/drawingml/2006/main">
              <a:ext uri="{FF2B5EF4-FFF2-40B4-BE49-F238E27FC236}">
                <a16:creationId xmlns:a16="http://schemas.microsoft.com/office/drawing/2014/main" id="{405C07A5-82B3-4E4E-AA98-65461086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加入搜尋、篩選、展開、匯出與手機操作，讓紀錄真的能被使用。</a:t>
            </a:r>
          </a:p>
        </p:txBody>
      </p:sp>
      <p:sp>
        <p:nvSpPr>
          <p:cNvPr id="18" name="shape-516">
            <a:extLst xmlns:a="http://schemas.openxmlformats.org/drawingml/2006/main">
              <a:ext uri="{FF2B5EF4-FFF2-40B4-BE49-F238E27FC236}">
                <a16:creationId xmlns:a16="http://schemas.microsoft.com/office/drawing/2014/main" id="{7A1E6BA0-A05A-4B43-B32B-7456213C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517">
            <a:extLst xmlns:a="http://schemas.openxmlformats.org/drawingml/2006/main">
              <a:ext uri="{FF2B5EF4-FFF2-40B4-BE49-F238E27FC236}">
                <a16:creationId xmlns:a16="http://schemas.microsoft.com/office/drawing/2014/main" id="{BD2C752A-EFC0-4545-B645-8BA8D56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518">
            <a:extLst xmlns:a="http://schemas.openxmlformats.org/drawingml/2006/main">
              <a:ext uri="{FF2B5EF4-FFF2-40B4-BE49-F238E27FC236}">
                <a16:creationId xmlns:a16="http://schemas.microsoft.com/office/drawing/2014/main" id="{900865DE-E518-4955-BCD8-B55EE60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部署驗收</a:t>
            </a:r>
          </a:p>
        </p:txBody>
      </p:sp>
      <p:sp>
        <p:nvSpPr>
          <p:cNvPr id="21" name="text-519">
            <a:extLst xmlns:a="http://schemas.openxmlformats.org/drawingml/2006/main">
              <a:ext uri="{FF2B5EF4-FFF2-40B4-BE49-F238E27FC236}">
                <a16:creationId xmlns:a16="http://schemas.microsoft.com/office/drawing/2014/main" id="{3A266F11-F460-4E20-BEBB-1F828E1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單檔 RWD、無個資、可嵌入 Google Sites，並列出權限與備援方案。</a:t>
            </a:r>
          </a:p>
        </p:txBody>
      </p:sp>
      <p:sp>
        <p:nvSpPr>
          <p:cNvPr id="22" name="text-774">
            <a:extLst xmlns:a="http://schemas.openxmlformats.org/drawingml/2006/main">
              <a:ext uri="{FF2B5EF4-FFF2-40B4-BE49-F238E27FC236}">
                <a16:creationId xmlns:a16="http://schemas.microsoft.com/office/drawing/2014/main" id="{C6009B35-9EA1-44D1-BE70-2A1ED2F9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e9e8f92df9946a6"/>
              </a:rPr>
              <a:t>開啟 Gemini Canvas ↗</a:t>
            </a:r>
          </a:p>
        </p:txBody>
      </p:sp>
      <p:sp>
        <p:nvSpPr>
          <p:cNvPr id="23" name="shape-833">
            <a:extLst xmlns:a="http://schemas.openxmlformats.org/drawingml/2006/main">
              <a:ext uri="{FF2B5EF4-FFF2-40B4-BE49-F238E27FC236}">
                <a16:creationId xmlns:a16="http://schemas.microsoft.com/office/drawing/2014/main" id="{11036B97-1A69-45FD-9862-B229A39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b3478f08344a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834">
            <a:extLst xmlns:a="http://schemas.openxmlformats.org/drawingml/2006/main">
              <a:ext uri="{FF2B5EF4-FFF2-40B4-BE49-F238E27FC236}">
                <a16:creationId xmlns:a16="http://schemas.microsoft.com/office/drawing/2014/main" id="{BE2DFA22-0D21-49B9-869C-F7AC282F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10717693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520">
            <a:extLst xmlns:a="http://schemas.openxmlformats.org/drawingml/2006/main">
              <a:ext uri="{FF2B5EF4-FFF2-40B4-BE49-F238E27FC236}">
                <a16:creationId xmlns:a16="http://schemas.microsoft.com/office/drawing/2014/main" id="{B70AD7A0-E1FE-415B-A44C-E44FCF2B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LIVE DEMO · CANVAS → GOOGLE SITES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E0F67-C595-4521-A548-7EF9093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示範：教師會議紀錄線上系統</a:t>
            </a:r>
          </a:p>
        </p:txBody>
      </p:sp>
      <p:cxnSp>
        <p:nvCxnSpPr>
          <p:cNvPr id="38" name="shape-52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22">
            <a:extLst xmlns:a="http://schemas.openxmlformats.org/drawingml/2006/main">
              <a:ext uri="{FF2B5EF4-FFF2-40B4-BE49-F238E27FC236}">
                <a16:creationId xmlns:a16="http://schemas.microsoft.com/office/drawing/2014/main" id="{304B2BC4-7131-423E-B1FD-A6B28C09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5BB639-7362-4C1F-AF76-DA5A3CF2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31</a:t>
            </a:r>
          </a:p>
        </p:txBody>
      </p:sp>
      <p:sp>
        <p:nvSpPr>
          <p:cNvPr id="6" name="shape-523">
            <a:extLst xmlns:a="http://schemas.openxmlformats.org/drawingml/2006/main">
              <a:ext uri="{FF2B5EF4-FFF2-40B4-BE49-F238E27FC236}">
                <a16:creationId xmlns:a16="http://schemas.microsoft.com/office/drawing/2014/main" id="{A8A46262-83CB-414A-887F-46FC102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524">
            <a:extLst xmlns:a="http://schemas.openxmlformats.org/drawingml/2006/main">
              <a:ext uri="{FF2B5EF4-FFF2-40B4-BE49-F238E27FC236}">
                <a16:creationId xmlns:a16="http://schemas.microsoft.com/office/drawing/2014/main" id="{BC430D53-0765-4F6E-A8F2-D6CC4D2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25">
            <a:extLst xmlns:a="http://schemas.openxmlformats.org/drawingml/2006/main">
              <a:ext uri="{FF2B5EF4-FFF2-40B4-BE49-F238E27FC236}">
                <a16:creationId xmlns:a16="http://schemas.microsoft.com/office/drawing/2014/main" id="{EAE58102-CC15-4E06-B27D-E4E5613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526">
            <a:extLst xmlns:a="http://schemas.openxmlformats.org/drawingml/2006/main">
              <a:ext uri="{FF2B5EF4-FFF2-40B4-BE49-F238E27FC236}">
                <a16:creationId xmlns:a16="http://schemas.microsoft.com/office/drawing/2014/main" id="{39F6E819-F634-432D-A899-7982676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規格</a:t>
            </a:r>
          </a:p>
        </p:txBody>
      </p:sp>
      <p:sp>
        <p:nvSpPr>
          <p:cNvPr id="10" name="text-527">
            <a:extLst xmlns:a="http://schemas.openxmlformats.org/drawingml/2006/main">
              <a:ext uri="{FF2B5EF4-FFF2-40B4-BE49-F238E27FC236}">
                <a16:creationId xmlns:a16="http://schemas.microsoft.com/office/drawing/2014/main" id="{ADFF71E8-1B3E-45DF-A267-A690FA1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先寫使用者、欄位與一筆合成會議資料</a:t>
            </a:r>
          </a:p>
        </p:txBody>
      </p:sp>
      <p:sp>
        <p:nvSpPr>
          <p:cNvPr id="11" name="text-528">
            <a:extLst xmlns:a="http://schemas.openxmlformats.org/drawingml/2006/main">
              <a:ext uri="{FF2B5EF4-FFF2-40B4-BE49-F238E27FC236}">
                <a16:creationId xmlns:a16="http://schemas.microsoft.com/office/drawing/2014/main" id="{AB860004-14B0-4CB1-AB10-2AD9739D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529">
            <a:extLst xmlns:a="http://schemas.openxmlformats.org/drawingml/2006/main">
              <a:ext uri="{FF2B5EF4-FFF2-40B4-BE49-F238E27FC236}">
                <a16:creationId xmlns:a16="http://schemas.microsoft.com/office/drawing/2014/main" id="{9E488567-19DA-4259-B754-CB6B002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530">
            <a:extLst xmlns:a="http://schemas.openxmlformats.org/drawingml/2006/main">
              <a:ext uri="{FF2B5EF4-FFF2-40B4-BE49-F238E27FC236}">
                <a16:creationId xmlns:a16="http://schemas.microsoft.com/office/drawing/2014/main" id="{E75FB726-3046-46DD-B862-CE361E87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31">
            <a:extLst xmlns:a="http://schemas.openxmlformats.org/drawingml/2006/main">
              <a:ext uri="{FF2B5EF4-FFF2-40B4-BE49-F238E27FC236}">
                <a16:creationId xmlns:a16="http://schemas.microsoft.com/office/drawing/2014/main" id="{55569D47-D27B-4839-A8A3-E02073C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532">
            <a:extLst xmlns:a="http://schemas.openxmlformats.org/drawingml/2006/main">
              <a:ext uri="{FF2B5EF4-FFF2-40B4-BE49-F238E27FC236}">
                <a16:creationId xmlns:a16="http://schemas.microsoft.com/office/drawing/2014/main" id="{4E98AEF3-5263-40A5-AB01-5A2F4A5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生成</a:t>
            </a:r>
          </a:p>
        </p:txBody>
      </p:sp>
      <p:sp>
        <p:nvSpPr>
          <p:cNvPr id="16" name="text-533">
            <a:extLst xmlns:a="http://schemas.openxmlformats.org/drawingml/2006/main">
              <a:ext uri="{FF2B5EF4-FFF2-40B4-BE49-F238E27FC236}">
                <a16:creationId xmlns:a16="http://schemas.microsoft.com/office/drawing/2014/main" id="{43BFF942-1AD2-4038-B3D5-301E33B0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做出重點、決議、待辦與搜尋的最小原型</a:t>
            </a:r>
          </a:p>
        </p:txBody>
      </p:sp>
      <p:sp>
        <p:nvSpPr>
          <p:cNvPr id="17" name="text-534">
            <a:extLst xmlns:a="http://schemas.openxmlformats.org/drawingml/2006/main">
              <a:ext uri="{FF2B5EF4-FFF2-40B4-BE49-F238E27FC236}">
                <a16:creationId xmlns:a16="http://schemas.microsoft.com/office/drawing/2014/main" id="{5E0282B7-43FC-427A-B52D-DAB62B7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535">
            <a:extLst xmlns:a="http://schemas.openxmlformats.org/drawingml/2006/main">
              <a:ext uri="{FF2B5EF4-FFF2-40B4-BE49-F238E27FC236}">
                <a16:creationId xmlns:a16="http://schemas.microsoft.com/office/drawing/2014/main" id="{D0F2F7B8-C1CA-4F35-A2FF-7A97D061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536">
            <a:extLst xmlns:a="http://schemas.openxmlformats.org/drawingml/2006/main">
              <a:ext uri="{FF2B5EF4-FFF2-40B4-BE49-F238E27FC236}">
                <a16:creationId xmlns:a16="http://schemas.microsoft.com/office/drawing/2014/main" id="{3CAD2775-60C5-4FEC-BCAF-3C69626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37">
            <a:extLst xmlns:a="http://schemas.openxmlformats.org/drawingml/2006/main">
              <a:ext uri="{FF2B5EF4-FFF2-40B4-BE49-F238E27FC236}">
                <a16:creationId xmlns:a16="http://schemas.microsoft.com/office/drawing/2014/main" id="{DA8D0A27-296F-40CF-943A-A983B91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538">
            <a:extLst xmlns:a="http://schemas.openxmlformats.org/drawingml/2006/main">
              <a:ext uri="{FF2B5EF4-FFF2-40B4-BE49-F238E27FC236}">
                <a16:creationId xmlns:a16="http://schemas.microsoft.com/office/drawing/2014/main" id="{721234F5-F08C-4FED-B569-3046F385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預覽</a:t>
            </a:r>
          </a:p>
        </p:txBody>
      </p:sp>
      <p:sp>
        <p:nvSpPr>
          <p:cNvPr id="22" name="text-539">
            <a:extLst xmlns:a="http://schemas.openxmlformats.org/drawingml/2006/main">
              <a:ext uri="{FF2B5EF4-FFF2-40B4-BE49-F238E27FC236}">
                <a16:creationId xmlns:a16="http://schemas.microsoft.com/office/drawing/2014/main" id="{05AD414A-A112-4650-9B76-EC18EB6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操作篩選、展開、匯出，檢查 RWD 與鍵盤路徑</a:t>
            </a:r>
          </a:p>
        </p:txBody>
      </p:sp>
      <p:sp>
        <p:nvSpPr>
          <p:cNvPr id="23" name="text-540">
            <a:extLst xmlns:a="http://schemas.openxmlformats.org/drawingml/2006/main">
              <a:ext uri="{FF2B5EF4-FFF2-40B4-BE49-F238E27FC236}">
                <a16:creationId xmlns:a16="http://schemas.microsoft.com/office/drawing/2014/main" id="{4BC5AAE1-C636-4985-A7FD-4EDBF018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541">
            <a:extLst xmlns:a="http://schemas.openxmlformats.org/drawingml/2006/main">
              <a:ext uri="{FF2B5EF4-FFF2-40B4-BE49-F238E27FC236}">
                <a16:creationId xmlns:a16="http://schemas.microsoft.com/office/drawing/2014/main" id="{3CBA972F-D8F6-40BB-98D9-6ED7AC3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542">
            <a:extLst xmlns:a="http://schemas.openxmlformats.org/drawingml/2006/main">
              <a:ext uri="{FF2B5EF4-FFF2-40B4-BE49-F238E27FC236}">
                <a16:creationId xmlns:a16="http://schemas.microsoft.com/office/drawing/2014/main" id="{9CF7551C-B1E7-42CF-A85C-999B3295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43">
            <a:extLst xmlns:a="http://schemas.openxmlformats.org/drawingml/2006/main">
              <a:ext uri="{FF2B5EF4-FFF2-40B4-BE49-F238E27FC236}">
                <a16:creationId xmlns:a16="http://schemas.microsoft.com/office/drawing/2014/main" id="{A93B193F-E5F7-4E6E-92AD-2C6E792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544">
            <a:extLst xmlns:a="http://schemas.openxmlformats.org/drawingml/2006/main">
              <a:ext uri="{FF2B5EF4-FFF2-40B4-BE49-F238E27FC236}">
                <a16:creationId xmlns:a16="http://schemas.microsoft.com/office/drawing/2014/main" id="{3ACAD511-F0EE-42B3-AF93-411097F9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迭代</a:t>
            </a:r>
          </a:p>
        </p:txBody>
      </p:sp>
      <p:sp>
        <p:nvSpPr>
          <p:cNvPr id="28" name="text-545">
            <a:extLst xmlns:a="http://schemas.openxmlformats.org/drawingml/2006/main">
              <a:ext uri="{FF2B5EF4-FFF2-40B4-BE49-F238E27FC236}">
                <a16:creationId xmlns:a16="http://schemas.microsoft.com/office/drawing/2014/main" id="{599AC467-482E-421A-A132-530ED97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修正權限、無障礙與嵌入限制，再交給 Google Sites</a:t>
            </a:r>
          </a:p>
        </p:txBody>
      </p:sp>
      <p:sp>
        <p:nvSpPr>
          <p:cNvPr id="29" name="text-546">
            <a:extLst xmlns:a="http://schemas.openxmlformats.org/drawingml/2006/main">
              <a:ext uri="{FF2B5EF4-FFF2-40B4-BE49-F238E27FC236}">
                <a16:creationId xmlns:a16="http://schemas.microsoft.com/office/drawing/2014/main" id="{9005F919-100E-4560-94AD-068F7D9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775">
            <a:extLst xmlns:a="http://schemas.openxmlformats.org/drawingml/2006/main">
              <a:ext uri="{FF2B5EF4-FFF2-40B4-BE49-F238E27FC236}">
                <a16:creationId xmlns:a16="http://schemas.microsoft.com/office/drawing/2014/main" id="{DB87343C-CB61-4FA0-A3DF-F05BD567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4a584585ffa46fb"/>
              </a:rPr>
              <a:t>Canvas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a7f34f7e2b74410"/>
              </a:rPr>
              <a:t>會議紀錄系統 ↗</a:t>
            </a:r>
          </a:p>
        </p:txBody>
      </p:sp>
      <p:sp>
        <p:nvSpPr>
          <p:cNvPr id="31" name="shape-835">
            <a:extLst xmlns:a="http://schemas.openxmlformats.org/drawingml/2006/main">
              <a:ext uri="{FF2B5EF4-FFF2-40B4-BE49-F238E27FC236}">
                <a16:creationId xmlns:a16="http://schemas.microsoft.com/office/drawing/2014/main" id="{6E07963E-C5B2-4AA0-9972-94EF8A8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2b05cec424824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836">
            <a:extLst xmlns:a="http://schemas.openxmlformats.org/drawingml/2006/main">
              <a:ext uri="{FF2B5EF4-FFF2-40B4-BE49-F238E27FC236}">
                <a16:creationId xmlns:a16="http://schemas.microsoft.com/office/drawing/2014/main" id="{A422D863-5D61-4414-A3F0-DA56FAB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71f3b6ae04f06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837">
            <a:extLst xmlns:a="http://schemas.openxmlformats.org/drawingml/2006/main">
              <a:ext uri="{FF2B5EF4-FFF2-40B4-BE49-F238E27FC236}">
                <a16:creationId xmlns:a16="http://schemas.microsoft.com/office/drawing/2014/main" id="{B752C419-0F19-433C-BF63-A8470D1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</p:spTree>
    <p:extLst>
      <p:ext uri="{BB962C8B-B14F-4D97-AF65-F5344CB8AC3E}">
        <p14:creationId xmlns:p14="http://schemas.microsoft.com/office/powerpoint/2010/main" val="1732653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47">
            <a:extLst xmlns:a="http://schemas.openxmlformats.org/drawingml/2006/main">
              <a:ext uri="{FF2B5EF4-FFF2-40B4-BE49-F238E27FC236}">
                <a16:creationId xmlns:a16="http://schemas.microsoft.com/office/drawing/2014/main" id="{DC3C28DA-6B0B-47AF-BA3D-F9C50BA6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495D46-D78B-4D1A-8580-C826D757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實作三｜Canvas 會議紀錄 × Google Sites</a:t>
            </a:r>
          </a:p>
        </p:txBody>
      </p:sp>
      <p:cxnSp>
        <p:nvCxnSpPr>
          <p:cNvPr id="29" name="shape-54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49">
            <a:extLst xmlns:a="http://schemas.openxmlformats.org/drawingml/2006/main">
              <a:ext uri="{FF2B5EF4-FFF2-40B4-BE49-F238E27FC236}">
                <a16:creationId xmlns:a16="http://schemas.microsoft.com/office/drawing/2014/main" id="{92A1F244-BA68-451B-BE48-97656AF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B64BAE-D1B3-4CCA-BA76-7238399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32</a:t>
            </a:r>
          </a:p>
        </p:txBody>
      </p:sp>
      <p:sp>
        <p:nvSpPr>
          <p:cNvPr id="6" name="text-550">
            <a:extLst xmlns:a="http://schemas.openxmlformats.org/drawingml/2006/main">
              <a:ext uri="{FF2B5EF4-FFF2-40B4-BE49-F238E27FC236}">
                <a16:creationId xmlns:a16="http://schemas.microsoft.com/office/drawing/2014/main" id="{3F8F0979-13E4-4691-9E6A-A4DAB34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551">
            <a:extLst xmlns:a="http://schemas.openxmlformats.org/drawingml/2006/main">
              <a:ext uri="{FF2B5EF4-FFF2-40B4-BE49-F238E27FC236}">
                <a16:creationId xmlns:a16="http://schemas.microsoft.com/office/drawing/2014/main" id="{F59C5417-8FA1-419A-87A3-A21455E0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552">
            <a:extLst xmlns:a="http://schemas.openxmlformats.org/drawingml/2006/main">
              <a:ext uri="{FF2B5EF4-FFF2-40B4-BE49-F238E27FC236}">
                <a16:creationId xmlns:a16="http://schemas.microsoft.com/office/drawing/2014/main" id="{4B879094-9490-4A59-8BE3-02DCA0D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553">
            <a:extLst xmlns:a="http://schemas.openxmlformats.org/drawingml/2006/main">
              <a:ext uri="{FF2B5EF4-FFF2-40B4-BE49-F238E27FC236}">
                <a16:creationId xmlns:a16="http://schemas.microsoft.com/office/drawing/2014/main" id="{BE5B5000-5AEE-450F-95C2-945A34A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在 Canvas 生成含重點、決議、待辦與搜尋的最小原型</a:t>
            </a:r>
          </a:p>
        </p:txBody>
      </p:sp>
      <p:sp>
        <p:nvSpPr>
          <p:cNvPr id="10" name="text-554">
            <a:extLst xmlns:a="http://schemas.openxmlformats.org/drawingml/2006/main">
              <a:ext uri="{FF2B5EF4-FFF2-40B4-BE49-F238E27FC236}">
                <a16:creationId xmlns:a16="http://schemas.microsoft.com/office/drawing/2014/main" id="{41F2BA90-1E8C-469A-B0FB-8155C46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555">
            <a:extLst xmlns:a="http://schemas.openxmlformats.org/drawingml/2006/main">
              <a:ext uri="{FF2B5EF4-FFF2-40B4-BE49-F238E27FC236}">
                <a16:creationId xmlns:a16="http://schemas.microsoft.com/office/drawing/2014/main" id="{C033A8EE-B1FB-4655-A484-F410EFF2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用合成會議資料測試篩選、展開、匯出與手機版</a:t>
            </a:r>
          </a:p>
        </p:txBody>
      </p:sp>
      <p:sp>
        <p:nvSpPr>
          <p:cNvPr id="12" name="text-556">
            <a:extLst xmlns:a="http://schemas.openxmlformats.org/drawingml/2006/main">
              <a:ext uri="{FF2B5EF4-FFF2-40B4-BE49-F238E27FC236}">
                <a16:creationId xmlns:a16="http://schemas.microsoft.com/office/drawing/2014/main" id="{9E09965C-88D7-4BF6-8A20-48F878C7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557">
            <a:extLst xmlns:a="http://schemas.openxmlformats.org/drawingml/2006/main">
              <a:ext uri="{FF2B5EF4-FFF2-40B4-BE49-F238E27FC236}">
                <a16:creationId xmlns:a16="http://schemas.microsoft.com/office/drawing/2014/main" id="{9178AE02-460E-42AA-B355-799FC9E0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複製分享網址或嵌入碼，於 Google Sites 插入 → 嵌入 → 預覽</a:t>
            </a:r>
          </a:p>
        </p:txBody>
      </p:sp>
      <p:sp>
        <p:nvSpPr>
          <p:cNvPr id="14" name="text-558">
            <a:extLst xmlns:a="http://schemas.openxmlformats.org/drawingml/2006/main">
              <a:ext uri="{FF2B5EF4-FFF2-40B4-BE49-F238E27FC236}">
                <a16:creationId xmlns:a16="http://schemas.microsoft.com/office/drawing/2014/main" id="{93CC8270-BFB8-45EB-A932-30EC68D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559">
            <a:extLst xmlns:a="http://schemas.openxmlformats.org/drawingml/2006/main">
              <a:ext uri="{FF2B5EF4-FFF2-40B4-BE49-F238E27FC236}">
                <a16:creationId xmlns:a16="http://schemas.microsoft.com/office/drawing/2014/main" id="{729E20B8-A001-4B3B-9AD7-790EA4AA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發布前檢查權限；若 X-Frame 被阻擋，保留外開連結作備援</a:t>
            </a:r>
          </a:p>
        </p:txBody>
      </p:sp>
      <p:sp>
        <p:nvSpPr>
          <p:cNvPr id="16" name="shape-560">
            <a:extLst xmlns:a="http://schemas.openxmlformats.org/drawingml/2006/main">
              <a:ext uri="{FF2B5EF4-FFF2-40B4-BE49-F238E27FC236}">
                <a16:creationId xmlns:a16="http://schemas.microsoft.com/office/drawing/2014/main" id="{BAB22FA1-9004-4CCF-BC3B-9294102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561">
            <a:extLst xmlns:a="http://schemas.openxmlformats.org/drawingml/2006/main">
              <a:ext uri="{FF2B5EF4-FFF2-40B4-BE49-F238E27FC236}">
                <a16:creationId xmlns:a16="http://schemas.microsoft.com/office/drawing/2014/main" id="{FF6D7E88-8E5D-4B8A-843A-922AD5FF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562">
            <a:extLst xmlns:a="http://schemas.openxmlformats.org/drawingml/2006/main">
              <a:ext uri="{FF2B5EF4-FFF2-40B4-BE49-F238E27FC236}">
                <a16:creationId xmlns:a16="http://schemas.microsoft.com/office/drawing/2014/main" id="{2767D8C6-67FA-40FD-9A2C-2408790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桌機／手機都能完成主要操作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至少一筆會議紀錄可查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Google Sites 預覽成功或有外開備援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不含個資且保留人工確認</a:t>
            </a:r>
          </a:p>
        </p:txBody>
      </p:sp>
      <p:sp>
        <p:nvSpPr>
          <p:cNvPr id="19" name="text-776">
            <a:extLst xmlns:a="http://schemas.openxmlformats.org/drawingml/2006/main">
              <a:ext uri="{FF2B5EF4-FFF2-40B4-BE49-F238E27FC236}">
                <a16:creationId xmlns:a16="http://schemas.microsoft.com/office/drawing/2014/main" id="{534802A5-69CD-4983-A186-36AEDFBF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a541ffd8e4148a3"/>
              </a:rPr>
              <a:t>Canvas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2374c773d25409b"/>
              </a:rPr>
              <a:t>會議紀錄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5d52ccb9e8d4ca3"/>
              </a:rPr>
              <a:t>Google Sites ↗</a:t>
            </a:r>
          </a:p>
        </p:txBody>
      </p:sp>
      <p:sp>
        <p:nvSpPr>
          <p:cNvPr id="20" name="shape-838">
            <a:extLst xmlns:a="http://schemas.openxmlformats.org/drawingml/2006/main">
              <a:ext uri="{FF2B5EF4-FFF2-40B4-BE49-F238E27FC236}">
                <a16:creationId xmlns:a16="http://schemas.microsoft.com/office/drawing/2014/main" id="{DD774F9B-1CC6-443F-BA3B-BF10E08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2342f75ed4a0e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2" name="text-839">
            <a:extLst xmlns:a="http://schemas.openxmlformats.org/drawingml/2006/main">
              <a:ext uri="{FF2B5EF4-FFF2-40B4-BE49-F238E27FC236}">
                <a16:creationId xmlns:a16="http://schemas.microsoft.com/office/drawing/2014/main" id="{7EFB2CEE-200B-45C6-8801-D3D9EE68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d0f2ec0ad4851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840">
            <a:extLst xmlns:a="http://schemas.openxmlformats.org/drawingml/2006/main">
              <a:ext uri="{FF2B5EF4-FFF2-40B4-BE49-F238E27FC236}">
                <a16:creationId xmlns:a16="http://schemas.microsoft.com/office/drawing/2014/main" id="{71F60264-0956-4163-8763-248D122E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3284df5164f94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841">
            <a:extLst xmlns:a="http://schemas.openxmlformats.org/drawingml/2006/main">
              <a:ext uri="{FF2B5EF4-FFF2-40B4-BE49-F238E27FC236}">
                <a16:creationId xmlns:a16="http://schemas.microsoft.com/office/drawing/2014/main" id="{CCEA4FE5-1750-4D18-B2EA-10180601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</p:spTree>
    <p:extLst>
      <p:ext uri="{BB962C8B-B14F-4D97-AF65-F5344CB8AC3E}">
        <p14:creationId xmlns:p14="http://schemas.microsoft.com/office/powerpoint/2010/main" val="17598186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563">
            <a:extLst xmlns:a="http://schemas.openxmlformats.org/drawingml/2006/main">
              <a:ext uri="{FF2B5EF4-FFF2-40B4-BE49-F238E27FC236}">
                <a16:creationId xmlns:a16="http://schemas.microsoft.com/office/drawing/2014/main" id="{C9175E9D-1E70-4D1E-B99F-EB3C5811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PRE-PUBLISH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360B94-4BFE-41C6-9481-D55AB438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上線前 4 道門：能用，不等於能公開</a:t>
            </a:r>
          </a:p>
        </p:txBody>
      </p:sp>
      <p:cxnSp>
        <p:nvCxnSpPr>
          <p:cNvPr id="30" name="shape-56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65">
            <a:extLst xmlns:a="http://schemas.openxmlformats.org/drawingml/2006/main">
              <a:ext uri="{FF2B5EF4-FFF2-40B4-BE49-F238E27FC236}">
                <a16:creationId xmlns:a16="http://schemas.microsoft.com/office/drawing/2014/main" id="{003445A1-0BB7-432A-963E-3910CDA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71E02B-422B-4D8E-AC7F-3476E0D1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33</a:t>
            </a:r>
          </a:p>
        </p:txBody>
      </p:sp>
      <p:sp>
        <p:nvSpPr>
          <p:cNvPr id="6" name="shape-566">
            <a:extLst xmlns:a="http://schemas.openxmlformats.org/drawingml/2006/main">
              <a:ext uri="{FF2B5EF4-FFF2-40B4-BE49-F238E27FC236}">
                <a16:creationId xmlns:a16="http://schemas.microsoft.com/office/drawing/2014/main" id="{1C4963C2-12D2-4918-835A-1E0C6A85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567">
            <a:extLst xmlns:a="http://schemas.openxmlformats.org/drawingml/2006/main">
              <a:ext uri="{FF2B5EF4-FFF2-40B4-BE49-F238E27FC236}">
                <a16:creationId xmlns:a16="http://schemas.microsoft.com/office/drawing/2014/main" id="{CE2EBAF2-6470-4AA7-9422-910B8F7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568">
            <a:extLst xmlns:a="http://schemas.openxmlformats.org/drawingml/2006/main">
              <a:ext uri="{FF2B5EF4-FFF2-40B4-BE49-F238E27FC236}">
                <a16:creationId xmlns:a16="http://schemas.microsoft.com/office/drawing/2014/main" id="{0535D44B-302D-4E5C-B186-716B825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隱私</a:t>
            </a:r>
          </a:p>
        </p:txBody>
      </p:sp>
      <p:sp>
        <p:nvSpPr>
          <p:cNvPr id="9" name="text-569">
            <a:extLst xmlns:a="http://schemas.openxmlformats.org/drawingml/2006/main">
              <a:ext uri="{FF2B5EF4-FFF2-40B4-BE49-F238E27FC236}">
                <a16:creationId xmlns:a16="http://schemas.microsoft.com/office/drawing/2014/main" id="{026710CA-43B9-491C-992E-395E5FA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移除學生姓名、信箱、成績、研究參與者與敏感檔案。</a:t>
            </a:r>
          </a:p>
        </p:txBody>
      </p:sp>
      <p:sp>
        <p:nvSpPr>
          <p:cNvPr id="10" name="shape-570">
            <a:extLst xmlns:a="http://schemas.openxmlformats.org/drawingml/2006/main">
              <a:ext uri="{FF2B5EF4-FFF2-40B4-BE49-F238E27FC236}">
                <a16:creationId xmlns:a16="http://schemas.microsoft.com/office/drawing/2014/main" id="{4DB92B0C-78A9-46AC-A6AF-32A30C70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571">
            <a:extLst xmlns:a="http://schemas.openxmlformats.org/drawingml/2006/main">
              <a:ext uri="{FF2B5EF4-FFF2-40B4-BE49-F238E27FC236}">
                <a16:creationId xmlns:a16="http://schemas.microsoft.com/office/drawing/2014/main" id="{854003FA-6EEC-4183-B5F7-47ACB93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572">
            <a:extLst xmlns:a="http://schemas.openxmlformats.org/drawingml/2006/main">
              <a:ext uri="{FF2B5EF4-FFF2-40B4-BE49-F238E27FC236}">
                <a16:creationId xmlns:a16="http://schemas.microsoft.com/office/drawing/2014/main" id="{045B7160-1146-41E7-B76C-89E48343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版權</a:t>
            </a:r>
          </a:p>
        </p:txBody>
      </p:sp>
      <p:sp>
        <p:nvSpPr>
          <p:cNvPr id="13" name="text-573">
            <a:extLst xmlns:a="http://schemas.openxmlformats.org/drawingml/2006/main">
              <a:ext uri="{FF2B5EF4-FFF2-40B4-BE49-F238E27FC236}">
                <a16:creationId xmlns:a16="http://schemas.microsoft.com/office/drawing/2014/main" id="{2581933E-A2FD-43A4-AFD6-9C03EF4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確認圖片、教材、論文與範例程式的授權與引用。</a:t>
            </a:r>
          </a:p>
        </p:txBody>
      </p:sp>
      <p:sp>
        <p:nvSpPr>
          <p:cNvPr id="14" name="shape-574">
            <a:extLst xmlns:a="http://schemas.openxmlformats.org/drawingml/2006/main">
              <a:ext uri="{FF2B5EF4-FFF2-40B4-BE49-F238E27FC236}">
                <a16:creationId xmlns:a16="http://schemas.microsoft.com/office/drawing/2014/main" id="{72F77B37-7155-4E53-9A1A-A763D41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575">
            <a:extLst xmlns:a="http://schemas.openxmlformats.org/drawingml/2006/main">
              <a:ext uri="{FF2B5EF4-FFF2-40B4-BE49-F238E27FC236}">
                <a16:creationId xmlns:a16="http://schemas.microsoft.com/office/drawing/2014/main" id="{D1D2924F-47CA-4F96-A6D3-7DCE2D8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576">
            <a:extLst xmlns:a="http://schemas.openxmlformats.org/drawingml/2006/main">
              <a:ext uri="{FF2B5EF4-FFF2-40B4-BE49-F238E27FC236}">
                <a16:creationId xmlns:a16="http://schemas.microsoft.com/office/drawing/2014/main" id="{89E14736-E15C-4E2C-8AF8-9ACD911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無障礙</a:t>
            </a:r>
          </a:p>
        </p:txBody>
      </p:sp>
      <p:sp>
        <p:nvSpPr>
          <p:cNvPr id="17" name="text-577">
            <a:extLst xmlns:a="http://schemas.openxmlformats.org/drawingml/2006/main">
              <a:ext uri="{FF2B5EF4-FFF2-40B4-BE49-F238E27FC236}">
                <a16:creationId xmlns:a16="http://schemas.microsoft.com/office/drawing/2014/main" id="{7EDCB3DB-5366-41E2-B8A7-4792E7CD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文字可讀、對比足夠、鍵盤可操作、圖片有替代說明。</a:t>
            </a:r>
          </a:p>
        </p:txBody>
      </p:sp>
      <p:sp>
        <p:nvSpPr>
          <p:cNvPr id="18" name="shape-578">
            <a:extLst xmlns:a="http://schemas.openxmlformats.org/drawingml/2006/main">
              <a:ext uri="{FF2B5EF4-FFF2-40B4-BE49-F238E27FC236}">
                <a16:creationId xmlns:a16="http://schemas.microsoft.com/office/drawing/2014/main" id="{0FC60654-7BB0-413C-B895-C235C9CC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579">
            <a:extLst xmlns:a="http://schemas.openxmlformats.org/drawingml/2006/main">
              <a:ext uri="{FF2B5EF4-FFF2-40B4-BE49-F238E27FC236}">
                <a16:creationId xmlns:a16="http://schemas.microsoft.com/office/drawing/2014/main" id="{9C55A95E-3C59-4469-867F-2C93E5BF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580">
            <a:extLst xmlns:a="http://schemas.openxmlformats.org/drawingml/2006/main">
              <a:ext uri="{FF2B5EF4-FFF2-40B4-BE49-F238E27FC236}">
                <a16:creationId xmlns:a16="http://schemas.microsoft.com/office/drawing/2014/main" id="{DB2A6295-8FF3-4A17-9B84-1BF4932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跨裝置</a:t>
            </a:r>
          </a:p>
        </p:txBody>
      </p:sp>
      <p:sp>
        <p:nvSpPr>
          <p:cNvPr id="21" name="text-581">
            <a:extLst xmlns:a="http://schemas.openxmlformats.org/drawingml/2006/main">
              <a:ext uri="{FF2B5EF4-FFF2-40B4-BE49-F238E27FC236}">
                <a16:creationId xmlns:a16="http://schemas.microsoft.com/office/drawing/2014/main" id="{A01DB11B-5A9A-41CA-B901-4B6C3022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手機、平板、桌機都完成主要任務，不只看首頁。</a:t>
            </a:r>
          </a:p>
        </p:txBody>
      </p:sp>
      <p:sp>
        <p:nvSpPr>
          <p:cNvPr id="22" name="text-777">
            <a:extLst xmlns:a="http://schemas.openxmlformats.org/drawingml/2006/main">
              <a:ext uri="{FF2B5EF4-FFF2-40B4-BE49-F238E27FC236}">
                <a16:creationId xmlns:a16="http://schemas.microsoft.com/office/drawing/2014/main" id="{AD2FD277-7BCC-4828-A88F-AF889C5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3749811c1e14cfb"/>
              </a:rPr>
              <a:t>Google Sites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9c5b60022364c3f"/>
              </a:rPr>
              <a:t>會議紀錄 ↗</a:t>
            </a:r>
          </a:p>
        </p:txBody>
      </p:sp>
      <p:sp>
        <p:nvSpPr>
          <p:cNvPr id="23" name="shape-842">
            <a:extLst xmlns:a="http://schemas.openxmlformats.org/drawingml/2006/main">
              <a:ext uri="{FF2B5EF4-FFF2-40B4-BE49-F238E27FC236}">
                <a16:creationId xmlns:a16="http://schemas.microsoft.com/office/drawing/2014/main" id="{67D3ECA6-DEE7-4DD0-BFA2-EEEE2DC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f6e37bee44cb5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843">
            <a:extLst xmlns:a="http://schemas.openxmlformats.org/drawingml/2006/main">
              <a:ext uri="{FF2B5EF4-FFF2-40B4-BE49-F238E27FC236}">
                <a16:creationId xmlns:a16="http://schemas.microsoft.com/office/drawing/2014/main" id="{EBDE3849-20E4-4DEE-833F-CCB87BC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ef8e5af344a20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844">
            <a:extLst xmlns:a="http://schemas.openxmlformats.org/drawingml/2006/main">
              <a:ext uri="{FF2B5EF4-FFF2-40B4-BE49-F238E27FC236}">
                <a16:creationId xmlns:a16="http://schemas.microsoft.com/office/drawing/2014/main" id="{08017D7D-6336-46FF-8568-67CEB84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</p:spTree>
    <p:extLst>
      <p:ext uri="{BB962C8B-B14F-4D97-AF65-F5344CB8AC3E}">
        <p14:creationId xmlns:p14="http://schemas.microsoft.com/office/powerpoint/2010/main" val="13455762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582">
            <a:extLst xmlns:a="http://schemas.openxmlformats.org/drawingml/2006/main">
              <a:ext uri="{FF2B5EF4-FFF2-40B4-BE49-F238E27FC236}">
                <a16:creationId xmlns:a16="http://schemas.microsoft.com/office/drawing/2014/main" id="{FAA16A08-5C9D-4EC1-AD6B-5C86C756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GOOGLE SITES · GITHUB PAGES · EZPAGE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99CDAE-ABF2-4F15-8F6B-370E427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部署選擇：先看目的，再看技術</a:t>
            </a:r>
          </a:p>
        </p:txBody>
      </p:sp>
      <p:cxnSp>
        <p:nvCxnSpPr>
          <p:cNvPr id="28" name="shape-58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84">
            <a:extLst xmlns:a="http://schemas.openxmlformats.org/drawingml/2006/main">
              <a:ext uri="{FF2B5EF4-FFF2-40B4-BE49-F238E27FC236}">
                <a16:creationId xmlns:a16="http://schemas.microsoft.com/office/drawing/2014/main" id="{C6C2267C-73E3-4A9F-ADA5-800ED771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8B9835-F360-405B-932E-5033F60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34</a:t>
            </a:r>
          </a:p>
        </p:txBody>
      </p:sp>
      <p:sp>
        <p:nvSpPr>
          <p:cNvPr id="6" name="shape-585">
            <a:extLst xmlns:a="http://schemas.openxmlformats.org/drawingml/2006/main">
              <a:ext uri="{FF2B5EF4-FFF2-40B4-BE49-F238E27FC236}">
                <a16:creationId xmlns:a16="http://schemas.microsoft.com/office/drawing/2014/main" id="{245BACDE-11DB-4499-980E-ABAB8DBA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586">
            <a:extLst xmlns:a="http://schemas.openxmlformats.org/drawingml/2006/main">
              <a:ext uri="{FF2B5EF4-FFF2-40B4-BE49-F238E27FC236}">
                <a16:creationId xmlns:a16="http://schemas.microsoft.com/office/drawing/2014/main" id="{0F296A3A-05AD-4E09-9421-718D5FBF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587">
            <a:extLst xmlns:a="http://schemas.openxmlformats.org/drawingml/2006/main">
              <a:ext uri="{FF2B5EF4-FFF2-40B4-BE49-F238E27FC236}">
                <a16:creationId xmlns:a16="http://schemas.microsoft.com/office/drawing/2014/main" id="{65815334-35A6-4544-BEA7-75494F9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sp>
        <p:nvSpPr>
          <p:cNvPr id="9" name="text-588">
            <a:extLst xmlns:a="http://schemas.openxmlformats.org/drawingml/2006/main">
              <a:ext uri="{FF2B5EF4-FFF2-40B4-BE49-F238E27FC236}">
                <a16:creationId xmlns:a16="http://schemas.microsoft.com/office/drawing/2014/main" id="{CC8EB3D0-40BE-45EB-BC91-28F334C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適合快速整理課程入口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可直接嵌入 Canvas 作品與會議紀錄系統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拖放編輯、多人協作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維護門檻較低</a:t>
            </a:r>
          </a:p>
        </p:txBody>
      </p:sp>
      <p:sp>
        <p:nvSpPr>
          <p:cNvPr id="10" name="text-589">
            <a:extLst xmlns:a="http://schemas.openxmlformats.org/drawingml/2006/main">
              <a:ext uri="{FF2B5EF4-FFF2-40B4-BE49-F238E27FC236}">
                <a16:creationId xmlns:a16="http://schemas.microsoft.com/office/drawing/2014/main" id="{BA941B81-C899-47EF-AEEF-F8EB2B4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GitHub Pages／EZPage</a:t>
            </a:r>
          </a:p>
        </p:txBody>
      </p:sp>
      <p:sp>
        <p:nvSpPr>
          <p:cNvPr id="11" name="text-590">
            <a:extLst xmlns:a="http://schemas.openxmlformats.org/drawingml/2006/main">
              <a:ext uri="{FF2B5EF4-FFF2-40B4-BE49-F238E27FC236}">
                <a16:creationId xmlns:a16="http://schemas.microsoft.com/office/drawing/2014/main" id="{1F899B31-057D-4289-9A7F-2D2A7AC3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原生流程保留版本與程式結構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原型可改成可版本化網站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 可直接上傳 ZIP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仍要理解公開、授權與驗證</a:t>
            </a:r>
          </a:p>
        </p:txBody>
      </p:sp>
      <p:sp>
        <p:nvSpPr>
          <p:cNvPr id="12" name="text-591">
            <a:extLst xmlns:a="http://schemas.openxmlformats.org/drawingml/2006/main">
              <a:ext uri="{FF2B5EF4-FFF2-40B4-BE49-F238E27FC236}">
                <a16:creationId xmlns:a16="http://schemas.microsoft.com/office/drawing/2014/main" id="{5A0316D4-908C-4DFF-BF43-F4537A9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協作、嵌入、低門檻</a:t>
            </a:r>
          </a:p>
        </p:txBody>
      </p:sp>
      <p:sp>
        <p:nvSpPr>
          <p:cNvPr id="13" name="text-592">
            <a:extLst xmlns:a="http://schemas.openxmlformats.org/drawingml/2006/main">
              <a:ext uri="{FF2B5EF4-FFF2-40B4-BE49-F238E27FC236}">
                <a16:creationId xmlns:a16="http://schemas.microsoft.com/office/drawing/2014/main" id="{F170B5A7-D8B0-473C-A310-18A6504A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768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先問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誰要維護？</a:t>
            </a:r>
          </a:p>
        </p:txBody>
      </p:sp>
      <p:sp>
        <p:nvSpPr>
          <p:cNvPr id="14" name="text-593">
            <a:extLst xmlns:a="http://schemas.openxmlformats.org/drawingml/2006/main">
              <a:ext uri="{FF2B5EF4-FFF2-40B4-BE49-F238E27FC236}">
                <a16:creationId xmlns:a16="http://schemas.microsoft.com/office/drawing/2014/main" id="{676ABD44-3D61-461E-9BFD-DE00CE91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768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程式、版本、公開</a:t>
            </a:r>
          </a:p>
        </p:txBody>
      </p:sp>
      <p:cxnSp>
        <p:nvCxnSpPr>
          <p:cNvPr id="40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067050" y="51816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05625" y="5181600"/>
            <a:ext cx="2219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866"/>
            </a:solidFill>
            <a:prstDash val="solid"/>
            <a:tailEnd type="arrow" w="sm" len="sm"/>
          </a:ln>
        </p:spPr>
      </p:cxnSp>
      <p:sp>
        <p:nvSpPr>
          <p:cNvPr id="17" name="text-594">
            <a:extLst xmlns:a="http://schemas.openxmlformats.org/drawingml/2006/main">
              <a:ext uri="{FF2B5EF4-FFF2-40B4-BE49-F238E27FC236}">
                <a16:creationId xmlns:a16="http://schemas.microsoft.com/office/drawing/2014/main" id="{623ABECB-6D2B-4D78-B30B-7228B88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9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選部署條件，不先選品牌</a:t>
            </a:r>
          </a:p>
        </p:txBody>
      </p:sp>
      <p:sp>
        <p:nvSpPr>
          <p:cNvPr id="18" name="text-778">
            <a:extLst xmlns:a="http://schemas.openxmlformats.org/drawingml/2006/main">
              <a:ext uri="{FF2B5EF4-FFF2-40B4-BE49-F238E27FC236}">
                <a16:creationId xmlns:a16="http://schemas.microsoft.com/office/drawing/2014/main" id="{A4DC2C66-DD9D-46BB-819D-E23228EE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aa80fe7c8fd4f5f"/>
              </a:rPr>
              <a:t>Google Sites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54c64ab2ee24acc"/>
              </a:rPr>
              <a:t>GitHub Pages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6ffaeaaa8174f43"/>
              </a:rPr>
              <a:t>EZPage ↗</a:t>
            </a:r>
          </a:p>
        </p:txBody>
      </p:sp>
      <p:sp>
        <p:nvSpPr>
          <p:cNvPr id="19" name="shape-845">
            <a:extLst xmlns:a="http://schemas.openxmlformats.org/drawingml/2006/main">
              <a:ext uri="{FF2B5EF4-FFF2-40B4-BE49-F238E27FC236}">
                <a16:creationId xmlns:a16="http://schemas.microsoft.com/office/drawing/2014/main" id="{BB17702E-CE41-43D2-B272-ACAF7321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6c95a34aa4d75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846">
            <a:extLst xmlns:a="http://schemas.openxmlformats.org/drawingml/2006/main">
              <a:ext uri="{FF2B5EF4-FFF2-40B4-BE49-F238E27FC236}">
                <a16:creationId xmlns:a16="http://schemas.microsoft.com/office/drawing/2014/main" id="{B8A4E063-D901-4076-BE43-6A2ED301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b20dfa3b9485f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text-847">
            <a:extLst xmlns:a="http://schemas.openxmlformats.org/drawingml/2006/main">
              <a:ext uri="{FF2B5EF4-FFF2-40B4-BE49-F238E27FC236}">
                <a16:creationId xmlns:a16="http://schemas.microsoft.com/office/drawing/2014/main" id="{691741D8-59C5-40F4-8A8F-59F6EE2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3faf658194706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848">
            <a:extLst xmlns:a="http://schemas.openxmlformats.org/drawingml/2006/main">
              <a:ext uri="{FF2B5EF4-FFF2-40B4-BE49-F238E27FC236}">
                <a16:creationId xmlns:a16="http://schemas.microsoft.com/office/drawing/2014/main" id="{8470F4D9-1DB8-42F0-9BFF-92E4CD27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EZPage</a:t>
            </a:r>
          </a:p>
        </p:txBody>
      </p:sp>
    </p:spTree>
    <p:extLst>
      <p:ext uri="{BB962C8B-B14F-4D97-AF65-F5344CB8AC3E}">
        <p14:creationId xmlns:p14="http://schemas.microsoft.com/office/powerpoint/2010/main" val="8027057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595">
            <a:extLst xmlns:a="http://schemas.openxmlformats.org/drawingml/2006/main">
              <a:ext uri="{FF2B5EF4-FFF2-40B4-BE49-F238E27FC236}">
                <a16:creationId xmlns:a16="http://schemas.microsoft.com/office/drawing/2014/main" id="{40D6761D-6CE3-4C68-94F7-B49ABDBC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PUBLISH PATH A · EMBED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B0F54C-B213-46FC-8526-436B3227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Google Sites：嵌入 Canvas 會議紀錄系統</a:t>
            </a:r>
          </a:p>
        </p:txBody>
      </p:sp>
      <p:cxnSp>
        <p:nvCxnSpPr>
          <p:cNvPr id="38" name="shape-59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97">
            <a:extLst xmlns:a="http://schemas.openxmlformats.org/drawingml/2006/main">
              <a:ext uri="{FF2B5EF4-FFF2-40B4-BE49-F238E27FC236}">
                <a16:creationId xmlns:a16="http://schemas.microsoft.com/office/drawing/2014/main" id="{ABD99DD2-F745-48EB-A36F-2ED97F05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484EBF-6B0F-421F-827B-871AAC0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35</a:t>
            </a:r>
          </a:p>
        </p:txBody>
      </p:sp>
      <p:sp>
        <p:nvSpPr>
          <p:cNvPr id="6" name="shape-598">
            <a:extLst xmlns:a="http://schemas.openxmlformats.org/drawingml/2006/main">
              <a:ext uri="{FF2B5EF4-FFF2-40B4-BE49-F238E27FC236}">
                <a16:creationId xmlns:a16="http://schemas.microsoft.com/office/drawing/2014/main" id="{34B3B10B-3CD0-49DC-BBF5-975E45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599">
            <a:extLst xmlns:a="http://schemas.openxmlformats.org/drawingml/2006/main">
              <a:ext uri="{FF2B5EF4-FFF2-40B4-BE49-F238E27FC236}">
                <a16:creationId xmlns:a16="http://schemas.microsoft.com/office/drawing/2014/main" id="{35AAF9E9-870A-4950-88A0-87AD762A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00">
            <a:extLst xmlns:a="http://schemas.openxmlformats.org/drawingml/2006/main">
              <a:ext uri="{FF2B5EF4-FFF2-40B4-BE49-F238E27FC236}">
                <a16:creationId xmlns:a16="http://schemas.microsoft.com/office/drawing/2014/main" id="{ACC673CA-2886-4874-9A1B-CEC25FBE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601">
            <a:extLst xmlns:a="http://schemas.openxmlformats.org/drawingml/2006/main">
              <a:ext uri="{FF2B5EF4-FFF2-40B4-BE49-F238E27FC236}">
                <a16:creationId xmlns:a16="http://schemas.microsoft.com/office/drawing/2014/main" id="{FCB3859A-5B84-4991-ACFB-7487EA88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準備網址</a:t>
            </a:r>
          </a:p>
        </p:txBody>
      </p:sp>
      <p:sp>
        <p:nvSpPr>
          <p:cNvPr id="10" name="text-602">
            <a:extLst xmlns:a="http://schemas.openxmlformats.org/drawingml/2006/main">
              <a:ext uri="{FF2B5EF4-FFF2-40B4-BE49-F238E27FC236}">
                <a16:creationId xmlns:a16="http://schemas.microsoft.com/office/drawing/2014/main" id="{534D541D-6485-4A23-B889-71516B9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確認 Canvas 分享權限與公開範圍</a:t>
            </a:r>
          </a:p>
        </p:txBody>
      </p:sp>
      <p:sp>
        <p:nvSpPr>
          <p:cNvPr id="11" name="text-603">
            <a:extLst xmlns:a="http://schemas.openxmlformats.org/drawingml/2006/main">
              <a:ext uri="{FF2B5EF4-FFF2-40B4-BE49-F238E27FC236}">
                <a16:creationId xmlns:a16="http://schemas.microsoft.com/office/drawing/2014/main" id="{5DB695E4-8C02-45F5-9DBC-D46354D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604">
            <a:extLst xmlns:a="http://schemas.openxmlformats.org/drawingml/2006/main">
              <a:ext uri="{FF2B5EF4-FFF2-40B4-BE49-F238E27FC236}">
                <a16:creationId xmlns:a16="http://schemas.microsoft.com/office/drawing/2014/main" id="{765F361B-8488-42D4-AD5D-7FE86367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605">
            <a:extLst xmlns:a="http://schemas.openxmlformats.org/drawingml/2006/main">
              <a:ext uri="{FF2B5EF4-FFF2-40B4-BE49-F238E27FC236}">
                <a16:creationId xmlns:a16="http://schemas.microsoft.com/office/drawing/2014/main" id="{C63D87AE-88A3-47D5-A42F-FBCEB928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06">
            <a:extLst xmlns:a="http://schemas.openxmlformats.org/drawingml/2006/main">
              <a:ext uri="{FF2B5EF4-FFF2-40B4-BE49-F238E27FC236}">
                <a16:creationId xmlns:a16="http://schemas.microsoft.com/office/drawing/2014/main" id="{74E0A185-B675-4A16-BB00-2957D558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607">
            <a:extLst xmlns:a="http://schemas.openxmlformats.org/drawingml/2006/main">
              <a:ext uri="{FF2B5EF4-FFF2-40B4-BE49-F238E27FC236}">
                <a16:creationId xmlns:a16="http://schemas.microsoft.com/office/drawing/2014/main" id="{0D2CE08A-12E9-470E-85D0-20AC735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插入嵌入</a:t>
            </a:r>
          </a:p>
        </p:txBody>
      </p:sp>
      <p:sp>
        <p:nvSpPr>
          <p:cNvPr id="16" name="text-608">
            <a:extLst xmlns:a="http://schemas.openxmlformats.org/drawingml/2006/main">
              <a:ext uri="{FF2B5EF4-FFF2-40B4-BE49-F238E27FC236}">
                <a16:creationId xmlns:a16="http://schemas.microsoft.com/office/drawing/2014/main" id="{618C60E4-15C5-4497-BC72-10915E7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頁面 → 插入 → 嵌入 → 網址／嵌入碼</a:t>
            </a:r>
          </a:p>
        </p:txBody>
      </p:sp>
      <p:sp>
        <p:nvSpPr>
          <p:cNvPr id="17" name="text-609">
            <a:extLst xmlns:a="http://schemas.openxmlformats.org/drawingml/2006/main">
              <a:ext uri="{FF2B5EF4-FFF2-40B4-BE49-F238E27FC236}">
                <a16:creationId xmlns:a16="http://schemas.microsoft.com/office/drawing/2014/main" id="{E61E2A88-4B30-40A8-8A30-0DD22ADE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610">
            <a:extLst xmlns:a="http://schemas.openxmlformats.org/drawingml/2006/main">
              <a:ext uri="{FF2B5EF4-FFF2-40B4-BE49-F238E27FC236}">
                <a16:creationId xmlns:a16="http://schemas.microsoft.com/office/drawing/2014/main" id="{D25A6CA2-1CA5-4E65-8605-427E0678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611">
            <a:extLst xmlns:a="http://schemas.openxmlformats.org/drawingml/2006/main">
              <a:ext uri="{FF2B5EF4-FFF2-40B4-BE49-F238E27FC236}">
                <a16:creationId xmlns:a16="http://schemas.microsoft.com/office/drawing/2014/main" id="{3B15D9BB-A731-403A-8064-74215EE2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12">
            <a:extLst xmlns:a="http://schemas.openxmlformats.org/drawingml/2006/main">
              <a:ext uri="{FF2B5EF4-FFF2-40B4-BE49-F238E27FC236}">
                <a16:creationId xmlns:a16="http://schemas.microsoft.com/office/drawing/2014/main" id="{9A613435-1C2B-45CA-9723-C1A6ECC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613">
            <a:extLst xmlns:a="http://schemas.openxmlformats.org/drawingml/2006/main">
              <a:ext uri="{FF2B5EF4-FFF2-40B4-BE49-F238E27FC236}">
                <a16:creationId xmlns:a16="http://schemas.microsoft.com/office/drawing/2014/main" id="{D2E972B0-B2C2-4DBE-8E2D-F8ABB65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調整版面</a:t>
            </a:r>
          </a:p>
        </p:txBody>
      </p:sp>
      <p:sp>
        <p:nvSpPr>
          <p:cNvPr id="22" name="text-614">
            <a:extLst xmlns:a="http://schemas.openxmlformats.org/drawingml/2006/main">
              <a:ext uri="{FF2B5EF4-FFF2-40B4-BE49-F238E27FC236}">
                <a16:creationId xmlns:a16="http://schemas.microsoft.com/office/drawing/2014/main" id="{189FEB12-6238-437D-8192-7C10EFB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設定寬度、說明文字，預覽手機版</a:t>
            </a:r>
          </a:p>
        </p:txBody>
      </p:sp>
      <p:sp>
        <p:nvSpPr>
          <p:cNvPr id="23" name="text-615">
            <a:extLst xmlns:a="http://schemas.openxmlformats.org/drawingml/2006/main">
              <a:ext uri="{FF2B5EF4-FFF2-40B4-BE49-F238E27FC236}">
                <a16:creationId xmlns:a16="http://schemas.microsoft.com/office/drawing/2014/main" id="{C519071C-3CDB-4B0C-8743-AFD7648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616">
            <a:extLst xmlns:a="http://schemas.openxmlformats.org/drawingml/2006/main">
              <a:ext uri="{FF2B5EF4-FFF2-40B4-BE49-F238E27FC236}">
                <a16:creationId xmlns:a16="http://schemas.microsoft.com/office/drawing/2014/main" id="{FDDE4AC3-5F13-42BB-B3B6-B56788C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617">
            <a:extLst xmlns:a="http://schemas.openxmlformats.org/drawingml/2006/main">
              <a:ext uri="{FF2B5EF4-FFF2-40B4-BE49-F238E27FC236}">
                <a16:creationId xmlns:a16="http://schemas.microsoft.com/office/drawing/2014/main" id="{9EAD857B-D710-465F-A25D-7F798E15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18">
            <a:extLst xmlns:a="http://schemas.openxmlformats.org/drawingml/2006/main">
              <a:ext uri="{FF2B5EF4-FFF2-40B4-BE49-F238E27FC236}">
                <a16:creationId xmlns:a16="http://schemas.microsoft.com/office/drawing/2014/main" id="{9E7495D6-CEE9-4D7A-8B3D-942F50A0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619">
            <a:extLst xmlns:a="http://schemas.openxmlformats.org/drawingml/2006/main">
              <a:ext uri="{FF2B5EF4-FFF2-40B4-BE49-F238E27FC236}">
                <a16:creationId xmlns:a16="http://schemas.microsoft.com/office/drawing/2014/main" id="{E92EF3E8-D5DA-4B1A-A569-FC92376C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發布驗證</a:t>
            </a:r>
          </a:p>
        </p:txBody>
      </p:sp>
      <p:sp>
        <p:nvSpPr>
          <p:cNvPr id="28" name="text-620">
            <a:extLst xmlns:a="http://schemas.openxmlformats.org/drawingml/2006/main">
              <a:ext uri="{FF2B5EF4-FFF2-40B4-BE49-F238E27FC236}">
                <a16:creationId xmlns:a16="http://schemas.microsoft.com/office/drawing/2014/main" id="{F1193A88-CCEB-4F4D-9772-A73B369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檢查權限、連結、資料邊界與外開備援</a:t>
            </a:r>
          </a:p>
        </p:txBody>
      </p:sp>
      <p:sp>
        <p:nvSpPr>
          <p:cNvPr id="29" name="text-621">
            <a:extLst xmlns:a="http://schemas.openxmlformats.org/drawingml/2006/main">
              <a:ext uri="{FF2B5EF4-FFF2-40B4-BE49-F238E27FC236}">
                <a16:creationId xmlns:a16="http://schemas.microsoft.com/office/drawing/2014/main" id="{05574F04-9C12-45C9-80FF-6932EA10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780">
            <a:extLst xmlns:a="http://schemas.openxmlformats.org/drawingml/2006/main">
              <a:ext uri="{FF2B5EF4-FFF2-40B4-BE49-F238E27FC236}">
                <a16:creationId xmlns:a16="http://schemas.microsoft.com/office/drawing/2014/main" id="{D3C150BA-13CD-4FF2-B82A-6D5D29A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1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408e62f1be14f75"/>
              </a:rPr>
              <a:t>建立 Google Sites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6d769ca8dea457f"/>
              </a:rPr>
              <a:t>會議報告站 ↗</a:t>
            </a:r>
          </a:p>
        </p:txBody>
      </p:sp>
      <p:sp>
        <p:nvSpPr>
          <p:cNvPr id="31" name="shape-853">
            <a:extLst xmlns:a="http://schemas.openxmlformats.org/drawingml/2006/main">
              <a:ext uri="{FF2B5EF4-FFF2-40B4-BE49-F238E27FC236}">
                <a16:creationId xmlns:a16="http://schemas.microsoft.com/office/drawing/2014/main" id="{0DF244A8-29F0-4A10-B4E3-1C492E3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0aa696c2e47b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854">
            <a:extLst xmlns:a="http://schemas.openxmlformats.org/drawingml/2006/main">
              <a:ext uri="{FF2B5EF4-FFF2-40B4-BE49-F238E27FC236}">
                <a16:creationId xmlns:a16="http://schemas.microsoft.com/office/drawing/2014/main" id="{C18A9B77-989B-40FB-A17E-8DC04063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0433ec4914393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855">
            <a:extLst xmlns:a="http://schemas.openxmlformats.org/drawingml/2006/main">
              <a:ext uri="{FF2B5EF4-FFF2-40B4-BE49-F238E27FC236}">
                <a16:creationId xmlns:a16="http://schemas.microsoft.com/office/drawing/2014/main" id="{4CD467B6-5302-4DF5-B5C6-DACB54E0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會議報告站</a:t>
            </a:r>
          </a:p>
        </p:txBody>
      </p:sp>
    </p:spTree>
    <p:extLst>
      <p:ext uri="{BB962C8B-B14F-4D97-AF65-F5344CB8AC3E}">
        <p14:creationId xmlns:p14="http://schemas.microsoft.com/office/powerpoint/2010/main" val="20863285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622">
            <a:extLst xmlns:a="http://schemas.openxmlformats.org/drawingml/2006/main">
              <a:ext uri="{FF2B5EF4-FFF2-40B4-BE49-F238E27FC236}">
                <a16:creationId xmlns:a16="http://schemas.microsoft.com/office/drawing/2014/main" id="{651F575B-28A0-4821-81FF-33086B6E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PUBLISH PATH 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F26FFA-6838-4BC8-ADE9-56213B0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 Pages：讓程式作品有公開網址</a:t>
            </a:r>
          </a:p>
        </p:txBody>
      </p:sp>
      <p:cxnSp>
        <p:nvCxnSpPr>
          <p:cNvPr id="40" name="shape-62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624">
            <a:extLst xmlns:a="http://schemas.openxmlformats.org/drawingml/2006/main">
              <a:ext uri="{FF2B5EF4-FFF2-40B4-BE49-F238E27FC236}">
                <a16:creationId xmlns:a16="http://schemas.microsoft.com/office/drawing/2014/main" id="{F197ED9C-7DD8-4BD4-8C24-B5C09F7D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C6C8F4-2EA0-4A7A-9C43-2BDB5D3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36</a:t>
            </a:r>
          </a:p>
        </p:txBody>
      </p:sp>
      <p:sp>
        <p:nvSpPr>
          <p:cNvPr id="6" name="shape-625">
            <a:extLst xmlns:a="http://schemas.openxmlformats.org/drawingml/2006/main">
              <a:ext uri="{FF2B5EF4-FFF2-40B4-BE49-F238E27FC236}">
                <a16:creationId xmlns:a16="http://schemas.microsoft.com/office/drawing/2014/main" id="{18851064-050F-47A1-B122-C43F30C3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626">
            <a:extLst xmlns:a="http://schemas.openxmlformats.org/drawingml/2006/main">
              <a:ext uri="{FF2B5EF4-FFF2-40B4-BE49-F238E27FC236}">
                <a16:creationId xmlns:a16="http://schemas.microsoft.com/office/drawing/2014/main" id="{E9822C74-9412-4648-8E49-B5AA05D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27">
            <a:extLst xmlns:a="http://schemas.openxmlformats.org/drawingml/2006/main">
              <a:ext uri="{FF2B5EF4-FFF2-40B4-BE49-F238E27FC236}">
                <a16:creationId xmlns:a16="http://schemas.microsoft.com/office/drawing/2014/main" id="{8F4373CC-122A-401C-8BC0-377EBA84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628">
            <a:extLst xmlns:a="http://schemas.openxmlformats.org/drawingml/2006/main">
              <a:ext uri="{FF2B5EF4-FFF2-40B4-BE49-F238E27FC236}">
                <a16:creationId xmlns:a16="http://schemas.microsoft.com/office/drawing/2014/main" id="{204C7C1D-59EE-4707-B992-CE4A1F8E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建立 repo</a:t>
            </a:r>
          </a:p>
        </p:txBody>
      </p:sp>
      <p:sp>
        <p:nvSpPr>
          <p:cNvPr id="10" name="text-629">
            <a:extLst xmlns:a="http://schemas.openxmlformats.org/drawingml/2006/main">
              <a:ext uri="{FF2B5EF4-FFF2-40B4-BE49-F238E27FC236}">
                <a16:creationId xmlns:a16="http://schemas.microsoft.com/office/drawing/2014/main" id="{92B583A0-CD58-472F-AA34-9AB48CB1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公開專案與 README</a:t>
            </a:r>
          </a:p>
        </p:txBody>
      </p:sp>
      <p:sp>
        <p:nvSpPr>
          <p:cNvPr id="11" name="text-630">
            <a:extLst xmlns:a="http://schemas.openxmlformats.org/drawingml/2006/main">
              <a:ext uri="{FF2B5EF4-FFF2-40B4-BE49-F238E27FC236}">
                <a16:creationId xmlns:a16="http://schemas.microsoft.com/office/drawing/2014/main" id="{88C6C0D5-F61A-4C09-A7FB-E6BF6A3F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631">
            <a:extLst xmlns:a="http://schemas.openxmlformats.org/drawingml/2006/main">
              <a:ext uri="{FF2B5EF4-FFF2-40B4-BE49-F238E27FC236}">
                <a16:creationId xmlns:a16="http://schemas.microsoft.com/office/drawing/2014/main" id="{C0DDE69A-905C-48B0-A386-7A035A1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632">
            <a:extLst xmlns:a="http://schemas.openxmlformats.org/drawingml/2006/main">
              <a:ext uri="{FF2B5EF4-FFF2-40B4-BE49-F238E27FC236}">
                <a16:creationId xmlns:a16="http://schemas.microsoft.com/office/drawing/2014/main" id="{A32D4B74-19CC-485B-BB4B-DF808BF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33">
            <a:extLst xmlns:a="http://schemas.openxmlformats.org/drawingml/2006/main">
              <a:ext uri="{FF2B5EF4-FFF2-40B4-BE49-F238E27FC236}">
                <a16:creationId xmlns:a16="http://schemas.microsoft.com/office/drawing/2014/main" id="{EFFDF6E7-E21B-4AED-B54B-D916BD53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634">
            <a:extLst xmlns:a="http://schemas.openxmlformats.org/drawingml/2006/main">
              <a:ext uri="{FF2B5EF4-FFF2-40B4-BE49-F238E27FC236}">
                <a16:creationId xmlns:a16="http://schemas.microsoft.com/office/drawing/2014/main" id="{A160AC8A-AD7C-4BFB-A5C6-25D879C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上傳檔案</a:t>
            </a:r>
          </a:p>
        </p:txBody>
      </p:sp>
      <p:sp>
        <p:nvSpPr>
          <p:cNvPr id="16" name="text-635">
            <a:extLst xmlns:a="http://schemas.openxmlformats.org/drawingml/2006/main">
              <a:ext uri="{FF2B5EF4-FFF2-40B4-BE49-F238E27FC236}">
                <a16:creationId xmlns:a16="http://schemas.microsoft.com/office/drawing/2014/main" id="{ED6B3FCA-D947-4015-A5B8-4EAFF6F9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index.html 與必要資產</a:t>
            </a:r>
          </a:p>
        </p:txBody>
      </p:sp>
      <p:sp>
        <p:nvSpPr>
          <p:cNvPr id="17" name="text-636">
            <a:extLst xmlns:a="http://schemas.openxmlformats.org/drawingml/2006/main">
              <a:ext uri="{FF2B5EF4-FFF2-40B4-BE49-F238E27FC236}">
                <a16:creationId xmlns:a16="http://schemas.microsoft.com/office/drawing/2014/main" id="{F015EDF6-AA63-4DB4-9EA8-A26AE86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637">
            <a:extLst xmlns:a="http://schemas.openxmlformats.org/drawingml/2006/main">
              <a:ext uri="{FF2B5EF4-FFF2-40B4-BE49-F238E27FC236}">
                <a16:creationId xmlns:a16="http://schemas.microsoft.com/office/drawing/2014/main" id="{DEEC215E-E947-4E0F-A919-A1A2C9F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638">
            <a:extLst xmlns:a="http://schemas.openxmlformats.org/drawingml/2006/main">
              <a:ext uri="{FF2B5EF4-FFF2-40B4-BE49-F238E27FC236}">
                <a16:creationId xmlns:a16="http://schemas.microsoft.com/office/drawing/2014/main" id="{48F0C157-B39C-4D08-ABC6-F9D144C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39">
            <a:extLst xmlns:a="http://schemas.openxmlformats.org/drawingml/2006/main">
              <a:ext uri="{FF2B5EF4-FFF2-40B4-BE49-F238E27FC236}">
                <a16:creationId xmlns:a16="http://schemas.microsoft.com/office/drawing/2014/main" id="{EF79848E-07B1-4095-8497-33FE6C1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640">
            <a:extLst xmlns:a="http://schemas.openxmlformats.org/drawingml/2006/main">
              <a:ext uri="{FF2B5EF4-FFF2-40B4-BE49-F238E27FC236}">
                <a16:creationId xmlns:a16="http://schemas.microsoft.com/office/drawing/2014/main" id="{303B4EA9-29AC-4B1F-BBCC-7070ADC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設定 Pages</a:t>
            </a:r>
          </a:p>
        </p:txBody>
      </p:sp>
      <p:sp>
        <p:nvSpPr>
          <p:cNvPr id="22" name="text-641">
            <a:extLst xmlns:a="http://schemas.openxmlformats.org/drawingml/2006/main">
              <a:ext uri="{FF2B5EF4-FFF2-40B4-BE49-F238E27FC236}">
                <a16:creationId xmlns:a16="http://schemas.microsoft.com/office/drawing/2014/main" id="{9B73746C-EC5A-44FD-8063-D2486076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選分支與資料夾</a:t>
            </a:r>
          </a:p>
        </p:txBody>
      </p:sp>
      <p:sp>
        <p:nvSpPr>
          <p:cNvPr id="23" name="text-642">
            <a:extLst xmlns:a="http://schemas.openxmlformats.org/drawingml/2006/main">
              <a:ext uri="{FF2B5EF4-FFF2-40B4-BE49-F238E27FC236}">
                <a16:creationId xmlns:a16="http://schemas.microsoft.com/office/drawing/2014/main" id="{54BE77EA-ABC0-4ED3-82AB-C690CFCF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643">
            <a:extLst xmlns:a="http://schemas.openxmlformats.org/drawingml/2006/main">
              <a:ext uri="{FF2B5EF4-FFF2-40B4-BE49-F238E27FC236}">
                <a16:creationId xmlns:a16="http://schemas.microsoft.com/office/drawing/2014/main" id="{5C8085DB-EA99-4EDC-8344-0C70C12D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644">
            <a:extLst xmlns:a="http://schemas.openxmlformats.org/drawingml/2006/main">
              <a:ext uri="{FF2B5EF4-FFF2-40B4-BE49-F238E27FC236}">
                <a16:creationId xmlns:a16="http://schemas.microsoft.com/office/drawing/2014/main" id="{9EE23808-C87D-4D7C-A88B-35AB7BA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45">
            <a:extLst xmlns:a="http://schemas.openxmlformats.org/drawingml/2006/main">
              <a:ext uri="{FF2B5EF4-FFF2-40B4-BE49-F238E27FC236}">
                <a16:creationId xmlns:a16="http://schemas.microsoft.com/office/drawing/2014/main" id="{EBC3FCB5-052F-4BF7-B95D-8C28174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646">
            <a:extLst xmlns:a="http://schemas.openxmlformats.org/drawingml/2006/main">
              <a:ext uri="{FF2B5EF4-FFF2-40B4-BE49-F238E27FC236}">
                <a16:creationId xmlns:a16="http://schemas.microsoft.com/office/drawing/2014/main" id="{28AD7154-07D9-41E2-B681-237E29C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驗證網址</a:t>
            </a:r>
          </a:p>
        </p:txBody>
      </p:sp>
      <p:sp>
        <p:nvSpPr>
          <p:cNvPr id="28" name="text-647">
            <a:extLst xmlns:a="http://schemas.openxmlformats.org/drawingml/2006/main">
              <a:ext uri="{FF2B5EF4-FFF2-40B4-BE49-F238E27FC236}">
                <a16:creationId xmlns:a16="http://schemas.microsoft.com/office/drawing/2014/main" id="{61E971D1-5B54-4D5F-ABD2-BAC17A3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等待部署並實際操作</a:t>
            </a:r>
          </a:p>
        </p:txBody>
      </p:sp>
      <p:sp>
        <p:nvSpPr>
          <p:cNvPr id="29" name="text-648">
            <a:extLst xmlns:a="http://schemas.openxmlformats.org/drawingml/2006/main">
              <a:ext uri="{FF2B5EF4-FFF2-40B4-BE49-F238E27FC236}">
                <a16:creationId xmlns:a16="http://schemas.microsoft.com/office/drawing/2014/main" id="{6DE2B18D-61AD-467C-B38D-79F5BFA3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shape-649">
            <a:extLst xmlns:a="http://schemas.openxmlformats.org/drawingml/2006/main">
              <a:ext uri="{FF2B5EF4-FFF2-40B4-BE49-F238E27FC236}">
                <a16:creationId xmlns:a16="http://schemas.microsoft.com/office/drawing/2014/main" id="{5407C602-FC29-425D-96C9-ABA05A3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428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1" name="text-650">
            <a:extLst xmlns:a="http://schemas.openxmlformats.org/drawingml/2006/main">
              <a:ext uri="{FF2B5EF4-FFF2-40B4-BE49-F238E27FC236}">
                <a16:creationId xmlns:a16="http://schemas.microsoft.com/office/drawing/2014/main" id="{0022891B-77B6-49C3-94C8-B80DB6EC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81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92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GH</a:t>
            </a:r>
          </a:p>
        </p:txBody>
      </p:sp>
      <p:sp>
        <p:nvSpPr>
          <p:cNvPr id="32" name="text-651">
            <a:extLst xmlns:a="http://schemas.openxmlformats.org/drawingml/2006/main">
              <a:ext uri="{FF2B5EF4-FFF2-40B4-BE49-F238E27FC236}">
                <a16:creationId xmlns:a16="http://schemas.microsoft.com/office/drawing/2014/main" id="{DFDB67D0-A42C-4762-87CC-AA924D44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91150"/>
            <a:ext cx="1781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</p:txBody>
      </p:sp>
      <p:sp>
        <p:nvSpPr>
          <p:cNvPr id="33" name="text-652">
            <a:extLst xmlns:a="http://schemas.openxmlformats.org/drawingml/2006/main">
              <a:ext uri="{FF2B5EF4-FFF2-40B4-BE49-F238E27FC236}">
                <a16:creationId xmlns:a16="http://schemas.microsoft.com/office/drawing/2014/main" id="{6F67C281-610F-4C8E-869D-298CC3EE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91175"/>
            <a:ext cx="1781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版本・部署・公開網址</a:t>
            </a:r>
          </a:p>
        </p:txBody>
      </p:sp>
      <p:sp>
        <p:nvSpPr>
          <p:cNvPr id="34" name="text-781">
            <a:extLst xmlns:a="http://schemas.openxmlformats.org/drawingml/2006/main">
              <a:ext uri="{FF2B5EF4-FFF2-40B4-BE49-F238E27FC236}">
                <a16:creationId xmlns:a16="http://schemas.microsoft.com/office/drawing/2014/main" id="{84240AE1-CACA-42A4-B916-9296F266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d58780c1f1d458f"/>
              </a:rPr>
              <a:t>開啟 GitHub Pages ↗</a:t>
            </a:r>
          </a:p>
        </p:txBody>
      </p:sp>
      <p:sp>
        <p:nvSpPr>
          <p:cNvPr id="35" name="shape-856">
            <a:extLst xmlns:a="http://schemas.openxmlformats.org/drawingml/2006/main">
              <a:ext uri="{FF2B5EF4-FFF2-40B4-BE49-F238E27FC236}">
                <a16:creationId xmlns:a16="http://schemas.microsoft.com/office/drawing/2014/main" id="{6DDE5BFA-72BD-4FDA-ADC1-A35DACCA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24200a3c4406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7" name="text-857">
            <a:extLst xmlns:a="http://schemas.openxmlformats.org/drawingml/2006/main">
              <a:ext uri="{FF2B5EF4-FFF2-40B4-BE49-F238E27FC236}">
                <a16:creationId xmlns:a16="http://schemas.microsoft.com/office/drawing/2014/main" id="{A4E8EC91-E7AF-4EEB-B1C7-25169F22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</p:txBody>
      </p:sp>
    </p:spTree>
    <p:extLst>
      <p:ext uri="{BB962C8B-B14F-4D97-AF65-F5344CB8AC3E}">
        <p14:creationId xmlns:p14="http://schemas.microsoft.com/office/powerpoint/2010/main" val="10921446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-653">
            <a:extLst xmlns:a="http://schemas.openxmlformats.org/drawingml/2006/main">
              <a:ext uri="{FF2B5EF4-FFF2-40B4-BE49-F238E27FC236}">
                <a16:creationId xmlns:a16="http://schemas.microsoft.com/office/drawing/2014/main" id="{FEE62D8B-0695-4FFF-9249-166413D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PUBLISH PATH C · LOW-CODE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2D1BDF-F6E6-492E-8E18-C8E53CE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EZPage：把 GitHub 部署變成一鍵上傳</a:t>
            </a:r>
          </a:p>
        </p:txBody>
      </p:sp>
      <p:cxnSp>
        <p:nvCxnSpPr>
          <p:cNvPr id="43" name="shape-65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655">
            <a:extLst xmlns:a="http://schemas.openxmlformats.org/drawingml/2006/main">
              <a:ext uri="{FF2B5EF4-FFF2-40B4-BE49-F238E27FC236}">
                <a16:creationId xmlns:a16="http://schemas.microsoft.com/office/drawing/2014/main" id="{B78726B6-E322-4005-9A98-85AEE74A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DE2935-3A22-46A4-B222-A5B3BBCA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37</a:t>
            </a:r>
          </a:p>
        </p:txBody>
      </p:sp>
      <p:sp>
        <p:nvSpPr>
          <p:cNvPr id="6" name="shape-656">
            <a:extLst xmlns:a="http://schemas.openxmlformats.org/drawingml/2006/main">
              <a:ext uri="{FF2B5EF4-FFF2-40B4-BE49-F238E27FC236}">
                <a16:creationId xmlns:a16="http://schemas.microsoft.com/office/drawing/2014/main" id="{54ED5AB3-8B85-4F29-BFF7-9DB5B32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657">
            <a:extLst xmlns:a="http://schemas.openxmlformats.org/drawingml/2006/main">
              <a:ext uri="{FF2B5EF4-FFF2-40B4-BE49-F238E27FC236}">
                <a16:creationId xmlns:a16="http://schemas.microsoft.com/office/drawing/2014/main" id="{33E2EAEB-4361-4CF9-B1DB-F084A18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58">
            <a:extLst xmlns:a="http://schemas.openxmlformats.org/drawingml/2006/main">
              <a:ext uri="{FF2B5EF4-FFF2-40B4-BE49-F238E27FC236}">
                <a16:creationId xmlns:a16="http://schemas.microsoft.com/office/drawing/2014/main" id="{EC0BC9B4-742D-44F1-8AB6-7A55CA0C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659">
            <a:extLst xmlns:a="http://schemas.openxmlformats.org/drawingml/2006/main">
              <a:ext uri="{FF2B5EF4-FFF2-40B4-BE49-F238E27FC236}">
                <a16:creationId xmlns:a16="http://schemas.microsoft.com/office/drawing/2014/main" id="{E391F3E4-0ED3-46A2-B960-05D09FA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準備 ZIP</a:t>
            </a:r>
          </a:p>
        </p:txBody>
      </p:sp>
      <p:sp>
        <p:nvSpPr>
          <p:cNvPr id="10" name="text-660">
            <a:extLst xmlns:a="http://schemas.openxmlformats.org/drawingml/2006/main">
              <a:ext uri="{FF2B5EF4-FFF2-40B4-BE49-F238E27FC236}">
                <a16:creationId xmlns:a16="http://schemas.microsoft.com/office/drawing/2014/main" id="{DDAA2711-E955-4951-AC00-91C9B66B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 index.html、CSS、JS、圖片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打包成一個網站 ZIP</a:t>
            </a:r>
          </a:p>
        </p:txBody>
      </p:sp>
      <p:sp>
        <p:nvSpPr>
          <p:cNvPr id="11" name="text-661">
            <a:extLst xmlns:a="http://schemas.openxmlformats.org/drawingml/2006/main">
              <a:ext uri="{FF2B5EF4-FFF2-40B4-BE49-F238E27FC236}">
                <a16:creationId xmlns:a16="http://schemas.microsoft.com/office/drawing/2014/main" id="{97186F97-2F7D-4C23-8A35-4618F87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662">
            <a:extLst xmlns:a="http://schemas.openxmlformats.org/drawingml/2006/main">
              <a:ext uri="{FF2B5EF4-FFF2-40B4-BE49-F238E27FC236}">
                <a16:creationId xmlns:a16="http://schemas.microsoft.com/office/drawing/2014/main" id="{BF0CD070-DF60-4F1C-941A-2880F2FF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3" name="shape-663">
            <a:extLst xmlns:a="http://schemas.openxmlformats.org/drawingml/2006/main">
              <a:ext uri="{FF2B5EF4-FFF2-40B4-BE49-F238E27FC236}">
                <a16:creationId xmlns:a16="http://schemas.microsoft.com/office/drawing/2014/main" id="{2CA8BC15-7EA1-4B3B-8F59-44FEFE1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64">
            <a:extLst xmlns:a="http://schemas.openxmlformats.org/drawingml/2006/main">
              <a:ext uri="{FF2B5EF4-FFF2-40B4-BE49-F238E27FC236}">
                <a16:creationId xmlns:a16="http://schemas.microsoft.com/office/drawing/2014/main" id="{BA1B84F2-9846-446C-B4D1-F5BD1B4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665">
            <a:extLst xmlns:a="http://schemas.openxmlformats.org/drawingml/2006/main">
              <a:ext uri="{FF2B5EF4-FFF2-40B4-BE49-F238E27FC236}">
                <a16:creationId xmlns:a16="http://schemas.microsoft.com/office/drawing/2014/main" id="{FCE41F28-2CB3-454A-93C5-7545156D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連結 GitHub</a:t>
            </a:r>
          </a:p>
        </p:txBody>
      </p:sp>
      <p:sp>
        <p:nvSpPr>
          <p:cNvPr id="16" name="text-666">
            <a:extLst xmlns:a="http://schemas.openxmlformats.org/drawingml/2006/main">
              <a:ext uri="{FF2B5EF4-FFF2-40B4-BE49-F238E27FC236}">
                <a16:creationId xmlns:a16="http://schemas.microsoft.com/office/drawing/2014/main" id="{2672F677-73B1-4CCF-B281-76F203E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登入 EZPage，授權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選擇自己的 GitHub 帳號</a:t>
            </a:r>
          </a:p>
        </p:txBody>
      </p:sp>
      <p:sp>
        <p:nvSpPr>
          <p:cNvPr id="17" name="text-667">
            <a:extLst xmlns:a="http://schemas.openxmlformats.org/drawingml/2006/main">
              <a:ext uri="{FF2B5EF4-FFF2-40B4-BE49-F238E27FC236}">
                <a16:creationId xmlns:a16="http://schemas.microsoft.com/office/drawing/2014/main" id="{F8F00874-3722-4346-A440-417986DB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668">
            <a:extLst xmlns:a="http://schemas.openxmlformats.org/drawingml/2006/main">
              <a:ext uri="{FF2B5EF4-FFF2-40B4-BE49-F238E27FC236}">
                <a16:creationId xmlns:a16="http://schemas.microsoft.com/office/drawing/2014/main" id="{6B31CED9-CB12-42B4-BB3F-8DE61721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shape-669">
            <a:extLst xmlns:a="http://schemas.openxmlformats.org/drawingml/2006/main">
              <a:ext uri="{FF2B5EF4-FFF2-40B4-BE49-F238E27FC236}">
                <a16:creationId xmlns:a16="http://schemas.microsoft.com/office/drawing/2014/main" id="{68D5D4B5-90A9-4965-9896-9218A9AB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70">
            <a:extLst xmlns:a="http://schemas.openxmlformats.org/drawingml/2006/main">
              <a:ext uri="{FF2B5EF4-FFF2-40B4-BE49-F238E27FC236}">
                <a16:creationId xmlns:a16="http://schemas.microsoft.com/office/drawing/2014/main" id="{8E517684-7405-4FC3-AB84-933BDB37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671">
            <a:extLst xmlns:a="http://schemas.openxmlformats.org/drawingml/2006/main">
              <a:ext uri="{FF2B5EF4-FFF2-40B4-BE49-F238E27FC236}">
                <a16:creationId xmlns:a16="http://schemas.microsoft.com/office/drawing/2014/main" id="{15BB24F7-C049-4B85-B4FB-324F3BBE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上傳部署</a:t>
            </a:r>
          </a:p>
        </p:txBody>
      </p:sp>
      <p:sp>
        <p:nvSpPr>
          <p:cNvPr id="22" name="text-672">
            <a:extLst xmlns:a="http://schemas.openxmlformats.org/drawingml/2006/main">
              <a:ext uri="{FF2B5EF4-FFF2-40B4-BE49-F238E27FC236}">
                <a16:creationId xmlns:a16="http://schemas.microsoft.com/office/drawing/2014/main" id="{1B4775DF-2E16-465C-9E4E-FE228826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拖曳 ZIP、填網站名稱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按「部署 ZIP 檔案」</a:t>
            </a:r>
          </a:p>
        </p:txBody>
      </p:sp>
      <p:sp>
        <p:nvSpPr>
          <p:cNvPr id="23" name="text-673">
            <a:extLst xmlns:a="http://schemas.openxmlformats.org/drawingml/2006/main">
              <a:ext uri="{FF2B5EF4-FFF2-40B4-BE49-F238E27FC236}">
                <a16:creationId xmlns:a16="http://schemas.microsoft.com/office/drawing/2014/main" id="{599DC49E-1AE2-4175-8AED-83D6174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674">
            <a:extLst xmlns:a="http://schemas.openxmlformats.org/drawingml/2006/main">
              <a:ext uri="{FF2B5EF4-FFF2-40B4-BE49-F238E27FC236}">
                <a16:creationId xmlns:a16="http://schemas.microsoft.com/office/drawing/2014/main" id="{194C51D7-CABD-4731-8900-5BE9313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5" name="shape-675">
            <a:extLst xmlns:a="http://schemas.openxmlformats.org/drawingml/2006/main">
              <a:ext uri="{FF2B5EF4-FFF2-40B4-BE49-F238E27FC236}">
                <a16:creationId xmlns:a16="http://schemas.microsoft.com/office/drawing/2014/main" id="{68B1728B-3B1F-46E2-A915-3C05E23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76">
            <a:extLst xmlns:a="http://schemas.openxmlformats.org/drawingml/2006/main">
              <a:ext uri="{FF2B5EF4-FFF2-40B4-BE49-F238E27FC236}">
                <a16:creationId xmlns:a16="http://schemas.microsoft.com/office/drawing/2014/main" id="{254B55C0-05C1-4943-8C8F-7BE2E858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677">
            <a:extLst xmlns:a="http://schemas.openxmlformats.org/drawingml/2006/main">
              <a:ext uri="{FF2B5EF4-FFF2-40B4-BE49-F238E27FC236}">
                <a16:creationId xmlns:a16="http://schemas.microsoft.com/office/drawing/2014/main" id="{C616F555-ADF2-4123-8501-E1A95D6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驗證分享</a:t>
            </a:r>
          </a:p>
        </p:txBody>
      </p:sp>
      <p:sp>
        <p:nvSpPr>
          <p:cNvPr id="28" name="text-678">
            <a:extLst xmlns:a="http://schemas.openxmlformats.org/drawingml/2006/main">
              <a:ext uri="{FF2B5EF4-FFF2-40B4-BE49-F238E27FC236}">
                <a16:creationId xmlns:a16="http://schemas.microsoft.com/office/drawing/2014/main" id="{AA01706C-B6CD-425C-A07E-ABBBABCB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取得 GitHub Pages 網址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用手機與桌機走一次流程</a:t>
            </a:r>
          </a:p>
        </p:txBody>
      </p:sp>
      <p:sp>
        <p:nvSpPr>
          <p:cNvPr id="29" name="text-679">
            <a:extLst xmlns:a="http://schemas.openxmlformats.org/drawingml/2006/main">
              <a:ext uri="{FF2B5EF4-FFF2-40B4-BE49-F238E27FC236}">
                <a16:creationId xmlns:a16="http://schemas.microsoft.com/office/drawing/2014/main" id="{07D46869-52F2-43EB-85B9-3A095031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ZIP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index.html + assets</a:t>
            </a:r>
          </a:p>
        </p:txBody>
      </p:sp>
      <p:sp>
        <p:nvSpPr>
          <p:cNvPr id="30" name="text-680">
            <a:extLst xmlns:a="http://schemas.openxmlformats.org/drawingml/2006/main">
              <a:ext uri="{FF2B5EF4-FFF2-40B4-BE49-F238E27FC236}">
                <a16:creationId xmlns:a16="http://schemas.microsoft.com/office/drawing/2014/main" id="{5E8796E0-CC91-4AF0-B36C-7881B44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圖形化上傳</a:t>
            </a:r>
          </a:p>
        </p:txBody>
      </p:sp>
      <p:sp>
        <p:nvSpPr>
          <p:cNvPr id="31" name="text-681">
            <a:extLst xmlns:a="http://schemas.openxmlformats.org/drawingml/2006/main">
              <a:ext uri="{FF2B5EF4-FFF2-40B4-BE49-F238E27FC236}">
                <a16:creationId xmlns:a16="http://schemas.microsoft.com/office/drawing/2014/main" id="{2D37FE07-C039-4DED-B1F8-E041EBC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repo + Pages</a:t>
            </a:r>
          </a:p>
        </p:txBody>
      </p:sp>
      <p:sp>
        <p:nvSpPr>
          <p:cNvPr id="32" name="text-682">
            <a:extLst xmlns:a="http://schemas.openxmlformats.org/drawingml/2006/main">
              <a:ext uri="{FF2B5EF4-FFF2-40B4-BE49-F238E27FC236}">
                <a16:creationId xmlns:a16="http://schemas.microsoft.com/office/drawing/2014/main" id="{D307B7A5-15DB-4495-86C1-F3A22FD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公開網址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手機驗證</a:t>
            </a:r>
          </a:p>
        </p:txBody>
      </p:sp>
      <p:cxnSp>
        <p:nvCxnSpPr>
          <p:cNvPr id="7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781300" y="51816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429250" y="51816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AFA4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077200" y="51816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866"/>
            </a:solidFill>
            <a:prstDash val="solid"/>
            <a:tailEnd type="arrow" w="sm" len="sm"/>
          </a:ln>
        </p:spPr>
      </p:cxnSp>
      <p:sp>
        <p:nvSpPr>
          <p:cNvPr id="36" name="text-683">
            <a:extLst xmlns:a="http://schemas.openxmlformats.org/drawingml/2006/main">
              <a:ext uri="{FF2B5EF4-FFF2-40B4-BE49-F238E27FC236}">
                <a16:creationId xmlns:a16="http://schemas.microsoft.com/office/drawing/2014/main" id="{39F2C514-C2ED-4298-B3AF-35BF07A8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低門檻入口，不代表省略隱私、版權與 RWD 驗證</a:t>
            </a:r>
          </a:p>
        </p:txBody>
      </p:sp>
      <p:sp>
        <p:nvSpPr>
          <p:cNvPr id="37" name="text-782">
            <a:extLst xmlns:a="http://schemas.openxmlformats.org/drawingml/2006/main">
              <a:ext uri="{FF2B5EF4-FFF2-40B4-BE49-F238E27FC236}">
                <a16:creationId xmlns:a16="http://schemas.microsoft.com/office/drawing/2014/main" id="{3005B031-6322-4884-9C8B-A140B3CB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6913cbc73334a8b"/>
              </a:rPr>
              <a:t>開啟 EZPage ↗</a:t>
            </a:r>
          </a:p>
        </p:txBody>
      </p:sp>
      <p:sp>
        <p:nvSpPr>
          <p:cNvPr id="38" name="shape-858">
            <a:extLst xmlns:a="http://schemas.openxmlformats.org/drawingml/2006/main">
              <a:ext uri="{FF2B5EF4-FFF2-40B4-BE49-F238E27FC236}">
                <a16:creationId xmlns:a16="http://schemas.microsoft.com/office/drawing/2014/main" id="{6E1856AF-B151-465E-8B3D-A7C6A3A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ca5829214f2c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40" name="text-859">
            <a:extLst xmlns:a="http://schemas.openxmlformats.org/drawingml/2006/main">
              <a:ext uri="{FF2B5EF4-FFF2-40B4-BE49-F238E27FC236}">
                <a16:creationId xmlns:a16="http://schemas.microsoft.com/office/drawing/2014/main" id="{ECEBDBDB-EADB-492F-BC3A-57AFB3D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EZPage</a:t>
            </a:r>
          </a:p>
        </p:txBody>
      </p:sp>
    </p:spTree>
    <p:extLst>
      <p:ext uri="{BB962C8B-B14F-4D97-AF65-F5344CB8AC3E}">
        <p14:creationId xmlns:p14="http://schemas.microsoft.com/office/powerpoint/2010/main" val="11439354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684">
            <a:extLst xmlns:a="http://schemas.openxmlformats.org/drawingml/2006/main">
              <a:ext uri="{FF2B5EF4-FFF2-40B4-BE49-F238E27FC236}">
                <a16:creationId xmlns:a16="http://schemas.microsoft.com/office/drawing/2014/main" id="{5422E6FC-5599-402B-BCCA-1FFB0CE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2FA827-C3D8-41A3-8974-6CC9140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上午整合挑戰｜會議紀錄從來源到分享</a:t>
            </a:r>
          </a:p>
        </p:txBody>
      </p:sp>
      <p:cxnSp>
        <p:nvCxnSpPr>
          <p:cNvPr id="29" name="shape-68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686">
            <a:extLst xmlns:a="http://schemas.openxmlformats.org/drawingml/2006/main">
              <a:ext uri="{FF2B5EF4-FFF2-40B4-BE49-F238E27FC236}">
                <a16:creationId xmlns:a16="http://schemas.microsoft.com/office/drawing/2014/main" id="{34393618-97D9-4E76-877C-D5D5CF82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CB105-D5C5-4A86-83AB-93E6DB8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38</a:t>
            </a:r>
          </a:p>
        </p:txBody>
      </p:sp>
      <p:sp>
        <p:nvSpPr>
          <p:cNvPr id="6" name="text-687">
            <a:extLst xmlns:a="http://schemas.openxmlformats.org/drawingml/2006/main">
              <a:ext uri="{FF2B5EF4-FFF2-40B4-BE49-F238E27FC236}">
                <a16:creationId xmlns:a16="http://schemas.microsoft.com/office/drawing/2014/main" id="{A9251003-35CF-4040-AAF9-38DB4AA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688">
            <a:extLst xmlns:a="http://schemas.openxmlformats.org/drawingml/2006/main">
              <a:ext uri="{FF2B5EF4-FFF2-40B4-BE49-F238E27FC236}">
                <a16:creationId xmlns:a16="http://schemas.microsoft.com/office/drawing/2014/main" id="{4FD6FB8C-7E53-4D10-80E5-D316C85B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689">
            <a:extLst xmlns:a="http://schemas.openxmlformats.org/drawingml/2006/main">
              <a:ext uri="{FF2B5EF4-FFF2-40B4-BE49-F238E27FC236}">
                <a16:creationId xmlns:a16="http://schemas.microsoft.com/office/drawing/2014/main" id="{D741BD0D-1B6D-48BA-AC8D-2C1542C6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690">
            <a:extLst xmlns:a="http://schemas.openxmlformats.org/drawingml/2006/main">
              <a:ext uri="{FF2B5EF4-FFF2-40B4-BE49-F238E27FC236}">
                <a16:creationId xmlns:a16="http://schemas.microsoft.com/office/drawing/2014/main" id="{61D6541E-491F-454C-84DE-32F8B01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 Gemini Notebook 整理會議來源與背景，留下可追查引用</a:t>
            </a:r>
          </a:p>
        </p:txBody>
      </p:sp>
      <p:sp>
        <p:nvSpPr>
          <p:cNvPr id="10" name="text-691">
            <a:extLst xmlns:a="http://schemas.openxmlformats.org/drawingml/2006/main">
              <a:ext uri="{FF2B5EF4-FFF2-40B4-BE49-F238E27FC236}">
                <a16:creationId xmlns:a16="http://schemas.microsoft.com/office/drawing/2014/main" id="{E950DBA8-7927-4E99-8B06-6AEC461F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692">
            <a:extLst xmlns:a="http://schemas.openxmlformats.org/drawingml/2006/main">
              <a:ext uri="{FF2B5EF4-FFF2-40B4-BE49-F238E27FC236}">
                <a16:creationId xmlns:a16="http://schemas.microsoft.com/office/drawing/2014/main" id="{F1FD6029-A8FD-481B-B82E-49B4EE25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用帳號既有 Gem 產出固定格式的重點、決議與待辦</a:t>
            </a:r>
          </a:p>
        </p:txBody>
      </p:sp>
      <p:sp>
        <p:nvSpPr>
          <p:cNvPr id="12" name="text-693">
            <a:extLst xmlns:a="http://schemas.openxmlformats.org/drawingml/2006/main">
              <a:ext uri="{FF2B5EF4-FFF2-40B4-BE49-F238E27FC236}">
                <a16:creationId xmlns:a16="http://schemas.microsoft.com/office/drawing/2014/main" id="{841FA545-8C77-495B-8D14-22DD521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694">
            <a:extLst xmlns:a="http://schemas.openxmlformats.org/drawingml/2006/main">
              <a:ext uri="{FF2B5EF4-FFF2-40B4-BE49-F238E27FC236}">
                <a16:creationId xmlns:a16="http://schemas.microsoft.com/office/drawing/2014/main" id="{545B0264-69C9-408E-8BCC-3EEBE37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 Canvas 做可搜尋、可篩選的會議紀錄原型</a:t>
            </a:r>
          </a:p>
        </p:txBody>
      </p:sp>
      <p:sp>
        <p:nvSpPr>
          <p:cNvPr id="14" name="text-695">
            <a:extLst xmlns:a="http://schemas.openxmlformats.org/drawingml/2006/main">
              <a:ext uri="{FF2B5EF4-FFF2-40B4-BE49-F238E27FC236}">
                <a16:creationId xmlns:a16="http://schemas.microsoft.com/office/drawing/2014/main" id="{8FDDEEE0-B2A2-414E-8132-E184CEE8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696">
            <a:extLst xmlns:a="http://schemas.openxmlformats.org/drawingml/2006/main">
              <a:ext uri="{FF2B5EF4-FFF2-40B4-BE49-F238E27FC236}">
                <a16:creationId xmlns:a16="http://schemas.microsoft.com/office/drawing/2014/main" id="{4FB1921D-E981-4998-AAB2-2FBA788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把 Canvas 網址嵌入 Google Sites，預覽手機版並說明備援</a:t>
            </a:r>
          </a:p>
        </p:txBody>
      </p:sp>
      <p:sp>
        <p:nvSpPr>
          <p:cNvPr id="16" name="shape-697">
            <a:extLst xmlns:a="http://schemas.openxmlformats.org/drawingml/2006/main">
              <a:ext uri="{FF2B5EF4-FFF2-40B4-BE49-F238E27FC236}">
                <a16:creationId xmlns:a16="http://schemas.microsoft.com/office/drawing/2014/main" id="{8A839973-7B89-4D63-AD48-BE32D504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698">
            <a:extLst xmlns:a="http://schemas.openxmlformats.org/drawingml/2006/main">
              <a:ext uri="{FF2B5EF4-FFF2-40B4-BE49-F238E27FC236}">
                <a16:creationId xmlns:a16="http://schemas.microsoft.com/office/drawing/2014/main" id="{DA424CE8-651F-447A-8D82-F63F2AFD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699">
            <a:extLst xmlns:a="http://schemas.openxmlformats.org/drawingml/2006/main">
              <a:ext uri="{FF2B5EF4-FFF2-40B4-BE49-F238E27FC236}">
                <a16:creationId xmlns:a16="http://schemas.microsoft.com/office/drawing/2014/main" id="{125D1EE1-745C-45A9-8118-46F5439B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來源與用途清楚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摘要格式可重複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作品真的能操作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知道權限與嵌入限制</a:t>
            </a:r>
          </a:p>
        </p:txBody>
      </p:sp>
      <p:sp>
        <p:nvSpPr>
          <p:cNvPr id="19" name="text-779">
            <a:extLst xmlns:a="http://schemas.openxmlformats.org/drawingml/2006/main">
              <a:ext uri="{FF2B5EF4-FFF2-40B4-BE49-F238E27FC236}">
                <a16:creationId xmlns:a16="http://schemas.microsoft.com/office/drawing/2014/main" id="{2CDE9A1F-F837-424A-A3BA-820FD4B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64567d7279d4e5d"/>
              </a:rPr>
              <a:t>Notebook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e220fd8fabd4fb1"/>
              </a:rPr>
              <a:t>會議紀錄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3e43a81e22e48bf"/>
              </a:rPr>
              <a:t>Google Sites ↗</a:t>
            </a:r>
          </a:p>
        </p:txBody>
      </p:sp>
      <p:sp>
        <p:nvSpPr>
          <p:cNvPr id="20" name="shape-849">
            <a:extLst xmlns:a="http://schemas.openxmlformats.org/drawingml/2006/main">
              <a:ext uri="{FF2B5EF4-FFF2-40B4-BE49-F238E27FC236}">
                <a16:creationId xmlns:a16="http://schemas.microsoft.com/office/drawing/2014/main" id="{75AFAA27-601C-41FD-AD93-2B5FC58F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7de65843c4751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2" name="text-850">
            <a:extLst xmlns:a="http://schemas.openxmlformats.org/drawingml/2006/main">
              <a:ext uri="{FF2B5EF4-FFF2-40B4-BE49-F238E27FC236}">
                <a16:creationId xmlns:a16="http://schemas.microsoft.com/office/drawing/2014/main" id="{724A60F7-A43E-4FCD-BFDC-8D13A242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13fb70e4c4abb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851">
            <a:extLst xmlns:a="http://schemas.openxmlformats.org/drawingml/2006/main">
              <a:ext uri="{FF2B5EF4-FFF2-40B4-BE49-F238E27FC236}">
                <a16:creationId xmlns:a16="http://schemas.microsoft.com/office/drawing/2014/main" id="{609DCAE4-9194-46C2-9648-92BC2472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f6d2ca2214d9f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852">
            <a:extLst xmlns:a="http://schemas.openxmlformats.org/drawingml/2006/main">
              <a:ext uri="{FF2B5EF4-FFF2-40B4-BE49-F238E27FC236}">
                <a16:creationId xmlns:a16="http://schemas.microsoft.com/office/drawing/2014/main" id="{2B8BB49D-9182-4875-85A8-220D755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</p:spTree>
    <p:extLst>
      <p:ext uri="{BB962C8B-B14F-4D97-AF65-F5344CB8AC3E}">
        <p14:creationId xmlns:p14="http://schemas.microsoft.com/office/powerpoint/2010/main" val="12760841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700">
            <a:extLst xmlns:a="http://schemas.openxmlformats.org/drawingml/2006/main">
              <a:ext uri="{FF2B5EF4-FFF2-40B4-BE49-F238E27FC236}">
                <a16:creationId xmlns:a16="http://schemas.microsoft.com/office/drawing/2014/main" id="{9156ABC8-8B47-4FC8-B306-F6F351B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FROM TOOL TO LIFE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427EA9-5EDE-4EAE-8BF7-9FE46FA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效率提高之後，省下的時間要還給人生</a:t>
            </a:r>
          </a:p>
        </p:txBody>
      </p:sp>
      <p:cxnSp>
        <p:nvCxnSpPr>
          <p:cNvPr id="24" name="shape-70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702">
            <a:extLst xmlns:a="http://schemas.openxmlformats.org/drawingml/2006/main">
              <a:ext uri="{FF2B5EF4-FFF2-40B4-BE49-F238E27FC236}">
                <a16:creationId xmlns:a16="http://schemas.microsoft.com/office/drawing/2014/main" id="{E64A8ABC-751F-4EED-8733-FDE6B6B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BEA599-4AEA-48F7-8E9F-1A3B007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39</a:t>
            </a:r>
          </a:p>
        </p:txBody>
      </p:sp>
      <p:sp>
        <p:nvSpPr>
          <p:cNvPr id="6" name="shape-703">
            <a:extLst xmlns:a="http://schemas.openxmlformats.org/drawingml/2006/main">
              <a:ext uri="{FF2B5EF4-FFF2-40B4-BE49-F238E27FC236}">
                <a16:creationId xmlns:a16="http://schemas.microsoft.com/office/drawing/2014/main" id="{84C167B0-8663-468A-A170-F96FEE63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704">
            <a:extLst xmlns:a="http://schemas.openxmlformats.org/drawingml/2006/main">
              <a:ext uri="{FF2B5EF4-FFF2-40B4-BE49-F238E27FC236}">
                <a16:creationId xmlns:a16="http://schemas.microsoft.com/office/drawing/2014/main" id="{283F1A02-B1D4-4469-B378-5D61117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705">
            <a:extLst xmlns:a="http://schemas.openxmlformats.org/drawingml/2006/main">
              <a:ext uri="{FF2B5EF4-FFF2-40B4-BE49-F238E27FC236}">
                <a16:creationId xmlns:a16="http://schemas.microsoft.com/office/drawing/2014/main" id="{B6B17C19-3E4B-468D-A842-515A49BF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不是更多任務</a:t>
            </a:r>
          </a:p>
        </p:txBody>
      </p:sp>
      <p:sp>
        <p:nvSpPr>
          <p:cNvPr id="9" name="text-706">
            <a:extLst xmlns:a="http://schemas.openxmlformats.org/drawingml/2006/main">
              <a:ext uri="{FF2B5EF4-FFF2-40B4-BE49-F238E27FC236}">
                <a16:creationId xmlns:a16="http://schemas.microsoft.com/office/drawing/2014/main" id="{2B0F7918-A25D-4F25-BBBB-FC19464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Agent 讓一件事更快完成；空出的時間，不必自動再塞滿。</a:t>
            </a:r>
          </a:p>
        </p:txBody>
      </p:sp>
      <p:sp>
        <p:nvSpPr>
          <p:cNvPr id="10" name="shape-707">
            <a:extLst xmlns:a="http://schemas.openxmlformats.org/drawingml/2006/main">
              <a:ext uri="{FF2B5EF4-FFF2-40B4-BE49-F238E27FC236}">
                <a16:creationId xmlns:a16="http://schemas.microsoft.com/office/drawing/2014/main" id="{A38C5C6D-F03D-4C68-A8EF-8C1869F3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708">
            <a:extLst xmlns:a="http://schemas.openxmlformats.org/drawingml/2006/main">
              <a:ext uri="{FF2B5EF4-FFF2-40B4-BE49-F238E27FC236}">
                <a16:creationId xmlns:a16="http://schemas.microsoft.com/office/drawing/2014/main" id="{668A82F4-AC02-41BA-980C-4CAC672F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709">
            <a:extLst xmlns:a="http://schemas.openxmlformats.org/drawingml/2006/main">
              <a:ext uri="{FF2B5EF4-FFF2-40B4-BE49-F238E27FC236}">
                <a16:creationId xmlns:a16="http://schemas.microsoft.com/office/drawing/2014/main" id="{0AEEBB63-F57E-4CA4-A537-1E287794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真正重要的事</a:t>
            </a:r>
          </a:p>
        </p:txBody>
      </p:sp>
      <p:sp>
        <p:nvSpPr>
          <p:cNvPr id="13" name="text-710">
            <a:extLst xmlns:a="http://schemas.openxmlformats.org/drawingml/2006/main">
              <a:ext uri="{FF2B5EF4-FFF2-40B4-BE49-F238E27FC236}">
                <a16:creationId xmlns:a16="http://schemas.microsoft.com/office/drawing/2014/main" id="{9DE9555F-E4DD-4D41-AAD7-449720D7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培養興趣、探索志向，陪伴孩子與家人，和同儕深入交流。</a:t>
            </a:r>
          </a:p>
        </p:txBody>
      </p:sp>
      <p:sp>
        <p:nvSpPr>
          <p:cNvPr id="14" name="shape-711">
            <a:extLst xmlns:a="http://schemas.openxmlformats.org/drawingml/2006/main">
              <a:ext uri="{FF2B5EF4-FFF2-40B4-BE49-F238E27FC236}">
                <a16:creationId xmlns:a16="http://schemas.microsoft.com/office/drawing/2014/main" id="{9FC8D4A8-1907-414E-B217-AE14E014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712">
            <a:extLst xmlns:a="http://schemas.openxmlformats.org/drawingml/2006/main">
              <a:ext uri="{FF2B5EF4-FFF2-40B4-BE49-F238E27FC236}">
                <a16:creationId xmlns:a16="http://schemas.microsoft.com/office/drawing/2014/main" id="{85229A42-3998-4B11-82C3-0CBFF9E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713">
            <a:extLst xmlns:a="http://schemas.openxmlformats.org/drawingml/2006/main">
              <a:ext uri="{FF2B5EF4-FFF2-40B4-BE49-F238E27FC236}">
                <a16:creationId xmlns:a16="http://schemas.microsoft.com/office/drawing/2014/main" id="{B279B99C-DA43-4C72-A1EE-404B6F6A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保留人的主導權</a:t>
            </a:r>
          </a:p>
        </p:txBody>
      </p:sp>
      <p:sp>
        <p:nvSpPr>
          <p:cNvPr id="17" name="text-714">
            <a:extLst xmlns:a="http://schemas.openxmlformats.org/drawingml/2006/main">
              <a:ext uri="{FF2B5EF4-FFF2-40B4-BE49-F238E27FC236}">
                <a16:creationId xmlns:a16="http://schemas.microsoft.com/office/drawing/2014/main" id="{A14DF371-9FDB-4F44-BA8A-CE40B687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我們駕馭 Agent，不讓它把效率轉成無止境的工作清單。</a:t>
            </a:r>
          </a:p>
        </p:txBody>
      </p:sp>
      <p:sp>
        <p:nvSpPr>
          <p:cNvPr id="18" name="shape-715">
            <a:extLst xmlns:a="http://schemas.openxmlformats.org/drawingml/2006/main">
              <a:ext uri="{FF2B5EF4-FFF2-40B4-BE49-F238E27FC236}">
                <a16:creationId xmlns:a16="http://schemas.microsoft.com/office/drawing/2014/main" id="{A4A7C022-5BEC-4079-86E8-404D1E1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716">
            <a:extLst xmlns:a="http://schemas.openxmlformats.org/drawingml/2006/main">
              <a:ext uri="{FF2B5EF4-FFF2-40B4-BE49-F238E27FC236}">
                <a16:creationId xmlns:a16="http://schemas.microsoft.com/office/drawing/2014/main" id="{6AB6A203-A017-4C94-BA6B-143E9600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717">
            <a:extLst xmlns:a="http://schemas.openxmlformats.org/drawingml/2006/main">
              <a:ext uri="{FF2B5EF4-FFF2-40B4-BE49-F238E27FC236}">
                <a16:creationId xmlns:a16="http://schemas.microsoft.com/office/drawing/2014/main" id="{7F560FBD-BD12-4CE9-84E0-0107918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素養教育的所在</a:t>
            </a:r>
          </a:p>
        </p:txBody>
      </p:sp>
      <p:sp>
        <p:nvSpPr>
          <p:cNvPr id="21" name="text-718">
            <a:extLst xmlns:a="http://schemas.openxmlformats.org/drawingml/2006/main">
              <a:ext uri="{FF2B5EF4-FFF2-40B4-BE49-F238E27FC236}">
                <a16:creationId xmlns:a16="http://schemas.microsoft.com/office/drawing/2014/main" id="{D42ED585-4E4E-444D-99F4-34BB05B1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把工具能力內化成生活選擇，讓科技服務關係、成長與意義。</a:t>
            </a:r>
          </a:p>
        </p:txBody>
      </p:sp>
    </p:spTree>
    <p:extLst>
      <p:ext uri="{BB962C8B-B14F-4D97-AF65-F5344CB8AC3E}">
        <p14:creationId xmlns:p14="http://schemas.microsoft.com/office/powerpoint/2010/main" val="16798699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-719">
            <a:extLst xmlns:a="http://schemas.openxmlformats.org/drawingml/2006/main">
              <a:ext uri="{FF2B5EF4-FFF2-40B4-BE49-F238E27FC236}">
                <a16:creationId xmlns:a16="http://schemas.microsoft.com/office/drawing/2014/main" id="{395B127F-5424-419E-A0E6-82AF56B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BOOKMARKS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0BDDD5-2C13-4D7B-A896-864A65D9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上午資源書籤</a:t>
            </a:r>
          </a:p>
        </p:txBody>
      </p:sp>
      <p:cxnSp>
        <p:nvCxnSpPr>
          <p:cNvPr id="49" name="shape-72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721">
            <a:extLst xmlns:a="http://schemas.openxmlformats.org/drawingml/2006/main">
              <a:ext uri="{FF2B5EF4-FFF2-40B4-BE49-F238E27FC236}">
                <a16:creationId xmlns:a16="http://schemas.microsoft.com/office/drawing/2014/main" id="{18417727-4E26-4833-A399-EF6883A0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8DA922-4693-44A1-A925-6A479E3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40</a:t>
            </a:r>
          </a:p>
        </p:txBody>
      </p:sp>
      <p:sp>
        <p:nvSpPr>
          <p:cNvPr id="6" name="shape-722">
            <a:extLst xmlns:a="http://schemas.openxmlformats.org/drawingml/2006/main">
              <a:ext uri="{FF2B5EF4-FFF2-40B4-BE49-F238E27FC236}">
                <a16:creationId xmlns:a16="http://schemas.microsoft.com/office/drawing/2014/main" id="{96664712-A383-4102-BA81-71D4090A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723">
            <a:extLst xmlns:a="http://schemas.openxmlformats.org/drawingml/2006/main">
              <a:ext uri="{FF2B5EF4-FFF2-40B4-BE49-F238E27FC236}">
                <a16:creationId xmlns:a16="http://schemas.microsoft.com/office/drawing/2014/main" id="{A28BA037-9594-4D2A-B69D-2A01EDAE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研習資源導航（同資料夾）</a:t>
            </a:r>
          </a:p>
        </p:txBody>
      </p:sp>
      <p:sp>
        <p:nvSpPr>
          <p:cNvPr id="8" name="text-724">
            <a:extLst xmlns:a="http://schemas.openxmlformats.org/drawingml/2006/main">
              <a:ext uri="{FF2B5EF4-FFF2-40B4-BE49-F238E27FC236}">
                <a16:creationId xmlns:a16="http://schemas.microsoft.com/office/drawing/2014/main" id="{53CB5952-048F-46BD-B671-8D15C5E4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bd5251b6ae454174"/>
              </a:rPr>
              <a:t>../START_HERE_研習資源導航.html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ea9c7b1c84add"/>
          <a:stretch xmlns:a="http://schemas.openxmlformats.org/drawingml/2006/main"/>
        </p:blipFill>
        <p:spPr>
          <a:xfrm xmlns:a="http://schemas.openxmlformats.org/drawingml/2006/main">
            <a:off x="49530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0" name="shape-725">
            <a:extLst xmlns:a="http://schemas.openxmlformats.org/drawingml/2006/main">
              <a:ext uri="{FF2B5EF4-FFF2-40B4-BE49-F238E27FC236}">
                <a16:creationId xmlns:a16="http://schemas.microsoft.com/office/drawing/2014/main" id="{FD5E09A8-3A82-465C-B13D-B7200177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726">
            <a:extLst xmlns:a="http://schemas.openxmlformats.org/drawingml/2006/main">
              <a:ext uri="{FF2B5EF4-FFF2-40B4-BE49-F238E27FC236}">
                <a16:creationId xmlns:a16="http://schemas.microsoft.com/office/drawing/2014/main" id="{6B3B18A8-148E-4C4E-BE76-9D4DBFD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Gemini Notebook</a:t>
            </a:r>
          </a:p>
        </p:txBody>
      </p:sp>
      <p:sp>
        <p:nvSpPr>
          <p:cNvPr id="12" name="text-727">
            <a:extLst xmlns:a="http://schemas.openxmlformats.org/drawingml/2006/main">
              <a:ext uri="{FF2B5EF4-FFF2-40B4-BE49-F238E27FC236}">
                <a16:creationId xmlns:a16="http://schemas.microsoft.com/office/drawing/2014/main" id="{373D06C8-97E1-46B4-859E-16FD013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4eeba8a40fd24c57"/>
              </a:rPr>
              <a:t>https://notebook.google.com/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bc60defe2427d"/>
          <a:stretch xmlns:a="http://schemas.openxmlformats.org/drawingml/2006/main"/>
        </p:blipFill>
        <p:spPr>
          <a:xfrm xmlns:a="http://schemas.openxmlformats.org/drawingml/2006/main">
            <a:off x="49530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4" name="shape-728">
            <a:extLst xmlns:a="http://schemas.openxmlformats.org/drawingml/2006/main">
              <a:ext uri="{FF2B5EF4-FFF2-40B4-BE49-F238E27FC236}">
                <a16:creationId xmlns:a16="http://schemas.microsoft.com/office/drawing/2014/main" id="{38C92896-BB59-4590-9658-4B33FD1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729">
            <a:extLst xmlns:a="http://schemas.openxmlformats.org/drawingml/2006/main">
              <a:ext uri="{FF2B5EF4-FFF2-40B4-BE49-F238E27FC236}">
                <a16:creationId xmlns:a16="http://schemas.microsoft.com/office/drawing/2014/main" id="{48A2684D-FA93-4CAC-BB35-D76D896A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建立自訂 Gem</a:t>
            </a:r>
          </a:p>
        </p:txBody>
      </p:sp>
      <p:sp>
        <p:nvSpPr>
          <p:cNvPr id="16" name="text-730">
            <a:extLst xmlns:a="http://schemas.openxmlformats.org/drawingml/2006/main">
              <a:ext uri="{FF2B5EF4-FFF2-40B4-BE49-F238E27FC236}">
                <a16:creationId xmlns:a16="http://schemas.microsoft.com/office/drawing/2014/main" id="{980E94FE-8376-4272-95FB-90D4221F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de092dd98f2d4a67"/>
              </a:rPr>
              <a:t>https://gemini.google.com/gems/create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17c1946134ec7"/>
          <a:stretch xmlns:a="http://schemas.openxmlformats.org/drawingml/2006/main"/>
        </p:blipFill>
        <p:spPr>
          <a:xfrm xmlns:a="http://schemas.openxmlformats.org/drawingml/2006/main">
            <a:off x="49530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8" name="shape-731">
            <a:extLst xmlns:a="http://schemas.openxmlformats.org/drawingml/2006/main">
              <a:ext uri="{FF2B5EF4-FFF2-40B4-BE49-F238E27FC236}">
                <a16:creationId xmlns:a16="http://schemas.microsoft.com/office/drawing/2014/main" id="{E9F66163-01CF-4FCB-874A-8781FFFA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732">
            <a:extLst xmlns:a="http://schemas.openxmlformats.org/drawingml/2006/main">
              <a:ext uri="{FF2B5EF4-FFF2-40B4-BE49-F238E27FC236}">
                <a16:creationId xmlns:a16="http://schemas.microsoft.com/office/drawing/2014/main" id="{C5FAE69D-361B-4A0C-8370-67D340A4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Gemini Canvas</a:t>
            </a:r>
          </a:p>
        </p:txBody>
      </p:sp>
      <p:sp>
        <p:nvSpPr>
          <p:cNvPr id="20" name="text-733">
            <a:extLst xmlns:a="http://schemas.openxmlformats.org/drawingml/2006/main">
              <a:ext uri="{FF2B5EF4-FFF2-40B4-BE49-F238E27FC236}">
                <a16:creationId xmlns:a16="http://schemas.microsoft.com/office/drawing/2014/main" id="{50131BC0-2464-4702-A86B-D77443E8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e72bd7874e7f43b1"/>
              </a:rPr>
              <a:t>https://gemini.google.com/app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99e5d17484524"/>
          <a:stretch xmlns:a="http://schemas.openxmlformats.org/drawingml/2006/main"/>
        </p:blipFill>
        <p:spPr>
          <a:xfrm xmlns:a="http://schemas.openxmlformats.org/drawingml/2006/main">
            <a:off x="49530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2" name="shape-734">
            <a:extLst xmlns:a="http://schemas.openxmlformats.org/drawingml/2006/main">
              <a:ext uri="{FF2B5EF4-FFF2-40B4-BE49-F238E27FC236}">
                <a16:creationId xmlns:a16="http://schemas.microsoft.com/office/drawing/2014/main" id="{F6126AA2-B60D-4F2D-BAD5-DA78219D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3" name="text-735">
            <a:extLst xmlns:a="http://schemas.openxmlformats.org/drawingml/2006/main">
              <a:ext uri="{FF2B5EF4-FFF2-40B4-BE49-F238E27FC236}">
                <a16:creationId xmlns:a16="http://schemas.microsoft.com/office/drawing/2014/main" id="{C27D15EC-6EC9-4F06-9E08-94187D0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教學駕駛艙 GitHub repo</a:t>
            </a:r>
          </a:p>
        </p:txBody>
      </p:sp>
      <p:sp>
        <p:nvSpPr>
          <p:cNvPr id="24" name="text-736">
            <a:extLst xmlns:a="http://schemas.openxmlformats.org/drawingml/2006/main">
              <a:ext uri="{FF2B5EF4-FFF2-40B4-BE49-F238E27FC236}">
                <a16:creationId xmlns:a16="http://schemas.microsoft.com/office/drawing/2014/main" id="{0FD62783-C1DF-4F61-BA9A-01ADDC9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049bfb2133954a6d"/>
              </a:rPr>
              <a:t>https://github.com/cagoooo/it-cockpit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3845aa1fb481f"/>
          <a:stretch xmlns:a="http://schemas.openxmlformats.org/drawingml/2006/main"/>
        </p:blipFill>
        <p:spPr>
          <a:xfrm xmlns:a="http://schemas.openxmlformats.org/drawingml/2006/main">
            <a:off x="4953000" y="51149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6" name="shape-737">
            <a:extLst xmlns:a="http://schemas.openxmlformats.org/drawingml/2006/main">
              <a:ext uri="{FF2B5EF4-FFF2-40B4-BE49-F238E27FC236}">
                <a16:creationId xmlns:a16="http://schemas.microsoft.com/office/drawing/2014/main" id="{675B4F64-D2A6-4B73-B233-0BAA97CA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7" name="text-738">
            <a:extLst xmlns:a="http://schemas.openxmlformats.org/drawingml/2006/main">
              <a:ext uri="{FF2B5EF4-FFF2-40B4-BE49-F238E27FC236}">
                <a16:creationId xmlns:a16="http://schemas.microsoft.com/office/drawing/2014/main" id="{2F04BDE9-C928-4D72-A7E9-9443B97D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教學駕駛艙公開網站</a:t>
            </a:r>
          </a:p>
        </p:txBody>
      </p:sp>
      <p:sp>
        <p:nvSpPr>
          <p:cNvPr id="28" name="text-739">
            <a:extLst xmlns:a="http://schemas.openxmlformats.org/drawingml/2006/main">
              <a:ext uri="{FF2B5EF4-FFF2-40B4-BE49-F238E27FC236}">
                <a16:creationId xmlns:a16="http://schemas.microsoft.com/office/drawing/2014/main" id="{7C5FDBB5-93D8-4A95-8486-11D7021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308e02d15b8e4f60"/>
              </a:rPr>
              <a:t>https://cagoooo.github.io/it-cockpit/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362c9679b4256"/>
          <a:stretch xmlns:a="http://schemas.openxmlformats.org/drawingml/2006/main"/>
        </p:blipFill>
        <p:spPr>
          <a:xfrm xmlns:a="http://schemas.openxmlformats.org/drawingml/2006/main">
            <a:off x="105537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0" name="shape-740">
            <a:extLst xmlns:a="http://schemas.openxmlformats.org/drawingml/2006/main">
              <a:ext uri="{FF2B5EF4-FFF2-40B4-BE49-F238E27FC236}">
                <a16:creationId xmlns:a16="http://schemas.microsoft.com/office/drawing/2014/main" id="{DDC97D3C-49F5-4788-B975-438FBD4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1" name="text-741">
            <a:extLst xmlns:a="http://schemas.openxmlformats.org/drawingml/2006/main">
              <a:ext uri="{FF2B5EF4-FFF2-40B4-BE49-F238E27FC236}">
                <a16:creationId xmlns:a16="http://schemas.microsoft.com/office/drawing/2014/main" id="{6E0486A1-3EA3-4EB2-8B2A-8CEE85F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教師會議紀錄系統（#84）</a:t>
            </a:r>
          </a:p>
        </p:txBody>
      </p:sp>
      <p:sp>
        <p:nvSpPr>
          <p:cNvPr id="32" name="text-742">
            <a:extLst xmlns:a="http://schemas.openxmlformats.org/drawingml/2006/main">
              <a:ext uri="{FF2B5EF4-FFF2-40B4-BE49-F238E27FC236}">
                <a16:creationId xmlns:a16="http://schemas.microsoft.com/office/drawing/2014/main" id="{CC7A4080-59E9-4967-B678-259E677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bae06e0c256c4c59"/>
              </a:rPr>
              <a:t>https://cagoooo.github.io/domain-meeting-go/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5c92da62d44ab"/>
          <a:stretch xmlns:a="http://schemas.openxmlformats.org/drawingml/2006/main"/>
        </p:blipFill>
        <p:spPr>
          <a:xfrm xmlns:a="http://schemas.openxmlformats.org/drawingml/2006/main">
            <a:off x="105537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4" name="shape-743">
            <a:extLst xmlns:a="http://schemas.openxmlformats.org/drawingml/2006/main">
              <a:ext uri="{FF2B5EF4-FFF2-40B4-BE49-F238E27FC236}">
                <a16:creationId xmlns:a16="http://schemas.microsoft.com/office/drawing/2014/main" id="{DACD637D-7221-4EB9-B741-00F6EB82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5" name="text-744">
            <a:extLst xmlns:a="http://schemas.openxmlformats.org/drawingml/2006/main">
              <a:ext uri="{FF2B5EF4-FFF2-40B4-BE49-F238E27FC236}">
                <a16:creationId xmlns:a16="http://schemas.microsoft.com/office/drawing/2014/main" id="{BAC82E95-930E-47CE-A4E6-1955D8F1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建立 Google Sites</a:t>
            </a:r>
          </a:p>
        </p:txBody>
      </p:sp>
      <p:sp>
        <p:nvSpPr>
          <p:cNvPr id="36" name="text-745">
            <a:extLst xmlns:a="http://schemas.openxmlformats.org/drawingml/2006/main">
              <a:ext uri="{FF2B5EF4-FFF2-40B4-BE49-F238E27FC236}">
                <a16:creationId xmlns:a16="http://schemas.microsoft.com/office/drawing/2014/main" id="{E33AFEDD-3375-46B7-B6C8-29D6738E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553bfb40df3c4eeb"/>
              </a:rPr>
              <a:t>https://sites.google.com/new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b2f7d8dff4605"/>
          <a:stretch xmlns:a="http://schemas.openxmlformats.org/drawingml/2006/main"/>
        </p:blipFill>
        <p:spPr>
          <a:xfrm xmlns:a="http://schemas.openxmlformats.org/drawingml/2006/main">
            <a:off x="105537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8" name="shape-746">
            <a:extLst xmlns:a="http://schemas.openxmlformats.org/drawingml/2006/main">
              <a:ext uri="{FF2B5EF4-FFF2-40B4-BE49-F238E27FC236}">
                <a16:creationId xmlns:a16="http://schemas.microsoft.com/office/drawing/2014/main" id="{1A1AD798-E801-455B-A8A8-10489240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9" name="text-747">
            <a:extLst xmlns:a="http://schemas.openxmlformats.org/drawingml/2006/main">
              <a:ext uri="{FF2B5EF4-FFF2-40B4-BE49-F238E27FC236}">
                <a16:creationId xmlns:a16="http://schemas.microsoft.com/office/drawing/2014/main" id="{1A8CB613-A878-45C3-916D-C592AD1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GitHub Pages</a:t>
            </a:r>
          </a:p>
        </p:txBody>
      </p:sp>
      <p:sp>
        <p:nvSpPr>
          <p:cNvPr id="40" name="text-748">
            <a:extLst xmlns:a="http://schemas.openxmlformats.org/drawingml/2006/main">
              <a:ext uri="{FF2B5EF4-FFF2-40B4-BE49-F238E27FC236}">
                <a16:creationId xmlns:a16="http://schemas.microsoft.com/office/drawing/2014/main" id="{B3803449-1C09-4E31-874B-B3B4E33E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ab555033c0644aa6"/>
              </a:rPr>
              <a:t>https://pages.github.com/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e9998d64f41b5"/>
          <a:stretch xmlns:a="http://schemas.openxmlformats.org/drawingml/2006/main"/>
        </p:blipFill>
        <p:spPr>
          <a:xfrm xmlns:a="http://schemas.openxmlformats.org/drawingml/2006/main">
            <a:off x="105537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2" name="shape-749">
            <a:extLst xmlns:a="http://schemas.openxmlformats.org/drawingml/2006/main">
              <a:ext uri="{FF2B5EF4-FFF2-40B4-BE49-F238E27FC236}">
                <a16:creationId xmlns:a16="http://schemas.microsoft.com/office/drawing/2014/main" id="{A3AB2E2D-2EA5-41B6-9C68-58798F2B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863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43" name="text-750">
            <a:extLst xmlns:a="http://schemas.openxmlformats.org/drawingml/2006/main">
              <a:ext uri="{FF2B5EF4-FFF2-40B4-BE49-F238E27FC236}">
                <a16:creationId xmlns:a16="http://schemas.microsoft.com/office/drawing/2014/main" id="{A54A2450-56E4-4B31-8C55-2D4BC5B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 一鍵部署</a:t>
            </a:r>
          </a:p>
        </p:txBody>
      </p:sp>
      <p:sp>
        <p:nvSpPr>
          <p:cNvPr id="44" name="text-751">
            <a:extLst xmlns:a="http://schemas.openxmlformats.org/drawingml/2006/main">
              <a:ext uri="{FF2B5EF4-FFF2-40B4-BE49-F238E27FC236}">
                <a16:creationId xmlns:a16="http://schemas.microsoft.com/office/drawing/2014/main" id="{9606B394-AB2D-42E1-B86F-5CC31C5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51cfeb187af64c6e"/>
              </a:rPr>
              <a:t>https://gg90052.github.io/ezpage/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38d2b69214617"/>
          <a:stretch xmlns:a="http://schemas.openxmlformats.org/drawingml/2006/main"/>
        </p:blipFill>
        <p:spPr>
          <a:xfrm xmlns:a="http://schemas.openxmlformats.org/drawingml/2006/main">
            <a:off x="10553700" y="51149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6" name="text-752">
            <a:extLst xmlns:a="http://schemas.openxmlformats.org/drawingml/2006/main">
              <a:ext uri="{FF2B5EF4-FFF2-40B4-BE49-F238E27FC236}">
                <a16:creationId xmlns:a16="http://schemas.microsoft.com/office/drawing/2014/main" id="{770BDE7F-96F8-4BA7-AD08-0B209DC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116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上午的終點不是『學會每個工具』，而是完成一條能重複使用的教學與研究產線。</a:t>
            </a:r>
          </a:p>
        </p:txBody>
      </p:sp>
    </p:spTree>
    <p:extLst>
      <p:ext uri="{BB962C8B-B14F-4D97-AF65-F5344CB8AC3E}">
        <p14:creationId xmlns:p14="http://schemas.microsoft.com/office/powerpoint/2010/main" val="1481247456"/>
      </p:ext>
    </p:extLst>
  </p:cSld>
</p:sld>
</file>

<file path=ppt/theme/theme1.xml><?xml version="1.0" encoding="utf-8"?>
<a:theme xmlns:a="http://schemas.openxmlformats.org/drawingml/2006/main" name="ChatGPT">
  <a:themeElements>
    <a:clrScheme name="NCU Morning">
      <a:dk1>
        <a:srgbClr val="000000"/>
      </a:dk1>
      <a:lt1>
        <a:srgbClr val="FFFFFF"/>
      </a:lt1>
      <a:dk2>
        <a:srgbClr val="15191F"/>
      </a:dk2>
      <a:lt2>
        <a:srgbClr val="EAF3FF"/>
      </a:lt2>
      <a:accent1>
        <a:srgbClr val="256FE8"/>
      </a:accent1>
      <a:accent2>
        <a:srgbClr val="FF7866"/>
      </a:accent2>
      <a:accent3>
        <a:srgbClr val="22AFA4"/>
      </a:accent3>
      <a:accent4>
        <a:srgbClr val="8B5CF6"/>
      </a:accent4>
      <a:accent5>
        <a:srgbClr val="F4B942"/>
      </a:accent5>
      <a:accent6>
        <a:srgbClr val="36A269"/>
      </a:accent6>
      <a:hlink>
        <a:srgbClr val="256FE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Mo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2026-08-21T06:49:16.1150000Z</dcterms:created>
  <dcterms:modified xsi:type="dcterms:W3CDTF">2026-08-21T06:49:16.1150000Z</dcterms:modified>
</coreProperties>
</file>